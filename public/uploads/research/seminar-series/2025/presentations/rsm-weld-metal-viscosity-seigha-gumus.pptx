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4" r:id="rId1"/>
    <p:sldMasterId id="2147483876" r:id="rId2"/>
  </p:sldMasterIdLst>
  <p:notesMasterIdLst>
    <p:notesMasterId r:id="rId28"/>
  </p:notesMasterIdLst>
  <p:handoutMasterIdLst>
    <p:handoutMasterId r:id="rId29"/>
  </p:handoutMasterIdLst>
  <p:sldIdLst>
    <p:sldId id="264" r:id="rId3"/>
    <p:sldId id="309" r:id="rId4"/>
    <p:sldId id="290" r:id="rId5"/>
    <p:sldId id="391" r:id="rId6"/>
    <p:sldId id="358" r:id="rId7"/>
    <p:sldId id="323" r:id="rId8"/>
    <p:sldId id="392" r:id="rId9"/>
    <p:sldId id="374" r:id="rId10"/>
    <p:sldId id="312" r:id="rId11"/>
    <p:sldId id="356" r:id="rId12"/>
    <p:sldId id="390" r:id="rId13"/>
    <p:sldId id="384" r:id="rId14"/>
    <p:sldId id="385" r:id="rId15"/>
    <p:sldId id="386" r:id="rId16"/>
    <p:sldId id="387" r:id="rId17"/>
    <p:sldId id="388" r:id="rId18"/>
    <p:sldId id="389" r:id="rId19"/>
    <p:sldId id="393" r:id="rId20"/>
    <p:sldId id="394" r:id="rId21"/>
    <p:sldId id="395" r:id="rId22"/>
    <p:sldId id="396" r:id="rId23"/>
    <p:sldId id="397" r:id="rId24"/>
    <p:sldId id="398" r:id="rId25"/>
    <p:sldId id="378" r:id="rId26"/>
    <p:sldId id="383"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8" clrIdx="0">
    <p:extLst>
      <p:ext uri="{19B8F6BF-5375-455C-9EA6-DF929625EA0E}">
        <p15:presenceInfo xmlns:p15="http://schemas.microsoft.com/office/powerpoint/2012/main" userId="d012383ee437734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34" autoAdjust="0"/>
    <p:restoredTop sz="94671" autoAdjust="0"/>
  </p:normalViewPr>
  <p:slideViewPr>
    <p:cSldViewPr>
      <p:cViewPr varScale="1">
        <p:scale>
          <a:sx n="64" d="100"/>
          <a:sy n="64" d="100"/>
        </p:scale>
        <p:origin x="1422" y="78"/>
      </p:cViewPr>
      <p:guideLst>
        <p:guide orient="horz" pos="2160"/>
        <p:guide pos="2880"/>
      </p:guideLst>
    </p:cSldViewPr>
  </p:slideViewPr>
  <p:notesTextViewPr>
    <p:cViewPr>
      <p:scale>
        <a:sx n="1" d="1"/>
        <a:sy n="1" d="1"/>
      </p:scale>
      <p:origin x="0" y="0"/>
    </p:cViewPr>
  </p:notesTextViewPr>
  <p:sorterViewPr>
    <p:cViewPr>
      <p:scale>
        <a:sx n="100" d="100"/>
        <a:sy n="100" d="100"/>
      </p:scale>
      <p:origin x="0" y="58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sz="quarter" idx="1"/>
          </p:nvPr>
        </p:nvSpPr>
        <p:spPr>
          <a:xfrm>
            <a:off x="3970939" y="0"/>
            <a:ext cx="3037840" cy="464820"/>
          </a:xfrm>
          <a:prstGeom prst="rect">
            <a:avLst/>
          </a:prstGeom>
        </p:spPr>
        <p:txBody>
          <a:bodyPr vert="horz" lIns="92432" tIns="46216" rIns="92432" bIns="46216" rtlCol="0"/>
          <a:lstStyle>
            <a:lvl1pPr algn="r">
              <a:defRPr sz="1200"/>
            </a:lvl1pPr>
          </a:lstStyle>
          <a:p>
            <a:fld id="{B4438958-17AF-4DB7-9286-359CCE11C3D8}" type="datetime1">
              <a:rPr lang="en-US" smtClean="0"/>
              <a:pPr/>
              <a:t>10/14/2025</a:t>
            </a:fld>
            <a:endParaRPr lang="en-US" dirty="0"/>
          </a:p>
        </p:txBody>
      </p:sp>
      <p:sp>
        <p:nvSpPr>
          <p:cNvPr id="4" name="Footer Placeholder 3"/>
          <p:cNvSpPr>
            <a:spLocks noGrp="1"/>
          </p:cNvSpPr>
          <p:nvPr>
            <p:ph type="ftr" sz="quarter" idx="2"/>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9" y="8829967"/>
            <a:ext cx="3037840" cy="464820"/>
          </a:xfrm>
          <a:prstGeom prst="rect">
            <a:avLst/>
          </a:prstGeom>
        </p:spPr>
        <p:txBody>
          <a:bodyPr vert="horz" lIns="92432" tIns="46216" rIns="92432" bIns="46216" rtlCol="0" anchor="b"/>
          <a:lstStyle>
            <a:lvl1pPr algn="r">
              <a:defRPr sz="1200"/>
            </a:lvl1pPr>
          </a:lstStyle>
          <a:p>
            <a:fld id="{37DD3F75-C114-4AB7-8C3A-4E238D754480}" type="slidenum">
              <a:rPr lang="en-US" smtClean="0"/>
              <a:pPr/>
              <a:t>‹#›</a:t>
            </a:fld>
            <a:endParaRPr lang="en-US" dirty="0"/>
          </a:p>
        </p:txBody>
      </p:sp>
    </p:spTree>
    <p:extLst>
      <p:ext uri="{BB962C8B-B14F-4D97-AF65-F5344CB8AC3E}">
        <p14:creationId xmlns:p14="http://schemas.microsoft.com/office/powerpoint/2010/main" val="5513183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idx="1"/>
          </p:nvPr>
        </p:nvSpPr>
        <p:spPr>
          <a:xfrm>
            <a:off x="3970939" y="0"/>
            <a:ext cx="3037840" cy="464820"/>
          </a:xfrm>
          <a:prstGeom prst="rect">
            <a:avLst/>
          </a:prstGeom>
        </p:spPr>
        <p:txBody>
          <a:bodyPr vert="horz" lIns="92432" tIns="46216" rIns="92432" bIns="46216" rtlCol="0"/>
          <a:lstStyle>
            <a:lvl1pPr algn="r">
              <a:defRPr sz="1200"/>
            </a:lvl1pPr>
          </a:lstStyle>
          <a:p>
            <a:fld id="{A2E0831B-1021-4217-B7C3-10CFE9172EF4}" type="datetime1">
              <a:rPr lang="en-US" smtClean="0"/>
              <a:pPr/>
              <a:t>10/14/2025</a:t>
            </a:fld>
            <a:endParaRPr lang="en-US" dirty="0"/>
          </a:p>
        </p:txBody>
      </p:sp>
      <p:sp>
        <p:nvSpPr>
          <p:cNvPr id="4" name="Slide Image Placeholder 3"/>
          <p:cNvSpPr>
            <a:spLocks noGrp="1" noRot="1" noChangeAspect="1"/>
          </p:cNvSpPr>
          <p:nvPr>
            <p:ph type="sldImg" idx="2"/>
          </p:nvPr>
        </p:nvSpPr>
        <p:spPr>
          <a:xfrm>
            <a:off x="1182688" y="696913"/>
            <a:ext cx="4646612" cy="3486150"/>
          </a:xfrm>
          <a:prstGeom prst="rect">
            <a:avLst/>
          </a:prstGeom>
          <a:noFill/>
          <a:ln w="12700">
            <a:solidFill>
              <a:prstClr val="black"/>
            </a:solidFill>
          </a:ln>
        </p:spPr>
        <p:txBody>
          <a:bodyPr vert="horz" lIns="92432" tIns="46216" rIns="92432" bIns="46216" rtlCol="0" anchor="ctr"/>
          <a:lstStyle/>
          <a:p>
            <a:endParaRPr lang="en-US" dirty="0"/>
          </a:p>
        </p:txBody>
      </p:sp>
      <p:sp>
        <p:nvSpPr>
          <p:cNvPr id="5" name="Notes Placeholder 4"/>
          <p:cNvSpPr>
            <a:spLocks noGrp="1"/>
          </p:cNvSpPr>
          <p:nvPr>
            <p:ph type="body" sz="quarter" idx="3"/>
          </p:nvPr>
        </p:nvSpPr>
        <p:spPr>
          <a:xfrm>
            <a:off x="701041" y="4415790"/>
            <a:ext cx="5608320" cy="4183380"/>
          </a:xfrm>
          <a:prstGeom prst="rect">
            <a:avLst/>
          </a:prstGeom>
        </p:spPr>
        <p:txBody>
          <a:bodyPr vert="horz" lIns="92432" tIns="46216" rIns="92432" bIns="462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9" y="8829967"/>
            <a:ext cx="3037840" cy="464820"/>
          </a:xfrm>
          <a:prstGeom prst="rect">
            <a:avLst/>
          </a:prstGeom>
        </p:spPr>
        <p:txBody>
          <a:bodyPr vert="horz" lIns="92432" tIns="46216" rIns="92432" bIns="46216" rtlCol="0" anchor="b"/>
          <a:lstStyle>
            <a:lvl1pPr algn="r">
              <a:defRPr sz="1200"/>
            </a:lvl1pPr>
          </a:lstStyle>
          <a:p>
            <a:fld id="{B424D693-3628-4055-9377-F1C425D0BDB9}" type="slidenum">
              <a:rPr lang="en-US" smtClean="0"/>
              <a:pPr/>
              <a:t>‹#›</a:t>
            </a:fld>
            <a:endParaRPr lang="en-US" dirty="0"/>
          </a:p>
        </p:txBody>
      </p:sp>
    </p:spTree>
    <p:extLst>
      <p:ext uri="{BB962C8B-B14F-4D97-AF65-F5344CB8AC3E}">
        <p14:creationId xmlns:p14="http://schemas.microsoft.com/office/powerpoint/2010/main" val="12622586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353663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Tree>
    <p:extLst>
      <p:ext uri="{BB962C8B-B14F-4D97-AF65-F5344CB8AC3E}">
        <p14:creationId xmlns:p14="http://schemas.microsoft.com/office/powerpoint/2010/main" val="3412285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7364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Tree>
    <p:extLst>
      <p:ext uri="{BB962C8B-B14F-4D97-AF65-F5344CB8AC3E}">
        <p14:creationId xmlns:p14="http://schemas.microsoft.com/office/powerpoint/2010/main" val="4048518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44234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Tree>
    <p:extLst>
      <p:ext uri="{BB962C8B-B14F-4D97-AF65-F5344CB8AC3E}">
        <p14:creationId xmlns:p14="http://schemas.microsoft.com/office/powerpoint/2010/main" val="2929819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3575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601FD1B1-7862-4BCE-8306-91D0ACB32E52}" type="datetime1">
              <a:rPr lang="en-US" smtClean="0"/>
              <a:pPr/>
              <a:t>10/14/2025</a:t>
            </a:fld>
            <a:endParaRPr lang="en-US" dirty="0"/>
          </a:p>
        </p:txBody>
      </p:sp>
      <p:sp>
        <p:nvSpPr>
          <p:cNvPr id="20" name="Footer Placeholder 19"/>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1C3B027-99D8-4500-AA7E-8D849F3A1F09}" type="slidenum">
              <a:rPr lang="en-US" smtClean="0"/>
              <a:pPr/>
              <a:t>‹#›</a:t>
            </a:fld>
            <a:endParaRPr lang="en-US"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pPr/>
              <a:t>10/14/2025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884FD8F-F5EB-4CB0-B34C-8F170DB455C3}" type="datetime1">
              <a:rPr lang="en-US" smtClean="0"/>
              <a:pPr/>
              <a:t>10/14/2025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73B2641-B32A-4319-B4CE-0842B72AE012}" type="datetime1">
              <a:rPr lang="en-US" smtClean="0"/>
              <a:pPr/>
              <a:t>10/14/2025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A43EE58-50E8-447D-8B2B-34348D6DE8AC}" type="datetime1">
              <a:rPr lang="en-US" smtClean="0"/>
              <a:pPr/>
              <a:t>10/14/2025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EAC5083-F966-4D33-8BA8-8E7408BEF121}" type="datetime1">
              <a:rPr lang="en-US" smtClean="0"/>
              <a:pPr/>
              <a:t>10/14/2025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Date Placeholder 1"/>
          <p:cNvSpPr>
            <a:spLocks noGrp="1"/>
          </p:cNvSpPr>
          <p:nvPr>
            <p:ph type="dt" sz="half" idx="10"/>
          </p:nvPr>
        </p:nvSpPr>
        <p:spPr/>
        <p:txBody>
          <a:bodyPr/>
          <a:lstStyle/>
          <a:p>
            <a:fld id="{EF3827FF-ED73-48FA-9478-CE0F46121E26}" type="datetime1">
              <a:rPr lang="en-US" smtClean="0"/>
              <a:pPr/>
              <a:t>10/14/2025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a:t>
            </a:fld>
            <a:endParaRPr lang="en-US"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C97947A-866D-4E82-ADE7-085FBD529CD8}" type="datetime1">
              <a:rPr lang="en-US" smtClean="0"/>
              <a:pPr/>
              <a:t>10/14/2025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B1A45F50-6C41-4082-8A24-4FA4E106B045}" type="datetime1">
              <a:rPr lang="en-US" smtClean="0"/>
              <a:pPr/>
              <a:t>10/14/2025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dirty="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4B1DCB-7ED9-40A1-ACE9-2CA6C88077F3}" type="datetime1">
              <a:rPr lang="en-US" smtClean="0"/>
              <a:pPr/>
              <a:t>10/14/2025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1F36335-CE3A-4703-8DEF-758A63B2C140}" type="datetime1">
              <a:rPr lang="en-US" smtClean="0"/>
              <a:pPr/>
              <a:t>10/14/2025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5" name="Rectangle 4"/>
          <p:cNvSpPr/>
          <p:nvPr/>
        </p:nvSpPr>
        <p:spPr>
          <a:xfrm>
            <a:off x="61912" y="1560513"/>
            <a:ext cx="9020175" cy="1527175"/>
          </a:xfrm>
          <a:prstGeom prst="rect">
            <a:avLst/>
          </a:prstGeom>
          <a:solidFill>
            <a:schemeClr val="accent2">
              <a:lumMod val="75000"/>
            </a:schemeClr>
          </a:solidFill>
          <a:ln/>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6" name="Rectangle 5"/>
          <p:cNvSpPr/>
          <p:nvPr/>
        </p:nvSpPr>
        <p:spPr>
          <a:xfrm>
            <a:off x="61913" y="1439863"/>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7" name="Rectangle 6"/>
          <p:cNvSpPr>
            <a:spLocks noChangeArrowheads="1"/>
          </p:cNvSpPr>
          <p:nvPr/>
        </p:nvSpPr>
        <p:spPr bwMode="auto">
          <a:xfrm>
            <a:off x="1187450" y="3141663"/>
            <a:ext cx="6624638" cy="1852612"/>
          </a:xfrm>
          <a:prstGeom prst="rect">
            <a:avLst/>
          </a:prstGeom>
          <a:solidFill>
            <a:srgbClr val="262626"/>
          </a:solidFill>
          <a:ln>
            <a:noFill/>
          </a:ln>
          <a:effectLst>
            <a:outerShdw blurRad="63500" dist="38100" dir="8100000" algn="tr" rotWithShape="0">
              <a:srgbClr val="000000">
                <a:alpha val="39999"/>
              </a:srgbClr>
            </a:outerShdw>
          </a:effectLst>
          <a:extLst>
            <a:ext uri="{91240B29-F687-4f45-9708-019B960494DF}">
              <a14:hiddenLine xmlns:a14="http://schemas.microsoft.com/office/drawing/2010/main" xmlns="" w="19050" cap="sq">
                <a:solidFill>
                  <a:srgbClr val="000000"/>
                </a:solidFill>
                <a:miter lim="800000"/>
                <a:headEnd/>
                <a:tailEnd/>
              </a14:hiddenLine>
            </a:ext>
          </a:extLst>
        </p:spPr>
        <p:txBody>
          <a:bodyPr anchor="ctr"/>
          <a:lstStyle/>
          <a:p>
            <a:pPr algn="ctr" fontAlgn="auto">
              <a:spcBef>
                <a:spcPts val="0"/>
              </a:spcBef>
              <a:spcAft>
                <a:spcPts val="0"/>
              </a:spcAft>
              <a:defRPr/>
            </a:pPr>
            <a:endParaRPr lang="en-US">
              <a:solidFill>
                <a:prstClr val="white"/>
              </a:solidFill>
              <a:latin typeface="+mn-lt"/>
              <a:ea typeface="+mn-ea"/>
            </a:endParaRPr>
          </a:p>
        </p:txBody>
      </p:sp>
      <p:pic>
        <p:nvPicPr>
          <p:cNvPr id="10" name="Picture 18" descr="NAC_LOGO-2.gif"/>
          <p:cNvPicPr>
            <a:picLocks noChangeAspect="1"/>
          </p:cNvPicPr>
          <p:nvPr/>
        </p:nvPicPr>
        <p:blipFill>
          <a:blip r:embed="rId2"/>
          <a:srcRect/>
          <a:stretch>
            <a:fillRect/>
          </a:stretch>
        </p:blipFill>
        <p:spPr bwMode="auto">
          <a:xfrm>
            <a:off x="3022600" y="11113"/>
            <a:ext cx="685800" cy="677862"/>
          </a:xfrm>
          <a:prstGeom prst="rect">
            <a:avLst/>
          </a:prstGeom>
          <a:noFill/>
          <a:ln w="9525">
            <a:noFill/>
            <a:miter lim="800000"/>
            <a:headEnd/>
            <a:tailEnd/>
          </a:ln>
        </p:spPr>
      </p:pic>
      <p:sp>
        <p:nvSpPr>
          <p:cNvPr id="11" name="TextBox 10"/>
          <p:cNvSpPr txBox="1"/>
          <p:nvPr/>
        </p:nvSpPr>
        <p:spPr>
          <a:xfrm>
            <a:off x="3707904" y="-91578"/>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2" name="TextBox 11"/>
          <p:cNvSpPr txBox="1"/>
          <p:nvPr/>
        </p:nvSpPr>
        <p:spPr>
          <a:xfrm>
            <a:off x="1960922" y="628749"/>
            <a:ext cx="5469575"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sp>
        <p:nvSpPr>
          <p:cNvPr id="13" name="TextBox 12"/>
          <p:cNvSpPr txBox="1">
            <a:spLocks noChangeArrowheads="1"/>
          </p:cNvSpPr>
          <p:nvPr/>
        </p:nvSpPr>
        <p:spPr bwMode="auto">
          <a:xfrm>
            <a:off x="7086600" y="6505575"/>
            <a:ext cx="1981200" cy="307975"/>
          </a:xfrm>
          <a:prstGeom prst="rect">
            <a:avLst/>
          </a:prstGeom>
          <a:noFill/>
          <a:ln>
            <a:noFill/>
          </a:ln>
        </p:spPr>
        <p:txBody>
          <a:bodyPr>
            <a:spAutoFit/>
          </a:bodyPr>
          <a:lstStyle/>
          <a:p>
            <a:pPr algn="ctr"/>
            <a:r>
              <a:rPr lang="en-US" sz="1400" i="1" dirty="0">
                <a:solidFill>
                  <a:srgbClr val="000000"/>
                </a:solidFill>
                <a:latin typeface="Tw Cen MT" pitchFamily="34" charset="0"/>
              </a:rPr>
              <a:t>© NACETEM 2025</a:t>
            </a:r>
          </a:p>
        </p:txBody>
      </p:sp>
      <p:sp>
        <p:nvSpPr>
          <p:cNvPr id="14" name="TextBox 24"/>
          <p:cNvSpPr txBox="1">
            <a:spLocks noChangeArrowheads="1"/>
          </p:cNvSpPr>
          <p:nvPr userDrawn="1"/>
        </p:nvSpPr>
        <p:spPr bwMode="auto">
          <a:xfrm>
            <a:off x="755650" y="6500813"/>
            <a:ext cx="5976938" cy="307975"/>
          </a:xfrm>
          <a:prstGeom prst="rect">
            <a:avLst/>
          </a:prstGeom>
          <a:noFill/>
          <a:ln>
            <a:noFill/>
          </a:ln>
        </p:spPr>
        <p:txBody>
          <a:bodyPr>
            <a:spAutoFit/>
          </a:bodyPr>
          <a:lstStyle/>
          <a:p>
            <a:r>
              <a:rPr lang="en-GB" sz="1400" i="1" dirty="0">
                <a:latin typeface="Calibri Light" pitchFamily="34" charset="0"/>
              </a:rPr>
              <a:t>NACETEM…Managing Technology for Sustainable Development</a:t>
            </a: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b="0">
                <a:solidFill>
                  <a:schemeClr val="bg1"/>
                </a:solidFill>
                <a:latin typeface="Calibri Light"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libri" pitchFamily="34" charset="0"/>
              </a:defRPr>
            </a:lvl1pPr>
          </a:lstStyle>
          <a:p>
            <a:r>
              <a:rPr lang="en-US" dirty="0"/>
              <a:t>Click to edit Master title style</a:t>
            </a:r>
          </a:p>
        </p:txBody>
      </p:sp>
      <p:sp>
        <p:nvSpPr>
          <p:cNvPr id="15" name="Slide Number Placeholder 28"/>
          <p:cNvSpPr>
            <a:spLocks noGrp="1"/>
          </p:cNvSpPr>
          <p:nvPr>
            <p:ph type="sldNum" sz="quarter" idx="10"/>
          </p:nvPr>
        </p:nvSpPr>
        <p:spPr/>
        <p:txBody>
          <a:bodyPr/>
          <a:lstStyle>
            <a:lvl1pPr>
              <a:defRPr/>
            </a:lvl1pPr>
          </a:lstStyle>
          <a:p>
            <a:fld id="{CB49EDA5-6D1B-4EF8-B9D1-6F0743E708F5}" type="slidenum">
              <a:rPr lang="en-GB"/>
              <a:pPr/>
              <a:t>‹#›</a:t>
            </a:fld>
            <a:endParaRPr lang="en-GB"/>
          </a:p>
        </p:txBody>
      </p:sp>
    </p:spTree>
    <p:extLst>
      <p:ext uri="{BB962C8B-B14F-4D97-AF65-F5344CB8AC3E}">
        <p14:creationId xmlns:p14="http://schemas.microsoft.com/office/powerpoint/2010/main" val="199074244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Slide Number Placeholder 22"/>
          <p:cNvSpPr>
            <a:spLocks noGrp="1"/>
          </p:cNvSpPr>
          <p:nvPr>
            <p:ph type="sldNum" sz="quarter" idx="10"/>
          </p:nvPr>
        </p:nvSpPr>
        <p:spPr/>
        <p:txBody>
          <a:bodyPr/>
          <a:lstStyle>
            <a:lvl1pPr>
              <a:defRPr/>
            </a:lvl1pPr>
          </a:lstStyle>
          <a:p>
            <a:fld id="{570EC2F4-BA6F-46EE-850D-694B38431047}" type="slidenum">
              <a:rPr lang="en-GB"/>
              <a:pPr/>
              <a:t>‹#›</a:t>
            </a:fld>
            <a:endParaRPr lang="en-GB" dirty="0"/>
          </a:p>
        </p:txBody>
      </p:sp>
    </p:spTree>
    <p:extLst>
      <p:ext uri="{BB962C8B-B14F-4D97-AF65-F5344CB8AC3E}">
        <p14:creationId xmlns:p14="http://schemas.microsoft.com/office/powerpoint/2010/main" val="119331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539552" y="1700808"/>
            <a:ext cx="3979872"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
          </p:nvPr>
        </p:nvSpPr>
        <p:spPr>
          <a:xfrm>
            <a:off x="4788024" y="1700808"/>
            <a:ext cx="3749040"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2"/>
          <p:cNvSpPr>
            <a:spLocks noGrp="1"/>
          </p:cNvSpPr>
          <p:nvPr>
            <p:ph type="sldNum" sz="quarter" idx="10"/>
          </p:nvPr>
        </p:nvSpPr>
        <p:spPr/>
        <p:txBody>
          <a:bodyPr/>
          <a:lstStyle>
            <a:lvl1pPr>
              <a:defRPr/>
            </a:lvl1pPr>
          </a:lstStyle>
          <a:p>
            <a:fld id="{FC1CB4F6-48C5-41DC-AD8A-7C8A1C3756F9}" type="slidenum">
              <a:rPr lang="en-GB"/>
              <a:pPr/>
              <a:t>‹#›</a:t>
            </a:fld>
            <a:endParaRPr lang="en-GB"/>
          </a:p>
        </p:txBody>
      </p:sp>
    </p:spTree>
    <p:extLst>
      <p:ext uri="{BB962C8B-B14F-4D97-AF65-F5344CB8AC3E}">
        <p14:creationId xmlns:p14="http://schemas.microsoft.com/office/powerpoint/2010/main" val="879919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8"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fld id="{DEBFA543-A32D-4F79-A4ED-10059AD0630F}" type="slidenum">
              <a:rPr lang="en-GB"/>
              <a:pPr/>
              <a:t>‹#›</a:t>
            </a:fld>
            <a:endParaRPr lang="en-GB"/>
          </a:p>
        </p:txBody>
      </p:sp>
    </p:spTree>
    <p:extLst>
      <p:ext uri="{BB962C8B-B14F-4D97-AF65-F5344CB8AC3E}">
        <p14:creationId xmlns:p14="http://schemas.microsoft.com/office/powerpoint/2010/main" val="2608907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552" y="2492896"/>
            <a:ext cx="8194104"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p>
        </p:txBody>
      </p:sp>
      <p:sp>
        <p:nvSpPr>
          <p:cNvPr id="3" name="Slide Number Placeholder 22"/>
          <p:cNvSpPr>
            <a:spLocks noGrp="1"/>
          </p:cNvSpPr>
          <p:nvPr>
            <p:ph type="sldNum" sz="quarter" idx="10"/>
          </p:nvPr>
        </p:nvSpPr>
        <p:spPr/>
        <p:txBody>
          <a:bodyPr/>
          <a:lstStyle>
            <a:lvl1pPr>
              <a:defRPr/>
            </a:lvl1pPr>
          </a:lstStyle>
          <a:p>
            <a:fld id="{AAF07390-5331-4807-BD67-FEA8162774E5}" type="slidenum">
              <a:rPr lang="en-GB"/>
              <a:pPr/>
              <a:t>‹#›</a:t>
            </a:fld>
            <a:endParaRPr lang="en-GB"/>
          </a:p>
        </p:txBody>
      </p:sp>
    </p:spTree>
    <p:extLst>
      <p:ext uri="{BB962C8B-B14F-4D97-AF65-F5344CB8AC3E}">
        <p14:creationId xmlns:p14="http://schemas.microsoft.com/office/powerpoint/2010/main" val="3998715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3"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fld id="{BDE93C14-AE17-4D24-86F4-FE86C4D87B1C}" type="slidenum">
              <a:rPr lang="en-GB"/>
              <a:pPr/>
              <a:t>‹#›</a:t>
            </a:fld>
            <a:endParaRPr lang="en-GB"/>
          </a:p>
        </p:txBody>
      </p:sp>
    </p:spTree>
    <p:extLst>
      <p:ext uri="{BB962C8B-B14F-4D97-AF65-F5344CB8AC3E}">
        <p14:creationId xmlns:p14="http://schemas.microsoft.com/office/powerpoint/2010/main" val="1104408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6E5F19E-E292-4EBF-9EFB-12533E997EDB}" type="slidenum">
              <a:rPr lang="en-GB"/>
              <a:pPr/>
              <a:t>‹#›</a:t>
            </a:fld>
            <a:endParaRPr lang="en-GB"/>
          </a:p>
        </p:txBody>
      </p:sp>
    </p:spTree>
    <p:extLst>
      <p:ext uri="{BB962C8B-B14F-4D97-AF65-F5344CB8AC3E}">
        <p14:creationId xmlns:p14="http://schemas.microsoft.com/office/powerpoint/2010/main" val="19371564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97C165D-DD1A-47B3-9F4B-1A7B065EABA4}" type="slidenum">
              <a:rPr lang="en-GB"/>
              <a:pPr/>
              <a:t>‹#›</a:t>
            </a:fld>
            <a:endParaRPr lang="en-GB"/>
          </a:p>
        </p:txBody>
      </p:sp>
    </p:spTree>
    <p:extLst>
      <p:ext uri="{BB962C8B-B14F-4D97-AF65-F5344CB8AC3E}">
        <p14:creationId xmlns:p14="http://schemas.microsoft.com/office/powerpoint/2010/main" val="267952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7"/>
          <p:cNvSpPr>
            <a:spLocks noGrp="1" noChangeArrowheads="1"/>
          </p:cNvSpPr>
          <p:nvPr>
            <p:ph type="sldNum" sz="quarter" idx="12"/>
          </p:nvPr>
        </p:nvSpPr>
        <p:spPr/>
        <p:txBody>
          <a:bodyPr/>
          <a:lstStyle>
            <a:lvl1pPr>
              <a:defRPr/>
            </a:lvl1pPr>
          </a:lstStyle>
          <a:p>
            <a:fld id="{B3166BE0-4650-4758-8CC1-441A41767186}" type="slidenum">
              <a:rPr lang="en-GB"/>
              <a:pPr/>
              <a:t>‹#›</a:t>
            </a:fld>
            <a:endParaRPr lang="en-GB"/>
          </a:p>
        </p:txBody>
      </p:sp>
    </p:spTree>
    <p:extLst>
      <p:ext uri="{BB962C8B-B14F-4D97-AF65-F5344CB8AC3E}">
        <p14:creationId xmlns:p14="http://schemas.microsoft.com/office/powerpoint/2010/main" val="1550149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lstStyle/>
          <a:p>
            <a:pPr lvl="0"/>
            <a:r>
              <a:rPr lang="en-US" noProof="0"/>
              <a:t>Click icon to add table</a:t>
            </a:r>
          </a:p>
        </p:txBody>
      </p:sp>
      <p:sp>
        <p:nvSpPr>
          <p:cNvPr id="4"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Rectangle 7"/>
          <p:cNvSpPr>
            <a:spLocks noGrp="1" noChangeArrowheads="1"/>
          </p:cNvSpPr>
          <p:nvPr>
            <p:ph type="sldNum" sz="quarter" idx="12"/>
          </p:nvPr>
        </p:nvSpPr>
        <p:spPr/>
        <p:txBody>
          <a:bodyPr/>
          <a:lstStyle>
            <a:lvl1pPr>
              <a:defRPr/>
            </a:lvl1pPr>
          </a:lstStyle>
          <a:p>
            <a:fld id="{0C7A436E-455D-4B62-97ED-6266397FEF62}" type="slidenum">
              <a:rPr lang="en-GB"/>
              <a:pPr/>
              <a:t>‹#›</a:t>
            </a:fld>
            <a:endParaRPr lang="en-GB"/>
          </a:p>
        </p:txBody>
      </p:sp>
    </p:spTree>
    <p:extLst>
      <p:ext uri="{BB962C8B-B14F-4D97-AF65-F5344CB8AC3E}">
        <p14:creationId xmlns:p14="http://schemas.microsoft.com/office/powerpoint/2010/main" val="18210934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886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Footer Placeholder 6"/>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8" name="Slide Number Placeholder 7"/>
          <p:cNvSpPr>
            <a:spLocks noGrp="1"/>
          </p:cNvSpPr>
          <p:nvPr>
            <p:ph type="sldNum" sz="quarter" idx="12"/>
          </p:nvPr>
        </p:nvSpPr>
        <p:spPr/>
        <p:txBody>
          <a:bodyPr/>
          <a:lstStyle>
            <a:lvl1pPr>
              <a:defRPr>
                <a:solidFill>
                  <a:srgbClr val="898989"/>
                </a:solidFill>
              </a:defRPr>
            </a:lvl1pPr>
          </a:lstStyle>
          <a:p>
            <a:fld id="{27B98567-4A0B-48CC-A982-45492D08D158}" type="slidenum">
              <a:rPr lang="en-GB"/>
              <a:pPr/>
              <a:t>‹#›</a:t>
            </a:fld>
            <a:endParaRPr lang="en-GB"/>
          </a:p>
        </p:txBody>
      </p:sp>
    </p:spTree>
    <p:extLst>
      <p:ext uri="{BB962C8B-B14F-4D97-AF65-F5344CB8AC3E}">
        <p14:creationId xmlns:p14="http://schemas.microsoft.com/office/powerpoint/2010/main" val="75665953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6" name="Footer Placeholder 5"/>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rgbClr val="898989"/>
                </a:solidFill>
              </a:defRPr>
            </a:lvl1pPr>
          </a:lstStyle>
          <a:p>
            <a:fld id="{BDBB1DCD-4BB2-48AE-B70F-FA3E1C7879AB}" type="slidenum">
              <a:rPr lang="en-GB"/>
              <a:pPr/>
              <a:t>‹#›</a:t>
            </a:fld>
            <a:endParaRPr lang="en-GB"/>
          </a:p>
        </p:txBody>
      </p:sp>
    </p:spTree>
    <p:extLst>
      <p:ext uri="{BB962C8B-B14F-4D97-AF65-F5344CB8AC3E}">
        <p14:creationId xmlns:p14="http://schemas.microsoft.com/office/powerpoint/2010/main" val="244919610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pPr/>
              <a:t>10/14/2025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extLst>
      <p:ext uri="{BB962C8B-B14F-4D97-AF65-F5344CB8AC3E}">
        <p14:creationId xmlns:p14="http://schemas.microsoft.com/office/powerpoint/2010/main" val="3457226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9B0DE4D6-8062-4761-9199-9AEA6147483F}" type="datetime1">
              <a:rPr lang="en-US" smtClean="0"/>
              <a:pPr/>
              <a:t>10/14/2025</a:t>
            </a:fld>
            <a:endParaRPr lang="en-US" dirty="0"/>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41C3B027-99D8-4500-AA7E-8D849F3A1F09}" type="slidenum">
              <a:rPr lang="en-US" smtClean="0"/>
              <a:pPr/>
              <a:t>‹#›</a:t>
            </a:fld>
            <a:endParaRPr lang="en-US"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1027" name="Title Placeholder 21"/>
          <p:cNvSpPr>
            <a:spLocks noGrp="1"/>
          </p:cNvSpPr>
          <p:nvPr>
            <p:ph type="title"/>
          </p:nvPr>
        </p:nvSpPr>
        <p:spPr bwMode="auto">
          <a:xfrm>
            <a:off x="250825" y="669925"/>
            <a:ext cx="7978775" cy="1006475"/>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8" name="Text Placeholder 12"/>
          <p:cNvSpPr>
            <a:spLocks noGrp="1"/>
          </p:cNvSpPr>
          <p:nvPr>
            <p:ph type="body" idx="1"/>
          </p:nvPr>
        </p:nvSpPr>
        <p:spPr bwMode="auto">
          <a:xfrm>
            <a:off x="250825" y="1676400"/>
            <a:ext cx="8166100" cy="4632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Slide Number Placeholder 22"/>
          <p:cNvSpPr>
            <a:spLocks noGrp="1"/>
          </p:cNvSpPr>
          <p:nvPr>
            <p:ph type="sldNum" sz="quarter" idx="4"/>
          </p:nvPr>
        </p:nvSpPr>
        <p:spPr>
          <a:xfrm>
            <a:off x="146050" y="6324600"/>
            <a:ext cx="457200" cy="457200"/>
          </a:xfrm>
          <a:prstGeom prst="ellipse">
            <a:avLst/>
          </a:prstGeom>
          <a:solidFill>
            <a:schemeClr val="accent2"/>
          </a:solidFill>
        </p:spPr>
        <p:txBody>
          <a:bodyPr vert="horz" wrap="none" lIns="0" tIns="0" rIns="0" bIns="0" numCol="1" anchor="ctr" anchorCtr="1" compatLnSpc="1">
            <a:prstTxWarp prst="textNoShape">
              <a:avLst/>
            </a:prstTxWarp>
            <a:noAutofit/>
          </a:bodyPr>
          <a:lstStyle>
            <a:lvl1pPr algn="ctr">
              <a:defRPr sz="1400">
                <a:solidFill>
                  <a:srgbClr val="FFFFFF"/>
                </a:solidFill>
                <a:latin typeface="Tw Cen MT" pitchFamily="34" charset="0"/>
              </a:defRPr>
            </a:lvl1pPr>
          </a:lstStyle>
          <a:p>
            <a:fld id="{FA2D2DF1-13C5-43BF-BBD9-0DA151975497}" type="slidenum">
              <a:rPr lang="en-GB"/>
              <a:pPr/>
              <a:t>‹#›</a:t>
            </a:fld>
            <a:endParaRPr lang="en-GB"/>
          </a:p>
        </p:txBody>
      </p:sp>
      <p:pic>
        <p:nvPicPr>
          <p:cNvPr id="1030" name="Picture 9" descr="NAC_LOGO-2.gif"/>
          <p:cNvPicPr>
            <a:picLocks noChangeAspect="1"/>
          </p:cNvPicPr>
          <p:nvPr/>
        </p:nvPicPr>
        <p:blipFill>
          <a:blip r:embed="rId15"/>
          <a:srcRect/>
          <a:stretch>
            <a:fillRect/>
          </a:stretch>
        </p:blipFill>
        <p:spPr bwMode="auto">
          <a:xfrm>
            <a:off x="8558213" y="6165850"/>
            <a:ext cx="550862" cy="542925"/>
          </a:xfrm>
          <a:prstGeom prst="rect">
            <a:avLst/>
          </a:prstGeom>
          <a:noFill/>
          <a:ln w="9525">
            <a:noFill/>
            <a:miter lim="800000"/>
            <a:headEnd/>
            <a:tailEnd/>
          </a:ln>
        </p:spPr>
      </p:pic>
      <p:sp>
        <p:nvSpPr>
          <p:cNvPr id="13" name="TextBox 12"/>
          <p:cNvSpPr txBox="1"/>
          <p:nvPr/>
        </p:nvSpPr>
        <p:spPr>
          <a:xfrm>
            <a:off x="6218461" y="-99392"/>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034" name="TextBox 23"/>
          <p:cNvSpPr txBox="1">
            <a:spLocks noChangeArrowheads="1"/>
          </p:cNvSpPr>
          <p:nvPr/>
        </p:nvSpPr>
        <p:spPr bwMode="auto">
          <a:xfrm>
            <a:off x="6751638" y="6562725"/>
            <a:ext cx="1981200" cy="276225"/>
          </a:xfrm>
          <a:prstGeom prst="rect">
            <a:avLst/>
          </a:prstGeom>
          <a:noFill/>
          <a:ln>
            <a:noFill/>
          </a:ln>
        </p:spPr>
        <p:txBody>
          <a:bodyPr>
            <a:spAutoFit/>
          </a:bodyPr>
          <a:lstStyle/>
          <a:p>
            <a:pPr algn="ctr"/>
            <a:r>
              <a:rPr lang="en-US" sz="1200" i="1" dirty="0">
                <a:solidFill>
                  <a:srgbClr val="000000"/>
                </a:solidFill>
                <a:latin typeface="Tw Cen MT" pitchFamily="34" charset="0"/>
              </a:rPr>
              <a:t>© NACETEM 2025</a:t>
            </a:r>
          </a:p>
        </p:txBody>
      </p:sp>
      <p:sp>
        <p:nvSpPr>
          <p:cNvPr id="4" name="Rectangle 3"/>
          <p:cNvSpPr/>
          <p:nvPr userDrawn="1"/>
        </p:nvSpPr>
        <p:spPr>
          <a:xfrm>
            <a:off x="8733061" y="0"/>
            <a:ext cx="41093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15" name="TextBox 14"/>
          <p:cNvSpPr txBox="1"/>
          <p:nvPr/>
        </p:nvSpPr>
        <p:spPr>
          <a:xfrm rot="16200000">
            <a:off x="5923562" y="2809500"/>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just"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cxnSp>
        <p:nvCxnSpPr>
          <p:cNvPr id="6" name="Straight Connector 5"/>
          <p:cNvCxnSpPr/>
          <p:nvPr userDrawn="1"/>
        </p:nvCxnSpPr>
        <p:spPr>
          <a:xfrm flipH="1">
            <a:off x="0" y="620713"/>
            <a:ext cx="8732838"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38" name="TextBox 7"/>
          <p:cNvSpPr txBox="1">
            <a:spLocks noChangeArrowheads="1"/>
          </p:cNvSpPr>
          <p:nvPr userDrawn="1"/>
        </p:nvSpPr>
        <p:spPr bwMode="auto">
          <a:xfrm>
            <a:off x="755650" y="6437313"/>
            <a:ext cx="6337300" cy="338137"/>
          </a:xfrm>
          <a:prstGeom prst="rect">
            <a:avLst/>
          </a:prstGeom>
          <a:noFill/>
          <a:ln>
            <a:noFill/>
          </a:ln>
        </p:spPr>
        <p:txBody>
          <a:bodyPr>
            <a:spAutoFit/>
          </a:bodyPr>
          <a:lstStyle/>
          <a:p>
            <a:r>
              <a:rPr lang="en-GB" sz="1600" i="1">
                <a:latin typeface="Calibri Light" pitchFamily="34" charset="0"/>
              </a:rPr>
              <a:t>NACETEM…Managing Technology for Sustainable Development</a:t>
            </a:r>
          </a:p>
        </p:txBody>
      </p:sp>
    </p:spTree>
    <p:extLst>
      <p:ext uri="{BB962C8B-B14F-4D97-AF65-F5344CB8AC3E}">
        <p14:creationId xmlns:p14="http://schemas.microsoft.com/office/powerpoint/2010/main" val="658528353"/>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Lst>
  <p:hf hdr="0" ftr="0" dt="0"/>
  <p:txStyles>
    <p:titleStyle>
      <a:lvl1pPr algn="l" rtl="0" eaLnBrk="0" fontAlgn="base" hangingPunct="0">
        <a:spcBef>
          <a:spcPct val="0"/>
        </a:spcBef>
        <a:spcAft>
          <a:spcPct val="0"/>
        </a:spcAft>
        <a:defRPr sz="3600" kern="1200">
          <a:solidFill>
            <a:schemeClr val="tx2"/>
          </a:solidFill>
          <a:latin typeface="Calibri" pitchFamily="34" charset="0"/>
          <a:ea typeface="ＭＳ Ｐゴシック" charset="0"/>
          <a:cs typeface="+mj-cs"/>
        </a:defRPr>
      </a:lvl1pPr>
      <a:lvl2pPr algn="l" rtl="0" eaLnBrk="0" fontAlgn="base" hangingPunct="0">
        <a:spcBef>
          <a:spcPct val="0"/>
        </a:spcBef>
        <a:spcAft>
          <a:spcPct val="0"/>
        </a:spcAft>
        <a:defRPr sz="3600">
          <a:solidFill>
            <a:schemeClr val="tx2"/>
          </a:solidFill>
          <a:latin typeface="Calibri" pitchFamily="34" charset="0"/>
          <a:ea typeface="ＭＳ Ｐゴシック" charset="0"/>
        </a:defRPr>
      </a:lvl2pPr>
      <a:lvl3pPr algn="l" rtl="0" eaLnBrk="0" fontAlgn="base" hangingPunct="0">
        <a:spcBef>
          <a:spcPct val="0"/>
        </a:spcBef>
        <a:spcAft>
          <a:spcPct val="0"/>
        </a:spcAft>
        <a:defRPr sz="3600">
          <a:solidFill>
            <a:schemeClr val="tx2"/>
          </a:solidFill>
          <a:latin typeface="Calibri" pitchFamily="34" charset="0"/>
          <a:ea typeface="ＭＳ Ｐゴシック" charset="0"/>
        </a:defRPr>
      </a:lvl3pPr>
      <a:lvl4pPr algn="l" rtl="0" eaLnBrk="0" fontAlgn="base" hangingPunct="0">
        <a:spcBef>
          <a:spcPct val="0"/>
        </a:spcBef>
        <a:spcAft>
          <a:spcPct val="0"/>
        </a:spcAft>
        <a:defRPr sz="3600">
          <a:solidFill>
            <a:schemeClr val="tx2"/>
          </a:solidFill>
          <a:latin typeface="Calibri" pitchFamily="34" charset="0"/>
          <a:ea typeface="ＭＳ Ｐゴシック" charset="0"/>
        </a:defRPr>
      </a:lvl4pPr>
      <a:lvl5pPr algn="l" rtl="0" eaLnBrk="0" fontAlgn="base" hangingPunct="0">
        <a:spcBef>
          <a:spcPct val="0"/>
        </a:spcBef>
        <a:spcAft>
          <a:spcPct val="0"/>
        </a:spcAft>
        <a:defRPr sz="3600">
          <a:solidFill>
            <a:schemeClr val="tx2"/>
          </a:solidFill>
          <a:latin typeface="Calibri" pitchFamily="34" charset="0"/>
          <a:ea typeface="ＭＳ Ｐゴシック" charset="0"/>
        </a:defRPr>
      </a:lvl5pPr>
      <a:lvl6pPr marL="457200" algn="l" rtl="0" eaLnBrk="1" fontAlgn="base" hangingPunct="1">
        <a:spcBef>
          <a:spcPct val="0"/>
        </a:spcBef>
        <a:spcAft>
          <a:spcPct val="0"/>
        </a:spcAft>
        <a:defRPr sz="4000">
          <a:solidFill>
            <a:schemeClr val="tx2"/>
          </a:solidFill>
          <a:latin typeface="Tw Cen MT" pitchFamily="34" charset="0"/>
        </a:defRPr>
      </a:lvl6pPr>
      <a:lvl7pPr marL="914400" algn="l" rtl="0" eaLnBrk="1" fontAlgn="base" hangingPunct="1">
        <a:spcBef>
          <a:spcPct val="0"/>
        </a:spcBef>
        <a:spcAft>
          <a:spcPct val="0"/>
        </a:spcAft>
        <a:defRPr sz="4000">
          <a:solidFill>
            <a:schemeClr val="tx2"/>
          </a:solidFill>
          <a:latin typeface="Tw Cen MT" pitchFamily="34" charset="0"/>
        </a:defRPr>
      </a:lvl7pPr>
      <a:lvl8pPr marL="1371600" algn="l" rtl="0" eaLnBrk="1" fontAlgn="base" hangingPunct="1">
        <a:spcBef>
          <a:spcPct val="0"/>
        </a:spcBef>
        <a:spcAft>
          <a:spcPct val="0"/>
        </a:spcAft>
        <a:defRPr sz="4000">
          <a:solidFill>
            <a:schemeClr val="tx2"/>
          </a:solidFill>
          <a:latin typeface="Tw Cen MT" pitchFamily="34" charset="0"/>
        </a:defRPr>
      </a:lvl8pPr>
      <a:lvl9pPr marL="1828800" algn="l" rtl="0" eaLnBrk="1" fontAlgn="base" hangingPunct="1">
        <a:spcBef>
          <a:spcPct val="0"/>
        </a:spcBef>
        <a:spcAft>
          <a:spcPct val="0"/>
        </a:spcAft>
        <a:defRPr sz="4000">
          <a:solidFill>
            <a:schemeClr val="tx2"/>
          </a:solidFill>
          <a:latin typeface="Tw Cen MT"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ubtitle 2"/>
          <p:cNvSpPr>
            <a:spLocks noGrp="1"/>
          </p:cNvSpPr>
          <p:nvPr>
            <p:ph type="subTitle" idx="1"/>
          </p:nvPr>
        </p:nvSpPr>
        <p:spPr>
          <a:xfrm>
            <a:off x="1219200" y="3200400"/>
            <a:ext cx="6553200" cy="2895600"/>
          </a:xfrm>
        </p:spPr>
        <p:txBody>
          <a:bodyPr/>
          <a:lstStyle/>
          <a:p>
            <a:pPr>
              <a:spcBef>
                <a:spcPts val="0"/>
              </a:spcBef>
              <a:defRPr/>
            </a:pPr>
            <a:endParaRPr lang="en-US" sz="1800" b="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a:solidFill>
                  <a:schemeClr val="accent6">
                    <a:lumMod val="20000"/>
                    <a:lumOff val="80000"/>
                  </a:schemeClr>
                </a:solidFill>
                <a:latin typeface="Aharoni" pitchFamily="2" charset="-79"/>
                <a:ea typeface="+mn-ea"/>
                <a:cs typeface="Aharoni" pitchFamily="2" charset="-79"/>
              </a:rPr>
              <a:t>Engr. Seigha Gumus, </a:t>
            </a:r>
            <a:r>
              <a:rPr lang="en-US" sz="1800" dirty="0" err="1">
                <a:solidFill>
                  <a:schemeClr val="accent6">
                    <a:lumMod val="20000"/>
                    <a:lumOff val="80000"/>
                  </a:schemeClr>
                </a:solidFill>
                <a:latin typeface="Aharoni" pitchFamily="2" charset="-79"/>
                <a:ea typeface="+mn-ea"/>
                <a:cs typeface="Aharoni" pitchFamily="2" charset="-79"/>
              </a:rPr>
              <a:t>FNIMechE</a:t>
            </a:r>
            <a:endParaRPr lang="en-US" sz="1800" i="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a:solidFill>
                  <a:schemeClr val="accent6">
                    <a:lumMod val="20000"/>
                    <a:lumOff val="80000"/>
                  </a:schemeClr>
                </a:solidFill>
                <a:ea typeface="+mn-ea"/>
              </a:rPr>
              <a:t>NACETEM South-South</a:t>
            </a:r>
          </a:p>
          <a:p>
            <a:pPr>
              <a:spcBef>
                <a:spcPts val="0"/>
              </a:spcBef>
              <a:defRPr/>
            </a:pPr>
            <a:endParaRPr lang="en-US" sz="2400" b="1" dirty="0">
              <a:solidFill>
                <a:schemeClr val="accent6">
                  <a:lumMod val="20000"/>
                  <a:lumOff val="80000"/>
                </a:schemeClr>
              </a:solidFill>
              <a:ea typeface="+mn-ea"/>
            </a:endParaRPr>
          </a:p>
          <a:p>
            <a:pPr>
              <a:lnSpc>
                <a:spcPct val="150000"/>
              </a:lnSpc>
              <a:spcBef>
                <a:spcPts val="0"/>
              </a:spcBef>
              <a:defRPr/>
            </a:pPr>
            <a:endParaRPr lang="en-US" sz="2400" b="1" dirty="0">
              <a:solidFill>
                <a:srgbClr val="C00000"/>
              </a:solidFill>
              <a:ea typeface="+mn-ea"/>
            </a:endParaRPr>
          </a:p>
          <a:p>
            <a:pPr>
              <a:lnSpc>
                <a:spcPct val="150000"/>
              </a:lnSpc>
              <a:spcBef>
                <a:spcPts val="0"/>
              </a:spcBef>
              <a:defRPr/>
            </a:pPr>
            <a:r>
              <a:rPr lang="en-US" sz="2400" b="1" dirty="0">
                <a:solidFill>
                  <a:srgbClr val="C00000"/>
                </a:solidFill>
                <a:ea typeface="+mn-ea"/>
              </a:rPr>
              <a:t>NACETEM Researchers’ Seminar Series</a:t>
            </a:r>
          </a:p>
          <a:p>
            <a:pPr>
              <a:spcBef>
                <a:spcPts val="0"/>
              </a:spcBef>
              <a:defRPr/>
            </a:pPr>
            <a:r>
              <a:rPr lang="en-GB" sz="2400" b="1" dirty="0">
                <a:solidFill>
                  <a:srgbClr val="C00000"/>
                </a:solidFill>
                <a:ea typeface="+mn-ea"/>
              </a:rPr>
              <a:t>Thursday, 16</a:t>
            </a:r>
            <a:r>
              <a:rPr lang="en-GB" sz="2400" b="1" baseline="30000" dirty="0">
                <a:solidFill>
                  <a:srgbClr val="C00000"/>
                </a:solidFill>
                <a:ea typeface="+mn-ea"/>
              </a:rPr>
              <a:t>th</a:t>
            </a:r>
            <a:r>
              <a:rPr lang="en-GB" sz="2400" b="1" dirty="0">
                <a:solidFill>
                  <a:srgbClr val="C00000"/>
                </a:solidFill>
                <a:ea typeface="+mn-ea"/>
              </a:rPr>
              <a:t> October, 2025</a:t>
            </a:r>
          </a:p>
        </p:txBody>
      </p:sp>
      <p:sp>
        <p:nvSpPr>
          <p:cNvPr id="16385" name="Title 1"/>
          <p:cNvSpPr>
            <a:spLocks noGrp="1"/>
          </p:cNvSpPr>
          <p:nvPr>
            <p:ph type="ctrTitle"/>
          </p:nvPr>
        </p:nvSpPr>
        <p:spPr>
          <a:xfrm>
            <a:off x="76200" y="1600200"/>
            <a:ext cx="8991600" cy="1447800"/>
          </a:xfrm>
        </p:spPr>
        <p:txBody>
          <a:bodyPr>
            <a:normAutofit/>
          </a:bodyPr>
          <a:lstStyle/>
          <a:p>
            <a:r>
              <a:rPr lang="en-GB" sz="2800" b="1" dirty="0"/>
              <a:t>Application of RSM in Analyzing Weld Metal Viscosity in Mild Steel Welds</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52400" y="548680"/>
            <a:ext cx="8112125" cy="676275"/>
          </a:xfrm>
        </p:spPr>
        <p:txBody>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Outline</a:t>
            </a:r>
          </a:p>
        </p:txBody>
      </p:sp>
      <p:sp>
        <p:nvSpPr>
          <p:cNvPr id="17410" name="Rectangle 3"/>
          <p:cNvSpPr>
            <a:spLocks noGrp="1" noChangeArrowheads="1"/>
          </p:cNvSpPr>
          <p:nvPr>
            <p:ph idx="4294967295"/>
          </p:nvPr>
        </p:nvSpPr>
        <p:spPr>
          <a:xfrm>
            <a:off x="251520" y="1052736"/>
            <a:ext cx="8112125" cy="4962540"/>
          </a:xfrm>
        </p:spPr>
        <p:txBody>
          <a:bodyPr/>
          <a:lstStyle/>
          <a:p>
            <a:pPr lvl="0" algn="just">
              <a:lnSpc>
                <a:spcPct val="150000"/>
              </a:lnSpc>
            </a:pPr>
            <a:r>
              <a:rPr lang="en-US" sz="2400" dirty="0">
                <a:solidFill>
                  <a:prstClr val="black"/>
                </a:solidFill>
                <a:latin typeface="Gill Sans MT" panose="020B0502020104020203" pitchFamily="34" charset="0"/>
                <a:cs typeface="Times New Roman" panose="02020603050405020304" pitchFamily="18" charset="0"/>
              </a:rPr>
              <a:t>Introduction</a:t>
            </a:r>
          </a:p>
          <a:p>
            <a:pPr lvl="0" algn="just">
              <a:lnSpc>
                <a:spcPct val="150000"/>
              </a:lnSpc>
            </a:pPr>
            <a:r>
              <a:rPr lang="en-GB" sz="2400" dirty="0">
                <a:solidFill>
                  <a:prstClr val="black"/>
                </a:solidFill>
                <a:latin typeface="Gill Sans MT" panose="020B0502020104020203" pitchFamily="34" charset="0"/>
                <a:cs typeface="Times New Roman" panose="02020603050405020304" pitchFamily="18" charset="0"/>
              </a:rPr>
              <a:t>Statement of the problem</a:t>
            </a:r>
            <a:endParaRPr lang="en-US" sz="2400" dirty="0">
              <a:solidFill>
                <a:prstClr val="black"/>
              </a:solidFill>
              <a:latin typeface="Gill Sans MT" panose="020B0502020104020203" pitchFamily="34" charset="0"/>
              <a:cs typeface="Times New Roman" panose="02020603050405020304" pitchFamily="18" charset="0"/>
            </a:endParaRPr>
          </a:p>
          <a:p>
            <a:pPr lvl="0" algn="just">
              <a:lnSpc>
                <a:spcPct val="150000"/>
              </a:lnSpc>
            </a:pPr>
            <a:r>
              <a:rPr lang="en-GB" sz="2400" dirty="0">
                <a:solidFill>
                  <a:prstClr val="black"/>
                </a:solidFill>
                <a:latin typeface="Gill Sans MT" panose="020B0502020104020203" pitchFamily="34" charset="0"/>
                <a:cs typeface="Times New Roman" panose="02020603050405020304" pitchFamily="18" charset="0"/>
              </a:rPr>
              <a:t>Aim and Objectives of the study</a:t>
            </a:r>
          </a:p>
          <a:p>
            <a:pPr lvl="0" algn="just">
              <a:lnSpc>
                <a:spcPct val="150000"/>
              </a:lnSpc>
            </a:pPr>
            <a:r>
              <a:rPr lang="en-GB" sz="2400" dirty="0">
                <a:solidFill>
                  <a:prstClr val="black"/>
                </a:solidFill>
                <a:latin typeface="Gill Sans MT" panose="020B0502020104020203" pitchFamily="34" charset="0"/>
                <a:cs typeface="Times New Roman" panose="02020603050405020304" pitchFamily="18" charset="0"/>
              </a:rPr>
              <a:t>Research Questions</a:t>
            </a:r>
            <a:endParaRPr lang="en-US" sz="2400" dirty="0">
              <a:solidFill>
                <a:prstClr val="black"/>
              </a:solidFill>
              <a:latin typeface="Gill Sans MT" panose="020B0502020104020203" pitchFamily="34" charset="0"/>
              <a:cs typeface="Times New Roman" panose="02020603050405020304" pitchFamily="18" charset="0"/>
            </a:endParaRPr>
          </a:p>
          <a:p>
            <a:pPr lvl="0" algn="just">
              <a:lnSpc>
                <a:spcPct val="150000"/>
              </a:lnSpc>
            </a:pPr>
            <a:r>
              <a:rPr lang="en-GB" sz="2400" dirty="0">
                <a:solidFill>
                  <a:prstClr val="black"/>
                </a:solidFill>
                <a:latin typeface="Gill Sans MT" panose="020B0502020104020203" pitchFamily="34" charset="0"/>
                <a:cs typeface="Times New Roman" panose="02020603050405020304" pitchFamily="18" charset="0"/>
              </a:rPr>
              <a:t>Materials and methods</a:t>
            </a:r>
          </a:p>
          <a:p>
            <a:pPr lvl="0" algn="just">
              <a:lnSpc>
                <a:spcPct val="150000"/>
              </a:lnSpc>
            </a:pPr>
            <a:r>
              <a:rPr lang="en-GB" sz="2400" dirty="0">
                <a:solidFill>
                  <a:prstClr val="black"/>
                </a:solidFill>
                <a:latin typeface="Gill Sans MT" panose="020B0502020104020203" pitchFamily="34" charset="0"/>
                <a:cs typeface="Times New Roman" panose="02020603050405020304" pitchFamily="18" charset="0"/>
              </a:rPr>
              <a:t>Results</a:t>
            </a:r>
          </a:p>
          <a:p>
            <a:pPr lvl="0" algn="just">
              <a:lnSpc>
                <a:spcPct val="150000"/>
              </a:lnSpc>
            </a:pPr>
            <a:r>
              <a:rPr lang="en-GB" sz="2400" dirty="0">
                <a:solidFill>
                  <a:prstClr val="black"/>
                </a:solidFill>
                <a:latin typeface="Gill Sans MT" panose="020B0502020104020203" pitchFamily="34" charset="0"/>
                <a:cs typeface="Times New Roman" panose="02020603050405020304" pitchFamily="18" charset="0"/>
              </a:rPr>
              <a:t>Conclusions</a:t>
            </a:r>
            <a:endParaRPr lang="en-US" sz="2400" dirty="0">
              <a:solidFill>
                <a:prstClr val="black"/>
              </a:solidFill>
              <a:latin typeface="Gill Sans MT" panose="020B0502020104020203" pitchFamily="34" charset="0"/>
              <a:cs typeface="Times New Roman" panose="02020603050405020304" pitchFamily="18" charset="0"/>
            </a:endParaRPr>
          </a:p>
          <a:p>
            <a:pPr lvl="0">
              <a:lnSpc>
                <a:spcPct val="150000"/>
              </a:lnSpc>
            </a:pPr>
            <a:endParaRPr lang="en-US" sz="2800" dirty="0">
              <a:solidFill>
                <a:prstClr val="black"/>
              </a:solidFill>
              <a:latin typeface="Gill Sans MT" panose="020B0502020104020203" pitchFamily="34" charset="0"/>
              <a:cs typeface="Times New Roman" panose="02020603050405020304" pitchFamily="18" charset="0"/>
            </a:endParaRPr>
          </a:p>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1C3B027-99D8-4500-AA7E-8D849F3A1F09}" type="slidenum">
              <a:rPr lang="en-US" smtClean="0"/>
              <a:pPr/>
              <a:t>3</a:t>
            </a:fld>
            <a:endParaRPr lang="en-US" dirty="0"/>
          </a:p>
        </p:txBody>
      </p:sp>
      <p:sp>
        <p:nvSpPr>
          <p:cNvPr id="2" name="Rectangle 2">
            <a:extLst>
              <a:ext uri="{FF2B5EF4-FFF2-40B4-BE49-F238E27FC236}">
                <a16:creationId xmlns:a16="http://schemas.microsoft.com/office/drawing/2014/main" id="{1293D909-262E-8769-6FCA-A38F437518F1}"/>
              </a:ext>
            </a:extLst>
          </p:cNvPr>
          <p:cNvSpPr>
            <a:spLocks noGrp="1" noChangeArrowheads="1"/>
          </p:cNvSpPr>
          <p:nvPr>
            <p:ph type="title"/>
          </p:nvPr>
        </p:nvSpPr>
        <p:spPr>
          <a:xfrm>
            <a:off x="152400" y="44624"/>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Introduction</a:t>
            </a:r>
          </a:p>
        </p:txBody>
      </p:sp>
      <p:sp>
        <p:nvSpPr>
          <p:cNvPr id="6" name="Content Placeholder 2">
            <a:extLst>
              <a:ext uri="{FF2B5EF4-FFF2-40B4-BE49-F238E27FC236}">
                <a16:creationId xmlns:a16="http://schemas.microsoft.com/office/drawing/2014/main" id="{BC1A6135-E14F-5883-C798-63211CD28B63}"/>
              </a:ext>
            </a:extLst>
          </p:cNvPr>
          <p:cNvSpPr>
            <a:spLocks noGrp="1"/>
          </p:cNvSpPr>
          <p:nvPr>
            <p:ph idx="1"/>
          </p:nvPr>
        </p:nvSpPr>
        <p:spPr>
          <a:xfrm>
            <a:off x="152400" y="764704"/>
            <a:ext cx="8839200" cy="2819399"/>
          </a:xfrm>
        </p:spPr>
        <p:txBody>
          <a:bodyPr>
            <a:normAutofit/>
          </a:bodyPr>
          <a:lstStyle/>
          <a:p>
            <a:pPr>
              <a:buFont typeface="Wingdings" panose="05000000000000000000" pitchFamily="2" charset="2"/>
              <a:buChar char="Ø"/>
            </a:pPr>
            <a:r>
              <a:rPr lang="en-US" sz="2400" dirty="0"/>
              <a:t>Welding is an essential manufacturing Process</a:t>
            </a:r>
          </a:p>
          <a:p>
            <a:pPr lvl="1">
              <a:buFont typeface="Wingdings" panose="05000000000000000000" pitchFamily="2" charset="2"/>
              <a:buChar char="v"/>
            </a:pPr>
            <a:r>
              <a:rPr lang="en-US" sz="2400" dirty="0"/>
              <a:t> Automobile</a:t>
            </a:r>
          </a:p>
          <a:p>
            <a:pPr lvl="1">
              <a:buFont typeface="Wingdings" panose="05000000000000000000" pitchFamily="2" charset="2"/>
              <a:buChar char="v"/>
            </a:pPr>
            <a:r>
              <a:rPr lang="en-US" sz="2400" dirty="0"/>
              <a:t>Ship building</a:t>
            </a:r>
          </a:p>
          <a:p>
            <a:pPr lvl="1">
              <a:buFont typeface="Wingdings" panose="05000000000000000000" pitchFamily="2" charset="2"/>
              <a:buChar char="v"/>
            </a:pPr>
            <a:r>
              <a:rPr lang="en-US" sz="2400" dirty="0"/>
              <a:t>Construction </a:t>
            </a:r>
          </a:p>
          <a:p>
            <a:pPr lvl="1">
              <a:buFont typeface="Wingdings" panose="05000000000000000000" pitchFamily="2" charset="2"/>
              <a:buChar char="v"/>
            </a:pPr>
            <a:r>
              <a:rPr lang="en-US" sz="2400" dirty="0"/>
              <a:t>Pipeline manufacturing </a:t>
            </a:r>
          </a:p>
          <a:p>
            <a:pPr lvl="1">
              <a:buFont typeface="Wingdings" panose="05000000000000000000" pitchFamily="2" charset="2"/>
              <a:buChar char="v"/>
            </a:pPr>
            <a:r>
              <a:rPr lang="en-US" sz="2400" dirty="0"/>
              <a:t>Aerospace etc.</a:t>
            </a:r>
          </a:p>
        </p:txBody>
      </p:sp>
      <p:sp>
        <p:nvSpPr>
          <p:cNvPr id="8" name="Content Placeholder 2">
            <a:extLst>
              <a:ext uri="{FF2B5EF4-FFF2-40B4-BE49-F238E27FC236}">
                <a16:creationId xmlns:a16="http://schemas.microsoft.com/office/drawing/2014/main" id="{298852E2-2B95-8BE8-2940-DF1BFE684C3A}"/>
              </a:ext>
            </a:extLst>
          </p:cNvPr>
          <p:cNvSpPr txBox="1"/>
          <p:nvPr/>
        </p:nvSpPr>
        <p:spPr>
          <a:xfrm>
            <a:off x="152400" y="3878561"/>
            <a:ext cx="8839200" cy="990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Welding involves the joining of materials, such as metals through the application of heat or pressure to form a cohesive bond </a:t>
            </a:r>
          </a:p>
        </p:txBody>
      </p:sp>
      <p:sp>
        <p:nvSpPr>
          <p:cNvPr id="9" name="Content Placeholder 2">
            <a:extLst>
              <a:ext uri="{FF2B5EF4-FFF2-40B4-BE49-F238E27FC236}">
                <a16:creationId xmlns:a16="http://schemas.microsoft.com/office/drawing/2014/main" id="{6B338DC3-5ECF-6988-F937-08DC3BC2E882}"/>
              </a:ext>
            </a:extLst>
          </p:cNvPr>
          <p:cNvSpPr txBox="1"/>
          <p:nvPr/>
        </p:nvSpPr>
        <p:spPr>
          <a:xfrm>
            <a:off x="152400" y="5166320"/>
            <a:ext cx="8839200" cy="1143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Welding processes inherently introduce residual stresses, which can compromise the integrity and performance of welded structures</a:t>
            </a:r>
          </a:p>
        </p:txBody>
      </p:sp>
    </p:spTree>
    <p:extLst>
      <p:ext uri="{BB962C8B-B14F-4D97-AF65-F5344CB8AC3E}">
        <p14:creationId xmlns:p14="http://schemas.microsoft.com/office/powerpoint/2010/main" val="54845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4A7C2B-2932-648C-3DC9-CAB1DB69171C}"/>
              </a:ext>
            </a:extLst>
          </p:cNvPr>
          <p:cNvSpPr>
            <a:spLocks noGrp="1"/>
          </p:cNvSpPr>
          <p:nvPr>
            <p:ph type="sldNum" sz="quarter" idx="12"/>
          </p:nvPr>
        </p:nvSpPr>
        <p:spPr/>
        <p:txBody>
          <a:bodyPr/>
          <a:lstStyle/>
          <a:p>
            <a:fld id="{41C3B027-99D8-4500-AA7E-8D849F3A1F09}" type="slidenum">
              <a:rPr lang="en-US" smtClean="0"/>
              <a:pPr/>
              <a:t>4</a:t>
            </a:fld>
            <a:endParaRPr lang="en-US" dirty="0"/>
          </a:p>
        </p:txBody>
      </p:sp>
      <p:sp>
        <p:nvSpPr>
          <p:cNvPr id="5" name="Rectangle 2">
            <a:extLst>
              <a:ext uri="{FF2B5EF4-FFF2-40B4-BE49-F238E27FC236}">
                <a16:creationId xmlns:a16="http://schemas.microsoft.com/office/drawing/2014/main" id="{EA57965D-CCAA-FC43-C2D9-0FB90B61398F}"/>
              </a:ext>
            </a:extLst>
          </p:cNvPr>
          <p:cNvSpPr>
            <a:spLocks noGrp="1" noChangeArrowheads="1"/>
          </p:cNvSpPr>
          <p:nvPr>
            <p:ph type="title"/>
          </p:nvPr>
        </p:nvSpPr>
        <p:spPr>
          <a:xfrm>
            <a:off x="152400" y="44624"/>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Introduction Cont’d.</a:t>
            </a:r>
          </a:p>
        </p:txBody>
      </p:sp>
      <p:sp>
        <p:nvSpPr>
          <p:cNvPr id="6" name="Content Placeholder 2">
            <a:extLst>
              <a:ext uri="{FF2B5EF4-FFF2-40B4-BE49-F238E27FC236}">
                <a16:creationId xmlns:a16="http://schemas.microsoft.com/office/drawing/2014/main" id="{34F9B39F-A604-7FC3-F0D3-8C78C9A735EB}"/>
              </a:ext>
            </a:extLst>
          </p:cNvPr>
          <p:cNvSpPr txBox="1"/>
          <p:nvPr/>
        </p:nvSpPr>
        <p:spPr>
          <a:xfrm>
            <a:off x="152400" y="764705"/>
            <a:ext cx="8839200" cy="6762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Weld Metal Viscosity is an integral part of welding process</a:t>
            </a:r>
          </a:p>
        </p:txBody>
      </p:sp>
      <p:sp>
        <p:nvSpPr>
          <p:cNvPr id="7" name="Content Placeholder 2">
            <a:extLst>
              <a:ext uri="{FF2B5EF4-FFF2-40B4-BE49-F238E27FC236}">
                <a16:creationId xmlns:a16="http://schemas.microsoft.com/office/drawing/2014/main" id="{C419450E-8095-6999-2594-23548056DE17}"/>
              </a:ext>
            </a:extLst>
          </p:cNvPr>
          <p:cNvSpPr txBox="1"/>
          <p:nvPr/>
        </p:nvSpPr>
        <p:spPr>
          <a:xfrm>
            <a:off x="152400" y="1628800"/>
            <a:ext cx="8839200" cy="9361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Viscosity of molten welds in mild steel is a key factor during welding process.</a:t>
            </a:r>
          </a:p>
        </p:txBody>
      </p:sp>
      <p:sp>
        <p:nvSpPr>
          <p:cNvPr id="8" name="Content Placeholder 2">
            <a:extLst>
              <a:ext uri="{FF2B5EF4-FFF2-40B4-BE49-F238E27FC236}">
                <a16:creationId xmlns:a16="http://schemas.microsoft.com/office/drawing/2014/main" id="{93EEB4AE-D856-C88D-72C7-5CD6ECDD4119}"/>
              </a:ext>
            </a:extLst>
          </p:cNvPr>
          <p:cNvSpPr txBox="1"/>
          <p:nvPr/>
        </p:nvSpPr>
        <p:spPr>
          <a:xfrm>
            <a:off x="107504" y="2852936"/>
            <a:ext cx="8839200" cy="16561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It plays a crucial role in the weld quality thereby affecting various parameters such as penetration, bead shape and the potential for possible defects since the viscosity influences how molten metal flows and spreads to fill the welded joints</a:t>
            </a:r>
          </a:p>
        </p:txBody>
      </p:sp>
      <p:sp>
        <p:nvSpPr>
          <p:cNvPr id="9" name="Content Placeholder 2">
            <a:extLst>
              <a:ext uri="{FF2B5EF4-FFF2-40B4-BE49-F238E27FC236}">
                <a16:creationId xmlns:a16="http://schemas.microsoft.com/office/drawing/2014/main" id="{773D5EB4-2505-D896-3BE8-FF5BA5B565ED}"/>
              </a:ext>
            </a:extLst>
          </p:cNvPr>
          <p:cNvSpPr txBox="1"/>
          <p:nvPr/>
        </p:nvSpPr>
        <p:spPr>
          <a:xfrm>
            <a:off x="125288" y="4869160"/>
            <a:ext cx="8839200" cy="16561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The process can be described of how the molten metal flows, wets the welded surfaces filling the deep pool and solidifies during weld pool formation.</a:t>
            </a:r>
          </a:p>
        </p:txBody>
      </p:sp>
    </p:spTree>
    <p:extLst>
      <p:ext uri="{BB962C8B-B14F-4D97-AF65-F5344CB8AC3E}">
        <p14:creationId xmlns:p14="http://schemas.microsoft.com/office/powerpoint/2010/main" val="4283709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1C3B027-99D8-4500-AA7E-8D849F3A1F09}" type="slidenum">
              <a:rPr lang="en-US" smtClean="0"/>
              <a:pPr/>
              <a:t>5</a:t>
            </a:fld>
            <a:endParaRPr lang="en-US" dirty="0"/>
          </a:p>
        </p:txBody>
      </p:sp>
      <p:sp>
        <p:nvSpPr>
          <p:cNvPr id="5" name="Content Placeholder 2">
            <a:extLst>
              <a:ext uri="{FF2B5EF4-FFF2-40B4-BE49-F238E27FC236}">
                <a16:creationId xmlns:a16="http://schemas.microsoft.com/office/drawing/2014/main" id="{B2A50B5B-F9A9-5246-5079-0B78D8AD1E58}"/>
              </a:ext>
            </a:extLst>
          </p:cNvPr>
          <p:cNvSpPr txBox="1"/>
          <p:nvPr/>
        </p:nvSpPr>
        <p:spPr>
          <a:xfrm>
            <a:off x="242455" y="990600"/>
            <a:ext cx="8596745" cy="5410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200" dirty="0"/>
              <a:t>Controlling thermo-mechanical residual stress in mild steel weldments remains a critical challenge in welding engineering</a:t>
            </a:r>
          </a:p>
          <a:p>
            <a:pPr marL="0" indent="0" algn="just">
              <a:buNone/>
            </a:pPr>
            <a:endParaRPr lang="en-US" sz="2200" dirty="0"/>
          </a:p>
          <a:p>
            <a:pPr algn="just">
              <a:buFont typeface="Wingdings" panose="05000000000000000000" pitchFamily="2" charset="2"/>
              <a:buChar char="Ø"/>
            </a:pPr>
            <a:r>
              <a:rPr lang="en-US" sz="2200" dirty="0"/>
              <a:t>In mild steel </a:t>
            </a:r>
            <a:r>
              <a:rPr lang="en-US" sz="2200" dirty="0" err="1"/>
              <a:t>weldments</a:t>
            </a:r>
            <a:r>
              <a:rPr lang="en-US" sz="2200" dirty="0"/>
              <a:t>, excessive residual stress can lead to problems such as distortion, fatigue cracking, and reduced load-bearing capacity </a:t>
            </a:r>
          </a:p>
          <a:p>
            <a:pPr algn="just">
              <a:buFont typeface="Wingdings" panose="05000000000000000000" pitchFamily="2" charset="2"/>
              <a:buChar char="Ø"/>
            </a:pPr>
            <a:endParaRPr lang="en-US" sz="2200" dirty="0"/>
          </a:p>
          <a:p>
            <a:pPr algn="just">
              <a:buFont typeface="Wingdings" panose="05000000000000000000" pitchFamily="2" charset="2"/>
              <a:buChar char="Ø"/>
            </a:pPr>
            <a:r>
              <a:rPr lang="en-US" sz="2200" dirty="0"/>
              <a:t>Inherent limitations in traditional and analytical methods </a:t>
            </a:r>
          </a:p>
          <a:p>
            <a:pPr algn="just">
              <a:buFont typeface="Wingdings" panose="05000000000000000000" pitchFamily="2" charset="2"/>
              <a:buChar char="Ø"/>
            </a:pPr>
            <a:endParaRPr lang="en-US" sz="2200" dirty="0"/>
          </a:p>
          <a:p>
            <a:pPr algn="just">
              <a:buFont typeface="Wingdings" panose="05000000000000000000" pitchFamily="2" charset="2"/>
              <a:buChar char="Ø"/>
            </a:pPr>
            <a:r>
              <a:rPr lang="en-US" sz="2200" dirty="0"/>
              <a:t>Introducing hybrid optimization and predictive modeling techniques should be able to address these short comings.</a:t>
            </a:r>
          </a:p>
          <a:p>
            <a:pPr algn="just">
              <a:buFont typeface="Wingdings" panose="05000000000000000000" pitchFamily="2" charset="2"/>
              <a:buChar char="Ø"/>
            </a:pPr>
            <a:endParaRPr lang="en-US" sz="2200" dirty="0"/>
          </a:p>
          <a:p>
            <a:pPr algn="just">
              <a:buFont typeface="Wingdings" panose="05000000000000000000" pitchFamily="2" charset="2"/>
              <a:buChar char="Ø"/>
            </a:pPr>
            <a:endParaRPr lang="en-US" sz="2200" dirty="0"/>
          </a:p>
          <a:p>
            <a:pPr lvl="0" algn="just">
              <a:buFont typeface="Wingdings" panose="05000000000000000000" pitchFamily="2" charset="2"/>
              <a:buChar char="Ø"/>
            </a:pPr>
            <a:endParaRPr lang="en-US" sz="2200" dirty="0"/>
          </a:p>
        </p:txBody>
      </p:sp>
      <p:sp>
        <p:nvSpPr>
          <p:cNvPr id="6" name="Rectangle 2">
            <a:extLst>
              <a:ext uri="{FF2B5EF4-FFF2-40B4-BE49-F238E27FC236}">
                <a16:creationId xmlns:a16="http://schemas.microsoft.com/office/drawing/2014/main" id="{3F8AA254-16B2-BF83-8D31-20B3C4EA8DFB}"/>
              </a:ext>
            </a:extLst>
          </p:cNvPr>
          <p:cNvSpPr>
            <a:spLocks noGrp="1" noChangeArrowheads="1"/>
          </p:cNvSpPr>
          <p:nvPr>
            <p:ph type="title"/>
          </p:nvPr>
        </p:nvSpPr>
        <p:spPr>
          <a:xfrm>
            <a:off x="152400" y="44624"/>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Problem Statement</a:t>
            </a:r>
          </a:p>
        </p:txBody>
      </p:sp>
    </p:spTree>
    <p:extLst>
      <p:ext uri="{BB962C8B-B14F-4D97-AF65-F5344CB8AC3E}">
        <p14:creationId xmlns:p14="http://schemas.microsoft.com/office/powerpoint/2010/main" val="1161227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1C3B027-99D8-4500-AA7E-8D849F3A1F09}" type="slidenum">
              <a:rPr lang="en-US" smtClean="0"/>
              <a:pPr/>
              <a:t>6</a:t>
            </a:fld>
            <a:endParaRPr lang="en-US" dirty="0"/>
          </a:p>
        </p:txBody>
      </p:sp>
      <p:sp>
        <p:nvSpPr>
          <p:cNvPr id="5" name="Content Placeholder 2">
            <a:extLst>
              <a:ext uri="{FF2B5EF4-FFF2-40B4-BE49-F238E27FC236}">
                <a16:creationId xmlns:a16="http://schemas.microsoft.com/office/drawing/2014/main" id="{8F195B84-3542-1293-2531-0AD25B02DA9E}"/>
              </a:ext>
            </a:extLst>
          </p:cNvPr>
          <p:cNvSpPr txBox="1"/>
          <p:nvPr/>
        </p:nvSpPr>
        <p:spPr>
          <a:xfrm>
            <a:off x="152400" y="1325488"/>
            <a:ext cx="8839200" cy="2895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None/>
            </a:pPr>
            <a:r>
              <a:rPr lang="en-US" sz="2800" b="1" dirty="0"/>
              <a:t>Aim</a:t>
            </a:r>
          </a:p>
          <a:p>
            <a:pPr algn="just">
              <a:buFont typeface="Wingdings" panose="05000000000000000000" pitchFamily="2" charset="2"/>
              <a:buChar char="Ø"/>
            </a:pPr>
            <a:r>
              <a:rPr lang="en-US" sz="2200" dirty="0"/>
              <a:t>To optimize and predict weld metal viscosity variables in mild steel weldments using Response Surface Methodology (RSM)</a:t>
            </a:r>
          </a:p>
          <a:p>
            <a:pPr algn="just">
              <a:buFont typeface="Wingdings" panose="05000000000000000000" pitchFamily="2" charset="2"/>
              <a:buChar char="Ø"/>
            </a:pPr>
            <a:endParaRPr lang="en-US" sz="2200" dirty="0"/>
          </a:p>
          <a:p>
            <a:pPr marL="0" indent="0" algn="just">
              <a:buFont typeface="Wingdings" panose="05000000000000000000" pitchFamily="2" charset="2"/>
              <a:buNone/>
            </a:pPr>
            <a:endParaRPr lang="en-US" sz="2200" dirty="0"/>
          </a:p>
        </p:txBody>
      </p:sp>
    </p:spTree>
    <p:extLst>
      <p:ext uri="{BB962C8B-B14F-4D97-AF65-F5344CB8AC3E}">
        <p14:creationId xmlns:p14="http://schemas.microsoft.com/office/powerpoint/2010/main" val="1491874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0B1E6D-8D0E-03C6-977C-C64E7DE4D08C}"/>
              </a:ext>
            </a:extLst>
          </p:cNvPr>
          <p:cNvSpPr>
            <a:spLocks noGrp="1"/>
          </p:cNvSpPr>
          <p:nvPr>
            <p:ph type="sldNum" sz="quarter" idx="12"/>
          </p:nvPr>
        </p:nvSpPr>
        <p:spPr/>
        <p:txBody>
          <a:bodyPr/>
          <a:lstStyle/>
          <a:p>
            <a:fld id="{41C3B027-99D8-4500-AA7E-8D849F3A1F09}" type="slidenum">
              <a:rPr lang="en-US" smtClean="0"/>
              <a:pPr/>
              <a:t>7</a:t>
            </a:fld>
            <a:endParaRPr lang="en-US" dirty="0"/>
          </a:p>
        </p:txBody>
      </p:sp>
      <p:sp>
        <p:nvSpPr>
          <p:cNvPr id="5" name="Content Placeholder 2">
            <a:extLst>
              <a:ext uri="{FF2B5EF4-FFF2-40B4-BE49-F238E27FC236}">
                <a16:creationId xmlns:a16="http://schemas.microsoft.com/office/drawing/2014/main" id="{61008885-D8F3-4BD4-02C1-B532EBFF61D6}"/>
              </a:ext>
            </a:extLst>
          </p:cNvPr>
          <p:cNvSpPr txBox="1"/>
          <p:nvPr/>
        </p:nvSpPr>
        <p:spPr>
          <a:xfrm>
            <a:off x="242455" y="990600"/>
            <a:ext cx="8596745" cy="452663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None/>
            </a:pPr>
            <a:r>
              <a:rPr lang="en-US" b="1" dirty="0"/>
              <a:t>Objectives</a:t>
            </a:r>
          </a:p>
          <a:p>
            <a:pPr algn="just">
              <a:lnSpc>
                <a:spcPct val="115000"/>
              </a:lnSpc>
              <a:spcAft>
                <a:spcPts val="1000"/>
              </a:spcAft>
              <a:buFont typeface="Wingdings" panose="05000000000000000000" pitchFamily="2" charset="2"/>
              <a:buChar char="Ø"/>
            </a:pPr>
            <a:r>
              <a:rPr lang="en-US" sz="2200" dirty="0">
                <a:effectLst/>
                <a:ea typeface="Calibri" panose="020F0502020204030204" pitchFamily="34" charset="0"/>
                <a:cs typeface="Times New Roman" panose="02020603050405020304" pitchFamily="18" charset="0"/>
              </a:rPr>
              <a:t>investigate the influence of welding parameters (current, voltage, gas flow rate, </a:t>
            </a:r>
            <a:r>
              <a:rPr lang="en-US" sz="2200" dirty="0">
                <a:ea typeface="Calibri" panose="020F0502020204030204" pitchFamily="34" charset="0"/>
                <a:cs typeface="Times New Roman" panose="02020603050405020304" pitchFamily="18" charset="0"/>
              </a:rPr>
              <a:t>ambient </a:t>
            </a:r>
            <a:r>
              <a:rPr lang="en-US" sz="2200" dirty="0">
                <a:effectLst/>
                <a:ea typeface="Calibri" panose="020F0502020204030204" pitchFamily="34" charset="0"/>
                <a:cs typeface="Times New Roman" panose="02020603050405020304" pitchFamily="18" charset="0"/>
              </a:rPr>
              <a:t>temperature) on residual stress and weld metal viscosity</a:t>
            </a:r>
            <a:endParaRPr lang="en-GB" sz="2200" dirty="0">
              <a:ea typeface="Calibri" panose="020F0502020204030204" pitchFamily="34" charset="0"/>
              <a:cs typeface="Times New Roman" panose="02020603050405020304" pitchFamily="18" charset="0"/>
            </a:endParaRPr>
          </a:p>
          <a:p>
            <a:pPr algn="just">
              <a:lnSpc>
                <a:spcPct val="115000"/>
              </a:lnSpc>
              <a:spcAft>
                <a:spcPts val="1000"/>
              </a:spcAft>
              <a:buFont typeface="Wingdings" panose="05000000000000000000" pitchFamily="2" charset="2"/>
              <a:buChar char="Ø"/>
            </a:pPr>
            <a:r>
              <a:rPr lang="en-US" sz="2200" dirty="0">
                <a:effectLst/>
                <a:ea typeface="Calibri" panose="020F0502020204030204" pitchFamily="34" charset="0"/>
                <a:cs typeface="Times New Roman" panose="02020603050405020304" pitchFamily="18" charset="0"/>
              </a:rPr>
              <a:t>optimize welding parameters for weld metal viscosity using RSM</a:t>
            </a:r>
            <a:endParaRPr lang="en-GB" sz="22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6870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1C3B027-99D8-4500-AA7E-8D849F3A1F09}" type="slidenum">
              <a:rPr lang="en-US" smtClean="0"/>
              <a:pPr/>
              <a:t>8</a:t>
            </a:fld>
            <a:endParaRPr lang="en-US" dirty="0"/>
          </a:p>
        </p:txBody>
      </p:sp>
      <p:sp>
        <p:nvSpPr>
          <p:cNvPr id="6" name="TextBox 5">
            <a:extLst>
              <a:ext uri="{FF2B5EF4-FFF2-40B4-BE49-F238E27FC236}">
                <a16:creationId xmlns:a16="http://schemas.microsoft.com/office/drawing/2014/main" id="{064D93F3-0BA3-C89A-018E-A2D92C2E3C5B}"/>
              </a:ext>
            </a:extLst>
          </p:cNvPr>
          <p:cNvSpPr txBox="1"/>
          <p:nvPr/>
        </p:nvSpPr>
        <p:spPr>
          <a:xfrm>
            <a:off x="395536" y="1412776"/>
            <a:ext cx="8352928" cy="2632708"/>
          </a:xfrm>
          <a:prstGeom prst="rect">
            <a:avLst/>
          </a:prstGeom>
          <a:noFill/>
        </p:spPr>
        <p:txBody>
          <a:bodyPr wrap="square">
            <a:spAutoFit/>
          </a:bodyPr>
          <a:lstStyle/>
          <a:p>
            <a:pPr algn="just">
              <a:lnSpc>
                <a:spcPct val="115000"/>
              </a:lnSpc>
              <a:spcAft>
                <a:spcPts val="1000"/>
              </a:spcAft>
            </a:pPr>
            <a:r>
              <a:rPr lang="en-US" sz="2800" b="1" dirty="0">
                <a:effectLst/>
                <a:ea typeface="Calibri" panose="020F0502020204030204" pitchFamily="34" charset="0"/>
                <a:cs typeface="Times New Roman" panose="02020603050405020304" pitchFamily="18" charset="0"/>
              </a:rPr>
              <a:t>Research Questions</a:t>
            </a:r>
            <a:endParaRPr lang="en-GB" sz="2800" dirty="0">
              <a:effectLst/>
              <a:ea typeface="Calibri" panose="020F0502020204030204" pitchFamily="34" charset="0"/>
              <a:cs typeface="Times New Roman" panose="02020603050405020304" pitchFamily="18" charset="0"/>
            </a:endParaRPr>
          </a:p>
          <a:p>
            <a:pPr marL="342900" lvl="0" indent="-342900">
              <a:lnSpc>
                <a:spcPct val="115000"/>
              </a:lnSpc>
              <a:buSzPts val="1200"/>
              <a:buFont typeface="Wingdings" panose="05000000000000000000" pitchFamily="2" charset="2"/>
              <a:buChar char="Ø"/>
            </a:pPr>
            <a:r>
              <a:rPr lang="en-US" sz="2200" dirty="0">
                <a:effectLst/>
                <a:ea typeface="Calibri" panose="020F0502020204030204" pitchFamily="34" charset="0"/>
                <a:cs typeface="Times New Roman" panose="02020603050405020304" pitchFamily="18" charset="0"/>
              </a:rPr>
              <a:t>How do welding parameters affect residual stress and weld metal viscosity</a:t>
            </a:r>
          </a:p>
          <a:p>
            <a:pPr lvl="0">
              <a:lnSpc>
                <a:spcPct val="115000"/>
              </a:lnSpc>
              <a:buSzPts val="1200"/>
            </a:pPr>
            <a:endParaRPr lang="en-GB" sz="22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SzPts val="1200"/>
              <a:buFont typeface="Wingdings" panose="05000000000000000000" pitchFamily="2" charset="2"/>
              <a:buChar char="Ø"/>
            </a:pPr>
            <a:r>
              <a:rPr lang="en-US" sz="2200" dirty="0">
                <a:effectLst/>
                <a:ea typeface="Calibri" panose="020F0502020204030204" pitchFamily="34" charset="0"/>
                <a:cs typeface="Times New Roman" panose="02020603050405020304" pitchFamily="18" charset="0"/>
              </a:rPr>
              <a:t>What is the optimal parameter combination for minimizing residual stress using RSM</a:t>
            </a:r>
            <a:endParaRPr lang="en-GB" sz="22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7781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1C3B027-99D8-4500-AA7E-8D849F3A1F09}" type="slidenum">
              <a:rPr lang="en-US" smtClean="0"/>
              <a:pPr/>
              <a:t>9</a:t>
            </a:fld>
            <a:endParaRPr lang="en-US" dirty="0"/>
          </a:p>
        </p:txBody>
      </p:sp>
      <p:sp>
        <p:nvSpPr>
          <p:cNvPr id="7" name="Content Placeholder 2">
            <a:extLst>
              <a:ext uri="{FF2B5EF4-FFF2-40B4-BE49-F238E27FC236}">
                <a16:creationId xmlns:a16="http://schemas.microsoft.com/office/drawing/2014/main" id="{38517D2B-9FFB-BD0B-E008-51191CCC5B8B}"/>
              </a:ext>
            </a:extLst>
          </p:cNvPr>
          <p:cNvSpPr>
            <a:spLocks noGrp="1"/>
          </p:cNvSpPr>
          <p:nvPr>
            <p:ph idx="1"/>
          </p:nvPr>
        </p:nvSpPr>
        <p:spPr>
          <a:xfrm>
            <a:off x="152400" y="990601"/>
            <a:ext cx="8839200" cy="2438399"/>
          </a:xfrm>
        </p:spPr>
        <p:txBody>
          <a:bodyPr>
            <a:normAutofit/>
          </a:bodyPr>
          <a:lstStyle/>
          <a:p>
            <a:pPr algn="just">
              <a:buFont typeface="Wingdings" panose="05000000000000000000" pitchFamily="2" charset="2"/>
              <a:buChar char="v"/>
            </a:pPr>
            <a:r>
              <a:rPr lang="en-US" sz="2400" dirty="0"/>
              <a:t>The Method Outlines ;</a:t>
            </a:r>
            <a:endParaRPr lang="en-US" sz="2000" dirty="0"/>
          </a:p>
          <a:p>
            <a:pPr lvl="1" algn="just">
              <a:buFont typeface="Wingdings" panose="05000000000000000000" pitchFamily="2" charset="2"/>
              <a:buChar char="ü"/>
            </a:pPr>
            <a:r>
              <a:rPr lang="en-US" sz="2200" dirty="0"/>
              <a:t>the experimental design</a:t>
            </a:r>
          </a:p>
          <a:p>
            <a:pPr lvl="1" algn="just">
              <a:buFont typeface="Wingdings" panose="05000000000000000000" pitchFamily="2" charset="2"/>
              <a:buChar char="ü"/>
            </a:pPr>
            <a:r>
              <a:rPr lang="en-US" sz="2200" dirty="0"/>
              <a:t>data collection strategies,</a:t>
            </a:r>
          </a:p>
          <a:p>
            <a:pPr lvl="1" algn="just">
              <a:buFont typeface="Wingdings" panose="05000000000000000000" pitchFamily="2" charset="2"/>
              <a:buChar char="ü"/>
            </a:pPr>
            <a:r>
              <a:rPr lang="en-US" sz="2200" dirty="0"/>
              <a:t>model development procedures, </a:t>
            </a:r>
          </a:p>
        </p:txBody>
      </p:sp>
      <p:sp>
        <p:nvSpPr>
          <p:cNvPr id="8" name="Content Placeholder 2">
            <a:extLst>
              <a:ext uri="{FF2B5EF4-FFF2-40B4-BE49-F238E27FC236}">
                <a16:creationId xmlns:a16="http://schemas.microsoft.com/office/drawing/2014/main" id="{F28000CE-F797-BFFF-54C7-1837024F7444}"/>
              </a:ext>
            </a:extLst>
          </p:cNvPr>
          <p:cNvSpPr txBox="1"/>
          <p:nvPr/>
        </p:nvSpPr>
        <p:spPr>
          <a:xfrm>
            <a:off x="269304" y="3645024"/>
            <a:ext cx="8722296" cy="24383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400" dirty="0"/>
              <a:t>Experimental Set-up</a:t>
            </a:r>
            <a:endParaRPr lang="en-US" sz="2000" dirty="0"/>
          </a:p>
          <a:p>
            <a:pPr lvl="1" algn="just">
              <a:buFont typeface="Wingdings" panose="05000000000000000000" pitchFamily="2" charset="2"/>
              <a:buChar char="ü"/>
            </a:pPr>
            <a:r>
              <a:rPr lang="en-US" sz="2200" dirty="0"/>
              <a:t>Base material – Mild Steel Plates</a:t>
            </a:r>
          </a:p>
          <a:p>
            <a:pPr lvl="1" algn="just">
              <a:buFont typeface="Wingdings" panose="05000000000000000000" pitchFamily="2" charset="2"/>
              <a:buChar char="ü"/>
            </a:pPr>
            <a:r>
              <a:rPr lang="en-US" sz="2200" dirty="0"/>
              <a:t>Welding operation – Tungsten Inert Gas Welding Machine</a:t>
            </a:r>
          </a:p>
          <a:p>
            <a:pPr lvl="1" algn="just">
              <a:buFont typeface="Wingdings" panose="05000000000000000000" pitchFamily="2" charset="2"/>
              <a:buChar char="ü"/>
            </a:pPr>
            <a:r>
              <a:rPr lang="en-US" sz="2200" dirty="0"/>
              <a:t>Shielding gas – Argon</a:t>
            </a:r>
          </a:p>
          <a:p>
            <a:pPr lvl="1" algn="just">
              <a:buFont typeface="Wingdings" panose="05000000000000000000" pitchFamily="2" charset="2"/>
              <a:buChar char="ü"/>
            </a:pPr>
            <a:endParaRPr lang="en-US" sz="2200" dirty="0"/>
          </a:p>
          <a:p>
            <a:pPr algn="just"/>
            <a:endParaRPr lang="en-US" sz="2400" dirty="0"/>
          </a:p>
        </p:txBody>
      </p:sp>
      <p:sp>
        <p:nvSpPr>
          <p:cNvPr id="11" name="Rectangle 2">
            <a:extLst>
              <a:ext uri="{FF2B5EF4-FFF2-40B4-BE49-F238E27FC236}">
                <a16:creationId xmlns:a16="http://schemas.microsoft.com/office/drawing/2014/main" id="{98029335-45C1-D1BD-CB27-6C09BEA7EAC1}"/>
              </a:ext>
            </a:extLst>
          </p:cNvPr>
          <p:cNvSpPr>
            <a:spLocks noGrp="1" noChangeArrowheads="1"/>
          </p:cNvSpPr>
          <p:nvPr>
            <p:ph type="title"/>
          </p:nvPr>
        </p:nvSpPr>
        <p:spPr>
          <a:xfrm>
            <a:off x="152400" y="44624"/>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Materials and Methods</a:t>
            </a:r>
          </a:p>
        </p:txBody>
      </p:sp>
    </p:spTree>
    <p:extLst>
      <p:ext uri="{BB962C8B-B14F-4D97-AF65-F5344CB8AC3E}">
        <p14:creationId xmlns:p14="http://schemas.microsoft.com/office/powerpoint/2010/main" val="1591813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1C3B027-99D8-4500-AA7E-8D849F3A1F09}" type="slidenum">
              <a:rPr lang="en-US" smtClean="0"/>
              <a:pPr/>
              <a:t>10</a:t>
            </a:fld>
            <a:endParaRPr lang="en-US" dirty="0"/>
          </a:p>
        </p:txBody>
      </p:sp>
      <p:sp>
        <p:nvSpPr>
          <p:cNvPr id="5" name="Content Placeholder 2">
            <a:extLst>
              <a:ext uri="{FF2B5EF4-FFF2-40B4-BE49-F238E27FC236}">
                <a16:creationId xmlns:a16="http://schemas.microsoft.com/office/drawing/2014/main" id="{D9CFD5FA-CFC9-6647-F998-BEA77200CFB6}"/>
              </a:ext>
            </a:extLst>
          </p:cNvPr>
          <p:cNvSpPr>
            <a:spLocks noGrp="1"/>
          </p:cNvSpPr>
          <p:nvPr>
            <p:ph idx="1"/>
          </p:nvPr>
        </p:nvSpPr>
        <p:spPr>
          <a:xfrm>
            <a:off x="107504" y="620688"/>
            <a:ext cx="8884096" cy="3096344"/>
          </a:xfrm>
        </p:spPr>
        <p:txBody>
          <a:bodyPr>
            <a:noAutofit/>
          </a:bodyPr>
          <a:lstStyle/>
          <a:p>
            <a:pPr marL="82296" indent="0" algn="just">
              <a:lnSpc>
                <a:spcPct val="115000"/>
              </a:lnSpc>
              <a:spcAft>
                <a:spcPts val="1000"/>
              </a:spcAft>
              <a:buNone/>
            </a:pPr>
            <a:r>
              <a:rPr lang="en-US" sz="2200" dirty="0">
                <a:effectLst/>
                <a:ea typeface="Calibri" panose="020F0502020204030204" pitchFamily="34" charset="0"/>
                <a:cs typeface="Times New Roman" panose="02020603050405020304" pitchFamily="18" charset="0"/>
              </a:rPr>
              <a:t>Data collection focused on four key input parameters: Current (A), Voltage (V), Gas Flow Rate (L/min), and Material Temperature (°C), which were varied systematically to investigate their effects on weld metal viscosity responses</a:t>
            </a:r>
          </a:p>
          <a:p>
            <a:pPr marL="82296" indent="0" algn="just">
              <a:lnSpc>
                <a:spcPct val="115000"/>
              </a:lnSpc>
              <a:spcAft>
                <a:spcPts val="1000"/>
              </a:spcAft>
              <a:buNone/>
            </a:pPr>
            <a:r>
              <a:rPr lang="en-GB" sz="2200" dirty="0"/>
              <a:t>A Central Composite Design (CCD) with 20 experimental runs was used to investigate four parameters: Current (190-220A), Voltage (21-24V), Gas Flow Rate (13-16 L/min), and  Temperature (28-38°C). </a:t>
            </a:r>
          </a:p>
          <a:p>
            <a:pPr marL="82296" indent="0" algn="just">
              <a:lnSpc>
                <a:spcPct val="115000"/>
              </a:lnSpc>
              <a:spcAft>
                <a:spcPts val="1000"/>
              </a:spcAft>
              <a:buNone/>
            </a:pPr>
            <a:endParaRPr lang="en-GB" sz="2200" dirty="0">
              <a:effectLst/>
              <a:ea typeface="Calibri" panose="020F0502020204030204" pitchFamily="34" charset="0"/>
              <a:cs typeface="Times New Roman" panose="02020603050405020304" pitchFamily="18" charset="0"/>
            </a:endParaRPr>
          </a:p>
          <a:p>
            <a:pPr marL="0" indent="0" algn="just">
              <a:buNone/>
            </a:pPr>
            <a:endParaRPr lang="en-GB" sz="2200" dirty="0"/>
          </a:p>
        </p:txBody>
      </p:sp>
      <p:sp>
        <p:nvSpPr>
          <p:cNvPr id="9" name="Rectangle 2">
            <a:extLst>
              <a:ext uri="{FF2B5EF4-FFF2-40B4-BE49-F238E27FC236}">
                <a16:creationId xmlns:a16="http://schemas.microsoft.com/office/drawing/2014/main" id="{5FEE9D6F-4809-02C2-3E66-7C44764C38C1}"/>
              </a:ext>
            </a:extLst>
          </p:cNvPr>
          <p:cNvSpPr>
            <a:spLocks noGrp="1" noChangeArrowheads="1"/>
          </p:cNvSpPr>
          <p:nvPr>
            <p:ph type="title"/>
          </p:nvPr>
        </p:nvSpPr>
        <p:spPr>
          <a:xfrm>
            <a:off x="152400" y="44624"/>
            <a:ext cx="8112125" cy="676275"/>
          </a:xfrm>
        </p:spPr>
        <p:txBody>
          <a:bodyPr>
            <a:normAutofit/>
          </a:bodyPr>
          <a:lstStyle/>
          <a:p>
            <a:pPr eaLnBrk="1" hangingPunct="1"/>
            <a:r>
              <a:rPr lang="en-US" sz="2800" b="1" dirty="0">
                <a:solidFill>
                  <a:srgbClr val="002060"/>
                </a:solidFill>
                <a:latin typeface="Gill Sans MT" panose="020B0502020104020203" pitchFamily="34" charset="0"/>
                <a:ea typeface="ＭＳ Ｐゴシック" pitchFamily="34" charset="-128"/>
                <a:cs typeface="Times New Roman" pitchFamily="18" charset="0"/>
              </a:rPr>
              <a:t>Design of Experiment (DOE)</a:t>
            </a:r>
          </a:p>
        </p:txBody>
      </p:sp>
      <p:graphicFrame>
        <p:nvGraphicFramePr>
          <p:cNvPr id="10" name="Table 9">
            <a:extLst>
              <a:ext uri="{FF2B5EF4-FFF2-40B4-BE49-F238E27FC236}">
                <a16:creationId xmlns:a16="http://schemas.microsoft.com/office/drawing/2014/main" id="{398F6954-67ED-60BA-00A5-888FD2A966B6}"/>
              </a:ext>
            </a:extLst>
          </p:cNvPr>
          <p:cNvGraphicFramePr>
            <a:graphicFrameLocks noGrp="1"/>
          </p:cNvGraphicFramePr>
          <p:nvPr>
            <p:extLst>
              <p:ext uri="{D42A27DB-BD31-4B8C-83A1-F6EECF244321}">
                <p14:modId xmlns:p14="http://schemas.microsoft.com/office/powerpoint/2010/main" val="430400749"/>
              </p:ext>
            </p:extLst>
          </p:nvPr>
        </p:nvGraphicFramePr>
        <p:xfrm>
          <a:off x="827584" y="4309850"/>
          <a:ext cx="7200799" cy="2431518"/>
        </p:xfrm>
        <a:graphic>
          <a:graphicData uri="http://schemas.openxmlformats.org/drawingml/2006/table">
            <a:tbl>
              <a:tblPr firstRow="1" firstCol="1" bandRow="1">
                <a:tableStyleId>{5C22544A-7EE6-4342-B048-85BDC9FD1C3A}</a:tableStyleId>
              </a:tblPr>
              <a:tblGrid>
                <a:gridCol w="4400489">
                  <a:extLst>
                    <a:ext uri="{9D8B030D-6E8A-4147-A177-3AD203B41FA5}">
                      <a16:colId xmlns:a16="http://schemas.microsoft.com/office/drawing/2014/main" val="1327974174"/>
                    </a:ext>
                  </a:extLst>
                </a:gridCol>
                <a:gridCol w="1400155">
                  <a:extLst>
                    <a:ext uri="{9D8B030D-6E8A-4147-A177-3AD203B41FA5}">
                      <a16:colId xmlns:a16="http://schemas.microsoft.com/office/drawing/2014/main" val="2113722780"/>
                    </a:ext>
                  </a:extLst>
                </a:gridCol>
                <a:gridCol w="1400155">
                  <a:extLst>
                    <a:ext uri="{9D8B030D-6E8A-4147-A177-3AD203B41FA5}">
                      <a16:colId xmlns:a16="http://schemas.microsoft.com/office/drawing/2014/main" val="1761252068"/>
                    </a:ext>
                  </a:extLst>
                </a:gridCol>
              </a:tblGrid>
              <a:tr h="405253">
                <a:tc rowSpan="2">
                  <a:txBody>
                    <a:bodyPr/>
                    <a:lstStyle/>
                    <a:p>
                      <a:pPr algn="ctr">
                        <a:lnSpc>
                          <a:spcPct val="115000"/>
                        </a:lnSpc>
                        <a:spcAft>
                          <a:spcPts val="1000"/>
                        </a:spcAft>
                      </a:pPr>
                      <a:r>
                        <a:rPr lang="en-US" sz="2200">
                          <a:effectLst/>
                        </a:rPr>
                        <a:t>Parameters</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15000"/>
                        </a:lnSpc>
                        <a:spcAft>
                          <a:spcPts val="1000"/>
                        </a:spcAft>
                      </a:pPr>
                      <a:r>
                        <a:rPr lang="en-US" sz="2200">
                          <a:effectLst/>
                        </a:rPr>
                        <a:t>Value</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4023763990"/>
                  </a:ext>
                </a:extLst>
              </a:tr>
              <a:tr h="405253">
                <a:tc vMerge="1">
                  <a:txBody>
                    <a:bodyPr/>
                    <a:lstStyle/>
                    <a:p>
                      <a:endParaRPr lang="en-GB"/>
                    </a:p>
                  </a:txBody>
                  <a:tcPr/>
                </a:tc>
                <a:tc>
                  <a:txBody>
                    <a:bodyPr/>
                    <a:lstStyle/>
                    <a:p>
                      <a:pPr algn="ctr">
                        <a:lnSpc>
                          <a:spcPct val="115000"/>
                        </a:lnSpc>
                        <a:spcAft>
                          <a:spcPts val="1000"/>
                        </a:spcAft>
                      </a:pPr>
                      <a:r>
                        <a:rPr lang="en-US" sz="2200">
                          <a:effectLst/>
                        </a:rPr>
                        <a:t>Low</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High</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4642396"/>
                  </a:ext>
                </a:extLst>
              </a:tr>
              <a:tr h="405253">
                <a:tc>
                  <a:txBody>
                    <a:bodyPr/>
                    <a:lstStyle/>
                    <a:p>
                      <a:pPr>
                        <a:lnSpc>
                          <a:spcPct val="115000"/>
                        </a:lnSpc>
                        <a:spcAft>
                          <a:spcPts val="1000"/>
                        </a:spcAft>
                      </a:pPr>
                      <a:r>
                        <a:rPr lang="en-US" sz="2200">
                          <a:effectLst/>
                        </a:rPr>
                        <a:t>Current (A)</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190</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220</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7792449"/>
                  </a:ext>
                </a:extLst>
              </a:tr>
              <a:tr h="405253">
                <a:tc>
                  <a:txBody>
                    <a:bodyPr/>
                    <a:lstStyle/>
                    <a:p>
                      <a:pPr>
                        <a:lnSpc>
                          <a:spcPct val="115000"/>
                        </a:lnSpc>
                        <a:spcAft>
                          <a:spcPts val="1000"/>
                        </a:spcAft>
                      </a:pPr>
                      <a:r>
                        <a:rPr lang="en-US" sz="2200" dirty="0">
                          <a:effectLst/>
                        </a:rPr>
                        <a:t>Voltage (V)</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dirty="0">
                          <a:effectLst/>
                        </a:rPr>
                        <a:t>21</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24</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2293172"/>
                  </a:ext>
                </a:extLst>
              </a:tr>
              <a:tr h="405253">
                <a:tc>
                  <a:txBody>
                    <a:bodyPr/>
                    <a:lstStyle/>
                    <a:p>
                      <a:pPr>
                        <a:lnSpc>
                          <a:spcPct val="115000"/>
                        </a:lnSpc>
                        <a:spcAft>
                          <a:spcPts val="1000"/>
                        </a:spcAft>
                      </a:pPr>
                      <a:r>
                        <a:rPr lang="en-US" sz="2200">
                          <a:effectLst/>
                        </a:rPr>
                        <a:t>Gas flow rate (L/min)</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13</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16</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7843110"/>
                  </a:ext>
                </a:extLst>
              </a:tr>
              <a:tr h="405253">
                <a:tc>
                  <a:txBody>
                    <a:bodyPr/>
                    <a:lstStyle/>
                    <a:p>
                      <a:pPr>
                        <a:lnSpc>
                          <a:spcPct val="115000"/>
                        </a:lnSpc>
                        <a:spcAft>
                          <a:spcPts val="1000"/>
                        </a:spcAft>
                      </a:pPr>
                      <a:r>
                        <a:rPr lang="en-US" sz="2200" dirty="0">
                          <a:effectLst/>
                        </a:rPr>
                        <a:t>Material Temperature (</a:t>
                      </a:r>
                      <a:r>
                        <a:rPr lang="en-US" sz="2200" baseline="30000" dirty="0">
                          <a:effectLst/>
                        </a:rPr>
                        <a:t>0</a:t>
                      </a:r>
                      <a:r>
                        <a:rPr lang="en-US" sz="2200" dirty="0">
                          <a:effectLst/>
                        </a:rPr>
                        <a:t>C)</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28</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dirty="0">
                          <a:effectLst/>
                        </a:rPr>
                        <a:t>38</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2370891"/>
                  </a:ext>
                </a:extLst>
              </a:tr>
            </a:tbl>
          </a:graphicData>
        </a:graphic>
      </p:graphicFrame>
      <p:sp>
        <p:nvSpPr>
          <p:cNvPr id="11" name="Rectangle 1">
            <a:extLst>
              <a:ext uri="{FF2B5EF4-FFF2-40B4-BE49-F238E27FC236}">
                <a16:creationId xmlns:a16="http://schemas.microsoft.com/office/drawing/2014/main" id="{6C23E1A7-CC8F-8015-F836-5632177FD93C}"/>
              </a:ext>
            </a:extLst>
          </p:cNvPr>
          <p:cNvSpPr>
            <a:spLocks noChangeArrowheads="1"/>
          </p:cNvSpPr>
          <p:nvPr/>
        </p:nvSpPr>
        <p:spPr bwMode="auto">
          <a:xfrm>
            <a:off x="827584" y="3955703"/>
            <a:ext cx="612068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TABLE 1: WELDING PARAMETERS</a:t>
            </a:r>
            <a:endParaRPr kumimoji="0" lang="en-GB"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128723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1C3B027-99D8-4500-AA7E-8D849F3A1F09}" type="slidenum">
              <a:rPr lang="en-US" smtClean="0"/>
              <a:pPr/>
              <a:t>11</a:t>
            </a:fld>
            <a:endParaRPr lang="en-US" dirty="0"/>
          </a:p>
        </p:txBody>
      </p:sp>
      <p:sp>
        <p:nvSpPr>
          <p:cNvPr id="5" name="Content Placeholder 2">
            <a:extLst>
              <a:ext uri="{FF2B5EF4-FFF2-40B4-BE49-F238E27FC236}">
                <a16:creationId xmlns:a16="http://schemas.microsoft.com/office/drawing/2014/main" id="{2C286F24-BD1C-962C-215C-4D91495171F2}"/>
              </a:ext>
            </a:extLst>
          </p:cNvPr>
          <p:cNvSpPr>
            <a:spLocks noGrp="1"/>
          </p:cNvSpPr>
          <p:nvPr>
            <p:ph idx="1"/>
          </p:nvPr>
        </p:nvSpPr>
        <p:spPr>
          <a:xfrm>
            <a:off x="35493" y="260648"/>
            <a:ext cx="8712971" cy="1800200"/>
          </a:xfrm>
        </p:spPr>
        <p:txBody>
          <a:bodyPr>
            <a:noAutofit/>
          </a:bodyPr>
          <a:lstStyle/>
          <a:p>
            <a:pPr marL="82296" indent="0" algn="just">
              <a:lnSpc>
                <a:spcPct val="115000"/>
              </a:lnSpc>
              <a:spcAft>
                <a:spcPts val="1000"/>
              </a:spcAft>
              <a:buNone/>
            </a:pPr>
            <a:r>
              <a:rPr lang="en-US" sz="2200" dirty="0">
                <a:effectLst/>
                <a:ea typeface="Calibri" panose="020F0502020204030204" pitchFamily="34" charset="0"/>
                <a:cs typeface="Times New Roman" panose="02020603050405020304" pitchFamily="18" charset="0"/>
              </a:rPr>
              <a:t>Using the data obtained from the central composite design (CCD), a second –order polynomial regression model for the weld metal viscosity was developed. The regression equations were fitted by including linear, interaction and quadratic terms.</a:t>
            </a:r>
            <a:endParaRPr lang="en-GB" sz="2200" dirty="0">
              <a:effectLst/>
              <a:ea typeface="Calibri" panose="020F0502020204030204" pitchFamily="34" charset="0"/>
              <a:cs typeface="Times New Roman" panose="02020603050405020304" pitchFamily="18" charset="0"/>
            </a:endParaRPr>
          </a:p>
          <a:p>
            <a:pPr marL="0" indent="0" algn="just">
              <a:buNone/>
            </a:pPr>
            <a:endParaRPr lang="en-GB" sz="2200" dirty="0"/>
          </a:p>
        </p:txBody>
      </p:sp>
      <p:sp>
        <p:nvSpPr>
          <p:cNvPr id="6" name="Rectangle 2">
            <a:extLst>
              <a:ext uri="{FF2B5EF4-FFF2-40B4-BE49-F238E27FC236}">
                <a16:creationId xmlns:a16="http://schemas.microsoft.com/office/drawing/2014/main" id="{9C81DDDC-2958-3C29-F215-8061FA2E7CFD}"/>
              </a:ext>
            </a:extLst>
          </p:cNvPr>
          <p:cNvSpPr>
            <a:spLocks noGrp="1" noChangeArrowheads="1"/>
          </p:cNvSpPr>
          <p:nvPr>
            <p:ph type="title"/>
          </p:nvPr>
        </p:nvSpPr>
        <p:spPr>
          <a:xfrm>
            <a:off x="35496" y="-171400"/>
            <a:ext cx="8112125" cy="676275"/>
          </a:xfrm>
        </p:spPr>
        <p:txBody>
          <a:bodyPr>
            <a:normAutofit/>
          </a:bodyPr>
          <a:lstStyle/>
          <a:p>
            <a:pPr eaLnBrk="1" hangingPunct="1"/>
            <a:r>
              <a:rPr lang="en-US" sz="2800" b="1" dirty="0">
                <a:solidFill>
                  <a:srgbClr val="002060"/>
                </a:solidFill>
                <a:latin typeface="Gill Sans MT" panose="020B0502020104020203" pitchFamily="34" charset="0"/>
                <a:ea typeface="ＭＳ Ｐゴシック" pitchFamily="34" charset="-128"/>
                <a:cs typeface="Times New Roman" pitchFamily="18" charset="0"/>
              </a:rPr>
              <a:t>Model Building and Data Collection</a:t>
            </a:r>
          </a:p>
        </p:txBody>
      </p:sp>
      <p:sp>
        <p:nvSpPr>
          <p:cNvPr id="8" name="TextBox 7">
            <a:extLst>
              <a:ext uri="{FF2B5EF4-FFF2-40B4-BE49-F238E27FC236}">
                <a16:creationId xmlns:a16="http://schemas.microsoft.com/office/drawing/2014/main" id="{D835BE18-C109-3AA0-23D5-B31B4EB72A3F}"/>
              </a:ext>
            </a:extLst>
          </p:cNvPr>
          <p:cNvSpPr txBox="1"/>
          <p:nvPr/>
        </p:nvSpPr>
        <p:spPr>
          <a:xfrm>
            <a:off x="179512" y="1700808"/>
            <a:ext cx="7488832"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TABLE 2 EXPERIMENTAL RESULTS WITH 20 RUNS</a:t>
            </a:r>
            <a:endParaRPr lang="en-GB" dirty="0"/>
          </a:p>
        </p:txBody>
      </p:sp>
      <p:graphicFrame>
        <p:nvGraphicFramePr>
          <p:cNvPr id="9" name="Table 8">
            <a:extLst>
              <a:ext uri="{FF2B5EF4-FFF2-40B4-BE49-F238E27FC236}">
                <a16:creationId xmlns:a16="http://schemas.microsoft.com/office/drawing/2014/main" id="{9847DF73-E730-9628-3745-35E99CECE556}"/>
              </a:ext>
            </a:extLst>
          </p:cNvPr>
          <p:cNvGraphicFramePr>
            <a:graphicFrameLocks noGrp="1"/>
          </p:cNvGraphicFramePr>
          <p:nvPr>
            <p:extLst>
              <p:ext uri="{D42A27DB-BD31-4B8C-83A1-F6EECF244321}">
                <p14:modId xmlns:p14="http://schemas.microsoft.com/office/powerpoint/2010/main" val="1274465260"/>
              </p:ext>
            </p:extLst>
          </p:nvPr>
        </p:nvGraphicFramePr>
        <p:xfrm>
          <a:off x="251520" y="2060848"/>
          <a:ext cx="8218113" cy="4720957"/>
        </p:xfrm>
        <a:graphic>
          <a:graphicData uri="http://schemas.openxmlformats.org/drawingml/2006/table">
            <a:tbl>
              <a:tblPr firstRow="1" firstCol="1" bandRow="1">
                <a:tableStyleId>{5C22544A-7EE6-4342-B048-85BDC9FD1C3A}</a:tableStyleId>
              </a:tblPr>
              <a:tblGrid>
                <a:gridCol w="653967">
                  <a:extLst>
                    <a:ext uri="{9D8B030D-6E8A-4147-A177-3AD203B41FA5}">
                      <a16:colId xmlns:a16="http://schemas.microsoft.com/office/drawing/2014/main" val="1743914406"/>
                    </a:ext>
                  </a:extLst>
                </a:gridCol>
                <a:gridCol w="725842">
                  <a:extLst>
                    <a:ext uri="{9D8B030D-6E8A-4147-A177-3AD203B41FA5}">
                      <a16:colId xmlns:a16="http://schemas.microsoft.com/office/drawing/2014/main" val="2249453156"/>
                    </a:ext>
                  </a:extLst>
                </a:gridCol>
                <a:gridCol w="1273514">
                  <a:extLst>
                    <a:ext uri="{9D8B030D-6E8A-4147-A177-3AD203B41FA5}">
                      <a16:colId xmlns:a16="http://schemas.microsoft.com/office/drawing/2014/main" val="533635079"/>
                    </a:ext>
                  </a:extLst>
                </a:gridCol>
                <a:gridCol w="1217836">
                  <a:extLst>
                    <a:ext uri="{9D8B030D-6E8A-4147-A177-3AD203B41FA5}">
                      <a16:colId xmlns:a16="http://schemas.microsoft.com/office/drawing/2014/main" val="924528994"/>
                    </a:ext>
                  </a:extLst>
                </a:gridCol>
                <a:gridCol w="1350451">
                  <a:extLst>
                    <a:ext uri="{9D8B030D-6E8A-4147-A177-3AD203B41FA5}">
                      <a16:colId xmlns:a16="http://schemas.microsoft.com/office/drawing/2014/main" val="2826717634"/>
                    </a:ext>
                  </a:extLst>
                </a:gridCol>
                <a:gridCol w="1311982">
                  <a:extLst>
                    <a:ext uri="{9D8B030D-6E8A-4147-A177-3AD203B41FA5}">
                      <a16:colId xmlns:a16="http://schemas.microsoft.com/office/drawing/2014/main" val="817668431"/>
                    </a:ext>
                  </a:extLst>
                </a:gridCol>
                <a:gridCol w="1684521">
                  <a:extLst>
                    <a:ext uri="{9D8B030D-6E8A-4147-A177-3AD203B41FA5}">
                      <a16:colId xmlns:a16="http://schemas.microsoft.com/office/drawing/2014/main" val="451262816"/>
                    </a:ext>
                  </a:extLst>
                </a:gridCol>
              </a:tblGrid>
              <a:tr h="205259">
                <a:tc>
                  <a:txBody>
                    <a:bodyPr/>
                    <a:lstStyle/>
                    <a:p>
                      <a:pPr algn="just">
                        <a:lnSpc>
                          <a:spcPct val="115000"/>
                        </a:lnSpc>
                        <a:spcAft>
                          <a:spcPts val="1000"/>
                        </a:spcAft>
                      </a:pPr>
                      <a:r>
                        <a:rPr lang="en-US" sz="12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Factor 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Factor 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Factor 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Factor 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Response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5225123"/>
                  </a:ext>
                </a:extLst>
              </a:tr>
              <a:tr h="205259">
                <a:tc>
                  <a:txBody>
                    <a:bodyPr/>
                    <a:lstStyle/>
                    <a:p>
                      <a:pPr algn="just">
                        <a:lnSpc>
                          <a:spcPct val="115000"/>
                        </a:lnSpc>
                        <a:spcAft>
                          <a:spcPts val="1000"/>
                        </a:spcAft>
                      </a:pPr>
                      <a:r>
                        <a:rPr lang="en-US" sz="1200">
                          <a:effectLst/>
                        </a:rPr>
                        <a:t>Std</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Run</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A:Current</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B:Voltage</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C:Gas Flow Rate</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D:Material Temp</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Weld Metal Viscosity</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0290899"/>
                  </a:ext>
                </a:extLst>
              </a:tr>
              <a:tr h="205259">
                <a:tc>
                  <a:txBody>
                    <a:bodyPr/>
                    <a:lstStyle/>
                    <a:p>
                      <a:pPr algn="just">
                        <a:lnSpc>
                          <a:spcPct val="115000"/>
                        </a:lnSpc>
                        <a:spcAft>
                          <a:spcPts val="1000"/>
                        </a:spcAft>
                      </a:pPr>
                      <a:r>
                        <a:rPr lang="en-US" sz="12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A</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V</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L/min</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0C</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μ, Kg/(m.s)</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43828084"/>
                  </a:ext>
                </a:extLst>
              </a:tr>
              <a:tr h="205259">
                <a:tc>
                  <a:txBody>
                    <a:bodyPr/>
                    <a:lstStyle/>
                    <a:p>
                      <a:pPr algn="just">
                        <a:lnSpc>
                          <a:spcPct val="115000"/>
                        </a:lnSpc>
                        <a:spcAft>
                          <a:spcPts val="1000"/>
                        </a:spcAft>
                      </a:pPr>
                      <a:r>
                        <a:rPr lang="en-US" sz="1200">
                          <a:effectLst/>
                        </a:rPr>
                        <a:t>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200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58962731"/>
                  </a:ext>
                </a:extLst>
              </a:tr>
              <a:tr h="205259">
                <a:tc>
                  <a:txBody>
                    <a:bodyPr/>
                    <a:lstStyle/>
                    <a:p>
                      <a:pPr algn="just">
                        <a:lnSpc>
                          <a:spcPct val="115000"/>
                        </a:lnSpc>
                        <a:spcAft>
                          <a:spcPts val="1000"/>
                        </a:spcAft>
                      </a:pPr>
                      <a:r>
                        <a:rPr lang="en-US" sz="1200">
                          <a:effectLst/>
                        </a:rPr>
                        <a:t>11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200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4441730"/>
                  </a:ext>
                </a:extLst>
              </a:tr>
              <a:tr h="205259">
                <a:tc>
                  <a:txBody>
                    <a:bodyPr/>
                    <a:lstStyle/>
                    <a:p>
                      <a:pPr algn="just">
                        <a:lnSpc>
                          <a:spcPct val="115000"/>
                        </a:lnSpc>
                        <a:spcAft>
                          <a:spcPts val="1000"/>
                        </a:spcAft>
                      </a:pPr>
                      <a:r>
                        <a:rPr lang="en-US" sz="1200">
                          <a:effectLst/>
                        </a:rPr>
                        <a:t>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200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4961177"/>
                  </a:ext>
                </a:extLst>
              </a:tr>
              <a:tr h="205259">
                <a:tc>
                  <a:txBody>
                    <a:bodyPr/>
                    <a:lstStyle/>
                    <a:p>
                      <a:pPr algn="just">
                        <a:lnSpc>
                          <a:spcPct val="115000"/>
                        </a:lnSpc>
                        <a:spcAft>
                          <a:spcPts val="1000"/>
                        </a:spcAft>
                      </a:pPr>
                      <a:r>
                        <a:rPr lang="en-US" sz="1200">
                          <a:effectLst/>
                        </a:rPr>
                        <a:t>18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200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8827679"/>
                  </a:ext>
                </a:extLst>
              </a:tr>
              <a:tr h="205259">
                <a:tc>
                  <a:txBody>
                    <a:bodyPr/>
                    <a:lstStyle/>
                    <a:p>
                      <a:pPr algn="just">
                        <a:lnSpc>
                          <a:spcPct val="115000"/>
                        </a:lnSpc>
                        <a:spcAft>
                          <a:spcPts val="1000"/>
                        </a:spcAft>
                      </a:pPr>
                      <a:r>
                        <a:rPr lang="en-US" sz="1200">
                          <a:effectLst/>
                        </a:rPr>
                        <a:t>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200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6215593"/>
                  </a:ext>
                </a:extLst>
              </a:tr>
              <a:tr h="205259">
                <a:tc>
                  <a:txBody>
                    <a:bodyPr/>
                    <a:lstStyle/>
                    <a:p>
                      <a:pPr algn="just">
                        <a:lnSpc>
                          <a:spcPct val="115000"/>
                        </a:lnSpc>
                        <a:spcAft>
                          <a:spcPts val="1000"/>
                        </a:spcAft>
                      </a:pPr>
                      <a:r>
                        <a:rPr lang="en-US" sz="1200">
                          <a:effectLst/>
                        </a:rPr>
                        <a:t>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0.00798386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1300471"/>
                  </a:ext>
                </a:extLst>
              </a:tr>
              <a:tr h="205259">
                <a:tc>
                  <a:txBody>
                    <a:bodyPr/>
                    <a:lstStyle/>
                    <a:p>
                      <a:pPr algn="just">
                        <a:lnSpc>
                          <a:spcPct val="115000"/>
                        </a:lnSpc>
                        <a:spcAft>
                          <a:spcPts val="1000"/>
                        </a:spcAft>
                      </a:pPr>
                      <a:r>
                        <a:rPr lang="en-US" sz="1200">
                          <a:effectLst/>
                        </a:rPr>
                        <a:t>9</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0.00740317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1317364"/>
                  </a:ext>
                </a:extLst>
              </a:tr>
              <a:tr h="205259">
                <a:tc>
                  <a:txBody>
                    <a:bodyPr/>
                    <a:lstStyle/>
                    <a:p>
                      <a:pPr algn="just">
                        <a:lnSpc>
                          <a:spcPct val="115000"/>
                        </a:lnSpc>
                        <a:spcAft>
                          <a:spcPts val="1000"/>
                        </a:spcAft>
                      </a:pPr>
                      <a:r>
                        <a:rPr lang="en-US" sz="1200">
                          <a:effectLst/>
                        </a:rPr>
                        <a:t>12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0.00779224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58118322"/>
                  </a:ext>
                </a:extLst>
              </a:tr>
              <a:tr h="205259">
                <a:tc>
                  <a:txBody>
                    <a:bodyPr/>
                    <a:lstStyle/>
                    <a:p>
                      <a:pPr algn="just">
                        <a:lnSpc>
                          <a:spcPct val="115000"/>
                        </a:lnSpc>
                        <a:spcAft>
                          <a:spcPts val="1000"/>
                        </a:spcAft>
                      </a:pPr>
                      <a:r>
                        <a:rPr lang="en-US" sz="1200">
                          <a:effectLst/>
                        </a:rPr>
                        <a:t>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9</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190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0.00668199</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4896018"/>
                  </a:ext>
                </a:extLst>
              </a:tr>
              <a:tr h="205259">
                <a:tc>
                  <a:txBody>
                    <a:bodyPr/>
                    <a:lstStyle/>
                    <a:p>
                      <a:pPr algn="just">
                        <a:lnSpc>
                          <a:spcPct val="115000"/>
                        </a:lnSpc>
                        <a:spcAft>
                          <a:spcPts val="1000"/>
                        </a:spcAft>
                      </a:pPr>
                      <a:r>
                        <a:rPr lang="en-US" sz="1200">
                          <a:effectLst/>
                        </a:rPr>
                        <a:t>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0.00811341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8811676"/>
                  </a:ext>
                </a:extLst>
              </a:tr>
              <a:tr h="205259">
                <a:tc>
                  <a:txBody>
                    <a:bodyPr/>
                    <a:lstStyle/>
                    <a:p>
                      <a:pPr algn="just">
                        <a:lnSpc>
                          <a:spcPct val="115000"/>
                        </a:lnSpc>
                        <a:spcAft>
                          <a:spcPts val="1000"/>
                        </a:spcAft>
                      </a:pPr>
                      <a:r>
                        <a:rPr lang="en-US" sz="1200">
                          <a:effectLst/>
                        </a:rPr>
                        <a:t>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0.00824065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2288689"/>
                  </a:ext>
                </a:extLst>
              </a:tr>
              <a:tr h="205259">
                <a:tc>
                  <a:txBody>
                    <a:bodyPr/>
                    <a:lstStyle/>
                    <a:p>
                      <a:pPr algn="just">
                        <a:lnSpc>
                          <a:spcPct val="115000"/>
                        </a:lnSpc>
                        <a:spcAft>
                          <a:spcPts val="1000"/>
                        </a:spcAft>
                      </a:pPr>
                      <a:r>
                        <a:rPr lang="en-US" sz="1200">
                          <a:effectLst/>
                        </a:rPr>
                        <a:t>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12</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0.00885476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4647144"/>
                  </a:ext>
                </a:extLst>
              </a:tr>
              <a:tr h="205259">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190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29</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0.00634994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8602542"/>
                  </a:ext>
                </a:extLst>
              </a:tr>
              <a:tr h="205259">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190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0.00848058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3995631"/>
                  </a:ext>
                </a:extLst>
              </a:tr>
              <a:tr h="205259">
                <a:tc>
                  <a:txBody>
                    <a:bodyPr/>
                    <a:lstStyle/>
                    <a:p>
                      <a:pPr algn="just">
                        <a:lnSpc>
                          <a:spcPct val="115000"/>
                        </a:lnSpc>
                        <a:spcAft>
                          <a:spcPts val="1000"/>
                        </a:spcAft>
                      </a:pPr>
                      <a:r>
                        <a:rPr lang="en-US" sz="1200">
                          <a:effectLst/>
                        </a:rPr>
                        <a:t>14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0.00650686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3108022"/>
                  </a:ext>
                </a:extLst>
              </a:tr>
              <a:tr h="205259">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13</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0.00889388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220754"/>
                  </a:ext>
                </a:extLst>
              </a:tr>
              <a:tr h="205259">
                <a:tc>
                  <a:txBody>
                    <a:bodyPr/>
                    <a:lstStyle/>
                    <a:p>
                      <a:pPr algn="just">
                        <a:lnSpc>
                          <a:spcPct val="115000"/>
                        </a:lnSpc>
                        <a:spcAft>
                          <a:spcPts val="1000"/>
                        </a:spcAft>
                      </a:pPr>
                      <a:r>
                        <a:rPr lang="en-US" sz="1200">
                          <a:effectLst/>
                        </a:rPr>
                        <a:t>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190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0.00675974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3333690"/>
                  </a:ext>
                </a:extLst>
              </a:tr>
              <a:tr h="205259">
                <a:tc>
                  <a:txBody>
                    <a:bodyPr/>
                    <a:lstStyle/>
                    <a:p>
                      <a:pPr algn="just">
                        <a:lnSpc>
                          <a:spcPct val="115000"/>
                        </a:lnSpc>
                        <a:spcAft>
                          <a:spcPts val="1000"/>
                        </a:spcAft>
                      </a:pPr>
                      <a:r>
                        <a:rPr lang="en-US" sz="1200">
                          <a:effectLst/>
                        </a:rPr>
                        <a:t>19</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190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24</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0.00739965</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733871"/>
                  </a:ext>
                </a:extLst>
              </a:tr>
              <a:tr h="205259">
                <a:tc>
                  <a:txBody>
                    <a:bodyPr/>
                    <a:lstStyle/>
                    <a:p>
                      <a:pPr algn="just">
                        <a:lnSpc>
                          <a:spcPct val="115000"/>
                        </a:lnSpc>
                        <a:spcAft>
                          <a:spcPts val="1000"/>
                        </a:spcAft>
                      </a:pPr>
                      <a:r>
                        <a:rPr lang="en-US" sz="1200">
                          <a:effectLst/>
                        </a:rPr>
                        <a:t>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19</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0.00845221</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2064631"/>
                  </a:ext>
                </a:extLst>
              </a:tr>
              <a:tr h="205259">
                <a:tc>
                  <a:txBody>
                    <a:bodyPr/>
                    <a:lstStyle/>
                    <a:p>
                      <a:pPr algn="just">
                        <a:lnSpc>
                          <a:spcPct val="115000"/>
                        </a:lnSpc>
                        <a:spcAft>
                          <a:spcPts val="1000"/>
                        </a:spcAft>
                      </a:pPr>
                      <a:r>
                        <a:rPr lang="en-US" sz="1200">
                          <a:effectLst/>
                        </a:rPr>
                        <a:t>17</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220</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dirty="0">
                          <a:effectLst/>
                        </a:rPr>
                        <a:t>24</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16</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a:effectLst/>
                        </a:rPr>
                        <a:t>38</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200" dirty="0">
                          <a:effectLst/>
                        </a:rPr>
                        <a:t>0.00898277</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23279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332656"/>
            <a:ext cx="8647968" cy="6264696"/>
          </a:xfrm>
        </p:spPr>
        <p:txBody>
          <a:bodyPr>
            <a:normAutofit/>
          </a:bodyPr>
          <a:lstStyle/>
          <a:p>
            <a:pPr marL="82296" indent="0" algn="just">
              <a:lnSpc>
                <a:spcPct val="150000"/>
              </a:lnSpc>
              <a:buNone/>
            </a:pPr>
            <a:r>
              <a:rPr lang="en-US" sz="2200" dirty="0">
                <a:effectLst/>
                <a:ea typeface="Calibri" panose="020F0502020204030204" pitchFamily="34" charset="0"/>
              </a:rPr>
              <a:t>The experimental trials were conducted based on the CCD matrix, and the results for each run are presented. </a:t>
            </a:r>
          </a:p>
          <a:p>
            <a:pPr marL="82296" indent="0" algn="just">
              <a:lnSpc>
                <a:spcPct val="150000"/>
              </a:lnSpc>
              <a:buNone/>
            </a:pPr>
            <a:endParaRPr lang="en-US" sz="2200" dirty="0">
              <a:ea typeface="Calibri" panose="020F0502020204030204" pitchFamily="34" charset="0"/>
            </a:endParaRPr>
          </a:p>
          <a:p>
            <a:pPr marL="82296" indent="0" algn="just">
              <a:lnSpc>
                <a:spcPct val="150000"/>
              </a:lnSpc>
              <a:buNone/>
            </a:pPr>
            <a:r>
              <a:rPr lang="en-US" sz="2200" dirty="0">
                <a:effectLst/>
                <a:ea typeface="Calibri" panose="020F0502020204030204" pitchFamily="34" charset="0"/>
              </a:rPr>
              <a:t>Each row in the table corresponds to a unique combination of the input process parameters (Current, Voltage, Gas Flow Rate, and Ambient Temperature), and the measured output responses (Weld Metal Viscosity). </a:t>
            </a:r>
          </a:p>
          <a:p>
            <a:pPr marL="82296" indent="0" algn="just">
              <a:lnSpc>
                <a:spcPct val="150000"/>
              </a:lnSpc>
              <a:buNone/>
            </a:pPr>
            <a:endParaRPr lang="en-US" sz="2200" dirty="0">
              <a:ea typeface="Calibri" panose="020F0502020204030204" pitchFamily="34" charset="0"/>
            </a:endParaRPr>
          </a:p>
          <a:p>
            <a:pPr marL="82296" indent="0" algn="just">
              <a:lnSpc>
                <a:spcPct val="150000"/>
              </a:lnSpc>
              <a:buNone/>
            </a:pPr>
            <a:r>
              <a:rPr lang="en-US" sz="2200" dirty="0">
                <a:effectLst/>
                <a:ea typeface="Calibri" panose="020F0502020204030204" pitchFamily="34" charset="0"/>
              </a:rPr>
              <a:t>A careful observation of the data reveals how variations in welding parameters significantly affect the viscosity of the mild steel weldments</a:t>
            </a:r>
            <a:endParaRPr lang="en-US" sz="2200"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392"/>
            <a:ext cx="8719406" cy="688504"/>
          </a:xfrm>
        </p:spPr>
        <p:txBody>
          <a:bodyPr>
            <a:normAutofit/>
          </a:bodyPr>
          <a:lstStyle/>
          <a:p>
            <a:r>
              <a:rPr lang="en-GB" sz="3000" b="1" dirty="0">
                <a:solidFill>
                  <a:schemeClr val="tx1"/>
                </a:solidFill>
                <a:effectLst/>
              </a:rPr>
              <a:t>RSM ANALYSIS</a:t>
            </a:r>
            <a:endParaRPr lang="en-US" sz="3000" b="1" dirty="0">
              <a:solidFill>
                <a:schemeClr val="tx1"/>
              </a:solidFill>
              <a:effectLst/>
            </a:endParaRPr>
          </a:p>
        </p:txBody>
      </p:sp>
      <p:sp>
        <p:nvSpPr>
          <p:cNvPr id="3" name="Content Placeholder 2"/>
          <p:cNvSpPr>
            <a:spLocks noGrp="1"/>
          </p:cNvSpPr>
          <p:nvPr>
            <p:ph idx="1"/>
          </p:nvPr>
        </p:nvSpPr>
        <p:spPr>
          <a:xfrm>
            <a:off x="35496" y="535632"/>
            <a:ext cx="8928992" cy="6277744"/>
          </a:xfrm>
        </p:spPr>
        <p:txBody>
          <a:bodyPr>
            <a:noAutofit/>
          </a:bodyPr>
          <a:lstStyle/>
          <a:p>
            <a:pPr algn="just"/>
            <a:r>
              <a:rPr lang="en-US" sz="2200" dirty="0">
                <a:effectLst/>
                <a:ea typeface="Calibri" panose="020F0502020204030204" pitchFamily="34" charset="0"/>
              </a:rPr>
              <a:t>The RSM analysis in this study comprehensively assessed the relationship between the welding input parameters and the weld metal viscosity response variables using various statistical and graphical tools. </a:t>
            </a:r>
          </a:p>
          <a:p>
            <a:pPr algn="just"/>
            <a:endParaRPr lang="en-US" sz="2200" dirty="0">
              <a:effectLst/>
              <a:ea typeface="Calibri" panose="020F0502020204030204" pitchFamily="34" charset="0"/>
            </a:endParaRPr>
          </a:p>
          <a:p>
            <a:pPr algn="just"/>
            <a:r>
              <a:rPr lang="en-US" sz="2200" dirty="0">
                <a:effectLst/>
                <a:ea typeface="Calibri" panose="020F0502020204030204" pitchFamily="34" charset="0"/>
              </a:rPr>
              <a:t>The fit summary will help identify the most suitable model—linear, interaction, or quadratic—based on statistical metrics such as R², adjusted R², and predicted R². </a:t>
            </a:r>
          </a:p>
          <a:p>
            <a:pPr algn="just"/>
            <a:endParaRPr lang="en-US" sz="2200" dirty="0">
              <a:effectLst/>
              <a:ea typeface="Calibri" panose="020F0502020204030204" pitchFamily="34" charset="0"/>
            </a:endParaRPr>
          </a:p>
          <a:p>
            <a:pPr algn="just"/>
            <a:r>
              <a:rPr lang="en-US" sz="2200" dirty="0">
                <a:effectLst/>
                <a:ea typeface="Calibri" panose="020F0502020204030204" pitchFamily="34" charset="0"/>
              </a:rPr>
              <a:t>The lack-of-fit test will determine the adequacy of the model by comparing the variation due to the model with that due to experimental error. </a:t>
            </a:r>
          </a:p>
          <a:p>
            <a:pPr marL="82296" indent="0" algn="just">
              <a:buNone/>
            </a:pPr>
            <a:endParaRPr lang="en-US" sz="2200" dirty="0">
              <a:effectLst/>
              <a:ea typeface="Calibri" panose="020F0502020204030204" pitchFamily="34" charset="0"/>
            </a:endParaRPr>
          </a:p>
          <a:p>
            <a:pPr algn="just"/>
            <a:r>
              <a:rPr lang="en-US" sz="2200" dirty="0">
                <a:effectLst/>
                <a:ea typeface="Calibri" panose="020F0502020204030204" pitchFamily="34" charset="0"/>
              </a:rPr>
              <a:t>Analysis of variance (ANOVA) will evaluate the significance of each input factor and their interactions, while the fit statistics will provide insights into model precision and reliability</a:t>
            </a:r>
            <a:endParaRPr lang="en-US" sz="2200"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1C3B027-99D8-4500-AA7E-8D849F3A1F09}" type="slidenum">
              <a:rPr lang="en-US" smtClean="0"/>
              <a:pPr/>
              <a:t>14</a:t>
            </a:fld>
            <a:endParaRPr lang="en-US" dirty="0"/>
          </a:p>
        </p:txBody>
      </p:sp>
      <p:sp>
        <p:nvSpPr>
          <p:cNvPr id="8" name="TextBox 7">
            <a:extLst>
              <a:ext uri="{FF2B5EF4-FFF2-40B4-BE49-F238E27FC236}">
                <a16:creationId xmlns:a16="http://schemas.microsoft.com/office/drawing/2014/main" id="{E5EAF695-ED77-7A93-326C-C319EA2B93F7}"/>
              </a:ext>
            </a:extLst>
          </p:cNvPr>
          <p:cNvSpPr txBox="1"/>
          <p:nvPr/>
        </p:nvSpPr>
        <p:spPr>
          <a:xfrm>
            <a:off x="251520" y="44624"/>
            <a:ext cx="7272808" cy="451598"/>
          </a:xfrm>
          <a:prstGeom prst="rect">
            <a:avLst/>
          </a:prstGeom>
          <a:noFill/>
        </p:spPr>
        <p:txBody>
          <a:bodyPr wrap="square">
            <a:spAutoFit/>
          </a:bodyPr>
          <a:lstStyle/>
          <a:p>
            <a:pPr algn="just">
              <a:lnSpc>
                <a:spcPct val="115000"/>
              </a:lnSpc>
              <a:spcAft>
                <a:spcPts val="1000"/>
              </a:spcAft>
            </a:pPr>
            <a:r>
              <a:rPr lang="en-US" sz="2200" dirty="0">
                <a:effectLst/>
                <a:ea typeface="Calibri" panose="020F0502020204030204" pitchFamily="34" charset="0"/>
                <a:cs typeface="Times New Roman" panose="02020603050405020304" pitchFamily="18" charset="0"/>
              </a:rPr>
              <a:t>TABLE 3: Fit Summary for </a:t>
            </a:r>
            <a:r>
              <a:rPr lang="en-US" sz="2200" b="1" dirty="0">
                <a:effectLst/>
                <a:ea typeface="Calibri" panose="020F0502020204030204" pitchFamily="34" charset="0"/>
                <a:cs typeface="Times New Roman" panose="02020603050405020304" pitchFamily="18" charset="0"/>
              </a:rPr>
              <a:t>Weld Metal Viscosity</a:t>
            </a:r>
            <a:endParaRPr lang="en-GB" sz="2200" dirty="0">
              <a:effectLs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D1F75B0E-4E10-18F2-316D-A21AF31B6550}"/>
              </a:ext>
            </a:extLst>
          </p:cNvPr>
          <p:cNvGraphicFramePr>
            <a:graphicFrameLocks noGrp="1"/>
          </p:cNvGraphicFramePr>
          <p:nvPr>
            <p:extLst>
              <p:ext uri="{D42A27DB-BD31-4B8C-83A1-F6EECF244321}">
                <p14:modId xmlns:p14="http://schemas.microsoft.com/office/powerpoint/2010/main" val="2364500030"/>
              </p:ext>
            </p:extLst>
          </p:nvPr>
        </p:nvGraphicFramePr>
        <p:xfrm>
          <a:off x="107504" y="404664"/>
          <a:ext cx="8784978" cy="3704771"/>
        </p:xfrm>
        <a:graphic>
          <a:graphicData uri="http://schemas.openxmlformats.org/drawingml/2006/table">
            <a:tbl>
              <a:tblPr firstRow="1" firstCol="1" bandRow="1">
                <a:tableStyleId>{5C22544A-7EE6-4342-B048-85BDC9FD1C3A}</a:tableStyleId>
              </a:tblPr>
              <a:tblGrid>
                <a:gridCol w="1512168">
                  <a:extLst>
                    <a:ext uri="{9D8B030D-6E8A-4147-A177-3AD203B41FA5}">
                      <a16:colId xmlns:a16="http://schemas.microsoft.com/office/drawing/2014/main" val="2371762641"/>
                    </a:ext>
                  </a:extLst>
                </a:gridCol>
                <a:gridCol w="1416158">
                  <a:extLst>
                    <a:ext uri="{9D8B030D-6E8A-4147-A177-3AD203B41FA5}">
                      <a16:colId xmlns:a16="http://schemas.microsoft.com/office/drawing/2014/main" val="605938277"/>
                    </a:ext>
                  </a:extLst>
                </a:gridCol>
                <a:gridCol w="1464163">
                  <a:extLst>
                    <a:ext uri="{9D8B030D-6E8A-4147-A177-3AD203B41FA5}">
                      <a16:colId xmlns:a16="http://schemas.microsoft.com/office/drawing/2014/main" val="1087194965"/>
                    </a:ext>
                  </a:extLst>
                </a:gridCol>
                <a:gridCol w="1464163">
                  <a:extLst>
                    <a:ext uri="{9D8B030D-6E8A-4147-A177-3AD203B41FA5}">
                      <a16:colId xmlns:a16="http://schemas.microsoft.com/office/drawing/2014/main" val="1184623386"/>
                    </a:ext>
                  </a:extLst>
                </a:gridCol>
                <a:gridCol w="1464163">
                  <a:extLst>
                    <a:ext uri="{9D8B030D-6E8A-4147-A177-3AD203B41FA5}">
                      <a16:colId xmlns:a16="http://schemas.microsoft.com/office/drawing/2014/main" val="383678283"/>
                    </a:ext>
                  </a:extLst>
                </a:gridCol>
                <a:gridCol w="1464163">
                  <a:extLst>
                    <a:ext uri="{9D8B030D-6E8A-4147-A177-3AD203B41FA5}">
                      <a16:colId xmlns:a16="http://schemas.microsoft.com/office/drawing/2014/main" val="3729963847"/>
                    </a:ext>
                  </a:extLst>
                </a:gridCol>
              </a:tblGrid>
              <a:tr h="1123233">
                <a:tc>
                  <a:txBody>
                    <a:bodyPr/>
                    <a:lstStyle/>
                    <a:p>
                      <a:pPr algn="just">
                        <a:lnSpc>
                          <a:spcPct val="115000"/>
                        </a:lnSpc>
                        <a:spcAft>
                          <a:spcPts val="1000"/>
                        </a:spcAft>
                      </a:pPr>
                      <a:r>
                        <a:rPr lang="en-US" sz="2200">
                          <a:effectLst/>
                        </a:rPr>
                        <a:t>Source</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Model p-value</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Lack of Fit p-value</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Adjusted R²</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Predicted R²</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7097712"/>
                  </a:ext>
                </a:extLst>
              </a:tr>
              <a:tr h="740845">
                <a:tc>
                  <a:txBody>
                    <a:bodyPr/>
                    <a:lstStyle/>
                    <a:p>
                      <a:pPr algn="just">
                        <a:lnSpc>
                          <a:spcPct val="115000"/>
                        </a:lnSpc>
                        <a:spcAft>
                          <a:spcPts val="1000"/>
                        </a:spcAft>
                      </a:pPr>
                      <a:r>
                        <a:rPr lang="en-US" sz="2200">
                          <a:effectLst/>
                        </a:rPr>
                        <a:t>Design Model</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&lt; 0.0001</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0.0568</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0.9495</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0.7967</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12417649"/>
                  </a:ext>
                </a:extLst>
              </a:tr>
              <a:tr h="358457">
                <a:tc>
                  <a:txBody>
                    <a:bodyPr/>
                    <a:lstStyle/>
                    <a:p>
                      <a:pPr algn="just">
                        <a:lnSpc>
                          <a:spcPct val="115000"/>
                        </a:lnSpc>
                        <a:spcAft>
                          <a:spcPts val="1000"/>
                        </a:spcAft>
                      </a:pPr>
                      <a:r>
                        <a:rPr lang="en-US" sz="2200">
                          <a:effectLst/>
                        </a:rPr>
                        <a:t>Linear</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&lt; 0.0001</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0.0225</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0.8604</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0.7782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2116979"/>
                  </a:ext>
                </a:extLst>
              </a:tr>
              <a:tr h="358457">
                <a:tc>
                  <a:txBody>
                    <a:bodyPr/>
                    <a:lstStyle/>
                    <a:p>
                      <a:pPr algn="just">
                        <a:lnSpc>
                          <a:spcPct val="115000"/>
                        </a:lnSpc>
                        <a:spcAft>
                          <a:spcPts val="1000"/>
                        </a:spcAft>
                      </a:pPr>
                      <a:r>
                        <a:rPr lang="en-US" sz="2200">
                          <a:effectLst/>
                        </a:rPr>
                        <a:t>2FI</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0.4866</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0.0202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0.8596</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0.3472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1521857"/>
                  </a:ext>
                </a:extLst>
              </a:tr>
              <a:tr h="740845">
                <a:tc>
                  <a:txBody>
                    <a:bodyPr/>
                    <a:lstStyle/>
                    <a:p>
                      <a:pPr algn="just">
                        <a:lnSpc>
                          <a:spcPct val="115000"/>
                        </a:lnSpc>
                        <a:spcAft>
                          <a:spcPts val="1000"/>
                        </a:spcAft>
                      </a:pPr>
                      <a:r>
                        <a:rPr lang="en-US" sz="2200" dirty="0">
                          <a:effectLst/>
                        </a:rPr>
                        <a:t>Quadratic</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&lt; 0.0001</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0.8732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0.9980</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0.9528</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Suggested</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1318380"/>
                  </a:ext>
                </a:extLst>
              </a:tr>
              <a:tr h="358457">
                <a:tc>
                  <a:txBody>
                    <a:bodyPr/>
                    <a:lstStyle/>
                    <a:p>
                      <a:pPr algn="just">
                        <a:lnSpc>
                          <a:spcPct val="115000"/>
                        </a:lnSpc>
                        <a:spcAft>
                          <a:spcPts val="1000"/>
                        </a:spcAft>
                      </a:pPr>
                      <a:r>
                        <a:rPr lang="en-US" sz="2200" dirty="0">
                          <a:effectLst/>
                        </a:rPr>
                        <a:t>Cubic</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0.8732</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0.9963</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Aliased</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1839192"/>
                  </a:ext>
                </a:extLst>
              </a:tr>
            </a:tbl>
          </a:graphicData>
        </a:graphic>
      </p:graphicFrame>
      <p:sp>
        <p:nvSpPr>
          <p:cNvPr id="12" name="Content Placeholder 2">
            <a:extLst>
              <a:ext uri="{FF2B5EF4-FFF2-40B4-BE49-F238E27FC236}">
                <a16:creationId xmlns:a16="http://schemas.microsoft.com/office/drawing/2014/main" id="{6B6A018A-5521-25C5-2AD8-1328AB1C2A0E}"/>
              </a:ext>
            </a:extLst>
          </p:cNvPr>
          <p:cNvSpPr>
            <a:spLocks noGrp="1"/>
          </p:cNvSpPr>
          <p:nvPr>
            <p:ph idx="1"/>
          </p:nvPr>
        </p:nvSpPr>
        <p:spPr>
          <a:xfrm>
            <a:off x="73152" y="4221088"/>
            <a:ext cx="8997696" cy="2560712"/>
          </a:xfrm>
        </p:spPr>
        <p:txBody>
          <a:bodyPr>
            <a:noAutofit/>
          </a:bodyPr>
          <a:lstStyle/>
          <a:p>
            <a:pPr marL="82296" indent="0" algn="just">
              <a:lnSpc>
                <a:spcPct val="115000"/>
              </a:lnSpc>
              <a:spcAft>
                <a:spcPts val="1000"/>
              </a:spcAft>
              <a:buNone/>
            </a:pPr>
            <a:r>
              <a:rPr lang="en-US" sz="2000" dirty="0">
                <a:effectLst/>
                <a:ea typeface="Calibri" panose="020F0502020204030204" pitchFamily="34" charset="0"/>
              </a:rPr>
              <a:t>The Fit Summary for Weld Metal Viscosity evaluates various models used to predict the viscosity based on their statistical significance and predictive accuracy. The Design Model has a highly significant p-value (&lt; 0.0001) and a strong Adjusted R² value of 0.9495, indicating it fits the data well, although its Lack of Fit p-value (0.0568) suggests a minor issue with model fit in certain regions. The Linear model is also statistically significant, with a p-value of &lt; 0.0001, but its Adjusted R² of 0.8604 is lower, indicating a weaker fit compared to the Design Model</a:t>
            </a:r>
            <a:endParaRPr lang="en-GB"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1C3B027-99D8-4500-AA7E-8D849F3A1F09}" type="slidenum">
              <a:rPr lang="en-US" smtClean="0"/>
              <a:pPr/>
              <a:t>15</a:t>
            </a:fld>
            <a:endParaRPr lang="en-US" dirty="0"/>
          </a:p>
        </p:txBody>
      </p:sp>
      <p:sp>
        <p:nvSpPr>
          <p:cNvPr id="8" name="TextBox 7">
            <a:extLst>
              <a:ext uri="{FF2B5EF4-FFF2-40B4-BE49-F238E27FC236}">
                <a16:creationId xmlns:a16="http://schemas.microsoft.com/office/drawing/2014/main" id="{11EFB0F7-F4EB-8866-9E5E-A8C04367E77C}"/>
              </a:ext>
            </a:extLst>
          </p:cNvPr>
          <p:cNvSpPr txBox="1"/>
          <p:nvPr/>
        </p:nvSpPr>
        <p:spPr>
          <a:xfrm>
            <a:off x="251520" y="116632"/>
            <a:ext cx="7056784" cy="451598"/>
          </a:xfrm>
          <a:prstGeom prst="rect">
            <a:avLst/>
          </a:prstGeom>
          <a:noFill/>
        </p:spPr>
        <p:txBody>
          <a:bodyPr wrap="square">
            <a:spAutoFit/>
          </a:bodyPr>
          <a:lstStyle/>
          <a:p>
            <a:pPr algn="just">
              <a:lnSpc>
                <a:spcPct val="115000"/>
              </a:lnSpc>
              <a:spcAft>
                <a:spcPts val="1000"/>
              </a:spcAft>
            </a:pPr>
            <a:r>
              <a:rPr lang="en-US" sz="2200" dirty="0">
                <a:effectLst/>
                <a:ea typeface="Calibri" panose="020F0502020204030204" pitchFamily="34" charset="0"/>
                <a:cs typeface="Times New Roman" panose="02020603050405020304" pitchFamily="18" charset="0"/>
              </a:rPr>
              <a:t>TABLE 4: Lack of Fit Tests for</a:t>
            </a:r>
            <a:r>
              <a:rPr lang="en-US" sz="2200" b="1" dirty="0">
                <a:effectLst/>
                <a:ea typeface="Calibri" panose="020F0502020204030204" pitchFamily="34" charset="0"/>
                <a:cs typeface="Times New Roman" panose="02020603050405020304" pitchFamily="18" charset="0"/>
              </a:rPr>
              <a:t> Weld Metal Viscosity</a:t>
            </a:r>
            <a:endParaRPr lang="en-GB" sz="2200" dirty="0">
              <a:effectLs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48AD9205-5AE8-6A33-BB0C-BBE901302EAD}"/>
              </a:ext>
            </a:extLst>
          </p:cNvPr>
          <p:cNvGraphicFramePr>
            <a:graphicFrameLocks noGrp="1"/>
          </p:cNvGraphicFramePr>
          <p:nvPr>
            <p:extLst>
              <p:ext uri="{D42A27DB-BD31-4B8C-83A1-F6EECF244321}">
                <p14:modId xmlns:p14="http://schemas.microsoft.com/office/powerpoint/2010/main" val="1848686241"/>
              </p:ext>
            </p:extLst>
          </p:nvPr>
        </p:nvGraphicFramePr>
        <p:xfrm>
          <a:off x="107504" y="620688"/>
          <a:ext cx="8856988" cy="2321814"/>
        </p:xfrm>
        <a:graphic>
          <a:graphicData uri="http://schemas.openxmlformats.org/drawingml/2006/table">
            <a:tbl>
              <a:tblPr firstRow="1" firstCol="1" bandRow="1">
                <a:tableStyleId>{5C22544A-7EE6-4342-B048-85BDC9FD1C3A}</a:tableStyleId>
              </a:tblPr>
              <a:tblGrid>
                <a:gridCol w="1440160">
                  <a:extLst>
                    <a:ext uri="{9D8B030D-6E8A-4147-A177-3AD203B41FA5}">
                      <a16:colId xmlns:a16="http://schemas.microsoft.com/office/drawing/2014/main" val="853246960"/>
                    </a:ext>
                  </a:extLst>
                </a:gridCol>
                <a:gridCol w="1440160">
                  <a:extLst>
                    <a:ext uri="{9D8B030D-6E8A-4147-A177-3AD203B41FA5}">
                      <a16:colId xmlns:a16="http://schemas.microsoft.com/office/drawing/2014/main" val="3361840691"/>
                    </a:ext>
                  </a:extLst>
                </a:gridCol>
                <a:gridCol w="915532">
                  <a:extLst>
                    <a:ext uri="{9D8B030D-6E8A-4147-A177-3AD203B41FA5}">
                      <a16:colId xmlns:a16="http://schemas.microsoft.com/office/drawing/2014/main" val="1151660735"/>
                    </a:ext>
                  </a:extLst>
                </a:gridCol>
                <a:gridCol w="1265284">
                  <a:extLst>
                    <a:ext uri="{9D8B030D-6E8A-4147-A177-3AD203B41FA5}">
                      <a16:colId xmlns:a16="http://schemas.microsoft.com/office/drawing/2014/main" val="831003338"/>
                    </a:ext>
                  </a:extLst>
                </a:gridCol>
                <a:gridCol w="1265284">
                  <a:extLst>
                    <a:ext uri="{9D8B030D-6E8A-4147-A177-3AD203B41FA5}">
                      <a16:colId xmlns:a16="http://schemas.microsoft.com/office/drawing/2014/main" val="4022844241"/>
                    </a:ext>
                  </a:extLst>
                </a:gridCol>
                <a:gridCol w="1265284">
                  <a:extLst>
                    <a:ext uri="{9D8B030D-6E8A-4147-A177-3AD203B41FA5}">
                      <a16:colId xmlns:a16="http://schemas.microsoft.com/office/drawing/2014/main" val="3535147481"/>
                    </a:ext>
                  </a:extLst>
                </a:gridCol>
                <a:gridCol w="1265284">
                  <a:extLst>
                    <a:ext uri="{9D8B030D-6E8A-4147-A177-3AD203B41FA5}">
                      <a16:colId xmlns:a16="http://schemas.microsoft.com/office/drawing/2014/main" val="2861039618"/>
                    </a:ext>
                  </a:extLst>
                </a:gridCol>
              </a:tblGrid>
              <a:tr h="407353">
                <a:tc>
                  <a:txBody>
                    <a:bodyPr/>
                    <a:lstStyle/>
                    <a:p>
                      <a:pPr algn="just">
                        <a:lnSpc>
                          <a:spcPct val="115000"/>
                        </a:lnSpc>
                        <a:spcAft>
                          <a:spcPts val="1000"/>
                        </a:spcAft>
                      </a:pPr>
                      <a:r>
                        <a:rPr lang="en-US" sz="2000" dirty="0">
                          <a:effectLst/>
                        </a:rPr>
                        <a:t>Source</a:t>
                      </a:r>
                      <a:endParaRPr lang="en-GB"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Sum of Squares</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df</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Mean Square</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F-value</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p-value</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3103926"/>
                  </a:ext>
                </a:extLst>
              </a:tr>
              <a:tr h="197041">
                <a:tc>
                  <a:txBody>
                    <a:bodyPr/>
                    <a:lstStyle/>
                    <a:p>
                      <a:pPr algn="just">
                        <a:lnSpc>
                          <a:spcPct val="115000"/>
                        </a:lnSpc>
                        <a:spcAft>
                          <a:spcPts val="1000"/>
                        </a:spcAft>
                      </a:pPr>
                      <a:r>
                        <a:rPr lang="en-US" sz="2000">
                          <a:effectLst/>
                        </a:rPr>
                        <a:t>Linear</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1.424E-06</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13</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1.095E-07</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43.80</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0.0225</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4315973"/>
                  </a:ext>
                </a:extLst>
              </a:tr>
              <a:tr h="197041">
                <a:tc>
                  <a:txBody>
                    <a:bodyPr/>
                    <a:lstStyle/>
                    <a:p>
                      <a:pPr algn="just">
                        <a:lnSpc>
                          <a:spcPct val="115000"/>
                        </a:lnSpc>
                        <a:spcAft>
                          <a:spcPts val="1000"/>
                        </a:spcAft>
                      </a:pPr>
                      <a:r>
                        <a:rPr lang="en-US" sz="2000">
                          <a:effectLst/>
                        </a:rPr>
                        <a:t>2FI</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8.566E-07</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7</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1.224E-07</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48.95</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0.0202</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9561515"/>
                  </a:ext>
                </a:extLst>
              </a:tr>
              <a:tr h="197041">
                <a:tc>
                  <a:txBody>
                    <a:bodyPr/>
                    <a:lstStyle/>
                    <a:p>
                      <a:pPr algn="just">
                        <a:lnSpc>
                          <a:spcPct val="115000"/>
                        </a:lnSpc>
                        <a:spcAft>
                          <a:spcPts val="1000"/>
                        </a:spcAft>
                      </a:pPr>
                      <a:r>
                        <a:rPr lang="en-US" sz="2000">
                          <a:effectLst/>
                        </a:rPr>
                        <a:t>Quadratic</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1.688E-09</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3</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5.628E-10</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0.2251</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0.8732</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Suggested</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9632411"/>
                  </a:ext>
                </a:extLst>
              </a:tr>
              <a:tr h="197041">
                <a:tc>
                  <a:txBody>
                    <a:bodyPr/>
                    <a:lstStyle/>
                    <a:p>
                      <a:pPr algn="just">
                        <a:lnSpc>
                          <a:spcPct val="115000"/>
                        </a:lnSpc>
                        <a:spcAft>
                          <a:spcPts val="1000"/>
                        </a:spcAft>
                      </a:pPr>
                      <a:r>
                        <a:rPr lang="en-US" sz="2000">
                          <a:effectLst/>
                        </a:rPr>
                        <a:t>Cubic</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0.0000</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0</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Aliased</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0829431"/>
                  </a:ext>
                </a:extLst>
              </a:tr>
              <a:tr h="197041">
                <a:tc>
                  <a:txBody>
                    <a:bodyPr/>
                    <a:lstStyle/>
                    <a:p>
                      <a:pPr algn="just">
                        <a:lnSpc>
                          <a:spcPct val="115000"/>
                        </a:lnSpc>
                        <a:spcAft>
                          <a:spcPts val="1000"/>
                        </a:spcAft>
                      </a:pPr>
                      <a:r>
                        <a:rPr lang="en-US" sz="2000">
                          <a:effectLst/>
                        </a:rPr>
                        <a:t>Pure Error</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5.000E-09</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2</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2.500E-09</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2000" dirty="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958250"/>
                  </a:ext>
                </a:extLst>
              </a:tr>
            </a:tbl>
          </a:graphicData>
        </a:graphic>
      </p:graphicFrame>
      <p:sp>
        <p:nvSpPr>
          <p:cNvPr id="14" name="Content Placeholder 2">
            <a:extLst>
              <a:ext uri="{FF2B5EF4-FFF2-40B4-BE49-F238E27FC236}">
                <a16:creationId xmlns:a16="http://schemas.microsoft.com/office/drawing/2014/main" id="{639DEF4B-BCD2-CFB8-B81D-7E32965C49DA}"/>
              </a:ext>
            </a:extLst>
          </p:cNvPr>
          <p:cNvSpPr>
            <a:spLocks noGrp="1"/>
          </p:cNvSpPr>
          <p:nvPr>
            <p:ph idx="1"/>
          </p:nvPr>
        </p:nvSpPr>
        <p:spPr>
          <a:xfrm>
            <a:off x="73152" y="3212976"/>
            <a:ext cx="8997696" cy="3568824"/>
          </a:xfrm>
        </p:spPr>
        <p:txBody>
          <a:bodyPr>
            <a:noAutofit/>
          </a:bodyPr>
          <a:lstStyle/>
          <a:p>
            <a:pPr marL="82296" indent="0" algn="just">
              <a:lnSpc>
                <a:spcPct val="115000"/>
              </a:lnSpc>
              <a:spcAft>
                <a:spcPts val="1000"/>
              </a:spcAft>
              <a:buNone/>
            </a:pPr>
            <a:r>
              <a:rPr lang="en-US" sz="2200" dirty="0">
                <a:effectLst/>
                <a:ea typeface="Calibri" panose="020F0502020204030204" pitchFamily="34" charset="0"/>
              </a:rPr>
              <a:t>The Lack of Fit Tests for Weld Metal Viscosity, which assess how well the fitted models represent the data by comparing the variation explained by the model with the unexplained variation (pure error). </a:t>
            </a:r>
          </a:p>
          <a:p>
            <a:pPr marL="82296" indent="0" algn="just">
              <a:lnSpc>
                <a:spcPct val="115000"/>
              </a:lnSpc>
              <a:spcAft>
                <a:spcPts val="1000"/>
              </a:spcAft>
              <a:buNone/>
            </a:pPr>
            <a:r>
              <a:rPr lang="en-US" sz="2200" dirty="0">
                <a:effectLst/>
                <a:ea typeface="Calibri" panose="020F0502020204030204" pitchFamily="34" charset="0"/>
              </a:rPr>
              <a:t>The Linear model has a Sum of Squares of 1.424E-06, with a high F-value of 43.80 and a p-value of 0.0225, indicating a significant lack of fit. In contrast, the Quadratic model, with a Sum of Squares of 1.688E-09, has a much lower F-value of 0.2251 and a p-value of 0.8732, suggesting it does not exhibit a significant lack of fit, making it the best model for the data</a:t>
            </a:r>
            <a:endParaRPr lang="en-GB"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1C3B027-99D8-4500-AA7E-8D849F3A1F09}" type="slidenum">
              <a:rPr lang="en-US" smtClean="0"/>
              <a:pPr/>
              <a:t>16</a:t>
            </a:fld>
            <a:endParaRPr lang="en-US" dirty="0"/>
          </a:p>
        </p:txBody>
      </p:sp>
      <p:sp>
        <p:nvSpPr>
          <p:cNvPr id="8" name="TextBox 7">
            <a:extLst>
              <a:ext uri="{FF2B5EF4-FFF2-40B4-BE49-F238E27FC236}">
                <a16:creationId xmlns:a16="http://schemas.microsoft.com/office/drawing/2014/main" id="{DB63627F-BF35-4035-F613-9168F57E31AA}"/>
              </a:ext>
            </a:extLst>
          </p:cNvPr>
          <p:cNvSpPr txBox="1"/>
          <p:nvPr/>
        </p:nvSpPr>
        <p:spPr>
          <a:xfrm>
            <a:off x="251520" y="44624"/>
            <a:ext cx="4572000" cy="368755"/>
          </a:xfrm>
          <a:prstGeom prst="rect">
            <a:avLst/>
          </a:prstGeom>
          <a:noFill/>
        </p:spPr>
        <p:txBody>
          <a:bodyPr wrap="square">
            <a:spAutoFit/>
          </a:bodyPr>
          <a:lstStyle/>
          <a:p>
            <a:pPr algn="just">
              <a:lnSpc>
                <a:spcPct val="107000"/>
              </a:lnSpc>
              <a:spcAft>
                <a:spcPts val="800"/>
              </a:spcAft>
            </a:pPr>
            <a:r>
              <a:rPr lang="en-US" sz="1800" kern="100" dirty="0">
                <a:effectLst/>
                <a:latin typeface="Times New Roman" panose="02020603050405020304" pitchFamily="18" charset="0"/>
                <a:ea typeface="Times New Roman" panose="02020603050405020304" pitchFamily="18" charset="0"/>
              </a:rPr>
              <a:t>TABLE 5: ANOVA for </a:t>
            </a:r>
            <a:r>
              <a:rPr lang="en-US" sz="1800" b="1" kern="100" dirty="0">
                <a:effectLst/>
                <a:latin typeface="Times New Roman" panose="02020603050405020304" pitchFamily="18" charset="0"/>
                <a:ea typeface="Times New Roman" panose="02020603050405020304" pitchFamily="18" charset="0"/>
              </a:rPr>
              <a:t>Weld Metal Viscosity</a:t>
            </a:r>
            <a:endParaRPr lang="en-GB" sz="1800" kern="100" dirty="0">
              <a:effectLst/>
              <a:latin typeface="Times New Roman" panose="02020603050405020304" pitchFamily="18" charset="0"/>
              <a:ea typeface="Times New Roman" panose="02020603050405020304" pitchFamily="18" charset="0"/>
            </a:endParaRPr>
          </a:p>
        </p:txBody>
      </p:sp>
      <p:graphicFrame>
        <p:nvGraphicFramePr>
          <p:cNvPr id="11" name="Table 10">
            <a:extLst>
              <a:ext uri="{FF2B5EF4-FFF2-40B4-BE49-F238E27FC236}">
                <a16:creationId xmlns:a16="http://schemas.microsoft.com/office/drawing/2014/main" id="{6F3A604A-B81F-0983-A56A-99DD7CE420FB}"/>
              </a:ext>
            </a:extLst>
          </p:cNvPr>
          <p:cNvGraphicFramePr>
            <a:graphicFrameLocks noGrp="1"/>
          </p:cNvGraphicFramePr>
          <p:nvPr>
            <p:extLst>
              <p:ext uri="{D42A27DB-BD31-4B8C-83A1-F6EECF244321}">
                <p14:modId xmlns:p14="http://schemas.microsoft.com/office/powerpoint/2010/main" val="740304561"/>
              </p:ext>
            </p:extLst>
          </p:nvPr>
        </p:nvGraphicFramePr>
        <p:xfrm>
          <a:off x="179512" y="404663"/>
          <a:ext cx="8712970" cy="6097788"/>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702396682"/>
                    </a:ext>
                  </a:extLst>
                </a:gridCol>
                <a:gridCol w="1368152">
                  <a:extLst>
                    <a:ext uri="{9D8B030D-6E8A-4147-A177-3AD203B41FA5}">
                      <a16:colId xmlns:a16="http://schemas.microsoft.com/office/drawing/2014/main" val="674126248"/>
                    </a:ext>
                  </a:extLst>
                </a:gridCol>
                <a:gridCol w="709794">
                  <a:extLst>
                    <a:ext uri="{9D8B030D-6E8A-4147-A177-3AD203B41FA5}">
                      <a16:colId xmlns:a16="http://schemas.microsoft.com/office/drawing/2014/main" val="527532543"/>
                    </a:ext>
                  </a:extLst>
                </a:gridCol>
                <a:gridCol w="1244710">
                  <a:extLst>
                    <a:ext uri="{9D8B030D-6E8A-4147-A177-3AD203B41FA5}">
                      <a16:colId xmlns:a16="http://schemas.microsoft.com/office/drawing/2014/main" val="2213118578"/>
                    </a:ext>
                  </a:extLst>
                </a:gridCol>
                <a:gridCol w="1244710">
                  <a:extLst>
                    <a:ext uri="{9D8B030D-6E8A-4147-A177-3AD203B41FA5}">
                      <a16:colId xmlns:a16="http://schemas.microsoft.com/office/drawing/2014/main" val="1567877874"/>
                    </a:ext>
                  </a:extLst>
                </a:gridCol>
                <a:gridCol w="1244710">
                  <a:extLst>
                    <a:ext uri="{9D8B030D-6E8A-4147-A177-3AD203B41FA5}">
                      <a16:colId xmlns:a16="http://schemas.microsoft.com/office/drawing/2014/main" val="585973107"/>
                    </a:ext>
                  </a:extLst>
                </a:gridCol>
                <a:gridCol w="1244710">
                  <a:extLst>
                    <a:ext uri="{9D8B030D-6E8A-4147-A177-3AD203B41FA5}">
                      <a16:colId xmlns:a16="http://schemas.microsoft.com/office/drawing/2014/main" val="3077453016"/>
                    </a:ext>
                  </a:extLst>
                </a:gridCol>
              </a:tblGrid>
              <a:tr h="406666">
                <a:tc>
                  <a:txBody>
                    <a:bodyPr/>
                    <a:lstStyle/>
                    <a:p>
                      <a:pPr algn="just">
                        <a:lnSpc>
                          <a:spcPct val="115000"/>
                        </a:lnSpc>
                        <a:spcAft>
                          <a:spcPts val="1000"/>
                        </a:spcAft>
                      </a:pPr>
                      <a:r>
                        <a:rPr lang="en-US" sz="1600">
                          <a:effectLst/>
                        </a:rPr>
                        <a:t>Source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Sum of Squares</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df</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Mean Square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F-value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p-value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3044357"/>
                  </a:ext>
                </a:extLst>
              </a:tr>
              <a:tr h="196774">
                <a:tc>
                  <a:txBody>
                    <a:bodyPr/>
                    <a:lstStyle/>
                    <a:p>
                      <a:pPr algn="just">
                        <a:lnSpc>
                          <a:spcPct val="115000"/>
                        </a:lnSpc>
                        <a:spcAft>
                          <a:spcPts val="1000"/>
                        </a:spcAft>
                      </a:pPr>
                      <a:r>
                        <a:rPr lang="en-US" sz="1600">
                          <a:effectLst/>
                        </a:rPr>
                        <a:t>Model</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9.251E-07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691.58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significant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564127"/>
                  </a:ext>
                </a:extLst>
              </a:tr>
              <a:tr h="196774">
                <a:tc>
                  <a:txBody>
                    <a:bodyPr/>
                    <a:lstStyle/>
                    <a:p>
                      <a:pPr algn="just">
                        <a:lnSpc>
                          <a:spcPct val="115000"/>
                        </a:lnSpc>
                        <a:spcAft>
                          <a:spcPts val="1000"/>
                        </a:spcAft>
                      </a:pPr>
                      <a:r>
                        <a:rPr lang="en-US" sz="1600">
                          <a:effectLst/>
                        </a:rPr>
                        <a:t>A-Current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3.191E-07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3.191E-07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238.54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8732890"/>
                  </a:ext>
                </a:extLst>
              </a:tr>
              <a:tr h="196774">
                <a:tc>
                  <a:txBody>
                    <a:bodyPr/>
                    <a:lstStyle/>
                    <a:p>
                      <a:pPr algn="just">
                        <a:lnSpc>
                          <a:spcPct val="115000"/>
                        </a:lnSpc>
                        <a:spcAft>
                          <a:spcPts val="1000"/>
                        </a:spcAft>
                      </a:pPr>
                      <a:r>
                        <a:rPr lang="en-US" sz="1600">
                          <a:effectLst/>
                        </a:rPr>
                        <a:t>B-Voltage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8.393E-09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8.393E-09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6.27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0.0542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9556366"/>
                  </a:ext>
                </a:extLst>
              </a:tr>
              <a:tr h="406666">
                <a:tc>
                  <a:txBody>
                    <a:bodyPr/>
                    <a:lstStyle/>
                    <a:p>
                      <a:pPr algn="just">
                        <a:lnSpc>
                          <a:spcPct val="115000"/>
                        </a:lnSpc>
                        <a:spcAft>
                          <a:spcPts val="1000"/>
                        </a:spcAft>
                      </a:pPr>
                      <a:r>
                        <a:rPr lang="en-US" sz="1600">
                          <a:effectLst/>
                        </a:rPr>
                        <a:t>C-Gas Flow Rate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3.620E-07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3.620E-07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270.64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18102879"/>
                  </a:ext>
                </a:extLst>
              </a:tr>
              <a:tr h="196774">
                <a:tc>
                  <a:txBody>
                    <a:bodyPr/>
                    <a:lstStyle/>
                    <a:p>
                      <a:pPr algn="just">
                        <a:lnSpc>
                          <a:spcPct val="115000"/>
                        </a:lnSpc>
                        <a:spcAft>
                          <a:spcPts val="1000"/>
                        </a:spcAft>
                      </a:pPr>
                      <a:r>
                        <a:rPr lang="en-US" sz="1600">
                          <a:effectLst/>
                        </a:rPr>
                        <a:t>D-M. Temp</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1.516E-08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1.516E-08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11.33</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0.0200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7289070"/>
                  </a:ext>
                </a:extLst>
              </a:tr>
              <a:tr h="196774">
                <a:tc>
                  <a:txBody>
                    <a:bodyPr/>
                    <a:lstStyle/>
                    <a:p>
                      <a:pPr algn="just">
                        <a:lnSpc>
                          <a:spcPct val="115000"/>
                        </a:lnSpc>
                        <a:spcAft>
                          <a:spcPts val="1000"/>
                        </a:spcAft>
                      </a:pPr>
                      <a:r>
                        <a:rPr lang="en-US" sz="1600">
                          <a:effectLst/>
                        </a:rPr>
                        <a:t>AB</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8.056E-08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8.056E-08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60.22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0.0006</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408326"/>
                  </a:ext>
                </a:extLst>
              </a:tr>
              <a:tr h="196774">
                <a:tc>
                  <a:txBody>
                    <a:bodyPr/>
                    <a:lstStyle/>
                    <a:p>
                      <a:pPr algn="just">
                        <a:lnSpc>
                          <a:spcPct val="115000"/>
                        </a:lnSpc>
                        <a:spcAft>
                          <a:spcPts val="1000"/>
                        </a:spcAft>
                      </a:pPr>
                      <a:r>
                        <a:rPr lang="en-US" sz="1600">
                          <a:effectLst/>
                        </a:rPr>
                        <a:t>AC</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3.381E-08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3.381E-08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25.27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0.0040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5681459"/>
                  </a:ext>
                </a:extLst>
              </a:tr>
              <a:tr h="196774">
                <a:tc>
                  <a:txBody>
                    <a:bodyPr/>
                    <a:lstStyle/>
                    <a:p>
                      <a:pPr algn="just">
                        <a:lnSpc>
                          <a:spcPct val="115000"/>
                        </a:lnSpc>
                        <a:spcAft>
                          <a:spcPts val="1000"/>
                        </a:spcAft>
                      </a:pPr>
                      <a:r>
                        <a:rPr lang="en-US" sz="1600">
                          <a:effectLst/>
                        </a:rPr>
                        <a:t>AD</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3.948E-08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3.948E-08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29.51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0.0029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7156796"/>
                  </a:ext>
                </a:extLst>
              </a:tr>
              <a:tr h="196774">
                <a:tc>
                  <a:txBody>
                    <a:bodyPr/>
                    <a:lstStyle/>
                    <a:p>
                      <a:pPr algn="just">
                        <a:lnSpc>
                          <a:spcPct val="115000"/>
                        </a:lnSpc>
                        <a:spcAft>
                          <a:spcPts val="1000"/>
                        </a:spcAft>
                      </a:pPr>
                      <a:r>
                        <a:rPr lang="en-US" sz="1600">
                          <a:effectLst/>
                        </a:rPr>
                        <a:t>BC</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1.077E-07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1.077E-07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80.49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0.0003</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0684905"/>
                  </a:ext>
                </a:extLst>
              </a:tr>
              <a:tr h="196774">
                <a:tc>
                  <a:txBody>
                    <a:bodyPr/>
                    <a:lstStyle/>
                    <a:p>
                      <a:pPr algn="just">
                        <a:lnSpc>
                          <a:spcPct val="115000"/>
                        </a:lnSpc>
                        <a:spcAft>
                          <a:spcPts val="1000"/>
                        </a:spcAft>
                      </a:pPr>
                      <a:r>
                        <a:rPr lang="en-US" sz="1600">
                          <a:effectLst/>
                        </a:rPr>
                        <a:t>BD</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1.488E-07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1.488E-07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111.24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7283961"/>
                  </a:ext>
                </a:extLst>
              </a:tr>
              <a:tr h="196774">
                <a:tc>
                  <a:txBody>
                    <a:bodyPr/>
                    <a:lstStyle/>
                    <a:p>
                      <a:pPr algn="just">
                        <a:lnSpc>
                          <a:spcPct val="115000"/>
                        </a:lnSpc>
                        <a:spcAft>
                          <a:spcPts val="1000"/>
                        </a:spcAft>
                      </a:pPr>
                      <a:r>
                        <a:rPr lang="en-US" sz="1600">
                          <a:effectLst/>
                        </a:rPr>
                        <a:t>CD</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3.095E-08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3.095E-08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23.14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0.0048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21848529"/>
                  </a:ext>
                </a:extLst>
              </a:tr>
              <a:tr h="196774">
                <a:tc>
                  <a:txBody>
                    <a:bodyPr/>
                    <a:lstStyle/>
                    <a:p>
                      <a:pPr algn="just">
                        <a:lnSpc>
                          <a:spcPct val="115000"/>
                        </a:lnSpc>
                        <a:spcAft>
                          <a:spcPts val="1000"/>
                        </a:spcAft>
                      </a:pPr>
                      <a:r>
                        <a:rPr lang="en-US" sz="1600">
                          <a:effectLst/>
                        </a:rPr>
                        <a:t>A²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7.338E-08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7.338E-08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54.85</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8903789"/>
                  </a:ext>
                </a:extLst>
              </a:tr>
              <a:tr h="196774">
                <a:tc>
                  <a:txBody>
                    <a:bodyPr/>
                    <a:lstStyle/>
                    <a:p>
                      <a:pPr algn="just">
                        <a:lnSpc>
                          <a:spcPct val="115000"/>
                        </a:lnSpc>
                        <a:spcAft>
                          <a:spcPts val="1000"/>
                        </a:spcAft>
                      </a:pPr>
                      <a:r>
                        <a:rPr lang="en-US" sz="1600">
                          <a:effectLst/>
                        </a:rPr>
                        <a:t>B²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2.170E-07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2.170E-07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162.21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8010376"/>
                  </a:ext>
                </a:extLst>
              </a:tr>
              <a:tr h="196774">
                <a:tc>
                  <a:txBody>
                    <a:bodyPr/>
                    <a:lstStyle/>
                    <a:p>
                      <a:pPr algn="just">
                        <a:lnSpc>
                          <a:spcPct val="115000"/>
                        </a:lnSpc>
                        <a:spcAft>
                          <a:spcPts val="1000"/>
                        </a:spcAft>
                      </a:pPr>
                      <a:r>
                        <a:rPr lang="en-US" sz="1600">
                          <a:effectLst/>
                        </a:rPr>
                        <a:t>C²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5.566E-07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5.566E-07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416.06</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7979915"/>
                  </a:ext>
                </a:extLst>
              </a:tr>
              <a:tr h="196774">
                <a:tc>
                  <a:txBody>
                    <a:bodyPr/>
                    <a:lstStyle/>
                    <a:p>
                      <a:pPr algn="just">
                        <a:lnSpc>
                          <a:spcPct val="115000"/>
                        </a:lnSpc>
                        <a:spcAft>
                          <a:spcPts val="1000"/>
                        </a:spcAft>
                      </a:pPr>
                      <a:r>
                        <a:rPr lang="en-US" sz="1600">
                          <a:effectLst/>
                        </a:rPr>
                        <a:t>D²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4.506E-08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4.506E-08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33.69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0.0021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8258837"/>
                  </a:ext>
                </a:extLst>
              </a:tr>
              <a:tr h="196774">
                <a:tc>
                  <a:txBody>
                    <a:bodyPr/>
                    <a:lstStyle/>
                    <a:p>
                      <a:pPr algn="just">
                        <a:lnSpc>
                          <a:spcPct val="115000"/>
                        </a:lnSpc>
                        <a:spcAft>
                          <a:spcPts val="1000"/>
                        </a:spcAft>
                      </a:pPr>
                      <a:r>
                        <a:rPr lang="en-US" sz="1600">
                          <a:effectLst/>
                        </a:rPr>
                        <a:t>Residual</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6.688E-09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1.338E-09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27887"/>
                  </a:ext>
                </a:extLst>
              </a:tr>
              <a:tr h="196774">
                <a:tc>
                  <a:txBody>
                    <a:bodyPr/>
                    <a:lstStyle/>
                    <a:p>
                      <a:pPr algn="just">
                        <a:lnSpc>
                          <a:spcPct val="115000"/>
                        </a:lnSpc>
                        <a:spcAft>
                          <a:spcPts val="1000"/>
                        </a:spcAft>
                      </a:pPr>
                      <a:r>
                        <a:rPr lang="en-US" sz="1600">
                          <a:effectLst/>
                        </a:rPr>
                        <a:t>Lack of Fit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1.688E-09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5.628E-10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0.2251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0.8732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not significant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6179961"/>
                  </a:ext>
                </a:extLst>
              </a:tr>
              <a:tr h="196774">
                <a:tc>
                  <a:txBody>
                    <a:bodyPr/>
                    <a:lstStyle/>
                    <a:p>
                      <a:pPr algn="just">
                        <a:lnSpc>
                          <a:spcPct val="115000"/>
                        </a:lnSpc>
                        <a:spcAft>
                          <a:spcPts val="1000"/>
                        </a:spcAft>
                      </a:pPr>
                      <a:r>
                        <a:rPr lang="en-US" sz="1600">
                          <a:effectLst/>
                        </a:rPr>
                        <a:t>Pure Error</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5.000E-09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2.500E-09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7359285"/>
                  </a:ext>
                </a:extLst>
              </a:tr>
              <a:tr h="196774">
                <a:tc>
                  <a:txBody>
                    <a:bodyPr/>
                    <a:lstStyle/>
                    <a:p>
                      <a:pPr algn="just">
                        <a:lnSpc>
                          <a:spcPct val="115000"/>
                        </a:lnSpc>
                        <a:spcAft>
                          <a:spcPts val="1000"/>
                        </a:spcAft>
                      </a:pPr>
                      <a:r>
                        <a:rPr lang="en-US" sz="1600">
                          <a:effectLst/>
                        </a:rPr>
                        <a:t>Cor Total</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dirty="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995484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16632"/>
            <a:ext cx="8647968" cy="6552728"/>
          </a:xfrm>
        </p:spPr>
        <p:txBody>
          <a:bodyPr>
            <a:normAutofit fontScale="92500"/>
          </a:bodyPr>
          <a:lstStyle/>
          <a:p>
            <a:pPr marL="82296" indent="0" algn="just">
              <a:lnSpc>
                <a:spcPct val="107000"/>
              </a:lnSpc>
              <a:spcAft>
                <a:spcPts val="800"/>
              </a:spcAft>
              <a:buNone/>
            </a:pPr>
            <a:r>
              <a:rPr lang="en-US" sz="2200" kern="100" dirty="0">
                <a:effectLst/>
                <a:ea typeface="Times New Roman" panose="02020603050405020304" pitchFamily="18" charset="0"/>
              </a:rPr>
              <a:t>The ANOVA for Weld Metal Viscosity shows how various factors and how their interactions contribute to the variability in the response variable. </a:t>
            </a:r>
          </a:p>
          <a:p>
            <a:pPr marL="82296" indent="0" algn="just">
              <a:lnSpc>
                <a:spcPct val="107000"/>
              </a:lnSpc>
              <a:spcAft>
                <a:spcPts val="800"/>
              </a:spcAft>
              <a:buNone/>
            </a:pPr>
            <a:endParaRPr lang="en-US" sz="2200" kern="100" dirty="0">
              <a:effectLst/>
              <a:ea typeface="Times New Roman" panose="02020603050405020304" pitchFamily="18" charset="0"/>
            </a:endParaRPr>
          </a:p>
          <a:p>
            <a:pPr marL="82296" indent="0" algn="just">
              <a:lnSpc>
                <a:spcPct val="107000"/>
              </a:lnSpc>
              <a:spcAft>
                <a:spcPts val="800"/>
              </a:spcAft>
              <a:buNone/>
            </a:pPr>
            <a:r>
              <a:rPr lang="en-US" sz="2200" kern="100" dirty="0">
                <a:effectLst/>
                <a:ea typeface="Times New Roman" panose="02020603050405020304" pitchFamily="18" charset="0"/>
              </a:rPr>
              <a:t>The Model term has a p-value of &lt; 0.0001, indicating that the model is highly significant in explaining the variation in weld metal viscosity. </a:t>
            </a:r>
          </a:p>
          <a:p>
            <a:pPr marL="82296" indent="0" algn="just">
              <a:lnSpc>
                <a:spcPct val="107000"/>
              </a:lnSpc>
              <a:spcAft>
                <a:spcPts val="800"/>
              </a:spcAft>
              <a:buNone/>
            </a:pPr>
            <a:endParaRPr lang="en-US" sz="2200" kern="100" dirty="0">
              <a:effectLst/>
              <a:ea typeface="Times New Roman" panose="02020603050405020304" pitchFamily="18" charset="0"/>
            </a:endParaRPr>
          </a:p>
          <a:p>
            <a:pPr marL="82296" indent="0" algn="just">
              <a:lnSpc>
                <a:spcPct val="107000"/>
              </a:lnSpc>
              <a:spcAft>
                <a:spcPts val="800"/>
              </a:spcAft>
              <a:buNone/>
            </a:pPr>
            <a:r>
              <a:rPr lang="en-US" sz="2200" kern="100" dirty="0">
                <a:effectLst/>
                <a:ea typeface="Times New Roman" panose="02020603050405020304" pitchFamily="18" charset="0"/>
              </a:rPr>
              <a:t>Among the factors, Current (A), Gas Flow Rate (C), and their quadratic terms (A², C²) show significant effects, with p-values less than 0.0001. Voltage (B) has a p-value of 0.0542, suggesting it is near significance but not quite impactful. </a:t>
            </a:r>
          </a:p>
          <a:p>
            <a:pPr marL="82296" indent="0" algn="just">
              <a:lnSpc>
                <a:spcPct val="107000"/>
              </a:lnSpc>
              <a:spcAft>
                <a:spcPts val="800"/>
              </a:spcAft>
              <a:buNone/>
            </a:pPr>
            <a:endParaRPr lang="en-US" sz="2200" kern="100" dirty="0">
              <a:effectLst/>
              <a:ea typeface="Times New Roman" panose="02020603050405020304" pitchFamily="18" charset="0"/>
            </a:endParaRPr>
          </a:p>
          <a:p>
            <a:pPr marL="82296" indent="0" algn="just">
              <a:lnSpc>
                <a:spcPct val="107000"/>
              </a:lnSpc>
              <a:spcAft>
                <a:spcPts val="800"/>
              </a:spcAft>
              <a:buNone/>
            </a:pPr>
            <a:r>
              <a:rPr lang="en-US" sz="2200" kern="100" dirty="0">
                <a:effectLst/>
                <a:ea typeface="Times New Roman" panose="02020603050405020304" pitchFamily="18" charset="0"/>
              </a:rPr>
              <a:t>Interaction terms such as AB, AC, AD, BC, BD, and CD all have p-values below 0.05, indicating that these interactions significantly affect viscosity. </a:t>
            </a:r>
          </a:p>
          <a:p>
            <a:pPr marL="82296" indent="0" algn="just">
              <a:lnSpc>
                <a:spcPct val="107000"/>
              </a:lnSpc>
              <a:spcAft>
                <a:spcPts val="800"/>
              </a:spcAft>
              <a:buNone/>
            </a:pPr>
            <a:endParaRPr lang="en-US" sz="2200" kern="100" dirty="0">
              <a:effectLst/>
              <a:ea typeface="Times New Roman" panose="02020603050405020304" pitchFamily="18" charset="0"/>
            </a:endParaRPr>
          </a:p>
          <a:p>
            <a:pPr marL="82296" indent="0" algn="just">
              <a:lnSpc>
                <a:spcPct val="107000"/>
              </a:lnSpc>
              <a:spcAft>
                <a:spcPts val="800"/>
              </a:spcAft>
              <a:buNone/>
            </a:pPr>
            <a:r>
              <a:rPr lang="en-US" sz="2200" kern="100" dirty="0">
                <a:effectLst/>
                <a:ea typeface="Times New Roman" panose="02020603050405020304" pitchFamily="18" charset="0"/>
              </a:rPr>
              <a:t>The significant interactions and quadratic terms suggest a complex relationship between factors that influences the weld metal viscosity.</a:t>
            </a:r>
            <a:endParaRPr lang="en-GB" sz="2200" kern="100" dirty="0">
              <a:effectLst/>
              <a:ea typeface="Times New Roman" panose="02020603050405020304" pitchFamily="18" charset="0"/>
            </a:endParaRPr>
          </a:p>
          <a:p>
            <a:pPr marL="82296" indent="0">
              <a:buNone/>
            </a:pPr>
            <a:endParaRPr lang="en-US" sz="2200"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171EB04-7A81-0E5F-58CC-842DBCBF151A}"/>
                  </a:ext>
                </a:extLst>
              </p:cNvPr>
              <p:cNvSpPr>
                <a:spLocks noGrp="1"/>
              </p:cNvSpPr>
              <p:nvPr>
                <p:ph idx="1"/>
              </p:nvPr>
            </p:nvSpPr>
            <p:spPr>
              <a:xfrm>
                <a:off x="107504" y="548680"/>
                <a:ext cx="8826184" cy="1549152"/>
              </a:xfrm>
            </p:spPr>
            <p:txBody>
              <a:bodyPr>
                <a:noAutofit/>
              </a:bodyPr>
              <a:lstStyle/>
              <a:p>
                <a:pPr marL="82296" indent="0" algn="just">
                  <a:buNone/>
                </a:pPr>
                <a14:m>
                  <m:oMath xmlns:m="http://schemas.openxmlformats.org/officeDocument/2006/math">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𝑊𝑒𝑙𝑑</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𝑀𝑒𝑡𝑎𝑙</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 </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𝑉𝑖𝑠𝑐𝑜𝑠𝑖𝑡𝑦</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=−0.133143+0.000807⋅</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𝐴</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+0.015589⋅</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𝐵</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−0.008514⋅</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𝐶</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−0.003859⋅</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𝐷</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−0.000032⋅(</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𝐴</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𝐵</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)+0.000017⋅(</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𝐴</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𝐶</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)+0.000011⋅(</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𝐴</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𝐷</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)−0.000287⋅(</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𝐵</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𝐶</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)+0.000255⋅(</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𝐵</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𝐷</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)−0.000082⋅(</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𝐶</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𝐷</m:t>
                    </m:r>
                    <m:r>
                      <a:rPr lang="en-US" sz="2200" i="1" smtClean="0">
                        <a:effectLst/>
                        <a:latin typeface="Cambria Math" panose="02040503050406030204" pitchFamily="18" charset="0"/>
                        <a:ea typeface="DengXian" panose="02010600030101010101" pitchFamily="2" charset="-122"/>
                        <a:cs typeface="Times New Roman" panose="02020603050405020304" pitchFamily="18" charset="0"/>
                      </a:rPr>
                      <m:t>)−1.61643×</m:t>
                    </m:r>
                    <m:sSup>
                      <m:sSupPr>
                        <m:ctrlPr>
                          <a:rPr lang="en-GB" sz="2200" i="1">
                            <a:effectLst/>
                            <a:latin typeface="Cambria Math" panose="02040503050406030204" pitchFamily="18" charset="0"/>
                          </a:rPr>
                        </m:ctrlPr>
                      </m:sSupPr>
                      <m:e>
                        <m:r>
                          <a:rPr lang="en-US" sz="2200" i="1">
                            <a:effectLst/>
                            <a:latin typeface="Cambria Math" panose="02040503050406030204" pitchFamily="18" charset="0"/>
                            <a:ea typeface="DengXian" panose="02010600030101010101" pitchFamily="2" charset="-122"/>
                            <a:cs typeface="Times New Roman" panose="02020603050405020304" pitchFamily="18" charset="0"/>
                          </a:rPr>
                          <m:t>10</m:t>
                        </m:r>
                      </m:e>
                      <m:sup>
                        <m:r>
                          <a:rPr lang="en-US" sz="2200" i="1">
                            <a:effectLst/>
                            <a:latin typeface="Cambria Math" panose="02040503050406030204" pitchFamily="18" charset="0"/>
                            <a:ea typeface="DengXian" panose="02010600030101010101" pitchFamily="2" charset="-122"/>
                            <a:cs typeface="Times New Roman" panose="02020603050405020304" pitchFamily="18" charset="0"/>
                          </a:rPr>
                          <m:t>−6</m:t>
                        </m:r>
                      </m:sup>
                    </m:sSup>
                    <m:r>
                      <a:rPr lang="en-US" sz="22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2200" i="1">
                            <a:effectLst/>
                            <a:latin typeface="Cambria Math" panose="02040503050406030204" pitchFamily="18" charset="0"/>
                          </a:rPr>
                        </m:ctrlPr>
                      </m:sSupPr>
                      <m:e>
                        <m:r>
                          <a:rPr lang="en-US" sz="2200" i="1">
                            <a:effectLst/>
                            <a:latin typeface="Cambria Math" panose="02040503050406030204" pitchFamily="18" charset="0"/>
                            <a:ea typeface="DengXian" panose="02010600030101010101" pitchFamily="2" charset="-122"/>
                            <a:cs typeface="Times New Roman" panose="02020603050405020304" pitchFamily="18" charset="0"/>
                          </a:rPr>
                          <m:t>𝐴</m:t>
                        </m:r>
                      </m:e>
                      <m:sup>
                        <m:r>
                          <a:rPr lang="en-US" sz="22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US" sz="2200" i="1">
                        <a:effectLst/>
                        <a:latin typeface="Cambria Math" panose="02040503050406030204" pitchFamily="18" charset="0"/>
                        <a:ea typeface="DengXian" panose="02010600030101010101" pitchFamily="2" charset="-122"/>
                        <a:cs typeface="Times New Roman" panose="02020603050405020304" pitchFamily="18" charset="0"/>
                      </a:rPr>
                      <m:t>−0.000294⋅</m:t>
                    </m:r>
                    <m:sSup>
                      <m:sSupPr>
                        <m:ctrlPr>
                          <a:rPr lang="en-GB" sz="2200" i="1">
                            <a:effectLst/>
                            <a:latin typeface="Cambria Math" panose="02040503050406030204" pitchFamily="18" charset="0"/>
                          </a:rPr>
                        </m:ctrlPr>
                      </m:sSupPr>
                      <m:e>
                        <m:r>
                          <a:rPr lang="en-US" sz="2200" i="1">
                            <a:effectLst/>
                            <a:latin typeface="Cambria Math" panose="02040503050406030204" pitchFamily="18" charset="0"/>
                            <a:ea typeface="DengXian" panose="02010600030101010101" pitchFamily="2" charset="-122"/>
                            <a:cs typeface="Times New Roman" panose="02020603050405020304" pitchFamily="18" charset="0"/>
                          </a:rPr>
                          <m:t>𝐵</m:t>
                        </m:r>
                      </m:e>
                      <m:sup>
                        <m:r>
                          <a:rPr lang="en-US" sz="22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US" sz="2200" i="1">
                        <a:effectLst/>
                        <a:latin typeface="Cambria Math" panose="02040503050406030204" pitchFamily="18" charset="0"/>
                        <a:ea typeface="DengXian" panose="02010600030101010101" pitchFamily="2" charset="-122"/>
                        <a:cs typeface="Times New Roman" panose="02020603050405020304" pitchFamily="18" charset="0"/>
                      </a:rPr>
                      <m:t>+0.000513⋅</m:t>
                    </m:r>
                    <m:sSup>
                      <m:sSupPr>
                        <m:ctrlPr>
                          <a:rPr lang="en-GB" sz="2200" i="1">
                            <a:effectLst/>
                            <a:latin typeface="Cambria Math" panose="02040503050406030204" pitchFamily="18" charset="0"/>
                          </a:rPr>
                        </m:ctrlPr>
                      </m:sSupPr>
                      <m:e>
                        <m:r>
                          <a:rPr lang="en-US" sz="2200" i="1">
                            <a:effectLst/>
                            <a:latin typeface="Cambria Math" panose="02040503050406030204" pitchFamily="18" charset="0"/>
                            <a:ea typeface="DengXian" panose="02010600030101010101" pitchFamily="2" charset="-122"/>
                            <a:cs typeface="Times New Roman" panose="02020603050405020304" pitchFamily="18" charset="0"/>
                          </a:rPr>
                          <m:t>𝐶</m:t>
                        </m:r>
                      </m:e>
                      <m:sup>
                        <m:r>
                          <a:rPr lang="en-US" sz="22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US" sz="2200" i="1">
                        <a:effectLst/>
                        <a:latin typeface="Cambria Math" panose="02040503050406030204" pitchFamily="18" charset="0"/>
                        <a:ea typeface="DengXian" panose="02010600030101010101" pitchFamily="2" charset="-122"/>
                        <a:cs typeface="Times New Roman" panose="02020603050405020304" pitchFamily="18" charset="0"/>
                      </a:rPr>
                      <m:t>−0.000046⋅</m:t>
                    </m:r>
                    <m:sSup>
                      <m:sSupPr>
                        <m:ctrlPr>
                          <a:rPr lang="en-GB" sz="2200" i="1">
                            <a:effectLst/>
                            <a:latin typeface="Cambria Math" panose="02040503050406030204" pitchFamily="18" charset="0"/>
                          </a:rPr>
                        </m:ctrlPr>
                      </m:sSupPr>
                      <m:e>
                        <m:r>
                          <a:rPr lang="en-US" sz="2200" i="1">
                            <a:effectLst/>
                            <a:latin typeface="Cambria Math" panose="02040503050406030204" pitchFamily="18" charset="0"/>
                            <a:ea typeface="DengXian" panose="02010600030101010101" pitchFamily="2" charset="-122"/>
                            <a:cs typeface="Times New Roman" panose="02020603050405020304" pitchFamily="18" charset="0"/>
                          </a:rPr>
                          <m:t>𝐷</m:t>
                        </m:r>
                      </m:e>
                      <m:sup>
                        <m:r>
                          <a:rPr lang="en-US" sz="22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2200" dirty="0"/>
                  <a:t>     Eqn. 1</a:t>
                </a:r>
              </a:p>
            </p:txBody>
          </p:sp>
        </mc:Choice>
        <mc:Fallback>
          <p:sp>
            <p:nvSpPr>
              <p:cNvPr id="3" name="Content Placeholder 2">
                <a:extLst>
                  <a:ext uri="{FF2B5EF4-FFF2-40B4-BE49-F238E27FC236}">
                    <a16:creationId xmlns:a16="http://schemas.microsoft.com/office/drawing/2014/main" id="{C171EB04-7A81-0E5F-58CC-842DBCBF151A}"/>
                  </a:ext>
                </a:extLst>
              </p:cNvPr>
              <p:cNvSpPr>
                <a:spLocks noGrp="1" noRot="1" noChangeAspect="1" noMove="1" noResize="1" noEditPoints="1" noAdjustHandles="1" noChangeArrowheads="1" noChangeShapeType="1" noTextEdit="1"/>
              </p:cNvSpPr>
              <p:nvPr>
                <p:ph idx="1"/>
              </p:nvPr>
            </p:nvSpPr>
            <p:spPr>
              <a:xfrm>
                <a:off x="107504" y="548680"/>
                <a:ext cx="8826184" cy="1549152"/>
              </a:xfrm>
              <a:blipFill>
                <a:blip r:embed="rId2"/>
                <a:stretch>
                  <a:fillRect b="-20866"/>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20F225A7-E929-5E98-063E-DAD3B1843A46}"/>
              </a:ext>
            </a:extLst>
          </p:cNvPr>
          <p:cNvSpPr>
            <a:spLocks noGrp="1"/>
          </p:cNvSpPr>
          <p:nvPr>
            <p:ph type="sldNum" sz="quarter" idx="12"/>
          </p:nvPr>
        </p:nvSpPr>
        <p:spPr/>
        <p:txBody>
          <a:bodyPr/>
          <a:lstStyle/>
          <a:p>
            <a:fld id="{41C3B027-99D8-4500-AA7E-8D849F3A1F09}" type="slidenum">
              <a:rPr lang="en-US" smtClean="0"/>
              <a:pPr/>
              <a:t>18</a:t>
            </a:fld>
            <a:endParaRPr lang="en-US" dirty="0"/>
          </a:p>
        </p:txBody>
      </p:sp>
      <p:sp>
        <p:nvSpPr>
          <p:cNvPr id="5" name="Title 1">
            <a:extLst>
              <a:ext uri="{FF2B5EF4-FFF2-40B4-BE49-F238E27FC236}">
                <a16:creationId xmlns:a16="http://schemas.microsoft.com/office/drawing/2014/main" id="{51FF4F00-43DC-26E6-B003-17A32C52C8E2}"/>
              </a:ext>
            </a:extLst>
          </p:cNvPr>
          <p:cNvSpPr>
            <a:spLocks noGrp="1"/>
          </p:cNvSpPr>
          <p:nvPr>
            <p:ph type="title"/>
          </p:nvPr>
        </p:nvSpPr>
        <p:spPr>
          <a:xfrm>
            <a:off x="179512" y="-99392"/>
            <a:ext cx="8719406" cy="688504"/>
          </a:xfrm>
        </p:spPr>
        <p:txBody>
          <a:bodyPr>
            <a:normAutofit/>
          </a:bodyPr>
          <a:lstStyle/>
          <a:p>
            <a:r>
              <a:rPr lang="en-GB" sz="3000" b="1" dirty="0">
                <a:solidFill>
                  <a:schemeClr val="tx1"/>
                </a:solidFill>
                <a:effectLst/>
              </a:rPr>
              <a:t>The Model</a:t>
            </a:r>
            <a:endParaRPr lang="en-US" sz="3000" b="1" dirty="0">
              <a:solidFill>
                <a:schemeClr val="tx1"/>
              </a:solidFill>
              <a:effectLst/>
            </a:endParaRPr>
          </a:p>
        </p:txBody>
      </p:sp>
      <p:sp>
        <p:nvSpPr>
          <p:cNvPr id="7" name="TextBox 6">
            <a:extLst>
              <a:ext uri="{FF2B5EF4-FFF2-40B4-BE49-F238E27FC236}">
                <a16:creationId xmlns:a16="http://schemas.microsoft.com/office/drawing/2014/main" id="{5258CCE3-4517-39B7-E2F8-96212701D8BD}"/>
              </a:ext>
            </a:extLst>
          </p:cNvPr>
          <p:cNvSpPr txBox="1"/>
          <p:nvPr/>
        </p:nvSpPr>
        <p:spPr>
          <a:xfrm>
            <a:off x="179512" y="2550963"/>
            <a:ext cx="8754176" cy="2462213"/>
          </a:xfrm>
          <a:prstGeom prst="rect">
            <a:avLst/>
          </a:prstGeom>
          <a:noFill/>
        </p:spPr>
        <p:txBody>
          <a:bodyPr wrap="square">
            <a:spAutoFit/>
          </a:bodyPr>
          <a:lstStyle/>
          <a:p>
            <a:pPr algn="just"/>
            <a:r>
              <a:rPr lang="en-US" sz="2200" dirty="0">
                <a:effectLst/>
                <a:ea typeface="DengXian" panose="02010600030101010101" pitchFamily="2" charset="-122"/>
                <a:cs typeface="Times New Roman" panose="02020603050405020304" pitchFamily="18" charset="0"/>
              </a:rPr>
              <a:t>The equation for Weld Metal Viscosity (Equation </a:t>
            </a:r>
            <a:r>
              <a:rPr lang="en-US" sz="2200" dirty="0">
                <a:ea typeface="DengXian" panose="02010600030101010101" pitchFamily="2" charset="-122"/>
                <a:cs typeface="Times New Roman" panose="02020603050405020304" pitchFamily="18" charset="0"/>
              </a:rPr>
              <a:t>1</a:t>
            </a:r>
            <a:r>
              <a:rPr lang="en-US" sz="2200" dirty="0">
                <a:effectLst/>
                <a:ea typeface="DengXian" panose="02010600030101010101" pitchFamily="2" charset="-122"/>
                <a:cs typeface="Times New Roman" panose="02020603050405020304" pitchFamily="18" charset="0"/>
              </a:rPr>
              <a:t>) represents a model that predicts the viscosity of the weld metal based on the factors Current (A), Voltage (B), Gas Flow Rate (C), and Ambient Temperature (D), along with their interactions and squared terms. </a:t>
            </a:r>
          </a:p>
          <a:p>
            <a:pPr algn="just"/>
            <a:endParaRPr lang="en-US" sz="2200" dirty="0">
              <a:ea typeface="DengXian" panose="02010600030101010101" pitchFamily="2" charset="-122"/>
              <a:cs typeface="Times New Roman" panose="02020603050405020304" pitchFamily="18" charset="0"/>
            </a:endParaRPr>
          </a:p>
          <a:p>
            <a:pPr algn="just"/>
            <a:r>
              <a:rPr lang="en-US" sz="2200" dirty="0">
                <a:effectLst/>
                <a:ea typeface="DengXian" panose="02010600030101010101" pitchFamily="2" charset="-122"/>
                <a:cs typeface="Times New Roman" panose="02020603050405020304" pitchFamily="18" charset="0"/>
              </a:rPr>
              <a:t>The coefficients in the equation quantify how each factor and its interactions influence the weld metal viscosity.</a:t>
            </a:r>
            <a:endParaRPr lang="en-GB" sz="2200" dirty="0"/>
          </a:p>
        </p:txBody>
      </p:sp>
    </p:spTree>
    <p:extLst>
      <p:ext uri="{BB962C8B-B14F-4D97-AF65-F5344CB8AC3E}">
        <p14:creationId xmlns:p14="http://schemas.microsoft.com/office/powerpoint/2010/main" val="1136740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63F325-DBD5-6131-AA3C-E4D117A3FA8A}"/>
              </a:ext>
            </a:extLst>
          </p:cNvPr>
          <p:cNvSpPr>
            <a:spLocks noGrp="1"/>
          </p:cNvSpPr>
          <p:nvPr>
            <p:ph type="sldNum" sz="quarter" idx="12"/>
          </p:nvPr>
        </p:nvSpPr>
        <p:spPr/>
        <p:txBody>
          <a:bodyPr/>
          <a:lstStyle/>
          <a:p>
            <a:fld id="{41C3B027-99D8-4500-AA7E-8D849F3A1F09}" type="slidenum">
              <a:rPr lang="en-US" smtClean="0"/>
              <a:pPr/>
              <a:t>19</a:t>
            </a:fld>
            <a:endParaRPr lang="en-US" dirty="0"/>
          </a:p>
        </p:txBody>
      </p:sp>
      <p:graphicFrame>
        <p:nvGraphicFramePr>
          <p:cNvPr id="6" name="Table 5">
            <a:extLst>
              <a:ext uri="{FF2B5EF4-FFF2-40B4-BE49-F238E27FC236}">
                <a16:creationId xmlns:a16="http://schemas.microsoft.com/office/drawing/2014/main" id="{FA87EFFB-CE12-3CC7-64C2-2FFB5A963A38}"/>
              </a:ext>
            </a:extLst>
          </p:cNvPr>
          <p:cNvGraphicFramePr>
            <a:graphicFrameLocks noGrp="1"/>
          </p:cNvGraphicFramePr>
          <p:nvPr>
            <p:extLst>
              <p:ext uri="{D42A27DB-BD31-4B8C-83A1-F6EECF244321}">
                <p14:modId xmlns:p14="http://schemas.microsoft.com/office/powerpoint/2010/main" val="288497219"/>
              </p:ext>
            </p:extLst>
          </p:nvPr>
        </p:nvGraphicFramePr>
        <p:xfrm>
          <a:off x="683568" y="309960"/>
          <a:ext cx="7632848" cy="6199797"/>
        </p:xfrm>
        <a:graphic>
          <a:graphicData uri="http://schemas.openxmlformats.org/drawingml/2006/table">
            <a:tbl>
              <a:tblPr firstRow="1" firstCol="1" bandRow="1">
                <a:tableStyleId>{5C22544A-7EE6-4342-B048-85BDC9FD1C3A}</a:tableStyleId>
              </a:tblPr>
              <a:tblGrid>
                <a:gridCol w="360040">
                  <a:extLst>
                    <a:ext uri="{9D8B030D-6E8A-4147-A177-3AD203B41FA5}">
                      <a16:colId xmlns:a16="http://schemas.microsoft.com/office/drawing/2014/main" val="530858353"/>
                    </a:ext>
                  </a:extLst>
                </a:gridCol>
                <a:gridCol w="1185790">
                  <a:extLst>
                    <a:ext uri="{9D8B030D-6E8A-4147-A177-3AD203B41FA5}">
                      <a16:colId xmlns:a16="http://schemas.microsoft.com/office/drawing/2014/main" val="35610981"/>
                    </a:ext>
                  </a:extLst>
                </a:gridCol>
                <a:gridCol w="1262482">
                  <a:extLst>
                    <a:ext uri="{9D8B030D-6E8A-4147-A177-3AD203B41FA5}">
                      <a16:colId xmlns:a16="http://schemas.microsoft.com/office/drawing/2014/main" val="1451410350"/>
                    </a:ext>
                  </a:extLst>
                </a:gridCol>
                <a:gridCol w="1224136">
                  <a:extLst>
                    <a:ext uri="{9D8B030D-6E8A-4147-A177-3AD203B41FA5}">
                      <a16:colId xmlns:a16="http://schemas.microsoft.com/office/drawing/2014/main" val="2724325489"/>
                    </a:ext>
                  </a:extLst>
                </a:gridCol>
                <a:gridCol w="1584176">
                  <a:extLst>
                    <a:ext uri="{9D8B030D-6E8A-4147-A177-3AD203B41FA5}">
                      <a16:colId xmlns:a16="http://schemas.microsoft.com/office/drawing/2014/main" val="453523533"/>
                    </a:ext>
                  </a:extLst>
                </a:gridCol>
                <a:gridCol w="1080120">
                  <a:extLst>
                    <a:ext uri="{9D8B030D-6E8A-4147-A177-3AD203B41FA5}">
                      <a16:colId xmlns:a16="http://schemas.microsoft.com/office/drawing/2014/main" val="1698689489"/>
                    </a:ext>
                  </a:extLst>
                </a:gridCol>
                <a:gridCol w="936104">
                  <a:extLst>
                    <a:ext uri="{9D8B030D-6E8A-4147-A177-3AD203B41FA5}">
                      <a16:colId xmlns:a16="http://schemas.microsoft.com/office/drawing/2014/main" val="375017831"/>
                    </a:ext>
                  </a:extLst>
                </a:gridCol>
              </a:tblGrid>
              <a:tr h="346592">
                <a:tc>
                  <a:txBody>
                    <a:bodyPr/>
                    <a:lstStyle/>
                    <a:p>
                      <a:pPr algn="just">
                        <a:lnSpc>
                          <a:spcPct val="107000"/>
                        </a:lnSpc>
                        <a:spcAft>
                          <a:spcPts val="800"/>
                        </a:spcAft>
                      </a:pPr>
                      <a:r>
                        <a:rPr lang="en-US" sz="1500" kern="0">
                          <a:effectLst/>
                        </a:rPr>
                        <a:t>SN</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gridSpan="4">
                  <a:txBody>
                    <a:bodyPr/>
                    <a:lstStyle/>
                    <a:p>
                      <a:pPr algn="just">
                        <a:lnSpc>
                          <a:spcPct val="107000"/>
                        </a:lnSpc>
                        <a:spcAft>
                          <a:spcPts val="800"/>
                        </a:spcAft>
                      </a:pPr>
                      <a:r>
                        <a:rPr lang="en-US" sz="1500" kern="0">
                          <a:effectLst/>
                        </a:rPr>
                        <a:t>Input Parameters</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hMerge="1">
                  <a:txBody>
                    <a:bodyPr/>
                    <a:lstStyle/>
                    <a:p>
                      <a:endParaRPr lang="en-GB"/>
                    </a:p>
                  </a:txBody>
                  <a:tcPr/>
                </a:tc>
                <a:tc hMerge="1">
                  <a:txBody>
                    <a:bodyPr/>
                    <a:lstStyle/>
                    <a:p>
                      <a:endParaRPr lang="en-GB"/>
                    </a:p>
                  </a:txBody>
                  <a:tcPr/>
                </a:tc>
                <a:tc hMerge="1">
                  <a:txBody>
                    <a:bodyPr/>
                    <a:lstStyle/>
                    <a:p>
                      <a:endParaRPr lang="en-GB"/>
                    </a:p>
                  </a:txBody>
                  <a:tcPr/>
                </a:tc>
                <a:tc gridSpan="2">
                  <a:txBody>
                    <a:bodyPr/>
                    <a:lstStyle/>
                    <a:p>
                      <a:pPr algn="just">
                        <a:lnSpc>
                          <a:spcPct val="107000"/>
                        </a:lnSpc>
                        <a:spcAft>
                          <a:spcPts val="800"/>
                        </a:spcAft>
                      </a:pPr>
                      <a:r>
                        <a:rPr lang="en-US" sz="1500" kern="0" dirty="0">
                          <a:effectLst/>
                        </a:rPr>
                        <a:t>Weld Metal Viscosity</a:t>
                      </a:r>
                      <a:endParaRPr lang="en-GB" sz="1500" kern="100" dirty="0">
                        <a:effectLst/>
                      </a:endParaRPr>
                    </a:p>
                    <a:p>
                      <a:pPr algn="just">
                        <a:lnSpc>
                          <a:spcPct val="107000"/>
                        </a:lnSpc>
                        <a:spcAft>
                          <a:spcPts val="800"/>
                        </a:spcAft>
                      </a:pPr>
                      <a:r>
                        <a:rPr lang="en-US" sz="1500" kern="0" dirty="0">
                          <a:effectLst/>
                        </a:rPr>
                        <a:t> </a:t>
                      </a:r>
                      <a:endParaRPr lang="en-GB" sz="15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hMerge="1">
                  <a:txBody>
                    <a:bodyPr/>
                    <a:lstStyle/>
                    <a:p>
                      <a:endParaRPr lang="en-GB"/>
                    </a:p>
                  </a:txBody>
                  <a:tcPr/>
                </a:tc>
                <a:extLst>
                  <a:ext uri="{0D108BD9-81ED-4DB2-BD59-A6C34878D82A}">
                    <a16:rowId xmlns:a16="http://schemas.microsoft.com/office/drawing/2014/main" val="2294488863"/>
                  </a:ext>
                </a:extLst>
              </a:tr>
              <a:tr h="967651">
                <a:tc>
                  <a:txBody>
                    <a:bodyPr/>
                    <a:lstStyle/>
                    <a:p>
                      <a:pPr algn="just">
                        <a:lnSpc>
                          <a:spcPct val="107000"/>
                        </a:lnSpc>
                        <a:spcAft>
                          <a:spcPts val="800"/>
                        </a:spcAft>
                      </a:pPr>
                      <a:r>
                        <a:rPr lang="en-US" sz="1500" kern="0">
                          <a:effectLst/>
                        </a:rPr>
                        <a:t> </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Current</a:t>
                      </a:r>
                      <a:endParaRPr lang="en-GB" sz="1500" kern="100">
                        <a:effectLst/>
                      </a:endParaRPr>
                    </a:p>
                    <a:p>
                      <a:pPr algn="just">
                        <a:lnSpc>
                          <a:spcPct val="107000"/>
                        </a:lnSpc>
                        <a:spcAft>
                          <a:spcPts val="800"/>
                        </a:spcAft>
                      </a:pPr>
                      <a:r>
                        <a:rPr lang="en-US" sz="1500" kern="0">
                          <a:effectLst/>
                        </a:rPr>
                        <a:t>Ampere</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dirty="0">
                          <a:effectLst/>
                        </a:rPr>
                        <a:t>Voltage</a:t>
                      </a:r>
                      <a:r>
                        <a:rPr lang="en-GB" sz="1500" kern="100" dirty="0">
                          <a:effectLst/>
                        </a:rPr>
                        <a:t> </a:t>
                      </a:r>
                    </a:p>
                    <a:p>
                      <a:pPr algn="just">
                        <a:lnSpc>
                          <a:spcPct val="107000"/>
                        </a:lnSpc>
                        <a:spcAft>
                          <a:spcPts val="800"/>
                        </a:spcAft>
                      </a:pPr>
                      <a:r>
                        <a:rPr lang="en-US" sz="1500" kern="0" dirty="0">
                          <a:effectLst/>
                        </a:rPr>
                        <a:t>Volts</a:t>
                      </a:r>
                      <a:endParaRPr lang="en-GB" sz="15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dirty="0">
                          <a:effectLst/>
                        </a:rPr>
                        <a:t>Gas Flow</a:t>
                      </a:r>
                      <a:r>
                        <a:rPr lang="en-GB" sz="1500" kern="100" dirty="0">
                          <a:effectLst/>
                        </a:rPr>
                        <a:t> </a:t>
                      </a:r>
                      <a:r>
                        <a:rPr lang="en-US" sz="1500" kern="0" dirty="0">
                          <a:effectLst/>
                        </a:rPr>
                        <a:t>Rate</a:t>
                      </a:r>
                      <a:r>
                        <a:rPr lang="en-GB" sz="1500" kern="100" dirty="0">
                          <a:effectLst/>
                        </a:rPr>
                        <a:t> </a:t>
                      </a:r>
                    </a:p>
                    <a:p>
                      <a:pPr algn="just">
                        <a:lnSpc>
                          <a:spcPct val="107000"/>
                        </a:lnSpc>
                        <a:spcAft>
                          <a:spcPts val="800"/>
                        </a:spcAft>
                      </a:pPr>
                      <a:r>
                        <a:rPr lang="en-US" sz="1500" kern="0" dirty="0">
                          <a:effectLst/>
                        </a:rPr>
                        <a:t>L/min</a:t>
                      </a:r>
                      <a:endParaRPr lang="en-GB" sz="15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dirty="0">
                          <a:effectLst/>
                        </a:rPr>
                        <a:t>Ambient</a:t>
                      </a:r>
                      <a:r>
                        <a:rPr lang="en-GB" sz="1500" kern="100" dirty="0">
                          <a:effectLst/>
                        </a:rPr>
                        <a:t> </a:t>
                      </a:r>
                      <a:r>
                        <a:rPr lang="en-US" sz="1500" kern="0" dirty="0">
                          <a:effectLst/>
                        </a:rPr>
                        <a:t>Temp</a:t>
                      </a:r>
                      <a:r>
                        <a:rPr lang="en-GB" sz="1500" kern="100" baseline="0" dirty="0">
                          <a:effectLst/>
                        </a:rPr>
                        <a:t> </a:t>
                      </a:r>
                      <a:r>
                        <a:rPr lang="en-US" sz="1500" kern="0" baseline="30000" dirty="0" err="1">
                          <a:effectLst/>
                        </a:rPr>
                        <a:t>o</a:t>
                      </a:r>
                      <a:r>
                        <a:rPr lang="en-US" sz="1500" kern="0" dirty="0" err="1">
                          <a:effectLst/>
                        </a:rPr>
                        <a:t>C</a:t>
                      </a:r>
                      <a:endParaRPr lang="en-GB" sz="1500" kern="100" dirty="0">
                        <a:effectLst/>
                      </a:endParaRPr>
                    </a:p>
                  </a:txBody>
                  <a:tcPr marL="33646" marR="33646" marT="0" marB="0"/>
                </a:tc>
                <a:tc>
                  <a:txBody>
                    <a:bodyPr/>
                    <a:lstStyle/>
                    <a:p>
                      <a:pPr algn="just">
                        <a:lnSpc>
                          <a:spcPct val="107000"/>
                        </a:lnSpc>
                        <a:spcAft>
                          <a:spcPts val="800"/>
                        </a:spcAft>
                      </a:pPr>
                      <a:r>
                        <a:rPr lang="en-US" sz="1500" kern="0">
                          <a:effectLst/>
                        </a:rPr>
                        <a:t>EXP</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RSM</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extLst>
                  <a:ext uri="{0D108BD9-81ED-4DB2-BD59-A6C34878D82A}">
                    <a16:rowId xmlns:a16="http://schemas.microsoft.com/office/drawing/2014/main" val="4062918250"/>
                  </a:ext>
                </a:extLst>
              </a:tr>
              <a:tr h="221885">
                <a:tc>
                  <a:txBody>
                    <a:bodyPr/>
                    <a:lstStyle/>
                    <a:p>
                      <a:pPr algn="just">
                        <a:lnSpc>
                          <a:spcPct val="107000"/>
                        </a:lnSpc>
                        <a:spcAft>
                          <a:spcPts val="800"/>
                        </a:spcAft>
                      </a:pPr>
                      <a:r>
                        <a:rPr lang="en-US" sz="1500" kern="0">
                          <a:effectLst/>
                        </a:rPr>
                        <a:t>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190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4192720193"/>
                  </a:ext>
                </a:extLst>
              </a:tr>
              <a:tr h="221885">
                <a:tc>
                  <a:txBody>
                    <a:bodyPr/>
                    <a:lstStyle/>
                    <a:p>
                      <a:pPr algn="just">
                        <a:lnSpc>
                          <a:spcPct val="107000"/>
                        </a:lnSpc>
                        <a:spcAft>
                          <a:spcPts val="800"/>
                        </a:spcAft>
                      </a:pPr>
                      <a:r>
                        <a:rPr lang="en-US" sz="1500" kern="0">
                          <a:effectLst/>
                        </a:rPr>
                        <a:t>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200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374461999"/>
                  </a:ext>
                </a:extLst>
              </a:tr>
              <a:tr h="221885">
                <a:tc>
                  <a:txBody>
                    <a:bodyPr/>
                    <a:lstStyle/>
                    <a:p>
                      <a:pPr algn="just">
                        <a:lnSpc>
                          <a:spcPct val="107000"/>
                        </a:lnSpc>
                        <a:spcAft>
                          <a:spcPts val="800"/>
                        </a:spcAft>
                      </a:pPr>
                      <a:r>
                        <a:rPr lang="en-US" sz="1500" kern="0">
                          <a:effectLst/>
                        </a:rPr>
                        <a:t>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701353824"/>
                  </a:ext>
                </a:extLst>
              </a:tr>
              <a:tr h="221885">
                <a:tc>
                  <a:txBody>
                    <a:bodyPr/>
                    <a:lstStyle/>
                    <a:p>
                      <a:pPr algn="just">
                        <a:lnSpc>
                          <a:spcPct val="107000"/>
                        </a:lnSpc>
                        <a:spcAft>
                          <a:spcPts val="800"/>
                        </a:spcAft>
                      </a:pPr>
                      <a:r>
                        <a:rPr lang="en-US" sz="1500" kern="0">
                          <a:effectLst/>
                        </a:rPr>
                        <a:t>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436345196"/>
                  </a:ext>
                </a:extLst>
              </a:tr>
              <a:tr h="221885">
                <a:tc>
                  <a:txBody>
                    <a:bodyPr/>
                    <a:lstStyle/>
                    <a:p>
                      <a:pPr algn="just">
                        <a:lnSpc>
                          <a:spcPct val="107000"/>
                        </a:lnSpc>
                        <a:spcAft>
                          <a:spcPts val="800"/>
                        </a:spcAft>
                      </a:pPr>
                      <a:r>
                        <a:rPr lang="en-US" sz="1500" kern="0">
                          <a:effectLst/>
                        </a:rPr>
                        <a:t>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190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416453237"/>
                  </a:ext>
                </a:extLst>
              </a:tr>
              <a:tr h="221885">
                <a:tc>
                  <a:txBody>
                    <a:bodyPr/>
                    <a:lstStyle/>
                    <a:p>
                      <a:pPr algn="just">
                        <a:lnSpc>
                          <a:spcPct val="107000"/>
                        </a:lnSpc>
                        <a:spcAft>
                          <a:spcPts val="800"/>
                        </a:spcAft>
                      </a:pPr>
                      <a:r>
                        <a:rPr lang="en-US" sz="1500" kern="0">
                          <a:effectLst/>
                        </a:rPr>
                        <a:t>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200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3939906562"/>
                  </a:ext>
                </a:extLst>
              </a:tr>
              <a:tr h="221885">
                <a:tc>
                  <a:txBody>
                    <a:bodyPr/>
                    <a:lstStyle/>
                    <a:p>
                      <a:pPr algn="just">
                        <a:lnSpc>
                          <a:spcPct val="107000"/>
                        </a:lnSpc>
                        <a:spcAft>
                          <a:spcPts val="800"/>
                        </a:spcAft>
                      </a:pPr>
                      <a:r>
                        <a:rPr lang="en-US" sz="1500" kern="0">
                          <a:effectLst/>
                        </a:rPr>
                        <a:t>7</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37</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274468226"/>
                  </a:ext>
                </a:extLst>
              </a:tr>
              <a:tr h="221885">
                <a:tc>
                  <a:txBody>
                    <a:bodyPr/>
                    <a:lstStyle/>
                    <a:p>
                      <a:pPr algn="just">
                        <a:lnSpc>
                          <a:spcPct val="107000"/>
                        </a:lnSpc>
                        <a:spcAft>
                          <a:spcPts val="800"/>
                        </a:spcAft>
                      </a:pPr>
                      <a:r>
                        <a:rPr lang="en-US" sz="1500" kern="0">
                          <a:effectLst/>
                        </a:rPr>
                        <a:t>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3752762211"/>
                  </a:ext>
                </a:extLst>
              </a:tr>
              <a:tr h="221885">
                <a:tc>
                  <a:txBody>
                    <a:bodyPr/>
                    <a:lstStyle/>
                    <a:p>
                      <a:pPr algn="just">
                        <a:lnSpc>
                          <a:spcPct val="107000"/>
                        </a:lnSpc>
                        <a:spcAft>
                          <a:spcPts val="800"/>
                        </a:spcAft>
                      </a:pPr>
                      <a:r>
                        <a:rPr lang="en-US" sz="1500" kern="0">
                          <a:effectLst/>
                        </a:rPr>
                        <a:t>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190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0.0067</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0.0067</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175262380"/>
                  </a:ext>
                </a:extLst>
              </a:tr>
              <a:tr h="221885">
                <a:tc>
                  <a:txBody>
                    <a:bodyPr/>
                    <a:lstStyle/>
                    <a:p>
                      <a:pPr algn="just">
                        <a:lnSpc>
                          <a:spcPct val="107000"/>
                        </a:lnSpc>
                        <a:spcAft>
                          <a:spcPts val="800"/>
                        </a:spcAft>
                      </a:pPr>
                      <a:r>
                        <a:rPr lang="en-US" sz="1500" kern="0">
                          <a:effectLst/>
                        </a:rPr>
                        <a:t>10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200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261743882"/>
                  </a:ext>
                </a:extLst>
              </a:tr>
              <a:tr h="221885">
                <a:tc>
                  <a:txBody>
                    <a:bodyPr/>
                    <a:lstStyle/>
                    <a:p>
                      <a:pPr algn="just">
                        <a:lnSpc>
                          <a:spcPct val="107000"/>
                        </a:lnSpc>
                        <a:spcAft>
                          <a:spcPts val="800"/>
                        </a:spcAft>
                      </a:pPr>
                      <a:r>
                        <a:rPr lang="en-US" sz="1500" kern="0">
                          <a:effectLst/>
                        </a:rPr>
                        <a:t>11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3303643506"/>
                  </a:ext>
                </a:extLst>
              </a:tr>
              <a:tr h="221885">
                <a:tc>
                  <a:txBody>
                    <a:bodyPr/>
                    <a:lstStyle/>
                    <a:p>
                      <a:pPr algn="just">
                        <a:lnSpc>
                          <a:spcPct val="107000"/>
                        </a:lnSpc>
                        <a:spcAft>
                          <a:spcPts val="800"/>
                        </a:spcAft>
                      </a:pPr>
                      <a:r>
                        <a:rPr lang="en-US" sz="1500" kern="0">
                          <a:effectLst/>
                        </a:rPr>
                        <a:t>12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3493374491"/>
                  </a:ext>
                </a:extLst>
              </a:tr>
              <a:tr h="221885">
                <a:tc>
                  <a:txBody>
                    <a:bodyPr/>
                    <a:lstStyle/>
                    <a:p>
                      <a:pPr algn="just">
                        <a:lnSpc>
                          <a:spcPct val="107000"/>
                        </a:lnSpc>
                        <a:spcAft>
                          <a:spcPts val="800"/>
                        </a:spcAft>
                      </a:pPr>
                      <a:r>
                        <a:rPr lang="en-US" sz="1500" kern="0">
                          <a:effectLst/>
                        </a:rPr>
                        <a:t>13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190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0.0063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0.0064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3329723686"/>
                  </a:ext>
                </a:extLst>
              </a:tr>
              <a:tr h="221885">
                <a:tc>
                  <a:txBody>
                    <a:bodyPr/>
                    <a:lstStyle/>
                    <a:p>
                      <a:pPr algn="just">
                        <a:lnSpc>
                          <a:spcPct val="107000"/>
                        </a:lnSpc>
                        <a:spcAft>
                          <a:spcPts val="800"/>
                        </a:spcAft>
                      </a:pPr>
                      <a:r>
                        <a:rPr lang="en-US" sz="1500" kern="0">
                          <a:effectLst/>
                        </a:rPr>
                        <a:t>14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200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1605162709"/>
                  </a:ext>
                </a:extLst>
              </a:tr>
              <a:tr h="221885">
                <a:tc>
                  <a:txBody>
                    <a:bodyPr/>
                    <a:lstStyle/>
                    <a:p>
                      <a:pPr algn="just">
                        <a:lnSpc>
                          <a:spcPct val="107000"/>
                        </a:lnSpc>
                        <a:spcAft>
                          <a:spcPts val="800"/>
                        </a:spcAft>
                      </a:pPr>
                      <a:r>
                        <a:rPr lang="en-US" sz="1500" kern="0">
                          <a:effectLst/>
                        </a:rPr>
                        <a:t>15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37</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0.0065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0.0065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1255543481"/>
                  </a:ext>
                </a:extLst>
              </a:tr>
              <a:tr h="221885">
                <a:tc>
                  <a:txBody>
                    <a:bodyPr/>
                    <a:lstStyle/>
                    <a:p>
                      <a:pPr algn="just">
                        <a:lnSpc>
                          <a:spcPct val="107000"/>
                        </a:lnSpc>
                        <a:spcAft>
                          <a:spcPts val="800"/>
                        </a:spcAft>
                      </a:pPr>
                      <a:r>
                        <a:rPr lang="en-US" sz="1500" kern="0">
                          <a:effectLst/>
                        </a:rPr>
                        <a:t>16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823267029"/>
                  </a:ext>
                </a:extLst>
              </a:tr>
              <a:tr h="221885">
                <a:tc>
                  <a:txBody>
                    <a:bodyPr/>
                    <a:lstStyle/>
                    <a:p>
                      <a:pPr algn="just">
                        <a:lnSpc>
                          <a:spcPct val="107000"/>
                        </a:lnSpc>
                        <a:spcAft>
                          <a:spcPts val="800"/>
                        </a:spcAft>
                      </a:pPr>
                      <a:r>
                        <a:rPr lang="en-US" sz="1500" kern="0">
                          <a:effectLst/>
                        </a:rPr>
                        <a:t>17</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190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32</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0.0068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0.0068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863783825"/>
                  </a:ext>
                </a:extLst>
              </a:tr>
              <a:tr h="221885">
                <a:tc>
                  <a:txBody>
                    <a:bodyPr/>
                    <a:lstStyle/>
                    <a:p>
                      <a:pPr algn="just">
                        <a:lnSpc>
                          <a:spcPct val="107000"/>
                        </a:lnSpc>
                        <a:spcAft>
                          <a:spcPts val="800"/>
                        </a:spcAft>
                      </a:pPr>
                      <a:r>
                        <a:rPr lang="en-US" sz="1500" kern="0">
                          <a:effectLst/>
                        </a:rPr>
                        <a:t>18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200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28</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0.0074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0.0074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898756097"/>
                  </a:ext>
                </a:extLst>
              </a:tr>
              <a:tr h="221885">
                <a:tc>
                  <a:txBody>
                    <a:bodyPr/>
                    <a:lstStyle/>
                    <a:p>
                      <a:pPr algn="just">
                        <a:lnSpc>
                          <a:spcPct val="107000"/>
                        </a:lnSpc>
                        <a:spcAft>
                          <a:spcPts val="800"/>
                        </a:spcAft>
                      </a:pPr>
                      <a:r>
                        <a:rPr lang="en-US" sz="1500" kern="0">
                          <a:effectLst/>
                        </a:rPr>
                        <a:t>19</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210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23</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0.0085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a:effectLst/>
                        </a:rPr>
                        <a:t>0.0085</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2243477479"/>
                  </a:ext>
                </a:extLst>
              </a:tr>
              <a:tr h="221885">
                <a:tc>
                  <a:txBody>
                    <a:bodyPr/>
                    <a:lstStyle/>
                    <a:p>
                      <a:pPr algn="just">
                        <a:lnSpc>
                          <a:spcPct val="107000"/>
                        </a:lnSpc>
                        <a:spcAft>
                          <a:spcPts val="800"/>
                        </a:spcAft>
                      </a:pPr>
                      <a:r>
                        <a:rPr lang="en-US" sz="1500" kern="0">
                          <a:effectLst/>
                        </a:rPr>
                        <a:t>20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220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24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14</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36</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tc>
                <a:tc>
                  <a:txBody>
                    <a:bodyPr/>
                    <a:lstStyle/>
                    <a:p>
                      <a:pPr algn="just">
                        <a:lnSpc>
                          <a:spcPct val="107000"/>
                        </a:lnSpc>
                        <a:spcAft>
                          <a:spcPts val="800"/>
                        </a:spcAft>
                      </a:pPr>
                      <a:r>
                        <a:rPr lang="en-US" sz="1500" kern="0">
                          <a:effectLst/>
                        </a:rPr>
                        <a:t>0.0090</a:t>
                      </a:r>
                      <a:endParaRPr lang="en-GB" sz="1500" kern="10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tc>
                  <a:txBody>
                    <a:bodyPr/>
                    <a:lstStyle/>
                    <a:p>
                      <a:pPr algn="just">
                        <a:lnSpc>
                          <a:spcPct val="107000"/>
                        </a:lnSpc>
                        <a:spcAft>
                          <a:spcPts val="800"/>
                        </a:spcAft>
                      </a:pPr>
                      <a:r>
                        <a:rPr lang="en-US" sz="1500" kern="0" dirty="0">
                          <a:effectLst/>
                        </a:rPr>
                        <a:t>0.0090</a:t>
                      </a:r>
                      <a:endParaRPr lang="en-GB" sz="15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33646" marR="33646" marT="0" marB="0" anchor="ctr"/>
                </a:tc>
                <a:extLst>
                  <a:ext uri="{0D108BD9-81ED-4DB2-BD59-A6C34878D82A}">
                    <a16:rowId xmlns:a16="http://schemas.microsoft.com/office/drawing/2014/main" val="1539076686"/>
                  </a:ext>
                </a:extLst>
              </a:tr>
            </a:tbl>
          </a:graphicData>
        </a:graphic>
      </p:graphicFrame>
      <p:sp>
        <p:nvSpPr>
          <p:cNvPr id="7" name="TextBox 6">
            <a:extLst>
              <a:ext uri="{FF2B5EF4-FFF2-40B4-BE49-F238E27FC236}">
                <a16:creationId xmlns:a16="http://schemas.microsoft.com/office/drawing/2014/main" id="{BD060EA2-E768-C010-1E62-7B43C5A5C035}"/>
              </a:ext>
            </a:extLst>
          </p:cNvPr>
          <p:cNvSpPr txBox="1"/>
          <p:nvPr/>
        </p:nvSpPr>
        <p:spPr>
          <a:xfrm>
            <a:off x="576064" y="-27384"/>
            <a:ext cx="4572000" cy="368755"/>
          </a:xfrm>
          <a:prstGeom prst="rect">
            <a:avLst/>
          </a:prstGeom>
          <a:noFill/>
        </p:spPr>
        <p:txBody>
          <a:bodyPr wrap="square">
            <a:spAutoFit/>
          </a:bodyPr>
          <a:lstStyle/>
          <a:p>
            <a:pPr algn="just">
              <a:lnSpc>
                <a:spcPct val="107000"/>
              </a:lnSpc>
              <a:spcAft>
                <a:spcPts val="800"/>
              </a:spcAft>
            </a:pPr>
            <a:r>
              <a:rPr lang="en-US" sz="1800" kern="100" dirty="0">
                <a:effectLst/>
                <a:latin typeface="Times New Roman" panose="02020603050405020304" pitchFamily="18" charset="0"/>
                <a:ea typeface="Times New Roman" panose="02020603050405020304" pitchFamily="18" charset="0"/>
              </a:rPr>
              <a:t>TABLE 6: Optimal Solution</a:t>
            </a:r>
            <a:endParaRPr lang="en-GB" sz="1800" kern="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90542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D0BC32-3DD0-F6EA-EDDF-58B38CCFC993}"/>
              </a:ext>
            </a:extLst>
          </p:cNvPr>
          <p:cNvSpPr>
            <a:spLocks noGrp="1"/>
          </p:cNvSpPr>
          <p:nvPr>
            <p:ph type="sldNum" sz="quarter" idx="12"/>
          </p:nvPr>
        </p:nvSpPr>
        <p:spPr/>
        <p:txBody>
          <a:bodyPr/>
          <a:lstStyle/>
          <a:p>
            <a:fld id="{41C3B027-99D8-4500-AA7E-8D849F3A1F09}" type="slidenum">
              <a:rPr lang="en-US" smtClean="0"/>
              <a:pPr/>
              <a:t>20</a:t>
            </a:fld>
            <a:endParaRPr lang="en-US" dirty="0"/>
          </a:p>
        </p:txBody>
      </p:sp>
      <p:sp>
        <p:nvSpPr>
          <p:cNvPr id="7" name="Title 1">
            <a:extLst>
              <a:ext uri="{FF2B5EF4-FFF2-40B4-BE49-F238E27FC236}">
                <a16:creationId xmlns:a16="http://schemas.microsoft.com/office/drawing/2014/main" id="{6D804066-4936-E1C8-249E-BB069B69CED5}"/>
              </a:ext>
            </a:extLst>
          </p:cNvPr>
          <p:cNvSpPr>
            <a:spLocks noGrp="1"/>
          </p:cNvSpPr>
          <p:nvPr>
            <p:ph type="title"/>
          </p:nvPr>
        </p:nvSpPr>
        <p:spPr>
          <a:xfrm>
            <a:off x="179512" y="-99392"/>
            <a:ext cx="8719406" cy="688504"/>
          </a:xfrm>
        </p:spPr>
        <p:txBody>
          <a:bodyPr>
            <a:normAutofit/>
          </a:bodyPr>
          <a:lstStyle/>
          <a:p>
            <a:pPr algn="just">
              <a:lnSpc>
                <a:spcPct val="107000"/>
              </a:lnSpc>
              <a:spcAft>
                <a:spcPts val="800"/>
              </a:spcAft>
            </a:pPr>
            <a:r>
              <a:rPr lang="en-US" sz="3200" b="1" kern="100" dirty="0">
                <a:solidFill>
                  <a:schemeClr val="tx1"/>
                </a:solidFill>
                <a:effectLst/>
                <a:latin typeface="Times New Roman" panose="02020603050405020304" pitchFamily="18" charset="0"/>
                <a:ea typeface="Times New Roman" panose="02020603050405020304" pitchFamily="18" charset="0"/>
              </a:rPr>
              <a:t>Accuracy of Prediction</a:t>
            </a:r>
            <a:endParaRPr lang="en-GB" sz="3200" kern="100" dirty="0">
              <a:solidFill>
                <a:schemeClr val="tx1"/>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32E62083-1B12-A664-F89A-7D67CA5EEE74}"/>
              </a:ext>
            </a:extLst>
          </p:cNvPr>
          <p:cNvSpPr txBox="1"/>
          <p:nvPr/>
        </p:nvSpPr>
        <p:spPr>
          <a:xfrm>
            <a:off x="179512" y="476672"/>
            <a:ext cx="8754176" cy="792525"/>
          </a:xfrm>
          <a:prstGeom prst="rect">
            <a:avLst/>
          </a:prstGeom>
          <a:noFill/>
        </p:spPr>
        <p:txBody>
          <a:bodyPr wrap="square">
            <a:spAutoFit/>
          </a:bodyPr>
          <a:lstStyle/>
          <a:p>
            <a:pPr algn="just">
              <a:lnSpc>
                <a:spcPct val="107000"/>
              </a:lnSpc>
              <a:spcAft>
                <a:spcPts val="800"/>
              </a:spcAft>
            </a:pPr>
            <a:r>
              <a:rPr lang="en-US" sz="2200" kern="100" dirty="0">
                <a:effectLst/>
                <a:ea typeface="Times New Roman" panose="02020603050405020304" pitchFamily="18" charset="0"/>
              </a:rPr>
              <a:t>With the quadratic model, a reliability plot of the observed and predicted values of the weld viscosity is shown in the figures below</a:t>
            </a:r>
            <a:endParaRPr lang="en-GB" sz="2200" kern="100" dirty="0">
              <a:effectLst/>
              <a:ea typeface="Times New Roman" panose="02020603050405020304" pitchFamily="18" charset="0"/>
            </a:endParaRPr>
          </a:p>
        </p:txBody>
      </p:sp>
      <p:pic>
        <p:nvPicPr>
          <p:cNvPr id="9" name="Picture 8">
            <a:extLst>
              <a:ext uri="{FF2B5EF4-FFF2-40B4-BE49-F238E27FC236}">
                <a16:creationId xmlns:a16="http://schemas.microsoft.com/office/drawing/2014/main" id="{973CBF45-5E17-44E3-9DBE-877896F9D969}"/>
              </a:ext>
            </a:extLst>
          </p:cNvPr>
          <p:cNvPicPr>
            <a:picLocks noChangeAspect="1"/>
          </p:cNvPicPr>
          <p:nvPr/>
        </p:nvPicPr>
        <p:blipFill>
          <a:blip r:embed="rId2"/>
          <a:stretch>
            <a:fillRect/>
          </a:stretch>
        </p:blipFill>
        <p:spPr>
          <a:xfrm>
            <a:off x="683568" y="1484784"/>
            <a:ext cx="7930079" cy="3960440"/>
          </a:xfrm>
          <a:prstGeom prst="rect">
            <a:avLst/>
          </a:prstGeom>
        </p:spPr>
      </p:pic>
      <p:sp>
        <p:nvSpPr>
          <p:cNvPr id="11" name="TextBox 10">
            <a:extLst>
              <a:ext uri="{FF2B5EF4-FFF2-40B4-BE49-F238E27FC236}">
                <a16:creationId xmlns:a16="http://schemas.microsoft.com/office/drawing/2014/main" id="{C09F3F6C-3036-9F42-3B18-D0B1313BD99C}"/>
              </a:ext>
            </a:extLst>
          </p:cNvPr>
          <p:cNvSpPr txBox="1"/>
          <p:nvPr/>
        </p:nvSpPr>
        <p:spPr>
          <a:xfrm>
            <a:off x="971601" y="5404075"/>
            <a:ext cx="7642046" cy="567271"/>
          </a:xfrm>
          <a:prstGeom prst="rect">
            <a:avLst/>
          </a:prstGeom>
          <a:noFill/>
        </p:spPr>
        <p:txBody>
          <a:bodyPr wrap="square">
            <a:spAutoFit/>
          </a:bodyPr>
          <a:lstStyle/>
          <a:p>
            <a:pPr marL="457200" indent="457200" algn="just">
              <a:lnSpc>
                <a:spcPct val="20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Figure 1: Normal Plot of Residuals for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Weld Metal Viscosity</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2901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016D70-0187-E7A7-0437-C85909E6B2DC}"/>
              </a:ext>
            </a:extLst>
          </p:cNvPr>
          <p:cNvSpPr>
            <a:spLocks noGrp="1"/>
          </p:cNvSpPr>
          <p:nvPr>
            <p:ph type="sldNum" sz="quarter" idx="12"/>
          </p:nvPr>
        </p:nvSpPr>
        <p:spPr/>
        <p:txBody>
          <a:bodyPr/>
          <a:lstStyle/>
          <a:p>
            <a:fld id="{41C3B027-99D8-4500-AA7E-8D849F3A1F09}" type="slidenum">
              <a:rPr lang="en-US" smtClean="0"/>
              <a:pPr/>
              <a:t>21</a:t>
            </a:fld>
            <a:endParaRPr lang="en-US" dirty="0"/>
          </a:p>
        </p:txBody>
      </p:sp>
      <p:pic>
        <p:nvPicPr>
          <p:cNvPr id="5" name="Picture 4">
            <a:extLst>
              <a:ext uri="{FF2B5EF4-FFF2-40B4-BE49-F238E27FC236}">
                <a16:creationId xmlns:a16="http://schemas.microsoft.com/office/drawing/2014/main" id="{6BBEFE2A-D102-176B-78DE-51C7828518AE}"/>
              </a:ext>
            </a:extLst>
          </p:cNvPr>
          <p:cNvPicPr>
            <a:picLocks noChangeAspect="1"/>
          </p:cNvPicPr>
          <p:nvPr/>
        </p:nvPicPr>
        <p:blipFill>
          <a:blip r:embed="rId2"/>
          <a:stretch>
            <a:fillRect/>
          </a:stretch>
        </p:blipFill>
        <p:spPr>
          <a:xfrm>
            <a:off x="611560" y="260648"/>
            <a:ext cx="8002088" cy="3528392"/>
          </a:xfrm>
          <a:prstGeom prst="rect">
            <a:avLst/>
          </a:prstGeom>
        </p:spPr>
      </p:pic>
      <p:sp>
        <p:nvSpPr>
          <p:cNvPr id="7" name="TextBox 6">
            <a:extLst>
              <a:ext uri="{FF2B5EF4-FFF2-40B4-BE49-F238E27FC236}">
                <a16:creationId xmlns:a16="http://schemas.microsoft.com/office/drawing/2014/main" id="{D98DC943-AB9C-C8D3-3FE0-7A1F3FEB2957}"/>
              </a:ext>
            </a:extLst>
          </p:cNvPr>
          <p:cNvSpPr txBox="1"/>
          <p:nvPr/>
        </p:nvSpPr>
        <p:spPr>
          <a:xfrm>
            <a:off x="1187624" y="3799887"/>
            <a:ext cx="7128792" cy="390684"/>
          </a:xfrm>
          <a:prstGeom prst="rect">
            <a:avLst/>
          </a:prstGeom>
          <a:noFill/>
        </p:spPr>
        <p:txBody>
          <a:bodyPr wrap="square">
            <a:spAutoFit/>
          </a:bodyPr>
          <a:lstStyle/>
          <a:p>
            <a:pPr marL="457200" indent="457200"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Figure 2: Plot of Residual Vs Run for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Weld Metal Viscosity</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0F31D9E-B3A4-2247-A42F-9D8A4B9F8611}"/>
              </a:ext>
            </a:extLst>
          </p:cNvPr>
          <p:cNvSpPr txBox="1"/>
          <p:nvPr/>
        </p:nvSpPr>
        <p:spPr>
          <a:xfrm>
            <a:off x="323528" y="4627002"/>
            <a:ext cx="8640960" cy="1446550"/>
          </a:xfrm>
          <a:prstGeom prst="rect">
            <a:avLst/>
          </a:prstGeom>
          <a:noFill/>
        </p:spPr>
        <p:txBody>
          <a:bodyPr wrap="square">
            <a:spAutoFit/>
          </a:bodyPr>
          <a:lstStyle/>
          <a:p>
            <a:pPr algn="just"/>
            <a:r>
              <a:rPr lang="en-US" sz="2200" dirty="0">
                <a:effectLst/>
                <a:ea typeface="Calibri" panose="020F0502020204030204" pitchFamily="34" charset="0"/>
              </a:rPr>
              <a:t>The Residuals vs. Run Plot for Weld Metal Viscosity (</a:t>
            </a:r>
            <a:r>
              <a:rPr lang="en-US" sz="2200">
                <a:effectLst/>
                <a:ea typeface="Calibri" panose="020F0502020204030204" pitchFamily="34" charset="0"/>
              </a:rPr>
              <a:t>Figure 2) </a:t>
            </a:r>
            <a:r>
              <a:rPr lang="en-US" sz="2200" dirty="0">
                <a:effectLst/>
                <a:ea typeface="Calibri" panose="020F0502020204030204" pitchFamily="34" charset="0"/>
              </a:rPr>
              <a:t>reveals that the residuals are generally randomly distributed over the course of the experimental runs, with no discernible pattern or trend, which is a positive indication that the model is well-specified</a:t>
            </a:r>
            <a:endParaRPr lang="en-GB" sz="2200" dirty="0"/>
          </a:p>
        </p:txBody>
      </p:sp>
    </p:spTree>
    <p:extLst>
      <p:ext uri="{BB962C8B-B14F-4D97-AF65-F5344CB8AC3E}">
        <p14:creationId xmlns:p14="http://schemas.microsoft.com/office/powerpoint/2010/main" val="3002039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FAD53B-8D09-B51F-5483-E26AE946A9C6}"/>
              </a:ext>
            </a:extLst>
          </p:cNvPr>
          <p:cNvSpPr>
            <a:spLocks noGrp="1"/>
          </p:cNvSpPr>
          <p:nvPr>
            <p:ph type="sldNum" sz="quarter" idx="12"/>
          </p:nvPr>
        </p:nvSpPr>
        <p:spPr/>
        <p:txBody>
          <a:bodyPr/>
          <a:lstStyle/>
          <a:p>
            <a:fld id="{41C3B027-99D8-4500-AA7E-8D849F3A1F09}" type="slidenum">
              <a:rPr lang="en-US" smtClean="0"/>
              <a:pPr/>
              <a:t>22</a:t>
            </a:fld>
            <a:endParaRPr lang="en-US" dirty="0"/>
          </a:p>
        </p:txBody>
      </p:sp>
      <p:pic>
        <p:nvPicPr>
          <p:cNvPr id="5" name="Picture 4">
            <a:extLst>
              <a:ext uri="{FF2B5EF4-FFF2-40B4-BE49-F238E27FC236}">
                <a16:creationId xmlns:a16="http://schemas.microsoft.com/office/drawing/2014/main" id="{DF32685F-57DE-B2D4-A782-696F77DB7DD3}"/>
              </a:ext>
            </a:extLst>
          </p:cNvPr>
          <p:cNvPicPr>
            <a:picLocks noChangeAspect="1"/>
          </p:cNvPicPr>
          <p:nvPr/>
        </p:nvPicPr>
        <p:blipFill>
          <a:blip r:embed="rId2"/>
          <a:stretch>
            <a:fillRect/>
          </a:stretch>
        </p:blipFill>
        <p:spPr>
          <a:xfrm>
            <a:off x="611560" y="404665"/>
            <a:ext cx="8208911" cy="2808311"/>
          </a:xfrm>
          <a:prstGeom prst="rect">
            <a:avLst/>
          </a:prstGeom>
        </p:spPr>
      </p:pic>
      <p:sp>
        <p:nvSpPr>
          <p:cNvPr id="7" name="TextBox 6">
            <a:extLst>
              <a:ext uri="{FF2B5EF4-FFF2-40B4-BE49-F238E27FC236}">
                <a16:creationId xmlns:a16="http://schemas.microsoft.com/office/drawing/2014/main" id="{AB488CD9-005F-0128-AA94-FF744D2FBF41}"/>
              </a:ext>
            </a:extLst>
          </p:cNvPr>
          <p:cNvSpPr txBox="1"/>
          <p:nvPr/>
        </p:nvSpPr>
        <p:spPr>
          <a:xfrm>
            <a:off x="611560" y="3182332"/>
            <a:ext cx="7272808" cy="390684"/>
          </a:xfrm>
          <a:prstGeom prst="rect">
            <a:avLst/>
          </a:prstGeom>
          <a:noFill/>
        </p:spPr>
        <p:txBody>
          <a:bodyPr wrap="square">
            <a:spAutoFit/>
          </a:bodyPr>
          <a:lstStyle/>
          <a:p>
            <a:pPr marL="914400"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Figure 3: Predicted Vs Actual for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Weld Metal Viscosity</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16E19435-BF0D-47F8-A94E-E9EF20680B46}"/>
              </a:ext>
            </a:extLst>
          </p:cNvPr>
          <p:cNvSpPr txBox="1"/>
          <p:nvPr/>
        </p:nvSpPr>
        <p:spPr>
          <a:xfrm>
            <a:off x="251519" y="3856980"/>
            <a:ext cx="8568951" cy="2462213"/>
          </a:xfrm>
          <a:prstGeom prst="rect">
            <a:avLst/>
          </a:prstGeom>
          <a:noFill/>
        </p:spPr>
        <p:txBody>
          <a:bodyPr wrap="square">
            <a:spAutoFit/>
          </a:bodyPr>
          <a:lstStyle/>
          <a:p>
            <a:r>
              <a:rPr lang="en-US" sz="2200" dirty="0">
                <a:effectLst/>
                <a:ea typeface="Calibri" panose="020F0502020204030204" pitchFamily="34" charset="0"/>
              </a:rPr>
              <a:t>The Predicted vs. Actual Plot for Weld Metal Viscosity, presented in </a:t>
            </a:r>
            <a:r>
              <a:rPr lang="en-US" sz="2200" dirty="0">
                <a:ea typeface="Calibri" panose="020F0502020204030204" pitchFamily="34" charset="0"/>
              </a:rPr>
              <a:t>fig 3</a:t>
            </a:r>
            <a:r>
              <a:rPr lang="en-US" sz="2200" dirty="0">
                <a:effectLst/>
                <a:ea typeface="Calibri" panose="020F0502020204030204" pitchFamily="34" charset="0"/>
              </a:rPr>
              <a:t>, demonstrates that the regression model provides an accurate fit to the data. </a:t>
            </a:r>
          </a:p>
          <a:p>
            <a:endParaRPr lang="en-US" sz="2200" dirty="0">
              <a:ea typeface="Calibri" panose="020F0502020204030204" pitchFamily="34" charset="0"/>
            </a:endParaRPr>
          </a:p>
          <a:p>
            <a:r>
              <a:rPr lang="en-US" sz="2200" dirty="0">
                <a:effectLst/>
                <a:ea typeface="Calibri" panose="020F0502020204030204" pitchFamily="34" charset="0"/>
              </a:rPr>
              <a:t>Most of the points are closely aligned with the diagonal reference line, indicating that the predicted values of weld metal viscosity are very close to the actual observed values</a:t>
            </a:r>
            <a:endParaRPr lang="en-GB" sz="2200" dirty="0"/>
          </a:p>
        </p:txBody>
      </p:sp>
    </p:spTree>
    <p:extLst>
      <p:ext uri="{BB962C8B-B14F-4D97-AF65-F5344CB8AC3E}">
        <p14:creationId xmlns:p14="http://schemas.microsoft.com/office/powerpoint/2010/main" val="3559509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79CC95-4D40-467D-BA48-E0474A1619A6}"/>
              </a:ext>
            </a:extLst>
          </p:cNvPr>
          <p:cNvSpPr>
            <a:spLocks noGrp="1"/>
          </p:cNvSpPr>
          <p:nvPr>
            <p:ph type="sldNum" sz="quarter" idx="12"/>
          </p:nvPr>
        </p:nvSpPr>
        <p:spPr/>
        <p:txBody>
          <a:bodyPr/>
          <a:lstStyle/>
          <a:p>
            <a:fld id="{41C3B027-99D8-4500-AA7E-8D849F3A1F09}" type="slidenum">
              <a:rPr lang="en-US" smtClean="0"/>
              <a:pPr/>
              <a:t>23</a:t>
            </a:fld>
            <a:endParaRPr lang="en-US" dirty="0"/>
          </a:p>
        </p:txBody>
      </p:sp>
      <p:pic>
        <p:nvPicPr>
          <p:cNvPr id="5" name="Picture 4">
            <a:extLst>
              <a:ext uri="{FF2B5EF4-FFF2-40B4-BE49-F238E27FC236}">
                <a16:creationId xmlns:a16="http://schemas.microsoft.com/office/drawing/2014/main" id="{F7381986-1545-C3E8-85B7-BE404725692D}"/>
              </a:ext>
            </a:extLst>
          </p:cNvPr>
          <p:cNvPicPr>
            <a:picLocks noChangeAspect="1"/>
          </p:cNvPicPr>
          <p:nvPr/>
        </p:nvPicPr>
        <p:blipFill>
          <a:blip r:embed="rId2"/>
          <a:stretch>
            <a:fillRect/>
          </a:stretch>
        </p:blipFill>
        <p:spPr>
          <a:xfrm>
            <a:off x="323528" y="116632"/>
            <a:ext cx="8290119" cy="3543076"/>
          </a:xfrm>
          <a:prstGeom prst="rect">
            <a:avLst/>
          </a:prstGeom>
        </p:spPr>
      </p:pic>
      <p:sp>
        <p:nvSpPr>
          <p:cNvPr id="7" name="TextBox 6">
            <a:extLst>
              <a:ext uri="{FF2B5EF4-FFF2-40B4-BE49-F238E27FC236}">
                <a16:creationId xmlns:a16="http://schemas.microsoft.com/office/drawing/2014/main" id="{E03E162B-2A1C-06CD-0DE5-3D3DB67557F8}"/>
              </a:ext>
            </a:extLst>
          </p:cNvPr>
          <p:cNvSpPr txBox="1"/>
          <p:nvPr/>
        </p:nvSpPr>
        <p:spPr>
          <a:xfrm>
            <a:off x="1763688" y="3501008"/>
            <a:ext cx="5400600"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Figure 4: Surface Plot for </a:t>
            </a:r>
            <a:r>
              <a:rPr lang="en-US" sz="1800" b="1" dirty="0">
                <a:effectLst/>
                <a:latin typeface="Times New Roman" panose="02020603050405020304" pitchFamily="18" charset="0"/>
                <a:ea typeface="Calibri" panose="020F0502020204030204" pitchFamily="34" charset="0"/>
              </a:rPr>
              <a:t>Weld Metal Viscosity</a:t>
            </a:r>
            <a:endParaRPr lang="en-GB" dirty="0"/>
          </a:p>
        </p:txBody>
      </p:sp>
      <p:sp>
        <p:nvSpPr>
          <p:cNvPr id="9" name="TextBox 8">
            <a:extLst>
              <a:ext uri="{FF2B5EF4-FFF2-40B4-BE49-F238E27FC236}">
                <a16:creationId xmlns:a16="http://schemas.microsoft.com/office/drawing/2014/main" id="{CE5995AC-55D8-D744-9ADC-19791AE021EB}"/>
              </a:ext>
            </a:extLst>
          </p:cNvPr>
          <p:cNvSpPr txBox="1"/>
          <p:nvPr/>
        </p:nvSpPr>
        <p:spPr>
          <a:xfrm>
            <a:off x="179512" y="3933056"/>
            <a:ext cx="8784976" cy="2896562"/>
          </a:xfrm>
          <a:prstGeom prst="rect">
            <a:avLst/>
          </a:prstGeom>
          <a:noFill/>
        </p:spPr>
        <p:txBody>
          <a:bodyPr wrap="square">
            <a:spAutoFit/>
          </a:bodyPr>
          <a:lstStyle/>
          <a:p>
            <a:pPr algn="just">
              <a:lnSpc>
                <a:spcPct val="115000"/>
              </a:lnSpc>
              <a:spcAft>
                <a:spcPts val="1000"/>
              </a:spcAft>
            </a:pPr>
            <a:r>
              <a:rPr lang="en-US" sz="2000" dirty="0">
                <a:effectLst/>
                <a:ea typeface="Calibri" panose="020F0502020204030204" pitchFamily="34" charset="0"/>
                <a:cs typeface="Times New Roman" panose="02020603050405020304" pitchFamily="18" charset="0"/>
              </a:rPr>
              <a:t>The 3D Surface Plot for Weld Metal Viscosity, offers a detailed three-dimensional visualization of how Current (A) and Voltage (B) interact to affect the weld metal viscosity, while keeping other factors constant (C=14.5 and D=33). The plot reveals an upward-sloping surface from the bottom-left (low A and B) to the top-right (high A and B), indicating that increasing both current and voltage leads to higher weld metal viscosity. The highest viscosity values (around 0.00898 kg/(</a:t>
            </a:r>
            <a:r>
              <a:rPr lang="en-US" sz="2000" dirty="0" err="1">
                <a:effectLst/>
                <a:ea typeface="Calibri" panose="020F0502020204030204" pitchFamily="34" charset="0"/>
                <a:cs typeface="Times New Roman" panose="02020603050405020304" pitchFamily="18" charset="0"/>
              </a:rPr>
              <a:t>m·s</a:t>
            </a:r>
            <a:r>
              <a:rPr lang="en-US" sz="2000" dirty="0">
                <a:effectLst/>
                <a:ea typeface="Calibri" panose="020F0502020204030204" pitchFamily="34" charset="0"/>
                <a:cs typeface="Times New Roman" panose="02020603050405020304" pitchFamily="18" charset="0"/>
              </a:rPr>
              <a:t>)) are observed at the peak in the green region, suggesting that optimal process conditions lie in this top-right zone</a:t>
            </a:r>
            <a:endParaRPr lang="en-GB" sz="20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9798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94648" cy="6705600"/>
          </a:xfrm>
        </p:spPr>
        <p:txBody>
          <a:bodyPr>
            <a:noAutofit/>
          </a:bodyPr>
          <a:lstStyle/>
          <a:p>
            <a:pPr marL="82296" indent="0">
              <a:spcBef>
                <a:spcPts val="0"/>
              </a:spcBef>
              <a:spcAft>
                <a:spcPts val="2400"/>
              </a:spcAft>
              <a:buNone/>
            </a:pPr>
            <a:r>
              <a:rPr lang="en-US" sz="3100" b="1" dirty="0"/>
              <a:t>CONCLUSIONS</a:t>
            </a:r>
          </a:p>
          <a:p>
            <a:pPr marL="82296" indent="0" algn="ctr">
              <a:spcBef>
                <a:spcPts val="0"/>
              </a:spcBef>
              <a:spcAft>
                <a:spcPts val="2400"/>
              </a:spcAft>
              <a:buNone/>
            </a:pPr>
            <a:endParaRPr lang="en-US" sz="3100" b="1" dirty="0"/>
          </a:p>
          <a:p>
            <a:pPr marL="82296" indent="0" algn="ctr">
              <a:spcBef>
                <a:spcPts val="0"/>
              </a:spcBef>
              <a:spcAft>
                <a:spcPts val="2400"/>
              </a:spcAft>
              <a:buNone/>
            </a:pPr>
            <a:endParaRPr lang="en-US" sz="3100" b="1"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24</a:t>
            </a:fld>
            <a:endParaRPr lang="en-US" dirty="0"/>
          </a:p>
        </p:txBody>
      </p:sp>
      <p:sp>
        <p:nvSpPr>
          <p:cNvPr id="4" name="TextBox 3">
            <a:extLst>
              <a:ext uri="{FF2B5EF4-FFF2-40B4-BE49-F238E27FC236}">
                <a16:creationId xmlns:a16="http://schemas.microsoft.com/office/drawing/2014/main" id="{6A25BBAF-4792-B0BD-5C21-EC076237D530}"/>
              </a:ext>
            </a:extLst>
          </p:cNvPr>
          <p:cNvSpPr txBox="1"/>
          <p:nvPr/>
        </p:nvSpPr>
        <p:spPr>
          <a:xfrm>
            <a:off x="73152" y="675412"/>
            <a:ext cx="8994648" cy="461665"/>
          </a:xfrm>
          <a:prstGeom prst="rect">
            <a:avLst/>
          </a:prstGeom>
          <a:noFill/>
        </p:spPr>
        <p:txBody>
          <a:bodyPr wrap="square">
            <a:spAutoFit/>
          </a:bodyPr>
          <a:lstStyle/>
          <a:p>
            <a:pPr marL="361950" indent="-361950" algn="just">
              <a:spcAft>
                <a:spcPts val="600"/>
              </a:spcAft>
              <a:buFont typeface="Wingdings" panose="05000000000000000000" pitchFamily="2" charset="2"/>
              <a:buChar char="q"/>
            </a:pPr>
            <a:endParaRPr lang="en-GB" sz="2400" dirty="0">
              <a:effectLst/>
              <a:ea typeface="Calibri" panose="020F0502020204030204" pitchFamily="34" charset="0"/>
              <a:cs typeface="Times New Roman" panose="02020603050405020304" pitchFamily="18" charset="0"/>
            </a:endParaRPr>
          </a:p>
        </p:txBody>
      </p:sp>
      <p:sp>
        <p:nvSpPr>
          <p:cNvPr id="5" name="Rectangle 4"/>
          <p:cNvSpPr/>
          <p:nvPr/>
        </p:nvSpPr>
        <p:spPr>
          <a:xfrm>
            <a:off x="323528" y="889844"/>
            <a:ext cx="8568952" cy="4039888"/>
          </a:xfrm>
          <a:prstGeom prst="rect">
            <a:avLst/>
          </a:prstGeom>
        </p:spPr>
        <p:txBody>
          <a:bodyPr wrap="square">
            <a:spAutoFit/>
          </a:bodyPr>
          <a:lstStyle/>
          <a:p>
            <a:pPr algn="just">
              <a:lnSpc>
                <a:spcPct val="115000"/>
              </a:lnSpc>
              <a:spcAft>
                <a:spcPts val="1000"/>
              </a:spcAft>
            </a:pPr>
            <a:r>
              <a:rPr lang="en-US" sz="2200" dirty="0">
                <a:effectLst/>
                <a:ea typeface="Calibri" panose="020F0502020204030204" pitchFamily="34" charset="0"/>
                <a:cs typeface="Times New Roman" panose="02020603050405020304" pitchFamily="18" charset="0"/>
              </a:rPr>
              <a:t>The study successfully shows that Response Surface Method can be effectively applied to mild steel metal for the prediction and optimizing of a weld metal viscosity. </a:t>
            </a:r>
          </a:p>
          <a:p>
            <a:pPr algn="just">
              <a:lnSpc>
                <a:spcPct val="115000"/>
              </a:lnSpc>
              <a:spcAft>
                <a:spcPts val="1000"/>
              </a:spcAft>
            </a:pPr>
            <a:endParaRPr lang="en-US" sz="2200" dirty="0">
              <a:effectLst/>
              <a:ea typeface="Calibri" panose="020F0502020204030204" pitchFamily="34" charset="0"/>
              <a:cs typeface="Times New Roman" panose="02020603050405020304" pitchFamily="18" charset="0"/>
            </a:endParaRPr>
          </a:p>
          <a:p>
            <a:pPr algn="just">
              <a:lnSpc>
                <a:spcPct val="115000"/>
              </a:lnSpc>
              <a:spcAft>
                <a:spcPts val="1000"/>
              </a:spcAft>
            </a:pPr>
            <a:r>
              <a:rPr lang="en-US" sz="2200" dirty="0">
                <a:effectLst/>
                <a:ea typeface="Calibri" panose="020F0502020204030204" pitchFamily="34" charset="0"/>
                <a:cs typeface="Times New Roman" panose="02020603050405020304" pitchFamily="18" charset="0"/>
              </a:rPr>
              <a:t>Through a systematic experimentation and data modeling technique, the research established significant relationships between input welding parameters (Voltage, Current, Gas Flow and Temperature) and the key response variable (Weld Metal Viscosity)</a:t>
            </a:r>
            <a:endParaRPr lang="en-GB" sz="2200" dirty="0">
              <a:effectLst/>
              <a:ea typeface="Calibri" panose="020F0502020204030204" pitchFamily="34" charset="0"/>
              <a:cs typeface="Times New Roman" panose="02020603050405020304" pitchFamily="18" charset="0"/>
            </a:endParaRPr>
          </a:p>
          <a:p>
            <a:pPr algn="just">
              <a:lnSpc>
                <a:spcPct val="150000"/>
              </a:lnSpc>
            </a:pPr>
            <a:r>
              <a:rPr lang="en-GB" sz="2200" dirty="0"/>
              <a:t>.</a:t>
            </a:r>
          </a:p>
        </p:txBody>
      </p:sp>
    </p:spTree>
    <p:extLst>
      <p:ext uri="{BB962C8B-B14F-4D97-AF65-F5344CB8AC3E}">
        <p14:creationId xmlns:p14="http://schemas.microsoft.com/office/powerpoint/2010/main" val="3990433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4294967295"/>
          </p:nvPr>
        </p:nvSpPr>
        <p:spPr>
          <a:xfrm>
            <a:off x="304800" y="129540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pic>
        <p:nvPicPr>
          <p:cNvPr id="5" name="Content Placeholder 4">
            <a:extLst>
              <a:ext uri="{FF2B5EF4-FFF2-40B4-BE49-F238E27FC236}">
                <a16:creationId xmlns:a16="http://schemas.microsoft.com/office/drawing/2014/main" id="{BBABB753-00FB-5ACD-3228-393E79C7AB95}"/>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505200" y="1371600"/>
            <a:ext cx="5181600" cy="3962400"/>
          </a:xfrm>
          <a:prstGeom prst="rect">
            <a:avLst/>
          </a:prstGeom>
        </p:spPr>
      </p:pic>
      <p:sp>
        <p:nvSpPr>
          <p:cNvPr id="6" name="TextBox 5">
            <a:extLst>
              <a:ext uri="{FF2B5EF4-FFF2-40B4-BE49-F238E27FC236}">
                <a16:creationId xmlns:a16="http://schemas.microsoft.com/office/drawing/2014/main" id="{3309B08A-50E5-A0FD-4488-922291314E99}"/>
              </a:ext>
            </a:extLst>
          </p:cNvPr>
          <p:cNvSpPr txBox="1"/>
          <p:nvPr/>
        </p:nvSpPr>
        <p:spPr>
          <a:xfrm>
            <a:off x="3810000" y="2767280"/>
            <a:ext cx="4343400" cy="707886"/>
          </a:xfrm>
          <a:prstGeom prst="rect">
            <a:avLst/>
          </a:prstGeom>
          <a:noFill/>
        </p:spPr>
        <p:txBody>
          <a:bodyPr wrap="square" rtlCol="0">
            <a:spAutoFit/>
          </a:bodyPr>
          <a:lstStyle/>
          <a:p>
            <a:pPr algn="ctr"/>
            <a:r>
              <a:rPr lang="en-US" sz="4000" b="1" dirty="0">
                <a:solidFill>
                  <a:srgbClr val="002060"/>
                </a:solidFill>
                <a:latin typeface="Ink Free" panose="03080402000500000000" pitchFamily="66" charset="0"/>
              </a:rPr>
              <a:t>Thank you.  </a:t>
            </a:r>
          </a:p>
        </p:txBody>
      </p:sp>
    </p:spTree>
    <p:extLst>
      <p:ext uri="{BB962C8B-B14F-4D97-AF65-F5344CB8AC3E}">
        <p14:creationId xmlns:p14="http://schemas.microsoft.com/office/powerpoint/2010/main" val="35264635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1_nctm_new">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15376</TotalTime>
  <Words>2270</Words>
  <Application>Microsoft Office PowerPoint</Application>
  <PresentationFormat>On-screen Show (4:3)</PresentationFormat>
  <Paragraphs>650</Paragraphs>
  <Slides>25</Slides>
  <Notes>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25</vt:i4>
      </vt:variant>
    </vt:vector>
  </HeadingPairs>
  <TitlesOfParts>
    <vt:vector size="39" baseType="lpstr">
      <vt:lpstr>Aharoni</vt:lpstr>
      <vt:lpstr>Arial</vt:lpstr>
      <vt:lpstr>Calibri</vt:lpstr>
      <vt:lpstr>Calibri Light</vt:lpstr>
      <vt:lpstr>Cambria Math</vt:lpstr>
      <vt:lpstr>Gill Sans MT</vt:lpstr>
      <vt:lpstr>Ink Free</vt:lpstr>
      <vt:lpstr>Times New Roman</vt:lpstr>
      <vt:lpstr>Tw Cen MT</vt:lpstr>
      <vt:lpstr>Verdana</vt:lpstr>
      <vt:lpstr>Wingdings</vt:lpstr>
      <vt:lpstr>Wingdings 2</vt:lpstr>
      <vt:lpstr>Solstice</vt:lpstr>
      <vt:lpstr>1_nctm_new</vt:lpstr>
      <vt:lpstr>Application of RSM in Analyzing Weld Metal Viscosity in Mild Steel Welds</vt:lpstr>
      <vt:lpstr>Outline</vt:lpstr>
      <vt:lpstr>Introduction</vt:lpstr>
      <vt:lpstr>Introduction Cont’d.</vt:lpstr>
      <vt:lpstr>Problem Statement</vt:lpstr>
      <vt:lpstr>PowerPoint Presentation</vt:lpstr>
      <vt:lpstr>PowerPoint Presentation</vt:lpstr>
      <vt:lpstr>PowerPoint Presentation</vt:lpstr>
      <vt:lpstr>Materials and Methods</vt:lpstr>
      <vt:lpstr>Design of Experiment (DOE)</vt:lpstr>
      <vt:lpstr>Model Building and Data Collection</vt:lpstr>
      <vt:lpstr>PowerPoint Presentation</vt:lpstr>
      <vt:lpstr>RSM ANALYSIS</vt:lpstr>
      <vt:lpstr>PowerPoint Presentation</vt:lpstr>
      <vt:lpstr>PowerPoint Presentation</vt:lpstr>
      <vt:lpstr>PowerPoint Presentation</vt:lpstr>
      <vt:lpstr>PowerPoint Presentation</vt:lpstr>
      <vt:lpstr>The Model</vt:lpstr>
      <vt:lpstr>PowerPoint Presentation</vt:lpstr>
      <vt:lpstr>Accuracy of Prediction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INFORMATION AND COMMUNICATION TECHNOLOGY (ICT) IN PAINT INDUSTRY PRODUCT MARKETING IN SOUTH WESTERN NIGERIA  BY   OLOMU, MICHAEL OLUWASEUN TP12/13/H/2469</dc:title>
  <dc:creator>us</dc:creator>
  <cp:lastModifiedBy>Seigha Gumus</cp:lastModifiedBy>
  <cp:revision>2700</cp:revision>
  <cp:lastPrinted>2021-07-13T09:53:54Z</cp:lastPrinted>
  <dcterms:created xsi:type="dcterms:W3CDTF">2014-01-15T07:11:14Z</dcterms:created>
  <dcterms:modified xsi:type="dcterms:W3CDTF">2025-10-14T22:40:34Z</dcterms:modified>
</cp:coreProperties>
</file>