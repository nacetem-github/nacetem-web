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56" r:id="rId5"/>
    <p:sldId id="257" r:id="rId6"/>
    <p:sldId id="290" r:id="rId7"/>
    <p:sldId id="260" r:id="rId8"/>
    <p:sldId id="258" r:id="rId9"/>
    <p:sldId id="261" r:id="rId10"/>
    <p:sldId id="283" r:id="rId11"/>
    <p:sldId id="264" r:id="rId12"/>
    <p:sldId id="289" r:id="rId13"/>
    <p:sldId id="286" r:id="rId14"/>
    <p:sldId id="288" r:id="rId15"/>
    <p:sldId id="291"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7" d="100"/>
          <a:sy n="67" d="100"/>
        </p:scale>
        <p:origin x="572" y="5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7/31/2025</a:t>
            </a:fld>
            <a:endParaRPr lang="en-US" dirty="0"/>
          </a:p>
        </p:txBody>
      </p:sp>
      <p:sp>
        <p:nvSpPr>
          <p:cNvPr id="4" name="Footer Placeholder 3">
            <a:extLst>
              <a:ext uri="{FF2B5EF4-FFF2-40B4-BE49-F238E27FC236}">
                <a16:creationId xmlns:a16="http://schemas.microsoft.com/office/drawing/2014/main" xmlns=""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7/31/2025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xmlns=""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xmlns=""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xmlns=""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xmlns=""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xmlns=""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xmlns=""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xmlns=""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xmlns=""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xmlns=""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xmlns=""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xmlns=""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xmlns=""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xmlns=""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xmlns=""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xmlns=""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xmlns=""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xmlns=""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xmlns=""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xmlns=""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xmlns=""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xmlns=""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xmlns=""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xmlns=""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xmlns=""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xmlns=""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xmlns=""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xmlns=""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xmlns=""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xmlns=""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xmlns=""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xmlns=""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xmlns=""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xmlns=""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xmlns=""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xmlns=""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xmlns=""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xmlns=""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xmlns=""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xmlns=""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xmlns=""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xmlns=""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xmlns=""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xmlns=""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xmlns=""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xmlns=""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xmlns=""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xmlns=""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xmlns=""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xmlns=""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xmlns=""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xmlns=""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xmlns=""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xmlns=""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xmlns=""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xmlns=""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xmlns=""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xmlns=""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xmlns=""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xmlns=""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xmlns=""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xmlns=""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xmlns=""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xmlns=""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xmlns=""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xmlns=""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xmlns=""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xmlns=""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xmlns=""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xmlns=""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xmlns=""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xmlns=""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xmlns=""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xmlns=""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xmlns=""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xmlns=""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xmlns=""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xmlns=""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xmlns=""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xmlns=""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xmlns=""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xmlns=""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xmlns=""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xmlns=""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xmlns=""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xmlns=""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xmlns=""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xmlns=""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xmlns=""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xmlns=""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xmlns=""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xmlns=""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xmlns=""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xmlns=""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xmlns=""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xmlns=""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xmlns=""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xmlns=""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xmlns=""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xmlns=""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xmlns=""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xmlns=""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xmlns=""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xmlns=""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xmlns=""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xmlns=""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xmlns=""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xmlns=""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xmlns=""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xmlns=""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xmlns=""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xmlns=""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xmlns=""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package" Target="../embeddings/Microsoft_Word_Document1.docx"/></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2BE5BF-9922-45FB-8F3F-4446D40A051B}"/>
              </a:ext>
            </a:extLst>
          </p:cNvPr>
          <p:cNvSpPr>
            <a:spLocks noGrp="1"/>
          </p:cNvSpPr>
          <p:nvPr>
            <p:ph type="ctrTitle"/>
          </p:nvPr>
        </p:nvSpPr>
        <p:spPr>
          <a:xfrm>
            <a:off x="1973695" y="2029216"/>
            <a:ext cx="10011977" cy="2626438"/>
          </a:xfrm>
        </p:spPr>
        <p:txBody>
          <a:bodyPr/>
          <a:lstStyle/>
          <a:p>
            <a:r>
              <a:rPr lang="en-US" sz="6000" dirty="0"/>
              <a:t>ICT Integration in Improving </a:t>
            </a:r>
            <a:r>
              <a:rPr lang="en-US" sz="6000" dirty="0" smtClean="0"/>
              <a:t>Agility </a:t>
            </a:r>
            <a:r>
              <a:rPr lang="en-US" sz="6000" dirty="0"/>
              <a:t>of Petroleum Distribution in Nigeria</a:t>
            </a:r>
          </a:p>
        </p:txBody>
      </p:sp>
      <p:sp>
        <p:nvSpPr>
          <p:cNvPr id="3" name="Subtitle 2">
            <a:extLst>
              <a:ext uri="{FF2B5EF4-FFF2-40B4-BE49-F238E27FC236}">
                <a16:creationId xmlns:a16="http://schemas.microsoft.com/office/drawing/2014/main" xmlns="" id="{0D537F64-4C96-4AA8-BB21-E8053A3186DD}"/>
              </a:ext>
            </a:extLst>
          </p:cNvPr>
          <p:cNvSpPr>
            <a:spLocks noGrp="1"/>
          </p:cNvSpPr>
          <p:nvPr>
            <p:ph type="subTitle" idx="1"/>
          </p:nvPr>
        </p:nvSpPr>
        <p:spPr>
          <a:xfrm>
            <a:off x="3682918" y="5038951"/>
            <a:ext cx="6593529" cy="709715"/>
          </a:xfrm>
        </p:spPr>
        <p:txBody>
          <a:bodyPr>
            <a:noAutofit/>
          </a:bodyPr>
          <a:lstStyle/>
          <a:p>
            <a:pPr algn="ctr"/>
            <a:r>
              <a:rPr lang="en-US" sz="2800" b="1" i="0" dirty="0">
                <a:solidFill>
                  <a:schemeClr val="accent5">
                    <a:lumMod val="40000"/>
                    <a:lumOff val="60000"/>
                  </a:schemeClr>
                </a:solidFill>
                <a:effectLst/>
                <a:latin typeface="+mj-lt"/>
              </a:rPr>
              <a:t>Dr. Obiageli Nneka Nze</a:t>
            </a:r>
          </a:p>
        </p:txBody>
      </p:sp>
      <p:sp>
        <p:nvSpPr>
          <p:cNvPr id="5" name="TextBox 4">
            <a:extLst>
              <a:ext uri="{FF2B5EF4-FFF2-40B4-BE49-F238E27FC236}">
                <a16:creationId xmlns:a16="http://schemas.microsoft.com/office/drawing/2014/main" xmlns="" id="{587676DA-6929-26D6-66D5-A4925BFC1259}"/>
              </a:ext>
            </a:extLst>
          </p:cNvPr>
          <p:cNvSpPr txBox="1"/>
          <p:nvPr/>
        </p:nvSpPr>
        <p:spPr>
          <a:xfrm>
            <a:off x="3682918" y="182899"/>
            <a:ext cx="7311683" cy="369332"/>
          </a:xfrm>
          <a:prstGeom prst="rect">
            <a:avLst/>
          </a:prstGeom>
          <a:noFill/>
        </p:spPr>
        <p:txBody>
          <a:bodyPr wrap="square">
            <a:spAutoFit/>
          </a:bodyPr>
          <a:lstStyle/>
          <a:p>
            <a:pPr algn="ctr"/>
            <a:r>
              <a:rPr lang="en-US" sz="1800" b="0" i="0" dirty="0">
                <a:solidFill>
                  <a:schemeClr val="accent2">
                    <a:lumMod val="20000"/>
                    <a:lumOff val="80000"/>
                  </a:schemeClr>
                </a:solidFill>
                <a:effectLst/>
                <a:latin typeface="Arial" panose="020B0604020202020204" pitchFamily="34" charset="0"/>
              </a:rPr>
              <a:t>National Centre for Technology Management (NACETEM), Nigeria</a:t>
            </a:r>
          </a:p>
        </p:txBody>
      </p:sp>
      <p:grpSp>
        <p:nvGrpSpPr>
          <p:cNvPr id="10" name="Group 9">
            <a:extLst>
              <a:ext uri="{FF2B5EF4-FFF2-40B4-BE49-F238E27FC236}">
                <a16:creationId xmlns:a16="http://schemas.microsoft.com/office/drawing/2014/main" xmlns="" id="{C8F4D40F-7FC7-2889-C26B-FBAD4DD21A79}"/>
              </a:ext>
            </a:extLst>
          </p:cNvPr>
          <p:cNvGrpSpPr/>
          <p:nvPr/>
        </p:nvGrpSpPr>
        <p:grpSpPr>
          <a:xfrm>
            <a:off x="10994600" y="75474"/>
            <a:ext cx="991072" cy="1023601"/>
            <a:chOff x="10539074" y="661181"/>
            <a:chExt cx="1332328" cy="1312979"/>
          </a:xfrm>
        </p:grpSpPr>
        <p:sp>
          <p:nvSpPr>
            <p:cNvPr id="9" name="Oval 8">
              <a:extLst>
                <a:ext uri="{FF2B5EF4-FFF2-40B4-BE49-F238E27FC236}">
                  <a16:creationId xmlns:a16="http://schemas.microsoft.com/office/drawing/2014/main" xmlns="" id="{37F84BEA-E31D-F161-837F-C70876DE275A}"/>
                </a:ext>
              </a:extLst>
            </p:cNvPr>
            <p:cNvSpPr/>
            <p:nvPr/>
          </p:nvSpPr>
          <p:spPr>
            <a:xfrm>
              <a:off x="10539074" y="661181"/>
              <a:ext cx="1332328" cy="131297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7" name="Picture 6">
              <a:extLst>
                <a:ext uri="{FF2B5EF4-FFF2-40B4-BE49-F238E27FC236}">
                  <a16:creationId xmlns:a16="http://schemas.microsoft.com/office/drawing/2014/main" xmlns="" id="{A837DCC6-3B14-64A9-5D7F-E75CC1667149}"/>
                </a:ext>
              </a:extLst>
            </p:cNvPr>
            <p:cNvPicPr>
              <a:picLocks noChangeAspect="1"/>
            </p:cNvPicPr>
            <p:nvPr/>
          </p:nvPicPr>
          <p:blipFill>
            <a:blip r:embed="rId2"/>
            <a:stretch>
              <a:fillRect/>
            </a:stretch>
          </p:blipFill>
          <p:spPr>
            <a:xfrm>
              <a:off x="10566023" y="687738"/>
              <a:ext cx="1278430" cy="1259864"/>
            </a:xfrm>
            <a:prstGeom prst="rect">
              <a:avLst/>
            </a:prstGeom>
          </p:spPr>
        </p:pic>
      </p:grpSp>
    </p:spTree>
    <p:extLst>
      <p:ext uri="{BB962C8B-B14F-4D97-AF65-F5344CB8AC3E}">
        <p14:creationId xmlns:p14="http://schemas.microsoft.com/office/powerpoint/2010/main" val="394693459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3BD8413-C238-49D7-A4E1-E8FEF1811A0E}"/>
              </a:ext>
            </a:extLst>
          </p:cNvPr>
          <p:cNvSpPr>
            <a:spLocks noGrp="1"/>
          </p:cNvSpPr>
          <p:nvPr>
            <p:ph type="title"/>
          </p:nvPr>
        </p:nvSpPr>
        <p:spPr>
          <a:xfrm>
            <a:off x="1556304" y="203259"/>
            <a:ext cx="5245354" cy="859055"/>
          </a:xfrm>
        </p:spPr>
        <p:txBody>
          <a:bodyPr>
            <a:normAutofit/>
          </a:bodyPr>
          <a:lstStyle/>
          <a:p>
            <a:r>
              <a:rPr lang="en-US" sz="3600" dirty="0"/>
              <a:t>Introduction</a:t>
            </a:r>
          </a:p>
        </p:txBody>
      </p:sp>
      <p:sp>
        <p:nvSpPr>
          <p:cNvPr id="2" name="Slide Number Placeholder 1">
            <a:extLst>
              <a:ext uri="{FF2B5EF4-FFF2-40B4-BE49-F238E27FC236}">
                <a16:creationId xmlns:a16="http://schemas.microsoft.com/office/drawing/2014/main" xmlns=""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5" name="Text Placeholder 4">
            <a:extLst>
              <a:ext uri="{FF2B5EF4-FFF2-40B4-BE49-F238E27FC236}">
                <a16:creationId xmlns:a16="http://schemas.microsoft.com/office/drawing/2014/main" xmlns="" id="{0A95F4DE-39B7-4CE2-BC1E-8B8AE662A895}"/>
              </a:ext>
            </a:extLst>
          </p:cNvPr>
          <p:cNvSpPr>
            <a:spLocks noGrp="1"/>
          </p:cNvSpPr>
          <p:nvPr>
            <p:ph type="body" idx="1"/>
          </p:nvPr>
        </p:nvSpPr>
        <p:spPr>
          <a:xfrm>
            <a:off x="0" y="1062314"/>
            <a:ext cx="8152961" cy="5617885"/>
          </a:xfrm>
        </p:spPr>
        <p:txBody>
          <a:bodyPr>
            <a:noAutofit/>
          </a:bodyPr>
          <a:lstStyle/>
          <a:p>
            <a:pPr marL="457200" indent="-457200">
              <a:buFont typeface="Arial" panose="020B0604020202020204" pitchFamily="34" charset="0"/>
              <a:buChar char="•"/>
            </a:pPr>
            <a:r>
              <a:rPr lang="en-GB" sz="3200" dirty="0"/>
              <a:t>The </a:t>
            </a:r>
            <a:r>
              <a:rPr lang="en-GB" sz="3200" dirty="0" smtClean="0"/>
              <a:t>petroleum products supply and distribution </a:t>
            </a:r>
            <a:r>
              <a:rPr lang="en-GB" sz="3200" dirty="0"/>
              <a:t>in Nigeria requires a well-articulated and strategically structured logistics and supply chain </a:t>
            </a:r>
            <a:r>
              <a:rPr lang="en-GB" sz="3200" dirty="0" smtClean="0"/>
              <a:t>system.</a:t>
            </a:r>
          </a:p>
          <a:p>
            <a:pPr marL="457200" indent="-457200">
              <a:buFont typeface="Arial" panose="020B0604020202020204" pitchFamily="34" charset="0"/>
              <a:buChar char="•"/>
            </a:pPr>
            <a:r>
              <a:rPr lang="en-US" sz="3200" dirty="0" smtClean="0"/>
              <a:t>This study </a:t>
            </a:r>
            <a:r>
              <a:rPr lang="en-US" sz="3200" dirty="0"/>
              <a:t>explores the effect of </a:t>
            </a:r>
            <a:r>
              <a:rPr lang="en-US" sz="3200" dirty="0" smtClean="0"/>
              <a:t>ICT </a:t>
            </a:r>
            <a:r>
              <a:rPr lang="en-US" sz="3200" dirty="0"/>
              <a:t>on agile logistics and its petroleum products distribution performance in </a:t>
            </a:r>
            <a:r>
              <a:rPr lang="en-US" sz="3200" dirty="0" smtClean="0"/>
              <a:t>Nigeria.</a:t>
            </a:r>
          </a:p>
          <a:p>
            <a:pPr marL="457200" indent="-457200">
              <a:buFont typeface="Arial" panose="020B0604020202020204" pitchFamily="34" charset="0"/>
              <a:buChar char="•"/>
            </a:pPr>
            <a:r>
              <a:rPr lang="en-US" sz="3200" dirty="0"/>
              <a:t>T</a:t>
            </a:r>
            <a:r>
              <a:rPr lang="en-US" sz="3200" dirty="0" smtClean="0"/>
              <a:t>o </a:t>
            </a:r>
            <a:r>
              <a:rPr lang="en-US" sz="3200" dirty="0"/>
              <a:t>improve the distribution in a timely and efficient manner to achieve best results. </a:t>
            </a:r>
          </a:p>
          <a:p>
            <a:pPr marL="457200" indent="-457200">
              <a:buFont typeface="Arial" panose="020B0604020202020204" pitchFamily="34" charset="0"/>
              <a:buChar char="•"/>
            </a:pPr>
            <a:endParaRPr lang="en-US" sz="3000" dirty="0">
              <a:solidFill>
                <a:schemeClr val="bg1"/>
              </a:solidFill>
            </a:endParaRPr>
          </a:p>
        </p:txBody>
      </p:sp>
      <p:pic>
        <p:nvPicPr>
          <p:cNvPr id="3" name="Picture 2"/>
          <p:cNvPicPr>
            <a:picLocks noChangeAspect="1"/>
          </p:cNvPicPr>
          <p:nvPr/>
        </p:nvPicPr>
        <p:blipFill>
          <a:blip r:embed="rId2"/>
          <a:stretch>
            <a:fillRect/>
          </a:stretch>
        </p:blipFill>
        <p:spPr>
          <a:xfrm>
            <a:off x="7581207" y="4363412"/>
            <a:ext cx="3059084" cy="2494588"/>
          </a:xfrm>
          <a:prstGeom prst="rect">
            <a:avLst/>
          </a:prstGeom>
        </p:spPr>
      </p:pic>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426547"/>
            <a:ext cx="11214100" cy="535531"/>
          </a:xfrm>
        </p:spPr>
        <p:txBody>
          <a:bodyPr/>
          <a:lstStyle/>
          <a:p>
            <a:r>
              <a:rPr lang="en-US" dirty="0" smtClean="0"/>
              <a:t>Study Background</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Text Placeholder 3"/>
          <p:cNvSpPr>
            <a:spLocks noGrp="1"/>
          </p:cNvSpPr>
          <p:nvPr>
            <p:ph type="body" sz="quarter" idx="13"/>
          </p:nvPr>
        </p:nvSpPr>
        <p:spPr>
          <a:xfrm>
            <a:off x="182880" y="962078"/>
            <a:ext cx="12009120" cy="5452114"/>
          </a:xfrm>
        </p:spPr>
        <p:txBody>
          <a:bodyPr/>
          <a:lstStyle/>
          <a:p>
            <a:r>
              <a:rPr lang="en-US" sz="2000" dirty="0"/>
              <a:t>Oil companies, according to </a:t>
            </a:r>
            <a:r>
              <a:rPr lang="en-GB" sz="2000" dirty="0"/>
              <a:t>Dike, Anthony &amp; </a:t>
            </a:r>
            <a:r>
              <a:rPr lang="en-US" sz="2000" dirty="0" err="1"/>
              <a:t>Abdulkareem</a:t>
            </a:r>
            <a:r>
              <a:rPr lang="en-GB" sz="2000" dirty="0"/>
              <a:t> (2013), acknowledged that </a:t>
            </a:r>
            <a:r>
              <a:rPr lang="en-US" sz="2000" dirty="0"/>
              <a:t>adoption of ICT to improve the efficiency and effectiveness of their operations, as well as to aid management decision making</a:t>
            </a:r>
            <a:r>
              <a:rPr lang="en-GB" sz="2000" dirty="0"/>
              <a:t> and </a:t>
            </a:r>
            <a:r>
              <a:rPr lang="en-US" sz="2000" dirty="0"/>
              <a:t>strengthen their competitive positions in rapidly changing environments</a:t>
            </a:r>
            <a:r>
              <a:rPr lang="en-GB" sz="2000" dirty="0"/>
              <a:t>. </a:t>
            </a:r>
            <a:endParaRPr lang="en-GB" sz="2000" dirty="0" smtClean="0"/>
          </a:p>
          <a:p>
            <a:r>
              <a:rPr lang="en-US" sz="2000" dirty="0" smtClean="0"/>
              <a:t>ICT </a:t>
            </a:r>
            <a:r>
              <a:rPr lang="en-US" sz="2000" dirty="0"/>
              <a:t>allows for the storage and manipulation of the different levels of data on purchasing and delivery of crude oil, refining, and distribution of end products</a:t>
            </a:r>
            <a:r>
              <a:rPr lang="en-GB" sz="2000" dirty="0"/>
              <a:t>. </a:t>
            </a:r>
            <a:endParaRPr lang="en-GB" sz="2000" dirty="0" smtClean="0"/>
          </a:p>
          <a:p>
            <a:r>
              <a:rPr lang="en-US" sz="2000" dirty="0" smtClean="0"/>
              <a:t>Agility </a:t>
            </a:r>
            <a:r>
              <a:rPr lang="en-US" sz="2000" dirty="0"/>
              <a:t>in this context is driven by logistics processes that are lean, responsive, adaptable, and cost-efficient. </a:t>
            </a:r>
            <a:endParaRPr lang="en-US" sz="2000" dirty="0" smtClean="0"/>
          </a:p>
          <a:p>
            <a:r>
              <a:rPr lang="en-US" sz="2000" dirty="0"/>
              <a:t>Eteyen (2024) examined digital transformation strategies, including AI and big data, for enhancing supply chain efficiency in Nigeria's oil sector</a:t>
            </a:r>
            <a:r>
              <a:rPr lang="en-US" sz="2000" dirty="0" smtClean="0"/>
              <a:t>.</a:t>
            </a:r>
          </a:p>
          <a:p>
            <a:r>
              <a:rPr lang="en-US" sz="2000" dirty="0"/>
              <a:t>Terab, Umar &amp; </a:t>
            </a:r>
            <a:r>
              <a:rPr lang="en-US" sz="2000" dirty="0" err="1"/>
              <a:t>Oyedeji</a:t>
            </a:r>
            <a:r>
              <a:rPr lang="en-US" sz="2000" dirty="0"/>
              <a:t> (2023) explore information technology usage in supply chain management within Nigeria's petroleum sector.</a:t>
            </a:r>
            <a:endParaRPr lang="en-US" sz="2000" dirty="0" smtClean="0"/>
          </a:p>
          <a:p>
            <a:r>
              <a:rPr lang="en-US" sz="2000" dirty="0" smtClean="0"/>
              <a:t>Attaining </a:t>
            </a:r>
            <a:r>
              <a:rPr lang="en-US" sz="2000" dirty="0"/>
              <a:t>such a system requires a multidimensional approach involving institutional reforms, infrastructure upgrades, and the integration of digital technologies</a:t>
            </a:r>
            <a:r>
              <a:rPr lang="en-US" sz="2000" i="1" dirty="0"/>
              <a:t> </a:t>
            </a:r>
            <a:r>
              <a:rPr lang="en-US" sz="2000" dirty="0"/>
              <a:t>(Ucheobi et al, 2025</a:t>
            </a:r>
            <a:r>
              <a:rPr lang="en-US" sz="2000" dirty="0" smtClean="0"/>
              <a:t>).</a:t>
            </a:r>
          </a:p>
          <a:p>
            <a:r>
              <a:rPr lang="en-US" sz="2000" dirty="0"/>
              <a:t>U</a:t>
            </a:r>
            <a:r>
              <a:rPr lang="en-GB" sz="2000" dirty="0" err="1"/>
              <a:t>muteme</a:t>
            </a:r>
            <a:r>
              <a:rPr lang="en-GB" sz="2000" dirty="0"/>
              <a:t> (2021) highlights, is key to achieving operational excellence in distribution through process digitalization of logistics and supply chain management into more efficient, optimised, more profitable, and value-adding operations.</a:t>
            </a:r>
            <a:endParaRPr lang="en-US" sz="2000" dirty="0"/>
          </a:p>
          <a:p>
            <a:endParaRPr lang="en-US" sz="2000" dirty="0" smtClean="0"/>
          </a:p>
          <a:p>
            <a:endParaRPr lang="en-US" sz="2000" dirty="0"/>
          </a:p>
          <a:p>
            <a:endParaRPr lang="en-US" dirty="0"/>
          </a:p>
        </p:txBody>
      </p:sp>
    </p:spTree>
    <p:extLst>
      <p:ext uri="{BB962C8B-B14F-4D97-AF65-F5344CB8AC3E}">
        <p14:creationId xmlns:p14="http://schemas.microsoft.com/office/powerpoint/2010/main" val="41987223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BD179B88-D43C-4A31-9A52-3498E9430782}"/>
              </a:ext>
            </a:extLst>
          </p:cNvPr>
          <p:cNvSpPr>
            <a:spLocks noGrp="1"/>
          </p:cNvSpPr>
          <p:nvPr>
            <p:ph type="title"/>
          </p:nvPr>
        </p:nvSpPr>
        <p:spPr>
          <a:xfrm>
            <a:off x="237018" y="333828"/>
            <a:ext cx="4494639" cy="623198"/>
          </a:xfrm>
        </p:spPr>
        <p:txBody>
          <a:bodyPr>
            <a:normAutofit/>
          </a:bodyPr>
          <a:lstStyle/>
          <a:p>
            <a:r>
              <a:rPr lang="en-US" sz="3200" dirty="0" smtClean="0"/>
              <a:t>Methodology</a:t>
            </a:r>
            <a:endParaRPr lang="en-US" sz="3200" dirty="0"/>
          </a:p>
        </p:txBody>
      </p:sp>
      <p:sp>
        <p:nvSpPr>
          <p:cNvPr id="5" name="Text Placeholder 4">
            <a:extLst>
              <a:ext uri="{FF2B5EF4-FFF2-40B4-BE49-F238E27FC236}">
                <a16:creationId xmlns:a16="http://schemas.microsoft.com/office/drawing/2014/main" xmlns="" id="{DCDDBE65-9AB1-4989-AF86-726591A6A128}"/>
              </a:ext>
            </a:extLst>
          </p:cNvPr>
          <p:cNvSpPr>
            <a:spLocks noGrp="1"/>
          </p:cNvSpPr>
          <p:nvPr>
            <p:ph type="body" idx="1"/>
          </p:nvPr>
        </p:nvSpPr>
        <p:spPr>
          <a:xfrm>
            <a:off x="0" y="957026"/>
            <a:ext cx="7697585" cy="5380446"/>
          </a:xfrm>
        </p:spPr>
        <p:txBody>
          <a:bodyPr>
            <a:noAutofit/>
          </a:bodyPr>
          <a:lstStyle/>
          <a:p>
            <a:pPr marL="457200" indent="-457200">
              <a:buFont typeface="Arial" panose="020B0604020202020204" pitchFamily="34" charset="0"/>
              <a:buChar char="•"/>
            </a:pPr>
            <a:r>
              <a:rPr lang="en-US" sz="2800" dirty="0"/>
              <a:t>The research data is sourced through interviews and questionnaire administered to the Major Oil Marketers Association of Nigeria (MOMAN</a:t>
            </a:r>
            <a:r>
              <a:rPr lang="en-US" sz="2800" dirty="0" smtClean="0"/>
              <a:t>).</a:t>
            </a:r>
          </a:p>
          <a:p>
            <a:pPr marL="457200" indent="-457200">
              <a:buFont typeface="Arial" panose="020B0604020202020204" pitchFamily="34" charset="0"/>
              <a:buChar char="•"/>
            </a:pPr>
            <a:r>
              <a:rPr lang="en-GB" sz="2800" dirty="0"/>
              <a:t>The study targets 30 executive staff of each of the selected companies drawn from sales, marketing, admin, HR, imports, logistics, business analyst, and finance. </a:t>
            </a:r>
            <a:endParaRPr lang="en-US" sz="2800" dirty="0" smtClean="0"/>
          </a:p>
          <a:p>
            <a:pPr marL="457200" indent="-457200">
              <a:buFont typeface="Arial" panose="020B0604020202020204" pitchFamily="34" charset="0"/>
              <a:buChar char="•"/>
            </a:pPr>
            <a:r>
              <a:rPr lang="en-US" sz="2800" dirty="0"/>
              <a:t>Data analysis follows the One-Sample Kolmogorov-Smirnov Test and Analysis of Covariance (ANOVA).</a:t>
            </a:r>
            <a:endParaRPr lang="en-US" sz="2700" dirty="0">
              <a:solidFill>
                <a:schemeClr val="bg1"/>
              </a:solidFill>
            </a:endParaRPr>
          </a:p>
        </p:txBody>
      </p:sp>
      <p:sp>
        <p:nvSpPr>
          <p:cNvPr id="2" name="Slide Number Placeholder 1">
            <a:extLst>
              <a:ext uri="{FF2B5EF4-FFF2-40B4-BE49-F238E27FC236}">
                <a16:creationId xmlns:a16="http://schemas.microsoft.com/office/drawing/2014/main" xmlns="" id="{8B065C75-272B-4BB5-BA23-D80E8654D621}"/>
              </a:ext>
            </a:extLst>
          </p:cNvPr>
          <p:cNvSpPr>
            <a:spLocks noGrp="1"/>
          </p:cNvSpPr>
          <p:nvPr>
            <p:ph type="sldNum" sz="quarter" idx="12"/>
          </p:nvPr>
        </p:nvSpPr>
        <p:spPr/>
        <p:txBody>
          <a:bodyPr/>
          <a:lstStyle/>
          <a:p>
            <a:fld id="{C263D6C4-4840-40CC-AC84-17E24B3B7BDE}" type="slidenum">
              <a:rPr lang="en-US" smtClean="0"/>
              <a:pPr/>
              <a:t>4</a:t>
            </a:fld>
            <a:endParaRPr lang="en-US" dirty="0"/>
          </a:p>
        </p:txBody>
      </p:sp>
      <p:pic>
        <p:nvPicPr>
          <p:cNvPr id="3" name="Picture 2"/>
          <p:cNvPicPr>
            <a:picLocks noChangeAspect="1"/>
          </p:cNvPicPr>
          <p:nvPr/>
        </p:nvPicPr>
        <p:blipFill>
          <a:blip r:embed="rId2"/>
          <a:stretch>
            <a:fillRect/>
          </a:stretch>
        </p:blipFill>
        <p:spPr>
          <a:xfrm>
            <a:off x="7697584" y="2128059"/>
            <a:ext cx="4256117" cy="3940232"/>
          </a:xfrm>
          <a:prstGeom prst="rect">
            <a:avLst/>
          </a:prstGeom>
        </p:spPr>
      </p:pic>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a:xfrm>
            <a:off x="386444" y="325347"/>
            <a:ext cx="6043386" cy="535531"/>
          </a:xfrm>
        </p:spPr>
        <p:txBody>
          <a:bodyPr/>
          <a:lstStyle/>
          <a:p>
            <a:pPr lvl="0"/>
            <a:r>
              <a:rPr lang="en-US" dirty="0"/>
              <a:t>Results and </a:t>
            </a:r>
            <a:r>
              <a:rPr lang="en-US" dirty="0" smtClean="0"/>
              <a:t>Discussions</a:t>
            </a:r>
            <a:endParaRPr lang="en-US" dirty="0"/>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a:xfrm>
            <a:off x="149629" y="1103382"/>
            <a:ext cx="7714211" cy="5639674"/>
          </a:xfrm>
        </p:spPr>
        <p:txBody>
          <a:bodyPr/>
          <a:lstStyle/>
          <a:p>
            <a:pPr>
              <a:buFont typeface="Wingdings" panose="05000000000000000000" pitchFamily="2" charset="2"/>
              <a:buChar char="q"/>
            </a:pPr>
            <a:r>
              <a:rPr lang="en-US" sz="2400" b="1" dirty="0"/>
              <a:t>Temporal analysis of distribution software in other sectors and possible application in petroleum </a:t>
            </a:r>
            <a:r>
              <a:rPr lang="en-US" sz="2400" b="1" dirty="0" smtClean="0"/>
              <a:t>distribution</a:t>
            </a:r>
          </a:p>
          <a:p>
            <a:r>
              <a:rPr lang="en-US" sz="2400" dirty="0"/>
              <a:t>Five top Software companies acknowledged in the oil and gas exploration </a:t>
            </a:r>
            <a:r>
              <a:rPr lang="en-US" sz="2400" dirty="0" smtClean="0"/>
              <a:t>are:</a:t>
            </a:r>
          </a:p>
          <a:p>
            <a:pPr marL="457200" indent="-457200">
              <a:buFont typeface="+mj-lt"/>
              <a:buAutoNum type="arabicPeriod"/>
            </a:pPr>
            <a:r>
              <a:rPr lang="en-US" sz="2400" dirty="0"/>
              <a:t>Petrel software solution by Schlumberger </a:t>
            </a:r>
            <a:endParaRPr lang="en-US" sz="2400" dirty="0" smtClean="0"/>
          </a:p>
          <a:p>
            <a:pPr marL="457200" indent="-457200">
              <a:buFont typeface="+mj-lt"/>
              <a:buAutoNum type="arabicPeriod"/>
            </a:pPr>
            <a:r>
              <a:rPr lang="en-US" sz="2400" dirty="0"/>
              <a:t>Landmark software solution by Halliburton </a:t>
            </a:r>
            <a:endParaRPr lang="en-US" sz="2400" dirty="0" smtClean="0"/>
          </a:p>
          <a:p>
            <a:pPr marL="457200" indent="-457200">
              <a:buFont typeface="+mj-lt"/>
              <a:buAutoNum type="arabicPeriod"/>
            </a:pPr>
            <a:r>
              <a:rPr lang="en-US" sz="2400" dirty="0"/>
              <a:t>Eclipse reservoir simulation software by Schlumberger </a:t>
            </a:r>
            <a:endParaRPr lang="en-US" sz="2400" dirty="0" smtClean="0"/>
          </a:p>
          <a:p>
            <a:pPr marL="457200" indent="-457200">
              <a:buFont typeface="+mj-lt"/>
              <a:buAutoNum type="arabicPeriod"/>
            </a:pPr>
            <a:r>
              <a:rPr lang="en-US" sz="2400" dirty="0"/>
              <a:t>HYSYS process simulation software by </a:t>
            </a:r>
            <a:r>
              <a:rPr lang="en-US" sz="2400" dirty="0" err="1" smtClean="0"/>
              <a:t>AspenTech</a:t>
            </a:r>
            <a:endParaRPr lang="en-US" sz="2400" dirty="0" smtClean="0"/>
          </a:p>
          <a:p>
            <a:pPr marL="457200" indent="-457200">
              <a:buFont typeface="+mj-lt"/>
              <a:buAutoNum type="arabicPeriod"/>
            </a:pPr>
            <a:r>
              <a:rPr lang="en-US" sz="2400" dirty="0" smtClean="0"/>
              <a:t>OFM </a:t>
            </a:r>
            <a:r>
              <a:rPr lang="en-US" sz="2400" dirty="0"/>
              <a:t>is a production analysis software by Schlumberger </a:t>
            </a:r>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5</a:t>
            </a:fld>
            <a:endParaRPr lang="en-US" dirty="0"/>
          </a:p>
        </p:txBody>
      </p:sp>
      <p:pic>
        <p:nvPicPr>
          <p:cNvPr id="3" name="Picture 2"/>
          <p:cNvPicPr>
            <a:picLocks noChangeAspect="1"/>
          </p:cNvPicPr>
          <p:nvPr/>
        </p:nvPicPr>
        <p:blipFill>
          <a:blip r:embed="rId2"/>
          <a:stretch>
            <a:fillRect/>
          </a:stretch>
        </p:blipFill>
        <p:spPr>
          <a:xfrm>
            <a:off x="9027621" y="2739316"/>
            <a:ext cx="3022869" cy="3371380"/>
          </a:xfrm>
          <a:prstGeom prst="rect">
            <a:avLst/>
          </a:prstGeom>
        </p:spPr>
      </p:pic>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15E3981-F0D7-482C-A8E0-6A57700BECA7}"/>
              </a:ext>
            </a:extLst>
          </p:cNvPr>
          <p:cNvSpPr>
            <a:spLocks noGrp="1"/>
          </p:cNvSpPr>
          <p:nvPr>
            <p:ph type="title"/>
          </p:nvPr>
        </p:nvSpPr>
        <p:spPr>
          <a:xfrm>
            <a:off x="154341" y="386875"/>
            <a:ext cx="6609443" cy="535531"/>
          </a:xfrm>
        </p:spPr>
        <p:txBody>
          <a:bodyPr/>
          <a:lstStyle/>
          <a:p>
            <a:r>
              <a:rPr lang="en-US" dirty="0"/>
              <a:t>Results and </a:t>
            </a:r>
            <a:r>
              <a:rPr lang="en-US" dirty="0" smtClean="0"/>
              <a:t>Discussions cont.</a:t>
            </a:r>
            <a:endParaRPr lang="en-US" dirty="0"/>
          </a:p>
        </p:txBody>
      </p:sp>
      <p:sp>
        <p:nvSpPr>
          <p:cNvPr id="2" name="Slide Number Placeholder 1">
            <a:extLst>
              <a:ext uri="{FF2B5EF4-FFF2-40B4-BE49-F238E27FC236}">
                <a16:creationId xmlns:a16="http://schemas.microsoft.com/office/drawing/2014/main" xmlns="" id="{520FC4EE-F318-4344-9E3C-B950ADB63865}"/>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8" name="Text Placeholder 7">
            <a:extLst>
              <a:ext uri="{FF2B5EF4-FFF2-40B4-BE49-F238E27FC236}">
                <a16:creationId xmlns:a16="http://schemas.microsoft.com/office/drawing/2014/main" xmlns="" id="{47DC4E62-1A34-4F98-A451-214F1808519C}"/>
              </a:ext>
            </a:extLst>
          </p:cNvPr>
          <p:cNvSpPr>
            <a:spLocks noGrp="1"/>
          </p:cNvSpPr>
          <p:nvPr>
            <p:ph type="body" sz="quarter" idx="2"/>
          </p:nvPr>
        </p:nvSpPr>
        <p:spPr>
          <a:xfrm>
            <a:off x="328386" y="922406"/>
            <a:ext cx="5207890" cy="5392669"/>
          </a:xfrm>
        </p:spPr>
        <p:txBody>
          <a:bodyPr>
            <a:normAutofit/>
          </a:bodyPr>
          <a:lstStyle/>
          <a:p>
            <a:r>
              <a:rPr lang="en-GB" sz="2400" b="1" dirty="0"/>
              <a:t>Best Strategies in Petroleum Product </a:t>
            </a:r>
            <a:r>
              <a:rPr lang="en-GB" sz="2400" b="1" dirty="0" smtClean="0"/>
              <a:t>Distribution</a:t>
            </a:r>
          </a:p>
          <a:p>
            <a:r>
              <a:rPr lang="en-GB" sz="2400" dirty="0" smtClean="0"/>
              <a:t>The </a:t>
            </a:r>
            <a:r>
              <a:rPr lang="en-GB" sz="2400" dirty="0"/>
              <a:t>variables </a:t>
            </a:r>
            <a:r>
              <a:rPr lang="en-US" sz="2400" dirty="0"/>
              <a:t>BDO</a:t>
            </a:r>
            <a:r>
              <a:rPr lang="en-GB" sz="2400" baseline="-25000" dirty="0" smtClean="0"/>
              <a:t>2</a:t>
            </a:r>
            <a:r>
              <a:rPr lang="en-GB" sz="2400" dirty="0" smtClean="0"/>
              <a:t>-</a:t>
            </a:r>
            <a:r>
              <a:rPr lang="en-US" sz="2400" dirty="0" smtClean="0"/>
              <a:t>BDO</a:t>
            </a:r>
            <a:r>
              <a:rPr lang="en-GB" sz="2400" baseline="-25000" dirty="0"/>
              <a:t>5, </a:t>
            </a:r>
            <a:r>
              <a:rPr lang="en-GB" sz="2400" dirty="0"/>
              <a:t>representing samples of pipeline efficiency, ICT systems, boost in local supply, and supplier segmentations, have minimum values of 3 and 5, respectively. </a:t>
            </a:r>
            <a:endParaRPr lang="en-GB" sz="2400" dirty="0" smtClean="0"/>
          </a:p>
          <a:p>
            <a:r>
              <a:rPr lang="en-GB" sz="2400" dirty="0" smtClean="0"/>
              <a:t>The </a:t>
            </a:r>
            <a:r>
              <a:rPr lang="en-GB" sz="2400" dirty="0"/>
              <a:t>mean ratio of all sample variables ranged between 4.2 and 4.5, with the sample data of ICT system having the highest mean value of 4.5. </a:t>
            </a:r>
            <a:endParaRPr lang="en-US" sz="2400" dirty="0"/>
          </a:p>
        </p:txBody>
      </p:sp>
      <p:graphicFrame>
        <p:nvGraphicFramePr>
          <p:cNvPr id="7" name="Table 6"/>
          <p:cNvGraphicFramePr>
            <a:graphicFrameLocks noGrp="1"/>
          </p:cNvGraphicFramePr>
          <p:nvPr>
            <p:extLst>
              <p:ext uri="{D42A27DB-BD31-4B8C-83A1-F6EECF244321}">
                <p14:modId xmlns:p14="http://schemas.microsoft.com/office/powerpoint/2010/main" val="1733338327"/>
              </p:ext>
            </p:extLst>
          </p:nvPr>
        </p:nvGraphicFramePr>
        <p:xfrm>
          <a:off x="5710321" y="1546166"/>
          <a:ext cx="6066043" cy="3624352"/>
        </p:xfrm>
        <a:graphic>
          <a:graphicData uri="http://schemas.openxmlformats.org/drawingml/2006/table">
            <a:tbl>
              <a:tblPr>
                <a:tableStyleId>{5C22544A-7EE6-4342-B048-85BDC9FD1C3A}</a:tableStyleId>
              </a:tblPr>
              <a:tblGrid>
                <a:gridCol w="3487053"/>
                <a:gridCol w="406824"/>
                <a:gridCol w="432652"/>
                <a:gridCol w="452025"/>
                <a:gridCol w="581175"/>
                <a:gridCol w="28699"/>
                <a:gridCol w="677615"/>
              </a:tblGrid>
              <a:tr h="359193">
                <a:tc gridSpan="6">
                  <a:txBody>
                    <a:bodyPr/>
                    <a:lstStyle/>
                    <a:p>
                      <a:pPr marL="0" marR="38100">
                        <a:lnSpc>
                          <a:spcPct val="107000"/>
                        </a:lnSpc>
                        <a:spcBef>
                          <a:spcPts val="0"/>
                        </a:spcBef>
                        <a:spcAft>
                          <a:spcPts val="0"/>
                        </a:spcAft>
                      </a:pPr>
                      <a:r>
                        <a:rPr lang="en-GB" sz="1000" dirty="0">
                          <a:effectLst/>
                        </a:rPr>
                        <a:t>       Table </a:t>
                      </a:r>
                      <a:r>
                        <a:rPr lang="en-GB" sz="1000" dirty="0" smtClean="0">
                          <a:effectLst/>
                        </a:rPr>
                        <a:t>1:</a:t>
                      </a:r>
                      <a:r>
                        <a:rPr lang="en-US" sz="1000" dirty="0" smtClean="0">
                          <a:effectLst/>
                        </a:rPr>
                        <a:t> </a:t>
                      </a:r>
                      <a:r>
                        <a:rPr lang="en-US" sz="1000" dirty="0">
                          <a:effectLst/>
                        </a:rPr>
                        <a:t>Descriptive Statistics</a:t>
                      </a:r>
                      <a:r>
                        <a:rPr lang="en-GB" sz="1000" dirty="0">
                          <a:effectLst/>
                        </a:rPr>
                        <a:t> of Best Distribution Options</a:t>
                      </a:r>
                      <a:endParaRPr lang="en-US" sz="1100" dirty="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07000"/>
                        </a:lnSpc>
                        <a:spcBef>
                          <a:spcPts val="0"/>
                        </a:spcBef>
                        <a:spcAft>
                          <a:spcPts val="800"/>
                        </a:spcAft>
                      </a:pPr>
                      <a:r>
                        <a:rPr lang="en-US" sz="1100">
                          <a:effectLst/>
                        </a:rPr>
                        <a:t>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ctr"/>
                </a:tc>
              </a:tr>
              <a:tr h="653031">
                <a:tc>
                  <a:txBody>
                    <a:bodyPr/>
                    <a:lstStyle/>
                    <a:p>
                      <a:pPr marL="0" marR="0">
                        <a:lnSpc>
                          <a:spcPct val="107000"/>
                        </a:lnSpc>
                        <a:spcBef>
                          <a:spcPts val="0"/>
                        </a:spcBef>
                        <a:spcAft>
                          <a:spcPts val="0"/>
                        </a:spcAft>
                      </a:pPr>
                      <a:r>
                        <a:rPr lang="en-US" sz="1000">
                          <a:effectLst/>
                        </a:rPr>
                        <a:t>Options</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N</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Min.</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Max.</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Mean</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gridSpan="2">
                  <a:txBody>
                    <a:bodyPr/>
                    <a:lstStyle/>
                    <a:p>
                      <a:pPr marL="38100" marR="38100" algn="ctr">
                        <a:lnSpc>
                          <a:spcPct val="107000"/>
                        </a:lnSpc>
                        <a:spcBef>
                          <a:spcPts val="0"/>
                        </a:spcBef>
                        <a:spcAft>
                          <a:spcPts val="0"/>
                        </a:spcAft>
                      </a:pPr>
                      <a:r>
                        <a:rPr lang="en-US" sz="1000">
                          <a:effectLst/>
                        </a:rPr>
                        <a:t>Std. Deviation</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hMerge="1">
                  <a:txBody>
                    <a:bodyPr/>
                    <a:lstStyle/>
                    <a:p>
                      <a:endParaRPr lang="en-US"/>
                    </a:p>
                  </a:txBody>
                  <a:tcPr/>
                </a:tc>
              </a:tr>
              <a:tr h="326516">
                <a:tc>
                  <a:txBody>
                    <a:bodyPr/>
                    <a:lstStyle/>
                    <a:p>
                      <a:pPr marL="0" marR="38100">
                        <a:lnSpc>
                          <a:spcPct val="107000"/>
                        </a:lnSpc>
                        <a:spcBef>
                          <a:spcPts val="0"/>
                        </a:spcBef>
                        <a:spcAft>
                          <a:spcPts val="0"/>
                        </a:spcAft>
                      </a:pPr>
                      <a:r>
                        <a:rPr lang="en-US" sz="1000">
                          <a:effectLst/>
                        </a:rPr>
                        <a:t>BDO</a:t>
                      </a:r>
                      <a:r>
                        <a:rPr lang="en-US" sz="1000" baseline="-25000">
                          <a:effectLst/>
                        </a:rPr>
                        <a:t>1</a:t>
                      </a:r>
                      <a:r>
                        <a:rPr lang="en-US" sz="1000">
                          <a:effectLst/>
                        </a:rPr>
                        <a:t>: L</a:t>
                      </a:r>
                      <a:r>
                        <a:rPr lang="en-GB" sz="1000">
                          <a:effectLst/>
                        </a:rPr>
                        <a:t>arge-scale storage for efficient distribution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5.00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4.2995</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gridSpan="2">
                  <a:txBody>
                    <a:bodyPr/>
                    <a:lstStyle/>
                    <a:p>
                      <a:pPr marL="38100" marR="38100" algn="r">
                        <a:lnSpc>
                          <a:spcPct val="107000"/>
                        </a:lnSpc>
                        <a:spcBef>
                          <a:spcPts val="0"/>
                        </a:spcBef>
                        <a:spcAft>
                          <a:spcPts val="0"/>
                        </a:spcAft>
                      </a:pPr>
                      <a:r>
                        <a:rPr lang="en-US" sz="1000">
                          <a:effectLst/>
                        </a:rPr>
                        <a:t>.85267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r>
              <a:tr h="326516">
                <a:tc>
                  <a:txBody>
                    <a:bodyPr/>
                    <a:lstStyle/>
                    <a:p>
                      <a:pPr marL="0" marR="38100">
                        <a:lnSpc>
                          <a:spcPct val="107000"/>
                        </a:lnSpc>
                        <a:spcBef>
                          <a:spcPts val="0"/>
                        </a:spcBef>
                        <a:spcAft>
                          <a:spcPts val="0"/>
                        </a:spcAft>
                      </a:pPr>
                      <a:r>
                        <a:rPr lang="en-US" sz="1000" dirty="0">
                          <a:effectLst/>
                        </a:rPr>
                        <a:t>BDO</a:t>
                      </a:r>
                      <a:r>
                        <a:rPr lang="en-US" sz="1000" baseline="-25000" dirty="0">
                          <a:effectLst/>
                        </a:rPr>
                        <a:t>2</a:t>
                      </a:r>
                      <a:r>
                        <a:rPr lang="en-US" sz="1000" dirty="0">
                          <a:effectLst/>
                        </a:rPr>
                        <a:t>: </a:t>
                      </a:r>
                      <a:r>
                        <a:rPr lang="en-GB" sz="1000" dirty="0">
                          <a:effectLst/>
                        </a:rPr>
                        <a:t>Improved and efficient pipeline network </a:t>
                      </a:r>
                      <a:endParaRPr lang="en-US" sz="1100" dirty="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5.00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4.3743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gridSpan="2">
                  <a:txBody>
                    <a:bodyPr/>
                    <a:lstStyle/>
                    <a:p>
                      <a:pPr marL="38100" marR="38100" algn="r">
                        <a:lnSpc>
                          <a:spcPct val="107000"/>
                        </a:lnSpc>
                        <a:spcBef>
                          <a:spcPts val="0"/>
                        </a:spcBef>
                        <a:spcAft>
                          <a:spcPts val="0"/>
                        </a:spcAft>
                      </a:pPr>
                      <a:r>
                        <a:rPr lang="en-US" sz="1000">
                          <a:effectLst/>
                        </a:rPr>
                        <a:t>.75419</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r>
              <a:tr h="326516">
                <a:tc>
                  <a:txBody>
                    <a:bodyPr/>
                    <a:lstStyle/>
                    <a:p>
                      <a:pPr marL="0" marR="38100">
                        <a:lnSpc>
                          <a:spcPct val="107000"/>
                        </a:lnSpc>
                        <a:spcBef>
                          <a:spcPts val="0"/>
                        </a:spcBef>
                        <a:spcAft>
                          <a:spcPts val="0"/>
                        </a:spcAft>
                      </a:pPr>
                      <a:r>
                        <a:rPr lang="en-US" sz="1000">
                          <a:effectLst/>
                        </a:rPr>
                        <a:t>BDO</a:t>
                      </a:r>
                      <a:r>
                        <a:rPr lang="en-US" sz="1000" baseline="-25000">
                          <a:effectLst/>
                        </a:rPr>
                        <a:t>3</a:t>
                      </a:r>
                      <a:r>
                        <a:rPr lang="en-US" sz="1000">
                          <a:effectLst/>
                        </a:rPr>
                        <a:t>: Supplier</a:t>
                      </a:r>
                      <a:r>
                        <a:rPr lang="en-GB" sz="1000">
                          <a:effectLst/>
                        </a:rPr>
                        <a:t> segmentation for resource optimization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5.00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4.4973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gridSpan="2">
                  <a:txBody>
                    <a:bodyPr/>
                    <a:lstStyle/>
                    <a:p>
                      <a:pPr marL="38100" marR="38100" algn="r">
                        <a:lnSpc>
                          <a:spcPct val="107000"/>
                        </a:lnSpc>
                        <a:spcBef>
                          <a:spcPts val="0"/>
                        </a:spcBef>
                        <a:spcAft>
                          <a:spcPts val="0"/>
                        </a:spcAft>
                      </a:pPr>
                      <a:r>
                        <a:rPr lang="en-US" sz="1000">
                          <a:effectLst/>
                        </a:rPr>
                        <a:t>.65068</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r>
              <a:tr h="326516">
                <a:tc>
                  <a:txBody>
                    <a:bodyPr/>
                    <a:lstStyle/>
                    <a:p>
                      <a:pPr marL="0" marR="38100">
                        <a:lnSpc>
                          <a:spcPct val="107000"/>
                        </a:lnSpc>
                        <a:spcBef>
                          <a:spcPts val="0"/>
                        </a:spcBef>
                        <a:spcAft>
                          <a:spcPts val="0"/>
                        </a:spcAft>
                      </a:pPr>
                      <a:r>
                        <a:rPr lang="en-GB" sz="1000">
                          <a:effectLst/>
                        </a:rPr>
                        <a:t>BDO</a:t>
                      </a:r>
                      <a:r>
                        <a:rPr lang="en-GB" sz="1000" baseline="-25000">
                          <a:effectLst/>
                        </a:rPr>
                        <a:t>4</a:t>
                      </a:r>
                      <a:r>
                        <a:rPr lang="en-GB" sz="1000">
                          <a:effectLst/>
                        </a:rPr>
                        <a:t>: Integrated </a:t>
                      </a:r>
                      <a:r>
                        <a:rPr lang="en-US" sz="1000">
                          <a:effectLst/>
                        </a:rPr>
                        <a:t>ICT</a:t>
                      </a:r>
                      <a:r>
                        <a:rPr lang="en-GB" sz="1000">
                          <a:effectLst/>
                        </a:rPr>
                        <a:t> system for efficient management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6.00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4.5134</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gridSpan="2">
                  <a:txBody>
                    <a:bodyPr/>
                    <a:lstStyle/>
                    <a:p>
                      <a:pPr marL="38100" marR="38100" algn="r">
                        <a:lnSpc>
                          <a:spcPct val="107000"/>
                        </a:lnSpc>
                        <a:spcBef>
                          <a:spcPts val="0"/>
                        </a:spcBef>
                        <a:spcAft>
                          <a:spcPts val="0"/>
                        </a:spcAft>
                      </a:pPr>
                      <a:r>
                        <a:rPr lang="en-US" sz="1000">
                          <a:effectLst/>
                        </a:rPr>
                        <a:t>.71360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r>
              <a:tr h="326516">
                <a:tc>
                  <a:txBody>
                    <a:bodyPr/>
                    <a:lstStyle/>
                    <a:p>
                      <a:pPr marL="0" marR="38100">
                        <a:lnSpc>
                          <a:spcPct val="107000"/>
                        </a:lnSpc>
                        <a:spcBef>
                          <a:spcPts val="0"/>
                        </a:spcBef>
                        <a:spcAft>
                          <a:spcPts val="0"/>
                        </a:spcAft>
                      </a:pPr>
                      <a:r>
                        <a:rPr lang="en-US" sz="1000">
                          <a:effectLst/>
                        </a:rPr>
                        <a:t>BDO</a:t>
                      </a:r>
                      <a:r>
                        <a:rPr lang="en-US" sz="1000" baseline="-25000">
                          <a:effectLst/>
                        </a:rPr>
                        <a:t>5</a:t>
                      </a:r>
                      <a:r>
                        <a:rPr lang="en-US" sz="1000">
                          <a:effectLst/>
                        </a:rPr>
                        <a:t>: </a:t>
                      </a:r>
                      <a:r>
                        <a:rPr lang="en-GB" sz="1000">
                          <a:effectLst/>
                        </a:rPr>
                        <a:t>Investment in local refinery to boost supply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5.00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4.3422</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gridSpan="2">
                  <a:txBody>
                    <a:bodyPr/>
                    <a:lstStyle/>
                    <a:p>
                      <a:pPr marL="38100" marR="38100" algn="r">
                        <a:lnSpc>
                          <a:spcPct val="107000"/>
                        </a:lnSpc>
                        <a:spcBef>
                          <a:spcPts val="0"/>
                        </a:spcBef>
                        <a:spcAft>
                          <a:spcPts val="0"/>
                        </a:spcAft>
                      </a:pPr>
                      <a:r>
                        <a:rPr lang="en-US" sz="1000">
                          <a:effectLst/>
                        </a:rPr>
                        <a:t>.74088</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r>
              <a:tr h="326516">
                <a:tc>
                  <a:txBody>
                    <a:bodyPr/>
                    <a:lstStyle/>
                    <a:p>
                      <a:pPr marL="0" marR="38100">
                        <a:lnSpc>
                          <a:spcPct val="107000"/>
                        </a:lnSpc>
                        <a:spcBef>
                          <a:spcPts val="0"/>
                        </a:spcBef>
                        <a:spcAft>
                          <a:spcPts val="0"/>
                        </a:spcAft>
                      </a:pPr>
                      <a:r>
                        <a:rPr lang="en-US" sz="1000">
                          <a:effectLst/>
                        </a:rPr>
                        <a:t>BDO</a:t>
                      </a:r>
                      <a:r>
                        <a:rPr lang="en-US" sz="1000" baseline="-25000">
                          <a:effectLst/>
                        </a:rPr>
                        <a:t>6</a:t>
                      </a:r>
                      <a:r>
                        <a:rPr lang="en-US" sz="1000">
                          <a:effectLst/>
                        </a:rPr>
                        <a:t>: </a:t>
                      </a:r>
                      <a:r>
                        <a:rPr lang="en-GB" sz="1000">
                          <a:effectLst/>
                        </a:rPr>
                        <a:t>Investment in local expertise for efficient operation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5.00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4.3529</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gridSpan="2">
                  <a:txBody>
                    <a:bodyPr/>
                    <a:lstStyle/>
                    <a:p>
                      <a:pPr marL="38100" marR="38100" algn="r">
                        <a:lnSpc>
                          <a:spcPct val="107000"/>
                        </a:lnSpc>
                        <a:spcBef>
                          <a:spcPts val="0"/>
                        </a:spcBef>
                        <a:spcAft>
                          <a:spcPts val="0"/>
                        </a:spcAft>
                      </a:pPr>
                      <a:r>
                        <a:rPr lang="en-US" sz="1000">
                          <a:effectLst/>
                        </a:rPr>
                        <a:t>.73582</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r>
              <a:tr h="326516">
                <a:tc>
                  <a:txBody>
                    <a:bodyPr/>
                    <a:lstStyle/>
                    <a:p>
                      <a:pPr marL="0" marR="38100">
                        <a:lnSpc>
                          <a:spcPct val="107000"/>
                        </a:lnSpc>
                        <a:spcBef>
                          <a:spcPts val="0"/>
                        </a:spcBef>
                        <a:spcAft>
                          <a:spcPts val="0"/>
                        </a:spcAft>
                      </a:pPr>
                      <a:r>
                        <a:rPr lang="en-US" sz="1000">
                          <a:effectLst/>
                        </a:rPr>
                        <a:t>BDO</a:t>
                      </a:r>
                      <a:r>
                        <a:rPr lang="en-US" sz="1000" baseline="-25000">
                          <a:effectLst/>
                        </a:rPr>
                        <a:t>7</a:t>
                      </a:r>
                      <a:r>
                        <a:rPr lang="en-US" sz="1000">
                          <a:effectLst/>
                        </a:rPr>
                        <a:t>: In</a:t>
                      </a:r>
                      <a:r>
                        <a:rPr lang="en-GB" sz="1000">
                          <a:effectLst/>
                        </a:rPr>
                        <a:t>tegrated management system and process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5.00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4.3155</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gridSpan="2">
                  <a:txBody>
                    <a:bodyPr/>
                    <a:lstStyle/>
                    <a:p>
                      <a:pPr marL="38100" marR="38100" algn="r">
                        <a:lnSpc>
                          <a:spcPct val="107000"/>
                        </a:lnSpc>
                        <a:spcBef>
                          <a:spcPts val="0"/>
                        </a:spcBef>
                        <a:spcAft>
                          <a:spcPts val="0"/>
                        </a:spcAft>
                      </a:pPr>
                      <a:r>
                        <a:rPr lang="en-US" sz="1000">
                          <a:effectLst/>
                        </a:rPr>
                        <a:t>.81776</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r>
              <a:tr h="326516">
                <a:tc>
                  <a:txBody>
                    <a:bodyPr/>
                    <a:lstStyle/>
                    <a:p>
                      <a:pPr marL="38100" marR="38100">
                        <a:lnSpc>
                          <a:spcPct val="107000"/>
                        </a:lnSpc>
                        <a:spcBef>
                          <a:spcPts val="0"/>
                        </a:spcBef>
                        <a:spcAft>
                          <a:spcPts val="0"/>
                        </a:spcAft>
                      </a:pPr>
                      <a:r>
                        <a:rPr lang="en-US" sz="1000" dirty="0">
                          <a:effectLst/>
                        </a:rPr>
                        <a:t>Valid N (listwise)</a:t>
                      </a:r>
                      <a:endParaRPr lang="en-US" sz="1100" dirty="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dirty="0">
                          <a:effectLst/>
                        </a:rPr>
                        <a:t>187</a:t>
                      </a:r>
                      <a:endParaRPr lang="en-US" sz="1100" dirty="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0" marR="0">
                        <a:lnSpc>
                          <a:spcPct val="107000"/>
                        </a:lnSpc>
                        <a:spcBef>
                          <a:spcPts val="0"/>
                        </a:spcBef>
                        <a:spcAft>
                          <a:spcPts val="0"/>
                        </a:spcAft>
                      </a:pPr>
                      <a:r>
                        <a:rPr lang="en-US" sz="1000">
                          <a:effectLst/>
                        </a:rPr>
                        <a:t>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ctr"/>
                </a:tc>
                <a:tc>
                  <a:txBody>
                    <a:bodyPr/>
                    <a:lstStyle/>
                    <a:p>
                      <a:pPr marL="0" marR="0">
                        <a:lnSpc>
                          <a:spcPct val="107000"/>
                        </a:lnSpc>
                        <a:spcBef>
                          <a:spcPts val="0"/>
                        </a:spcBef>
                        <a:spcAft>
                          <a:spcPts val="0"/>
                        </a:spcAft>
                      </a:pPr>
                      <a:r>
                        <a:rPr lang="en-US" sz="1000">
                          <a:effectLst/>
                        </a:rPr>
                        <a:t>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ctr"/>
                </a:tc>
                <a:tc>
                  <a:txBody>
                    <a:bodyPr/>
                    <a:lstStyle/>
                    <a:p>
                      <a:pPr marL="0" marR="0">
                        <a:lnSpc>
                          <a:spcPct val="107000"/>
                        </a:lnSpc>
                        <a:spcBef>
                          <a:spcPts val="0"/>
                        </a:spcBef>
                        <a:spcAft>
                          <a:spcPts val="0"/>
                        </a:spcAft>
                      </a:pPr>
                      <a:r>
                        <a:rPr lang="en-US" sz="1000">
                          <a:effectLst/>
                        </a:rPr>
                        <a:t>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ctr"/>
                </a:tc>
                <a:tc gridSpan="2">
                  <a:txBody>
                    <a:bodyPr/>
                    <a:lstStyle/>
                    <a:p>
                      <a:pPr marL="0" marR="0">
                        <a:lnSpc>
                          <a:spcPct val="107000"/>
                        </a:lnSpc>
                        <a:spcBef>
                          <a:spcPts val="0"/>
                        </a:spcBef>
                        <a:spcAft>
                          <a:spcPts val="0"/>
                        </a:spcAft>
                      </a:pPr>
                      <a:r>
                        <a:rPr lang="en-US" sz="1000" dirty="0">
                          <a:effectLst/>
                        </a:rPr>
                        <a:t> </a:t>
                      </a:r>
                      <a:endParaRPr lang="en-US" sz="1100" dirty="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ctr"/>
                </a:tc>
                <a:tc hMerge="1">
                  <a:txBody>
                    <a:bodyPr/>
                    <a:lstStyle/>
                    <a:p>
                      <a:endParaRPr lang="en-US"/>
                    </a:p>
                  </a:txBody>
                  <a:tcPr/>
                </a:tc>
              </a:tr>
            </a:tbl>
          </a:graphicData>
        </a:graphic>
      </p:graphicFrame>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15E3981-F0D7-482C-A8E0-6A57700BECA7}"/>
              </a:ext>
            </a:extLst>
          </p:cNvPr>
          <p:cNvSpPr>
            <a:spLocks noGrp="1"/>
          </p:cNvSpPr>
          <p:nvPr>
            <p:ph type="title"/>
          </p:nvPr>
        </p:nvSpPr>
        <p:spPr>
          <a:xfrm>
            <a:off x="278423" y="542926"/>
            <a:ext cx="5806493" cy="471227"/>
          </a:xfrm>
        </p:spPr>
        <p:txBody>
          <a:bodyPr/>
          <a:lstStyle/>
          <a:p>
            <a:r>
              <a:rPr lang="en-US" dirty="0"/>
              <a:t>Results and Discussions </a:t>
            </a:r>
            <a:r>
              <a:rPr lang="en-US" dirty="0" smtClean="0"/>
              <a:t>cont.2</a:t>
            </a:r>
            <a:endParaRPr lang="en-US" dirty="0"/>
          </a:p>
        </p:txBody>
      </p:sp>
      <p:sp>
        <p:nvSpPr>
          <p:cNvPr id="19" name="Text Placeholder 18">
            <a:extLst>
              <a:ext uri="{FF2B5EF4-FFF2-40B4-BE49-F238E27FC236}">
                <a16:creationId xmlns:a16="http://schemas.microsoft.com/office/drawing/2014/main" xmlns="" id="{782206B1-586F-4254-9B36-D06C4E294ACF}"/>
              </a:ext>
            </a:extLst>
          </p:cNvPr>
          <p:cNvSpPr>
            <a:spLocks noGrp="1"/>
          </p:cNvSpPr>
          <p:nvPr>
            <p:ph type="body" sz="quarter" idx="18"/>
          </p:nvPr>
        </p:nvSpPr>
        <p:spPr>
          <a:xfrm>
            <a:off x="278422" y="1246908"/>
            <a:ext cx="10973778" cy="5433292"/>
          </a:xfrm>
        </p:spPr>
        <p:txBody>
          <a:bodyPr/>
          <a:lstStyle/>
          <a:p>
            <a:pPr marL="342900" indent="-342900">
              <a:buFont typeface="Wingdings" panose="05000000000000000000" pitchFamily="2" charset="2"/>
              <a:buChar char="q"/>
            </a:pPr>
            <a:r>
              <a:rPr lang="en-GB" sz="2400" b="1" dirty="0"/>
              <a:t>Effect of ICT Integration on Agile Performance of Petroleum </a:t>
            </a:r>
            <a:r>
              <a:rPr lang="en-GB" sz="2400" b="1" dirty="0" smtClean="0"/>
              <a:t>Distribution</a:t>
            </a:r>
          </a:p>
          <a:p>
            <a:pPr marL="342900" indent="-342900">
              <a:buFont typeface="Wingdings" panose="05000000000000000000" pitchFamily="2" charset="2"/>
              <a:buChar char="q"/>
            </a:pPr>
            <a:endParaRPr lang="en-GB" sz="2400" b="1" dirty="0" smtClean="0"/>
          </a:p>
          <a:p>
            <a:pPr marL="342900" indent="-342900">
              <a:buFont typeface="Wingdings" panose="05000000000000000000" pitchFamily="2" charset="2"/>
              <a:buChar char="q"/>
            </a:pPr>
            <a:endParaRPr lang="en-GB" sz="2400" b="1" dirty="0" smtClean="0"/>
          </a:p>
          <a:p>
            <a:pPr marL="342900" indent="-342900">
              <a:buFont typeface="Wingdings" panose="05000000000000000000" pitchFamily="2" charset="2"/>
              <a:buChar char="q"/>
            </a:pPr>
            <a:endParaRPr lang="en-GB" sz="2400" b="1" dirty="0" smtClean="0"/>
          </a:p>
          <a:p>
            <a:pPr marL="342900" indent="-342900">
              <a:buFont typeface="Wingdings" panose="05000000000000000000" pitchFamily="2" charset="2"/>
              <a:buChar char="q"/>
            </a:pPr>
            <a:endParaRPr lang="en-GB" sz="2400" b="1" dirty="0"/>
          </a:p>
          <a:p>
            <a:pPr marL="342900" indent="-342900">
              <a:buFont typeface="Wingdings" panose="05000000000000000000" pitchFamily="2" charset="2"/>
              <a:buChar char="q"/>
            </a:pPr>
            <a:endParaRPr lang="en-GB" sz="2400" b="1" dirty="0" smtClean="0"/>
          </a:p>
          <a:p>
            <a:pPr marL="342900" indent="-342900">
              <a:buFont typeface="Arial" panose="020B0604020202020204" pitchFamily="34" charset="0"/>
              <a:buChar char="•"/>
            </a:pPr>
            <a:endParaRPr lang="en-GB" sz="2400" dirty="0" smtClean="0"/>
          </a:p>
          <a:p>
            <a:pPr marL="342900" indent="-342900">
              <a:buFont typeface="Arial" panose="020B0604020202020204" pitchFamily="34" charset="0"/>
              <a:buChar char="•"/>
            </a:pPr>
            <a:endParaRPr lang="en-GB" sz="2400" dirty="0" smtClean="0"/>
          </a:p>
          <a:p>
            <a:pPr marL="342900" indent="-342900">
              <a:buFont typeface="Arial" panose="020B0604020202020204" pitchFamily="34" charset="0"/>
              <a:buChar char="•"/>
            </a:pPr>
            <a:r>
              <a:rPr lang="en-GB" sz="2400" dirty="0" smtClean="0"/>
              <a:t>K-test </a:t>
            </a:r>
            <a:r>
              <a:rPr lang="en-GB" sz="2400" dirty="0"/>
              <a:t>data result of Table </a:t>
            </a:r>
            <a:r>
              <a:rPr lang="en-GB" sz="2400" dirty="0" smtClean="0"/>
              <a:t>2 </a:t>
            </a:r>
            <a:r>
              <a:rPr lang="en-GB" sz="2400" dirty="0"/>
              <a:t>shows mean responses higher than the Likert mean test value of 3, indicating the variables are true of ICT effects on product distribution efficiency. </a:t>
            </a:r>
          </a:p>
          <a:p>
            <a:pPr marL="342900" indent="-342900">
              <a:buFont typeface="Arial" panose="020B0604020202020204" pitchFamily="34" charset="0"/>
              <a:buChar char="•"/>
            </a:pPr>
            <a:endParaRPr lang="en-US" sz="2400" dirty="0"/>
          </a:p>
          <a:p>
            <a:pPr marL="342900" indent="-342900">
              <a:buFont typeface="Wingdings" panose="05000000000000000000" pitchFamily="2" charset="2"/>
              <a:buChar char="q"/>
            </a:pPr>
            <a:endParaRPr lang="en-GB" sz="2400" b="1" dirty="0" smtClean="0"/>
          </a:p>
          <a:p>
            <a:pPr marL="342900" indent="-342900">
              <a:buFont typeface="Wingdings" panose="05000000000000000000" pitchFamily="2" charset="2"/>
              <a:buChar char="q"/>
            </a:pPr>
            <a:endParaRPr lang="en-GB" sz="2400" b="1" dirty="0"/>
          </a:p>
          <a:p>
            <a:pPr marL="342900" indent="-342900">
              <a:buFont typeface="Wingdings" panose="05000000000000000000" pitchFamily="2" charset="2"/>
              <a:buChar char="q"/>
            </a:pPr>
            <a:endParaRPr lang="en-GB" sz="2400" b="1" dirty="0" smtClean="0"/>
          </a:p>
          <a:p>
            <a:pPr marL="342900" indent="-342900">
              <a:buFont typeface="Wingdings" panose="05000000000000000000" pitchFamily="2" charset="2"/>
              <a:buChar char="q"/>
            </a:pPr>
            <a:endParaRPr lang="en-GB" sz="2400" b="1" dirty="0"/>
          </a:p>
          <a:p>
            <a:pPr marL="342900" indent="-342900">
              <a:buFont typeface="Wingdings" panose="05000000000000000000" pitchFamily="2" charset="2"/>
              <a:buChar char="q"/>
            </a:pPr>
            <a:endParaRPr lang="en-GB" sz="2400" b="1" dirty="0" smtClean="0"/>
          </a:p>
          <a:p>
            <a:pPr marL="342900" indent="-342900">
              <a:buFont typeface="Wingdings" panose="05000000000000000000" pitchFamily="2" charset="2"/>
              <a:buChar char="q"/>
            </a:pPr>
            <a:endParaRPr lang="en-GB" sz="2400" b="1" dirty="0"/>
          </a:p>
          <a:p>
            <a:pPr marL="342900" indent="-342900">
              <a:buFont typeface="Wingdings" panose="05000000000000000000" pitchFamily="2" charset="2"/>
              <a:buChar char="q"/>
            </a:pPr>
            <a:endParaRPr lang="en-US" sz="2400" dirty="0"/>
          </a:p>
        </p:txBody>
      </p:sp>
      <p:sp>
        <p:nvSpPr>
          <p:cNvPr id="2" name="Slide Number Placeholder 1">
            <a:extLst>
              <a:ext uri="{FF2B5EF4-FFF2-40B4-BE49-F238E27FC236}">
                <a16:creationId xmlns:a16="http://schemas.microsoft.com/office/drawing/2014/main" xmlns="" id="{2F478C69-0A1D-45FF-8600-ED903803FFE1}"/>
              </a:ext>
            </a:extLst>
          </p:cNvPr>
          <p:cNvSpPr>
            <a:spLocks noGrp="1"/>
          </p:cNvSpPr>
          <p:nvPr>
            <p:ph type="sldNum" sz="quarter" idx="12"/>
          </p:nvPr>
        </p:nvSpPr>
        <p:spPr/>
        <p:txBody>
          <a:bodyPr/>
          <a:lstStyle/>
          <a:p>
            <a:fld id="{C263D6C4-4840-40CC-AC84-17E24B3B7BDE}" type="slidenum">
              <a:rPr lang="en-US" smtClean="0"/>
              <a:pPr/>
              <a:t>7</a:t>
            </a:fld>
            <a:endParaRPr lang="en-US" dirty="0"/>
          </a:p>
        </p:txBody>
      </p:sp>
      <p:graphicFrame>
        <p:nvGraphicFramePr>
          <p:cNvPr id="13" name="Table 12"/>
          <p:cNvGraphicFramePr>
            <a:graphicFrameLocks noGrp="1"/>
          </p:cNvGraphicFramePr>
          <p:nvPr>
            <p:extLst>
              <p:ext uri="{D42A27DB-BD31-4B8C-83A1-F6EECF244321}">
                <p14:modId xmlns:p14="http://schemas.microsoft.com/office/powerpoint/2010/main" val="1448220445"/>
              </p:ext>
            </p:extLst>
          </p:nvPr>
        </p:nvGraphicFramePr>
        <p:xfrm>
          <a:off x="613295" y="2940257"/>
          <a:ext cx="5587999" cy="2031238"/>
        </p:xfrm>
        <a:graphic>
          <a:graphicData uri="http://schemas.openxmlformats.org/drawingml/2006/table">
            <a:tbl>
              <a:tblPr>
                <a:tableStyleId>{5C22544A-7EE6-4342-B048-85BDC9FD1C3A}</a:tableStyleId>
              </a:tblPr>
              <a:tblGrid>
                <a:gridCol w="920837"/>
                <a:gridCol w="660361"/>
                <a:gridCol w="561307"/>
                <a:gridCol w="561307"/>
                <a:gridCol w="585153"/>
                <a:gridCol w="585153"/>
                <a:gridCol w="570479"/>
                <a:gridCol w="571701"/>
                <a:gridCol w="571701"/>
              </a:tblGrid>
              <a:tr h="45085">
                <a:tc gridSpan="2">
                  <a:txBody>
                    <a:bodyPr/>
                    <a:lstStyle/>
                    <a:p>
                      <a:pPr marL="0" marR="0">
                        <a:lnSpc>
                          <a:spcPct val="107000"/>
                        </a:lnSpc>
                        <a:spcBef>
                          <a:spcPts val="0"/>
                        </a:spcBef>
                        <a:spcAft>
                          <a:spcPts val="0"/>
                        </a:spcAft>
                      </a:pPr>
                      <a:r>
                        <a:rPr lang="en-US" sz="1000" dirty="0">
                          <a:effectLst/>
                        </a:rPr>
                        <a:t> </a:t>
                      </a:r>
                      <a:endParaRPr lang="en-US" sz="1100" dirty="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hMerge="1">
                  <a:txBody>
                    <a:bodyPr/>
                    <a:lstStyle/>
                    <a:p>
                      <a:endParaRPr lang="en-US"/>
                    </a:p>
                  </a:txBody>
                  <a:tcPr/>
                </a:tc>
                <a:tc>
                  <a:txBody>
                    <a:bodyPr/>
                    <a:lstStyle/>
                    <a:p>
                      <a:pPr marL="38100" marR="38100" algn="ctr">
                        <a:lnSpc>
                          <a:spcPct val="107000"/>
                        </a:lnSpc>
                        <a:spcBef>
                          <a:spcPts val="0"/>
                        </a:spcBef>
                        <a:spcAft>
                          <a:spcPts val="0"/>
                        </a:spcAft>
                      </a:pPr>
                      <a:r>
                        <a:rPr lang="en-US" sz="1000">
                          <a:effectLst/>
                        </a:rPr>
                        <a:t>ICT</a:t>
                      </a:r>
                      <a:r>
                        <a:rPr lang="en-US" sz="1000" baseline="-25000">
                          <a:effectLst/>
                        </a:rPr>
                        <a:t>V1</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ICT</a:t>
                      </a:r>
                      <a:r>
                        <a:rPr lang="en-US" sz="1000" baseline="-25000">
                          <a:effectLst/>
                        </a:rPr>
                        <a:t>V2</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ICT</a:t>
                      </a:r>
                      <a:r>
                        <a:rPr lang="en-US" sz="1000" baseline="-25000">
                          <a:effectLst/>
                        </a:rPr>
                        <a:t>V3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ICT</a:t>
                      </a:r>
                      <a:r>
                        <a:rPr lang="en-US" sz="1000" baseline="-25000">
                          <a:effectLst/>
                        </a:rPr>
                        <a:t>V4</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ICT</a:t>
                      </a:r>
                      <a:r>
                        <a:rPr lang="en-US" sz="1000" baseline="-25000">
                          <a:effectLst/>
                        </a:rPr>
                        <a:t>V5</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ICT</a:t>
                      </a:r>
                      <a:r>
                        <a:rPr lang="en-US" sz="1000" baseline="-25000">
                          <a:effectLst/>
                        </a:rPr>
                        <a:t>V6</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c>
                  <a:txBody>
                    <a:bodyPr/>
                    <a:lstStyle/>
                    <a:p>
                      <a:pPr marL="38100" marR="38100" algn="ctr">
                        <a:lnSpc>
                          <a:spcPct val="107000"/>
                        </a:lnSpc>
                        <a:spcBef>
                          <a:spcPts val="0"/>
                        </a:spcBef>
                        <a:spcAft>
                          <a:spcPts val="0"/>
                        </a:spcAft>
                      </a:pPr>
                      <a:r>
                        <a:rPr lang="en-US" sz="1000">
                          <a:effectLst/>
                        </a:rPr>
                        <a:t>ICT</a:t>
                      </a:r>
                      <a:r>
                        <a:rPr lang="en-US" sz="1000" baseline="-25000">
                          <a:effectLst/>
                        </a:rPr>
                        <a:t>V7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nchor="b"/>
                </a:tc>
              </a:tr>
              <a:tr h="90805">
                <a:tc gridSpan="2">
                  <a:txBody>
                    <a:bodyPr/>
                    <a:lstStyle/>
                    <a:p>
                      <a:pPr marL="38100" marR="38100">
                        <a:lnSpc>
                          <a:spcPct val="107000"/>
                        </a:lnSpc>
                        <a:spcBef>
                          <a:spcPts val="0"/>
                        </a:spcBef>
                        <a:spcAft>
                          <a:spcPts val="0"/>
                        </a:spcAft>
                      </a:pPr>
                      <a:r>
                        <a:rPr lang="en-US" sz="1000">
                          <a:effectLst/>
                        </a:rPr>
                        <a:t>N</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187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137160">
                <a:tc rowSpan="2">
                  <a:txBody>
                    <a:bodyPr/>
                    <a:lstStyle/>
                    <a:p>
                      <a:pPr marL="38100" marR="38100">
                        <a:lnSpc>
                          <a:spcPct val="107000"/>
                        </a:lnSpc>
                        <a:spcBef>
                          <a:spcPts val="0"/>
                        </a:spcBef>
                        <a:spcAft>
                          <a:spcPts val="0"/>
                        </a:spcAft>
                      </a:pPr>
                      <a:r>
                        <a:rPr lang="en-US" sz="1000">
                          <a:effectLst/>
                        </a:rPr>
                        <a:t>Normal Parameters</a:t>
                      </a:r>
                      <a:r>
                        <a:rPr lang="en-US" sz="1000" baseline="30000">
                          <a:effectLst/>
                        </a:rPr>
                        <a:t>a,b</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nSpc>
                          <a:spcPct val="107000"/>
                        </a:lnSpc>
                        <a:spcBef>
                          <a:spcPts val="0"/>
                        </a:spcBef>
                        <a:spcAft>
                          <a:spcPts val="0"/>
                        </a:spcAft>
                      </a:pPr>
                      <a:r>
                        <a:rPr lang="en-US" sz="1000">
                          <a:effectLst/>
                        </a:rPr>
                        <a:t>Mean</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4.6684</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4.4278</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4.4920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4.5615</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4.4920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4.5829</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4.4225</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80010">
                <a:tc vMerge="1">
                  <a:txBody>
                    <a:bodyPr/>
                    <a:lstStyle/>
                    <a:p>
                      <a:endParaRPr lang="en-US"/>
                    </a:p>
                  </a:txBody>
                  <a:tcPr/>
                </a:tc>
                <a:tc>
                  <a:txBody>
                    <a:bodyPr/>
                    <a:lstStyle/>
                    <a:p>
                      <a:pPr marL="38100" marR="38100">
                        <a:lnSpc>
                          <a:spcPct val="107000"/>
                        </a:lnSpc>
                        <a:spcBef>
                          <a:spcPts val="0"/>
                        </a:spcBef>
                        <a:spcAft>
                          <a:spcPts val="0"/>
                        </a:spcAft>
                      </a:pPr>
                      <a:r>
                        <a:rPr lang="en-US" sz="1000">
                          <a:effectLst/>
                        </a:rPr>
                        <a:t>Std. Dev.</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.59317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.79574</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.65884</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.68800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.66695</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.61112</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.74641</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137160">
                <a:tc rowSpan="3">
                  <a:txBody>
                    <a:bodyPr/>
                    <a:lstStyle/>
                    <a:p>
                      <a:pPr marL="38100" marR="38100">
                        <a:lnSpc>
                          <a:spcPct val="107000"/>
                        </a:lnSpc>
                        <a:spcBef>
                          <a:spcPts val="0"/>
                        </a:spcBef>
                        <a:spcAft>
                          <a:spcPts val="0"/>
                        </a:spcAft>
                      </a:pPr>
                      <a:r>
                        <a:rPr lang="en-US" sz="1000">
                          <a:effectLst/>
                        </a:rPr>
                        <a:t>Most Extreme Differences</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nSpc>
                          <a:spcPct val="107000"/>
                        </a:lnSpc>
                        <a:spcBef>
                          <a:spcPts val="0"/>
                        </a:spcBef>
                        <a:spcAft>
                          <a:spcPts val="0"/>
                        </a:spcAft>
                      </a:pPr>
                      <a:r>
                        <a:rPr lang="en-US" sz="1000">
                          <a:effectLst/>
                        </a:rPr>
                        <a:t>Absolute</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.439</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.363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.363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.401</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.365</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.358</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80010">
                <a:tc vMerge="1">
                  <a:txBody>
                    <a:bodyPr/>
                    <a:lstStyle/>
                    <a:p>
                      <a:endParaRPr lang="en-US"/>
                    </a:p>
                  </a:txBody>
                  <a:tcPr/>
                </a:tc>
                <a:tc>
                  <a:txBody>
                    <a:bodyPr/>
                    <a:lstStyle/>
                    <a:p>
                      <a:pPr marL="38100" marR="38100">
                        <a:lnSpc>
                          <a:spcPct val="107000"/>
                        </a:lnSpc>
                        <a:spcBef>
                          <a:spcPts val="0"/>
                        </a:spcBef>
                        <a:spcAft>
                          <a:spcPts val="0"/>
                        </a:spcAft>
                      </a:pPr>
                      <a:r>
                        <a:rPr lang="en-US" sz="1000">
                          <a:effectLst/>
                        </a:rPr>
                        <a:t>Positive</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.288</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.236</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.220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.257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.223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.247</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.220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74295">
                <a:tc vMerge="1">
                  <a:txBody>
                    <a:bodyPr/>
                    <a:lstStyle/>
                    <a:p>
                      <a:endParaRPr lang="en-US"/>
                    </a:p>
                  </a:txBody>
                  <a:tcPr/>
                </a:tc>
                <a:tc>
                  <a:txBody>
                    <a:bodyPr/>
                    <a:lstStyle/>
                    <a:p>
                      <a:pPr marL="38100" marR="38100">
                        <a:lnSpc>
                          <a:spcPct val="107000"/>
                        </a:lnSpc>
                        <a:spcBef>
                          <a:spcPts val="0"/>
                        </a:spcBef>
                        <a:spcAft>
                          <a:spcPts val="0"/>
                        </a:spcAft>
                      </a:pPr>
                      <a:r>
                        <a:rPr lang="en-US" sz="1000">
                          <a:effectLst/>
                        </a:rPr>
                        <a:t>Negative</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-.439</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-.363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-.363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-.401</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-.365</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-.358</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125730">
                <a:tc gridSpan="2">
                  <a:txBody>
                    <a:bodyPr/>
                    <a:lstStyle/>
                    <a:p>
                      <a:pPr marL="38100" marR="38100">
                        <a:lnSpc>
                          <a:spcPct val="107000"/>
                        </a:lnSpc>
                        <a:spcBef>
                          <a:spcPts val="0"/>
                        </a:spcBef>
                        <a:spcAft>
                          <a:spcPts val="0"/>
                        </a:spcAft>
                      </a:pPr>
                      <a:r>
                        <a:rPr lang="en-US" sz="1000">
                          <a:effectLst/>
                        </a:rPr>
                        <a:t>Test Statistic</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c>
                  <a:txBody>
                    <a:bodyPr/>
                    <a:lstStyle/>
                    <a:p>
                      <a:pPr marL="38100" marR="38100" algn="r">
                        <a:lnSpc>
                          <a:spcPct val="107000"/>
                        </a:lnSpc>
                        <a:spcBef>
                          <a:spcPts val="0"/>
                        </a:spcBef>
                        <a:spcAft>
                          <a:spcPts val="0"/>
                        </a:spcAft>
                      </a:pPr>
                      <a:r>
                        <a:rPr lang="en-US" sz="1000">
                          <a:effectLst/>
                        </a:rPr>
                        <a:t>.439</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.363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.363</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.401</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.365</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.400</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.358</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125730">
                <a:tc gridSpan="2">
                  <a:txBody>
                    <a:bodyPr/>
                    <a:lstStyle/>
                    <a:p>
                      <a:pPr marL="38100" marR="38100">
                        <a:lnSpc>
                          <a:spcPct val="107000"/>
                        </a:lnSpc>
                        <a:spcBef>
                          <a:spcPts val="0"/>
                        </a:spcBef>
                        <a:spcAft>
                          <a:spcPts val="0"/>
                        </a:spcAft>
                      </a:pPr>
                      <a:r>
                        <a:rPr lang="en-US" sz="1000">
                          <a:effectLst/>
                        </a:rPr>
                        <a:t>Asymp. Sig. (2-tailed)</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c>
                  <a:txBody>
                    <a:bodyPr/>
                    <a:lstStyle/>
                    <a:p>
                      <a:pPr marL="38100" marR="38100" algn="r">
                        <a:lnSpc>
                          <a:spcPct val="107000"/>
                        </a:lnSpc>
                        <a:spcBef>
                          <a:spcPts val="0"/>
                        </a:spcBef>
                        <a:spcAft>
                          <a:spcPts val="0"/>
                        </a:spcAft>
                      </a:pPr>
                      <a:r>
                        <a:rPr lang="en-US" sz="1000">
                          <a:effectLst/>
                        </a:rPr>
                        <a:t>.000</a:t>
                      </a:r>
                      <a:r>
                        <a:rPr lang="en-US" sz="1000" baseline="30000">
                          <a:effectLst/>
                        </a:rPr>
                        <a:t>c</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.000</a:t>
                      </a:r>
                      <a:r>
                        <a:rPr lang="en-US" sz="1000" baseline="30000">
                          <a:effectLst/>
                        </a:rPr>
                        <a:t>c</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.000</a:t>
                      </a:r>
                      <a:r>
                        <a:rPr lang="en-US" sz="1000" baseline="30000">
                          <a:effectLst/>
                        </a:rPr>
                        <a:t>c</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.000</a:t>
                      </a:r>
                      <a:r>
                        <a:rPr lang="en-US" sz="1000" baseline="30000">
                          <a:effectLst/>
                        </a:rPr>
                        <a:t>c</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.000</a:t>
                      </a:r>
                      <a:r>
                        <a:rPr lang="en-US" sz="1000" baseline="30000">
                          <a:effectLst/>
                        </a:rPr>
                        <a:t>c</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.000</a:t>
                      </a:r>
                      <a:r>
                        <a:rPr lang="en-US" sz="1000" baseline="30000">
                          <a:effectLst/>
                        </a:rPr>
                        <a:t>c</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a:txBody>
                    <a:bodyPr/>
                    <a:lstStyle/>
                    <a:p>
                      <a:pPr marL="38100" marR="38100" algn="r">
                        <a:lnSpc>
                          <a:spcPct val="107000"/>
                        </a:lnSpc>
                        <a:spcBef>
                          <a:spcPts val="0"/>
                        </a:spcBef>
                        <a:spcAft>
                          <a:spcPts val="0"/>
                        </a:spcAft>
                      </a:pPr>
                      <a:r>
                        <a:rPr lang="en-US" sz="1000">
                          <a:effectLst/>
                        </a:rPr>
                        <a:t>.000</a:t>
                      </a:r>
                      <a:r>
                        <a:rPr lang="en-US" sz="1000" baseline="30000">
                          <a:effectLst/>
                        </a:rPr>
                        <a:t>c</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113665">
                <a:tc gridSpan="9">
                  <a:txBody>
                    <a:bodyPr/>
                    <a:lstStyle/>
                    <a:p>
                      <a:pPr marL="36830" marR="36830">
                        <a:lnSpc>
                          <a:spcPct val="107000"/>
                        </a:lnSpc>
                        <a:spcBef>
                          <a:spcPts val="0"/>
                        </a:spcBef>
                        <a:spcAft>
                          <a:spcPts val="0"/>
                        </a:spcAft>
                      </a:pPr>
                      <a:r>
                        <a:rPr lang="en-US" sz="1000">
                          <a:effectLst/>
                        </a:rPr>
                        <a:t>a. Test distribution is Normal. </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7150">
                <a:tc gridSpan="9">
                  <a:txBody>
                    <a:bodyPr/>
                    <a:lstStyle/>
                    <a:p>
                      <a:pPr marL="36830" marR="36830">
                        <a:lnSpc>
                          <a:spcPct val="107000"/>
                        </a:lnSpc>
                        <a:spcBef>
                          <a:spcPts val="0"/>
                        </a:spcBef>
                        <a:spcAft>
                          <a:spcPts val="0"/>
                        </a:spcAft>
                      </a:pPr>
                      <a:r>
                        <a:rPr lang="en-US" sz="1000">
                          <a:effectLst/>
                        </a:rPr>
                        <a:t>b. Calculated from data.</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37490">
                <a:tc gridSpan="9">
                  <a:txBody>
                    <a:bodyPr/>
                    <a:lstStyle/>
                    <a:p>
                      <a:pPr marL="36830" marR="36830">
                        <a:lnSpc>
                          <a:spcPct val="107000"/>
                        </a:lnSpc>
                        <a:spcBef>
                          <a:spcPts val="0"/>
                        </a:spcBef>
                        <a:spcAft>
                          <a:spcPts val="0"/>
                        </a:spcAft>
                      </a:pPr>
                      <a:r>
                        <a:rPr lang="en-US" sz="1000" dirty="0">
                          <a:effectLst/>
                        </a:rPr>
                        <a:t>c. </a:t>
                      </a:r>
                      <a:r>
                        <a:rPr lang="en-US" sz="1000" dirty="0" err="1">
                          <a:effectLst/>
                        </a:rPr>
                        <a:t>Lilliefors</a:t>
                      </a:r>
                      <a:r>
                        <a:rPr lang="en-US" sz="1000" dirty="0">
                          <a:effectLst/>
                        </a:rPr>
                        <a:t> Significance Correction.</a:t>
                      </a:r>
                      <a:endParaRPr lang="en-US" sz="1100" dirty="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110617931"/>
              </p:ext>
            </p:extLst>
          </p:nvPr>
        </p:nvGraphicFramePr>
        <p:xfrm>
          <a:off x="6317673" y="1724831"/>
          <a:ext cx="5735782" cy="1708277"/>
        </p:xfrm>
        <a:graphic>
          <a:graphicData uri="http://schemas.openxmlformats.org/drawingml/2006/table">
            <a:tbl>
              <a:tblPr>
                <a:tableStyleId>{5C22544A-7EE6-4342-B048-85BDC9FD1C3A}</a:tableStyleId>
              </a:tblPr>
              <a:tblGrid>
                <a:gridCol w="5735782"/>
              </a:tblGrid>
              <a:tr h="210185">
                <a:tc>
                  <a:txBody>
                    <a:bodyPr/>
                    <a:lstStyle/>
                    <a:p>
                      <a:pPr marL="0" marR="38100">
                        <a:lnSpc>
                          <a:spcPct val="107000"/>
                        </a:lnSpc>
                        <a:spcBef>
                          <a:spcPts val="0"/>
                        </a:spcBef>
                        <a:spcAft>
                          <a:spcPts val="0"/>
                        </a:spcAft>
                      </a:pPr>
                      <a:r>
                        <a:rPr lang="en-US" sz="1000" dirty="0">
                          <a:effectLst/>
                        </a:rPr>
                        <a:t>ICT</a:t>
                      </a:r>
                      <a:r>
                        <a:rPr lang="en-US" sz="1000" baseline="-25000" dirty="0">
                          <a:effectLst/>
                        </a:rPr>
                        <a:t>V1</a:t>
                      </a:r>
                      <a:r>
                        <a:rPr lang="en-US" sz="1000" dirty="0">
                          <a:effectLst/>
                        </a:rPr>
                        <a:t>:</a:t>
                      </a:r>
                      <a:r>
                        <a:rPr lang="en-US" sz="1000" baseline="-25000" dirty="0">
                          <a:effectLst/>
                        </a:rPr>
                        <a:t> </a:t>
                      </a:r>
                      <a:r>
                        <a:rPr lang="en-US" sz="1000" dirty="0">
                          <a:effectLst/>
                        </a:rPr>
                        <a:t>Availability of right information at the right time for various stakeholders</a:t>
                      </a:r>
                      <a:endParaRPr lang="en-US" sz="1100" dirty="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365760">
                <a:tc>
                  <a:txBody>
                    <a:bodyPr/>
                    <a:lstStyle/>
                    <a:p>
                      <a:pPr marL="0" marR="38100">
                        <a:lnSpc>
                          <a:spcPct val="107000"/>
                        </a:lnSpc>
                        <a:spcBef>
                          <a:spcPts val="0"/>
                        </a:spcBef>
                        <a:spcAft>
                          <a:spcPts val="0"/>
                        </a:spcAft>
                      </a:pPr>
                      <a:r>
                        <a:rPr lang="en-US" sz="1000">
                          <a:effectLst/>
                        </a:rPr>
                        <a:t>ICT</a:t>
                      </a:r>
                      <a:r>
                        <a:rPr lang="en-US" sz="1000" baseline="-25000">
                          <a:effectLst/>
                        </a:rPr>
                        <a:t>V2</a:t>
                      </a:r>
                      <a:r>
                        <a:rPr lang="en-US" sz="1000">
                          <a:effectLst/>
                        </a:rPr>
                        <a:t>: Improved efficiency and accountability through integrated ICT system to manage sales, purchase, stock, customer queries, and inventory</a:t>
                      </a:r>
                      <a:r>
                        <a:rPr lang="en-GB" sz="1000">
                          <a:effectLst/>
                        </a:rPr>
                        <a:t> (Q</a:t>
                      </a:r>
                      <a:r>
                        <a:rPr lang="en-GB" sz="1000" baseline="-25000">
                          <a:effectLst/>
                        </a:rPr>
                        <a:t>2</a:t>
                      </a:r>
                      <a:r>
                        <a:rPr lang="en-GB" sz="1000">
                          <a:effectLst/>
                        </a:rPr>
                        <a:t>)</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222885">
                <a:tc>
                  <a:txBody>
                    <a:bodyPr/>
                    <a:lstStyle/>
                    <a:p>
                      <a:pPr marL="0" marR="38100">
                        <a:lnSpc>
                          <a:spcPct val="107000"/>
                        </a:lnSpc>
                        <a:spcBef>
                          <a:spcPts val="0"/>
                        </a:spcBef>
                        <a:spcAft>
                          <a:spcPts val="0"/>
                        </a:spcAft>
                      </a:pPr>
                      <a:r>
                        <a:rPr lang="en-US" sz="1000">
                          <a:effectLst/>
                        </a:rPr>
                        <a:t>ICT</a:t>
                      </a:r>
                      <a:r>
                        <a:rPr lang="en-US" sz="1000" baseline="-25000">
                          <a:effectLst/>
                        </a:rPr>
                        <a:t>V3</a:t>
                      </a:r>
                      <a:r>
                        <a:rPr lang="en-US" sz="1000">
                          <a:effectLst/>
                        </a:rPr>
                        <a:t>: Cost management through transport resource, logistics, and inventory tracking</a:t>
                      </a:r>
                      <a:r>
                        <a:rPr lang="en-GB" sz="1000">
                          <a:effectLst/>
                        </a:rPr>
                        <a:t> (Q</a:t>
                      </a:r>
                      <a:r>
                        <a:rPr lang="en-GB" sz="1000" baseline="-25000">
                          <a:effectLst/>
                        </a:rPr>
                        <a:t>3</a:t>
                      </a:r>
                      <a:r>
                        <a:rPr lang="en-GB" sz="1000">
                          <a:effectLst/>
                        </a:rPr>
                        <a:t>)</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102870">
                <a:tc>
                  <a:txBody>
                    <a:bodyPr/>
                    <a:lstStyle/>
                    <a:p>
                      <a:pPr marL="0" marR="38100">
                        <a:lnSpc>
                          <a:spcPct val="107000"/>
                        </a:lnSpc>
                        <a:spcBef>
                          <a:spcPts val="0"/>
                        </a:spcBef>
                        <a:spcAft>
                          <a:spcPts val="0"/>
                        </a:spcAft>
                      </a:pPr>
                      <a:r>
                        <a:rPr lang="en-US" sz="1000">
                          <a:effectLst/>
                        </a:rPr>
                        <a:t>ICT</a:t>
                      </a:r>
                      <a:r>
                        <a:rPr lang="en-US" sz="1000" baseline="-25000">
                          <a:effectLst/>
                        </a:rPr>
                        <a:t>V4</a:t>
                      </a:r>
                      <a:r>
                        <a:rPr lang="en-US" sz="1000">
                          <a:effectLst/>
                        </a:rPr>
                        <a:t>:</a:t>
                      </a:r>
                      <a:r>
                        <a:rPr lang="en-US" sz="1000" baseline="-25000">
                          <a:effectLst/>
                        </a:rPr>
                        <a:t> </a:t>
                      </a:r>
                      <a:r>
                        <a:rPr lang="en-US" sz="1000">
                          <a:effectLst/>
                        </a:rPr>
                        <a:t>Positioning right products to right market</a:t>
                      </a:r>
                      <a:r>
                        <a:rPr lang="en-GB" sz="1000">
                          <a:effectLst/>
                        </a:rPr>
                        <a:t> (Q</a:t>
                      </a:r>
                      <a:r>
                        <a:rPr lang="en-GB" sz="1000" baseline="-25000">
                          <a:effectLst/>
                        </a:rPr>
                        <a:t>4</a:t>
                      </a:r>
                      <a:r>
                        <a:rPr lang="en-GB" sz="1000">
                          <a:effectLst/>
                        </a:rPr>
                        <a:t>)</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74295">
                <a:tc>
                  <a:txBody>
                    <a:bodyPr/>
                    <a:lstStyle/>
                    <a:p>
                      <a:pPr marL="0" marR="38100">
                        <a:lnSpc>
                          <a:spcPct val="107000"/>
                        </a:lnSpc>
                        <a:spcBef>
                          <a:spcPts val="0"/>
                        </a:spcBef>
                        <a:spcAft>
                          <a:spcPts val="0"/>
                        </a:spcAft>
                      </a:pPr>
                      <a:r>
                        <a:rPr lang="en-US" sz="1000">
                          <a:effectLst/>
                        </a:rPr>
                        <a:t>ICT</a:t>
                      </a:r>
                      <a:r>
                        <a:rPr lang="en-US" sz="1000" baseline="-25000">
                          <a:effectLst/>
                        </a:rPr>
                        <a:t>V5</a:t>
                      </a:r>
                      <a:r>
                        <a:rPr lang="en-US" sz="1000">
                          <a:effectLst/>
                        </a:rPr>
                        <a:t>:</a:t>
                      </a:r>
                      <a:r>
                        <a:rPr lang="en-US" sz="1000" baseline="-25000">
                          <a:effectLst/>
                        </a:rPr>
                        <a:t> </a:t>
                      </a:r>
                      <a:r>
                        <a:rPr lang="en-US" sz="1000">
                          <a:effectLst/>
                        </a:rPr>
                        <a:t>Effectively match demand with supply</a:t>
                      </a:r>
                      <a:r>
                        <a:rPr lang="en-GB" sz="1000">
                          <a:effectLst/>
                        </a:rPr>
                        <a:t> (Q</a:t>
                      </a:r>
                      <a:r>
                        <a:rPr lang="en-GB" sz="1000" baseline="-25000">
                          <a:effectLst/>
                        </a:rPr>
                        <a:t>5</a:t>
                      </a:r>
                      <a:r>
                        <a:rPr lang="en-GB" sz="1000">
                          <a:effectLst/>
                        </a:rPr>
                        <a:t>)</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211455">
                <a:tc>
                  <a:txBody>
                    <a:bodyPr/>
                    <a:lstStyle/>
                    <a:p>
                      <a:pPr marL="0" marR="38100">
                        <a:lnSpc>
                          <a:spcPct val="107000"/>
                        </a:lnSpc>
                        <a:spcBef>
                          <a:spcPts val="0"/>
                        </a:spcBef>
                        <a:spcAft>
                          <a:spcPts val="0"/>
                        </a:spcAft>
                      </a:pPr>
                      <a:r>
                        <a:rPr lang="en-US" sz="1000">
                          <a:effectLst/>
                        </a:rPr>
                        <a:t>ICT</a:t>
                      </a:r>
                      <a:r>
                        <a:rPr lang="en-US" sz="1000" baseline="-25000">
                          <a:effectLst/>
                        </a:rPr>
                        <a:t>V6</a:t>
                      </a:r>
                      <a:r>
                        <a:rPr lang="en-US" sz="1000">
                          <a:effectLst/>
                        </a:rPr>
                        <a:t>:</a:t>
                      </a:r>
                      <a:r>
                        <a:rPr lang="en-US" sz="1000" baseline="-25000">
                          <a:effectLst/>
                        </a:rPr>
                        <a:t> </a:t>
                      </a:r>
                      <a:r>
                        <a:rPr lang="en-US" sz="1000">
                          <a:effectLst/>
                        </a:rPr>
                        <a:t>Mitigate supply chain risk through facilitation of informed decisions in transport and distribution</a:t>
                      </a:r>
                      <a:r>
                        <a:rPr lang="en-GB" sz="1000">
                          <a:effectLst/>
                        </a:rPr>
                        <a:t> (Q</a:t>
                      </a:r>
                      <a:r>
                        <a:rPr lang="en-GB" sz="1000" baseline="-25000">
                          <a:effectLst/>
                        </a:rPr>
                        <a:t>6</a:t>
                      </a:r>
                      <a:r>
                        <a:rPr lang="en-GB" sz="1000">
                          <a:effectLst/>
                        </a:rPr>
                        <a:t>)</a:t>
                      </a:r>
                      <a:endParaRPr lang="en-US" sz="110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r h="257175">
                <a:tc>
                  <a:txBody>
                    <a:bodyPr/>
                    <a:lstStyle/>
                    <a:p>
                      <a:pPr marL="0" marR="38100">
                        <a:lnSpc>
                          <a:spcPct val="107000"/>
                        </a:lnSpc>
                        <a:spcBef>
                          <a:spcPts val="0"/>
                        </a:spcBef>
                        <a:spcAft>
                          <a:spcPts val="0"/>
                        </a:spcAft>
                      </a:pPr>
                      <a:r>
                        <a:rPr lang="en-US" sz="1000" dirty="0">
                          <a:effectLst/>
                        </a:rPr>
                        <a:t>ICT</a:t>
                      </a:r>
                      <a:r>
                        <a:rPr lang="en-US" sz="1000" baseline="-25000" dirty="0">
                          <a:effectLst/>
                        </a:rPr>
                        <a:t>V7</a:t>
                      </a:r>
                      <a:r>
                        <a:rPr lang="en-US" sz="1000" dirty="0">
                          <a:effectLst/>
                        </a:rPr>
                        <a:t>:</a:t>
                      </a:r>
                      <a:r>
                        <a:rPr lang="en-US" sz="1000" baseline="-25000" dirty="0">
                          <a:effectLst/>
                        </a:rPr>
                        <a:t> </a:t>
                      </a:r>
                      <a:r>
                        <a:rPr lang="en-US" sz="1000" dirty="0">
                          <a:effectLst/>
                        </a:rPr>
                        <a:t>Facility and retail outlet monitoring through GIS location-based Information</a:t>
                      </a:r>
                      <a:r>
                        <a:rPr lang="en-GB" sz="1000" dirty="0">
                          <a:effectLst/>
                        </a:rPr>
                        <a:t> (Q</a:t>
                      </a:r>
                      <a:r>
                        <a:rPr lang="en-GB" sz="1000" baseline="-25000" dirty="0">
                          <a:effectLst/>
                        </a:rPr>
                        <a:t>7</a:t>
                      </a:r>
                      <a:r>
                        <a:rPr lang="en-GB" sz="1000" dirty="0">
                          <a:effectLst/>
                        </a:rPr>
                        <a:t>)</a:t>
                      </a:r>
                      <a:endParaRPr lang="en-US" sz="1100" dirty="0">
                        <a:solidFill>
                          <a:srgbClr val="000000"/>
                        </a:solidFill>
                        <a:effectLst/>
                        <a:latin typeface="Cambria Math" panose="02040503050406030204" pitchFamily="18" charset="0"/>
                        <a:ea typeface="Calibri" panose="020F0502020204030204" pitchFamily="34" charset="0"/>
                        <a:cs typeface="SimSun" panose="02010600030101010101" pitchFamily="2" charset="-122"/>
                      </a:endParaRPr>
                    </a:p>
                  </a:txBody>
                  <a:tcPr marL="0" marR="0" marT="0" marB="0"/>
                </a:tc>
              </a:tr>
            </a:tbl>
          </a:graphicData>
        </a:graphic>
      </p:graphicFrame>
      <p:sp>
        <p:nvSpPr>
          <p:cNvPr id="15" name="Rectangle 14"/>
          <p:cNvSpPr/>
          <p:nvPr/>
        </p:nvSpPr>
        <p:spPr>
          <a:xfrm>
            <a:off x="278422" y="2238572"/>
            <a:ext cx="6096000" cy="685059"/>
          </a:xfrm>
          <a:prstGeom prst="rect">
            <a:avLst/>
          </a:prstGeom>
        </p:spPr>
        <p:txBody>
          <a:bodyPr wrap="square">
            <a:spAutoFit/>
          </a:bodyPr>
          <a:lstStyle/>
          <a:p>
            <a:pPr algn="ctr">
              <a:lnSpc>
                <a:spcPct val="107000"/>
              </a:lnSpc>
            </a:pPr>
            <a:r>
              <a:rPr lang="en-GB" b="1" dirty="0">
                <a:solidFill>
                  <a:schemeClr val="bg1"/>
                </a:solidFill>
                <a:latin typeface="Times New Roman" panose="02020603050405020304" pitchFamily="18" charset="0"/>
                <a:ea typeface="Calibri" panose="020F0502020204030204" pitchFamily="34" charset="0"/>
                <a:cs typeface="SimSun" panose="02010600030101010101" pitchFamily="2" charset="-122"/>
              </a:rPr>
              <a:t>Table </a:t>
            </a:r>
            <a:r>
              <a:rPr lang="en-GB" b="1" dirty="0" smtClean="0">
                <a:solidFill>
                  <a:schemeClr val="bg1"/>
                </a:solidFill>
                <a:latin typeface="Times New Roman" panose="02020603050405020304" pitchFamily="18" charset="0"/>
                <a:ea typeface="Calibri" panose="020F0502020204030204" pitchFamily="34" charset="0"/>
                <a:cs typeface="SimSun" panose="02010600030101010101" pitchFamily="2" charset="-122"/>
              </a:rPr>
              <a:t>2: </a:t>
            </a:r>
            <a:r>
              <a:rPr lang="en-US" b="1" dirty="0">
                <a:solidFill>
                  <a:schemeClr val="bg1"/>
                </a:solidFill>
                <a:latin typeface="Times New Roman" panose="02020603050405020304" pitchFamily="18" charset="0"/>
                <a:ea typeface="Calibri" panose="020F0502020204030204" pitchFamily="34" charset="0"/>
                <a:cs typeface="SimSun" panose="02010600030101010101" pitchFamily="2" charset="-122"/>
              </a:rPr>
              <a:t>One-Sample Kolmogorov-Smirnov Test</a:t>
            </a:r>
            <a:r>
              <a:rPr lang="en-GB" b="1" dirty="0">
                <a:solidFill>
                  <a:schemeClr val="bg1"/>
                </a:solidFill>
                <a:latin typeface="Times New Roman" panose="02020603050405020304" pitchFamily="18" charset="0"/>
                <a:ea typeface="Calibri" panose="020F0502020204030204" pitchFamily="34" charset="0"/>
                <a:cs typeface="SimSun" panose="02010600030101010101" pitchFamily="2" charset="-122"/>
              </a:rPr>
              <a:t> of ICT variables effect Agile Distribution</a:t>
            </a:r>
            <a:endParaRPr lang="en-US" sz="1600" dirty="0">
              <a:solidFill>
                <a:schemeClr val="bg1"/>
              </a:solidFill>
              <a:latin typeface="Cambria Math" panose="02040503050406030204" pitchFamily="18" charset="0"/>
              <a:ea typeface="Calibri" panose="020F0502020204030204" pitchFamily="34" charset="0"/>
              <a:cs typeface="SimSun" panose="02010600030101010101" pitchFamily="2" charset="-122"/>
            </a:endParaRPr>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15E3981-F0D7-482C-A8E0-6A57700BECA7}"/>
              </a:ext>
            </a:extLst>
          </p:cNvPr>
          <p:cNvSpPr>
            <a:spLocks noGrp="1"/>
          </p:cNvSpPr>
          <p:nvPr>
            <p:ph type="title"/>
          </p:nvPr>
        </p:nvSpPr>
        <p:spPr/>
        <p:txBody>
          <a:bodyPr/>
          <a:lstStyle/>
          <a:p>
            <a:r>
              <a:rPr lang="en-US" dirty="0"/>
              <a:t>Results and Discussions </a:t>
            </a:r>
            <a:r>
              <a:rPr lang="en-US" dirty="0" smtClean="0"/>
              <a:t>cont.3</a:t>
            </a:r>
            <a:endParaRPr lang="en-US" dirty="0"/>
          </a:p>
        </p:txBody>
      </p:sp>
      <p:sp>
        <p:nvSpPr>
          <p:cNvPr id="19" name="Text Placeholder 18">
            <a:extLst>
              <a:ext uri="{FF2B5EF4-FFF2-40B4-BE49-F238E27FC236}">
                <a16:creationId xmlns:a16="http://schemas.microsoft.com/office/drawing/2014/main" xmlns="" id="{782206B1-586F-4254-9B36-D06C4E294ACF}"/>
              </a:ext>
            </a:extLst>
          </p:cNvPr>
          <p:cNvSpPr>
            <a:spLocks noGrp="1"/>
          </p:cNvSpPr>
          <p:nvPr>
            <p:ph type="body" sz="quarter" idx="18"/>
          </p:nvPr>
        </p:nvSpPr>
        <p:spPr>
          <a:xfrm>
            <a:off x="211744" y="1210722"/>
            <a:ext cx="6056052" cy="5469478"/>
          </a:xfrm>
        </p:spPr>
        <p:txBody>
          <a:bodyPr/>
          <a:lstStyle/>
          <a:p>
            <a:pPr marL="342900" indent="-342900">
              <a:buFont typeface="Wingdings" panose="05000000000000000000" pitchFamily="2" charset="2"/>
              <a:buChar char="q"/>
            </a:pPr>
            <a:r>
              <a:rPr lang="en-GB" sz="2400" b="1" dirty="0"/>
              <a:t>Test of Hypothesis </a:t>
            </a:r>
            <a:endParaRPr lang="en-US" sz="2400" dirty="0"/>
          </a:p>
          <a:p>
            <a:pPr marL="342900" indent="-342900">
              <a:buFont typeface="Arial" panose="020B0604020202020204" pitchFamily="34" charset="0"/>
              <a:buChar char="•"/>
            </a:pPr>
            <a:r>
              <a:rPr lang="en-US" sz="2000" dirty="0"/>
              <a:t>The study further tested the following null hypothesis: </a:t>
            </a:r>
            <a:r>
              <a:rPr lang="en-US" sz="2000" dirty="0" smtClean="0"/>
              <a:t>H</a:t>
            </a:r>
            <a:r>
              <a:rPr lang="en-US" sz="2000" baseline="-25000" dirty="0" smtClean="0"/>
              <a:t>01</a:t>
            </a:r>
            <a:r>
              <a:rPr lang="en-US" sz="2000" dirty="0" smtClean="0"/>
              <a:t> </a:t>
            </a:r>
            <a:r>
              <a:rPr lang="en-US" sz="2000" dirty="0"/>
              <a:t>There is no significant relationship between investment in ICT innovation and agile petroleum distribution performance</a:t>
            </a:r>
            <a:r>
              <a:rPr lang="en-US" sz="2000" dirty="0" smtClean="0"/>
              <a:t>.</a:t>
            </a:r>
          </a:p>
          <a:p>
            <a:pPr marL="342900" indent="-342900">
              <a:buFont typeface="Arial" panose="020B0604020202020204" pitchFamily="34" charset="0"/>
              <a:buChar char="•"/>
            </a:pPr>
            <a:r>
              <a:rPr lang="en-GB" sz="2000" dirty="0"/>
              <a:t>T</a:t>
            </a:r>
            <a:r>
              <a:rPr lang="en-US" sz="2000" dirty="0"/>
              <a:t>he F value of </a:t>
            </a:r>
            <a:r>
              <a:rPr lang="en-GB" sz="2000" dirty="0"/>
              <a:t>98.599 </a:t>
            </a:r>
            <a:r>
              <a:rPr lang="en-US" sz="2000" dirty="0"/>
              <a:t>and P value of 0.000 at a 0.05 significance level, the ANOVA indicates that the variables have a significant effect on the response variable (see Table </a:t>
            </a:r>
            <a:r>
              <a:rPr lang="en-US" sz="2000" dirty="0" smtClean="0"/>
              <a:t>3). </a:t>
            </a:r>
            <a:endParaRPr lang="en-US" sz="2000" dirty="0" smtClean="0"/>
          </a:p>
          <a:p>
            <a:pPr marL="342900" indent="-342900">
              <a:buFont typeface="Arial" panose="020B0604020202020204" pitchFamily="34" charset="0"/>
              <a:buChar char="•"/>
            </a:pPr>
            <a:r>
              <a:rPr lang="en-US" sz="2000" dirty="0" smtClean="0"/>
              <a:t>This </a:t>
            </a:r>
            <a:r>
              <a:rPr lang="en-US" sz="2000" dirty="0"/>
              <a:t>is also confirmed by t</a:t>
            </a:r>
            <a:r>
              <a:rPr lang="en-GB" sz="2000" dirty="0"/>
              <a:t> - </a:t>
            </a:r>
            <a:r>
              <a:rPr lang="en-US" sz="2000" dirty="0"/>
              <a:t>calculated of </a:t>
            </a:r>
            <a:r>
              <a:rPr lang="en-GB" sz="2000" dirty="0"/>
              <a:t>9</a:t>
            </a:r>
            <a:r>
              <a:rPr lang="en-US" sz="2000" dirty="0"/>
              <a:t>.</a:t>
            </a:r>
            <a:r>
              <a:rPr lang="en-GB" sz="2000" dirty="0"/>
              <a:t>93</a:t>
            </a:r>
            <a:r>
              <a:rPr lang="en-US" sz="2000" dirty="0"/>
              <a:t>, which is greater than t-tabulated of </a:t>
            </a:r>
            <a:r>
              <a:rPr lang="en-GB" sz="2000" dirty="0"/>
              <a:t>1.976</a:t>
            </a:r>
            <a:r>
              <a:rPr lang="en-US" sz="2000" dirty="0"/>
              <a:t>. </a:t>
            </a:r>
            <a:endParaRPr lang="en-US" sz="2000" dirty="0" smtClean="0"/>
          </a:p>
          <a:p>
            <a:pPr marL="342900" indent="-342900">
              <a:buFont typeface="Arial" panose="020B0604020202020204" pitchFamily="34" charset="0"/>
              <a:buChar char="•"/>
            </a:pPr>
            <a:r>
              <a:rPr lang="en-GB" sz="2000" dirty="0" smtClean="0"/>
              <a:t>Following </a:t>
            </a:r>
            <a:r>
              <a:rPr lang="en-GB" sz="2000" dirty="0"/>
              <a:t>these, we reject the H</a:t>
            </a:r>
            <a:r>
              <a:rPr lang="en-GB" sz="2000" baseline="-25000" dirty="0"/>
              <a:t>01 </a:t>
            </a:r>
            <a:r>
              <a:rPr lang="en-GB" sz="2000" dirty="0"/>
              <a:t>and accept that ICT variables have a significant effect on agile distribution performance of petroleum products. </a:t>
            </a:r>
            <a:endParaRPr lang="en-US" sz="2000" dirty="0"/>
          </a:p>
          <a:p>
            <a:endParaRPr lang="en-US" sz="2400" dirty="0"/>
          </a:p>
        </p:txBody>
      </p:sp>
      <p:sp>
        <p:nvSpPr>
          <p:cNvPr id="2" name="Slide Number Placeholder 1">
            <a:extLst>
              <a:ext uri="{FF2B5EF4-FFF2-40B4-BE49-F238E27FC236}">
                <a16:creationId xmlns:a16="http://schemas.microsoft.com/office/drawing/2014/main" xmlns="" id="{FAC2D367-2A6E-41FE-A9EA-24FF17BCAA97}"/>
              </a:ext>
            </a:extLst>
          </p:cNvPr>
          <p:cNvSpPr>
            <a:spLocks noGrp="1"/>
          </p:cNvSpPr>
          <p:nvPr>
            <p:ph type="sldNum" sz="quarter" idx="12"/>
          </p:nvPr>
        </p:nvSpPr>
        <p:spPr/>
        <p:txBody>
          <a:bodyPr/>
          <a:lstStyle/>
          <a:p>
            <a:fld id="{C263D6C4-4840-40CC-AC84-17E24B3B7BDE}" type="slidenum">
              <a:rPr lang="en-US" smtClean="0"/>
              <a:pPr/>
              <a:t>8</a:t>
            </a:fld>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2495147068"/>
              </p:ext>
            </p:extLst>
          </p:nvPr>
        </p:nvGraphicFramePr>
        <p:xfrm>
          <a:off x="6499168" y="2911879"/>
          <a:ext cx="5943600" cy="1331913"/>
        </p:xfrm>
        <a:graphic>
          <a:graphicData uri="http://schemas.openxmlformats.org/presentationml/2006/ole">
            <mc:AlternateContent xmlns:mc="http://schemas.openxmlformats.org/markup-compatibility/2006">
              <mc:Choice xmlns:v="urn:schemas-microsoft-com:vml" Requires="v">
                <p:oleObj spid="_x0000_s4100" name="Document" r:id="rId4" imgW="5942845" imgH="1332470" progId="Word.Document.12">
                  <p:embed/>
                </p:oleObj>
              </mc:Choice>
              <mc:Fallback>
                <p:oleObj name="Document" r:id="rId4" imgW="5942845" imgH="1332470" progId="Word.Document.12">
                  <p:embed/>
                  <p:pic>
                    <p:nvPicPr>
                      <p:cNvPr id="0" name=""/>
                      <p:cNvPicPr/>
                      <p:nvPr/>
                    </p:nvPicPr>
                    <p:blipFill>
                      <a:blip r:embed="rId5"/>
                      <a:stretch>
                        <a:fillRect/>
                      </a:stretch>
                    </p:blipFill>
                    <p:spPr>
                      <a:xfrm>
                        <a:off x="6499168" y="2911879"/>
                        <a:ext cx="5943600" cy="1331913"/>
                      </a:xfrm>
                      <a:prstGeom prst="rect">
                        <a:avLst/>
                      </a:prstGeom>
                    </p:spPr>
                  </p:pic>
                </p:oleObj>
              </mc:Fallback>
            </mc:AlternateContent>
          </a:graphicData>
        </a:graphic>
      </p:graphicFrame>
      <p:sp>
        <p:nvSpPr>
          <p:cNvPr id="9" name="Rectangle 8"/>
          <p:cNvSpPr/>
          <p:nvPr/>
        </p:nvSpPr>
        <p:spPr>
          <a:xfrm>
            <a:off x="6049613" y="2477312"/>
            <a:ext cx="6142387" cy="388696"/>
          </a:xfrm>
          <a:prstGeom prst="rect">
            <a:avLst/>
          </a:prstGeom>
        </p:spPr>
        <p:txBody>
          <a:bodyPr wrap="none">
            <a:spAutoFit/>
          </a:bodyPr>
          <a:lstStyle/>
          <a:p>
            <a:pPr algn="just">
              <a:lnSpc>
                <a:spcPct val="107000"/>
              </a:lnSpc>
            </a:pPr>
            <a:r>
              <a:rPr lang="en-GB" b="1" dirty="0">
                <a:solidFill>
                  <a:schemeClr val="bg1"/>
                </a:solidFill>
                <a:latin typeface="Times New Roman" panose="02020603050405020304" pitchFamily="18" charset="0"/>
                <a:ea typeface="Calibri" panose="020F0502020204030204" pitchFamily="34" charset="0"/>
                <a:cs typeface="SimSun" panose="02010600030101010101" pitchFamily="2" charset="-122"/>
              </a:rPr>
              <a:t>Table </a:t>
            </a:r>
            <a:r>
              <a:rPr lang="en-GB" b="1" dirty="0" smtClean="0">
                <a:solidFill>
                  <a:schemeClr val="bg1"/>
                </a:solidFill>
                <a:latin typeface="Times New Roman" panose="02020603050405020304" pitchFamily="18" charset="0"/>
                <a:ea typeface="Calibri" panose="020F0502020204030204" pitchFamily="34" charset="0"/>
                <a:cs typeface="SimSun" panose="02010600030101010101" pitchFamily="2" charset="-122"/>
              </a:rPr>
              <a:t>3: </a:t>
            </a:r>
            <a:r>
              <a:rPr lang="en-US" b="1" dirty="0">
                <a:solidFill>
                  <a:schemeClr val="bg1"/>
                </a:solidFill>
                <a:latin typeface="Times New Roman" panose="02020603050405020304" pitchFamily="18" charset="0"/>
                <a:ea typeface="Calibri" panose="020F0502020204030204" pitchFamily="34" charset="0"/>
                <a:cs typeface="SimSun" panose="02010600030101010101" pitchFamily="2" charset="-122"/>
              </a:rPr>
              <a:t>ANOVA for the ICT Adoption for Agile Distribution</a:t>
            </a:r>
            <a:endParaRPr lang="en-US" sz="1600" dirty="0">
              <a:solidFill>
                <a:schemeClr val="bg1"/>
              </a:solidFill>
              <a:latin typeface="Cambria Math" panose="02040503050406030204" pitchFamily="18" charset="0"/>
              <a:ea typeface="Calibri" panose="020F0502020204030204" pitchFamily="34" charset="0"/>
              <a:cs typeface="SimSun" panose="02010600030101010101" pitchFamily="2" charset="-122"/>
            </a:endParaRPr>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15E3981-F0D7-482C-A8E0-6A57700BECA7}"/>
              </a:ext>
            </a:extLst>
          </p:cNvPr>
          <p:cNvSpPr>
            <a:spLocks noGrp="1"/>
          </p:cNvSpPr>
          <p:nvPr>
            <p:ph type="title"/>
          </p:nvPr>
        </p:nvSpPr>
        <p:spPr/>
        <p:txBody>
          <a:bodyPr/>
          <a:lstStyle/>
          <a:p>
            <a:r>
              <a:rPr lang="en-US" dirty="0" smtClean="0"/>
              <a:t>Conclusion</a:t>
            </a:r>
            <a:endParaRPr lang="en-US" dirty="0"/>
          </a:p>
        </p:txBody>
      </p:sp>
      <p:sp>
        <p:nvSpPr>
          <p:cNvPr id="19" name="Text Placeholder 18">
            <a:extLst>
              <a:ext uri="{FF2B5EF4-FFF2-40B4-BE49-F238E27FC236}">
                <a16:creationId xmlns:a16="http://schemas.microsoft.com/office/drawing/2014/main" xmlns="" id="{782206B1-586F-4254-9B36-D06C4E294ACF}"/>
              </a:ext>
            </a:extLst>
          </p:cNvPr>
          <p:cNvSpPr>
            <a:spLocks noGrp="1"/>
          </p:cNvSpPr>
          <p:nvPr>
            <p:ph type="body" sz="quarter" idx="18"/>
          </p:nvPr>
        </p:nvSpPr>
        <p:spPr>
          <a:xfrm>
            <a:off x="211744" y="1210722"/>
            <a:ext cx="7236460" cy="5469478"/>
          </a:xfrm>
        </p:spPr>
        <p:txBody>
          <a:bodyPr/>
          <a:lstStyle/>
          <a:p>
            <a:pPr marL="342900" indent="-342900">
              <a:buFont typeface="Arial" panose="020B0604020202020204" pitchFamily="34" charset="0"/>
              <a:buChar char="•"/>
            </a:pPr>
            <a:r>
              <a:rPr lang="en-GB" sz="2000" dirty="0" smtClean="0"/>
              <a:t>The </a:t>
            </a:r>
            <a:r>
              <a:rPr lang="en-GB" sz="2000" dirty="0"/>
              <a:t>study finding shows that ICT capabilities support the operational efficiency and performance of the </a:t>
            </a:r>
            <a:r>
              <a:rPr lang="en-GB" sz="2000" dirty="0" smtClean="0"/>
              <a:t>petroleum distribution value chain.</a:t>
            </a:r>
          </a:p>
          <a:p>
            <a:pPr marL="342900" indent="-342900">
              <a:buFont typeface="Arial" panose="020B0604020202020204" pitchFamily="34" charset="0"/>
              <a:buChar char="•"/>
            </a:pPr>
            <a:r>
              <a:rPr lang="en-GB" sz="2000" dirty="0" smtClean="0"/>
              <a:t>Innovation </a:t>
            </a:r>
            <a:r>
              <a:rPr lang="en-GB" sz="2000" dirty="0"/>
              <a:t>in ICT systems and applications enables the integration of all organizational functions into a single workflow with end-to-end visibility of value chain operation beginning from product sourcing, transportation, and retail sales. </a:t>
            </a:r>
            <a:endParaRPr lang="en-GB" sz="2000" dirty="0" smtClean="0"/>
          </a:p>
          <a:p>
            <a:pPr marL="342900" indent="-342900">
              <a:buFont typeface="Arial" panose="020B0604020202020204" pitchFamily="34" charset="0"/>
              <a:buChar char="•"/>
            </a:pPr>
            <a:r>
              <a:rPr lang="en-GB" sz="2000" dirty="0" smtClean="0"/>
              <a:t>The </a:t>
            </a:r>
            <a:r>
              <a:rPr lang="en-GB" sz="2000" dirty="0"/>
              <a:t>capability of the ICT GIS system supports monitoring supply chain infrastructure, trace and track logistics vehicles, stock, sales, transportation, and organizational resources, improving accountability, mitigating losses, theft, and mismanagement of resources. </a:t>
            </a:r>
            <a:endParaRPr lang="en-GB" sz="2000" dirty="0" smtClean="0"/>
          </a:p>
          <a:p>
            <a:pPr marL="342900" indent="-342900">
              <a:buFont typeface="Arial" panose="020B0604020202020204" pitchFamily="34" charset="0"/>
              <a:buChar char="•"/>
            </a:pPr>
            <a:r>
              <a:rPr lang="en-GB" sz="2000" dirty="0" smtClean="0"/>
              <a:t>ICT </a:t>
            </a:r>
            <a:r>
              <a:rPr lang="en-GB" sz="2000" dirty="0"/>
              <a:t>system eliminates the inefficiencies of manual process and boosts operational speed, eliminates error, and supports timely and quick information flows amongst the various chain stakeholders. </a:t>
            </a:r>
            <a:endParaRPr lang="en-US" sz="2000" dirty="0"/>
          </a:p>
          <a:p>
            <a:endParaRPr lang="en-US" sz="2400" dirty="0"/>
          </a:p>
        </p:txBody>
      </p:sp>
      <p:sp>
        <p:nvSpPr>
          <p:cNvPr id="2" name="Slide Number Placeholder 1">
            <a:extLst>
              <a:ext uri="{FF2B5EF4-FFF2-40B4-BE49-F238E27FC236}">
                <a16:creationId xmlns:a16="http://schemas.microsoft.com/office/drawing/2014/main" xmlns="" id="{FAC2D367-2A6E-41FE-A9EA-24FF17BCAA97}"/>
              </a:ext>
            </a:extLst>
          </p:cNvPr>
          <p:cNvSpPr>
            <a:spLocks noGrp="1"/>
          </p:cNvSpPr>
          <p:nvPr>
            <p:ph type="sldNum" sz="quarter" idx="12"/>
          </p:nvPr>
        </p:nvSpPr>
        <p:spPr/>
        <p:txBody>
          <a:bodyPr/>
          <a:lstStyle/>
          <a:p>
            <a:fld id="{C263D6C4-4840-40CC-AC84-17E24B3B7BDE}" type="slidenum">
              <a:rPr lang="en-US" smtClean="0"/>
              <a:pPr/>
              <a:t>9</a:t>
            </a:fld>
            <a:endParaRPr lang="en-US" dirty="0"/>
          </a:p>
        </p:txBody>
      </p:sp>
      <p:pic>
        <p:nvPicPr>
          <p:cNvPr id="3" name="Picture 2"/>
          <p:cNvPicPr>
            <a:picLocks noChangeAspect="1"/>
          </p:cNvPicPr>
          <p:nvPr/>
        </p:nvPicPr>
        <p:blipFill>
          <a:blip r:embed="rId2"/>
          <a:stretch>
            <a:fillRect/>
          </a:stretch>
        </p:blipFill>
        <p:spPr>
          <a:xfrm>
            <a:off x="7747463" y="1371421"/>
            <a:ext cx="4444538" cy="4115157"/>
          </a:xfrm>
          <a:prstGeom prst="rect">
            <a:avLst/>
          </a:prstGeom>
        </p:spPr>
      </p:pic>
    </p:spTree>
    <p:extLst>
      <p:ext uri="{BB962C8B-B14F-4D97-AF65-F5344CB8AC3E}">
        <p14:creationId xmlns:p14="http://schemas.microsoft.com/office/powerpoint/2010/main" val="752202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E82974C-2853-ACE3-C7CF-BFE114C824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7B0F26FE-8D1D-7C9A-4A70-B1FAFA5B7DCC}"/>
              </a:ext>
            </a:extLst>
          </p:cNvPr>
          <p:cNvSpPr>
            <a:spLocks noGrp="1"/>
          </p:cNvSpPr>
          <p:nvPr>
            <p:ph type="title"/>
          </p:nvPr>
        </p:nvSpPr>
        <p:spPr>
          <a:xfrm>
            <a:off x="444500" y="542925"/>
            <a:ext cx="5651500" cy="535531"/>
          </a:xfrm>
        </p:spPr>
        <p:txBody>
          <a:bodyPr/>
          <a:lstStyle/>
          <a:p>
            <a:r>
              <a:rPr lang="en-US" dirty="0" smtClean="0"/>
              <a:t>Recommendations</a:t>
            </a:r>
            <a:endParaRPr lang="en-US" dirty="0"/>
          </a:p>
        </p:txBody>
      </p:sp>
      <p:sp>
        <p:nvSpPr>
          <p:cNvPr id="19" name="Text Placeholder 18">
            <a:extLst>
              <a:ext uri="{FF2B5EF4-FFF2-40B4-BE49-F238E27FC236}">
                <a16:creationId xmlns:a16="http://schemas.microsoft.com/office/drawing/2014/main" xmlns="" id="{F12690B7-8E37-37A9-D9FD-B5FCE4D64C83}"/>
              </a:ext>
            </a:extLst>
          </p:cNvPr>
          <p:cNvSpPr>
            <a:spLocks noGrp="1"/>
          </p:cNvSpPr>
          <p:nvPr>
            <p:ph type="body" sz="quarter" idx="18"/>
          </p:nvPr>
        </p:nvSpPr>
        <p:spPr>
          <a:xfrm>
            <a:off x="298566" y="1498351"/>
            <a:ext cx="7266016" cy="4137678"/>
          </a:xfrm>
        </p:spPr>
        <p:txBody>
          <a:bodyPr/>
          <a:lstStyle/>
          <a:p>
            <a:pPr marL="342900" lvl="0" indent="-342900">
              <a:buFont typeface="Arial" panose="020B0604020202020204" pitchFamily="34" charset="0"/>
              <a:buChar char="•"/>
            </a:pPr>
            <a:r>
              <a:rPr lang="en-US" sz="2400" dirty="0"/>
              <a:t>The need to invest in innovation in ICT for operational efficiency and improved performance cannot be over emphasized. </a:t>
            </a:r>
            <a:endParaRPr lang="en-US" sz="2400" dirty="0" smtClean="0"/>
          </a:p>
          <a:p>
            <a:pPr marL="342900" lvl="0" indent="-342900">
              <a:buFont typeface="Arial" panose="020B0604020202020204" pitchFamily="34" charset="0"/>
              <a:buChar char="•"/>
            </a:pPr>
            <a:r>
              <a:rPr lang="en-US" sz="2400" dirty="0" smtClean="0"/>
              <a:t>Innovations </a:t>
            </a:r>
            <a:r>
              <a:rPr lang="en-US" sz="2400" dirty="0"/>
              <a:t>in ICT is a strategy to stay ahead of competition through cost efficiency, market responsiveness, operational flexibility and services that meet and exceed customer expectations. </a:t>
            </a:r>
            <a:endParaRPr lang="en-US" sz="2400" dirty="0" smtClean="0"/>
          </a:p>
          <a:p>
            <a:pPr marL="342900" lvl="0" indent="-342900">
              <a:buFont typeface="Arial" panose="020B0604020202020204" pitchFamily="34" charset="0"/>
              <a:buChar char="•"/>
            </a:pPr>
            <a:r>
              <a:rPr lang="en-US" sz="2400" dirty="0"/>
              <a:t>Innovations in ICT supports quality of service by improving customer satisfaction, optimizing the inventory costs and total costs, effectively matching demand with supply and more.</a:t>
            </a:r>
          </a:p>
        </p:txBody>
      </p:sp>
      <p:sp>
        <p:nvSpPr>
          <p:cNvPr id="2" name="Slide Number Placeholder 1">
            <a:extLst>
              <a:ext uri="{FF2B5EF4-FFF2-40B4-BE49-F238E27FC236}">
                <a16:creationId xmlns:a16="http://schemas.microsoft.com/office/drawing/2014/main" xmlns="" id="{81F05862-2CE3-67A6-FC37-F104CBEE7C99}"/>
              </a:ext>
            </a:extLst>
          </p:cNvPr>
          <p:cNvSpPr>
            <a:spLocks noGrp="1"/>
          </p:cNvSpPr>
          <p:nvPr>
            <p:ph type="sldNum" sz="quarter" idx="12"/>
          </p:nvPr>
        </p:nvSpPr>
        <p:spPr/>
        <p:txBody>
          <a:bodyPr/>
          <a:lstStyle/>
          <a:p>
            <a:fld id="{C263D6C4-4840-40CC-AC84-17E24B3B7BDE}" type="slidenum">
              <a:rPr lang="en-US" smtClean="0"/>
              <a:pPr/>
              <a:t>10</a:t>
            </a:fld>
            <a:endParaRPr lang="en-US" dirty="0"/>
          </a:p>
        </p:txBody>
      </p:sp>
      <p:pic>
        <p:nvPicPr>
          <p:cNvPr id="5" name="Picture 4"/>
          <p:cNvPicPr>
            <a:picLocks noChangeAspect="1"/>
          </p:cNvPicPr>
          <p:nvPr/>
        </p:nvPicPr>
        <p:blipFill>
          <a:blip r:embed="rId2"/>
          <a:stretch>
            <a:fillRect/>
          </a:stretch>
        </p:blipFill>
        <p:spPr>
          <a:xfrm>
            <a:off x="7714210" y="1391895"/>
            <a:ext cx="4477789" cy="4350590"/>
          </a:xfrm>
          <a:prstGeom prst="rect">
            <a:avLst/>
          </a:prstGeom>
        </p:spPr>
      </p:pic>
    </p:spTree>
    <p:extLst>
      <p:ext uri="{BB962C8B-B14F-4D97-AF65-F5344CB8AC3E}">
        <p14:creationId xmlns:p14="http://schemas.microsoft.com/office/powerpoint/2010/main" val="361213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8FE3053-61E1-537E-8A8C-27D959EDB5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751E5830-6871-6FEC-6AF7-B842D4D3B128}"/>
              </a:ext>
            </a:extLst>
          </p:cNvPr>
          <p:cNvSpPr>
            <a:spLocks noGrp="1"/>
          </p:cNvSpPr>
          <p:nvPr>
            <p:ph type="title"/>
          </p:nvPr>
        </p:nvSpPr>
        <p:spPr>
          <a:xfrm>
            <a:off x="444500" y="542925"/>
            <a:ext cx="5651500" cy="535531"/>
          </a:xfrm>
        </p:spPr>
        <p:txBody>
          <a:bodyPr/>
          <a:lstStyle/>
          <a:p>
            <a:r>
              <a:rPr lang="en-US" dirty="0" smtClean="0"/>
              <a:t>Acknowledgement</a:t>
            </a:r>
            <a:endParaRPr lang="en-US" dirty="0"/>
          </a:p>
        </p:txBody>
      </p:sp>
      <p:pic>
        <p:nvPicPr>
          <p:cNvPr id="8" name="Picture Placeholder 7" descr="Triangular pattern design with dimension">
            <a:extLst>
              <a:ext uri="{FF2B5EF4-FFF2-40B4-BE49-F238E27FC236}">
                <a16:creationId xmlns:a16="http://schemas.microsoft.com/office/drawing/2014/main" xmlns="" id="{090DBC6D-0CC2-769C-0C94-A07C735C25C1}"/>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0" y="1215515"/>
            <a:ext cx="12192002" cy="1294929"/>
          </a:xfrm>
        </p:spPr>
      </p:pic>
      <p:sp>
        <p:nvSpPr>
          <p:cNvPr id="2" name="Slide Number Placeholder 1">
            <a:extLst>
              <a:ext uri="{FF2B5EF4-FFF2-40B4-BE49-F238E27FC236}">
                <a16:creationId xmlns:a16="http://schemas.microsoft.com/office/drawing/2014/main" xmlns="" id="{1D99F9D4-6207-B2E1-3FD6-33F26217A170}"/>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
        <p:nvSpPr>
          <p:cNvPr id="3" name="Text Placeholder 18">
            <a:extLst>
              <a:ext uri="{FF2B5EF4-FFF2-40B4-BE49-F238E27FC236}">
                <a16:creationId xmlns:a16="http://schemas.microsoft.com/office/drawing/2014/main" xmlns="" id="{9488DDD1-17C6-6A4A-05E5-0588CAF9234A}"/>
              </a:ext>
            </a:extLst>
          </p:cNvPr>
          <p:cNvSpPr txBox="1">
            <a:spLocks/>
          </p:cNvSpPr>
          <p:nvPr/>
        </p:nvSpPr>
        <p:spPr>
          <a:xfrm>
            <a:off x="621445" y="2510444"/>
            <a:ext cx="10381373" cy="3390919"/>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300"/>
              </a:spcAft>
              <a:buClr>
                <a:schemeClr val="accent2"/>
              </a:buClr>
              <a:buFont typeface="Arial" panose="020B0604020202020204" pitchFamily="34" charset="0"/>
              <a:buNone/>
              <a:defRPr sz="1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Arial" panose="020B0604020202020204" pitchFamily="34" charset="0"/>
              <a:buChar char="•"/>
            </a:pPr>
            <a:r>
              <a:rPr lang="en-GB" sz="2400" dirty="0" smtClean="0"/>
              <a:t>We appreciate the staff and management of the 7 </a:t>
            </a:r>
            <a:r>
              <a:rPr lang="en-GB" sz="2400" dirty="0"/>
              <a:t>foremost oil marketers, namely, </a:t>
            </a:r>
            <a:r>
              <a:rPr lang="en-US" sz="2400" dirty="0"/>
              <a:t>Total Energies, OVH Energy (</a:t>
            </a:r>
            <a:r>
              <a:rPr lang="en-US" sz="2400" dirty="0" err="1"/>
              <a:t>Oando</a:t>
            </a:r>
            <a:r>
              <a:rPr lang="en-US" sz="2400" dirty="0"/>
              <a:t>), MRS, </a:t>
            </a:r>
            <a:r>
              <a:rPr lang="en-US" sz="2400" dirty="0" err="1"/>
              <a:t>Conoil</a:t>
            </a:r>
            <a:r>
              <a:rPr lang="en-US" sz="2400" dirty="0"/>
              <a:t> </a:t>
            </a:r>
            <a:r>
              <a:rPr lang="en-US" sz="2400" dirty="0" err="1"/>
              <a:t>Plc</a:t>
            </a:r>
            <a:r>
              <a:rPr lang="en-US" sz="2400" dirty="0"/>
              <a:t>, </a:t>
            </a:r>
            <a:r>
              <a:rPr lang="en-US" sz="2400" dirty="0" err="1"/>
              <a:t>Ardova</a:t>
            </a:r>
            <a:r>
              <a:rPr lang="en-US" sz="2400" dirty="0"/>
              <a:t> </a:t>
            </a:r>
            <a:r>
              <a:rPr lang="en-US" sz="2400" dirty="0" err="1"/>
              <a:t>Plc</a:t>
            </a:r>
            <a:r>
              <a:rPr lang="en-US" sz="2400" dirty="0"/>
              <a:t>, 11 </a:t>
            </a:r>
            <a:r>
              <a:rPr lang="en-US" sz="2400" dirty="0" err="1"/>
              <a:t>Plc</a:t>
            </a:r>
            <a:r>
              <a:rPr lang="en-US" sz="2400" dirty="0"/>
              <a:t>, and NNPC Retail Limited, </a:t>
            </a:r>
            <a:r>
              <a:rPr lang="en-US" sz="2400" dirty="0" smtClean="0"/>
              <a:t>in helping us to </a:t>
            </a:r>
            <a:r>
              <a:rPr lang="en-US" sz="2400" dirty="0"/>
              <a:t>source data for the research. </a:t>
            </a:r>
            <a:endParaRPr lang="en-US" sz="2400" dirty="0" smtClean="0"/>
          </a:p>
          <a:p>
            <a:pPr marL="342900" indent="-342900">
              <a:lnSpc>
                <a:spcPct val="150000"/>
              </a:lnSpc>
              <a:buFont typeface="Arial" panose="020B0604020202020204" pitchFamily="34" charset="0"/>
              <a:buChar char="•"/>
            </a:pPr>
            <a:r>
              <a:rPr lang="en-US" sz="2400" dirty="0" smtClean="0"/>
              <a:t>Data </a:t>
            </a:r>
            <a:r>
              <a:rPr lang="en-US" sz="2400" dirty="0"/>
              <a:t>was collected from their office and operational base in Lagos and Abuja, respectively. </a:t>
            </a:r>
            <a:endParaRPr lang="en-US" sz="2400" b="1" dirty="0">
              <a:latin typeface="+mj-lt"/>
            </a:endParaRPr>
          </a:p>
        </p:txBody>
      </p:sp>
    </p:spTree>
    <p:extLst>
      <p:ext uri="{BB962C8B-B14F-4D97-AF65-F5344CB8AC3E}">
        <p14:creationId xmlns:p14="http://schemas.microsoft.com/office/powerpoint/2010/main" val="3815463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Text Placeholder 3"/>
          <p:cNvSpPr>
            <a:spLocks noGrp="1"/>
          </p:cNvSpPr>
          <p:nvPr>
            <p:ph type="body" sz="quarter" idx="13"/>
          </p:nvPr>
        </p:nvSpPr>
        <p:spPr>
          <a:xfrm>
            <a:off x="195118" y="1078456"/>
            <a:ext cx="8466744" cy="5383415"/>
          </a:xfrm>
        </p:spPr>
        <p:txBody>
          <a:bodyPr/>
          <a:lstStyle/>
          <a:p>
            <a:pPr lvl="0" algn="just"/>
            <a:r>
              <a:rPr lang="en-US" sz="1800" dirty="0"/>
              <a:t>Dike, I. U., &amp; </a:t>
            </a:r>
            <a:r>
              <a:rPr lang="en-US" sz="1800" dirty="0" err="1"/>
              <a:t>Abdulkareem</a:t>
            </a:r>
            <a:r>
              <a:rPr lang="en-US" sz="1800" dirty="0"/>
              <a:t>, A. (2013). Impact of ICT in oil and gas exploration: A case study. International Journal of Computers &amp; Technology, 10(7), 1830–1835.</a:t>
            </a:r>
          </a:p>
          <a:p>
            <a:pPr lvl="0" algn="just"/>
            <a:r>
              <a:rPr lang="en-US" sz="1800" dirty="0"/>
              <a:t>Eteyen, O. (2024). Digital transformation in supply chain management: Leveraging AI and big data for enhanced efficiency in the Nigerian oil sector. International Journal of Management and Fuzzy Systems, 10(2), 35–42.</a:t>
            </a:r>
          </a:p>
          <a:p>
            <a:pPr lvl="0" algn="just"/>
            <a:r>
              <a:rPr lang="en-US" sz="1800" dirty="0"/>
              <a:t>Terab, B. S., Umar, U. A., &amp; </a:t>
            </a:r>
            <a:r>
              <a:rPr lang="en-US" sz="1800" dirty="0" err="1"/>
              <a:t>Oyedeji</a:t>
            </a:r>
            <a:r>
              <a:rPr lang="en-US" sz="1800" dirty="0"/>
              <a:t>, A. N. (2023). Information technology in supply chain management: Perspectives from key actors in the Nigerian petroleum sector. African Journal of Science, Technology, Innovation and Development, 15(7), 955–961.</a:t>
            </a:r>
          </a:p>
          <a:p>
            <a:pPr lvl="0" algn="just"/>
            <a:r>
              <a:rPr lang="en-US" sz="1800" dirty="0"/>
              <a:t>Christopher A. Ucheobi, Ejem A. Ejem, Shirgba T. Aikor, Goodluck T. Njoku, </a:t>
            </a:r>
            <a:r>
              <a:rPr lang="en-GB" sz="1800" dirty="0"/>
              <a:t>Obiageli N. Nze, Awa O. Nwosu, Chinenye L. Okafor &amp; Chidimma F. Ekejiuba</a:t>
            </a:r>
            <a:r>
              <a:rPr lang="en-GB" sz="1800" baseline="30000" dirty="0"/>
              <a:t> </a:t>
            </a:r>
            <a:r>
              <a:rPr lang="en-US" sz="1800" dirty="0"/>
              <a:t>(2025). </a:t>
            </a:r>
            <a:r>
              <a:rPr lang="en-GB" sz="1800" dirty="0"/>
              <a:t>Logistics Agility of Petroleum Products Distribution in Nigeria: Economic and Environmental Implications. International Journal of Environmental Sciences, ISSN: 2229-7359, 11(4), 1561-1579.</a:t>
            </a:r>
            <a:endParaRPr lang="en-US" sz="1800" dirty="0"/>
          </a:p>
          <a:p>
            <a:pPr lvl="0" algn="just"/>
            <a:r>
              <a:rPr lang="en-US" sz="1800" dirty="0" err="1"/>
              <a:t>Umuteme</a:t>
            </a:r>
            <a:r>
              <a:rPr lang="en-US" sz="1800" dirty="0"/>
              <a:t>, B. (2021). Investment in technology: make or break for Nigeria’s oil, gas industry. https://www.blueprint.ng/investment-in-technology-make-or-break-for-nigerias-oil-gas-industry-2/</a:t>
            </a:r>
          </a:p>
          <a:p>
            <a:pPr algn="just"/>
            <a:endParaRPr lang="en-US" sz="1800" dirty="0"/>
          </a:p>
        </p:txBody>
      </p:sp>
    </p:spTree>
    <p:extLst>
      <p:ext uri="{BB962C8B-B14F-4D97-AF65-F5344CB8AC3E}">
        <p14:creationId xmlns:p14="http://schemas.microsoft.com/office/powerpoint/2010/main" val="31234815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918661" y="2709949"/>
            <a:ext cx="4769002" cy="2960598"/>
          </a:xfrm>
          <a:prstGeom prst="rect">
            <a:avLst/>
          </a:prstGeom>
        </p:spPr>
      </p:pic>
    </p:spTree>
    <p:extLst>
      <p:ext uri="{BB962C8B-B14F-4D97-AF65-F5344CB8AC3E}">
        <p14:creationId xmlns:p14="http://schemas.microsoft.com/office/powerpoint/2010/main" val="44069682"/>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2006/documentManagement/types"/>
    <ds:schemaRef ds:uri="http://purl.org/dc/elements/1.1/"/>
    <ds:schemaRef ds:uri="16c05727-aa75-4e4a-9b5f-8a80a1165891"/>
    <ds:schemaRef ds:uri="http://purl.org/dc/dcmitype/"/>
    <ds:schemaRef ds:uri="http://purl.org/dc/terms/"/>
    <ds:schemaRef ds:uri="71af3243-3dd4-4a8d-8c0d-dd76da1f02a5"/>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333</TotalTime>
  <Words>1337</Words>
  <Application>Microsoft Office PowerPoint</Application>
  <PresentationFormat>Widescreen</PresentationFormat>
  <Paragraphs>225</Paragraphs>
  <Slides>13</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4" baseType="lpstr">
      <vt:lpstr>SimSun</vt:lpstr>
      <vt:lpstr>Arial</vt:lpstr>
      <vt:lpstr>Calibri</vt:lpstr>
      <vt:lpstr>Cambria Math</vt:lpstr>
      <vt:lpstr>Tahoma</vt:lpstr>
      <vt:lpstr>Times New Roman</vt:lpstr>
      <vt:lpstr>Trade Gothic LT Pro</vt:lpstr>
      <vt:lpstr>Trebuchet MS</vt:lpstr>
      <vt:lpstr>Wingdings</vt:lpstr>
      <vt:lpstr>Office Theme</vt:lpstr>
      <vt:lpstr>Document</vt:lpstr>
      <vt:lpstr>ICT Integration in Improving Agility of Petroleum Distribution in Nigeria</vt:lpstr>
      <vt:lpstr>Introduction</vt:lpstr>
      <vt:lpstr>Study Background</vt:lpstr>
      <vt:lpstr>Methodology</vt:lpstr>
      <vt:lpstr>Results and Discussions</vt:lpstr>
      <vt:lpstr>Results and Discussions cont.</vt:lpstr>
      <vt:lpstr>Results and Discussions cont.2</vt:lpstr>
      <vt:lpstr>Results and Discussions cont.3</vt:lpstr>
      <vt:lpstr>Conclusion</vt:lpstr>
      <vt:lpstr>Recommendations</vt:lpstr>
      <vt:lpstr>Acknowledgement</vt:lpstr>
      <vt:lpstr>References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Ride-Sharing on Urban Traffic Flow in Nigeria</dc:title>
  <dc:creator>Judethadeus Oshim</dc:creator>
  <cp:lastModifiedBy>User</cp:lastModifiedBy>
  <cp:revision>12</cp:revision>
  <dcterms:created xsi:type="dcterms:W3CDTF">2025-06-16T14:56:58Z</dcterms:created>
  <dcterms:modified xsi:type="dcterms:W3CDTF">2025-07-31T21:26:43Z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