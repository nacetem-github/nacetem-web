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4" r:id="rId1"/>
    <p:sldMasterId id="2147483876" r:id="rId2"/>
    <p:sldMasterId id="2147483890" r:id="rId3"/>
  </p:sldMasterIdLst>
  <p:notesMasterIdLst>
    <p:notesMasterId r:id="rId34"/>
  </p:notesMasterIdLst>
  <p:handoutMasterIdLst>
    <p:handoutMasterId r:id="rId35"/>
  </p:handoutMasterIdLst>
  <p:sldIdLst>
    <p:sldId id="264" r:id="rId4"/>
    <p:sldId id="309" r:id="rId5"/>
    <p:sldId id="290" r:id="rId6"/>
    <p:sldId id="347" r:id="rId7"/>
    <p:sldId id="320" r:id="rId8"/>
    <p:sldId id="352" r:id="rId9"/>
    <p:sldId id="373" r:id="rId10"/>
    <p:sldId id="351" r:id="rId11"/>
    <p:sldId id="293" r:id="rId12"/>
    <p:sldId id="358" r:id="rId13"/>
    <p:sldId id="361" r:id="rId14"/>
    <p:sldId id="323" r:id="rId15"/>
    <p:sldId id="374" r:id="rId16"/>
    <p:sldId id="312" r:id="rId17"/>
    <p:sldId id="356" r:id="rId18"/>
    <p:sldId id="382" r:id="rId19"/>
    <p:sldId id="377" r:id="rId20"/>
    <p:sldId id="376" r:id="rId21"/>
    <p:sldId id="348" r:id="rId22"/>
    <p:sldId id="325" r:id="rId23"/>
    <p:sldId id="359" r:id="rId24"/>
    <p:sldId id="332" r:id="rId25"/>
    <p:sldId id="350" r:id="rId26"/>
    <p:sldId id="360" r:id="rId27"/>
    <p:sldId id="342" r:id="rId28"/>
    <p:sldId id="379" r:id="rId29"/>
    <p:sldId id="378" r:id="rId30"/>
    <p:sldId id="380" r:id="rId31"/>
    <p:sldId id="381" r:id="rId32"/>
    <p:sldId id="383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8" clrIdx="0">
    <p:extLst>
      <p:ext uri="{19B8F6BF-5375-455C-9EA6-DF929625EA0E}">
        <p15:presenceInfo xmlns:p15="http://schemas.microsoft.com/office/powerpoint/2012/main" userId="d012383ee43773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 autoAdjust="0"/>
    <p:restoredTop sz="94671" autoAdjust="0"/>
  </p:normalViewPr>
  <p:slideViewPr>
    <p:cSldViewPr>
      <p:cViewPr varScale="1">
        <p:scale>
          <a:sx n="78" d="100"/>
          <a:sy n="78" d="100"/>
        </p:scale>
        <p:origin x="151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r">
              <a:defRPr sz="1200"/>
            </a:lvl1pPr>
          </a:lstStyle>
          <a:p>
            <a:fld id="{B4438958-17AF-4DB7-9286-359CCE11C3D8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r">
              <a:defRPr sz="1200"/>
            </a:lvl1pPr>
          </a:lstStyle>
          <a:p>
            <a:fld id="{37DD3F75-C114-4AB7-8C3A-4E238D7544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183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r">
              <a:defRPr sz="1200"/>
            </a:lvl1pPr>
          </a:lstStyle>
          <a:p>
            <a:fld id="{A2E0831B-1021-4217-B7C3-10CFE9172EF4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2" tIns="46216" rIns="92432" bIns="4621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32" tIns="46216" rIns="92432" bIns="462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r">
              <a:defRPr sz="1200"/>
            </a:lvl1pPr>
          </a:lstStyle>
          <a:p>
            <a:fld id="{B424D693-3628-4055-9377-F1C425D0B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2586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663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9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7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55956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85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83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64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18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34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819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01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208168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04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946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57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11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4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76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575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860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D1B1-7862-4BCE-8306-91D0ACB32E52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C3DA-A1D3-4A1C-9703-FC7E652E640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FD8F-F5EB-4CB0-B34C-8F170DB455C3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B2641-B32A-4319-B4CE-0842B72AE012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3EE58-50E8-447D-8B2B-34348D6DE8AC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5083-F966-4D33-8BA8-8E7408BEF121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7FF-ED73-48FA-9478-CE0F46121E26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47A-866D-4E82-ADE7-085FBD529CD8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F50-6C41-4082-8A24-4FA4E106B045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1DCB-7ED9-40A1-ACE9-2CA6C88077F3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6335-CE3A-4703-8DEF-758A63B2C140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" y="1560513"/>
            <a:ext cx="9020175" cy="1527175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913" y="1439863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87450" y="3141663"/>
            <a:ext cx="6624638" cy="1852612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63500" dist="38100" dir="8100000" algn="tr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xmlns="" w="190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+mn-lt"/>
              <a:ea typeface="+mn-ea"/>
            </a:endParaRPr>
          </a:p>
        </p:txBody>
      </p:sp>
      <p:pic>
        <p:nvPicPr>
          <p:cNvPr id="10" name="Picture 18" descr="NAC_LOGO-2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2600" y="11113"/>
            <a:ext cx="68580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3707904" y="-91578"/>
            <a:ext cx="25146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0922" y="628749"/>
            <a:ext cx="5469575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086600" y="6505575"/>
            <a:ext cx="19812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14" name="TextBox 24"/>
          <p:cNvSpPr txBox="1">
            <a:spLocks noChangeArrowheads="1"/>
          </p:cNvSpPr>
          <p:nvPr userDrawn="1"/>
        </p:nvSpPr>
        <p:spPr bwMode="auto">
          <a:xfrm>
            <a:off x="755650" y="6500813"/>
            <a:ext cx="5976938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400" i="1" dirty="0">
                <a:latin typeface="Calibri Light" pitchFamily="34" charset="0"/>
              </a:rPr>
              <a:t>NACETEM…Managing Technology for Sustainable Development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 b="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9EDA5-6D1B-4EF8-B9D1-6F0743E708F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74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0EC2F4-BA6F-46EE-850D-694B38431047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31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39552" y="1700808"/>
            <a:ext cx="3979872" cy="48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788024" y="1700808"/>
            <a:ext cx="3749040" cy="48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1CB4F6-48C5-41DC-AD8A-7C8A1C3756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919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FA543-A32D-4F79-A4ED-10059AD0630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907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492896"/>
            <a:ext cx="8194104" cy="1800200"/>
          </a:xfrm>
          <a:solidFill>
            <a:schemeClr val="accent2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F07390-5331-4807-BD67-FEA8162774E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715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93C14-AE17-4D24-86F4-FE86C4D87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08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5F19E-E292-4EBF-9EFB-12533E997ED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564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C165D-DD1A-47B3-9F4B-1A7B065EABA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522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66BE0-4650-4758-8CC1-441A4176718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149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A436E-455D-4B62-97ED-6266397FEF6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0934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38862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38862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27B98567-4A0B-48CC-A982-45492D08D15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65953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172200"/>
            <a:ext cx="54864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BDBB1DCD-4BB2-48AE-B70F-FA3E1C7879A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19610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C3DA-A1D3-4A1C-9703-FC7E652E640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226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D1B1-7862-4BCE-8306-91D0ACB32E52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8456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5C3DA-A1D3-4A1C-9703-FC7E652E640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029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FD8F-F5EB-4CB0-B34C-8F170DB455C3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29572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B2641-B32A-4319-B4CE-0842B72AE012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179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3EE58-50E8-447D-8B2B-34348D6DE8AC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019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5083-F966-4D33-8BA8-8E7408BEF121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170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27FF-ED73-48FA-9478-CE0F46121E26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502588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47A-866D-4E82-ADE7-085FBD529CD8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710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F50-6C41-4082-8A24-4FA4E106B045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593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B1DCB-7ED9-40A1-ACE9-2CA6C88077F3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249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6335-CE3A-4703-8DEF-758A63B2C140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B0DE4D6-8062-4761-9199-9AEA6147483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250825" y="669925"/>
            <a:ext cx="79787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50825" y="1676400"/>
            <a:ext cx="8166100" cy="463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324600"/>
            <a:ext cx="457200" cy="457200"/>
          </a:xfrm>
          <a:prstGeom prst="ellipse">
            <a:avLst/>
          </a:prstGeom>
          <a:solidFill>
            <a:schemeClr val="accent2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Tw Cen MT" pitchFamily="34" charset="0"/>
              </a:defRPr>
            </a:lvl1pPr>
          </a:lstStyle>
          <a:p>
            <a:fld id="{FA2D2DF1-13C5-43BF-BBD9-0DA151975497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1030" name="Picture 9" descr="NAC_LOGO-2.gif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8558213" y="6165850"/>
            <a:ext cx="550862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218461" y="-99392"/>
            <a:ext cx="25146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034" name="TextBox 23"/>
          <p:cNvSpPr txBox="1">
            <a:spLocks noChangeArrowheads="1"/>
          </p:cNvSpPr>
          <p:nvPr/>
        </p:nvSpPr>
        <p:spPr bwMode="auto">
          <a:xfrm>
            <a:off x="6751638" y="6562725"/>
            <a:ext cx="19812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2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733061" y="0"/>
            <a:ext cx="410939" cy="60212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5923562" y="2809500"/>
            <a:ext cx="5926776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620713"/>
            <a:ext cx="8732838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TextBox 7"/>
          <p:cNvSpPr txBox="1">
            <a:spLocks noChangeArrowheads="1"/>
          </p:cNvSpPr>
          <p:nvPr userDrawn="1"/>
        </p:nvSpPr>
        <p:spPr bwMode="auto">
          <a:xfrm>
            <a:off x="755650" y="6437313"/>
            <a:ext cx="6337300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600" i="1">
                <a:latin typeface="Calibri Light" pitchFamily="34" charset="0"/>
              </a:rPr>
              <a:t>NACETEM…Managing Technology for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65852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Calibri" pitchFamily="34" charset="0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B0DE4D6-8062-4761-9199-9AEA6147483F}" type="datetime1">
              <a:rPr lang="en-US" smtClean="0"/>
              <a:t>4/14/2025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1C3B027-99D8-4500-AA7E-8D849F3A1F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6878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ect.2023.11.004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ubtitle 2"/>
          <p:cNvSpPr>
            <a:spLocks noGrp="1"/>
          </p:cNvSpPr>
          <p:nvPr>
            <p:ph type="subTitle" idx="1"/>
          </p:nvPr>
        </p:nvSpPr>
        <p:spPr>
          <a:xfrm>
            <a:off x="1219200" y="3200400"/>
            <a:ext cx="6553200" cy="289560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endParaRPr lang="en-US" sz="1800" b="1" dirty="0">
              <a:solidFill>
                <a:schemeClr val="accent6">
                  <a:lumMod val="20000"/>
                  <a:lumOff val="80000"/>
                </a:schemeClr>
              </a:solidFill>
              <a:latin typeface="Aharoni" pitchFamily="2" charset="-79"/>
              <a:ea typeface="+mn-ea"/>
              <a:cs typeface="Aharoni" pitchFamily="2" charset="-79"/>
            </a:endParaRPr>
          </a:p>
          <a:p>
            <a:pPr>
              <a:spcBef>
                <a:spcPts val="0"/>
              </a:spcBef>
              <a:defRPr/>
            </a:pP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haroni" pitchFamily="2" charset="-79"/>
                <a:ea typeface="+mn-ea"/>
                <a:cs typeface="Aharoni" pitchFamily="2" charset="-79"/>
              </a:rPr>
              <a:t>OLOMU, MICHAEL O. </a:t>
            </a:r>
            <a:r>
              <a:rPr lang="en-US" sz="32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haroni" pitchFamily="2" charset="-79"/>
                <a:ea typeface="+mn-ea"/>
                <a:cs typeface="Aharoni" pitchFamily="2" charset="-79"/>
              </a:rPr>
              <a:t>PhD</a:t>
            </a:r>
          </a:p>
          <a:p>
            <a:pPr>
              <a:spcBef>
                <a:spcPts val="0"/>
              </a:spcBef>
              <a:defRPr/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ea typeface="+mn-ea"/>
              </a:rPr>
              <a:t>NACETEM HQ, OBAFEMI AWOLOWO UNIVERSITY, ILE-IFE, NIGERIA</a:t>
            </a:r>
          </a:p>
          <a:p>
            <a:pPr>
              <a:spcBef>
                <a:spcPts val="0"/>
              </a:spcBef>
              <a:defRPr/>
            </a:pPr>
            <a:endParaRPr lang="en-US" sz="2400" b="1" dirty="0">
              <a:solidFill>
                <a:schemeClr val="accent6">
                  <a:lumMod val="20000"/>
                  <a:lumOff val="80000"/>
                </a:schemeClr>
              </a:solidFill>
              <a:ea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b="1" dirty="0">
                <a:solidFill>
                  <a:srgbClr val="C00000"/>
                </a:solidFill>
                <a:ea typeface="+mn-ea"/>
              </a:rPr>
              <a:t>NACETEM Researchers’ Seminar Series</a:t>
            </a:r>
          </a:p>
          <a:p>
            <a:pPr>
              <a:spcBef>
                <a:spcPts val="0"/>
              </a:spcBef>
              <a:defRPr/>
            </a:pPr>
            <a:r>
              <a:rPr lang="en-GB" sz="2400" b="1" dirty="0">
                <a:solidFill>
                  <a:srgbClr val="C00000"/>
                </a:solidFill>
                <a:ea typeface="+mn-ea"/>
              </a:rPr>
              <a:t>Thursday, 17</a:t>
            </a:r>
            <a:r>
              <a:rPr lang="en-GB" sz="2400" b="1" baseline="30000" dirty="0">
                <a:solidFill>
                  <a:srgbClr val="C00000"/>
                </a:solidFill>
                <a:ea typeface="+mn-ea"/>
              </a:rPr>
              <a:t>th</a:t>
            </a:r>
            <a:r>
              <a:rPr lang="en-GB" sz="2400" b="1" dirty="0">
                <a:solidFill>
                  <a:srgbClr val="C00000"/>
                </a:solidFill>
                <a:ea typeface="+mn-ea"/>
              </a:rPr>
              <a:t> April 2025</a:t>
            </a:r>
          </a:p>
        </p:txBody>
      </p:sp>
      <p:sp>
        <p:nvSpPr>
          <p:cNvPr id="16385" name="Title 1"/>
          <p:cNvSpPr>
            <a:spLocks noGrp="1"/>
          </p:cNvSpPr>
          <p:nvPr>
            <p:ph type="ctrTitle"/>
          </p:nvPr>
        </p:nvSpPr>
        <p:spPr>
          <a:xfrm>
            <a:off x="76200" y="1600200"/>
            <a:ext cx="8991600" cy="1447800"/>
          </a:xfrm>
        </p:spPr>
        <p:txBody>
          <a:bodyPr/>
          <a:lstStyle/>
          <a:p>
            <a:r>
              <a:rPr lang="en-US" b="1" dirty="0">
                <a:ea typeface="ＭＳ Ｐゴシック" pitchFamily="34" charset="-128"/>
              </a:rPr>
              <a:t>The Adoption of Internet-based Technological Innovations in Latecomer Industrial Settings</a:t>
            </a:r>
            <a:endParaRPr b="1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14375"/>
            <a:ext cx="8112125" cy="676275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2060"/>
                </a:solidFill>
                <a:latin typeface="Gill Sans MT" panose="020B0502020104020203" pitchFamily="34" charset="0"/>
                <a:ea typeface="ＭＳ Ｐゴシック" pitchFamily="34" charset="-128"/>
                <a:cs typeface="Times New Roman" pitchFamily="18" charset="0"/>
              </a:rPr>
              <a:t>Outline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3850" y="1285860"/>
            <a:ext cx="8112125" cy="496254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Introduction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Methodology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Results and Discussions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Conclusions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prstClr val="black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Recommendations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152400"/>
            <a:ext cx="8997696" cy="6553200"/>
          </a:xfrm>
        </p:spPr>
        <p:txBody>
          <a:bodyPr>
            <a:normAutofit lnSpcReduction="10000"/>
          </a:bodyPr>
          <a:lstStyle/>
          <a:p>
            <a:pPr marL="658368" lvl="2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500" b="1" dirty="0">
                <a:latin typeface="Arial" panose="020B0604020202020204" pitchFamily="34" charset="0"/>
                <a:cs typeface="Arial" pitchFamily="34" charset="0"/>
              </a:rPr>
              <a:t>		         </a:t>
            </a:r>
            <a:r>
              <a:rPr lang="en-US" sz="3600" b="1" dirty="0">
                <a:latin typeface="+mj-lt"/>
                <a:cs typeface="Arial" pitchFamily="34" charset="0"/>
              </a:rPr>
              <a:t>INTRODUCTION</a:t>
            </a:r>
            <a:endParaRPr lang="en-US" sz="3600" dirty="0">
              <a:latin typeface="+mj-lt"/>
              <a:cs typeface="Arial" pitchFamily="34" charset="0"/>
            </a:endParaRPr>
          </a:p>
          <a:p>
            <a:pPr marL="365125" indent="-365125" algn="just">
              <a:buFont typeface="Wingdings" pitchFamily="2" charset="2"/>
              <a:buChar char="q"/>
            </a:pPr>
            <a:r>
              <a:rPr lang="en-GB" sz="3000" dirty="0"/>
              <a:t>The adoption of technological innovation is crucial towards the realisation of economic growth and development, notably driven by numerous factors and conditions (</a:t>
            </a:r>
            <a:r>
              <a:rPr lang="en-US" sz="3000" dirty="0"/>
              <a:t>Venkatesh </a:t>
            </a:r>
            <a:r>
              <a:rPr lang="en-US" sz="3000" i="1" dirty="0"/>
              <a:t>et al</a:t>
            </a:r>
            <a:r>
              <a:rPr lang="en-US" sz="3000" dirty="0"/>
              <a:t>., 2012</a:t>
            </a:r>
            <a:r>
              <a:rPr lang="en-GB" sz="3000" dirty="0"/>
              <a:t>)</a:t>
            </a:r>
            <a:r>
              <a:rPr lang="en-US" sz="3000" dirty="0">
                <a:cs typeface="Arial" panose="020B0604020202020204" pitchFamily="34" charset="0"/>
              </a:rPr>
              <a:t>. 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US" sz="3000" dirty="0">
              <a:cs typeface="Arial" panose="020B0604020202020204" pitchFamily="34" charset="0"/>
            </a:endParaRPr>
          </a:p>
          <a:p>
            <a:pPr marL="365125" indent="-365125" algn="just">
              <a:buFont typeface="Wingdings" pitchFamily="2" charset="2"/>
              <a:buChar char="q"/>
            </a:pPr>
            <a:r>
              <a:rPr lang="en-US" sz="3000" dirty="0">
                <a:ea typeface="Calibri" panose="020F0502020204030204" pitchFamily="34" charset="0"/>
              </a:rPr>
              <a:t>T</a:t>
            </a:r>
            <a:r>
              <a:rPr lang="en-NG" sz="3000" dirty="0">
                <a:effectLst/>
                <a:ea typeface="Calibri" panose="020F0502020204030204" pitchFamily="34" charset="0"/>
              </a:rPr>
              <a:t>he impact of technological innovations in </a:t>
            </a:r>
            <a:r>
              <a:rPr lang="en-US" sz="3000" dirty="0">
                <a:effectLst/>
                <a:ea typeface="Calibri" panose="020F0502020204030204" pitchFamily="34" charset="0"/>
              </a:rPr>
              <a:t>sustainable development </a:t>
            </a:r>
            <a:r>
              <a:rPr lang="en-NG" sz="3000" dirty="0">
                <a:effectLst/>
                <a:ea typeface="Calibri" panose="020F0502020204030204" pitchFamily="34" charset="0"/>
              </a:rPr>
              <a:t>presents important considerations for industrial policy and growth</a:t>
            </a:r>
            <a:r>
              <a:rPr lang="en-US" sz="3000" dirty="0">
                <a:effectLst/>
                <a:ea typeface="Calibri" panose="020F0502020204030204" pitchFamily="34" charset="0"/>
              </a:rPr>
              <a:t>. 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US" sz="3000" dirty="0">
              <a:cs typeface="Arial" panose="020B0604020202020204" pitchFamily="34" charset="0"/>
            </a:endParaRPr>
          </a:p>
          <a:p>
            <a:pPr marL="365125" indent="-365125" algn="just">
              <a:buFont typeface="Wingdings" pitchFamily="2" charset="2"/>
              <a:buChar char="q"/>
            </a:pPr>
            <a:r>
              <a:rPr lang="en-GB" sz="3000" dirty="0"/>
              <a:t>In the present globalised economy, the industrial firms are threatened with stiff competition and growing demands for high quality products and services in the market.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5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228600"/>
            <a:ext cx="8997696" cy="6400800"/>
          </a:xfrm>
        </p:spPr>
        <p:txBody>
          <a:bodyPr>
            <a:noAutofit/>
          </a:bodyPr>
          <a:lstStyle/>
          <a:p>
            <a:pPr marL="457200" indent="-45720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GB" sz="2900" dirty="0"/>
              <a:t>Many industrial firms are seeking new ways to stand out and sustain their competitive advantage. </a:t>
            </a:r>
            <a:endParaRPr lang="en-GB" sz="29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GB" sz="2900" dirty="0"/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GB" sz="2900" dirty="0">
                <a:solidFill>
                  <a:srgbClr val="000000"/>
                </a:solidFill>
                <a:ea typeface="Calibri" panose="020F0502020204030204" pitchFamily="34" charset="0"/>
              </a:rPr>
              <a:t>T</a:t>
            </a:r>
            <a:r>
              <a:rPr lang="en-NG" sz="2900" dirty="0">
                <a:solidFill>
                  <a:srgbClr val="000000"/>
                </a:solidFill>
                <a:ea typeface="Calibri" panose="020F0502020204030204" pitchFamily="34" charset="0"/>
              </a:rPr>
              <a:t>he industrial sector has been one of the </a:t>
            </a:r>
            <a:r>
              <a:rPr lang="en-US" sz="2900" dirty="0">
                <a:solidFill>
                  <a:srgbClr val="000000"/>
                </a:solidFill>
                <a:ea typeface="Calibri" panose="020F0502020204030204" pitchFamily="34" charset="0"/>
              </a:rPr>
              <a:t>early </a:t>
            </a:r>
            <a:r>
              <a:rPr lang="en-NG" sz="2900" dirty="0">
                <a:solidFill>
                  <a:srgbClr val="000000"/>
                </a:solidFill>
                <a:ea typeface="Calibri" panose="020F0502020204030204" pitchFamily="34" charset="0"/>
              </a:rPr>
              <a:t>adopters of new </a:t>
            </a:r>
            <a:r>
              <a:rPr lang="en-US" sz="2900" dirty="0">
                <a:solidFill>
                  <a:srgbClr val="000000"/>
                </a:solidFill>
                <a:ea typeface="Calibri" panose="020F0502020204030204" pitchFamily="34" charset="0"/>
              </a:rPr>
              <a:t>or disruptive </a:t>
            </a:r>
            <a:r>
              <a:rPr lang="en-NG" sz="2900" dirty="0">
                <a:solidFill>
                  <a:srgbClr val="000000"/>
                </a:solidFill>
                <a:ea typeface="Calibri" panose="020F0502020204030204" pitchFamily="34" charset="0"/>
              </a:rPr>
              <a:t>technologi</a:t>
            </a:r>
            <a:r>
              <a:rPr lang="en-US" sz="2900" dirty="0">
                <a:solidFill>
                  <a:srgbClr val="000000"/>
                </a:solidFill>
                <a:ea typeface="Calibri" panose="020F0502020204030204" pitchFamily="34" charset="0"/>
              </a:rPr>
              <a:t>es </a:t>
            </a:r>
            <a:r>
              <a:rPr lang="en-US" sz="2900" kern="0" dirty="0">
                <a:ea typeface="Times New Roman" panose="02020603050405020304" pitchFamily="18" charset="0"/>
              </a:rPr>
              <a:t>influenced</a:t>
            </a:r>
            <a:r>
              <a:rPr lang="en-NG" sz="2900" kern="0" dirty="0">
                <a:ea typeface="Times New Roman" panose="02020603050405020304" pitchFamily="18" charset="0"/>
              </a:rPr>
              <a:t> </a:t>
            </a:r>
            <a:r>
              <a:rPr lang="en-US" sz="2900" kern="0" dirty="0">
                <a:ea typeface="Times New Roman" panose="02020603050405020304" pitchFamily="18" charset="0"/>
              </a:rPr>
              <a:t>and </a:t>
            </a:r>
            <a:r>
              <a:rPr lang="en-NG" sz="2900" dirty="0">
                <a:ea typeface="Calibri" panose="020F0502020204030204" pitchFamily="34" charset="0"/>
              </a:rPr>
              <a:t>driven by Internet technolog</a:t>
            </a:r>
            <a:r>
              <a:rPr lang="en-US" sz="2900" dirty="0">
                <a:ea typeface="Calibri" panose="020F0502020204030204" pitchFamily="34" charset="0"/>
              </a:rPr>
              <a:t>y</a:t>
            </a:r>
            <a:r>
              <a:rPr lang="en-NG" sz="2900" dirty="0">
                <a:ea typeface="Calibri" panose="020F0502020204030204" pitchFamily="34" charset="0"/>
              </a:rPr>
              <a:t> </a:t>
            </a:r>
            <a:r>
              <a:rPr lang="en-NG" sz="2900" dirty="0">
                <a:solidFill>
                  <a:srgbClr val="000000"/>
                </a:solidFill>
                <a:ea typeface="Calibri" panose="020F0502020204030204" pitchFamily="34" charset="0"/>
              </a:rPr>
              <a:t>(Khan </a:t>
            </a:r>
            <a:r>
              <a:rPr lang="en-NG" sz="2900" i="1" dirty="0">
                <a:solidFill>
                  <a:srgbClr val="000000"/>
                </a:solidFill>
                <a:ea typeface="Calibri" panose="020F0502020204030204" pitchFamily="34" charset="0"/>
              </a:rPr>
              <a:t>et al</a:t>
            </a:r>
            <a:r>
              <a:rPr lang="en-NG" sz="2900" dirty="0">
                <a:solidFill>
                  <a:srgbClr val="000000"/>
                </a:solidFill>
                <a:ea typeface="Calibri" panose="020F0502020204030204" pitchFamily="34" charset="0"/>
              </a:rPr>
              <a:t>., 2021).</a:t>
            </a:r>
            <a:endParaRPr lang="en-US" sz="29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endParaRPr lang="en-GB" sz="2900" dirty="0"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900" dirty="0">
                <a:solidFill>
                  <a:srgbClr val="000000"/>
                </a:solidFill>
                <a:ea typeface="Calibri" panose="020F0502020204030204" pitchFamily="34" charset="0"/>
              </a:rPr>
              <a:t>High-performance computing, connectivity and data services, the demand for cutting-edge technological solutions by the industrial settings.</a:t>
            </a: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endParaRPr lang="en-US" sz="29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GB" sz="2900" dirty="0"/>
              <a:t>The digital economy and the new industrial revolutions are fundamentally transforming the way firms operate.</a:t>
            </a:r>
            <a:endParaRPr lang="en-US" sz="2900" dirty="0"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endParaRPr lang="en-US" sz="2800" dirty="0"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45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6756"/>
            <a:ext cx="8994648" cy="6635044"/>
          </a:xfrm>
        </p:spPr>
        <p:txBody>
          <a:bodyPr>
            <a:noAutofit/>
          </a:bodyPr>
          <a:lstStyle/>
          <a:p>
            <a:pPr marL="365125" indent="-365125" algn="just">
              <a:buFont typeface="Wingdings" pitchFamily="2" charset="2"/>
              <a:buChar char="q"/>
            </a:pPr>
            <a:r>
              <a:rPr lang="en-GB" sz="2700" dirty="0"/>
              <a:t>Internet has spread exponentially across the nations of the world and it has</a:t>
            </a:r>
            <a:r>
              <a:rPr lang="en-US" sz="2700" dirty="0"/>
              <a:t> become one of the most important technologies of the 21</a:t>
            </a:r>
            <a:r>
              <a:rPr lang="en-US" sz="2700" baseline="30000" dirty="0"/>
              <a:t>st</a:t>
            </a:r>
            <a:r>
              <a:rPr lang="en-US" sz="2700" dirty="0"/>
              <a:t> century.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GB" sz="2700" dirty="0"/>
          </a:p>
          <a:p>
            <a:pPr marL="365125" indent="-365125" algn="just">
              <a:buFont typeface="Wingdings" pitchFamily="2" charset="2"/>
              <a:buChar char="q"/>
            </a:pPr>
            <a:r>
              <a:rPr lang="en-GB" sz="2700" dirty="0"/>
              <a:t>The full effects of new technologies such as Internet of Things (IoT), the artificial intelligence (AI), smart automation, 3-D printing, energy storage and dynamic computing are evolving.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US" sz="2700" dirty="0">
              <a:ea typeface="Calibri" panose="020F0502020204030204" pitchFamily="34" charset="0"/>
            </a:endParaRPr>
          </a:p>
          <a:p>
            <a:pPr marL="365125" indent="-365125" algn="just">
              <a:buFont typeface="Wingdings" pitchFamily="2" charset="2"/>
              <a:buChar char="q"/>
            </a:pPr>
            <a:r>
              <a:rPr lang="en-NG" sz="2700" i="1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Industrial Internet of Things (IIoT)</a:t>
            </a:r>
            <a:r>
              <a:rPr lang="en-NG" sz="2700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NG" sz="2700" dirty="0">
                <a:effectLst/>
                <a:ea typeface="Calibri" panose="020F0502020204030204" pitchFamily="34" charset="0"/>
              </a:rPr>
              <a:t>are with </a:t>
            </a:r>
            <a:r>
              <a:rPr lang="en-US" sz="2700" dirty="0">
                <a:effectLst/>
                <a:ea typeface="Calibri" panose="020F0502020204030204" pitchFamily="34" charset="0"/>
              </a:rPr>
              <a:t>robust influence which triggers the performance of </a:t>
            </a:r>
            <a:r>
              <a:rPr lang="en-NG" sz="2700" dirty="0">
                <a:effectLst/>
                <a:ea typeface="Calibri" panose="020F0502020204030204" pitchFamily="34" charset="0"/>
              </a:rPr>
              <a:t>all sectors of the economies</a:t>
            </a:r>
            <a:r>
              <a:rPr lang="en-US" sz="2700" dirty="0">
                <a:effectLst/>
                <a:ea typeface="Calibri" panose="020F0502020204030204" pitchFamily="34" charset="0"/>
              </a:rPr>
              <a:t>. 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US" sz="2700" dirty="0">
              <a:effectLst/>
              <a:ea typeface="Calibri" panose="020F0502020204030204" pitchFamily="34" charset="0"/>
            </a:endParaRPr>
          </a:p>
          <a:p>
            <a:pPr marL="365125" indent="-365125" algn="just">
              <a:buFont typeface="Wingdings" pitchFamily="2" charset="2"/>
              <a:buChar char="q"/>
            </a:pPr>
            <a:r>
              <a:rPr lang="en-US" sz="2700" dirty="0"/>
              <a:t>Internet technology forms the basis of what has become known as the “4IR” (Lee </a:t>
            </a:r>
            <a:r>
              <a:rPr lang="en-US" sz="2700" i="1" dirty="0"/>
              <a:t>et al</a:t>
            </a:r>
            <a:r>
              <a:rPr lang="en-US" sz="2700" dirty="0"/>
              <a:t>., 2014).</a:t>
            </a:r>
          </a:p>
          <a:p>
            <a:pPr marL="365125" indent="-365125" algn="just">
              <a:buFont typeface="Wingdings" pitchFamily="2" charset="2"/>
              <a:buChar char="q"/>
            </a:pPr>
            <a:endParaRPr lang="en-GB" sz="2700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7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1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0" name="Picture 2" descr="Boost Your Career by Understanding Fourth Industrial Revolution! (Industry  4.0) | Laptrin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" y="152400"/>
            <a:ext cx="8997696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89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4500" t="19778" r="19000" b="12667"/>
          <a:stretch/>
        </p:blipFill>
        <p:spPr>
          <a:xfrm>
            <a:off x="152400" y="152400"/>
            <a:ext cx="8918448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3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6" name="Picture 2" descr="Fourth Industrial Revolution - Part One (Defining and understanding 4IR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686800" cy="615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738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76200"/>
            <a:ext cx="8997696" cy="6705600"/>
          </a:xfrm>
        </p:spPr>
        <p:txBody>
          <a:bodyPr>
            <a:noAutofit/>
          </a:bodyPr>
          <a:lstStyle/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GB" sz="2800" dirty="0"/>
              <a:t>The Nigerian Government has initiated efforts especially as it affects clusters through industrial policy and initiatives (Ugoani &amp; Ibeenwo, 2015).</a:t>
            </a:r>
          </a:p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GB" sz="2800" b="0" i="0" dirty="0">
              <a:solidFill>
                <a:srgbClr val="000000"/>
              </a:solidFill>
              <a:effectLst/>
              <a:latin typeface="TimesNewRomanPSMT"/>
            </a:endParaRP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nitiating efforts in collaborations with the financial sectors to strengthen and regulate the industrial clusters (Bank of Industry, 2018).</a:t>
            </a:r>
            <a:r>
              <a:rPr lang="en-US" sz="2800" dirty="0"/>
              <a:t> </a:t>
            </a:r>
            <a:br>
              <a:rPr lang="en-US" sz="2800" dirty="0"/>
            </a:br>
            <a:endParaRPr lang="en-GB" sz="2800" dirty="0">
              <a:solidFill>
                <a:srgbClr val="00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</a:rPr>
              <a:t>T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he Nigeria Industrial Revolution Plan (NIRP) in 2017 which was an integral part of the Economic Recovery and Growth Plan (ERGP) policy document.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GB" sz="2800" dirty="0"/>
              <a:t>The Nigeria’s ICT Innovation and Entrepreneurship Vision (NIIEV) in April, 2019.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1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228600"/>
            <a:ext cx="8997696" cy="6477000"/>
          </a:xfrm>
        </p:spPr>
        <p:txBody>
          <a:bodyPr>
            <a:noAutofit/>
          </a:bodyPr>
          <a:lstStyle/>
          <a:p>
            <a:pPr marL="0" indent="0" algn="ctr">
              <a:spcAft>
                <a:spcPts val="1200"/>
              </a:spcAft>
              <a:buNone/>
              <a:tabLst>
                <a:tab pos="271463" algn="l"/>
              </a:tabLst>
            </a:pPr>
            <a:r>
              <a:rPr lang="en-US" sz="3300" b="1" dirty="0">
                <a:effectLst/>
                <a:latin typeface="+mj-lt"/>
                <a:ea typeface="Calibri" panose="020F0502020204030204" pitchFamily="34" charset="0"/>
              </a:rPr>
              <a:t>INDUSTRIAL CLUSTERS</a:t>
            </a:r>
          </a:p>
          <a:p>
            <a:pPr marL="358775" indent="-358775" algn="just">
              <a:spcAft>
                <a:spcPts val="1900"/>
              </a:spcAft>
              <a:buFont typeface="Wingdings" panose="05000000000000000000" pitchFamily="2" charset="2"/>
              <a:buChar char="q"/>
              <a:tabLst>
                <a:tab pos="185738" algn="l"/>
                <a:tab pos="358775" algn="l"/>
              </a:tabLst>
            </a:pPr>
            <a:r>
              <a:rPr lang="en-GB" sz="2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A</a:t>
            </a:r>
            <a:r>
              <a:rPr lang="en-GB" sz="2800" dirty="0">
                <a:solidFill>
                  <a:srgbClr val="000000"/>
                </a:solidFill>
                <a:ea typeface="Calibri" panose="020F0502020204030204" pitchFamily="34" charset="0"/>
              </a:rPr>
              <a:t>n industrial </a:t>
            </a:r>
            <a:r>
              <a:rPr lang="en-GB" sz="2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</a:t>
            </a:r>
            <a:r>
              <a:rPr lang="en-GB" sz="2800" dirty="0">
                <a:effectLst/>
                <a:ea typeface="Calibri" panose="020F0502020204030204" pitchFamily="34" charset="0"/>
              </a:rPr>
              <a:t>luster is an agglomeration of interconnected industrial firms and associated institutions (</a:t>
            </a:r>
            <a:r>
              <a:rPr lang="en-GB" sz="2800" dirty="0">
                <a:solidFill>
                  <a:srgbClr val="000000"/>
                </a:solidFill>
                <a:ea typeface="Calibri" panose="020F0502020204030204" pitchFamily="34" charset="0"/>
              </a:rPr>
              <a:t>UNIDO, 2</a:t>
            </a:r>
            <a:r>
              <a:rPr lang="en-GB" sz="28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022). </a:t>
            </a:r>
            <a:endParaRPr lang="en-GB" sz="2800" dirty="0">
              <a:effectLst/>
              <a:ea typeface="Calibri" panose="020F0502020204030204" pitchFamily="34" charset="0"/>
            </a:endParaRPr>
          </a:p>
          <a:p>
            <a:pPr marL="358775" indent="-358775" algn="just">
              <a:spcAft>
                <a:spcPts val="1900"/>
              </a:spcAft>
              <a:buFont typeface="Wingdings" panose="05000000000000000000" pitchFamily="2" charset="2"/>
              <a:buChar char="q"/>
              <a:tabLst>
                <a:tab pos="185738" algn="l"/>
                <a:tab pos="358775" algn="l"/>
              </a:tabLst>
            </a:pPr>
            <a:r>
              <a:rPr lang="en-GB" sz="2800" dirty="0">
                <a:effectLst/>
                <a:ea typeface="Calibri" panose="020F0502020204030204" pitchFamily="34" charset="0"/>
              </a:rPr>
              <a:t> Firms produce related or similar products or services, and are supported by a range of committed institutions located in spatial proximity.</a:t>
            </a:r>
          </a:p>
          <a:p>
            <a:pPr marL="358775" indent="-358775" algn="just">
              <a:spcAft>
                <a:spcPts val="1900"/>
              </a:spcAft>
              <a:buFont typeface="Wingdings" panose="05000000000000000000" pitchFamily="2" charset="2"/>
              <a:buChar char="q"/>
              <a:tabLst>
                <a:tab pos="185738" algn="l"/>
                <a:tab pos="358775" algn="l"/>
              </a:tabLst>
            </a:pPr>
            <a:r>
              <a:rPr lang="en-GB" sz="2800" dirty="0"/>
              <a:t>Industrial clusters are formed from diverse competitive assets or resources such as natural resources; grown organically; gradual agglomeration of technological know-how or via policy mandates.</a:t>
            </a:r>
          </a:p>
          <a:p>
            <a:pPr marL="271463" indent="-271463" algn="just">
              <a:spcAft>
                <a:spcPts val="1900"/>
              </a:spcAft>
              <a:buFont typeface="Wingdings" panose="05000000000000000000" pitchFamily="2" charset="2"/>
              <a:buChar char="q"/>
              <a:tabLst>
                <a:tab pos="271463" algn="l"/>
              </a:tabLst>
            </a:pPr>
            <a:endParaRPr lang="en-GB" sz="1050" dirty="0">
              <a:solidFill>
                <a:srgbClr val="000000"/>
              </a:solidFill>
              <a:effectLst/>
              <a:ea typeface="Calibri" panose="020F0502020204030204" pitchFamily="34" charset="0"/>
            </a:endParaRPr>
          </a:p>
          <a:p>
            <a:pPr marL="271463" indent="-271463" algn="just">
              <a:spcAft>
                <a:spcPts val="600"/>
              </a:spcAft>
              <a:buFont typeface="Wingdings" panose="05000000000000000000" pitchFamily="2" charset="2"/>
              <a:buChar char="q"/>
              <a:tabLst>
                <a:tab pos="271463" algn="l"/>
              </a:tabLst>
            </a:pPr>
            <a:endParaRPr lang="en-US" sz="1400" i="1" dirty="0"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27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705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/>
              <a:t>SPONTANEOUS CLASSIFICATIONS OF INDUSTRIAL CLUSTERS </a:t>
            </a:r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E7FF7-2C53-ECB3-0AC6-D544D9D108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13" t="26859" r="33331" b="7036"/>
          <a:stretch/>
        </p:blipFill>
        <p:spPr>
          <a:xfrm>
            <a:off x="228600" y="914400"/>
            <a:ext cx="8686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6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324600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000" b="1" dirty="0">
                <a:cs typeface="Arial" pitchFamily="34" charset="0"/>
              </a:rPr>
              <a:t>PROBLEM STATEMENTS</a:t>
            </a:r>
            <a:endParaRPr lang="en-GB" sz="3000" dirty="0"/>
          </a:p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GB" sz="2900" dirty="0"/>
              <a:t>There are concerns that industrial policy and technological innovations are failing to create adequate improvement to close technological gaps in the industrial sector.</a:t>
            </a:r>
            <a:endParaRPr lang="en-US" sz="2900" dirty="0"/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900" i="1" dirty="0">
              <a:cs typeface="Arial" pitchFamily="34" charset="0"/>
            </a:endParaRPr>
          </a:p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900" dirty="0">
                <a:solidFill>
                  <a:srgbClr val="000000"/>
                </a:solidFill>
              </a:rPr>
              <a:t>T</a:t>
            </a:r>
            <a:r>
              <a:rPr lang="en-US" sz="2900" b="0" i="0" dirty="0">
                <a:solidFill>
                  <a:srgbClr val="000000"/>
                </a:solidFill>
                <a:effectLst/>
              </a:rPr>
              <a:t>he cost-effective best use of Internet-based technological innovations in production, marketing and networking (Osarenkhoe &amp; Fjellström, 2017).</a:t>
            </a:r>
            <a:r>
              <a:rPr lang="en-US" sz="2900" dirty="0"/>
              <a:t>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900" dirty="0"/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900" dirty="0">
                <a:solidFill>
                  <a:srgbClr val="000000"/>
                </a:solidFill>
              </a:rPr>
              <a:t>T</a:t>
            </a:r>
            <a:r>
              <a:rPr lang="en-US" sz="2900" b="0" i="0" dirty="0">
                <a:solidFill>
                  <a:srgbClr val="000000"/>
                </a:solidFill>
                <a:effectLst/>
              </a:rPr>
              <a:t>he adoption phenomena of Internet technological innovations in industrial firms which co-locate and share common facilities are unknown.</a:t>
            </a:r>
            <a:r>
              <a:rPr lang="en-US" sz="2900" dirty="0"/>
              <a:t> </a:t>
            </a:r>
            <a:br>
              <a:rPr lang="en-US" sz="2800" dirty="0"/>
            </a:br>
            <a:br>
              <a:rPr lang="en-US" sz="1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74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610600" cy="5848350"/>
          </a:xfrm>
        </p:spPr>
        <p:txBody>
          <a:bodyPr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b="1" dirty="0">
                <a:latin typeface="+mj-lt"/>
              </a:rPr>
              <a:t>OBJECTIVES OF THE STUDY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3000" dirty="0"/>
              <a:t>To examine the extent and level of the adoption of Internet-based technological innovations. 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000" dirty="0"/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3000" dirty="0"/>
              <a:t> To assess the impact of the adoption of Internet-based technological innovations on the performance of the industrial clusters.</a:t>
            </a:r>
            <a:endParaRPr lang="en-US" sz="3000" dirty="0"/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GB" sz="24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Font typeface="Wingdings" pitchFamily="2" charset="2"/>
              <a:buChar char="q"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8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438150"/>
            <a:ext cx="8628888" cy="47625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chemeClr val="tx1"/>
                </a:solidFill>
                <a:effectLst/>
                <a:cs typeface="Arial" pitchFamily="34" charset="0"/>
              </a:rPr>
              <a:t>JUSTIFICATION OF THE STUDY</a:t>
            </a:r>
            <a:br>
              <a:rPr lang="en-US" sz="2400" dirty="0">
                <a:solidFill>
                  <a:schemeClr val="tx1"/>
                </a:solidFill>
                <a:effectLst/>
                <a:cs typeface="Arial" pitchFamily="34" charset="0"/>
              </a:rPr>
            </a:br>
            <a:endParaRPr lang="en-US" sz="2400" dirty="0"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94648" cy="5943600"/>
          </a:xfrm>
          <a:noFill/>
        </p:spPr>
        <p:txBody>
          <a:bodyPr>
            <a:noAutofit/>
          </a:bodyPr>
          <a:lstStyle/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800" dirty="0">
                <a:cs typeface="Arial" panose="020B0604020202020204" pitchFamily="34" charset="0"/>
              </a:rPr>
              <a:t>The economic development of a country is largely dependent on industrial sector and firms in the present market-based global competitive environment (</a:t>
            </a:r>
            <a:r>
              <a:rPr lang="en-GB" sz="2800" dirty="0">
                <a:cs typeface="Arial" panose="020B0604020202020204" pitchFamily="34" charset="0"/>
              </a:rPr>
              <a:t>Azam, 2015)</a:t>
            </a:r>
            <a:r>
              <a:rPr lang="en-US" sz="2800" dirty="0">
                <a:cs typeface="Arial" panose="020B0604020202020204" pitchFamily="34" charset="0"/>
              </a:rPr>
              <a:t>. </a:t>
            </a: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endParaRPr lang="en-US" sz="2800" dirty="0"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GB" sz="2800" dirty="0">
                <a:cs typeface="Arial" panose="020B0604020202020204" pitchFamily="34" charset="0"/>
              </a:rPr>
              <a:t>The Nigerian industrial sector is very dynamic, and makes up 25.7% of the GDP and employs 12% of the workforce (MAN, 2020). </a:t>
            </a: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endParaRPr lang="en-GB" sz="2800" dirty="0"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GB" sz="2800" dirty="0">
                <a:cs typeface="Arial" panose="020B0604020202020204" pitchFamily="34" charset="0"/>
              </a:rPr>
              <a:t>The Nigeria Industrial Revolution Plan (NIRP) in 2017. 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GB" sz="2800" dirty="0">
              <a:cs typeface="Arial" panose="020B0604020202020204" pitchFamily="34" charset="0"/>
            </a:endParaRPr>
          </a:p>
          <a:p>
            <a:pPr marL="365125" indent="-365125" algn="just">
              <a:spcBef>
                <a:spcPts val="0"/>
              </a:spcBef>
              <a:buFont typeface="Wingdings" pitchFamily="2" charset="2"/>
              <a:buChar char="q"/>
            </a:pPr>
            <a:r>
              <a:rPr lang="en-US" sz="2800" dirty="0">
                <a:cs typeface="Arial" panose="020B0604020202020204" pitchFamily="34" charset="0"/>
              </a:rPr>
              <a:t>The Nigeria’s ICT Innovation and Entrepreneurship Vision (NIIEV) in April, 2019. 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13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76200"/>
            <a:ext cx="8997696" cy="6705600"/>
          </a:xfrm>
        </p:spPr>
        <p:txBody>
          <a:bodyPr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000" b="1" dirty="0">
                <a:latin typeface="+mj-lt"/>
              </a:rPr>
              <a:t>METHODOLOGY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900" dirty="0"/>
              <a:t>The study was conducted in the Southwestern, Nigeria.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900" dirty="0">
                <a:cs typeface="Arial" panose="020B0604020202020204" pitchFamily="34" charset="0"/>
              </a:rPr>
              <a:t>The survey was targeted at </a:t>
            </a:r>
            <a:r>
              <a:rPr lang="en-US" sz="2900" dirty="0"/>
              <a:t>fast-moving consumer goods (FMCG) </a:t>
            </a:r>
            <a:r>
              <a:rPr lang="en-GB" sz="2900" dirty="0">
                <a:cs typeface="Arial" panose="020B0604020202020204" pitchFamily="34" charset="0"/>
              </a:rPr>
              <a:t>industrial clusters’ firms in Southwestern Nigeria. </a:t>
            </a:r>
            <a:endParaRPr lang="en-GB" sz="2900" dirty="0"/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900" dirty="0">
                <a:solidFill>
                  <a:srgbClr val="000000"/>
                </a:solidFill>
              </a:rPr>
              <a:t>B</a:t>
            </a:r>
            <a:r>
              <a:rPr lang="en-US" sz="2900" b="0" i="0" dirty="0">
                <a:solidFill>
                  <a:srgbClr val="000000"/>
                </a:solidFill>
                <a:effectLst/>
              </a:rPr>
              <a:t>oth descriptive and inferential statistics.</a:t>
            </a:r>
            <a:r>
              <a:rPr lang="en-US" sz="2900" dirty="0"/>
              <a:t> 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900" b="0" i="0" dirty="0">
                <a:solidFill>
                  <a:srgbClr val="000000"/>
                </a:solidFill>
                <a:effectLst/>
              </a:rPr>
              <a:t>Mean, standard deviation, frequencies, percentages, skewness and kurtosis (SPSS). 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900" dirty="0">
                <a:solidFill>
                  <a:srgbClr val="000000"/>
                </a:solidFill>
              </a:rPr>
              <a:t>R</a:t>
            </a:r>
            <a:r>
              <a:rPr lang="en-US" sz="2900" b="0" i="0" dirty="0">
                <a:solidFill>
                  <a:srgbClr val="000000"/>
                </a:solidFill>
                <a:effectLst/>
              </a:rPr>
              <a:t>egression, correlation, confirmatory and exploratory factor analyses</a:t>
            </a:r>
            <a:r>
              <a:rPr lang="en-US" sz="2900" dirty="0"/>
              <a:t> – Partial Least Square (SmartPLS).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A survey of 384 fast-moving consumer goods (FMCG) firms with 89% response rate were used (343).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Font typeface="Wingdings" pitchFamily="2" charset="2"/>
              <a:buChar char="q"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723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3850" y="1285860"/>
            <a:ext cx="8112125" cy="4962540"/>
          </a:xfrm>
        </p:spPr>
        <p:txBody>
          <a:bodyPr/>
          <a:lstStyle/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691B6-EC74-299D-3574-05F7FAB17CE3}"/>
              </a:ext>
            </a:extLst>
          </p:cNvPr>
          <p:cNvSpPr txBox="1"/>
          <p:nvPr/>
        </p:nvSpPr>
        <p:spPr>
          <a:xfrm>
            <a:off x="0" y="2743200"/>
            <a:ext cx="8820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4000" b="1" dirty="0">
                <a:latin typeface="+mj-lt"/>
              </a:rPr>
              <a:t>RESULTS &amp; DISCUSSIONS</a:t>
            </a:r>
          </a:p>
        </p:txBody>
      </p:sp>
    </p:spTree>
    <p:extLst>
      <p:ext uri="{BB962C8B-B14F-4D97-AF65-F5344CB8AC3E}">
        <p14:creationId xmlns:p14="http://schemas.microsoft.com/office/powerpoint/2010/main" val="2615830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" y="76200"/>
            <a:ext cx="8997696" cy="6629400"/>
          </a:xfrm>
        </p:spPr>
        <p:txBody>
          <a:bodyPr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GB" sz="2000" b="1" dirty="0">
                <a:effectLst/>
                <a:latin typeface="+mj-lt"/>
                <a:ea typeface="Calibri" panose="020F0502020204030204" pitchFamily="34" charset="0"/>
              </a:rPr>
              <a:t>DESCRIPTION OF THE INTERNET-BASED TECHNOLOGICAL INNOVATIONS</a:t>
            </a:r>
            <a:endParaRPr lang="en-US" sz="2000" b="1" dirty="0">
              <a:latin typeface="+mj-lt"/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US" sz="3000" b="1" dirty="0">
              <a:latin typeface="+mj-lt"/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US" sz="3000" b="1" dirty="0">
              <a:latin typeface="+mj-lt"/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US" sz="3000" b="1" dirty="0">
              <a:latin typeface="+mj-lt"/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US" sz="3000" b="1" dirty="0">
              <a:latin typeface="+mj-lt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Font typeface="Wingdings" pitchFamily="2" charset="2"/>
              <a:buChar char="q"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18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DCBD-5644-42AF-3AED-6EC837180C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7" t="33704" r="1600" b="14444"/>
          <a:stretch/>
        </p:blipFill>
        <p:spPr>
          <a:xfrm>
            <a:off x="73152" y="914400"/>
            <a:ext cx="8997696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61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" y="0"/>
            <a:ext cx="8994648" cy="666751"/>
          </a:xfrm>
        </p:spPr>
        <p:txBody>
          <a:bodyPr>
            <a:noAutofit/>
          </a:bodyPr>
          <a:lstStyle/>
          <a:p>
            <a:pPr algn="ctr"/>
            <a:br>
              <a:rPr lang="en-US" sz="2000" b="1" dirty="0"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lang="en-US" sz="2000" b="1" dirty="0">
                <a:solidFill>
                  <a:schemeClr val="tx1"/>
                </a:solidFill>
                <a:effectLst/>
                <a:cs typeface="Arial" pitchFamily="34" charset="0"/>
              </a:rPr>
              <a:t>THE LEVEL OF THE ADOPTION OF INTERNET-BASED TECHNOLOGICAL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94648" cy="64008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82296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6172"/>
          <a:stretch/>
        </p:blipFill>
        <p:spPr>
          <a:xfrm>
            <a:off x="73152" y="897410"/>
            <a:ext cx="8994648" cy="608471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495800" y="2362200"/>
            <a:ext cx="609600" cy="381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419600" y="2057400"/>
            <a:ext cx="8382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419600" y="2514600"/>
            <a:ext cx="8382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19600" y="5029200"/>
            <a:ext cx="838200" cy="2871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19600" y="2895600"/>
            <a:ext cx="838200" cy="2109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419600" y="4191000"/>
            <a:ext cx="838200" cy="2871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456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0" y="190500"/>
            <a:ext cx="8686800" cy="11049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/>
                <a:cs typeface="Arial" pitchFamily="34" charset="0"/>
              </a:rPr>
              <a:t>THE STATUS OF THE ADOPTION OF INTERNET-BASED TECHNOLOGICAL INNOVATIONS </a:t>
            </a:r>
            <a:br>
              <a:rPr lang="en-GB" sz="26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br>
              <a:rPr lang="en-US" sz="26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lang="en-US" sz="2600" dirty="0"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609600"/>
            <a:ext cx="8763000" cy="60198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200" dirty="0">
              <a:latin typeface="Arial" pitchFamily="34" charset="0"/>
              <a:cs typeface="Arial" pitchFamily="34" charset="0"/>
            </a:endParaRPr>
          </a:p>
          <a:p>
            <a:pPr marL="82296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598"/>
          <a:stretch/>
        </p:blipFill>
        <p:spPr>
          <a:xfrm>
            <a:off x="73152" y="685800"/>
            <a:ext cx="8997696" cy="63246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248400" y="2286000"/>
            <a:ext cx="8382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248400" y="3810000"/>
            <a:ext cx="8382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00800" y="4953000"/>
            <a:ext cx="8382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11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5943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G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b="1" dirty="0"/>
              <a:t>THE ANALYTICAL FRAMEWORK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EB0520C-9B0B-3AC6-564D-72E85B1894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" t="38148" r="6666" b="15926"/>
          <a:stretch/>
        </p:blipFill>
        <p:spPr>
          <a:xfrm>
            <a:off x="152400" y="419100"/>
            <a:ext cx="88392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71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DESCRIPTION OF THE MODEL CONSTRUCTS</a:t>
            </a:r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AB96F-1A9C-6219-1DA7-B03CBF6525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71" t="23332" r="15833" b="6634"/>
          <a:stretch/>
        </p:blipFill>
        <p:spPr>
          <a:xfrm>
            <a:off x="73152" y="533400"/>
            <a:ext cx="907084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11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1" y="6248400"/>
            <a:ext cx="89972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PROPOSED MODEL FOR THE IMPACT OF THE ADOPTION OF INTERNET-BASED TECHNOLOGICAL INNOVATIONS</a:t>
            </a:r>
            <a:endParaRPr lang="en-US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0D78E-F82E-3F74-970B-34F52D3D14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839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85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7056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buNone/>
            </a:pPr>
            <a:endParaRPr lang="en-US" sz="2400" b="1" dirty="0">
              <a:latin typeface="+mj-lt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800" b="1" dirty="0">
                <a:latin typeface="+mj-lt"/>
              </a:rPr>
              <a:t>STRUCTURAL MODEL FOR THE IMPACT OF THE ADOPTION OF IBTI </a:t>
            </a:r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F53D9-F828-1E9C-EC54-DFE07E248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8915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73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629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effectLst/>
                <a:ea typeface="Calibri" panose="020F0502020204030204" pitchFamily="34" charset="0"/>
              </a:rPr>
              <a:t>RELIABILITY OF ITEMS AND CONSTRUCTS</a:t>
            </a:r>
            <a:endParaRPr lang="en-US" sz="2400" b="1" dirty="0"/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endParaRPr lang="en-US" sz="2100" i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73C8C-01EA-D216-2941-A23654590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87" t="23333" r="24586" b="8519"/>
          <a:stretch/>
        </p:blipFill>
        <p:spPr>
          <a:xfrm>
            <a:off x="152400" y="609600"/>
            <a:ext cx="8915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9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324600"/>
          </a:xfrm>
        </p:spPr>
        <p:txBody>
          <a:bodyPr>
            <a:noAutofit/>
          </a:bodyPr>
          <a:lstStyle/>
          <a:p>
            <a:pPr marL="82296" indent="0">
              <a:spcAft>
                <a:spcPts val="600"/>
              </a:spcAft>
              <a:buNone/>
            </a:pPr>
            <a:r>
              <a:rPr lang="en-GB" sz="1800" b="1" dirty="0">
                <a:effectLst/>
                <a:latin typeface="+mj-lt"/>
                <a:ea typeface="Calibri" panose="020F0502020204030204" pitchFamily="34" charset="0"/>
              </a:rPr>
              <a:t>DISCRIMINANT VALIDITY (FORNELL-LARCKER CRITERION AND HETEROTRAIT-MONOTRAIT RATIO)</a:t>
            </a:r>
            <a:endParaRPr lang="en-US" sz="1800" b="1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DDF5C-C0A3-8C13-E2DF-FCD77A69EA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8" t="35185" r="1666" b="15926"/>
          <a:stretch/>
        </p:blipFill>
        <p:spPr>
          <a:xfrm>
            <a:off x="152400" y="685800"/>
            <a:ext cx="8839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8994648" cy="6781800"/>
          </a:xfrm>
        </p:spPr>
        <p:txBody>
          <a:bodyPr>
            <a:noAutofit/>
          </a:bodyPr>
          <a:lstStyle/>
          <a:p>
            <a:pPr marL="80963" indent="-80963">
              <a:lnSpc>
                <a:spcPct val="20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2000" b="1" dirty="0">
                <a:effectLst/>
                <a:ea typeface="Calibri" panose="020F0502020204030204" pitchFamily="34" charset="0"/>
              </a:rPr>
              <a:t>RESULTS OF THE STRUCTURAL MODEL</a:t>
            </a:r>
            <a:endParaRPr lang="en-US" sz="20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63C3C-D955-8969-A82F-BFD041CAA4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00" t="27315" r="9500" b="9876"/>
          <a:stretch/>
        </p:blipFill>
        <p:spPr>
          <a:xfrm>
            <a:off x="152400" y="533400"/>
            <a:ext cx="8839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4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705600"/>
          </a:xfrm>
        </p:spPr>
        <p:txBody>
          <a:bodyPr>
            <a:noAutofit/>
          </a:bodyPr>
          <a:lstStyle/>
          <a:p>
            <a:pPr marL="82296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3100" b="1" dirty="0"/>
              <a:t>CONCLUSIONS</a:t>
            </a:r>
          </a:p>
          <a:p>
            <a:pPr marL="82296" indent="0" algn="ctr">
              <a:spcBef>
                <a:spcPts val="0"/>
              </a:spcBef>
              <a:spcAft>
                <a:spcPts val="2400"/>
              </a:spcAft>
              <a:buNone/>
            </a:pPr>
            <a:endParaRPr lang="en-US" sz="3100" b="1" dirty="0"/>
          </a:p>
          <a:p>
            <a:pPr marL="82296" indent="0" algn="ctr">
              <a:spcBef>
                <a:spcPts val="0"/>
              </a:spcBef>
              <a:spcAft>
                <a:spcPts val="2400"/>
              </a:spcAft>
              <a:buNone/>
            </a:pPr>
            <a:endParaRPr lang="en-US" sz="31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5BBAF-4792-B0BD-5C21-EC076237D530}"/>
              </a:ext>
            </a:extLst>
          </p:cNvPr>
          <p:cNvSpPr txBox="1"/>
          <p:nvPr/>
        </p:nvSpPr>
        <p:spPr>
          <a:xfrm>
            <a:off x="73152" y="675412"/>
            <a:ext cx="8994648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The study examined the extent of the adoption of IBTI and the impact on the performance of the industrial clusters’ firms.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GB" sz="2400" dirty="0"/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The IBTI have been adopted and deployed more in the areas of digital transformation functions, communications and information systems management activities, surveillance and monitoring.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GB" sz="2400" dirty="0"/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400" dirty="0"/>
              <a:t>Majority of the firms currently utilise a combination of Internet-based technological innovations with internally owned IT systems in operations. </a:t>
            </a: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GB" sz="2400" dirty="0"/>
          </a:p>
          <a:p>
            <a:pPr marL="361950" indent="-3619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Low level of investment and expenditure on Internet-based systems.</a:t>
            </a:r>
            <a:r>
              <a:rPr lang="en-US" sz="2400" dirty="0"/>
              <a:t> </a:t>
            </a:r>
            <a:br>
              <a:rPr lang="en-US" sz="2400" dirty="0"/>
            </a:br>
            <a:endParaRPr lang="en-GB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1950" indent="-3619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adoption level of IBTI is significantly low. </a:t>
            </a:r>
          </a:p>
        </p:txBody>
      </p:sp>
    </p:spTree>
    <p:extLst>
      <p:ext uri="{BB962C8B-B14F-4D97-AF65-F5344CB8AC3E}">
        <p14:creationId xmlns:p14="http://schemas.microsoft.com/office/powerpoint/2010/main" val="3990433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"/>
            <a:ext cx="8994648" cy="6705600"/>
          </a:xfrm>
        </p:spPr>
        <p:txBody>
          <a:bodyPr>
            <a:noAutofit/>
          </a:bodyPr>
          <a:lstStyle/>
          <a:p>
            <a:pPr marL="82296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3100" b="1" dirty="0"/>
              <a:t>RECOMMENDATIONS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5BBAF-4792-B0BD-5C21-EC076237D530}"/>
              </a:ext>
            </a:extLst>
          </p:cNvPr>
          <p:cNvSpPr txBox="1"/>
          <p:nvPr/>
        </p:nvSpPr>
        <p:spPr>
          <a:xfrm>
            <a:off x="152400" y="583134"/>
            <a:ext cx="88392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4500" indent="-444500" algn="just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GB" sz="2600" dirty="0">
                <a:ea typeface="Times New Roman" panose="02020603050405020304" pitchFamily="18" charset="0"/>
              </a:rPr>
              <a:t>T</a:t>
            </a:r>
            <a:r>
              <a:rPr lang="en-GB" sz="2600" dirty="0">
                <a:effectLst/>
                <a:ea typeface="Times New Roman" panose="02020603050405020304" pitchFamily="18" charset="0"/>
              </a:rPr>
              <a:t>he industry is still late majority adopters of disruptive technologies. </a:t>
            </a:r>
            <a:endParaRPr lang="en-GB" sz="2600" dirty="0"/>
          </a:p>
          <a:p>
            <a:pPr marL="444500" indent="-444500" algn="just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600" b="0" i="0" dirty="0">
                <a:solidFill>
                  <a:srgbClr val="000000"/>
                </a:solidFill>
                <a:effectLst/>
              </a:rPr>
              <a:t>This poses a threat to the industry, especially in this era of 4IR.</a:t>
            </a:r>
            <a:r>
              <a:rPr lang="en-US" sz="2600" dirty="0"/>
              <a:t> </a:t>
            </a:r>
          </a:p>
          <a:p>
            <a:pPr marL="444500" indent="-444500" algn="just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GB" sz="2600" dirty="0"/>
              <a:t>Need for institutional supports for the survival of industrial clusters in this era of globalisation so as to keep up with the Fourth Industrial Revolution (4IR).</a:t>
            </a:r>
          </a:p>
          <a:p>
            <a:pPr marL="444500" indent="-444500" algn="just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Concerted efforts should be channeled toward intense exchange of business information, technical know-how and technological expertise in the clusters. </a:t>
            </a:r>
          </a:p>
          <a:p>
            <a:pPr marL="444500" indent="-444500" algn="just"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en-GB" sz="2600" dirty="0">
                <a:ea typeface="Calibri" panose="020F0502020204030204" pitchFamily="34" charset="0"/>
              </a:rPr>
              <a:t>T</a:t>
            </a:r>
            <a:r>
              <a:rPr lang="en-GB" sz="2600" dirty="0">
                <a:effectLst/>
                <a:ea typeface="Calibri" panose="020F0502020204030204" pitchFamily="34" charset="0"/>
              </a:rPr>
              <a:t>he provision of technological infrastructure is crucial to support industrial firms’ performance.</a:t>
            </a:r>
            <a:endParaRPr lang="en-GB" sz="26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13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94648" cy="6477000"/>
          </a:xfrm>
        </p:spPr>
        <p:txBody>
          <a:bodyPr>
            <a:noAutofit/>
          </a:bodyPr>
          <a:lstStyle/>
          <a:p>
            <a:pPr marL="82296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US" sz="3100" b="1" dirty="0">
                <a:solidFill>
                  <a:srgbClr val="FF0000"/>
                </a:solidFill>
              </a:rPr>
              <a:t>FURTHER READING: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3B027-99D8-4500-AA7E-8D849F3A1F0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5BBAF-4792-B0BD-5C21-EC076237D530}"/>
              </a:ext>
            </a:extLst>
          </p:cNvPr>
          <p:cNvSpPr txBox="1"/>
          <p:nvPr/>
        </p:nvSpPr>
        <p:spPr>
          <a:xfrm>
            <a:off x="152400" y="914400"/>
            <a:ext cx="883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</a:pPr>
            <a:r>
              <a:rPr lang="en-US" sz="2000" b="1" dirty="0">
                <a:effectLst/>
                <a:latin typeface="TimesNewRomanPSMT"/>
                <a:ea typeface="Calibri" panose="020F0502020204030204" pitchFamily="34" charset="0"/>
                <a:cs typeface="Times New Roman" panose="02020603050405020304" pitchFamily="18" charset="0"/>
              </a:rPr>
              <a:t>Olomu, M. O.</a:t>
            </a:r>
            <a:r>
              <a:rPr lang="en-US" sz="2000" dirty="0">
                <a:effectLst/>
                <a:latin typeface="TimesNewRomanPSMT"/>
                <a:ea typeface="Calibri" panose="020F0502020204030204" pitchFamily="34" charset="0"/>
                <a:cs typeface="Times New Roman" panose="02020603050405020304" pitchFamily="18" charset="0"/>
              </a:rPr>
              <a:t>, Binuyo, G. O., and Oyebisi, T. O. (2023). The Adoption and Impact of Internet-based Technological Innovations on the Performance of the Industrial Cluster Firms. </a:t>
            </a:r>
            <a:r>
              <a:rPr lang="en-US" sz="2000" i="1" dirty="0"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Journal of Economy and Technology. </a:t>
            </a:r>
            <a:r>
              <a:rPr lang="en-US" sz="2000" dirty="0"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Volume 1, 164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</a:t>
            </a:r>
            <a:r>
              <a:rPr lang="en-US" sz="2000" dirty="0"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178, ISSN 2949-9488. </a:t>
            </a:r>
            <a:r>
              <a:rPr lang="en-US" sz="2000" u="sng" dirty="0">
                <a:solidFill>
                  <a:srgbClr val="FF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https://doi.org/10.1016/j.ject.2023.11.004</a:t>
            </a:r>
            <a:r>
              <a:rPr lang="en-US" sz="2000" u="sng" dirty="0">
                <a:solidFill>
                  <a:srgbClr val="FF0000"/>
                </a:solidFill>
                <a:effectLst/>
                <a:latin typeface="TimesNewRomanPS-ItalicM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881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1295400"/>
            <a:ext cx="8112125" cy="4962540"/>
          </a:xfrm>
        </p:spPr>
        <p:txBody>
          <a:bodyPr/>
          <a:lstStyle/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dirty="0">
              <a:ea typeface="ＭＳ Ｐゴシック" pitchFamily="34" charset="-128"/>
            </a:endParaRPr>
          </a:p>
        </p:txBody>
      </p:sp>
      <p:pic>
        <p:nvPicPr>
          <p:cNvPr id="4" name="Picture 21">
            <a:extLst>
              <a:ext uri="{FF2B5EF4-FFF2-40B4-BE49-F238E27FC236}">
                <a16:creationId xmlns:a16="http://schemas.microsoft.com/office/drawing/2014/main" id="{3086A5CB-8FC9-D45F-8F3D-65BCE1AB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3429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ABB753-00FB-5ACD-3228-393E79C7A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5200" y="1371600"/>
            <a:ext cx="5181600" cy="396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9B08A-50E5-A0FD-4488-922291314E99}"/>
              </a:ext>
            </a:extLst>
          </p:cNvPr>
          <p:cNvSpPr txBox="1"/>
          <p:nvPr/>
        </p:nvSpPr>
        <p:spPr>
          <a:xfrm>
            <a:off x="3810000" y="2767280"/>
            <a:ext cx="4343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Ink Free" panose="03080402000500000000" pitchFamily="66" charset="0"/>
              </a:rPr>
              <a:t>Thank you for  listening.  </a:t>
            </a:r>
          </a:p>
        </p:txBody>
      </p:sp>
    </p:spTree>
    <p:extLst>
      <p:ext uri="{BB962C8B-B14F-4D97-AF65-F5344CB8AC3E}">
        <p14:creationId xmlns:p14="http://schemas.microsoft.com/office/powerpoint/2010/main" val="3526463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ctm_ne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13971</TotalTime>
  <Words>1173</Words>
  <Application>Microsoft Office PowerPoint</Application>
  <PresentationFormat>On-screen Show (4:3)</PresentationFormat>
  <Paragraphs>212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7" baseType="lpstr">
      <vt:lpstr>ＭＳ Ｐゴシック</vt:lpstr>
      <vt:lpstr>Aharoni</vt:lpstr>
      <vt:lpstr>Arial</vt:lpstr>
      <vt:lpstr>Calibri</vt:lpstr>
      <vt:lpstr>Calibri Light</vt:lpstr>
      <vt:lpstr>Gill Sans MT</vt:lpstr>
      <vt:lpstr>Ink Free</vt:lpstr>
      <vt:lpstr>Times New Roman</vt:lpstr>
      <vt:lpstr>TimesNewRomanPS-ItalicMT</vt:lpstr>
      <vt:lpstr>TimesNewRomanPSMT</vt:lpstr>
      <vt:lpstr>Tw Cen MT</vt:lpstr>
      <vt:lpstr>Verdana</vt:lpstr>
      <vt:lpstr>Wingdings</vt:lpstr>
      <vt:lpstr>Wingdings 2</vt:lpstr>
      <vt:lpstr>Solstice</vt:lpstr>
      <vt:lpstr>1_nctm_new</vt:lpstr>
      <vt:lpstr>1_Solstice</vt:lpstr>
      <vt:lpstr>The Adoption of Internet-based Technological Innovations in Latecomer Industrial Settings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JUSTIFICATION OF THE STUDY </vt:lpstr>
      <vt:lpstr>PowerPoint Presentation</vt:lpstr>
      <vt:lpstr>PowerPoint Presentation</vt:lpstr>
      <vt:lpstr>PowerPoint Presentation</vt:lpstr>
      <vt:lpstr> THE LEVEL OF THE ADOPTION OF INTERNET-BASED TECHNOLOGICAL INNOVATIONS</vt:lpstr>
      <vt:lpstr>THE STATUS OF THE ADOPTION OF INTERNET-BASED TECHNOLOGICAL INNOVATIONS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STUDY OF INFORMATION AND COMMUNICATION TECHNOLOGY (ICT) IN PAINT INDUSTRY PRODUCT MARKETING IN SOUTH WESTERN NIGERIA  BY   OLOMU, MICHAEL OLUWASEUN TP12/13/H/2469</dc:title>
  <dc:creator>us</dc:creator>
  <cp:lastModifiedBy>Michael Oluwaseun Olomu</cp:lastModifiedBy>
  <cp:revision>2616</cp:revision>
  <cp:lastPrinted>2021-07-13T09:53:54Z</cp:lastPrinted>
  <dcterms:created xsi:type="dcterms:W3CDTF">2014-01-15T07:11:14Z</dcterms:created>
  <dcterms:modified xsi:type="dcterms:W3CDTF">2025-04-14T19:07:35Z</dcterms:modified>
</cp:coreProperties>
</file>