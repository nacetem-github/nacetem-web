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 id="2147483662" r:id="rId3"/>
  </p:sldMasterIdLst>
  <p:notesMasterIdLst>
    <p:notesMasterId r:id="rId12"/>
  </p:notesMasterIdLst>
  <p:sldIdLst>
    <p:sldId id="315" r:id="rId4"/>
    <p:sldId id="390" r:id="rId5"/>
    <p:sldId id="376" r:id="rId6"/>
    <p:sldId id="377" r:id="rId7"/>
    <p:sldId id="378" r:id="rId8"/>
    <p:sldId id="379" r:id="rId9"/>
    <p:sldId id="343" r:id="rId10"/>
    <p:sldId id="333" r:id="rId11"/>
    <p:sldId id="331" r:id="rId13"/>
    <p:sldId id="389" r:id="rId14"/>
    <p:sldId id="371" r:id="rId15"/>
    <p:sldId id="381" r:id="rId16"/>
    <p:sldId id="374" r:id="rId17"/>
    <p:sldId id="387" r:id="rId18"/>
    <p:sldId id="375" r:id="rId19"/>
    <p:sldId id="334" r:id="rId20"/>
    <p:sldId id="388" r:id="rId21"/>
    <p:sldId id="3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731C1AA-FFF8-4815-A5D3-25BEC2EEC69B}">
          <p14:sldIdLst>
            <p14:sldId id="315"/>
            <p14:sldId id="390"/>
            <p14:sldId id="376"/>
            <p14:sldId id="377"/>
            <p14:sldId id="378"/>
            <p14:sldId id="379"/>
            <p14:sldId id="343"/>
            <p14:sldId id="333"/>
            <p14:sldId id="331"/>
            <p14:sldId id="389"/>
            <p14:sldId id="371"/>
            <p14:sldId id="381"/>
            <p14:sldId id="374"/>
            <p14:sldId id="387"/>
            <p14:sldId id="375"/>
            <p14:sldId id="334"/>
            <p14:sldId id="388"/>
            <p14:sldId id="385"/>
          </p14:sldIdLst>
        </p14:section>
      </p14:sectionLst>
    </p:ext>
    <p:ext uri="{EFAFB233-063F-42B5-8137-9DF3F51BA10A}">
      <p15:sldGuideLst xmlns:p15="http://schemas.microsoft.com/office/powerpoint/2012/main">
        <p15:guide id="1" orient="horz" pos="215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9" autoAdjust="0"/>
    <p:restoredTop sz="94353" autoAdjust="0"/>
  </p:normalViewPr>
  <p:slideViewPr>
    <p:cSldViewPr snapToGrid="0" showGuides="1">
      <p:cViewPr varScale="1">
        <p:scale>
          <a:sx n="69" d="100"/>
          <a:sy n="69" d="100"/>
        </p:scale>
        <p:origin x="696" y="168"/>
      </p:cViewPr>
      <p:guideLst>
        <p:guide orient="horz" pos="2157"/>
        <p:guide pos="3840"/>
      </p:guideLst>
    </p:cSldViewPr>
  </p:slideViewPr>
  <p:outlineViewPr>
    <p:cViewPr>
      <p:scale>
        <a:sx n="33" d="100"/>
        <a:sy n="33" d="100"/>
      </p:scale>
      <p:origin x="0" y="-1119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21240E-CACB-4A4E-843C-ADD01BFA495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6CFB9A-FBA5-440E-9734-AC2ED12C101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072601D-E4CC-4182-B5F4-DCD6735485A2}" type="slidenum">
              <a:rPr lang="en-GB" altLang="en-US" smtClean="0">
                <a:latin typeface="Calibri" panose="020F0502020204030204" pitchFamily="34" charset="0"/>
              </a:rPr>
            </a:fld>
            <a:endParaRPr lang="en-GB" altLang="en-US" smtClean="0">
              <a:latin typeface="Calibri" panose="020F0502020204030204" pitchFamily="34" charset="0"/>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p:cNvSpPr/>
          <p:nvPr/>
        </p:nvSpPr>
        <p:spPr>
          <a:xfrm>
            <a:off x="82550" y="1560514"/>
            <a:ext cx="12026900" cy="152717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j-lt"/>
              <a:ea typeface="+mn-ea"/>
              <a:cs typeface="+mn-cs"/>
            </a:endParaRPr>
          </a:p>
        </p:txBody>
      </p:sp>
      <p:sp>
        <p:nvSpPr>
          <p:cNvPr id="6" name="Rectangle 5"/>
          <p:cNvSpPr/>
          <p:nvPr/>
        </p:nvSpPr>
        <p:spPr>
          <a:xfrm>
            <a:off x="82549" y="1439863"/>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p:cNvSpPr/>
          <p:nvPr/>
        </p:nvSpPr>
        <p:spPr>
          <a:xfrm>
            <a:off x="1583499" y="3140968"/>
            <a:ext cx="8832981" cy="1853480"/>
          </a:xfrm>
          <a:prstGeom prst="rect">
            <a:avLst/>
          </a:prstGeom>
          <a:solidFill>
            <a:schemeClr val="tx1">
              <a:lumMod val="85000"/>
              <a:lumOff val="15000"/>
            </a:schemeClr>
          </a:solidFill>
          <a:ln w="19050" cap="sq" cmpd="sng" algn="ctr">
            <a:noFill/>
            <a:prstDash val="solid"/>
          </a:ln>
          <a:effectLst>
            <a:outerShdw blurRad="50800" dist="38100" dir="8100000" algn="tr"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9" descr="NAC_LOGO-2.gif"/>
          <p:cNvPicPr>
            <a:picLocks noChangeAspect="1"/>
          </p:cNvPicPr>
          <p:nvPr/>
        </p:nvPicPr>
        <p:blipFill>
          <a:blip r:embed="rId2" cstate="print"/>
          <a:srcRect/>
          <a:stretch>
            <a:fillRect/>
          </a:stretch>
        </p:blipFill>
        <p:spPr bwMode="auto">
          <a:xfrm>
            <a:off x="4029472" y="10755"/>
            <a:ext cx="914400" cy="677863"/>
          </a:xfrm>
          <a:prstGeom prst="rect">
            <a:avLst/>
          </a:prstGeom>
          <a:noFill/>
          <a:ln w="9525">
            <a:noFill/>
            <a:miter lim="800000"/>
            <a:headEnd/>
            <a:tailEnd/>
          </a:ln>
        </p:spPr>
      </p:pic>
      <p:sp>
        <p:nvSpPr>
          <p:cNvPr id="13" name="TextBox 12"/>
          <p:cNvSpPr txBox="1"/>
          <p:nvPr/>
        </p:nvSpPr>
        <p:spPr>
          <a:xfrm>
            <a:off x="4943872" y="-91578"/>
            <a:ext cx="33528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NACETEM</a:t>
            </a:r>
            <a:r>
              <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 </a:t>
            </a:r>
            <a:endPar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4" name="TextBox 13"/>
          <p:cNvSpPr txBox="1"/>
          <p:nvPr/>
        </p:nvSpPr>
        <p:spPr>
          <a:xfrm>
            <a:off x="2614563" y="628750"/>
            <a:ext cx="7292767"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rPr>
              <a:t>NATIONAL CENTRE FOR TECHNOLOGY MANAGEMENT</a:t>
            </a:r>
            <a:endPar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b="0">
                <a:solidFill>
                  <a:schemeClr val="bg1"/>
                </a:solidFill>
                <a:latin typeface="+mn-l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latin typeface="+mj-lt"/>
              </a:defRPr>
            </a:lvl1pPr>
          </a:lstStyle>
          <a:p>
            <a:r>
              <a:rPr lang="en-US" dirty="0"/>
              <a:t>Click to edit Master title style</a:t>
            </a:r>
            <a:endParaRPr lang="en-US" dirty="0"/>
          </a:p>
        </p:txBody>
      </p:sp>
      <p:sp>
        <p:nvSpPr>
          <p:cNvPr id="19" name="Slide Number Placeholder 28"/>
          <p:cNvSpPr>
            <a:spLocks noGrp="1"/>
          </p:cNvSpPr>
          <p:nvPr>
            <p:ph type="sldNum" sz="quarter" idx="12"/>
          </p:nvPr>
        </p:nvSpPr>
        <p:spPr/>
        <p:txBody>
          <a:bodyPr/>
          <a:lstStyle>
            <a:lvl1pPr>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
        <p:nvSpPr>
          <p:cNvPr id="11" name="TextBox 10"/>
          <p:cNvSpPr txBox="1"/>
          <p:nvPr/>
        </p:nvSpPr>
        <p:spPr>
          <a:xfrm>
            <a:off x="9467848" y="6505600"/>
            <a:ext cx="2641600" cy="52322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rPr>
              <a:t>© NACETEM 2021</a:t>
            </a:r>
            <a:endParaRPr kumimoji="0" lang="en-US" sz="14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endParaRPr>
          </a:p>
        </p:txBody>
      </p:sp>
      <p:sp>
        <p:nvSpPr>
          <p:cNvPr id="15" name="TextBox 14"/>
          <p:cNvSpPr txBox="1"/>
          <p:nvPr/>
        </p:nvSpPr>
        <p:spPr>
          <a:xfrm>
            <a:off x="1007435" y="6501115"/>
            <a:ext cx="796888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14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Arial" panose="020B0604020202020204" pitchFamily="34" charset="0"/>
              </a:rPr>
              <a:t>NACETEM…Managing Technology for Sustainable Development</a:t>
            </a:r>
            <a:endParaRPr kumimoji="0" lang="en-GB" sz="14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8" name="Content Placeholder 7"/>
          <p:cNvSpPr>
            <a:spLocks noGrp="1"/>
          </p:cNvSpPr>
          <p:nvPr>
            <p:ph sz="quarter" idx="1"/>
          </p:nvPr>
        </p:nvSpPr>
        <p:spPr>
          <a:xfrm>
            <a:off x="1219200" y="1700808"/>
            <a:ext cx="10363200" cy="4752528"/>
          </a:xfrm>
        </p:spPr>
        <p:txBody>
          <a:bodyPr/>
          <a:lstStyle>
            <a:lvl1pPr>
              <a:defRPr b="1"/>
            </a:lvl1pPr>
            <a:lvl2pPr>
              <a:defRPr b="1"/>
            </a:lvl2pPr>
            <a:lvl3pPr>
              <a:defRPr b="1"/>
            </a:lvl3pPr>
            <a:lvl4pPr>
              <a:defRPr b="1"/>
            </a:lvl4pPr>
            <a:lvl5pPr>
              <a:defRPr b="1"/>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Slide Number Placeholder 22"/>
          <p:cNvSpPr>
            <a:spLocks noGrp="1"/>
          </p:cNvSpPr>
          <p:nvPr>
            <p:ph type="sldNum"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
          </p:nvPr>
        </p:nvSpPr>
        <p:spPr>
          <a:xfrm>
            <a:off x="719403" y="1700808"/>
            <a:ext cx="5306496" cy="4824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2"/>
          </p:nvPr>
        </p:nvSpPr>
        <p:spPr>
          <a:xfrm>
            <a:off x="6384032" y="1700808"/>
            <a:ext cx="4998720" cy="4824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lstStyle>
            <a:lvl1pPr>
              <a:defRPr/>
            </a:lvl1pPr>
          </a:lstStyle>
          <a:p>
            <a:r>
              <a:rPr lang="en-US" dirty="0"/>
              <a:t>Click to edit Master title style</a:t>
            </a:r>
            <a:endParaRPr lang="en-US" dirty="0"/>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8"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9"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9403" y="2492896"/>
            <a:ext cx="10925472"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endParaRPr lang="en-US"/>
          </a:p>
        </p:txBody>
      </p:sp>
      <p:sp>
        <p:nvSpPr>
          <p:cNvPr id="5"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122239"/>
            <a:ext cx="10972800" cy="600868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Rectangle 7"/>
          <p:cNvSpPr>
            <a:spLocks noGrp="1" noChangeArrowheads="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US"/>
          </a:p>
        </p:txBody>
      </p:sp>
      <p:sp>
        <p:nvSpPr>
          <p:cNvPr id="3" name="Table Placeholder 2"/>
          <p:cNvSpPr>
            <a:spLocks noGrp="1"/>
          </p:cNvSpPr>
          <p:nvPr>
            <p:ph type="tbl" idx="1" hasCustomPrompt="1"/>
          </p:nvPr>
        </p:nvSpPr>
        <p:spPr>
          <a:xfrm>
            <a:off x="609600" y="1719263"/>
            <a:ext cx="10972800" cy="4411662"/>
          </a:xfrm>
        </p:spPr>
        <p:txBody>
          <a:bodyPr/>
          <a:lstStyle/>
          <a:p>
            <a:pPr lvl="0"/>
            <a:r>
              <a:rPr lang="en-US" noProof="0"/>
              <a:t>Click icon to add table</a:t>
            </a:r>
            <a:endParaRPr lang="en-US" noProof="0"/>
          </a:p>
        </p:txBody>
      </p:sp>
      <p:sp>
        <p:nvSpPr>
          <p:cNvPr id="4"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Rectangle 7"/>
          <p:cNvSpPr>
            <a:spLocks noGrp="1" noChangeArrowheads="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quarter" idx="2"/>
          </p:nvPr>
        </p:nvSpPr>
        <p:spPr>
          <a:xfrm>
            <a:off x="6197600" y="1600200"/>
            <a:ext cx="5181600" cy="2133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Content Placeholder 4"/>
          <p:cNvSpPr>
            <a:spLocks noGrp="1"/>
          </p:cNvSpPr>
          <p:nvPr>
            <p:ph sz="quarter" idx="3"/>
          </p:nvPr>
        </p:nvSpPr>
        <p:spPr>
          <a:xfrm>
            <a:off x="6197600" y="3886200"/>
            <a:ext cx="5181600" cy="2133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Date Placeholder 5"/>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Footer Placeholder 6"/>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Slide Number Placeholder 7"/>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prstClr val="black">
                    <a:tint val="75000"/>
                  </a:prstClr>
                </a:solidFill>
                <a:effectLst/>
                <a:uLnTx/>
                <a:uFillTx/>
                <a:latin typeface="Calibri" panose="020F0502020204030204"/>
                <a:ea typeface="+mj-ea"/>
                <a:cs typeface="+mj-cs"/>
              </a:rPr>
            </a:fld>
            <a:endParaRPr kumimoji="0" lang="en-GB" sz="1400" b="0" i="0" u="none" strike="noStrike" kern="1200" cap="none" spc="0" normalizeH="0" baseline="0" noProof="0">
              <a:ln>
                <a:noFill/>
              </a:ln>
              <a:solidFill>
                <a:prstClr val="black">
                  <a:tint val="75000"/>
                </a:prstClr>
              </a:solidFill>
              <a:effectLst/>
              <a:uLnTx/>
              <a:uFillTx/>
              <a:latin typeface="Calibri" panose="020F0502020204030204"/>
              <a:ea typeface="+mj-ea"/>
              <a:cs typeface="+mj-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976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Footer Placeholder 5"/>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prstClr val="black">
                    <a:tint val="75000"/>
                  </a:prstClr>
                </a:solidFill>
                <a:effectLst/>
                <a:uLnTx/>
                <a:uFillTx/>
                <a:latin typeface="Calibri" panose="020F0502020204030204"/>
                <a:ea typeface="+mj-ea"/>
                <a:cs typeface="+mj-cs"/>
              </a:rPr>
            </a:fld>
            <a:endParaRPr kumimoji="0" lang="en-GB" sz="1400" b="0" i="0" u="none" strike="noStrike" kern="1200" cap="none" spc="0" normalizeH="0" baseline="0" noProof="0">
              <a:ln>
                <a:noFill/>
              </a:ln>
              <a:solidFill>
                <a:prstClr val="black">
                  <a:tint val="75000"/>
                </a:prstClr>
              </a:solidFill>
              <a:effectLst/>
              <a:uLnTx/>
              <a:uFillTx/>
              <a:latin typeface="Calibri" panose="020F0502020204030204"/>
              <a:ea typeface="+mj-ea"/>
              <a:cs typeface="+mj-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69BEF48-7922-4F67-98C7-3161304E1AE1}" type="slidenum">
              <a:rPr kumimoji="0" lang="en-US"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US"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p:cNvSpPr/>
          <p:nvPr/>
        </p:nvSpPr>
        <p:spPr>
          <a:xfrm>
            <a:off x="82550" y="1560514"/>
            <a:ext cx="12026900" cy="152717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82549" y="1439863"/>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p:cNvSpPr/>
          <p:nvPr/>
        </p:nvSpPr>
        <p:spPr>
          <a:xfrm>
            <a:off x="1583499" y="3140968"/>
            <a:ext cx="8832981" cy="1853480"/>
          </a:xfrm>
          <a:prstGeom prst="rect">
            <a:avLst/>
          </a:prstGeom>
          <a:solidFill>
            <a:schemeClr val="tx1">
              <a:lumMod val="85000"/>
              <a:lumOff val="15000"/>
            </a:schemeClr>
          </a:solidFill>
          <a:ln w="19050" cap="sq" cmpd="sng" algn="ctr">
            <a:noFill/>
            <a:prstDash val="solid"/>
          </a:ln>
          <a:effectLst>
            <a:outerShdw blurRad="50800" dist="38100" dir="8100000" algn="tr"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9" descr="NAC_LOGO-2.gif"/>
          <p:cNvPicPr>
            <a:picLocks noChangeAspect="1"/>
          </p:cNvPicPr>
          <p:nvPr/>
        </p:nvPicPr>
        <p:blipFill>
          <a:blip r:embed="rId2" cstate="print"/>
          <a:srcRect/>
          <a:stretch>
            <a:fillRect/>
          </a:stretch>
        </p:blipFill>
        <p:spPr bwMode="auto">
          <a:xfrm>
            <a:off x="4029472" y="10755"/>
            <a:ext cx="914400" cy="677863"/>
          </a:xfrm>
          <a:prstGeom prst="rect">
            <a:avLst/>
          </a:prstGeom>
          <a:noFill/>
          <a:ln w="9525">
            <a:noFill/>
            <a:miter lim="800000"/>
            <a:headEnd/>
            <a:tailEnd/>
          </a:ln>
        </p:spPr>
      </p:pic>
      <p:sp>
        <p:nvSpPr>
          <p:cNvPr id="13" name="TextBox 12"/>
          <p:cNvSpPr txBox="1"/>
          <p:nvPr/>
        </p:nvSpPr>
        <p:spPr>
          <a:xfrm>
            <a:off x="4943872" y="-91578"/>
            <a:ext cx="33528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NACETEM</a:t>
            </a:r>
            <a:r>
              <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 </a:t>
            </a:r>
            <a:endPar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14" name="TextBox 13"/>
          <p:cNvSpPr txBox="1"/>
          <p:nvPr/>
        </p:nvSpPr>
        <p:spPr>
          <a:xfrm>
            <a:off x="2614563" y="628750"/>
            <a:ext cx="7292767"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rPr>
              <a:t>NATIONAL CENTRE FOR TECHNOLOGY MANAGEMENT</a:t>
            </a:r>
            <a:endPar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b="0">
                <a:solidFill>
                  <a:schemeClr val="bg1"/>
                </a:solidFill>
                <a:latin typeface="Calibri Light" panose="020F030202020403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latin typeface="Calibri" panose="020F0502020204030204" pitchFamily="34" charset="0"/>
              </a:defRPr>
            </a:lvl1pPr>
          </a:lstStyle>
          <a:p>
            <a:r>
              <a:rPr lang="en-US"/>
              <a:t>Click to edit Master title style</a:t>
            </a:r>
            <a:endParaRPr lang="en-US" dirty="0"/>
          </a:p>
        </p:txBody>
      </p:sp>
      <p:sp>
        <p:nvSpPr>
          <p:cNvPr id="19" name="Slide Number Placeholder 28"/>
          <p:cNvSpPr>
            <a:spLocks noGrp="1"/>
          </p:cNvSpPr>
          <p:nvPr>
            <p:ph type="sldNum" sz="quarter" idx="12"/>
          </p:nvPr>
        </p:nvSpPr>
        <p:spPr/>
        <p:txBody>
          <a:bodyPr/>
          <a:lstStyle>
            <a:lvl1pPr>
              <a:defRPr sz="1400">
                <a:solidFill>
                  <a:srgbClr val="FFFFFF"/>
                </a:solidFill>
              </a:defRPr>
            </a:lvl1pPr>
          </a:lstStyle>
          <a:p>
            <a:fld id="{5A7C2BA6-9175-4393-BC16-AD9AEFA91D9A}" type="slidenum">
              <a:rPr lang="en-GB" smtClean="0"/>
            </a:fld>
            <a:endParaRPr lang="en-GB"/>
          </a:p>
        </p:txBody>
      </p:sp>
      <p:sp>
        <p:nvSpPr>
          <p:cNvPr id="11" name="TextBox 10"/>
          <p:cNvSpPr txBox="1"/>
          <p:nvPr/>
        </p:nvSpPr>
        <p:spPr>
          <a:xfrm>
            <a:off x="9467848" y="6505600"/>
            <a:ext cx="2641600" cy="307777"/>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rPr>
              <a:t>© NACETEM 2020</a:t>
            </a:r>
            <a:endParaRPr kumimoji="0" lang="en-US" sz="14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endParaRPr>
          </a:p>
        </p:txBody>
      </p:sp>
      <p:sp>
        <p:nvSpPr>
          <p:cNvPr id="15" name="TextBox 14"/>
          <p:cNvSpPr txBox="1"/>
          <p:nvPr/>
        </p:nvSpPr>
        <p:spPr>
          <a:xfrm>
            <a:off x="1007435" y="6501115"/>
            <a:ext cx="796888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14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NACETEM…Managing Technology for Sustainable Development</a:t>
            </a:r>
            <a:endParaRPr kumimoji="0" lang="en-GB" sz="14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8" name="Content Placeholder 7"/>
          <p:cNvSpPr>
            <a:spLocks noGrp="1"/>
          </p:cNvSpPr>
          <p:nvPr>
            <p:ph sz="quarter" idx="1"/>
          </p:nvPr>
        </p:nvSpPr>
        <p:spPr>
          <a:xfrm>
            <a:off x="1219200" y="1700808"/>
            <a:ext cx="10363200" cy="4752528"/>
          </a:xfrm>
        </p:spPr>
        <p:txBody>
          <a:bodyPr/>
          <a:lstStyle>
            <a:lvl1pPr>
              <a:defRPr b="1"/>
            </a:lvl1pPr>
            <a:lvl2pPr>
              <a:defRPr b="1"/>
            </a:lvl2pPr>
            <a:lvl3pPr>
              <a:defRPr b="1"/>
            </a:lvl3pPr>
            <a:lvl4pPr>
              <a:defRPr b="1"/>
            </a:lvl4pPr>
            <a:lvl5pPr>
              <a:defRPr b="1"/>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Slide Number Placeholder 22"/>
          <p:cNvSpPr>
            <a:spLocks noGrp="1"/>
          </p:cNvSpPr>
          <p:nvPr>
            <p:ph type="sldNum" sz="quarter" idx="11"/>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
          </p:nvPr>
        </p:nvSpPr>
        <p:spPr>
          <a:xfrm>
            <a:off x="719403" y="1700808"/>
            <a:ext cx="5306496" cy="4824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2"/>
          </p:nvPr>
        </p:nvSpPr>
        <p:spPr>
          <a:xfrm>
            <a:off x="6384032" y="1700808"/>
            <a:ext cx="4998720" cy="48245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8"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9"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9403" y="2492896"/>
            <a:ext cx="10925472" cy="1800200"/>
          </a:xfrm>
          <a:solidFill>
            <a:schemeClr val="accent2">
              <a:lumMod val="75000"/>
            </a:schemeClr>
          </a:solidFill>
          <a:effectLst>
            <a:outerShdw blurRad="50800" dist="38100" dir="8100000" algn="tr" rotWithShape="0">
              <a:prstClr val="black">
                <a:alpha val="40000"/>
              </a:prstClr>
            </a:outerShdw>
          </a:effectLst>
        </p:spPr>
        <p:txBody>
          <a:bodyPr/>
          <a:lstStyle>
            <a:lvl1pPr>
              <a:defRPr>
                <a:solidFill>
                  <a:schemeClr val="bg1"/>
                </a:solidFill>
              </a:defRPr>
            </a:lvl1pPr>
          </a:lstStyle>
          <a:p>
            <a:r>
              <a:rPr lang="en-US"/>
              <a:t>Click to edit Master title style</a:t>
            </a:r>
            <a:endParaRPr lang="en-US"/>
          </a:p>
        </p:txBody>
      </p:sp>
      <p:sp>
        <p:nvSpPr>
          <p:cNvPr id="5"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3"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4"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6"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13"/>
          <p:cNvSpPr>
            <a:spLocks noGrp="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5" name="Footer Placeholder 2"/>
          <p:cNvSpPr>
            <a:spLocks noGrp="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6" name="Slide Number Placeholder 22"/>
          <p:cNvSpPr>
            <a:spLocks noGrp="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122239"/>
            <a:ext cx="10972800" cy="600868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4"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5" name="Rectangle 7"/>
          <p:cNvSpPr>
            <a:spLocks noGrp="1" noChangeArrowheads="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US"/>
          </a:p>
        </p:txBody>
      </p:sp>
      <p:sp>
        <p:nvSpPr>
          <p:cNvPr id="3" name="Table Placeholder 2"/>
          <p:cNvSpPr>
            <a:spLocks noGrp="1"/>
          </p:cNvSpPr>
          <p:nvPr>
            <p:ph type="tbl" idx="1" hasCustomPrompt="1"/>
          </p:nvPr>
        </p:nvSpPr>
        <p:spPr>
          <a:xfrm>
            <a:off x="609600" y="1719263"/>
            <a:ext cx="10972800" cy="4411662"/>
          </a:xfrm>
        </p:spPr>
        <p:txBody>
          <a:bodyPr/>
          <a:lstStyle/>
          <a:p>
            <a:pPr lvl="0"/>
            <a:r>
              <a:rPr lang="en-US" noProof="0"/>
              <a:t>Click icon to add table</a:t>
            </a:r>
            <a:endParaRPr lang="en-US" noProof="0"/>
          </a:p>
        </p:txBody>
      </p:sp>
      <p:sp>
        <p:nvSpPr>
          <p:cNvPr id="4" name="Rectangle 5"/>
          <p:cNvSpPr>
            <a:spLocks noGrp="1" noChangeArrowheads="1"/>
          </p:cNvSpPr>
          <p:nvPr>
            <p:ph type="dt" sz="half" idx="10"/>
          </p:nvPr>
        </p:nvSpPr>
        <p:spPr>
          <a:xfrm>
            <a:off x="8229600" y="6191250"/>
            <a:ext cx="3302000" cy="476250"/>
          </a:xfrm>
          <a:prstGeom prst="rect">
            <a:avLst/>
          </a:prstGeom>
        </p:spPr>
        <p:txBody>
          <a:bodyPr/>
          <a:lstStyle>
            <a:lvl1pPr>
              <a:defRPr/>
            </a:lvl1pPr>
          </a:lstStyle>
          <a:p>
            <a:fld id="{E2428020-E7E2-415E-B88D-D53194348333}" type="datetimeFigureOut">
              <a:rPr lang="en-GB" smtClean="0">
                <a:solidFill>
                  <a:prstClr val="black"/>
                </a:solidFill>
              </a:rPr>
            </a:fld>
            <a:endParaRPr lang="en-GB">
              <a:solidFill>
                <a:prstClr val="black"/>
              </a:solidFill>
            </a:endParaRPr>
          </a:p>
        </p:txBody>
      </p:sp>
      <p:sp>
        <p:nvSpPr>
          <p:cNvPr id="5" name="Rectangle 6"/>
          <p:cNvSpPr>
            <a:spLocks noGrp="1" noChangeArrowheads="1"/>
          </p:cNvSpPr>
          <p:nvPr>
            <p:ph type="ftr" sz="quarter" idx="11"/>
          </p:nvPr>
        </p:nvSpPr>
        <p:spPr>
          <a:xfrm>
            <a:off x="1117600" y="6172200"/>
            <a:ext cx="7315200" cy="457200"/>
          </a:xfrm>
          <a:prstGeom prst="rect">
            <a:avLst/>
          </a:prstGeom>
        </p:spPr>
        <p:txBody>
          <a:bodyPr/>
          <a:lstStyle>
            <a:lvl1pPr>
              <a:defRPr/>
            </a:lvl1pPr>
          </a:lstStyle>
          <a:p>
            <a:endParaRPr lang="en-GB">
              <a:solidFill>
                <a:prstClr val="black"/>
              </a:solidFill>
            </a:endParaRPr>
          </a:p>
        </p:txBody>
      </p:sp>
      <p:sp>
        <p:nvSpPr>
          <p:cNvPr id="6" name="Rectangle 7"/>
          <p:cNvSpPr>
            <a:spLocks noGrp="1" noChangeArrowheads="1"/>
          </p:cNvSpPr>
          <p:nvPr>
            <p:ph type="sldNum" sz="quarter" idx="12"/>
          </p:nvPr>
        </p:nvSpPr>
        <p:spPr/>
        <p:txBody>
          <a:bodyPr/>
          <a:lstStyle>
            <a:lvl1pPr>
              <a:defRPr/>
            </a:lvl1pPr>
          </a:lstStyle>
          <a:p>
            <a:fld id="{5A7C2BA6-9175-4393-BC16-AD9AEFA91D9A}" type="slidenum">
              <a:rPr lang="en-GB" smtClean="0"/>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quarter" idx="2"/>
          </p:nvPr>
        </p:nvSpPr>
        <p:spPr>
          <a:xfrm>
            <a:off x="6197600" y="1600200"/>
            <a:ext cx="5181600" cy="2133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Content Placeholder 4"/>
          <p:cNvSpPr>
            <a:spLocks noGrp="1"/>
          </p:cNvSpPr>
          <p:nvPr>
            <p:ph sz="quarter" idx="3"/>
          </p:nvPr>
        </p:nvSpPr>
        <p:spPr>
          <a:xfrm>
            <a:off x="6197600" y="3886200"/>
            <a:ext cx="5181600" cy="2133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Date Placeholder 5"/>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fld id="{E2428020-E7E2-415E-B88D-D53194348333}" type="datetimeFigureOut">
              <a:rPr lang="en-GB" smtClean="0">
                <a:solidFill>
                  <a:prstClr val="black">
                    <a:tint val="75000"/>
                  </a:prstClr>
                </a:solidFill>
              </a:rPr>
            </a:fld>
            <a:endParaRPr lang="en-GB">
              <a:solidFill>
                <a:prstClr val="black">
                  <a:tint val="75000"/>
                </a:prstClr>
              </a:solidFill>
            </a:endParaRPr>
          </a:p>
        </p:txBody>
      </p:sp>
      <p:sp>
        <p:nvSpPr>
          <p:cNvPr id="7" name="Footer Placeholder 6"/>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endParaRPr lang="en-GB">
              <a:solidFill>
                <a:prstClr val="black">
                  <a:tint val="75000"/>
                </a:prstClr>
              </a:solidFill>
            </a:endParaRPr>
          </a:p>
        </p:txBody>
      </p:sp>
      <p:sp>
        <p:nvSpPr>
          <p:cNvPr id="8" name="Slide Number Placeholder 7"/>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fld id="{5A7C2BA6-9175-4393-BC16-AD9AEFA91D9A}" type="slidenum">
              <a:rPr lang="en-GB" smtClean="0">
                <a:solidFill>
                  <a:prstClr val="black">
                    <a:tint val="75000"/>
                  </a:prstClr>
                </a:solidFill>
              </a:rPr>
            </a:fld>
            <a:endParaRPr lang="en-GB">
              <a:solidFill>
                <a:prstClr val="black">
                  <a:tint val="75000"/>
                </a:prstClr>
              </a:solidFill>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0352" y="228600"/>
            <a:ext cx="10687049"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8128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97600" y="1600200"/>
            <a:ext cx="5181600" cy="44196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a:xfrm>
            <a:off x="8229600" y="6191250"/>
            <a:ext cx="3302000" cy="476250"/>
          </a:xfrm>
          <a:prstGeom prst="rect">
            <a:avLst/>
          </a:prstGeom>
        </p:spPr>
        <p:txBody>
          <a:bodyPr/>
          <a:lstStyle>
            <a:lvl1pPr fontAlgn="auto">
              <a:spcBef>
                <a:spcPts val="0"/>
              </a:spcBef>
              <a:spcAft>
                <a:spcPts val="0"/>
              </a:spcAft>
              <a:defRPr>
                <a:solidFill>
                  <a:schemeClr val="tx1">
                    <a:tint val="75000"/>
                  </a:schemeClr>
                </a:solidFill>
              </a:defRPr>
            </a:lvl1pPr>
          </a:lstStyle>
          <a:p>
            <a:fld id="{E2428020-E7E2-415E-B88D-D53194348333}" type="datetimeFigureOut">
              <a:rPr lang="en-GB" smtClean="0">
                <a:solidFill>
                  <a:prstClr val="black">
                    <a:tint val="75000"/>
                  </a:prstClr>
                </a:solidFill>
              </a:rPr>
            </a:fld>
            <a:endParaRPr lang="en-GB">
              <a:solidFill>
                <a:prstClr val="black">
                  <a:tint val="75000"/>
                </a:prstClr>
              </a:solidFill>
            </a:endParaRPr>
          </a:p>
        </p:txBody>
      </p:sp>
      <p:sp>
        <p:nvSpPr>
          <p:cNvPr id="6" name="Footer Placeholder 5"/>
          <p:cNvSpPr>
            <a:spLocks noGrp="1"/>
          </p:cNvSpPr>
          <p:nvPr>
            <p:ph type="ftr" sz="quarter" idx="11"/>
          </p:nvPr>
        </p:nvSpPr>
        <p:spPr>
          <a:xfrm>
            <a:off x="1117600" y="6172200"/>
            <a:ext cx="7315200" cy="457200"/>
          </a:xfrm>
          <a:prstGeom prst="rect">
            <a:avLst/>
          </a:prstGeom>
        </p:spPr>
        <p:txBody>
          <a:bodyPr/>
          <a:lstStyle>
            <a:lvl1pPr fontAlgn="auto">
              <a:spcBef>
                <a:spcPts val="0"/>
              </a:spcBef>
              <a:spcAft>
                <a:spcPts val="0"/>
              </a:spcAft>
              <a:defRPr>
                <a:solidFill>
                  <a:schemeClr val="tx1">
                    <a:tint val="75000"/>
                  </a:schemeClr>
                </a:solidFill>
              </a:defRPr>
            </a:lvl1p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lvl1pPr fontAlgn="auto">
              <a:spcBef>
                <a:spcPts val="0"/>
              </a:spcBef>
              <a:spcAft>
                <a:spcPts val="0"/>
              </a:spcAft>
              <a:defRPr>
                <a:solidFill>
                  <a:schemeClr val="tx1">
                    <a:tint val="75000"/>
                  </a:schemeClr>
                </a:solidFill>
              </a:defRPr>
            </a:lvl1pPr>
          </a:lstStyle>
          <a:p>
            <a:fld id="{5A7C2BA6-9175-4393-BC16-AD9AEFA91D9A}" type="slidenum">
              <a:rPr lang="en-GB" smtClean="0">
                <a:solidFill>
                  <a:prstClr val="black">
                    <a:tint val="75000"/>
                  </a:prstClr>
                </a:solidFill>
              </a:rPr>
            </a:fld>
            <a:endParaRPr lang="en-GB">
              <a:solidFill>
                <a:prstClr val="black">
                  <a:tint val="75000"/>
                </a:prstClr>
              </a:solidFill>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mn-lt"/>
              <a:ea typeface="+mn-ea"/>
              <a:cs typeface="+mn-cs"/>
            </a:endParaRPr>
          </a:p>
        </p:txBody>
      </p:sp>
      <p:sp>
        <p:nvSpPr>
          <p:cNvPr id="3075" name="Title Placeholder 21"/>
          <p:cNvSpPr>
            <a:spLocks noGrp="1"/>
          </p:cNvSpPr>
          <p:nvPr>
            <p:ph type="title"/>
          </p:nvPr>
        </p:nvSpPr>
        <p:spPr bwMode="auto">
          <a:xfrm>
            <a:off x="335360" y="670050"/>
            <a:ext cx="10637440" cy="1006351"/>
          </a:xfrm>
          <a:prstGeom prst="rect">
            <a:avLst/>
          </a:prstGeom>
          <a:noFill/>
          <a:ln w="9525">
            <a:noFill/>
            <a:miter lim="800000"/>
          </a:ln>
        </p:spPr>
        <p:txBody>
          <a:bodyPr vert="horz" wrap="square" lIns="91440" tIns="45720" rIns="91440" bIns="91440" numCol="1" anchor="b" anchorCtr="0" compatLnSpc="1"/>
          <a:lstStyle/>
          <a:p>
            <a:pPr lvl="0"/>
            <a:r>
              <a:rPr lang="en-US" dirty="0"/>
              <a:t>Click to edit Master title style</a:t>
            </a:r>
            <a:endParaRPr lang="en-US" dirty="0"/>
          </a:p>
        </p:txBody>
      </p:sp>
      <p:sp>
        <p:nvSpPr>
          <p:cNvPr id="3076" name="Text Placeholder 12"/>
          <p:cNvSpPr>
            <a:spLocks noGrp="1"/>
          </p:cNvSpPr>
          <p:nvPr>
            <p:ph type="body" idx="1"/>
          </p:nvPr>
        </p:nvSpPr>
        <p:spPr bwMode="auto">
          <a:xfrm>
            <a:off x="335360" y="1676400"/>
            <a:ext cx="10887173" cy="463292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3" name="Slide Number Placeholder 22"/>
          <p:cNvSpPr>
            <a:spLocks noGrp="1"/>
          </p:cNvSpPr>
          <p:nvPr>
            <p:ph type="sldNum" sz="quarter" idx="4"/>
          </p:nvPr>
        </p:nvSpPr>
        <p:spPr>
          <a:xfrm>
            <a:off x="194733" y="6324600"/>
            <a:ext cx="609600" cy="457200"/>
          </a:xfrm>
          <a:prstGeom prst="ellipse">
            <a:avLst/>
          </a:prstGeom>
          <a:solidFill>
            <a:schemeClr val="accent2"/>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pic>
        <p:nvPicPr>
          <p:cNvPr id="3080" name="Picture 9" descr="NAC_LOGO-2.gif"/>
          <p:cNvPicPr>
            <a:picLocks noChangeAspect="1"/>
          </p:cNvPicPr>
          <p:nvPr/>
        </p:nvPicPr>
        <p:blipFill>
          <a:blip r:embed="rId14" cstate="print"/>
          <a:srcRect/>
          <a:stretch>
            <a:fillRect/>
          </a:stretch>
        </p:blipFill>
        <p:spPr bwMode="auto">
          <a:xfrm>
            <a:off x="11410698" y="6165304"/>
            <a:ext cx="733975" cy="544110"/>
          </a:xfrm>
          <a:prstGeom prst="rect">
            <a:avLst/>
          </a:prstGeom>
          <a:noFill/>
          <a:ln w="9525">
            <a:noFill/>
            <a:miter lim="800000"/>
            <a:headEnd/>
            <a:tailEnd/>
          </a:ln>
        </p:spPr>
      </p:pic>
      <p:sp>
        <p:nvSpPr>
          <p:cNvPr id="13" name="TextBox 12"/>
          <p:cNvSpPr txBox="1"/>
          <p:nvPr/>
        </p:nvSpPr>
        <p:spPr>
          <a:xfrm>
            <a:off x="8291281" y="-99392"/>
            <a:ext cx="33528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NACETEM</a:t>
            </a:r>
            <a:r>
              <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 </a:t>
            </a:r>
            <a:endPar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24" name="TextBox 23"/>
          <p:cNvSpPr txBox="1"/>
          <p:nvPr/>
        </p:nvSpPr>
        <p:spPr>
          <a:xfrm>
            <a:off x="9002481" y="6563445"/>
            <a:ext cx="2641600" cy="276225"/>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rPr>
              <a:t>© NACETEM 2021</a:t>
            </a:r>
            <a:endParaRPr kumimoji="0" lang="en-US" sz="12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endParaRPr>
          </a:p>
        </p:txBody>
      </p:sp>
      <p:sp>
        <p:nvSpPr>
          <p:cNvPr id="4" name="Rectangle 3"/>
          <p:cNvSpPr/>
          <p:nvPr/>
        </p:nvSpPr>
        <p:spPr>
          <a:xfrm>
            <a:off x="11644082" y="0"/>
            <a:ext cx="54791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rot="16200000">
            <a:off x="8885879" y="2809501"/>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rPr>
              <a:t>NATIONAL CENTRE FOR TECHNOLOGY MANAGEMENT</a:t>
            </a:r>
            <a:endPar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endParaRPr>
          </a:p>
        </p:txBody>
      </p:sp>
      <p:cxnSp>
        <p:nvCxnSpPr>
          <p:cNvPr id="6" name="Straight Connector 5"/>
          <p:cNvCxnSpPr/>
          <p:nvPr/>
        </p:nvCxnSpPr>
        <p:spPr>
          <a:xfrm flipH="1">
            <a:off x="1" y="620688"/>
            <a:ext cx="11644080"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07435" y="6437359"/>
            <a:ext cx="844893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16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Arial" panose="020B0604020202020204" pitchFamily="34" charset="0"/>
              </a:rPr>
              <a:t>NACETEM…Managing Technology for Sustainable Development</a:t>
            </a:r>
            <a:endParaRPr kumimoji="0" lang="en-GB" sz="16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sz="3600" b="1" kern="1200">
          <a:solidFill>
            <a:schemeClr val="tx1">
              <a:lumMod val="75000"/>
              <a:lumOff val="25000"/>
            </a:schemeClr>
          </a:solidFill>
          <a:latin typeface="+mj-lt"/>
          <a:ea typeface="+mj-ea"/>
          <a:cs typeface="+mj-cs"/>
        </a:defRPr>
      </a:lvl1pPr>
      <a:lvl2pPr algn="l" rtl="0" eaLnBrk="1" fontAlgn="base" hangingPunct="1">
        <a:spcBef>
          <a:spcPct val="0"/>
        </a:spcBef>
        <a:spcAft>
          <a:spcPct val="0"/>
        </a:spcAft>
        <a:defRPr sz="4000">
          <a:solidFill>
            <a:schemeClr val="tx2"/>
          </a:solidFill>
          <a:latin typeface="Tw Cen MT" panose="020B0602020104020603" pitchFamily="34" charset="0"/>
        </a:defRPr>
      </a:lvl2pPr>
      <a:lvl3pPr algn="l" rtl="0" eaLnBrk="1" fontAlgn="base" hangingPunct="1">
        <a:spcBef>
          <a:spcPct val="0"/>
        </a:spcBef>
        <a:spcAft>
          <a:spcPct val="0"/>
        </a:spcAft>
        <a:defRPr sz="4000">
          <a:solidFill>
            <a:schemeClr val="tx2"/>
          </a:solidFill>
          <a:latin typeface="Tw Cen MT" panose="020B0602020104020603" pitchFamily="34" charset="0"/>
        </a:defRPr>
      </a:lvl3pPr>
      <a:lvl4pPr algn="l" rtl="0" eaLnBrk="1" fontAlgn="base" hangingPunct="1">
        <a:spcBef>
          <a:spcPct val="0"/>
        </a:spcBef>
        <a:spcAft>
          <a:spcPct val="0"/>
        </a:spcAft>
        <a:defRPr sz="4000">
          <a:solidFill>
            <a:schemeClr val="tx2"/>
          </a:solidFill>
          <a:latin typeface="Tw Cen MT" panose="020B0602020104020603" pitchFamily="34" charset="0"/>
        </a:defRPr>
      </a:lvl4pPr>
      <a:lvl5pPr algn="l" rtl="0" eaLnBrk="1" fontAlgn="base" hangingPunct="1">
        <a:spcBef>
          <a:spcPct val="0"/>
        </a:spcBef>
        <a:spcAft>
          <a:spcPct val="0"/>
        </a:spcAft>
        <a:defRPr sz="4000">
          <a:solidFill>
            <a:schemeClr val="tx2"/>
          </a:solidFill>
          <a:latin typeface="Tw Cen MT" panose="020B0602020104020603" pitchFamily="34" charset="0"/>
        </a:defRPr>
      </a:lvl5pPr>
      <a:lvl6pPr marL="457200" algn="l" rtl="0" eaLnBrk="1" fontAlgn="base" hangingPunct="1">
        <a:spcBef>
          <a:spcPct val="0"/>
        </a:spcBef>
        <a:spcAft>
          <a:spcPct val="0"/>
        </a:spcAft>
        <a:defRPr sz="4000">
          <a:solidFill>
            <a:schemeClr val="tx2"/>
          </a:solidFill>
          <a:latin typeface="Tw Cen MT" panose="020B0602020104020603" pitchFamily="34" charset="0"/>
        </a:defRPr>
      </a:lvl6pPr>
      <a:lvl7pPr marL="914400" algn="l" rtl="0" eaLnBrk="1" fontAlgn="base" hangingPunct="1">
        <a:spcBef>
          <a:spcPct val="0"/>
        </a:spcBef>
        <a:spcAft>
          <a:spcPct val="0"/>
        </a:spcAft>
        <a:defRPr sz="4000">
          <a:solidFill>
            <a:schemeClr val="tx2"/>
          </a:solidFill>
          <a:latin typeface="Tw Cen MT" panose="020B0602020104020603" pitchFamily="34" charset="0"/>
        </a:defRPr>
      </a:lvl7pPr>
      <a:lvl8pPr marL="1371600" algn="l" rtl="0" eaLnBrk="1" fontAlgn="base" hangingPunct="1">
        <a:spcBef>
          <a:spcPct val="0"/>
        </a:spcBef>
        <a:spcAft>
          <a:spcPct val="0"/>
        </a:spcAft>
        <a:defRPr sz="4000">
          <a:solidFill>
            <a:schemeClr val="tx2"/>
          </a:solidFill>
          <a:latin typeface="Tw Cen MT" panose="020B0602020104020603" pitchFamily="34" charset="0"/>
        </a:defRPr>
      </a:lvl8pPr>
      <a:lvl9pPr marL="1828800" algn="l" rtl="0" eaLnBrk="1" fontAlgn="base" hangingPunct="1">
        <a:spcBef>
          <a:spcPct val="0"/>
        </a:spcBef>
        <a:spcAft>
          <a:spcPct val="0"/>
        </a:spcAft>
        <a:defRPr sz="4000">
          <a:solidFill>
            <a:schemeClr val="tx2"/>
          </a:solidFill>
          <a:latin typeface="Tw Cen MT" panose="020B0602020104020603" pitchFamily="34" charset="0"/>
        </a:defRPr>
      </a:lvl9pPr>
    </p:titleStyle>
    <p:body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400" kern="1200">
          <a:solidFill>
            <a:schemeClr val="tx1"/>
          </a:solidFill>
          <a:latin typeface="Arial Nova Cond Light" panose="020B0306020202020204" pitchFamily="34" charset="0"/>
          <a:ea typeface="+mn-ea"/>
          <a:cs typeface="+mn-cs"/>
        </a:defRPr>
      </a:lvl1pPr>
      <a:lvl2pPr marL="548005" indent="-228600" algn="l" rtl="0" eaLnBrk="1" fontAlgn="base" hangingPunct="1">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Arial Nova Cond Light" panose="020B0306020202020204" pitchFamily="34" charset="0"/>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Arial Nova Cond Light" panose="020B0306020202020204" pitchFamily="34" charset="0"/>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Arial Nova Cond Light" panose="020B0306020202020204" pitchFamily="34" charset="0"/>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Arial Nova Cond Light" panose="020B0306020202020204" pitchFamily="34"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5" name="Title Placeholder 21"/>
          <p:cNvSpPr>
            <a:spLocks noGrp="1"/>
          </p:cNvSpPr>
          <p:nvPr>
            <p:ph type="title"/>
          </p:nvPr>
        </p:nvSpPr>
        <p:spPr bwMode="auto">
          <a:xfrm>
            <a:off x="335360" y="670050"/>
            <a:ext cx="10637440" cy="1006351"/>
          </a:xfrm>
          <a:prstGeom prst="rect">
            <a:avLst/>
          </a:prstGeom>
          <a:noFill/>
          <a:ln w="9525">
            <a:noFill/>
            <a:miter lim="800000"/>
          </a:ln>
        </p:spPr>
        <p:txBody>
          <a:bodyPr vert="horz" wrap="square" lIns="91440" tIns="45720" rIns="91440" bIns="91440" numCol="1" anchor="b" anchorCtr="0" compatLnSpc="1"/>
          <a:lstStyle/>
          <a:p>
            <a:pPr lvl="0"/>
            <a:r>
              <a:rPr lang="en-US"/>
              <a:t>Click to edit Master title style</a:t>
            </a:r>
            <a:endParaRPr lang="en-US" dirty="0"/>
          </a:p>
        </p:txBody>
      </p:sp>
      <p:sp>
        <p:nvSpPr>
          <p:cNvPr id="3076" name="Text Placeholder 12"/>
          <p:cNvSpPr>
            <a:spLocks noGrp="1"/>
          </p:cNvSpPr>
          <p:nvPr>
            <p:ph type="body" idx="1"/>
          </p:nvPr>
        </p:nvSpPr>
        <p:spPr bwMode="auto">
          <a:xfrm>
            <a:off x="335360" y="1676400"/>
            <a:ext cx="10887173" cy="4632920"/>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3" name="Slide Number Placeholder 22"/>
          <p:cNvSpPr>
            <a:spLocks noGrp="1"/>
          </p:cNvSpPr>
          <p:nvPr>
            <p:ph type="sldNum" sz="quarter" idx="4"/>
          </p:nvPr>
        </p:nvSpPr>
        <p:spPr>
          <a:xfrm>
            <a:off x="194733" y="6324600"/>
            <a:ext cx="609600" cy="457200"/>
          </a:xfrm>
          <a:prstGeom prst="ellipse">
            <a:avLst/>
          </a:prstGeom>
          <a:solidFill>
            <a:schemeClr val="accent2"/>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A7C2BA6-9175-4393-BC16-AD9AEFA91D9A}" type="slidenum">
              <a:rPr lang="en-GB" smtClean="0"/>
            </a:fld>
            <a:endParaRPr lang="en-GB"/>
          </a:p>
        </p:txBody>
      </p:sp>
      <p:pic>
        <p:nvPicPr>
          <p:cNvPr id="3080" name="Picture 9" descr="NAC_LOGO-2.gif"/>
          <p:cNvPicPr>
            <a:picLocks noChangeAspect="1"/>
          </p:cNvPicPr>
          <p:nvPr/>
        </p:nvPicPr>
        <p:blipFill>
          <a:blip r:embed="rId13" cstate="print"/>
          <a:srcRect/>
          <a:stretch>
            <a:fillRect/>
          </a:stretch>
        </p:blipFill>
        <p:spPr bwMode="auto">
          <a:xfrm>
            <a:off x="11410698" y="6165304"/>
            <a:ext cx="733975" cy="544110"/>
          </a:xfrm>
          <a:prstGeom prst="rect">
            <a:avLst/>
          </a:prstGeom>
          <a:noFill/>
          <a:ln w="9525">
            <a:noFill/>
            <a:miter lim="800000"/>
            <a:headEnd/>
            <a:tailEnd/>
          </a:ln>
        </p:spPr>
      </p:pic>
      <p:sp>
        <p:nvSpPr>
          <p:cNvPr id="13" name="TextBox 12"/>
          <p:cNvSpPr txBox="1"/>
          <p:nvPr/>
        </p:nvSpPr>
        <p:spPr>
          <a:xfrm>
            <a:off x="8291281" y="-99392"/>
            <a:ext cx="3352800" cy="769441"/>
          </a:xfrm>
          <a:prstGeom prst="rect">
            <a:avLst/>
          </a:prstGeom>
          <a:solidFill>
            <a:schemeClr val="bg1"/>
          </a:solidFill>
          <a:effectLst>
            <a:outerShdw blurRad="38100" dist="25400" dir="5400000" algn="t" rotWithShape="0">
              <a:srgbClr val="000000">
                <a:alpha val="50000"/>
              </a:srgbClr>
            </a:outerShdw>
            <a:softEdge rad="317500"/>
          </a:effectLst>
        </p:spPr>
        <p:style>
          <a:lnRef idx="1">
            <a:schemeClr val="accent1"/>
          </a:lnRef>
          <a:fillRef idx="3">
            <a:schemeClr val="accent1"/>
          </a:fillRef>
          <a:effectRef idx="2">
            <a:schemeClr val="accent1"/>
          </a:effectRef>
          <a:fontRef idx="minor">
            <a:schemeClr val="lt1"/>
          </a:fontRef>
        </p:style>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NACETEM</a:t>
            </a:r>
            <a:r>
              <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 </a:t>
            </a:r>
            <a:endParaRPr kumimoji="0" 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24" name="TextBox 23"/>
          <p:cNvSpPr txBox="1"/>
          <p:nvPr/>
        </p:nvSpPr>
        <p:spPr>
          <a:xfrm>
            <a:off x="9002481" y="6563445"/>
            <a:ext cx="2641600" cy="276225"/>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rPr>
              <a:t>© NACETEM 2020</a:t>
            </a:r>
            <a:endParaRPr kumimoji="0" lang="en-US" sz="1200" b="0" i="1" u="none" strike="noStrike" kern="1200" cap="none" spc="0" normalizeH="0" baseline="0" noProof="0" dirty="0">
              <a:ln>
                <a:noFill/>
              </a:ln>
              <a:solidFill>
                <a:prstClr val="black"/>
              </a:solidFill>
              <a:effectLst/>
              <a:uLnTx/>
              <a:uFillTx/>
              <a:latin typeface="Tw Cen MT" panose="020B0602020104020603"/>
              <a:ea typeface="+mn-ea"/>
              <a:cs typeface="Arial" panose="020B0604020202020204" pitchFamily="34" charset="0"/>
            </a:endParaRPr>
          </a:p>
        </p:txBody>
      </p:sp>
      <p:sp>
        <p:nvSpPr>
          <p:cNvPr id="4" name="Rectangle 3"/>
          <p:cNvSpPr/>
          <p:nvPr/>
        </p:nvSpPr>
        <p:spPr>
          <a:xfrm>
            <a:off x="11644082" y="0"/>
            <a:ext cx="547919" cy="6021288"/>
          </a:xfrm>
          <a:prstGeom prst="rect">
            <a:avLst/>
          </a:prstGeom>
          <a:solidFill>
            <a:schemeClr val="tx1">
              <a:lumMod val="85000"/>
              <a:lumOff val="15000"/>
            </a:schemeClr>
          </a:solidFill>
          <a:ln>
            <a:no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rot="16200000">
            <a:off x="8885879" y="2809501"/>
            <a:ext cx="5926776" cy="307777"/>
          </a:xfrm>
          <a:prstGeom prst="rect">
            <a:avLst/>
          </a:prstGeom>
          <a:noFill/>
        </p:spPr>
        <p:txBody>
          <a:bodyPr>
            <a:spAutoFit/>
            <a:scene3d>
              <a:camera prst="orthographicFront"/>
              <a:lightRig rig="soft" dir="t">
                <a:rot lat="0" lon="0" rev="10800000"/>
              </a:lightRig>
            </a:scene3d>
            <a:sp3d>
              <a:bevelT w="27940" h="12700"/>
              <a:contourClr>
                <a:srgbClr val="DDDDDD"/>
              </a:contourClr>
            </a:sp3d>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rPr>
              <a:t>NATIONAL CENTRE FOR TECHNOLOGY MANAGEMENT</a:t>
            </a:r>
            <a:endParaRPr kumimoji="0" lang="en-US" sz="1400" b="1" i="0" u="none" strike="noStrike" kern="1200" cap="none" spc="150" normalizeH="0" baseline="0" noProof="0" dirty="0">
              <a:ln w="11430"/>
              <a:solidFill>
                <a:srgbClr val="F8F8F8"/>
              </a:solidFill>
              <a:effectLst>
                <a:outerShdw blurRad="25400" algn="tl" rotWithShape="0">
                  <a:srgbClr val="000000">
                    <a:alpha val="43000"/>
                  </a:srgbClr>
                </a:outerShdw>
              </a:effectLst>
              <a:uLnTx/>
              <a:uFillTx/>
              <a:latin typeface="Tw Cen MT" panose="020B0602020104020603"/>
              <a:ea typeface="+mn-ea"/>
              <a:cs typeface="Arial" panose="020B0604020202020204" pitchFamily="34" charset="0"/>
            </a:endParaRPr>
          </a:p>
        </p:txBody>
      </p:sp>
      <p:cxnSp>
        <p:nvCxnSpPr>
          <p:cNvPr id="6" name="Straight Connector 5"/>
          <p:cNvCxnSpPr/>
          <p:nvPr/>
        </p:nvCxnSpPr>
        <p:spPr>
          <a:xfrm flipH="1">
            <a:off x="1" y="620688"/>
            <a:ext cx="11644080"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07435" y="6437359"/>
            <a:ext cx="844893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16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NACETEM…Managing Technology for Sustainable Development</a:t>
            </a:r>
            <a:endParaRPr kumimoji="0" lang="en-GB" sz="1600" b="0" i="1"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rtl="0" eaLnBrk="1" fontAlgn="base" hangingPunct="1">
        <a:spcBef>
          <a:spcPct val="0"/>
        </a:spcBef>
        <a:spcAft>
          <a:spcPct val="0"/>
        </a:spcAft>
        <a:defRPr sz="3600" b="1" kern="1200">
          <a:solidFill>
            <a:schemeClr val="tx1">
              <a:lumMod val="75000"/>
              <a:lumOff val="25000"/>
            </a:schemeClr>
          </a:solidFill>
          <a:latin typeface="Calibri" panose="020F0502020204030204" pitchFamily="34" charset="0"/>
          <a:ea typeface="+mj-ea"/>
          <a:cs typeface="+mj-cs"/>
        </a:defRPr>
      </a:lvl1pPr>
      <a:lvl2pPr algn="l" rtl="0" eaLnBrk="1" fontAlgn="base" hangingPunct="1">
        <a:spcBef>
          <a:spcPct val="0"/>
        </a:spcBef>
        <a:spcAft>
          <a:spcPct val="0"/>
        </a:spcAft>
        <a:defRPr sz="4000">
          <a:solidFill>
            <a:schemeClr val="tx2"/>
          </a:solidFill>
          <a:latin typeface="Tw Cen MT" panose="020B0602020104020603" pitchFamily="34" charset="0"/>
        </a:defRPr>
      </a:lvl2pPr>
      <a:lvl3pPr algn="l" rtl="0" eaLnBrk="1" fontAlgn="base" hangingPunct="1">
        <a:spcBef>
          <a:spcPct val="0"/>
        </a:spcBef>
        <a:spcAft>
          <a:spcPct val="0"/>
        </a:spcAft>
        <a:defRPr sz="4000">
          <a:solidFill>
            <a:schemeClr val="tx2"/>
          </a:solidFill>
          <a:latin typeface="Tw Cen MT" panose="020B0602020104020603" pitchFamily="34" charset="0"/>
        </a:defRPr>
      </a:lvl3pPr>
      <a:lvl4pPr algn="l" rtl="0" eaLnBrk="1" fontAlgn="base" hangingPunct="1">
        <a:spcBef>
          <a:spcPct val="0"/>
        </a:spcBef>
        <a:spcAft>
          <a:spcPct val="0"/>
        </a:spcAft>
        <a:defRPr sz="4000">
          <a:solidFill>
            <a:schemeClr val="tx2"/>
          </a:solidFill>
          <a:latin typeface="Tw Cen MT" panose="020B0602020104020603" pitchFamily="34" charset="0"/>
        </a:defRPr>
      </a:lvl4pPr>
      <a:lvl5pPr algn="l" rtl="0" eaLnBrk="1" fontAlgn="base" hangingPunct="1">
        <a:spcBef>
          <a:spcPct val="0"/>
        </a:spcBef>
        <a:spcAft>
          <a:spcPct val="0"/>
        </a:spcAft>
        <a:defRPr sz="4000">
          <a:solidFill>
            <a:schemeClr val="tx2"/>
          </a:solidFill>
          <a:latin typeface="Tw Cen MT" panose="020B0602020104020603" pitchFamily="34" charset="0"/>
        </a:defRPr>
      </a:lvl5pPr>
      <a:lvl6pPr marL="457200" algn="l" rtl="0" eaLnBrk="1" fontAlgn="base" hangingPunct="1">
        <a:spcBef>
          <a:spcPct val="0"/>
        </a:spcBef>
        <a:spcAft>
          <a:spcPct val="0"/>
        </a:spcAft>
        <a:defRPr sz="4000">
          <a:solidFill>
            <a:schemeClr val="tx2"/>
          </a:solidFill>
          <a:latin typeface="Tw Cen MT" panose="020B0602020104020603" pitchFamily="34" charset="0"/>
        </a:defRPr>
      </a:lvl6pPr>
      <a:lvl7pPr marL="914400" algn="l" rtl="0" eaLnBrk="1" fontAlgn="base" hangingPunct="1">
        <a:spcBef>
          <a:spcPct val="0"/>
        </a:spcBef>
        <a:spcAft>
          <a:spcPct val="0"/>
        </a:spcAft>
        <a:defRPr sz="4000">
          <a:solidFill>
            <a:schemeClr val="tx2"/>
          </a:solidFill>
          <a:latin typeface="Tw Cen MT" panose="020B0602020104020603" pitchFamily="34" charset="0"/>
        </a:defRPr>
      </a:lvl7pPr>
      <a:lvl8pPr marL="1371600" algn="l" rtl="0" eaLnBrk="1" fontAlgn="base" hangingPunct="1">
        <a:spcBef>
          <a:spcPct val="0"/>
        </a:spcBef>
        <a:spcAft>
          <a:spcPct val="0"/>
        </a:spcAft>
        <a:defRPr sz="4000">
          <a:solidFill>
            <a:schemeClr val="tx2"/>
          </a:solidFill>
          <a:latin typeface="Tw Cen MT" panose="020B0602020104020603" pitchFamily="34" charset="0"/>
        </a:defRPr>
      </a:lvl8pPr>
      <a:lvl9pPr marL="1828800" algn="l" rtl="0" eaLnBrk="1" fontAlgn="base" hangingPunct="1">
        <a:spcBef>
          <a:spcPct val="0"/>
        </a:spcBef>
        <a:spcAft>
          <a:spcPct val="0"/>
        </a:spcAft>
        <a:defRPr sz="4000">
          <a:solidFill>
            <a:schemeClr val="tx2"/>
          </a:solidFill>
          <a:latin typeface="Tw Cen MT" panose="020B0602020104020603" pitchFamily="34" charset="0"/>
        </a:defRPr>
      </a:lvl9pPr>
    </p:titleStyle>
    <p:bodyStyle>
      <a:lvl1pPr marL="273050" indent="-273050" algn="l" rtl="0" eaLnBrk="1" fontAlgn="base" hangingPunct="1">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Calibri Light" panose="020F0302020204030204" pitchFamily="34" charset="0"/>
          <a:ea typeface="+mn-ea"/>
          <a:cs typeface="+mn-cs"/>
        </a:defRPr>
      </a:lvl1pPr>
      <a:lvl2pPr marL="548005" indent="-228600" algn="l" rtl="0" eaLnBrk="1" fontAlgn="base" hangingPunct="1">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Calibri Light" panose="020F0302020204030204" pitchFamily="34" charset="0"/>
          <a:ea typeface="+mn-ea"/>
          <a:cs typeface="+mn-cs"/>
        </a:defRPr>
      </a:lvl2pPr>
      <a:lvl3pPr marL="822325" indent="-228600" algn="l" rtl="0" eaLnBrk="1" fontAlgn="base" hangingPunct="1">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Calibri Light" panose="020F0302020204030204" pitchFamily="34" charset="0"/>
          <a:ea typeface="+mn-ea"/>
          <a:cs typeface="+mn-cs"/>
        </a:defRPr>
      </a:lvl3pPr>
      <a:lvl4pPr marL="1097280" indent="-228600" algn="l" rtl="0" eaLnBrk="1" fontAlgn="base" hangingPunct="1">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Calibri Light" panose="020F0302020204030204" pitchFamily="34" charset="0"/>
          <a:ea typeface="+mn-ea"/>
          <a:cs typeface="+mn-cs"/>
        </a:defRPr>
      </a:lvl4pPr>
      <a:lvl5pPr marL="1371600" indent="-228600" algn="l" rtl="0" eaLnBrk="1" fontAlgn="base" hangingPunct="1">
        <a:spcBef>
          <a:spcPts val="375"/>
        </a:spcBef>
        <a:spcAft>
          <a:spcPct val="0"/>
        </a:spcAft>
        <a:buClr>
          <a:srgbClr val="A28E6A"/>
        </a:buClr>
        <a:buChar char="o"/>
        <a:defRPr sz="2000" kern="1200">
          <a:solidFill>
            <a:schemeClr val="tx1"/>
          </a:solidFill>
          <a:latin typeface="Calibri Light" panose="020F0302020204030204" pitchFamily="34"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42413" y="3239146"/>
            <a:ext cx="8915400" cy="2391604"/>
          </a:xfrm>
          <a:solidFill>
            <a:schemeClr val="tx1"/>
          </a:solidFill>
        </p:spPr>
        <p:txBody>
          <a:bodyPr>
            <a:normAutofit/>
          </a:bodyPr>
          <a:lstStyle/>
          <a:p>
            <a:endParaRPr lang="en-GB" sz="2000" b="1" i="1" dirty="0"/>
          </a:p>
          <a:p>
            <a:r>
              <a:rPr lang="en-GB" sz="2400" b="1" i="1" dirty="0" smtClean="0">
                <a:latin typeface="Times New Roman" panose="02020603050405020304" pitchFamily="18" charset="0"/>
                <a:cs typeface="Times New Roman" panose="02020603050405020304" pitchFamily="18" charset="0"/>
              </a:rPr>
              <a:t>National </a:t>
            </a:r>
            <a:r>
              <a:rPr lang="en-GB" sz="2400" b="1" i="1" dirty="0">
                <a:latin typeface="Times New Roman" panose="02020603050405020304" pitchFamily="18" charset="0"/>
                <a:cs typeface="Times New Roman" panose="02020603050405020304" pitchFamily="18" charset="0"/>
              </a:rPr>
              <a:t>Centre for Technology Management (NACETEM), Federal Ministry of </a:t>
            </a:r>
            <a:r>
              <a:rPr lang="en-GB" sz="2400" b="1" i="1" dirty="0" smtClean="0">
                <a:latin typeface="Times New Roman" panose="02020603050405020304" pitchFamily="18" charset="0"/>
                <a:cs typeface="Times New Roman" panose="02020603050405020304" pitchFamily="18" charset="0"/>
              </a:rPr>
              <a:t> Innovation, Science </a:t>
            </a:r>
            <a:r>
              <a:rPr lang="en-GB" sz="2400" b="1" i="1" dirty="0">
                <a:latin typeface="Times New Roman" panose="02020603050405020304" pitchFamily="18" charset="0"/>
                <a:cs typeface="Times New Roman" panose="02020603050405020304" pitchFamily="18" charset="0"/>
              </a:rPr>
              <a:t>and Technology, </a:t>
            </a:r>
            <a:r>
              <a:rPr lang="en-GB" sz="2400" b="1" i="1" dirty="0" smtClean="0">
                <a:latin typeface="Times New Roman" panose="02020603050405020304" pitchFamily="18" charset="0"/>
                <a:cs typeface="Times New Roman" panose="02020603050405020304" pitchFamily="18" charset="0"/>
              </a:rPr>
              <a:t>Nigeria</a:t>
            </a:r>
            <a:endParaRPr lang="en-GB" sz="2400" b="1" i="1" dirty="0" smtClean="0">
              <a:latin typeface="Times New Roman" panose="02020603050405020304" pitchFamily="18" charset="0"/>
              <a:cs typeface="Times New Roman" panose="02020603050405020304" pitchFamily="18" charset="0"/>
            </a:endParaRPr>
          </a:p>
          <a:p>
            <a:endParaRPr lang="en-GB" sz="1500" b="1" i="1" dirty="0">
              <a:latin typeface="Times New Roman" panose="02020603050405020304" pitchFamily="18" charset="0"/>
              <a:cs typeface="Times New Roman" panose="02020603050405020304" pitchFamily="18" charset="0"/>
            </a:endParaRPr>
          </a:p>
          <a:p>
            <a:r>
              <a:rPr lang="en-GB" sz="2000" b="1" i="1" dirty="0" smtClean="0"/>
              <a:t>A RESEARCHER’S SEMINAR SEREIS </a:t>
            </a:r>
            <a:endParaRPr lang="en-GB" sz="2000" b="1" i="1" dirty="0" smtClean="0"/>
          </a:p>
          <a:p>
            <a:r>
              <a:rPr lang="en-GB" sz="2000" b="1" i="1" dirty="0" smtClean="0"/>
              <a:t>JUNE, 2025</a:t>
            </a:r>
            <a:endParaRPr lang="en-US" sz="2000" b="1" i="1" dirty="0"/>
          </a:p>
        </p:txBody>
      </p:sp>
      <p:sp>
        <p:nvSpPr>
          <p:cNvPr id="2" name="Title 1"/>
          <p:cNvSpPr>
            <a:spLocks noGrp="1"/>
          </p:cNvSpPr>
          <p:nvPr>
            <p:ph type="ctrTitle"/>
          </p:nvPr>
        </p:nvSpPr>
        <p:spPr>
          <a:xfrm>
            <a:off x="397598" y="2278251"/>
            <a:ext cx="11241629" cy="774915"/>
          </a:xfrm>
        </p:spPr>
        <p:txBody>
          <a:bodyPr/>
          <a:lstStyle/>
          <a:p>
            <a:pPr>
              <a:lnSpc>
                <a:spcPct val="107000"/>
              </a:lnSpc>
              <a:spcAft>
                <a:spcPts val="800"/>
              </a:spcAft>
            </a:pPr>
            <a:r>
              <a:rPr lang="en-GB" sz="3200" dirty="0">
                <a:latin typeface="Times New Roman" panose="02020603050405020304" pitchFamily="18" charset="0"/>
                <a:cs typeface="Times New Roman" panose="02020603050405020304" pitchFamily="18" charset="0"/>
              </a:rPr>
              <a:t>ASSESSMENT OF ATMOSPHERIC PARTICULATE MATTER AND AIR POLLUTANTS IN FIVE MOTOR PARKS IN UGHELLI, DELTA STATE, NIGERIA. </a:t>
            </a:r>
            <a:br>
              <a:rPr lang="en-GB" sz="3200" dirty="0">
                <a:latin typeface="Times New Roman" panose="02020603050405020304" pitchFamily="18" charset="0"/>
                <a:cs typeface="Times New Roman" panose="02020603050405020304" pitchFamily="18" charset="0"/>
              </a:rPr>
            </a:br>
            <a:r>
              <a:rPr lang="en-GB" sz="2400" dirty="0" smtClean="0">
                <a:latin typeface="Times New Roman" panose="02020603050405020304" pitchFamily="18" charset="0"/>
                <a:cs typeface="Times New Roman" panose="02020603050405020304" pitchFamily="18" charset="0"/>
              </a:rPr>
              <a:t>Dr .</a:t>
            </a:r>
            <a:r>
              <a:rPr lang="en-GB" sz="2400" dirty="0" err="1" smtClean="0">
                <a:latin typeface="Times New Roman" panose="02020603050405020304" pitchFamily="18" charset="0"/>
                <a:cs typeface="Times New Roman" panose="02020603050405020304" pitchFamily="18" charset="0"/>
              </a:rPr>
              <a:t>Tari</a:t>
            </a:r>
            <a:r>
              <a:rPr lang="en-GB" sz="2400" dirty="0" smtClean="0">
                <a:latin typeface="Times New Roman" panose="02020603050405020304" pitchFamily="18" charset="0"/>
                <a:cs typeface="Times New Roman" panose="02020603050405020304" pitchFamily="18" charset="0"/>
              </a:rPr>
              <a:t>, Joel Honda</a:t>
            </a:r>
            <a:endParaRPr lang="en-GB"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
        <p:nvSpPr>
          <p:cNvPr id="5" name="Text Box 4"/>
          <p:cNvSpPr txBox="1"/>
          <p:nvPr/>
        </p:nvSpPr>
        <p:spPr>
          <a:xfrm>
            <a:off x="0" y="521335"/>
            <a:ext cx="11618595" cy="5503545"/>
          </a:xfrm>
          <a:prstGeom prst="rect">
            <a:avLst/>
          </a:prstGeom>
          <a:noFill/>
        </p:spPr>
        <p:txBody>
          <a:bodyPr wrap="square" rtlCol="0" anchor="t">
            <a:noAutofit/>
          </a:bodyPr>
          <a:p>
            <a:pPr marL="457200" lvl="0" indent="-457200">
              <a:lnSpc>
                <a:spcPct val="150000"/>
              </a:lnSpc>
              <a:buClr>
                <a:srgbClr val="9B2D1F"/>
              </a:buClr>
              <a:buFont typeface="Wingdings" panose="05000000000000000000" charset="0"/>
              <a:buChar char="q"/>
            </a:pPr>
            <a:r>
              <a:rPr lang="en-US" sz="3200" dirty="0">
                <a:solidFill>
                  <a:prstClr val="black"/>
                </a:solidFill>
                <a:latin typeface="Times New Roman" panose="02020603050405020304" pitchFamily="18" charset="0"/>
                <a:cs typeface="Times New Roman" panose="02020603050405020304" pitchFamily="18" charset="0"/>
                <a:sym typeface="+mn-ea"/>
              </a:rPr>
              <a:t>Introduction</a:t>
            </a:r>
            <a:endParaRPr lang="en-US" sz="3200" dirty="0">
              <a:solidFill>
                <a:prstClr val="black"/>
              </a:solidFill>
              <a:latin typeface="Times New Roman" panose="02020603050405020304" pitchFamily="18" charset="0"/>
              <a:cs typeface="Times New Roman" panose="02020603050405020304" pitchFamily="18" charset="0"/>
              <a:sym typeface="+mn-ea"/>
            </a:endParaRPr>
          </a:p>
          <a:p>
            <a:pPr marL="457200" lvl="0" indent="-457200">
              <a:lnSpc>
                <a:spcPct val="150000"/>
              </a:lnSpc>
              <a:buClr>
                <a:srgbClr val="9B2D1F"/>
              </a:buClr>
              <a:buFont typeface="Wingdings" panose="05000000000000000000" charset="0"/>
              <a:buChar char="q"/>
            </a:pPr>
            <a:r>
              <a:rPr lang="en-GB" altLang="en-US" sz="3200" dirty="0">
                <a:solidFill>
                  <a:prstClr val="black"/>
                </a:solidFill>
                <a:latin typeface="Times New Roman" panose="02020603050405020304" pitchFamily="18" charset="0"/>
                <a:cs typeface="Times New Roman" panose="02020603050405020304" pitchFamily="18" charset="0"/>
              </a:rPr>
              <a:t>Statament of the problems</a:t>
            </a:r>
            <a:endParaRPr lang="en-GB" altLang="en-US" sz="3200" dirty="0">
              <a:solidFill>
                <a:prstClr val="black"/>
              </a:solidFill>
              <a:latin typeface="Times New Roman" panose="02020603050405020304" pitchFamily="18" charset="0"/>
              <a:cs typeface="Times New Roman" panose="02020603050405020304" pitchFamily="18" charset="0"/>
            </a:endParaRPr>
          </a:p>
          <a:p>
            <a:pPr marL="457200" lvl="0" indent="-457200">
              <a:lnSpc>
                <a:spcPct val="150000"/>
              </a:lnSpc>
              <a:buClr>
                <a:srgbClr val="9B2D1F"/>
              </a:buClr>
              <a:buFont typeface="Wingdings" panose="05000000000000000000" charset="0"/>
              <a:buChar char="q"/>
            </a:pPr>
            <a:r>
              <a:rPr lang="en-GB" altLang="en-US" sz="3200" dirty="0">
                <a:solidFill>
                  <a:prstClr val="black"/>
                </a:solidFill>
                <a:latin typeface="Times New Roman" panose="02020603050405020304" pitchFamily="18" charset="0"/>
                <a:cs typeface="Times New Roman" panose="02020603050405020304" pitchFamily="18" charset="0"/>
              </a:rPr>
              <a:t>Aim &amp; Objectives</a:t>
            </a:r>
            <a:endParaRPr lang="en-US" sz="3200" dirty="0">
              <a:solidFill>
                <a:prstClr val="black"/>
              </a:solidFill>
              <a:latin typeface="Times New Roman" panose="02020603050405020304" pitchFamily="18" charset="0"/>
              <a:cs typeface="Times New Roman" panose="02020603050405020304" pitchFamily="18" charset="0"/>
            </a:endParaRPr>
          </a:p>
          <a:p>
            <a:pPr marL="457200" lvl="0" indent="-457200">
              <a:lnSpc>
                <a:spcPct val="150000"/>
              </a:lnSpc>
              <a:buClr>
                <a:srgbClr val="9B2D1F"/>
              </a:buClr>
              <a:buFont typeface="Wingdings" panose="05000000000000000000" charset="0"/>
              <a:buChar char="q"/>
            </a:pPr>
            <a:r>
              <a:rPr lang="en-US" sz="3200" dirty="0">
                <a:solidFill>
                  <a:prstClr val="black"/>
                </a:solidFill>
                <a:latin typeface="Times New Roman" panose="02020603050405020304" pitchFamily="18" charset="0"/>
                <a:cs typeface="Times New Roman" panose="02020603050405020304" pitchFamily="18" charset="0"/>
                <a:sym typeface="+mn-ea"/>
              </a:rPr>
              <a:t>Methodology</a:t>
            </a:r>
            <a:endParaRPr lang="en-US" sz="3200" dirty="0">
              <a:solidFill>
                <a:prstClr val="black"/>
              </a:solidFill>
              <a:latin typeface="Times New Roman" panose="02020603050405020304" pitchFamily="18" charset="0"/>
              <a:cs typeface="Times New Roman" panose="02020603050405020304" pitchFamily="18" charset="0"/>
            </a:endParaRPr>
          </a:p>
          <a:p>
            <a:pPr marL="457200" lvl="0" indent="-457200">
              <a:lnSpc>
                <a:spcPct val="150000"/>
              </a:lnSpc>
              <a:buClr>
                <a:srgbClr val="9B2D1F"/>
              </a:buClr>
              <a:buFont typeface="Wingdings" panose="05000000000000000000" charset="0"/>
              <a:buChar char="q"/>
            </a:pPr>
            <a:r>
              <a:rPr lang="en-US" sz="3200" dirty="0">
                <a:solidFill>
                  <a:prstClr val="black"/>
                </a:solidFill>
                <a:latin typeface="Times New Roman" panose="02020603050405020304" pitchFamily="18" charset="0"/>
                <a:cs typeface="Times New Roman" panose="02020603050405020304" pitchFamily="18" charset="0"/>
                <a:sym typeface="+mn-ea"/>
              </a:rPr>
              <a:t>Results and Discussions</a:t>
            </a:r>
            <a:endParaRPr lang="en-US" sz="3200" dirty="0">
              <a:solidFill>
                <a:prstClr val="black"/>
              </a:solidFill>
              <a:latin typeface="Times New Roman" panose="02020603050405020304" pitchFamily="18" charset="0"/>
              <a:cs typeface="Times New Roman" panose="02020603050405020304" pitchFamily="18" charset="0"/>
              <a:sym typeface="+mn-ea"/>
            </a:endParaRPr>
          </a:p>
          <a:p>
            <a:pPr marL="457200" lvl="0" indent="-457200">
              <a:lnSpc>
                <a:spcPct val="150000"/>
              </a:lnSpc>
              <a:buClr>
                <a:srgbClr val="9B2D1F"/>
              </a:buClr>
              <a:buFont typeface="Wingdings" panose="05000000000000000000" charset="0"/>
              <a:buChar char="q"/>
            </a:pPr>
            <a:r>
              <a:rPr lang="en-GB" altLang="en-US" sz="3200" dirty="0">
                <a:solidFill>
                  <a:prstClr val="black"/>
                </a:solidFill>
                <a:latin typeface="Times New Roman" panose="02020603050405020304" pitchFamily="18" charset="0"/>
                <a:cs typeface="Times New Roman" panose="02020603050405020304" pitchFamily="18" charset="0"/>
                <a:sym typeface="+mn-ea"/>
              </a:rPr>
              <a:t>Contributions to knowledge</a:t>
            </a:r>
            <a:endParaRPr lang="en-US" sz="3200" dirty="0">
              <a:solidFill>
                <a:prstClr val="black"/>
              </a:solidFill>
              <a:latin typeface="Times New Roman" panose="02020603050405020304" pitchFamily="18" charset="0"/>
              <a:cs typeface="Times New Roman" panose="02020603050405020304" pitchFamily="18" charset="0"/>
              <a:sym typeface="+mn-ea"/>
            </a:endParaRPr>
          </a:p>
          <a:p>
            <a:pPr marL="457200" lvl="0" indent="-457200">
              <a:lnSpc>
                <a:spcPct val="150000"/>
              </a:lnSpc>
              <a:buClr>
                <a:srgbClr val="9B2D1F"/>
              </a:buClr>
              <a:buFont typeface="Wingdings" panose="05000000000000000000" charset="0"/>
              <a:buChar char="q"/>
            </a:pPr>
            <a:r>
              <a:rPr lang="en-US" sz="3200" dirty="0">
                <a:solidFill>
                  <a:prstClr val="black"/>
                </a:solidFill>
                <a:latin typeface="Times New Roman" panose="02020603050405020304" pitchFamily="18" charset="0"/>
                <a:cs typeface="Times New Roman" panose="02020603050405020304" pitchFamily="18" charset="0"/>
                <a:sym typeface="+mn-ea"/>
              </a:rPr>
              <a:t>Recommendations</a:t>
            </a:r>
            <a:endParaRPr lang="en-US" sz="3200" dirty="0">
              <a:solidFill>
                <a:prstClr val="black"/>
              </a:solidFill>
              <a:latin typeface="Times New Roman" panose="02020603050405020304" pitchFamily="18" charset="0"/>
              <a:cs typeface="Times New Roman" panose="02020603050405020304" pitchFamily="18" charset="0"/>
            </a:endParaRPr>
          </a:p>
          <a:p>
            <a:pPr marL="457200" lvl="0" indent="-457200">
              <a:lnSpc>
                <a:spcPct val="150000"/>
              </a:lnSpc>
              <a:buClr>
                <a:srgbClr val="9B2D1F"/>
              </a:buClr>
              <a:buFont typeface="Wingdings" panose="05000000000000000000" charset="0"/>
              <a:buChar char="q"/>
            </a:pPr>
            <a:r>
              <a:rPr lang="en-US" sz="3200" dirty="0">
                <a:solidFill>
                  <a:prstClr val="black"/>
                </a:solidFill>
                <a:latin typeface="Times New Roman" panose="02020603050405020304" pitchFamily="18" charset="0"/>
                <a:cs typeface="Times New Roman" panose="02020603050405020304" pitchFamily="18" charset="0"/>
                <a:sym typeface="+mn-ea"/>
              </a:rPr>
              <a:t>Conclusions</a:t>
            </a:r>
            <a:endParaRPr lang="en-US" sz="3200" dirty="0">
              <a:solidFill>
                <a:prstClr val="black"/>
              </a:solidFill>
              <a:latin typeface="Times New Roman" panose="02020603050405020304" pitchFamily="18" charset="0"/>
              <a:cs typeface="Times New Roman" panose="02020603050405020304" pitchFamily="18" charset="0"/>
            </a:endParaRPr>
          </a:p>
          <a:p>
            <a:pPr marL="0" lvl="0" indent="0">
              <a:buNone/>
            </a:pPr>
            <a:endParaRPr lang="en-US" sz="2800" dirty="0">
              <a:solidFill>
                <a:prstClr val="black"/>
              </a:solidFill>
              <a:latin typeface="Times New Roman" panose="02020603050405020304" pitchFamily="18" charset="0"/>
              <a:cs typeface="Times New Roman" panose="02020603050405020304" pitchFamily="18" charset="0"/>
            </a:endParaRPr>
          </a:p>
          <a:p>
            <a:pPr marL="0" indent="0" eaLnBrk="1" hangingPunct="1">
              <a:buNone/>
            </a:pPr>
            <a:endParaRPr lang="en-US" altLang="en-US" sz="2800" dirty="0">
              <a:solidFill>
                <a:prstClr val="black"/>
              </a:solidFill>
              <a:latin typeface="Times New Roman" panose="02020603050405020304" pitchFamily="18" charset="0"/>
              <a:cs typeface="Times New Roman" panose="02020603050405020304" pitchFamily="18" charset="0"/>
            </a:endParaRPr>
          </a:p>
        </p:txBody>
      </p:sp>
      <p:sp>
        <p:nvSpPr>
          <p:cNvPr id="6" name="Text Box 5"/>
          <p:cNvSpPr txBox="1"/>
          <p:nvPr/>
        </p:nvSpPr>
        <p:spPr>
          <a:xfrm>
            <a:off x="0" y="0"/>
            <a:ext cx="8338185" cy="668020"/>
          </a:xfrm>
          <a:prstGeom prst="rect">
            <a:avLst/>
          </a:prstGeom>
          <a:noFill/>
        </p:spPr>
        <p:txBody>
          <a:bodyPr wrap="square" rtlCol="0" anchor="t">
            <a:noAutofit/>
          </a:bodyPr>
          <a:p>
            <a:pPr eaLnBrk="1" hangingPunct="1"/>
            <a:r>
              <a:rPr lang="en-GB" altLang="en-US" b="1" dirty="0">
                <a:solidFill>
                  <a:srgbClr val="002060"/>
                </a:solidFill>
                <a:latin typeface="Gill Sans MT" panose="020B0502020104020203" pitchFamily="34" charset="0"/>
                <a:ea typeface="MS PGothic" panose="020B0600070205080204" pitchFamily="34" charset="-128"/>
                <a:cs typeface="Times New Roman" panose="02020603050405020304" pitchFamily="18" charset="0"/>
                <a:sym typeface="+mn-ea"/>
              </a:rPr>
              <a:t> </a:t>
            </a:r>
            <a:r>
              <a:rPr lang="en-GB" altLang="en-US" sz="32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sym typeface="+mn-ea"/>
              </a:rPr>
              <a:t>      </a:t>
            </a:r>
            <a:r>
              <a:rPr lang="en-US" sz="32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sym typeface="+mn-ea"/>
              </a:rPr>
              <a:t>Outline</a:t>
            </a:r>
            <a:endParaRPr lang="en-US" altLang="en-US" sz="32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33" y="1"/>
            <a:ext cx="10637440" cy="637308"/>
          </a:xfrm>
        </p:spPr>
        <p:txBody>
          <a:bodyPr/>
          <a:lstStyle/>
          <a:p>
            <a:pPr algn="ctr"/>
            <a:r>
              <a:rPr lang="en-GB" sz="3200" dirty="0" smtClean="0">
                <a:latin typeface="Times New Roman" panose="02020603050405020304" pitchFamily="18" charset="0"/>
                <a:cs typeface="Times New Roman" panose="02020603050405020304" pitchFamily="18" charset="0"/>
              </a:rPr>
              <a:t>INTRODUCTION</a:t>
            </a:r>
            <a:endParaRPr lang="en-GB"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
        <p:nvSpPr>
          <p:cNvPr id="5" name="Rectangle 1"/>
          <p:cNvSpPr>
            <a:spLocks noGrp="1" noChangeArrowheads="1"/>
          </p:cNvSpPr>
          <p:nvPr>
            <p:ph sz="quarter" idx="1"/>
          </p:nvPr>
        </p:nvSpPr>
        <p:spPr bwMode="auto">
          <a:xfrm>
            <a:off x="194732" y="400460"/>
            <a:ext cx="11346103" cy="6185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50000"/>
              </a:lnSpc>
              <a:spcBef>
                <a:spcPct val="0"/>
              </a:spcBef>
              <a:spcAft>
                <a:spcPct val="0"/>
              </a:spcAft>
              <a:buClr>
                <a:srgbClr val="9B2D1F"/>
              </a:buClr>
              <a:buSzTx/>
              <a:buFont typeface="Wingdings" panose="05000000000000000000" charset="0"/>
              <a:buChar char="q"/>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Ughelli</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a</a:t>
            </a:r>
            <a:r>
              <a:rPr kumimoji="0" lang="en-GB"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operational industrial and agricultural city serving as the administrative center of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Ughelli</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North Local Government Area in Delta State, Nigeria. With its vibrant road transportation network, which includes several motor parks, the city plays a critical role in facilitating trade and mobility. However, this infrastructure also presents significant environmental challenges, particularly air pollution.</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
                <a:srgbClr val="9B2D1F"/>
              </a:buClr>
              <a:buSzTx/>
              <a:buFont typeface="Wingdings" panose="05000000000000000000" pitchFamily="2" charset="2"/>
              <a:buChar char="q"/>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high volume of vehicular traffic contributes to the emission of harmful pollutants into the atmosphere. These pollutants primarily result from vehicular emissions, fossil fuel combustion, and various industrial processes. Notably, atmospheric particulate matter (APM), including particulate matter (PM10 and PM2.5), as well as gases such as sulfur dioxide (SO2), nitrogen oxides (NOx), and carbon monoxide (CO) pose serious health risks.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60" y="0"/>
            <a:ext cx="10637440" cy="554182"/>
          </a:xfrm>
        </p:spPr>
        <p:txBody>
          <a:bodyPr/>
          <a:lstStyle/>
          <a:p>
            <a:pPr algn="ctr"/>
            <a:r>
              <a:rPr lang="en-GB" sz="3200" b="0" dirty="0" smtClean="0"/>
              <a:t>CONT’S</a:t>
            </a:r>
            <a:endParaRPr lang="en-GB" sz="3200" b="0" dirty="0"/>
          </a:p>
        </p:txBody>
      </p:sp>
      <p:sp>
        <p:nvSpPr>
          <p:cNvPr id="3" name="Content Placeholder 2"/>
          <p:cNvSpPr>
            <a:spLocks noGrp="1"/>
          </p:cNvSpPr>
          <p:nvPr>
            <p:ph sz="quarter" idx="1"/>
          </p:nvPr>
        </p:nvSpPr>
        <p:spPr>
          <a:xfrm>
            <a:off x="0" y="554182"/>
            <a:ext cx="11582400" cy="5971309"/>
          </a:xfrm>
        </p:spPr>
        <p:txBody>
          <a:bodyPr/>
          <a:lstStyle/>
          <a:p>
            <a:pPr lvl="0" algn="just" eaLnBrk="0" hangingPunct="0">
              <a:lnSpc>
                <a:spcPct val="150000"/>
              </a:lnSpc>
              <a:spcBef>
                <a:spcPct val="0"/>
              </a:spcBef>
              <a:buClr>
                <a:srgbClr val="9B2D1F"/>
              </a:buClr>
              <a:buSzTx/>
              <a:buFont typeface="Wingdings" panose="05000000000000000000" pitchFamily="2" charset="2"/>
              <a:buChar char="q"/>
            </a:pPr>
            <a:r>
              <a:rPr lang="en-US" altLang="en-US" b="0" dirty="0">
                <a:latin typeface="Times New Roman" panose="02020603050405020304" pitchFamily="18" charset="0"/>
                <a:cs typeface="Times New Roman" panose="02020603050405020304" pitchFamily="18" charset="0"/>
              </a:rPr>
              <a:t>According to research by Pope et al. (2002) and the World Health Organization (2015), these pollutants are linked to </a:t>
            </a:r>
            <a:r>
              <a:rPr lang="en-US" altLang="en-US" b="0" dirty="0" smtClean="0">
                <a:latin typeface="Times New Roman" panose="02020603050405020304" pitchFamily="18" charset="0"/>
                <a:cs typeface="Times New Roman" panose="02020603050405020304" pitchFamily="18" charset="0"/>
              </a:rPr>
              <a:t>various </a:t>
            </a:r>
            <a:r>
              <a:rPr lang="en-US" altLang="en-US" b="0" dirty="0">
                <a:latin typeface="Times New Roman" panose="02020603050405020304" pitchFamily="18" charset="0"/>
                <a:cs typeface="Times New Roman" panose="02020603050405020304" pitchFamily="18" charset="0"/>
              </a:rPr>
              <a:t>adverse health outcomes, including respiratory and cardiovascular diseases, lung dysfunction, and elevated mortality rates. Vulnerable </a:t>
            </a:r>
            <a:r>
              <a:rPr lang="en-US" altLang="en-US" b="0" dirty="0" smtClean="0">
                <a:latin typeface="Times New Roman" panose="02020603050405020304" pitchFamily="18" charset="0"/>
                <a:cs typeface="Times New Roman" panose="02020603050405020304" pitchFamily="18" charset="0"/>
              </a:rPr>
              <a:t>populations such </a:t>
            </a:r>
            <a:r>
              <a:rPr lang="en-US" altLang="en-US" b="0" dirty="0">
                <a:latin typeface="Times New Roman" panose="02020603050405020304" pitchFamily="18" charset="0"/>
                <a:cs typeface="Times New Roman" panose="02020603050405020304" pitchFamily="18" charset="0"/>
              </a:rPr>
              <a:t>as the elderly, children, and individuals with </a:t>
            </a:r>
            <a:r>
              <a:rPr lang="en-US" altLang="en-US" b="0" dirty="0" smtClean="0">
                <a:latin typeface="Times New Roman" panose="02020603050405020304" pitchFamily="18" charset="0"/>
                <a:cs typeface="Times New Roman" panose="02020603050405020304" pitchFamily="18" charset="0"/>
              </a:rPr>
              <a:t>preexisting </a:t>
            </a:r>
            <a:r>
              <a:rPr lang="en-US" altLang="en-US" b="0" dirty="0">
                <a:latin typeface="Times New Roman" panose="02020603050405020304" pitchFamily="18" charset="0"/>
                <a:cs typeface="Times New Roman" panose="02020603050405020304" pitchFamily="18" charset="0"/>
              </a:rPr>
              <a:t>health </a:t>
            </a:r>
            <a:r>
              <a:rPr lang="en-US" altLang="en-US" b="0" dirty="0" smtClean="0">
                <a:latin typeface="Times New Roman" panose="02020603050405020304" pitchFamily="18" charset="0"/>
                <a:cs typeface="Times New Roman" panose="02020603050405020304" pitchFamily="18" charset="0"/>
              </a:rPr>
              <a:t>conditions are </a:t>
            </a:r>
            <a:r>
              <a:rPr lang="en-US" altLang="en-US" b="0" dirty="0">
                <a:latin typeface="Times New Roman" panose="02020603050405020304" pitchFamily="18" charset="0"/>
                <a:cs typeface="Times New Roman" panose="02020603050405020304" pitchFamily="18" charset="0"/>
              </a:rPr>
              <a:t>disproportionately affected by the consequences of air pollution (</a:t>
            </a:r>
            <a:r>
              <a:rPr lang="en-US" altLang="en-US" b="0" dirty="0" err="1">
                <a:latin typeface="Times New Roman" panose="02020603050405020304" pitchFamily="18" charset="0"/>
                <a:cs typeface="Times New Roman" panose="02020603050405020304" pitchFamily="18" charset="0"/>
              </a:rPr>
              <a:t>Cadelis</a:t>
            </a:r>
            <a:r>
              <a:rPr lang="en-US" altLang="en-US" b="0" dirty="0">
                <a:latin typeface="Times New Roman" panose="02020603050405020304" pitchFamily="18" charset="0"/>
                <a:cs typeface="Times New Roman" panose="02020603050405020304" pitchFamily="18" charset="0"/>
              </a:rPr>
              <a:t> et al., 2014; WHO, 2015</a:t>
            </a:r>
            <a:r>
              <a:rPr lang="en-US" altLang="en-US" b="0" dirty="0" smtClean="0">
                <a:latin typeface="Times New Roman" panose="02020603050405020304" pitchFamily="18" charset="0"/>
                <a:cs typeface="Times New Roman" panose="02020603050405020304" pitchFamily="18" charset="0"/>
              </a:rPr>
              <a:t>)</a:t>
            </a:r>
            <a:endParaRPr lang="en-US" altLang="en-US" b="0" dirty="0">
              <a:latin typeface="Times New Roman" panose="02020603050405020304" pitchFamily="18" charset="0"/>
              <a:cs typeface="Times New Roman" panose="02020603050405020304" pitchFamily="18" charset="0"/>
            </a:endParaRPr>
          </a:p>
          <a:p>
            <a:pPr algn="just">
              <a:lnSpc>
                <a:spcPct val="150000"/>
              </a:lnSpc>
              <a:buClr>
                <a:srgbClr val="9B2D1F"/>
              </a:buClr>
              <a:buFont typeface="Wingdings" panose="05000000000000000000" pitchFamily="2" charset="2"/>
              <a:buChar char="q"/>
            </a:pPr>
            <a:r>
              <a:rPr lang="en-US" altLang="en-US" b="0" dirty="0" smtClean="0">
                <a:latin typeface="Times New Roman" panose="02020603050405020304" pitchFamily="18" charset="0"/>
                <a:cs typeface="Times New Roman" panose="02020603050405020304" pitchFamily="18" charset="0"/>
              </a:rPr>
              <a:t>Globally</a:t>
            </a:r>
            <a:r>
              <a:rPr lang="en-US" altLang="en-US" b="0" dirty="0">
                <a:latin typeface="Times New Roman" panose="02020603050405020304" pitchFamily="18" charset="0"/>
                <a:cs typeface="Times New Roman" panose="02020603050405020304" pitchFamily="18" charset="0"/>
              </a:rPr>
              <a:t>, air pollution is a leading cause of mortality, responsible for millions of premature deaths each year. Its impact extends beyond health, leading to significant economic burdens associated with healthcare costs and lost productivity (Yang et al., 2013; OECD, 2015, 2016). </a:t>
            </a:r>
            <a:endParaRPr lang="en-GB" dirty="0"/>
          </a:p>
        </p:txBody>
      </p:sp>
      <p:sp>
        <p:nvSpPr>
          <p:cNvPr id="4" name="Slide Number Placeholder 3"/>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194733" y="-124691"/>
            <a:ext cx="10637440" cy="678873"/>
          </a:xfrm>
        </p:spPr>
        <p:txBody>
          <a:bodyPr/>
          <a:lstStyle/>
          <a:p>
            <a:pPr algn="ctr"/>
            <a:br>
              <a:rPr lang="en-US" dirty="0" smtClean="0">
                <a:latin typeface="Times New Roman" panose="02020603050405020304" pitchFamily="18" charset="0"/>
                <a:ea typeface="Calibri" panose="020F0502020204030204" pitchFamily="34" charset="0"/>
                <a:cs typeface="Times New Roman" panose="02020603050405020304" pitchFamily="18" charset="0"/>
              </a:rPr>
            </a:br>
            <a:br>
              <a:rPr lang="en-US" dirty="0">
                <a:latin typeface="Times New Roman" panose="02020603050405020304" pitchFamily="18" charset="0"/>
                <a:ea typeface="Calibri" panose="020F0502020204030204" pitchFamily="34" charset="0"/>
                <a:cs typeface="Times New Roman" panose="02020603050405020304" pitchFamily="18" charset="0"/>
              </a:rPr>
            </a:br>
            <a:br>
              <a:rPr lang="en-US" dirty="0" smtClean="0">
                <a:latin typeface="Times New Roman" panose="02020603050405020304" pitchFamily="18" charset="0"/>
                <a:ea typeface="Calibri" panose="020F0502020204030204" pitchFamily="34" charset="0"/>
                <a:cs typeface="Times New Roman" panose="02020603050405020304" pitchFamily="18" charset="0"/>
              </a:rPr>
            </a:br>
            <a:br>
              <a:rPr lang="en-US" dirty="0">
                <a:latin typeface="Times New Roman" panose="02020603050405020304" pitchFamily="18" charset="0"/>
                <a:ea typeface="Calibri" panose="020F0502020204030204" pitchFamily="34" charset="0"/>
                <a:cs typeface="Times New Roman" panose="02020603050405020304" pitchFamily="18" charset="0"/>
              </a:rPr>
            </a:br>
            <a:br>
              <a:rPr lang="en-US" dirty="0" smtClean="0">
                <a:latin typeface="Times New Roman" panose="02020603050405020304" pitchFamily="18" charset="0"/>
                <a:ea typeface="Calibri" panose="020F0502020204030204" pitchFamily="34" charset="0"/>
                <a:cs typeface="Times New Roman" panose="02020603050405020304" pitchFamily="18" charset="0"/>
              </a:rPr>
            </a:br>
            <a:br>
              <a:rPr lang="en-US" dirty="0">
                <a:latin typeface="Calibri" panose="020F0502020204030204" pitchFamily="34" charset="0"/>
                <a:ea typeface="Calibri" panose="020F0502020204030204" pitchFamily="34" charset="0"/>
                <a:cs typeface="Times New Roman" panose="02020603050405020304" pitchFamily="18" charset="0"/>
              </a:rPr>
            </a:br>
            <a:r>
              <a:rPr lang="en-GB" sz="3200" dirty="0">
                <a:latin typeface="Times New Roman" panose="02020603050405020304" pitchFamily="18" charset="0"/>
                <a:cs typeface="Times New Roman" panose="02020603050405020304" pitchFamily="18" charset="0"/>
              </a:rPr>
              <a:t>Statement of the problem</a:t>
            </a:r>
            <a:endParaRPr lang="en-GB"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
        <p:nvSpPr>
          <p:cNvPr id="5" name="Rectangle 1"/>
          <p:cNvSpPr>
            <a:spLocks noGrp="1" noChangeArrowheads="1"/>
          </p:cNvSpPr>
          <p:nvPr>
            <p:ph sz="quarter" idx="1"/>
          </p:nvPr>
        </p:nvSpPr>
        <p:spPr bwMode="auto">
          <a:xfrm>
            <a:off x="-110836" y="470606"/>
            <a:ext cx="11693923" cy="6462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lang="en-US" altLang="en-US" b="0" dirty="0">
                <a:latin typeface="Times New Roman" panose="02020603050405020304" pitchFamily="18" charset="0"/>
                <a:cs typeface="Times New Roman" panose="02020603050405020304" pitchFamily="18" charset="0"/>
              </a:rPr>
              <a:t>A</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tmospheric particulate matter has been linked to numerous health issues, including respiratory diseases (e.g., asthma, chronic bronchitis), cardiovascular diseases, lung dysfunction, and even increased infant mortality rates. These conditions place a significant burden on healthcare systems and reduce the overall quality of life for affected populations.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developing countries like Nigeria, the adverse health effects of APM may be grossly underestimated due to a lack of comprehensive data and research. Rapid urbanization, increasing vehicle ownership, and poor regulatory frameworks exacerbate the situation, leading to higher exposure levels for the population.</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combustion of fossil fuels in vehicles leads to the release of atmospheric particulate matter (APM) such as PM2.5 and PM10, along with other harmful pollutants like hydrogen sulfide (H₂S), nitrogen dioxide (NO₂), and carbon monoxide (CO). This pollution seriously threatens air quality and public health in urban areas.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algn="just" eaLnBrk="0" hangingPunct="0">
              <a:spcBef>
                <a:spcPct val="0"/>
              </a:spcBef>
              <a:buClr>
                <a:srgbClr val="9B2D1F"/>
              </a:buClr>
              <a:buSzTx/>
              <a:buFont typeface="Wingdings" panose="05000000000000000000" charset="0"/>
              <a:buChar char="q"/>
            </a:pPr>
            <a:r>
              <a:rPr lang="en-US" altLang="en-US" b="0" dirty="0">
                <a:latin typeface="Times New Roman" panose="02020603050405020304" pitchFamily="18" charset="0"/>
                <a:cs typeface="Times New Roman" panose="02020603050405020304" pitchFamily="18" charset="0"/>
              </a:rPr>
              <a:t>There is a notable gap in research focusing on the concentrations and effects of APM and associated pollutants in specific locales like the motor parks of </a:t>
            </a:r>
            <a:r>
              <a:rPr lang="en-US" altLang="en-US" b="0" dirty="0" err="1">
                <a:latin typeface="Times New Roman" panose="02020603050405020304" pitchFamily="18" charset="0"/>
                <a:cs typeface="Times New Roman" panose="02020603050405020304" pitchFamily="18" charset="0"/>
              </a:rPr>
              <a:t>Ughelli</a:t>
            </a:r>
            <a:r>
              <a:rPr lang="en-US" altLang="en-US" b="0" dirty="0">
                <a:latin typeface="Times New Roman" panose="02020603050405020304" pitchFamily="18" charset="0"/>
                <a:cs typeface="Times New Roman" panose="02020603050405020304" pitchFamily="18" charset="0"/>
              </a:rPr>
              <a:t>. Without detailed studies, policymakers remain inadequately informed about the full extent of health hazards faced by individuals utilizing these transport hubs.</a:t>
            </a:r>
            <a:endParaRPr lang="en-US" altLang="en-US" b="0"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
                <a:srgbClr val="9B2D1F"/>
              </a:buClr>
              <a:buSzTx/>
              <a:buFont typeface="Wingdings" panose="05000000000000000000" charset="0"/>
              <a:buChar char="q"/>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33" y="0"/>
            <a:ext cx="10637440" cy="526474"/>
          </a:xfrm>
        </p:spPr>
        <p:txBody>
          <a:bodyPr/>
          <a:lstStyle/>
          <a:p>
            <a:r>
              <a:rPr lang="en-GB" sz="3200" b="0" dirty="0" smtClean="0">
                <a:latin typeface="Times New Roman" panose="02020603050405020304" pitchFamily="18" charset="0"/>
                <a:cs typeface="Times New Roman" panose="02020603050405020304" pitchFamily="18" charset="0"/>
              </a:rPr>
              <a:t>CON’T</a:t>
            </a:r>
            <a:endParaRPr lang="en-GB" sz="3200" b="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96982" y="762003"/>
            <a:ext cx="11720176" cy="4668981"/>
          </a:xfrm>
        </p:spPr>
        <p:txBody>
          <a:bodyPr/>
          <a:lstStyle/>
          <a:p>
            <a:pPr lvl="0" algn="just" eaLnBrk="0" hangingPunct="0">
              <a:lnSpc>
                <a:spcPct val="150000"/>
              </a:lnSpc>
              <a:spcBef>
                <a:spcPct val="0"/>
              </a:spcBef>
              <a:buClr>
                <a:srgbClr val="9B2D1F"/>
              </a:buClr>
              <a:buSzTx/>
              <a:buFont typeface="Wingdings" panose="05000000000000000000" pitchFamily="2" charset="2"/>
              <a:buChar char="q"/>
            </a:pPr>
            <a:r>
              <a:rPr lang="en-US" altLang="en-US" b="0" dirty="0" smtClean="0">
                <a:latin typeface="Times New Roman" panose="02020603050405020304" pitchFamily="18" charset="0"/>
                <a:cs typeface="Times New Roman" panose="02020603050405020304" pitchFamily="18" charset="0"/>
              </a:rPr>
              <a:t>To </a:t>
            </a:r>
            <a:r>
              <a:rPr lang="en-US" altLang="en-US" b="0" dirty="0">
                <a:latin typeface="Times New Roman" panose="02020603050405020304" pitchFamily="18" charset="0"/>
                <a:cs typeface="Times New Roman" panose="02020603050405020304" pitchFamily="18" charset="0"/>
              </a:rPr>
              <a:t>effectively mitigate the health risks associated with air pollution in motor parks, targeted research is essential</a:t>
            </a:r>
            <a:r>
              <a:rPr lang="en-GB" altLang="en-US" b="0" dirty="0">
                <a:latin typeface="Times New Roman" panose="02020603050405020304" pitchFamily="18" charset="0"/>
                <a:cs typeface="Times New Roman" panose="02020603050405020304" pitchFamily="18" charset="0"/>
              </a:rPr>
              <a:t> and as such</a:t>
            </a:r>
            <a:r>
              <a:rPr lang="en-US" altLang="en-US" b="0" dirty="0">
                <a:latin typeface="Times New Roman" panose="02020603050405020304" pitchFamily="18" charset="0"/>
                <a:cs typeface="Times New Roman" panose="02020603050405020304" pitchFamily="18" charset="0"/>
              </a:rPr>
              <a:t> Gathering  data is crucial for developing effective policies and interventions to improve air quality and public health in the region.</a:t>
            </a:r>
            <a:endParaRPr lang="en-US" altLang="en-US" b="0" dirty="0">
              <a:latin typeface="Times New Roman" panose="02020603050405020304" pitchFamily="18" charset="0"/>
              <a:cs typeface="Times New Roman" panose="02020603050405020304" pitchFamily="18" charset="0"/>
            </a:endParaRPr>
          </a:p>
          <a:p>
            <a:pPr lvl="0" algn="just" eaLnBrk="0" hangingPunct="0">
              <a:lnSpc>
                <a:spcPct val="150000"/>
              </a:lnSpc>
              <a:spcBef>
                <a:spcPct val="0"/>
              </a:spcBef>
              <a:buClr>
                <a:srgbClr val="9B2D1F"/>
              </a:buClr>
              <a:buSzTx/>
              <a:buFont typeface="Wingdings" panose="05000000000000000000" pitchFamily="2" charset="2"/>
              <a:buChar char="q"/>
            </a:pPr>
            <a:r>
              <a:rPr lang="en-US" altLang="en-US" b="0" dirty="0" smtClean="0">
                <a:latin typeface="Times New Roman" panose="02020603050405020304" pitchFamily="18" charset="0"/>
                <a:cs typeface="Times New Roman" panose="02020603050405020304" pitchFamily="18" charset="0"/>
              </a:rPr>
              <a:t>The </a:t>
            </a:r>
            <a:r>
              <a:rPr lang="en-US" altLang="en-US" b="0" dirty="0">
                <a:latin typeface="Times New Roman" panose="02020603050405020304" pitchFamily="18" charset="0"/>
                <a:cs typeface="Times New Roman" panose="02020603050405020304" pitchFamily="18" charset="0"/>
              </a:rPr>
              <a:t>findings from this research will provide vital information for health authorities and stakeholders, enabling them to implement evidence-based interventions to reduce APM exposure. It will also raise awareness regarding air quality issues in motor parks, driving advocacy for stricter vehicle </a:t>
            </a:r>
            <a:r>
              <a:rPr lang="en-US" altLang="en-US" b="0" dirty="0" smtClean="0">
                <a:latin typeface="Times New Roman" panose="02020603050405020304" pitchFamily="18" charset="0"/>
                <a:cs typeface="Times New Roman" panose="02020603050405020304" pitchFamily="18" charset="0"/>
              </a:rPr>
              <a:t>emission regulations, and </a:t>
            </a:r>
            <a:r>
              <a:rPr lang="en-US" altLang="en-US" b="0" dirty="0">
                <a:latin typeface="Times New Roman" panose="02020603050405020304" pitchFamily="18" charset="0"/>
                <a:cs typeface="Times New Roman" panose="02020603050405020304" pitchFamily="18" charset="0"/>
              </a:rPr>
              <a:t>public health initiatives. </a:t>
            </a:r>
            <a:endParaRPr lang="en-GB"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42440" y="619933"/>
            <a:ext cx="8369085" cy="557213"/>
          </a:xfrm>
        </p:spPr>
        <p:txBody>
          <a:bodyPr>
            <a:normAutofit fontScale="90000"/>
          </a:bodyPr>
          <a:lstStyle/>
          <a:p>
            <a:pPr algn="ctr"/>
            <a:r>
              <a:rPr lang="en-US" dirty="0">
                <a:latin typeface="Times New Roman" panose="02020603050405020304" pitchFamily="18" charset="0"/>
                <a:ea typeface="Calibri" panose="020F0502020204030204" pitchFamily="34" charset="0"/>
                <a:cs typeface="Times New Roman" panose="02020603050405020304" pitchFamily="18" charset="0"/>
              </a:rPr>
              <a:t>Aim and Objectives of the Study</a:t>
            </a:r>
            <a:br>
              <a:rPr lang="en-US"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p:cNvSpPr>
            <a:spLocks noGrp="1"/>
          </p:cNvSpPr>
          <p:nvPr>
            <p:ph sz="quarter" idx="1"/>
          </p:nvPr>
        </p:nvSpPr>
        <p:spPr>
          <a:xfrm>
            <a:off x="-1" y="522951"/>
            <a:ext cx="11817927" cy="5656881"/>
          </a:xfrm>
        </p:spPr>
        <p:txBody>
          <a:bodyPr/>
          <a:lstStyle/>
          <a:p>
            <a:pPr>
              <a:lnSpc>
                <a:spcPct val="150000"/>
              </a:lnSpc>
              <a:buClr>
                <a:srgbClr val="9B2D1F"/>
              </a:buClr>
              <a:buFont typeface="Wingdings" panose="05000000000000000000" charset="0"/>
              <a:buChar char="q"/>
            </a:pPr>
            <a:r>
              <a:rPr lang="en-GB" b="0" dirty="0" smtClean="0">
                <a:latin typeface="Times New Roman" panose="02020603050405020304" pitchFamily="18" charset="0"/>
                <a:cs typeface="Times New Roman" panose="02020603050405020304" pitchFamily="18" charset="0"/>
              </a:rPr>
              <a:t>The study aims </a:t>
            </a:r>
            <a:r>
              <a:rPr lang="en-GB" b="0" dirty="0">
                <a:latin typeface="Times New Roman" panose="02020603050405020304" pitchFamily="18" charset="0"/>
                <a:cs typeface="Times New Roman" panose="02020603050405020304" pitchFamily="18" charset="0"/>
              </a:rPr>
              <a:t>to assess the mean concentration of atmospheric particulate matter (APM) (PM</a:t>
            </a:r>
            <a:r>
              <a:rPr lang="en-GB" b="0" baseline="-25000" dirty="0">
                <a:latin typeface="Times New Roman" panose="02020603050405020304" pitchFamily="18" charset="0"/>
                <a:cs typeface="Times New Roman" panose="02020603050405020304" pitchFamily="18" charset="0"/>
              </a:rPr>
              <a:t>2.5</a:t>
            </a:r>
            <a:r>
              <a:rPr lang="en-GB" b="0" dirty="0">
                <a:latin typeface="Times New Roman" panose="02020603050405020304" pitchFamily="18" charset="0"/>
                <a:cs typeface="Times New Roman" panose="02020603050405020304" pitchFamily="18" charset="0"/>
              </a:rPr>
              <a:t> and PM</a:t>
            </a:r>
            <a:r>
              <a:rPr lang="en-GB" b="0" baseline="-25000" dirty="0">
                <a:latin typeface="Times New Roman" panose="02020603050405020304" pitchFamily="18" charset="0"/>
                <a:cs typeface="Times New Roman" panose="02020603050405020304" pitchFamily="18" charset="0"/>
              </a:rPr>
              <a:t>10</a:t>
            </a:r>
            <a:r>
              <a:rPr lang="en-GB" b="0" dirty="0">
                <a:latin typeface="Times New Roman" panose="02020603050405020304" pitchFamily="18" charset="0"/>
                <a:cs typeface="Times New Roman" panose="02020603050405020304" pitchFamily="18" charset="0"/>
              </a:rPr>
              <a:t>) and H</a:t>
            </a:r>
            <a:r>
              <a:rPr lang="en-GB" b="0" baseline="-25000" dirty="0">
                <a:latin typeface="Times New Roman" panose="02020603050405020304" pitchFamily="18" charset="0"/>
                <a:cs typeface="Times New Roman" panose="02020603050405020304" pitchFamily="18" charset="0"/>
              </a:rPr>
              <a:t>2</a:t>
            </a:r>
            <a:r>
              <a:rPr lang="en-GB" b="0" dirty="0">
                <a:latin typeface="Times New Roman" panose="02020603050405020304" pitchFamily="18" charset="0"/>
                <a:cs typeface="Times New Roman" panose="02020603050405020304" pitchFamily="18" charset="0"/>
              </a:rPr>
              <a:t>S, </a:t>
            </a:r>
            <a:r>
              <a:rPr lang="en-GB" b="0" dirty="0" smtClean="0">
                <a:latin typeface="Times New Roman" panose="02020603050405020304" pitchFamily="18" charset="0"/>
                <a:cs typeface="Times New Roman" panose="02020603050405020304" pitchFamily="18" charset="0"/>
              </a:rPr>
              <a:t>NO</a:t>
            </a:r>
            <a:r>
              <a:rPr lang="en-GB" b="0" baseline="-25000" dirty="0" smtClean="0">
                <a:latin typeface="Times New Roman" panose="02020603050405020304" pitchFamily="18" charset="0"/>
                <a:cs typeface="Times New Roman" panose="02020603050405020304" pitchFamily="18" charset="0"/>
              </a:rPr>
              <a:t>2,</a:t>
            </a:r>
            <a:r>
              <a:rPr lang="en-GB" b="0" dirty="0" smtClean="0">
                <a:latin typeface="Times New Roman" panose="02020603050405020304" pitchFamily="18" charset="0"/>
                <a:cs typeface="Times New Roman" panose="02020603050405020304" pitchFamily="18" charset="0"/>
              </a:rPr>
              <a:t> </a:t>
            </a:r>
            <a:r>
              <a:rPr lang="en-GB" b="0" dirty="0">
                <a:latin typeface="Times New Roman" panose="02020603050405020304" pitchFamily="18" charset="0"/>
                <a:cs typeface="Times New Roman" panose="02020603050405020304" pitchFamily="18" charset="0"/>
              </a:rPr>
              <a:t>and CO in five selected motor parks in </a:t>
            </a:r>
            <a:r>
              <a:rPr lang="en-GB" b="0" dirty="0" err="1">
                <a:latin typeface="Times New Roman" panose="02020603050405020304" pitchFamily="18" charset="0"/>
                <a:cs typeface="Times New Roman" panose="02020603050405020304" pitchFamily="18" charset="0"/>
              </a:rPr>
              <a:t>Ughelli</a:t>
            </a:r>
            <a:r>
              <a:rPr lang="en-GB" b="0" dirty="0">
                <a:latin typeface="Times New Roman" panose="02020603050405020304" pitchFamily="18" charset="0"/>
                <a:cs typeface="Times New Roman" panose="02020603050405020304" pitchFamily="18" charset="0"/>
              </a:rPr>
              <a:t> town in Delta State, Nigeria. Specifically, the study intends:</a:t>
            </a:r>
            <a:endParaRPr lang="en-GB" b="0" dirty="0">
              <a:latin typeface="Times New Roman" panose="02020603050405020304" pitchFamily="18" charset="0"/>
              <a:cs typeface="Times New Roman" panose="02020603050405020304" pitchFamily="18" charset="0"/>
            </a:endParaRPr>
          </a:p>
          <a:p>
            <a:pPr>
              <a:lnSpc>
                <a:spcPct val="150000"/>
              </a:lnSpc>
              <a:buClr>
                <a:srgbClr val="9B2D1F"/>
              </a:buClr>
              <a:buFont typeface="Wingdings" panose="05000000000000000000" charset="0"/>
              <a:buChar char="q"/>
            </a:pPr>
            <a:r>
              <a:rPr lang="en-GB" b="0" dirty="0">
                <a:latin typeface="Times New Roman" panose="02020603050405020304" pitchFamily="18" charset="0"/>
                <a:cs typeface="Times New Roman" panose="02020603050405020304" pitchFamily="18" charset="0"/>
              </a:rPr>
              <a:t>1. To determine the average values for the meteorological </a:t>
            </a:r>
            <a:r>
              <a:rPr lang="en-GB" b="0" dirty="0" smtClean="0">
                <a:latin typeface="Times New Roman" panose="02020603050405020304" pitchFamily="18" charset="0"/>
                <a:cs typeface="Times New Roman" panose="02020603050405020304" pitchFamily="18" charset="0"/>
              </a:rPr>
              <a:t>parameters (wind </a:t>
            </a:r>
            <a:r>
              <a:rPr lang="en-GB" b="0" dirty="0">
                <a:latin typeface="Times New Roman" panose="02020603050405020304" pitchFamily="18" charset="0"/>
                <a:cs typeface="Times New Roman" panose="02020603050405020304" pitchFamily="18" charset="0"/>
              </a:rPr>
              <a:t>speed, relative </a:t>
            </a:r>
            <a:r>
              <a:rPr lang="en-GB" b="0" dirty="0" smtClean="0">
                <a:latin typeface="Times New Roman" panose="02020603050405020304" pitchFamily="18" charset="0"/>
                <a:cs typeface="Times New Roman" panose="02020603050405020304" pitchFamily="18" charset="0"/>
              </a:rPr>
              <a:t>humidity, </a:t>
            </a:r>
            <a:r>
              <a:rPr lang="en-GB" b="0" dirty="0">
                <a:latin typeface="Times New Roman" panose="02020603050405020304" pitchFamily="18" charset="0"/>
                <a:cs typeface="Times New Roman" panose="02020603050405020304" pitchFamily="18" charset="0"/>
              </a:rPr>
              <a:t>and air temperature) in the five selected motor parks.</a:t>
            </a:r>
            <a:endParaRPr lang="en-GB" b="0" dirty="0">
              <a:latin typeface="Times New Roman" panose="02020603050405020304" pitchFamily="18" charset="0"/>
              <a:cs typeface="Times New Roman" panose="02020603050405020304" pitchFamily="18" charset="0"/>
            </a:endParaRPr>
          </a:p>
          <a:p>
            <a:pPr>
              <a:lnSpc>
                <a:spcPct val="150000"/>
              </a:lnSpc>
              <a:buClr>
                <a:srgbClr val="9B2D1F"/>
              </a:buClr>
              <a:buFont typeface="Wingdings" panose="05000000000000000000" charset="0"/>
              <a:buChar char="q"/>
            </a:pPr>
            <a:r>
              <a:rPr lang="en-GB" b="0" dirty="0">
                <a:latin typeface="Times New Roman" panose="02020603050405020304" pitchFamily="18" charset="0"/>
                <a:cs typeface="Times New Roman" panose="02020603050405020304" pitchFamily="18" charset="0"/>
              </a:rPr>
              <a:t>2. To compare the average concentration of PM</a:t>
            </a:r>
            <a:r>
              <a:rPr lang="en-GB" b="0" baseline="-25000" dirty="0">
                <a:latin typeface="Times New Roman" panose="02020603050405020304" pitchFamily="18" charset="0"/>
                <a:cs typeface="Times New Roman" panose="02020603050405020304" pitchFamily="18" charset="0"/>
              </a:rPr>
              <a:t>2.5</a:t>
            </a:r>
            <a:r>
              <a:rPr lang="en-GB" b="0" dirty="0">
                <a:latin typeface="Times New Roman" panose="02020603050405020304" pitchFamily="18" charset="0"/>
                <a:cs typeface="Times New Roman" panose="02020603050405020304" pitchFamily="18" charset="0"/>
              </a:rPr>
              <a:t> and PM</a:t>
            </a:r>
            <a:r>
              <a:rPr lang="en-GB" b="0" baseline="-25000" dirty="0">
                <a:latin typeface="Times New Roman" panose="02020603050405020304" pitchFamily="18" charset="0"/>
                <a:cs typeface="Times New Roman" panose="02020603050405020304" pitchFamily="18" charset="0"/>
              </a:rPr>
              <a:t>10</a:t>
            </a:r>
            <a:r>
              <a:rPr lang="en-GB" b="0" dirty="0">
                <a:latin typeface="Times New Roman" panose="02020603050405020304" pitchFamily="18" charset="0"/>
                <a:cs typeface="Times New Roman" panose="02020603050405020304" pitchFamily="18" charset="0"/>
              </a:rPr>
              <a:t> in the five selected motor parks.</a:t>
            </a:r>
            <a:endParaRPr lang="en-GB" b="0" dirty="0">
              <a:latin typeface="Times New Roman" panose="02020603050405020304" pitchFamily="18" charset="0"/>
              <a:cs typeface="Times New Roman" panose="02020603050405020304" pitchFamily="18" charset="0"/>
            </a:endParaRPr>
          </a:p>
          <a:p>
            <a:pPr>
              <a:lnSpc>
                <a:spcPct val="150000"/>
              </a:lnSpc>
              <a:buClr>
                <a:srgbClr val="9B2D1F"/>
              </a:buClr>
              <a:buFont typeface="Wingdings" panose="05000000000000000000" charset="0"/>
              <a:buChar char="q"/>
            </a:pPr>
            <a:r>
              <a:rPr lang="en-GB" b="0" dirty="0">
                <a:latin typeface="Times New Roman" panose="02020603050405020304" pitchFamily="18" charset="0"/>
                <a:cs typeface="Times New Roman" panose="02020603050405020304" pitchFamily="18" charset="0"/>
              </a:rPr>
              <a:t>3. To determine the mean concentrations of H</a:t>
            </a:r>
            <a:r>
              <a:rPr lang="en-GB" b="0" baseline="-25000" dirty="0">
                <a:latin typeface="Times New Roman" panose="02020603050405020304" pitchFamily="18" charset="0"/>
                <a:cs typeface="Times New Roman" panose="02020603050405020304" pitchFamily="18" charset="0"/>
              </a:rPr>
              <a:t>2</a:t>
            </a:r>
            <a:r>
              <a:rPr lang="en-GB" b="0" dirty="0">
                <a:latin typeface="Times New Roman" panose="02020603050405020304" pitchFamily="18" charset="0"/>
                <a:cs typeface="Times New Roman" panose="02020603050405020304" pitchFamily="18" charset="0"/>
              </a:rPr>
              <a:t>S, </a:t>
            </a:r>
            <a:r>
              <a:rPr lang="en-GB" b="0" dirty="0" smtClean="0">
                <a:latin typeface="Times New Roman" panose="02020603050405020304" pitchFamily="18" charset="0"/>
                <a:cs typeface="Times New Roman" panose="02020603050405020304" pitchFamily="18" charset="0"/>
              </a:rPr>
              <a:t>NO</a:t>
            </a:r>
            <a:r>
              <a:rPr lang="en-GB" b="0" baseline="-25000" dirty="0" smtClean="0">
                <a:latin typeface="Times New Roman" panose="02020603050405020304" pitchFamily="18" charset="0"/>
                <a:cs typeface="Times New Roman" panose="02020603050405020304" pitchFamily="18" charset="0"/>
              </a:rPr>
              <a:t>2,</a:t>
            </a:r>
            <a:r>
              <a:rPr lang="en-GB" b="0" dirty="0" smtClean="0">
                <a:latin typeface="Times New Roman" panose="02020603050405020304" pitchFamily="18" charset="0"/>
                <a:cs typeface="Times New Roman" panose="02020603050405020304" pitchFamily="18" charset="0"/>
              </a:rPr>
              <a:t> </a:t>
            </a:r>
            <a:r>
              <a:rPr lang="en-GB" b="0" dirty="0">
                <a:latin typeface="Times New Roman" panose="02020603050405020304" pitchFamily="18" charset="0"/>
                <a:cs typeface="Times New Roman" panose="02020603050405020304" pitchFamily="18" charset="0"/>
              </a:rPr>
              <a:t>and CO in the five selected motor parks. </a:t>
            </a:r>
            <a:endParaRPr lang="en-GB" b="0" dirty="0">
              <a:latin typeface="Times New Roman" panose="02020603050405020304" pitchFamily="18" charset="0"/>
              <a:cs typeface="Times New Roman" panose="02020603050405020304" pitchFamily="18" charset="0"/>
            </a:endParaRPr>
          </a:p>
          <a:p>
            <a:pPr>
              <a:lnSpc>
                <a:spcPct val="150000"/>
              </a:lnSpc>
              <a:buClr>
                <a:srgbClr val="9B2D1F"/>
              </a:buClr>
              <a:buFont typeface="Wingdings" panose="05000000000000000000" charset="0"/>
              <a:buChar char="q"/>
            </a:pPr>
            <a:r>
              <a:rPr lang="en-GB" b="0" dirty="0">
                <a:latin typeface="Times New Roman" panose="02020603050405020304" pitchFamily="18" charset="0"/>
                <a:cs typeface="Times New Roman" panose="02020603050405020304" pitchFamily="18" charset="0"/>
              </a:rPr>
              <a:t>4. To ascertain the air quality index (AQI) in each of the five selected motor parks in terms of PM</a:t>
            </a:r>
            <a:r>
              <a:rPr lang="en-GB" b="0" baseline="-25000" dirty="0">
                <a:latin typeface="Times New Roman" panose="02020603050405020304" pitchFamily="18" charset="0"/>
                <a:cs typeface="Times New Roman" panose="02020603050405020304" pitchFamily="18" charset="0"/>
              </a:rPr>
              <a:t>2.5</a:t>
            </a:r>
            <a:r>
              <a:rPr lang="en-GB" b="0" dirty="0">
                <a:latin typeface="Times New Roman" panose="02020603050405020304" pitchFamily="18" charset="0"/>
                <a:cs typeface="Times New Roman" panose="02020603050405020304" pitchFamily="18" charset="0"/>
              </a:rPr>
              <a:t>, </a:t>
            </a:r>
            <a:r>
              <a:rPr lang="en-GB" b="0" dirty="0" smtClean="0">
                <a:latin typeface="Times New Roman" panose="02020603050405020304" pitchFamily="18" charset="0"/>
                <a:cs typeface="Times New Roman" panose="02020603050405020304" pitchFamily="18" charset="0"/>
              </a:rPr>
              <a:t>PM</a:t>
            </a:r>
            <a:r>
              <a:rPr lang="en-GB" b="0" baseline="-25000" dirty="0" smtClean="0">
                <a:latin typeface="Times New Roman" panose="02020603050405020304" pitchFamily="18" charset="0"/>
                <a:cs typeface="Times New Roman" panose="02020603050405020304" pitchFamily="18" charset="0"/>
              </a:rPr>
              <a:t>10,</a:t>
            </a:r>
            <a:r>
              <a:rPr lang="en-GB" b="0" dirty="0" smtClean="0">
                <a:latin typeface="Times New Roman" panose="02020603050405020304" pitchFamily="18" charset="0"/>
                <a:cs typeface="Times New Roman" panose="02020603050405020304" pitchFamily="18" charset="0"/>
              </a:rPr>
              <a:t> </a:t>
            </a:r>
            <a:r>
              <a:rPr lang="en-GB" b="0" dirty="0">
                <a:latin typeface="Times New Roman" panose="02020603050405020304" pitchFamily="18" charset="0"/>
                <a:cs typeface="Times New Roman" panose="02020603050405020304" pitchFamily="18" charset="0"/>
              </a:rPr>
              <a:t>H</a:t>
            </a:r>
            <a:r>
              <a:rPr lang="en-GB" b="0" baseline="-25000" dirty="0">
                <a:latin typeface="Times New Roman" panose="02020603050405020304" pitchFamily="18" charset="0"/>
                <a:cs typeface="Times New Roman" panose="02020603050405020304" pitchFamily="18" charset="0"/>
              </a:rPr>
              <a:t>2</a:t>
            </a:r>
            <a:r>
              <a:rPr lang="en-GB" b="0" dirty="0">
                <a:latin typeface="Times New Roman" panose="02020603050405020304" pitchFamily="18" charset="0"/>
                <a:cs typeface="Times New Roman" panose="02020603050405020304" pitchFamily="18" charset="0"/>
              </a:rPr>
              <a:t>S, </a:t>
            </a:r>
            <a:r>
              <a:rPr lang="en-GB" b="0" dirty="0" smtClean="0">
                <a:latin typeface="Times New Roman" panose="02020603050405020304" pitchFamily="18" charset="0"/>
                <a:cs typeface="Times New Roman" panose="02020603050405020304" pitchFamily="18" charset="0"/>
              </a:rPr>
              <a:t>NO</a:t>
            </a:r>
            <a:r>
              <a:rPr lang="en-GB" b="0" baseline="-25000" dirty="0" smtClean="0">
                <a:latin typeface="Times New Roman" panose="02020603050405020304" pitchFamily="18" charset="0"/>
                <a:cs typeface="Times New Roman" panose="02020603050405020304" pitchFamily="18" charset="0"/>
              </a:rPr>
              <a:t>2,</a:t>
            </a:r>
            <a:r>
              <a:rPr lang="en-GB" b="0" dirty="0" smtClean="0">
                <a:latin typeface="Times New Roman" panose="02020603050405020304" pitchFamily="18" charset="0"/>
                <a:cs typeface="Times New Roman" panose="02020603050405020304" pitchFamily="18" charset="0"/>
              </a:rPr>
              <a:t> </a:t>
            </a:r>
            <a:r>
              <a:rPr lang="en-GB" b="0" dirty="0">
                <a:latin typeface="Times New Roman" panose="02020603050405020304" pitchFamily="18" charset="0"/>
                <a:cs typeface="Times New Roman" panose="02020603050405020304" pitchFamily="18" charset="0"/>
              </a:rPr>
              <a:t>and CO.</a:t>
            </a:r>
            <a:endParaRPr lang="en-GB" b="0" dirty="0">
              <a:latin typeface="Times New Roman" panose="02020603050405020304" pitchFamily="18" charset="0"/>
              <a:cs typeface="Times New Roman" panose="02020603050405020304" pitchFamily="18" charset="0"/>
            </a:endParaRPr>
          </a:p>
          <a:p>
            <a:pPr>
              <a:buClr>
                <a:srgbClr val="9B2D1F"/>
              </a:buClr>
              <a:buFont typeface="Wingdings" panose="05000000000000000000" charset="0"/>
              <a:buChar char="q"/>
            </a:pPr>
            <a:endParaRPr lang="en-GB" dirty="0">
              <a:latin typeface="Times New Roman" panose="02020603050405020304" pitchFamily="18" charset="0"/>
              <a:cs typeface="Times New Roman" panose="02020603050405020304" pitchFamily="18" charset="0"/>
            </a:endParaRPr>
          </a:p>
          <a:p>
            <a:pPr marL="0" indent="0">
              <a:buNone/>
            </a:pPr>
            <a:endParaRPr lang="en-GB" dirty="0"/>
          </a:p>
          <a:p>
            <a:endParaRPr lang="en-US" sz="2000" dirty="0"/>
          </a:p>
          <a:p>
            <a:endParaRPr 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120925" y="-170481"/>
            <a:ext cx="9062357" cy="6323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90000"/>
          </a:bodyPr>
          <a:lstStyle/>
          <a:p>
            <a:pPr marL="685800" marR="0" algn="ctr">
              <a:lnSpc>
                <a:spcPct val="150000"/>
              </a:lnSpc>
              <a:spcBef>
                <a:spcPts val="0"/>
              </a:spcBef>
              <a:spcAft>
                <a:spcPts val="800"/>
              </a:spcAft>
            </a:pPr>
            <a:r>
              <a:rPr lang="en-US" sz="4000" dirty="0">
                <a:latin typeface="Times New Roman" panose="02020603050405020304" pitchFamily="18" charset="0"/>
                <a:ea typeface="Calibri" panose="020F0502020204030204" pitchFamily="34" charset="0"/>
                <a:cs typeface="Times New Roman" panose="02020603050405020304" pitchFamily="18" charset="0"/>
              </a:rPr>
              <a:t>Materials and methods</a:t>
            </a:r>
            <a:endParaRPr lang="en-US"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4819" name="Rectangle 3"/>
          <p:cNvSpPr>
            <a:spLocks noGrp="1" noChangeArrowheads="1"/>
          </p:cNvSpPr>
          <p:nvPr>
            <p:ph sz="quarter" idx="1"/>
          </p:nvPr>
        </p:nvSpPr>
        <p:spPr bwMode="auto">
          <a:xfrm>
            <a:off x="0" y="637770"/>
            <a:ext cx="11707091" cy="574987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gn="just">
              <a:buNone/>
            </a:pPr>
            <a:r>
              <a:rPr lang="en-GB" dirty="0" smtClean="0">
                <a:latin typeface="Times New Roman" panose="02020603050405020304" pitchFamily="18" charset="0"/>
                <a:cs typeface="Times New Roman" panose="02020603050405020304" pitchFamily="18" charset="0"/>
              </a:rPr>
              <a:t>Research Design</a:t>
            </a:r>
            <a:endParaRPr 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b="0" dirty="0">
                <a:latin typeface="Times New Roman" panose="02020603050405020304" pitchFamily="18" charset="0"/>
                <a:cs typeface="Times New Roman" panose="02020603050405020304" pitchFamily="18" charset="0"/>
              </a:rPr>
              <a:t>Causal-Comparative Design: Investigated air quality dynamics across five motor parks in </a:t>
            </a:r>
            <a:r>
              <a:rPr lang="en-GB" b="0" dirty="0" err="1">
                <a:latin typeface="Times New Roman" panose="02020603050405020304" pitchFamily="18" charset="0"/>
                <a:cs typeface="Times New Roman" panose="02020603050405020304" pitchFamily="18" charset="0"/>
              </a:rPr>
              <a:t>Ughelli</a:t>
            </a:r>
            <a:r>
              <a:rPr lang="en-GB" b="0" dirty="0">
                <a:latin typeface="Times New Roman" panose="02020603050405020304" pitchFamily="18" charset="0"/>
                <a:cs typeface="Times New Roman" panose="02020603050405020304" pitchFamily="18" charset="0"/>
              </a:rPr>
              <a:t>, Delta State, Nigeria, comparing atmospheric particulate matters (APMs) (PM2.5, PM10) and other air pollutants with meteorological parameters (wind speed, humidity, temperature) (Davis &amp; Cornwell, 2008).</a:t>
            </a:r>
            <a:endParaRPr lang="en-GB" b="0" dirty="0">
              <a:latin typeface="Times New Roman" panose="02020603050405020304" pitchFamily="18" charset="0"/>
              <a:cs typeface="Times New Roman" panose="02020603050405020304" pitchFamily="18" charset="0"/>
            </a:endParaRPr>
          </a:p>
          <a:p>
            <a:pPr marL="0" indent="0" algn="just">
              <a:buNone/>
            </a:pPr>
            <a:r>
              <a:rPr lang="en-GB" dirty="0" smtClean="0">
                <a:latin typeface="Times New Roman" panose="02020603050405020304" pitchFamily="18" charset="0"/>
                <a:cs typeface="Times New Roman" panose="02020603050405020304" pitchFamily="18" charset="0"/>
              </a:rPr>
              <a:t>Study Area</a:t>
            </a:r>
            <a:endParaRPr 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b="0" dirty="0">
                <a:latin typeface="Times New Roman" panose="02020603050405020304" pitchFamily="18" charset="0"/>
                <a:cs typeface="Times New Roman" panose="02020603050405020304" pitchFamily="18" charset="0"/>
              </a:rPr>
              <a:t>Locations: </a:t>
            </a:r>
            <a:r>
              <a:rPr lang="en-GB" b="0" dirty="0" err="1">
                <a:latin typeface="Times New Roman" panose="02020603050405020304" pitchFamily="18" charset="0"/>
                <a:cs typeface="Times New Roman" panose="02020603050405020304" pitchFamily="18" charset="0"/>
              </a:rPr>
              <a:t>Agofure</a:t>
            </a:r>
            <a:r>
              <a:rPr lang="en-GB" b="0" dirty="0">
                <a:latin typeface="Times New Roman" panose="02020603050405020304" pitchFamily="18" charset="0"/>
                <a:cs typeface="Times New Roman" panose="02020603050405020304" pitchFamily="18" charset="0"/>
              </a:rPr>
              <a:t> Motor Park, </a:t>
            </a:r>
            <a:r>
              <a:rPr lang="en-GB" b="0" dirty="0" err="1">
                <a:latin typeface="Times New Roman" panose="02020603050405020304" pitchFamily="18" charset="0"/>
                <a:cs typeface="Times New Roman" panose="02020603050405020304" pitchFamily="18" charset="0"/>
              </a:rPr>
              <a:t>Otu</a:t>
            </a:r>
            <a:r>
              <a:rPr lang="en-GB" b="0" dirty="0">
                <a:latin typeface="Times New Roman" panose="02020603050405020304" pitchFamily="18" charset="0"/>
                <a:cs typeface="Times New Roman" panose="02020603050405020304" pitchFamily="18" charset="0"/>
              </a:rPr>
              <a:t> Motor Park, </a:t>
            </a:r>
            <a:r>
              <a:rPr lang="en-GB" b="0" dirty="0" err="1">
                <a:latin typeface="Times New Roman" panose="02020603050405020304" pitchFamily="18" charset="0"/>
                <a:cs typeface="Times New Roman" panose="02020603050405020304" pitchFamily="18" charset="0"/>
              </a:rPr>
              <a:t>Ekingbo</a:t>
            </a:r>
            <a:r>
              <a:rPr lang="en-GB" b="0" dirty="0">
                <a:latin typeface="Times New Roman" panose="02020603050405020304" pitchFamily="18" charset="0"/>
                <a:cs typeface="Times New Roman" panose="02020603050405020304" pitchFamily="18" charset="0"/>
              </a:rPr>
              <a:t> Motor Park, </a:t>
            </a:r>
            <a:r>
              <a:rPr lang="en-GB" b="0" dirty="0" err="1">
                <a:latin typeface="Times New Roman" panose="02020603050405020304" pitchFamily="18" charset="0"/>
                <a:cs typeface="Times New Roman" panose="02020603050405020304" pitchFamily="18" charset="0"/>
              </a:rPr>
              <a:t>Ughelli</a:t>
            </a:r>
            <a:r>
              <a:rPr lang="en-GB" b="0" dirty="0">
                <a:latin typeface="Times New Roman" panose="02020603050405020304" pitchFamily="18" charset="0"/>
                <a:cs typeface="Times New Roman" panose="02020603050405020304" pitchFamily="18" charset="0"/>
              </a:rPr>
              <a:t> Central Motor Park, and </a:t>
            </a:r>
            <a:r>
              <a:rPr lang="en-GB" b="0" dirty="0" err="1">
                <a:latin typeface="Times New Roman" panose="02020603050405020304" pitchFamily="18" charset="0"/>
                <a:cs typeface="Times New Roman" panose="02020603050405020304" pitchFamily="18" charset="0"/>
              </a:rPr>
              <a:t>Otovwodo</a:t>
            </a:r>
            <a:r>
              <a:rPr lang="en-GB" b="0" dirty="0">
                <a:latin typeface="Times New Roman" panose="02020603050405020304" pitchFamily="18" charset="0"/>
                <a:cs typeface="Times New Roman" panose="02020603050405020304" pitchFamily="18" charset="0"/>
              </a:rPr>
              <a:t> Central Motor Park, all within </a:t>
            </a:r>
            <a:r>
              <a:rPr lang="en-GB" b="0" dirty="0" err="1">
                <a:latin typeface="Times New Roman" panose="02020603050405020304" pitchFamily="18" charset="0"/>
                <a:cs typeface="Times New Roman" panose="02020603050405020304" pitchFamily="18" charset="0"/>
              </a:rPr>
              <a:t>Ughelli</a:t>
            </a:r>
            <a:r>
              <a:rPr lang="en-GB" b="0" dirty="0">
                <a:latin typeface="Times New Roman" panose="02020603050405020304" pitchFamily="18" charset="0"/>
                <a:cs typeface="Times New Roman" panose="02020603050405020304" pitchFamily="18" charset="0"/>
              </a:rPr>
              <a:t> City (Amin, 2018).</a:t>
            </a:r>
            <a:endParaRPr lang="en-GB" b="0" dirty="0">
              <a:latin typeface="Times New Roman" panose="02020603050405020304" pitchFamily="18" charset="0"/>
              <a:cs typeface="Times New Roman" panose="02020603050405020304" pitchFamily="18" charset="0"/>
            </a:endParaRPr>
          </a:p>
          <a:p>
            <a:pPr marL="0" indent="0" algn="just">
              <a:buNone/>
            </a:pPr>
            <a:r>
              <a:rPr lang="en-GB" dirty="0" smtClean="0">
                <a:latin typeface="Times New Roman" panose="02020603050405020304" pitchFamily="18" charset="0"/>
                <a:cs typeface="Times New Roman" panose="02020603050405020304" pitchFamily="18" charset="0"/>
              </a:rPr>
              <a:t>Sampling Equipment</a:t>
            </a:r>
            <a:endParaRPr lang="en-GB"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b="0" dirty="0">
                <a:latin typeface="Times New Roman" panose="02020603050405020304" pitchFamily="18" charset="0"/>
                <a:cs typeface="Times New Roman" panose="02020603050405020304" pitchFamily="18" charset="0"/>
              </a:rPr>
              <a:t>Air Quality Monitor: BLATN BR-Smart 126 for PM2.5 and PM10 concentrations.</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b="0" dirty="0">
                <a:latin typeface="Times New Roman" panose="02020603050405020304" pitchFamily="18" charset="0"/>
                <a:cs typeface="Times New Roman" panose="02020603050405020304" pitchFamily="18" charset="0"/>
              </a:rPr>
              <a:t>Anemometer: TL-300 for measuring meteorological </a:t>
            </a:r>
            <a:r>
              <a:rPr lang="en-GB" b="0" dirty="0" smtClean="0">
                <a:latin typeface="Times New Roman" panose="02020603050405020304" pitchFamily="18" charset="0"/>
                <a:cs typeface="Times New Roman" panose="02020603050405020304" pitchFamily="18" charset="0"/>
              </a:rPr>
              <a:t>parameters,</a:t>
            </a:r>
            <a:endParaRPr lang="en-GB" b="0" dirty="0" smtClean="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b="0" dirty="0" smtClean="0">
                <a:latin typeface="Times New Roman" panose="02020603050405020304" pitchFamily="18" charset="0"/>
                <a:cs typeface="Times New Roman" panose="02020603050405020304" pitchFamily="18" charset="0"/>
              </a:rPr>
              <a:t>Multi-Gas </a:t>
            </a:r>
            <a:r>
              <a:rPr lang="en-GB" b="0" dirty="0">
                <a:latin typeface="Times New Roman" panose="02020603050405020304" pitchFamily="18" charset="0"/>
                <a:cs typeface="Times New Roman" panose="02020603050405020304" pitchFamily="18" charset="0"/>
              </a:rPr>
              <a:t>Monitor: AS8900 for levels of  H2S, NO2, and CO.</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b="0" dirty="0">
                <a:latin typeface="Times New Roman" panose="02020603050405020304" pitchFamily="18" charset="0"/>
                <a:cs typeface="Times New Roman" panose="02020603050405020304" pitchFamily="18" charset="0"/>
              </a:rPr>
              <a:t>GPS Device: Garmin Dakota 20 for location coordinates and digital mapping using ArcGIS 10.5 software.</a:t>
            </a:r>
            <a:endParaRPr lang="en-GB" b="0" dirty="0">
              <a:latin typeface="Times New Roman" panose="02020603050405020304" pitchFamily="18" charset="0"/>
              <a:cs typeface="Times New Roman" panose="02020603050405020304" pitchFamily="18" charset="0"/>
            </a:endParaRPr>
          </a:p>
          <a:p>
            <a:pPr marL="1028700" marR="0" indent="-342900" algn="just">
              <a:lnSpc>
                <a:spcPct val="150000"/>
              </a:lnSpc>
              <a:spcBef>
                <a:spcPts val="0"/>
              </a:spcBef>
              <a:spcAft>
                <a:spcPts val="800"/>
              </a:spcAft>
              <a:buFont typeface="Wingdings" panose="05000000000000000000" pitchFamily="2" charset="2"/>
              <a:buChar char="Ø"/>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lvl="1"/>
            <a:endParaRPr lang="en-GB" altLang="en-US" dirty="0" smtClean="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a:xfrm>
            <a:off x="232475" y="743919"/>
            <a:ext cx="11349925" cy="5709417"/>
          </a:xfrm>
        </p:spPr>
        <p:txBody>
          <a:bodyPr/>
          <a:lstStyle/>
          <a:p>
            <a:pPr lvl="0" algn="just">
              <a:buFont typeface="Wingdings" panose="05000000000000000000" pitchFamily="2" charset="2"/>
              <a:buChar char="q"/>
            </a:pPr>
            <a:r>
              <a:rPr lang="en-GB" dirty="0" smtClean="0">
                <a:latin typeface="Times New Roman" panose="02020603050405020304" pitchFamily="18" charset="0"/>
                <a:cs typeface="Times New Roman" panose="02020603050405020304" pitchFamily="18" charset="0"/>
              </a:rPr>
              <a:t>Locations</a:t>
            </a:r>
            <a:r>
              <a:rPr lang="en-GB" b="0" dirty="0">
                <a:latin typeface="Times New Roman" panose="02020603050405020304" pitchFamily="18" charset="0"/>
                <a:cs typeface="Times New Roman" panose="02020603050405020304" pitchFamily="18" charset="0"/>
              </a:rPr>
              <a:t>: Five motor parks with air quality assessed at three sampling points per park.</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Schedule</a:t>
            </a:r>
            <a:r>
              <a:rPr lang="en-GB" b="0" dirty="0">
                <a:latin typeface="Times New Roman" panose="02020603050405020304" pitchFamily="18" charset="0"/>
                <a:cs typeface="Times New Roman" panose="02020603050405020304" pitchFamily="18" charset="0"/>
              </a:rPr>
              <a:t>: Measurements taken on weekdays (Monday, Wednesday, Friday) from 6:00 am to 6:00 pm, three times daily (morning, afternoon, evening) for four weeks </a:t>
            </a:r>
            <a:r>
              <a:rPr lang="en-GB" b="0" dirty="0" smtClean="0">
                <a:latin typeface="Times New Roman" panose="02020603050405020304" pitchFamily="18" charset="0"/>
                <a:cs typeface="Times New Roman" panose="02020603050405020304" pitchFamily="18" charset="0"/>
              </a:rPr>
              <a:t>Measurement </a:t>
            </a:r>
            <a:r>
              <a:rPr lang="en-GB" b="0" dirty="0">
                <a:latin typeface="Times New Roman" panose="02020603050405020304" pitchFamily="18" charset="0"/>
                <a:cs typeface="Times New Roman" panose="02020603050405020304" pitchFamily="18" charset="0"/>
              </a:rPr>
              <a:t>of Parameters:</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PM2.5 and PM10</a:t>
            </a:r>
            <a:r>
              <a:rPr lang="en-GB" b="0" dirty="0">
                <a:latin typeface="Times New Roman" panose="02020603050405020304" pitchFamily="18" charset="0"/>
                <a:cs typeface="Times New Roman" panose="02020603050405020304" pitchFamily="18" charset="0"/>
              </a:rPr>
              <a:t>: Portable air quality monitor used to detect concentrations at 1.5m height.</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H</a:t>
            </a:r>
            <a:r>
              <a:rPr lang="en-GB" baseline="-25000" dirty="0">
                <a:latin typeface="Times New Roman" panose="02020603050405020304" pitchFamily="18" charset="0"/>
                <a:cs typeface="Times New Roman" panose="02020603050405020304" pitchFamily="18" charset="0"/>
              </a:rPr>
              <a:t>2</a:t>
            </a:r>
            <a:r>
              <a:rPr lang="en-GB" dirty="0">
                <a:latin typeface="Times New Roman" panose="02020603050405020304" pitchFamily="18" charset="0"/>
                <a:cs typeface="Times New Roman" panose="02020603050405020304" pitchFamily="18" charset="0"/>
              </a:rPr>
              <a:t>S, NO</a:t>
            </a:r>
            <a:r>
              <a:rPr lang="en-GB" baseline="-25000" dirty="0">
                <a:latin typeface="Times New Roman" panose="02020603050405020304" pitchFamily="18" charset="0"/>
                <a:cs typeface="Times New Roman" panose="02020603050405020304" pitchFamily="18" charset="0"/>
              </a:rPr>
              <a:t>2</a:t>
            </a:r>
            <a:r>
              <a:rPr lang="en-GB" dirty="0">
                <a:latin typeface="Times New Roman" panose="02020603050405020304" pitchFamily="18" charset="0"/>
                <a:cs typeface="Times New Roman" panose="02020603050405020304" pitchFamily="18" charset="0"/>
              </a:rPr>
              <a:t>, CO</a:t>
            </a:r>
            <a:r>
              <a:rPr lang="en-GB" b="0" dirty="0">
                <a:latin typeface="Times New Roman" panose="02020603050405020304" pitchFamily="18" charset="0"/>
                <a:cs typeface="Times New Roman" panose="02020603050405020304" pitchFamily="18" charset="0"/>
              </a:rPr>
              <a:t>: Measured using a Smart sensor multi-gas monitor.</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Meteorological Parameters</a:t>
            </a:r>
            <a:r>
              <a:rPr lang="en-GB" b="0" dirty="0">
                <a:latin typeface="Times New Roman" panose="02020603050405020304" pitchFamily="18" charset="0"/>
                <a:cs typeface="Times New Roman" panose="02020603050405020304" pitchFamily="18" charset="0"/>
              </a:rPr>
              <a:t>: Wind speed, direction, temperature, and relative humidity measured hourly using a digital anemometer.</a:t>
            </a:r>
            <a:endParaRPr lang="en-GB" b="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Air Quality Index (AQI)</a:t>
            </a:r>
            <a:r>
              <a:rPr lang="en-GB" b="0" dirty="0">
                <a:latin typeface="Times New Roman" panose="02020603050405020304" pitchFamily="18" charset="0"/>
                <a:cs typeface="Times New Roman" panose="02020603050405020304" pitchFamily="18" charset="0"/>
              </a:rPr>
              <a:t>:Calculation of Mean values of PM2.5 and PM10 compared with WHO guidelines; indices for each pollutant was derived using the EPA's AQI formula.</a:t>
            </a:r>
            <a:endParaRPr lang="en-GB" b="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Guidelines</a:t>
            </a:r>
            <a:r>
              <a:rPr lang="en-GB" b="0" dirty="0">
                <a:latin typeface="Times New Roman" panose="02020603050405020304" pitchFamily="18" charset="0"/>
                <a:cs typeface="Times New Roman" panose="02020603050405020304" pitchFamily="18" charset="0"/>
              </a:rPr>
              <a:t>: WHO annual mean for PM2.5 is 10 µg/m³, 24-h mean is 25 µg/m³; for PM10, annual mean is 20 µg/m³, 24-h mean is 50 µg/m³ (WHO, 2015).</a:t>
            </a:r>
            <a:endParaRPr lang="en-GB" b="0" dirty="0">
              <a:latin typeface="Times New Roman" panose="02020603050405020304" pitchFamily="18" charset="0"/>
              <a:cs typeface="Times New Roman" panose="02020603050405020304" pitchFamily="18" charset="0"/>
            </a:endParaRPr>
          </a:p>
          <a:p>
            <a:pPr marL="755650" marR="0" indent="-342900" algn="just">
              <a:spcBef>
                <a:spcPts val="0"/>
              </a:spcBef>
              <a:spcAft>
                <a:spcPts val="800"/>
              </a:spcAft>
              <a:buFont typeface="Wingdings" panose="05000000000000000000" pitchFamily="2" charset="2"/>
              <a:buChar char="q"/>
            </a:pPr>
            <a:endParaRPr lang="en-US" b="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GB" sz="2000" dirty="0"/>
          </a:p>
        </p:txBody>
      </p:sp>
      <p:sp>
        <p:nvSpPr>
          <p:cNvPr id="3" name="Rectangle 2"/>
          <p:cNvSpPr/>
          <p:nvPr/>
        </p:nvSpPr>
        <p:spPr>
          <a:xfrm>
            <a:off x="723254" y="0"/>
            <a:ext cx="6793424" cy="583565"/>
          </a:xfrm>
          <a:prstGeom prst="rect">
            <a:avLst/>
          </a:prstGeom>
        </p:spPr>
        <p:txBody>
          <a:bodyPr wrap="square">
            <a:spAutoFit/>
          </a:bodyPr>
          <a:lstStyle/>
          <a:p>
            <a:pPr marL="2424430" lvl="8" algn="ctr"/>
            <a:r>
              <a:rPr lang="en-GB" sz="3200" b="1" dirty="0">
                <a:latin typeface="Times New Roman" panose="02020603050405020304" pitchFamily="18" charset="0"/>
                <a:cs typeface="Times New Roman" panose="02020603050405020304" pitchFamily="18" charset="0"/>
              </a:rPr>
              <a:t>Sampling Frequency</a:t>
            </a: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pic>
        <p:nvPicPr>
          <p:cNvPr id="3" name="Picture 1" descr="Meteorological_Data_Motor_Parks original"/>
          <p:cNvPicPr>
            <a:picLocks noChangeAspect="1"/>
          </p:cNvPicPr>
          <p:nvPr/>
        </p:nvPicPr>
        <p:blipFill>
          <a:blip r:embed="rId1"/>
          <a:stretch>
            <a:fillRect/>
          </a:stretch>
        </p:blipFill>
        <p:spPr>
          <a:xfrm>
            <a:off x="0" y="676275"/>
            <a:ext cx="11581765" cy="5648325"/>
          </a:xfrm>
          <a:prstGeom prst="rect">
            <a:avLst/>
          </a:prstGeom>
        </p:spPr>
      </p:pic>
      <p:sp>
        <p:nvSpPr>
          <p:cNvPr id="7" name="Text Box 6"/>
          <p:cNvSpPr txBox="1"/>
          <p:nvPr/>
        </p:nvSpPr>
        <p:spPr>
          <a:xfrm>
            <a:off x="0" y="0"/>
            <a:ext cx="8365490" cy="549910"/>
          </a:xfrm>
          <a:prstGeom prst="rect">
            <a:avLst/>
          </a:prstGeom>
          <a:noFill/>
        </p:spPr>
        <p:txBody>
          <a:bodyPr wrap="square" rtlCol="0">
            <a:noAutofit/>
          </a:bodyPr>
          <a:p>
            <a:pPr algn="ctr"/>
            <a:r>
              <a:rPr lang="en-GB" sz="3200" b="1" dirty="0" smtClean="0">
                <a:latin typeface="Times New Roman" panose="02020603050405020304" pitchFamily="18" charset="0"/>
                <a:cs typeface="Times New Roman" panose="02020603050405020304" pitchFamily="18" charset="0"/>
                <a:sym typeface="+mn-ea"/>
              </a:rPr>
              <a:t>RESULT </a:t>
            </a:r>
            <a:r>
              <a:rPr lang="en-GB" sz="3200" b="1" dirty="0">
                <a:latin typeface="Times New Roman" panose="02020603050405020304" pitchFamily="18" charset="0"/>
                <a:cs typeface="Times New Roman" panose="02020603050405020304" pitchFamily="18" charset="0"/>
                <a:sym typeface="+mn-ea"/>
              </a:rPr>
              <a:t>AND DISCUSSION</a:t>
            </a:r>
            <a:endParaRPr lang="en-GB" sz="3200" b="1" dirty="0">
              <a:solidFill>
                <a:schemeClr val="tx1"/>
              </a:solidFill>
              <a:latin typeface="Times New Roman" panose="02020603050405020304" pitchFamily="18" charset="0"/>
              <a:cs typeface="Times New Roman" panose="02020603050405020304" pitchFamily="18" charset="0"/>
            </a:endParaRPr>
          </a:p>
          <a:p>
            <a:pPr algn="ctr"/>
            <a:endParaRPr lang="en-GB" altLang="en-US" sz="32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m_motor_parks_chart.png"/>
          <p:cNvPicPr>
            <a:picLocks noChangeAspect="1"/>
          </p:cNvPicPr>
          <p:nvPr/>
        </p:nvPicPr>
        <p:blipFill>
          <a:blip r:embed="rId1"/>
          <a:stretch>
            <a:fillRect/>
          </a:stretch>
        </p:blipFill>
        <p:spPr>
          <a:xfrm>
            <a:off x="0" y="575655"/>
            <a:ext cx="11693236" cy="6384869"/>
          </a:xfrm>
          <a:prstGeom prst="rect">
            <a:avLst/>
          </a:prstGeom>
        </p:spPr>
      </p:pic>
      <p:sp>
        <p:nvSpPr>
          <p:cNvPr id="6" name="Title 1"/>
          <p:cNvSpPr txBox="1"/>
          <p:nvPr/>
        </p:nvSpPr>
        <p:spPr bwMode="auto">
          <a:xfrm>
            <a:off x="343839" y="529936"/>
            <a:ext cx="10925471" cy="45719"/>
          </a:xfrm>
          <a:prstGeom prst="rect">
            <a:avLst/>
          </a:prstGeom>
          <a:solidFill>
            <a:schemeClr val="accent2">
              <a:lumMod val="75000"/>
            </a:schemeClr>
          </a:solidFill>
          <a:ln w="9525">
            <a:noFill/>
            <a:miter lim="800000"/>
          </a:ln>
          <a:effectLst>
            <a:outerShdw blurRad="50800" dist="38100" dir="8100000" algn="tr" rotWithShape="0">
              <a:prstClr val="black">
                <a:alpha val="40000"/>
              </a:prstClr>
            </a:outerShdw>
          </a:effectLst>
        </p:spPr>
        <p:txBody>
          <a:bodyPr vert="horz" wrap="square" lIns="91440" tIns="45720" rIns="91440" bIns="91440" numCol="1" anchor="b" anchorCtr="0" compatLnSpc="1"/>
          <a:lstStyle>
            <a:lvl1pPr algn="l" rtl="0" eaLnBrk="1" fontAlgn="base" hangingPunct="1">
              <a:spcBef>
                <a:spcPct val="0"/>
              </a:spcBef>
              <a:spcAft>
                <a:spcPct val="0"/>
              </a:spcAft>
              <a:defRPr sz="3600" b="1" kern="1200">
                <a:solidFill>
                  <a:schemeClr val="bg1"/>
                </a:solidFill>
                <a:latin typeface="+mj-lt"/>
                <a:ea typeface="+mj-ea"/>
                <a:cs typeface="+mj-cs"/>
              </a:defRPr>
            </a:lvl1pPr>
            <a:lvl2pPr algn="l" rtl="0" eaLnBrk="1" fontAlgn="base" hangingPunct="1">
              <a:spcBef>
                <a:spcPct val="0"/>
              </a:spcBef>
              <a:spcAft>
                <a:spcPct val="0"/>
              </a:spcAft>
              <a:defRPr sz="4000">
                <a:solidFill>
                  <a:schemeClr val="tx2"/>
                </a:solidFill>
                <a:latin typeface="Tw Cen MT" panose="020B0602020104020603" pitchFamily="34" charset="0"/>
              </a:defRPr>
            </a:lvl2pPr>
            <a:lvl3pPr algn="l" rtl="0" eaLnBrk="1" fontAlgn="base" hangingPunct="1">
              <a:spcBef>
                <a:spcPct val="0"/>
              </a:spcBef>
              <a:spcAft>
                <a:spcPct val="0"/>
              </a:spcAft>
              <a:defRPr sz="4000">
                <a:solidFill>
                  <a:schemeClr val="tx2"/>
                </a:solidFill>
                <a:latin typeface="Tw Cen MT" panose="020B0602020104020603" pitchFamily="34" charset="0"/>
              </a:defRPr>
            </a:lvl3pPr>
            <a:lvl4pPr algn="l" rtl="0" eaLnBrk="1" fontAlgn="base" hangingPunct="1">
              <a:spcBef>
                <a:spcPct val="0"/>
              </a:spcBef>
              <a:spcAft>
                <a:spcPct val="0"/>
              </a:spcAft>
              <a:defRPr sz="4000">
                <a:solidFill>
                  <a:schemeClr val="tx2"/>
                </a:solidFill>
                <a:latin typeface="Tw Cen MT" panose="020B0602020104020603" pitchFamily="34" charset="0"/>
              </a:defRPr>
            </a:lvl4pPr>
            <a:lvl5pPr algn="l" rtl="0" eaLnBrk="1" fontAlgn="base" hangingPunct="1">
              <a:spcBef>
                <a:spcPct val="0"/>
              </a:spcBef>
              <a:spcAft>
                <a:spcPct val="0"/>
              </a:spcAft>
              <a:defRPr sz="4000">
                <a:solidFill>
                  <a:schemeClr val="tx2"/>
                </a:solidFill>
                <a:latin typeface="Tw Cen MT" panose="020B0602020104020603" pitchFamily="34" charset="0"/>
              </a:defRPr>
            </a:lvl5pPr>
            <a:lvl6pPr marL="457200" algn="l" rtl="0" eaLnBrk="1" fontAlgn="base" hangingPunct="1">
              <a:spcBef>
                <a:spcPct val="0"/>
              </a:spcBef>
              <a:spcAft>
                <a:spcPct val="0"/>
              </a:spcAft>
              <a:defRPr sz="4000">
                <a:solidFill>
                  <a:schemeClr val="tx2"/>
                </a:solidFill>
                <a:latin typeface="Tw Cen MT" panose="020B0602020104020603" pitchFamily="34" charset="0"/>
              </a:defRPr>
            </a:lvl6pPr>
            <a:lvl7pPr marL="914400" algn="l" rtl="0" eaLnBrk="1" fontAlgn="base" hangingPunct="1">
              <a:spcBef>
                <a:spcPct val="0"/>
              </a:spcBef>
              <a:spcAft>
                <a:spcPct val="0"/>
              </a:spcAft>
              <a:defRPr sz="4000">
                <a:solidFill>
                  <a:schemeClr val="tx2"/>
                </a:solidFill>
                <a:latin typeface="Tw Cen MT" panose="020B0602020104020603" pitchFamily="34" charset="0"/>
              </a:defRPr>
            </a:lvl7pPr>
            <a:lvl8pPr marL="1371600" algn="l" rtl="0" eaLnBrk="1" fontAlgn="base" hangingPunct="1">
              <a:spcBef>
                <a:spcPct val="0"/>
              </a:spcBef>
              <a:spcAft>
                <a:spcPct val="0"/>
              </a:spcAft>
              <a:defRPr sz="4000">
                <a:solidFill>
                  <a:schemeClr val="tx2"/>
                </a:solidFill>
                <a:latin typeface="Tw Cen MT" panose="020B0602020104020603" pitchFamily="34" charset="0"/>
              </a:defRPr>
            </a:lvl8pPr>
            <a:lvl9pPr marL="1828800" algn="l" rtl="0" eaLnBrk="1" fontAlgn="base" hangingPunct="1">
              <a:spcBef>
                <a:spcPct val="0"/>
              </a:spcBef>
              <a:spcAft>
                <a:spcPct val="0"/>
              </a:spcAft>
              <a:defRPr sz="4000">
                <a:solidFill>
                  <a:schemeClr val="tx2"/>
                </a:solidFill>
                <a:latin typeface="Tw Cen MT" panose="020B0602020104020603" pitchFamily="34" charset="0"/>
              </a:defRPr>
            </a:lvl9pPr>
          </a:lstStyle>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749" y="1966424"/>
            <a:ext cx="10925472" cy="1800200"/>
          </a:xfrm>
        </p:spPr>
        <p:txBody>
          <a:bodyPr/>
          <a:lstStyle/>
          <a:p>
            <a:endParaRPr lang="en-GB" dirty="0"/>
          </a:p>
        </p:txBody>
      </p:sp>
      <p:sp>
        <p:nvSpPr>
          <p:cNvPr id="3" name="Slide Number Placeholder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pic>
        <p:nvPicPr>
          <p:cNvPr id="4" name="Picture 3"/>
          <p:cNvPicPr>
            <a:picLocks noChangeAspect="1"/>
          </p:cNvPicPr>
          <p:nvPr/>
        </p:nvPicPr>
        <p:blipFill>
          <a:blip r:embed="rId1"/>
          <a:stretch>
            <a:fillRect/>
          </a:stretch>
        </p:blipFill>
        <p:spPr>
          <a:xfrm>
            <a:off x="194733" y="651164"/>
            <a:ext cx="11304540" cy="56734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693" y="625996"/>
            <a:ext cx="10925472" cy="45719"/>
          </a:xfrm>
          <a:solidFill>
            <a:schemeClr val="accent2"/>
          </a:solidFill>
        </p:spPr>
        <p:txBody>
          <a:bodyPr/>
          <a:lstStyle/>
          <a:p>
            <a:r>
              <a:rPr lang="en-GB" sz="3200" dirty="0">
                <a:solidFill>
                  <a:schemeClr val="tx1"/>
                </a:solidFill>
                <a:latin typeface="Times New Roman" panose="02020603050405020304" pitchFamily="18" charset="0"/>
                <a:cs typeface="Times New Roman" panose="02020603050405020304" pitchFamily="18" charset="0"/>
              </a:rPr>
              <a:t>PM2.5and PM10 AQI Levels by Motor Parks</a:t>
            </a:r>
            <a:endParaRPr lang="en-GB" sz="3200" dirty="0">
              <a:solidFill>
                <a:schemeClr val="tx1"/>
              </a:solidFill>
              <a:latin typeface="Times New Roman" panose="02020603050405020304" pitchFamily="18" charset="0"/>
              <a:cs typeface="Times New Roman" panose="02020603050405020304" pitchFamily="18" charset="0"/>
            </a:endParaRPr>
          </a:p>
        </p:txBody>
      </p:sp>
      <p:pic>
        <p:nvPicPr>
          <p:cNvPr id="3" name="Picture 2" descr="Particulate_Matter_AQI.png"/>
          <p:cNvPicPr>
            <a:picLocks noChangeAspect="1"/>
          </p:cNvPicPr>
          <p:nvPr/>
        </p:nvPicPr>
        <p:blipFill>
          <a:blip r:embed="rId1"/>
          <a:stretch>
            <a:fillRect/>
          </a:stretch>
        </p:blipFill>
        <p:spPr>
          <a:xfrm>
            <a:off x="1" y="671715"/>
            <a:ext cx="11416274" cy="60754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lide Number Placeholder 2"/>
          <p:cNvSpPr>
            <a:spLocks noGrp="1"/>
          </p:cNvSpPr>
          <p:nvPr>
            <p:ph type="sldNum" sz="quarter" idx="12"/>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pic>
        <p:nvPicPr>
          <p:cNvPr id="4" name="Picture 3" descr="Gas_AQI_Motor_Parks orig"/>
          <p:cNvPicPr>
            <a:picLocks noChangeAspect="1"/>
          </p:cNvPicPr>
          <p:nvPr/>
        </p:nvPicPr>
        <p:blipFill>
          <a:blip r:embed="rId1"/>
          <a:stretch>
            <a:fillRect/>
          </a:stretch>
        </p:blipFill>
        <p:spPr>
          <a:xfrm>
            <a:off x="0" y="606425"/>
            <a:ext cx="11734800" cy="5686425"/>
          </a:xfrm>
          <a:prstGeom prst="rect">
            <a:avLst/>
          </a:prstGeom>
        </p:spPr>
      </p:pic>
      <p:sp>
        <p:nvSpPr>
          <p:cNvPr id="5" name="Text Box 4"/>
          <p:cNvSpPr txBox="1"/>
          <p:nvPr/>
        </p:nvSpPr>
        <p:spPr>
          <a:xfrm>
            <a:off x="307340" y="95885"/>
            <a:ext cx="8154035" cy="637540"/>
          </a:xfrm>
          <a:prstGeom prst="rect">
            <a:avLst/>
          </a:prstGeom>
          <a:noFill/>
        </p:spPr>
        <p:txBody>
          <a:bodyPr wrap="square" rtlCol="0">
            <a:noAutofit/>
          </a:bodyPr>
          <a:p>
            <a:r>
              <a:rPr lang="en-GB" altLang="en-US" sz="3000" b="1">
                <a:latin typeface="Times New Roman" panose="02020603050405020304" pitchFamily="18" charset="0"/>
                <a:cs typeface="Times New Roman" panose="02020603050405020304" pitchFamily="18" charset="0"/>
              </a:rPr>
              <a:t>Gaseous Pollutants AQI in Selected Motor Parks</a:t>
            </a:r>
            <a:endParaRPr lang="en-GB" altLang="en-US" sz="3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
        <p:nvSpPr>
          <p:cNvPr id="5" name="Rectangle 1"/>
          <p:cNvSpPr>
            <a:spLocks noGrp="1" noChangeArrowheads="1"/>
          </p:cNvSpPr>
          <p:nvPr>
            <p:ph sz="quarter" idx="1"/>
          </p:nvPr>
        </p:nvSpPr>
        <p:spPr bwMode="auto">
          <a:xfrm>
            <a:off x="0" y="583680"/>
            <a:ext cx="11679381" cy="563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hangingPunct="0">
              <a:spcBef>
                <a:spcPct val="0"/>
              </a:spcBef>
              <a:buClr>
                <a:srgbClr val="9B2D1F"/>
              </a:buClr>
              <a:buSzTx/>
              <a:buFont typeface="Wingdings" panose="05000000000000000000" charset="0"/>
              <a:buChar char="q"/>
            </a:pPr>
            <a:r>
              <a:rPr lang="en-US" altLang="en-US" dirty="0" smtClean="0">
                <a:latin typeface="Times New Roman" panose="02020603050405020304" pitchFamily="18" charset="0"/>
                <a:cs typeface="Times New Roman" panose="02020603050405020304" pitchFamily="18" charset="0"/>
              </a:rPr>
              <a:t>Awareness for Park Management</a:t>
            </a:r>
            <a:endParaRPr lang="en-US" altLang="en-US" dirty="0" smtClean="0">
              <a:latin typeface="Times New Roman" panose="02020603050405020304" pitchFamily="18" charset="0"/>
              <a:cs typeface="Times New Roman" panose="02020603050405020304" pitchFamily="18" charset="0"/>
            </a:endParaRPr>
          </a:p>
          <a:p>
            <a:pPr marL="0" lvl="0" indent="0" algn="just" eaLnBrk="0" hangingPunct="0">
              <a:spcBef>
                <a:spcPct val="0"/>
              </a:spcBef>
              <a:buClr>
                <a:srgbClr val="9B2D1F"/>
              </a:buClr>
              <a:buSzTx/>
              <a:buFont typeface="Wingdings" panose="05000000000000000000" charset="0"/>
              <a:buNone/>
            </a:pPr>
            <a:r>
              <a:rPr lang="en-US" altLang="en-US" b="0" dirty="0" smtClean="0">
                <a:latin typeface="Times New Roman" panose="02020603050405020304" pitchFamily="18" charset="0"/>
                <a:cs typeface="Times New Roman" panose="02020603050405020304" pitchFamily="18" charset="0"/>
              </a:rPr>
              <a:t>Educate motor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park managements (especially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Agofure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Otu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Ekingbo</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Parks) on PM-related air pollution risks.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Policy Development for Urban Planning</a:t>
            </a: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
                <a:srgbClr val="9B2D1F"/>
              </a:buClr>
              <a:buSzTx/>
              <a:buFont typeface="Wingdings" panose="05000000000000000000" charset="0"/>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Ministry of Environment &amp; NURTW should enforce policies for motor park planning, data tracking, and monitoring.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Update Air Pollution Regulations</a:t>
            </a: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
                <a:srgbClr val="9B2D1F"/>
              </a:buClr>
              <a:buSzTx/>
              <a:buFont typeface="Wingdings" panose="05000000000000000000" charset="0"/>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NESREA, Ministry of Environment, and policymakers should review/strengthen air quality laws in Nigeria.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Continuous Air Quality Monitoring</a:t>
            </a: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
                <a:srgbClr val="9B2D1F"/>
              </a:buClr>
              <a:buSzTx/>
              <a:buFont typeface="Wingdings" panose="05000000000000000000" charset="0"/>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Regular assessments to track environmental changes and protect public health.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 of Protective Equipment (PPEs)</a:t>
            </a: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
                <a:srgbClr val="9B2D1F"/>
              </a:buClr>
              <a:buSzTx/>
              <a:buFont typeface="Wingdings" panose="05000000000000000000" charset="0"/>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Promote PPEs for vulnerable groups to reduce health risks from pollutants.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spcBef>
                <a:spcPct val="0"/>
              </a:spcBef>
              <a:spcAft>
                <a:spcPct val="0"/>
              </a:spcAft>
              <a:buClr>
                <a:srgbClr val="9B2D1F"/>
              </a:buClr>
              <a:buSzTx/>
              <a:buFont typeface="Wingdings" panose="05000000000000000000" charset="0"/>
              <a:buChar char="q"/>
            </a:pP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Public Sensitization</a:t>
            </a: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
                <a:srgbClr val="9B2D1F"/>
              </a:buClr>
              <a:buSzTx/>
              <a:buFont typeface="Wingdings" panose="05000000000000000000" charset="0"/>
              <a:buNone/>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Raise awareness among high-risk groups on air pollution dangers.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5"/>
          <p:cNvSpPr/>
          <p:nvPr/>
        </p:nvSpPr>
        <p:spPr>
          <a:xfrm>
            <a:off x="0" y="90055"/>
            <a:ext cx="8229600" cy="584775"/>
          </a:xfrm>
          <a:prstGeom prst="rect">
            <a:avLst/>
          </a:prstGeom>
        </p:spPr>
        <p:txBody>
          <a:bodyPr wrap="square">
            <a:spAutoFit/>
          </a:bodyPr>
          <a:lstStyle/>
          <a:p>
            <a:r>
              <a:rPr lang="en-GB" sz="3200" b="1" dirty="0" smtClean="0">
                <a:latin typeface="Times New Roman" panose="02020603050405020304" pitchFamily="18" charset="0"/>
                <a:cs typeface="Times New Roman" panose="02020603050405020304" pitchFamily="18" charset="0"/>
              </a:rPr>
              <a:t>                                     Recommendations</a:t>
            </a:r>
            <a:endParaRPr lang="en-GB"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itle 97"/>
          <p:cNvSpPr>
            <a:spLocks noGrp="1"/>
          </p:cNvSpPr>
          <p:nvPr>
            <p:ph type="title"/>
          </p:nvPr>
        </p:nvSpPr>
        <p:spPr>
          <a:xfrm>
            <a:off x="-1" y="0"/>
            <a:ext cx="8241633" cy="642938"/>
          </a:xfrm>
          <a:solidFill>
            <a:schemeClr val="bg1"/>
          </a:solidFill>
        </p:spPr>
        <p:txBody>
          <a:bodyPr/>
          <a:lstStyle/>
          <a:p>
            <a:pPr algn="ctr"/>
            <a:r>
              <a:rPr lang="en-US" altLang="en-GB" sz="2800" dirty="0" smtClean="0">
                <a:solidFill>
                  <a:schemeClr val="tx1"/>
                </a:solidFill>
                <a:latin typeface="Times New Roman" panose="02020603050405020304" pitchFamily="18" charset="0"/>
                <a:cs typeface="Times New Roman" panose="02020603050405020304" pitchFamily="18" charset="0"/>
              </a:rPr>
              <a:t>                           </a:t>
            </a:r>
            <a:r>
              <a:rPr lang="en-US" altLang="en-GB" sz="3200" dirty="0" smtClean="0">
                <a:solidFill>
                  <a:schemeClr val="tx1"/>
                </a:solidFill>
                <a:latin typeface="Times New Roman" panose="02020603050405020304" pitchFamily="18" charset="0"/>
                <a:cs typeface="Times New Roman" panose="02020603050405020304" pitchFamily="18" charset="0"/>
              </a:rPr>
              <a:t>Contributions </a:t>
            </a:r>
            <a:r>
              <a:rPr lang="en-US" altLang="en-GB" sz="3200" dirty="0">
                <a:solidFill>
                  <a:schemeClr val="tx1"/>
                </a:solidFill>
                <a:latin typeface="Times New Roman" panose="02020603050405020304" pitchFamily="18" charset="0"/>
                <a:cs typeface="Times New Roman" panose="02020603050405020304" pitchFamily="18" charset="0"/>
              </a:rPr>
              <a:t>to Knowledge</a:t>
            </a:r>
            <a:endParaRPr lang="en-US" altLang="en-GB" sz="3200" dirty="0">
              <a:solidFill>
                <a:schemeClr val="tx1"/>
              </a:solidFill>
              <a:latin typeface="Times New Roman" panose="02020603050405020304" pitchFamily="18" charset="0"/>
              <a:cs typeface="Times New Roman" panose="02020603050405020304" pitchFamily="18" charset="0"/>
            </a:endParaRPr>
          </a:p>
        </p:txBody>
      </p:sp>
      <p:sp>
        <p:nvSpPr>
          <p:cNvPr id="2" name="Rectangle 86"/>
          <p:cNvSpPr>
            <a:spLocks noChangeArrowheads="1"/>
          </p:cNvSpPr>
          <p:nvPr/>
        </p:nvSpPr>
        <p:spPr bwMode="auto">
          <a:xfrm>
            <a:off x="579878" y="2376407"/>
            <a:ext cx="1664732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GB"/>
          </a:p>
        </p:txBody>
      </p:sp>
      <p:sp>
        <p:nvSpPr>
          <p:cNvPr id="3" name="Rectangle 128"/>
          <p:cNvSpPr>
            <a:spLocks noChangeArrowheads="1"/>
          </p:cNvSpPr>
          <p:nvPr/>
        </p:nvSpPr>
        <p:spPr bwMode="auto">
          <a:xfrm>
            <a:off x="579878" y="2833607"/>
            <a:ext cx="1664732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GB"/>
          </a:p>
        </p:txBody>
      </p:sp>
      <p:sp>
        <p:nvSpPr>
          <p:cNvPr id="263" name="Text Box 912"/>
          <p:cNvSpPr txBox="1"/>
          <p:nvPr/>
        </p:nvSpPr>
        <p:spPr>
          <a:xfrm>
            <a:off x="1472111" y="2007991"/>
            <a:ext cx="426085" cy="371475"/>
          </a:xfrm>
          <a:prstGeom prst="rect">
            <a:avLst/>
          </a:prstGeom>
          <a:noFill/>
          <a:ln>
            <a:noFill/>
          </a:ln>
        </p:spPr>
        <p:txBody>
          <a:bodyPr rot="0" spcFirstLastPara="0" vert="horz" wrap="none" lIns="91440" tIns="45720" rIns="91440" bIns="45720" numCol="1" spcCol="0" rtlCol="0" fromWordArt="0" anchor="t" anchorCtr="0" forceAA="0" compatLnSpc="1">
            <a:noAutofit/>
          </a:bodyPr>
          <a:lstStyle/>
          <a:p>
            <a:pPr algn="ctr">
              <a:lnSpc>
                <a:spcPct val="107000"/>
              </a:lnSpc>
              <a:spcAft>
                <a:spcPts val="800"/>
              </a:spcAft>
            </a:pP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579878" y="5347660"/>
            <a:ext cx="10745848" cy="388696"/>
          </a:xfrm>
          <a:prstGeom prst="rect">
            <a:avLst/>
          </a:prstGeom>
        </p:spPr>
        <p:txBody>
          <a:bodyPr wrap="square">
            <a:spAutoFit/>
          </a:bodyPr>
          <a:lstStyle/>
          <a:p>
            <a:pPr>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 </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8"/>
          <p:cNvSpPr txBox="1"/>
          <p:nvPr/>
        </p:nvSpPr>
        <p:spPr>
          <a:xfrm>
            <a:off x="0" y="644358"/>
            <a:ext cx="11658600" cy="5091998"/>
          </a:xfrm>
          <a:prstGeom prst="rect">
            <a:avLst/>
          </a:prstGeom>
        </p:spPr>
        <p:txBody>
          <a:bodyPr wrap="square">
            <a:noAutofit/>
          </a:bodyPr>
          <a:lstStyle/>
          <a:p>
            <a:pPr algn="just" defTabSz="266700">
              <a:spcAft>
                <a:spcPts val="800"/>
              </a:spcAft>
            </a:pPr>
            <a:r>
              <a:rPr sz="2400" dirty="0">
                <a:latin typeface="Times New Roman" panose="02020603050405020304"/>
                <a:ea typeface="Calibri" panose="020F0502020204030204"/>
              </a:rPr>
              <a:t>This work has contributed to knowledge in the following ways:</a:t>
            </a:r>
            <a:endParaRPr sz="2400" dirty="0">
              <a:latin typeface="Times New Roman" panose="02020603050405020304"/>
              <a:ea typeface="Calibri" panose="020F0502020204030204"/>
            </a:endParaRPr>
          </a:p>
          <a:p>
            <a:pPr marL="285750" indent="-285750" algn="just" defTabSz="266700">
              <a:spcAft>
                <a:spcPts val="800"/>
              </a:spcAft>
              <a:buClr>
                <a:srgbClr val="9B2D1F"/>
              </a:buClr>
              <a:buFont typeface="Wingdings" panose="05000000000000000000" pitchFamily="2" charset="2"/>
              <a:buChar char="q"/>
            </a:pPr>
            <a:r>
              <a:rPr sz="2400" dirty="0" smtClean="0">
                <a:latin typeface="Times New Roman" panose="02020603050405020304"/>
                <a:ea typeface="Calibri" panose="020F0502020204030204"/>
              </a:rPr>
              <a:t> </a:t>
            </a:r>
            <a:r>
              <a:rPr sz="2400" dirty="0">
                <a:latin typeface="Times New Roman" panose="02020603050405020304"/>
                <a:ea typeface="Calibri" panose="020F0502020204030204"/>
              </a:rPr>
              <a:t>The information from this research work will help relevant authorities in planning adequate pollution control measures.</a:t>
            </a:r>
            <a:endParaRPr sz="2400" dirty="0">
              <a:latin typeface="Times New Roman" panose="02020603050405020304"/>
              <a:ea typeface="Calibri" panose="020F0502020204030204"/>
            </a:endParaRPr>
          </a:p>
          <a:p>
            <a:pPr marL="285750" indent="-285750" algn="just" defTabSz="266700">
              <a:spcAft>
                <a:spcPts val="800"/>
              </a:spcAft>
              <a:buClr>
                <a:srgbClr val="9B2D1F"/>
              </a:buClr>
              <a:buFont typeface="Wingdings" panose="05000000000000000000" pitchFamily="2" charset="2"/>
              <a:buChar char="q"/>
            </a:pPr>
            <a:r>
              <a:rPr sz="2400" dirty="0" smtClean="0">
                <a:latin typeface="Times New Roman" panose="02020603050405020304"/>
                <a:ea typeface="Calibri" panose="020F0502020204030204"/>
              </a:rPr>
              <a:t> </a:t>
            </a:r>
            <a:r>
              <a:rPr sz="2400" dirty="0">
                <a:latin typeface="Times New Roman" panose="02020603050405020304"/>
                <a:ea typeface="Calibri" panose="020F0502020204030204"/>
              </a:rPr>
              <a:t>The study has contributed data to ambient air conditions and health risks of pollutants in air in the study area.</a:t>
            </a:r>
            <a:endParaRPr sz="2400" dirty="0">
              <a:latin typeface="Times New Roman" panose="02020603050405020304"/>
              <a:ea typeface="Calibri" panose="020F0502020204030204"/>
            </a:endParaRPr>
          </a:p>
          <a:p>
            <a:pPr marL="285750" indent="-285750" algn="just" defTabSz="266700">
              <a:spcAft>
                <a:spcPts val="800"/>
              </a:spcAft>
              <a:buClr>
                <a:srgbClr val="9B2D1F"/>
              </a:buClr>
              <a:buFont typeface="Wingdings" panose="05000000000000000000" pitchFamily="2" charset="2"/>
              <a:buChar char="q"/>
            </a:pPr>
            <a:r>
              <a:rPr sz="2400" dirty="0" smtClean="0">
                <a:latin typeface="Times New Roman" panose="02020603050405020304"/>
                <a:ea typeface="Calibri" panose="020F0502020204030204"/>
              </a:rPr>
              <a:t> </a:t>
            </a:r>
            <a:r>
              <a:rPr sz="2400" dirty="0">
                <a:latin typeface="Times New Roman" panose="02020603050405020304"/>
                <a:ea typeface="Calibri" panose="020F0502020204030204"/>
              </a:rPr>
              <a:t>The study has exposed motor parks in </a:t>
            </a:r>
            <a:r>
              <a:rPr sz="2400" dirty="0" err="1">
                <a:latin typeface="Times New Roman" panose="02020603050405020304"/>
                <a:ea typeface="Calibri" panose="020F0502020204030204"/>
              </a:rPr>
              <a:t>Ughelli</a:t>
            </a:r>
            <a:r>
              <a:rPr sz="2400" dirty="0">
                <a:latin typeface="Times New Roman" panose="02020603050405020304"/>
                <a:ea typeface="Calibri" panose="020F0502020204030204"/>
              </a:rPr>
              <a:t> town/city with PM concerns for human health and well-being.</a:t>
            </a:r>
            <a:endParaRPr sz="2400" dirty="0">
              <a:latin typeface="Times New Roman" panose="02020603050405020304"/>
              <a:ea typeface="Calibri" panose="020F0502020204030204"/>
            </a:endParaRPr>
          </a:p>
          <a:p>
            <a:pPr marL="285750" indent="-285750" algn="just" defTabSz="266700">
              <a:spcAft>
                <a:spcPts val="800"/>
              </a:spcAft>
              <a:buClr>
                <a:srgbClr val="9B2D1F"/>
              </a:buClr>
              <a:buFont typeface="Wingdings" panose="05000000000000000000" pitchFamily="2" charset="2"/>
              <a:buChar char="q"/>
            </a:pPr>
            <a:r>
              <a:rPr sz="2400" dirty="0" smtClean="0">
                <a:latin typeface="Times New Roman" panose="02020603050405020304"/>
                <a:ea typeface="Calibri" panose="020F0502020204030204"/>
              </a:rPr>
              <a:t> </a:t>
            </a:r>
            <a:r>
              <a:rPr sz="2400" dirty="0">
                <a:latin typeface="Times New Roman" panose="02020603050405020304"/>
                <a:ea typeface="Calibri" panose="020F0502020204030204"/>
              </a:rPr>
              <a:t>The study has also revealed that human activities such as automobile (vehicular) movement within and around motor parks could also pollute ambient air.</a:t>
            </a:r>
            <a:endParaRPr sz="2400" dirty="0">
              <a:latin typeface="Times New Roman" panose="02020603050405020304"/>
              <a:ea typeface="Calibri" panose="020F0502020204030204"/>
            </a:endParaRPr>
          </a:p>
          <a:p>
            <a:pPr marL="285750" indent="-285750" algn="just" defTabSz="266700">
              <a:spcAft>
                <a:spcPts val="800"/>
              </a:spcAft>
              <a:buClr>
                <a:srgbClr val="9B2D1F"/>
              </a:buClr>
              <a:buFont typeface="Wingdings" panose="05000000000000000000" pitchFamily="2" charset="2"/>
              <a:buChar char="q"/>
            </a:pPr>
            <a:r>
              <a:rPr sz="2400" dirty="0" smtClean="0">
                <a:latin typeface="Times New Roman" panose="02020603050405020304"/>
                <a:ea typeface="Calibri" panose="020F0502020204030204"/>
              </a:rPr>
              <a:t> </a:t>
            </a:r>
            <a:r>
              <a:rPr sz="2400" dirty="0">
                <a:latin typeface="Times New Roman" panose="02020603050405020304"/>
                <a:ea typeface="Calibri" panose="020F0502020204030204"/>
              </a:rPr>
              <a:t>The study has also contributed to knowledge by indicating that, there may be risk due to continuous inhalation of polluted air from the study areas in Delta State in particular and Nigeria in general.</a:t>
            </a:r>
            <a:endParaRPr sz="2400" dirty="0">
              <a:latin typeface="Times New Roman" panose="02020603050405020304"/>
              <a:ea typeface="Calibri" panose="020F0502020204030204"/>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
        <p:nvSpPr>
          <p:cNvPr id="5" name="Text Box 4"/>
          <p:cNvSpPr txBox="1"/>
          <p:nvPr/>
        </p:nvSpPr>
        <p:spPr>
          <a:xfrm>
            <a:off x="0" y="664210"/>
            <a:ext cx="11631295" cy="5660390"/>
          </a:xfrm>
          <a:prstGeom prst="rect">
            <a:avLst/>
          </a:prstGeom>
          <a:noFill/>
          <a:ln>
            <a:solidFill>
              <a:srgbClr val="C00000"/>
            </a:solidFill>
          </a:ln>
        </p:spPr>
        <p:txBody>
          <a:bodyPr wrap="square" rtlCol="0" anchor="t">
            <a:noAutofit/>
          </a:bodyPr>
          <a:p>
            <a:pPr marL="457200" indent="-457200" algn="just">
              <a:buClr>
                <a:srgbClr val="9B2D1F"/>
              </a:buClr>
              <a:buFont typeface="Wingdings" panose="05000000000000000000" charset="0"/>
              <a:buChar char="q"/>
            </a:pPr>
            <a:r>
              <a:rPr sz="2700" b="1">
                <a:latin typeface="Times New Roman" panose="02020603050405020304" pitchFamily="18" charset="0"/>
                <a:cs typeface="Times New Roman" panose="02020603050405020304" pitchFamily="18" charset="0"/>
                <a:sym typeface="+mn-ea"/>
              </a:rPr>
              <a:t>PM₂.₅ Levels</a:t>
            </a:r>
            <a:r>
              <a:rPr sz="2700">
                <a:latin typeface="Times New Roman" panose="02020603050405020304" pitchFamily="18" charset="0"/>
                <a:cs typeface="Times New Roman" panose="02020603050405020304" pitchFamily="18" charset="0"/>
                <a:sym typeface="+mn-ea"/>
              </a:rPr>
              <a:t>:</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Unhealthy: Agofure Motor Park</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Moderate: Otu, Ekingbo, Otovwodo Motor Parks</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Good: Ughelli Central Motor Park</a:t>
            </a:r>
            <a:endParaRPr sz="2700">
              <a:latin typeface="Times New Roman" panose="02020603050405020304" pitchFamily="18" charset="0"/>
              <a:cs typeface="Times New Roman" panose="02020603050405020304" pitchFamily="18" charset="0"/>
            </a:endParaRPr>
          </a:p>
          <a:p>
            <a:pPr marL="457200" indent="-457200" algn="just">
              <a:buClr>
                <a:srgbClr val="9B2D1F"/>
              </a:buClr>
              <a:buFont typeface="Wingdings" panose="05000000000000000000" charset="0"/>
              <a:buChar char="q"/>
            </a:pPr>
            <a:endParaRPr sz="2700">
              <a:latin typeface="Times New Roman" panose="02020603050405020304" pitchFamily="18" charset="0"/>
              <a:cs typeface="Times New Roman" panose="02020603050405020304" pitchFamily="18" charset="0"/>
            </a:endParaRPr>
          </a:p>
          <a:p>
            <a:pPr marL="457200" indent="-457200" algn="just">
              <a:buClr>
                <a:srgbClr val="9B2D1F"/>
              </a:buClr>
              <a:buFont typeface="Wingdings" panose="05000000000000000000" charset="0"/>
              <a:buChar char="q"/>
            </a:pPr>
            <a:r>
              <a:rPr sz="2700">
                <a:latin typeface="Times New Roman" panose="02020603050405020304" pitchFamily="18" charset="0"/>
                <a:cs typeface="Times New Roman" panose="02020603050405020304" pitchFamily="18" charset="0"/>
                <a:sym typeface="+mn-ea"/>
              </a:rPr>
              <a:t> </a:t>
            </a:r>
            <a:r>
              <a:rPr sz="2700" b="1">
                <a:latin typeface="Times New Roman" panose="02020603050405020304" pitchFamily="18" charset="0"/>
                <a:cs typeface="Times New Roman" panose="02020603050405020304" pitchFamily="18" charset="0"/>
                <a:sym typeface="+mn-ea"/>
              </a:rPr>
              <a:t>PM₁₀ Levels</a:t>
            </a:r>
            <a:r>
              <a:rPr sz="2700">
                <a:latin typeface="Times New Roman" panose="02020603050405020304" pitchFamily="18" charset="0"/>
                <a:cs typeface="Times New Roman" panose="02020603050405020304" pitchFamily="18" charset="0"/>
                <a:sym typeface="+mn-ea"/>
              </a:rPr>
              <a:t>:</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lang="en-GB" sz="2700">
                <a:latin typeface="Times New Roman" panose="02020603050405020304" pitchFamily="18" charset="0"/>
                <a:cs typeface="Times New Roman" panose="02020603050405020304" pitchFamily="18" charset="0"/>
                <a:sym typeface="+mn-ea"/>
              </a:rPr>
              <a:t>  </a:t>
            </a:r>
            <a:r>
              <a:rPr sz="2700">
                <a:latin typeface="Times New Roman" panose="02020603050405020304" pitchFamily="18" charset="0"/>
                <a:cs typeface="Times New Roman" panose="02020603050405020304" pitchFamily="18" charset="0"/>
                <a:sym typeface="+mn-ea"/>
              </a:rPr>
              <a:t> - Unhealthy: Agofure, Otu, Ekingbo Motor Parks</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Moderate: Otovwodo Central Motor Park</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Good: Ughelli Central Motor Park</a:t>
            </a:r>
            <a:endParaRPr sz="2700">
              <a:latin typeface="Times New Roman" panose="02020603050405020304" pitchFamily="18" charset="0"/>
              <a:cs typeface="Times New Roman" panose="02020603050405020304" pitchFamily="18" charset="0"/>
            </a:endParaRPr>
          </a:p>
          <a:p>
            <a:pPr marL="457200" indent="-457200" algn="just">
              <a:buClr>
                <a:srgbClr val="9B2D1F"/>
              </a:buClr>
              <a:buFont typeface="Wingdings" panose="05000000000000000000" charset="0"/>
              <a:buChar char="q"/>
            </a:pPr>
            <a:endParaRPr sz="2700">
              <a:latin typeface="Times New Roman" panose="02020603050405020304" pitchFamily="18" charset="0"/>
              <a:cs typeface="Times New Roman" panose="02020603050405020304" pitchFamily="18" charset="0"/>
            </a:endParaRPr>
          </a:p>
          <a:p>
            <a:pPr marL="457200" indent="-457200" algn="just">
              <a:buClr>
                <a:srgbClr val="9B2D1F"/>
              </a:buClr>
              <a:buFont typeface="Wingdings" panose="05000000000000000000" charset="0"/>
              <a:buChar char="q"/>
            </a:pPr>
            <a:r>
              <a:rPr sz="2700" b="1">
                <a:latin typeface="Times New Roman" panose="02020603050405020304" pitchFamily="18" charset="0"/>
                <a:cs typeface="Times New Roman" panose="02020603050405020304" pitchFamily="18" charset="0"/>
                <a:sym typeface="+mn-ea"/>
              </a:rPr>
              <a:t> H₂S, NO₂, CO Levels</a:t>
            </a:r>
            <a:r>
              <a:rPr sz="2700">
                <a:latin typeface="Times New Roman" panose="02020603050405020304" pitchFamily="18" charset="0"/>
                <a:cs typeface="Times New Roman" panose="02020603050405020304" pitchFamily="18" charset="0"/>
                <a:sym typeface="+mn-ea"/>
              </a:rPr>
              <a:t>:</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All five parks meet WHO standards</a:t>
            </a:r>
            <a:endParaRPr sz="2700">
              <a:latin typeface="Times New Roman" panose="02020603050405020304" pitchFamily="18" charset="0"/>
              <a:cs typeface="Times New Roman" panose="02020603050405020304" pitchFamily="18" charset="0"/>
            </a:endParaRPr>
          </a:p>
          <a:p>
            <a:pPr indent="0" algn="just">
              <a:buClr>
                <a:srgbClr val="9B2D1F"/>
              </a:buClr>
              <a:buFont typeface="Wingdings" panose="05000000000000000000" charset="0"/>
              <a:buNone/>
            </a:pPr>
            <a:r>
              <a:rPr sz="2700">
                <a:latin typeface="Times New Roman" panose="02020603050405020304" pitchFamily="18" charset="0"/>
                <a:cs typeface="Times New Roman" panose="02020603050405020304" pitchFamily="18" charset="0"/>
                <a:sym typeface="+mn-ea"/>
              </a:rPr>
              <a:t>   - No current health concerns from these pollutants</a:t>
            </a:r>
            <a:endParaRPr lang="en-GB" altLang="en-US" sz="2700">
              <a:latin typeface="Times New Roman" panose="02020603050405020304" pitchFamily="18" charset="0"/>
              <a:cs typeface="Times New Roman" panose="02020603050405020304" pitchFamily="18" charset="0"/>
              <a:sym typeface="+mn-ea"/>
            </a:endParaRPr>
          </a:p>
        </p:txBody>
      </p:sp>
      <p:sp>
        <p:nvSpPr>
          <p:cNvPr id="6" name="Text Box 5"/>
          <p:cNvSpPr txBox="1"/>
          <p:nvPr/>
        </p:nvSpPr>
        <p:spPr>
          <a:xfrm>
            <a:off x="3181985" y="0"/>
            <a:ext cx="4064000" cy="1198880"/>
          </a:xfrm>
          <a:prstGeom prst="rect">
            <a:avLst/>
          </a:prstGeom>
          <a:noFill/>
        </p:spPr>
        <p:txBody>
          <a:bodyPr wrap="square" rtlCol="0">
            <a:spAutoFit/>
          </a:bodyPr>
          <a:p>
            <a:pPr algn="ctr"/>
            <a:r>
              <a:rPr sz="3600" b="1">
                <a:latin typeface="Times New Roman" panose="02020603050405020304" pitchFamily="18" charset="0"/>
                <a:cs typeface="Times New Roman" panose="02020603050405020304" pitchFamily="18" charset="0"/>
                <a:sym typeface="+mn-ea"/>
              </a:rPr>
              <a:t>Conclusion</a:t>
            </a:r>
            <a:endParaRPr sz="3600" b="1">
              <a:latin typeface="Times New Roman" panose="02020603050405020304" pitchFamily="18" charset="0"/>
              <a:cs typeface="Times New Roman" panose="02020603050405020304" pitchFamily="18" charset="0"/>
              <a:sym typeface="+mn-ea"/>
            </a:endParaRPr>
          </a:p>
          <a:p>
            <a:pPr algn="ctr"/>
            <a:endParaRPr lang="en-GB" altLang="en-US" sz="36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255147" y="2028531"/>
            <a:ext cx="10972800" cy="2853436"/>
          </a:xfrm>
        </p:spPr>
        <p:txBody>
          <a:bodyPr/>
          <a:lstStyle/>
          <a:p>
            <a:pPr marL="0" indent="0" algn="ctr">
              <a:buNone/>
            </a:pPr>
            <a:r>
              <a:rPr lang="en-US" sz="9600" b="1" dirty="0">
                <a:latin typeface="Times New Roman" panose="02020603050405020304" pitchFamily="18" charset="0"/>
                <a:cs typeface="Times New Roman" panose="02020603050405020304" pitchFamily="18" charset="0"/>
              </a:rPr>
              <a:t>THANK YOU </a:t>
            </a:r>
            <a:br>
              <a:rPr lang="en-US" sz="9600" b="1" dirty="0">
                <a:latin typeface="Times New Roman" panose="02020603050405020304" pitchFamily="18" charset="0"/>
                <a:cs typeface="Times New Roman" panose="02020603050405020304" pitchFamily="18" charset="0"/>
              </a:rPr>
            </a:br>
            <a:r>
              <a:rPr lang="en-US" sz="9600" b="1" dirty="0">
                <a:latin typeface="Times New Roman" panose="02020603050405020304" pitchFamily="18" charset="0"/>
                <a:cs typeface="Times New Roman" panose="02020603050405020304" pitchFamily="18" charset="0"/>
              </a:rPr>
              <a:t>FOR LISTENING </a:t>
            </a:r>
            <a:endParaRPr lang="en-GB" sz="96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A7C2BA6-9175-4393-BC16-AD9AEFA91D9A}" type="slidenum">
              <a:rPr kumimoji="0" lang="en-GB" sz="1400" b="0" i="0" u="none" strike="noStrike" kern="1200" cap="none" spc="0" normalizeH="0" baseline="0" noProof="0" smtClean="0">
                <a:ln>
                  <a:noFill/>
                </a:ln>
                <a:solidFill>
                  <a:srgbClr val="FFFFFF"/>
                </a:solidFill>
                <a:effectLst/>
                <a:uLnTx/>
                <a:uFillTx/>
                <a:latin typeface="Calibri" panose="020F0502020204030204"/>
                <a:ea typeface="+mj-ea"/>
                <a:cs typeface="+mj-cs"/>
              </a:rPr>
            </a:fld>
            <a:endParaRPr kumimoji="0" lang="en-GB" sz="1400" b="0" i="0" u="none" strike="noStrike" kern="1200" cap="none" spc="0" normalizeH="0" baseline="0" noProof="0">
              <a:ln>
                <a:noFill/>
              </a:ln>
              <a:solidFill>
                <a:srgbClr val="FFFFFF"/>
              </a:solidFill>
              <a:effectLst/>
              <a:uLnTx/>
              <a:uFillTx/>
              <a:latin typeface="Calibri" panose="020F0502020204030204"/>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nctm2013lates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ranklin Gothic">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ctm2013lates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8579</Words>
  <Application>WPS Presentation</Application>
  <PresentationFormat>Widescreen</PresentationFormat>
  <Paragraphs>155</Paragraphs>
  <Slides>18</Slides>
  <Notes>2</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18</vt:i4>
      </vt:variant>
    </vt:vector>
  </HeadingPairs>
  <TitlesOfParts>
    <vt:vector size="41" baseType="lpstr">
      <vt:lpstr>Arial</vt:lpstr>
      <vt:lpstr>SimSun</vt:lpstr>
      <vt:lpstr>Wingdings</vt:lpstr>
      <vt:lpstr>Calibri</vt:lpstr>
      <vt:lpstr>Tw Cen MT</vt:lpstr>
      <vt:lpstr>Calibri Light</vt:lpstr>
      <vt:lpstr>Tw Cen MT</vt:lpstr>
      <vt:lpstr>Wingdings 2</vt:lpstr>
      <vt:lpstr>Arial Nova Cond Light</vt:lpstr>
      <vt:lpstr>Calibri</vt:lpstr>
      <vt:lpstr>Times New Roman</vt:lpstr>
      <vt:lpstr>Wingdings</vt:lpstr>
      <vt:lpstr>Times New Roman</vt:lpstr>
      <vt:lpstr>Franklin Gothic Book</vt:lpstr>
      <vt:lpstr>Franklin Gothic Medium</vt:lpstr>
      <vt:lpstr>Microsoft YaHei</vt:lpstr>
      <vt:lpstr>Arial Unicode MS</vt:lpstr>
      <vt:lpstr>Gill Sans MT</vt:lpstr>
      <vt:lpstr>MS PGothic</vt:lpstr>
      <vt:lpstr>Gigi</vt:lpstr>
      <vt:lpstr>Georgia</vt:lpstr>
      <vt:lpstr>nctm2013latest</vt:lpstr>
      <vt:lpstr>1_nctm2013latest</vt:lpstr>
      <vt:lpstr>ASSESSMENT OF ATMOSPHERIC PARTICULATE MATTER AND AIR POLLUTANTS IN FIVE MOTOR PARKS IN UGHELLI, DELTA STATE, NIGERIA.  Dr .Tari, Joel Honda</vt:lpstr>
      <vt:lpstr>PowerPoint 演示文稿</vt:lpstr>
      <vt:lpstr>INTRODUCTION</vt:lpstr>
      <vt:lpstr>CONT’S</vt:lpstr>
      <vt:lpstr>      Statement of the problem</vt:lpstr>
      <vt:lpstr>CON’T</vt:lpstr>
      <vt:lpstr>Aim and Objectives of the Study </vt:lpstr>
      <vt:lpstr>Materials and methods</vt:lpstr>
      <vt:lpstr>PowerPoint 演示文稿</vt:lpstr>
      <vt:lpstr>PowerPoint 演示文稿</vt:lpstr>
      <vt:lpstr>PowerPoint 演示文稿</vt:lpstr>
      <vt:lpstr>PowerPoint 演示文稿</vt:lpstr>
      <vt:lpstr>PM2.5and PM10 AQI Levels by Motor Parks</vt:lpstr>
      <vt:lpstr>PowerPoint 演示文稿</vt:lpstr>
      <vt:lpstr>PowerPoint 演示文稿</vt:lpstr>
      <vt:lpstr>                           Contributions to Knowledge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the FTE Survey</dc:title>
  <dc:creator>David Olufemi Akindimeji</dc:creator>
  <cp:lastModifiedBy>HP</cp:lastModifiedBy>
  <cp:revision>396</cp:revision>
  <dcterms:created xsi:type="dcterms:W3CDTF">2021-02-22T16:51:00Z</dcterms:created>
  <dcterms:modified xsi:type="dcterms:W3CDTF">2025-06-08T22:19:07Z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D77A2C3BFACF4FAD9FA93178B5CA86F9_12</vt:lpwstr>
  </property>
  <property fmtid="{D5CDD505-2E9C-101B-9397-08002B2CF9AE}" pid="3" name="KSOProductBuildVer">
    <vt:lpwstr>2057-12.2.0.21179</vt:lpwstr>
  </property>
</Properties>
</file>