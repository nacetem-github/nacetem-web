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8"/>
  </p:notesMasterIdLst>
  <p:sldIdLst>
    <p:sldId id="277" r:id="rId3"/>
    <p:sldId id="259" r:id="rId4"/>
    <p:sldId id="286" r:id="rId5"/>
    <p:sldId id="282" r:id="rId6"/>
    <p:sldId id="283" r:id="rId7"/>
    <p:sldId id="260" r:id="rId8"/>
    <p:sldId id="262" r:id="rId9"/>
    <p:sldId id="284" r:id="rId10"/>
    <p:sldId id="263" r:id="rId11"/>
    <p:sldId id="269" r:id="rId12"/>
    <p:sldId id="281" r:id="rId13"/>
    <p:sldId id="285" r:id="rId14"/>
    <p:sldId id="272" r:id="rId15"/>
    <p:sldId id="280" r:id="rId16"/>
    <p:sldId id="275" r:id="rId17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09C170-238D-469E-AC30-D8CB95E4C4E3}">
          <p14:sldIdLst>
            <p14:sldId id="277"/>
          </p14:sldIdLst>
        </p14:section>
        <p14:section name="Untitled Section" id="{7BD52286-3AED-46BD-AB05-F7D7C9231D2C}">
          <p14:sldIdLst>
            <p14:sldId id="259"/>
            <p14:sldId id="286"/>
            <p14:sldId id="282"/>
            <p14:sldId id="283"/>
            <p14:sldId id="260"/>
            <p14:sldId id="262"/>
            <p14:sldId id="284"/>
            <p14:sldId id="263"/>
            <p14:sldId id="269"/>
            <p14:sldId id="281"/>
            <p14:sldId id="285"/>
            <p14:sldId id="272"/>
            <p14:sldId id="280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015" autoAdjust="0"/>
    <p:restoredTop sz="94660"/>
  </p:normalViewPr>
  <p:slideViewPr>
    <p:cSldViewPr snapToGrid="0">
      <p:cViewPr varScale="1">
        <p:scale>
          <a:sx n="72" d="100"/>
          <a:sy n="72" d="100"/>
        </p:scale>
        <p:origin x="33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1" d="100"/>
          <a:sy n="41" d="100"/>
        </p:scale>
        <p:origin x="1794" y="5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rahichriswakawa@gmail.com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SimSun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SimSun" pitchFamily="2" charset="-122"/>
                <a:cs typeface="+mn-cs"/>
              </a:rPr>
              <a:t>aispi, July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SimSun" pitchFamily="2" charset="-122"/>
                <a:cs typeface="+mn-cs"/>
              </a:rPr>
              <a:t>nacetem-managing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SimSun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关系图"/>
          <p:cNvPicPr>
            <a:picLocks noChangeAspect="1"/>
          </p:cNvPicPr>
          <p:nvPr/>
        </p:nvPicPr>
        <p:blipFill>
          <a:blip r:embed="rId2"/>
          <a:srcRect r="2528" b="10909"/>
          <a:stretch>
            <a:fillRect/>
          </a:stretch>
        </p:blipFill>
        <p:spPr>
          <a:xfrm>
            <a:off x="239184" y="692150"/>
            <a:ext cx="11885083" cy="6110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2117" y="549275"/>
            <a:ext cx="12192000" cy="151130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544233" y="2492375"/>
            <a:ext cx="7393517" cy="12223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2056" name="Rectangle 8"/>
          <p:cNvSpPr>
            <a:spLocks noGrp="1" noChangeArrowheads="1"/>
          </p:cNvSpPr>
          <p:nvPr>
            <p:ph type="ctrTitle"/>
          </p:nvPr>
        </p:nvSpPr>
        <p:spPr>
          <a:xfrm>
            <a:off x="1007533" y="620713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SimSun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SimSun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9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9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9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9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9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9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9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9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117" y="333375"/>
            <a:ext cx="12192000" cy="1009650"/>
          </a:xfrm>
          <a:prstGeom prst="rect">
            <a:avLst/>
          </a:prstGeom>
          <a:gradFill rotWithShape="0">
            <a:gsLst>
              <a:gs pos="0">
                <a:schemeClr val="bg2">
                  <a:gamma/>
                  <a:tint val="0"/>
                  <a:invGamma/>
                </a:schemeClr>
              </a:gs>
              <a:gs pos="100000">
                <a:schemeClr val="bg2">
                  <a:alpha val="53999"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SimSun" pitchFamily="2" charset="-122"/>
              <a:cs typeface="+mn-cs"/>
            </a:endParaRPr>
          </a:p>
        </p:txBody>
      </p:sp>
      <p:pic>
        <p:nvPicPr>
          <p:cNvPr id="1027" name="Picture 3" descr="关系图"/>
          <p:cNvPicPr>
            <a:picLocks noChangeAspect="1"/>
          </p:cNvPicPr>
          <p:nvPr/>
        </p:nvPicPr>
        <p:blipFill>
          <a:blip r:embed="rId13"/>
          <a:srcRect t="1094" r="8122" b="13318"/>
          <a:stretch>
            <a:fillRect/>
          </a:stretch>
        </p:blipFill>
        <p:spPr>
          <a:xfrm>
            <a:off x="7730067" y="4438650"/>
            <a:ext cx="4453467" cy="23336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5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FDE934FF-F4E1-47C5-9CA5-30A81DDE2BE4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3561BA9-CDCF-4958-B8AB-66F3BF063E1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 bldLvl="0" animBg="1"/>
      <p:bldP spid="1028" grpId="0" bldLvl="0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955"/>
            <a:ext cx="10972165" cy="6202680"/>
          </a:xfrm>
        </p:spPr>
        <p:txBody>
          <a:bodyPr/>
          <a:lstStyle/>
          <a:p>
            <a:r>
              <a:rPr lang="en-US"/>
              <a:t>                          </a:t>
            </a:r>
          </a:p>
        </p:txBody>
      </p:sp>
      <p:pic>
        <p:nvPicPr>
          <p:cNvPr id="9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12500" y="594360"/>
            <a:ext cx="937895" cy="8235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ext Box 9"/>
          <p:cNvSpPr txBox="1"/>
          <p:nvPr/>
        </p:nvSpPr>
        <p:spPr>
          <a:xfrm>
            <a:off x="609600" y="-103643"/>
            <a:ext cx="10123805" cy="69865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FACTORS INFLUENCING THE ADOPTION OF GREEN SUPPLY CHAIN MANAGEMENT TECHNOLOGIES AND PRACTICES IN SELECTED PHARMACEUTICAL AND TEXTILE FIRMS IN SOUTHWESTERN NIGERIA</a:t>
            </a:r>
          </a:p>
          <a:p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</a:rPr>
              <a:t> BY</a:t>
            </a:r>
          </a:p>
          <a:p>
            <a:pPr algn="ctr"/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Black" panose="020B0A04020102020204" charset="0"/>
              <a:cs typeface="Arial Black" panose="020B0A04020102020204" charset="0"/>
            </a:endParaRPr>
          </a:p>
          <a:p>
            <a:pPr algn="ctr"/>
            <a:r>
              <a:rPr 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 Black" panose="020B0A04020102020204" charset="0"/>
                <a:cs typeface="Arial Black" panose="020B0A04020102020204" charset="0"/>
                <a:sym typeface="+mn-ea"/>
              </a:rPr>
              <a:t>Grace  OJO-EMMANUAL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 Bold" panose="020B0604020202090204" charset="0"/>
                <a:cs typeface="Arial Bold" panose="020B0604020202090204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57568"/>
            <a:ext cx="10972800" cy="4953000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Background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Problem Identification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Methodology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Results and Discussion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Conclusion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905" y="274955"/>
            <a:ext cx="1041400" cy="820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Arial Bold" panose="020B0604020202090204" charset="0"/>
                <a:cs typeface="Arial Bold" panose="020B0604020202090204" charset="0"/>
              </a:rP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/>
              <a:t>The manufacturing industry significantly contributes to national economic development, accounting for 27.38% of the country's GDP in 2019 (</a:t>
            </a:r>
            <a:r>
              <a:rPr lang="en-US" sz="2800" dirty="0" err="1"/>
              <a:t>Emachone</a:t>
            </a:r>
            <a:r>
              <a:rPr lang="en-US" sz="2800" dirty="0"/>
              <a:t>, 2020; Ojo-Emmanuel </a:t>
            </a:r>
            <a:r>
              <a:rPr lang="en-US" sz="2800" i="1" dirty="0"/>
              <a:t>et al., </a:t>
            </a:r>
            <a:r>
              <a:rPr lang="en-US" sz="2800" dirty="0"/>
              <a:t>2023).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/>
              <a:t>Though, it is also a significant contributor to environmental pollution, releasing around 10,000 kilograms of CO₂ each year (Sousa </a:t>
            </a:r>
            <a:r>
              <a:rPr lang="en-US" sz="2800" i="1" dirty="0"/>
              <a:t>et al., </a:t>
            </a:r>
            <a:r>
              <a:rPr lang="en-US" sz="2800" dirty="0"/>
              <a:t>2023).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/>
              <a:t>Nevertheless, this places Nigeria among the top carbon dioxide emitters in Africa (</a:t>
            </a:r>
            <a:r>
              <a:rPr lang="en-US" sz="2800" dirty="0" err="1"/>
              <a:t>Kohnert</a:t>
            </a:r>
            <a:r>
              <a:rPr lang="en-US" sz="2800" dirty="0"/>
              <a:t>, 2024). 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905" y="274955"/>
            <a:ext cx="1041400" cy="82042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869236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AAC9-9E86-A8CD-948C-371E1A69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 panose="020B0604020202090204" charset="0"/>
                <a:ea typeface="SimSun"/>
                <a:cs typeface="Arial Bold" panose="020B0604020202090204" charset="0"/>
              </a:rPr>
              <a:t>BACKGROUND CONT’D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B1510-FAF8-9154-237C-3764B0771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/>
              <a:t>Supply chain management ensures efficient industrial operations by streamlining raw material conversion and timely product distribution.(</a:t>
            </a:r>
            <a:r>
              <a:rPr lang="en-US" sz="2800" dirty="0" err="1"/>
              <a:t>Dametew</a:t>
            </a:r>
            <a:r>
              <a:rPr lang="en-US" sz="2800" dirty="0"/>
              <a:t> </a:t>
            </a:r>
            <a:r>
              <a:rPr lang="en-US" sz="2800" i="1" dirty="0"/>
              <a:t>et al., </a:t>
            </a:r>
            <a:r>
              <a:rPr lang="en-US" sz="2800" dirty="0"/>
              <a:t>2020).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/>
              <a:t>SCM connects suppliers, manufacturers, wholesalers, and consumers via transport, storage, and information systems(</a:t>
            </a:r>
            <a:r>
              <a:rPr lang="en-US" sz="2800" dirty="0" err="1"/>
              <a:t>Litke</a:t>
            </a:r>
            <a:r>
              <a:rPr lang="en-US" sz="2800" dirty="0"/>
              <a:t> </a:t>
            </a:r>
            <a:r>
              <a:rPr lang="en-US" sz="2800" i="1" dirty="0"/>
              <a:t>et al., </a:t>
            </a:r>
            <a:r>
              <a:rPr lang="en-US" sz="2800" dirty="0"/>
              <a:t>2019).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/>
              <a:t>Green supply chain management  strengthens SCM by embedding environmental concerns into every supply chain stage. (Han and Huo, 2020). </a:t>
            </a:r>
          </a:p>
        </p:txBody>
      </p:sp>
    </p:spTree>
    <p:extLst>
      <p:ext uri="{BB962C8B-B14F-4D97-AF65-F5344CB8AC3E}">
        <p14:creationId xmlns:p14="http://schemas.microsoft.com/office/powerpoint/2010/main" val="545079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CA6B2-D377-419B-6347-C81ABBFC3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Bold" panose="020B0604020202090204" charset="0"/>
                <a:ea typeface="SimSun"/>
                <a:cs typeface="Arial Bold" panose="020B0604020202090204" charset="0"/>
              </a:rPr>
              <a:t>BACKGROUND CONT’D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47925-C8A0-EE31-E521-21B8EAFF3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1" y="773113"/>
            <a:ext cx="11383617" cy="49530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Adopting GSCM reduces emissions, boosts efficiency, drives innovation, and cuts costs to increase profitability(Wong </a:t>
            </a:r>
            <a:r>
              <a:rPr lang="en-US" sz="2400" i="1" dirty="0"/>
              <a:t>et al., </a:t>
            </a:r>
            <a:r>
              <a:rPr lang="en-US" sz="2400" dirty="0"/>
              <a:t>2020).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Furthermore, it uses green technologies like biodegradable materials, renewables, and eco-packaging to cut emissions and protect ecosystems (Rupa and </a:t>
            </a:r>
            <a:r>
              <a:rPr lang="en-US" sz="2400" dirty="0" err="1"/>
              <a:t>Saif</a:t>
            </a:r>
            <a:r>
              <a:rPr lang="en-US" sz="2400" dirty="0"/>
              <a:t>, 2022).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Information and Communications Technology (ICT) in GSCM streamlines operations through better monitoring, decisions, and automation (Zhu </a:t>
            </a:r>
            <a:r>
              <a:rPr lang="en-US" sz="2400" i="1" dirty="0"/>
              <a:t>et al., </a:t>
            </a:r>
            <a:r>
              <a:rPr lang="en-US" sz="2400" dirty="0"/>
              <a:t>2022).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However, GSCM, coupled with green technologies and ICT, provides a strategic approach to achieving sustainability while maintaining economic growth (Khan </a:t>
            </a:r>
            <a:r>
              <a:rPr lang="en-US" sz="2400" i="1" dirty="0"/>
              <a:t>et al., </a:t>
            </a:r>
            <a:r>
              <a:rPr lang="en-US" sz="2400" dirty="0"/>
              <a:t>2022). </a:t>
            </a:r>
          </a:p>
        </p:txBody>
      </p:sp>
    </p:spTree>
    <p:extLst>
      <p:ext uri="{BB962C8B-B14F-4D97-AF65-F5344CB8AC3E}">
        <p14:creationId xmlns:p14="http://schemas.microsoft.com/office/powerpoint/2010/main" val="170509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latin typeface="Arial Bold" panose="020B0604020202090204" charset="0"/>
                <a:cs typeface="Arial Bold" panose="020B0604020202090204" charset="0"/>
              </a:rPr>
              <a:t>IDENTIFYING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52500"/>
            <a:ext cx="10972800" cy="49530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Despite the environmental and economic benefits of GSCM, its adoption remains low among pharmaceutical and textile firms in Southwestern Nigeria (</a:t>
            </a:r>
            <a:r>
              <a:rPr lang="en-US" dirty="0" err="1"/>
              <a:t>Alkandi</a:t>
            </a:r>
            <a:r>
              <a:rPr lang="en-US" dirty="0"/>
              <a:t> </a:t>
            </a:r>
            <a:r>
              <a:rPr lang="en-US" i="1" dirty="0"/>
              <a:t>et al., </a:t>
            </a:r>
            <a:r>
              <a:rPr lang="en-US" dirty="0"/>
              <a:t>2024).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/>
              <a:t>It is against this backdrop that this study examined key factors influencing the adoption of GSCM in the selected pharmaceutical and textile firms in Southwestern Nigeria.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905" y="274955"/>
            <a:ext cx="1041400" cy="820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6" y="-16352"/>
            <a:ext cx="11357113" cy="582613"/>
          </a:xfrm>
        </p:spPr>
        <p:txBody>
          <a:bodyPr/>
          <a:lstStyle/>
          <a:p>
            <a:r>
              <a:rPr lang="en-US" b="1" dirty="0">
                <a:latin typeface="Arial Bold" panose="020B0604020202090204" charset="0"/>
                <a:cs typeface="Arial Bold" panose="020B0604020202090204" charset="0"/>
                <a:sym typeface="+mn-ea"/>
              </a:rPr>
              <a:t> </a:t>
            </a:r>
            <a:r>
              <a:rPr lang="en-US" sz="2800" b="1" dirty="0">
                <a:latin typeface="Arial Bold" panose="020B0604020202090204" charset="0"/>
                <a:cs typeface="Arial Bold" panose="020B0604020202090204" charset="0"/>
                <a:sym typeface="+mn-ea"/>
              </a:rPr>
              <a:t>RESEARCH METHODOLOGY</a:t>
            </a:r>
            <a:endParaRPr lang="en-US" sz="2800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443" y="773113"/>
            <a:ext cx="10972800" cy="6059584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b="1" dirty="0"/>
              <a:t>Study Area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The study was carried out in two South Western States of Nigeria namely: Lagos, and Ogun States.</a:t>
            </a:r>
          </a:p>
          <a:p>
            <a:pPr marL="0" indent="0" algn="just">
              <a:buNone/>
            </a:pPr>
            <a:endParaRPr lang="en-US" sz="20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The mentioned states were selected because they have high concentration of pharmaceutical and textile firms in the region.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Sun"/>
                <a:cs typeface="+mn-cs"/>
              </a:rPr>
              <a:t>Population of the Study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Sun"/>
                <a:cs typeface="+mn-cs"/>
              </a:rPr>
              <a:t>A total sample of 240 respondents was selected.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Sun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Sun"/>
                <a:cs typeface="+mn-cs"/>
              </a:rPr>
              <a:t>120 respondents from 10 pharmaceutical  firms with 12 respondents consisting of the 1 production manager, 2 suppliers, 3 Distributors,  3 Retailers,  and 3 Consumers.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Sun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SimSun"/>
                <a:cs typeface="+mn-cs"/>
              </a:rPr>
              <a:t>120 respondents from 10 textile firms with 12 respondents consisting of the 1 production manager, 2 suppliers, 3 Distributors,  3 Retailers,  and 3 Consumers.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0" indent="0" algn="just">
              <a:buNone/>
            </a:pPr>
            <a:endParaRPr lang="en-US" sz="18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9905" y="274955"/>
            <a:ext cx="1041400" cy="820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9670D-3C65-71F9-3F7B-A54952B62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91" y="331304"/>
            <a:ext cx="11317357" cy="627339"/>
          </a:xfrm>
        </p:spPr>
        <p:txBody>
          <a:bodyPr/>
          <a:lstStyle/>
          <a:p>
            <a:pPr marL="342900" marR="0" lvl="0" indent="-34290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(Body)"/>
                <a:ea typeface="SimSun"/>
                <a:cs typeface="Times New Roman" pitchFamily="18" charset="0"/>
              </a:rPr>
              <a:t>RESEARCH METHODOLOGY CONT’D</a:t>
            </a:r>
            <a:b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(Body)"/>
                <a:ea typeface="SimSun"/>
                <a:cs typeface="Times New Roman" pitchFamily="18" charset="0"/>
              </a:rPr>
            </a:br>
            <a:endParaRPr lang="en-US" dirty="0">
              <a:latin typeface="Arial (Body)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34BB0-4950-DDA1-3790-2C67EFEEA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809" y="773113"/>
            <a:ext cx="11675165" cy="4953000"/>
          </a:xfr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Method of data Collection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Primary Data Collection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 Two sets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of questionnaire was used in the collection of primary data.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First Set- Distributors, Retailers and Consumers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Second Set- Manufacturers and Suppliers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Secondary Data Collection </a:t>
            </a:r>
          </a:p>
          <a:p>
            <a:pPr marL="0" marR="0" lvl="0" indent="0" algn="just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  Secondary data will be sourced from academic journals, companies’ technical reports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005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801" y="190500"/>
            <a:ext cx="11318599" cy="836930"/>
          </a:xfrm>
        </p:spPr>
        <p:txBody>
          <a:bodyPr/>
          <a:lstStyle/>
          <a:p>
            <a:r>
              <a:rPr lang="en-US" sz="2800" b="1" dirty="0">
                <a:latin typeface="Arial Bold" panose="020B0604020202090204" charset="0"/>
                <a:cs typeface="Arial Bold" panose="020B0604020202090204" charset="0"/>
              </a:rPr>
              <a:t>RESEARCH METHODOLOGY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801" y="952500"/>
            <a:ext cx="11437869" cy="5461552"/>
          </a:xfr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Sampling Techniques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  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Multistage sampling technique was used to collect data for this study.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Stage 1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: Purposive selection of Lagos and Ogun states among </a:t>
            </a:r>
            <a:r>
              <a:rPr kumimoji="0" lang="en-US" sz="2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SouthWestern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States because of the high concentration of industrial firms in the two states.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Stage 2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: Purposive selection of two industrial sub-sectors: Pharmaceutical and Textile industries, based on their high level of contributions to both air and water pollution.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Stage 3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: Purposive selection of 10 pharmaceutical and 10 textile firms  in each of the two states, based on their volume of production.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endParaRPr kumimoji="0" 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Stage 4</a:t>
            </a: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: Random selection of 240 respondents from 20 firms. 12 respondents from each firm:  Suppliers (2); Production Manager (1); Distributors (3); Retailers (3) and Consumers (3), based on their availability.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799" y="190500"/>
            <a:ext cx="1041400" cy="820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497945" cy="582930"/>
          </a:xfrm>
        </p:spPr>
        <p:txBody>
          <a:bodyPr/>
          <a:lstStyle/>
          <a:p>
            <a:r>
              <a:rPr lang="en-US" dirty="0"/>
              <a:t>                                     </a:t>
            </a:r>
            <a:r>
              <a:rPr lang="en-US" sz="2800" b="1" dirty="0">
                <a:latin typeface="Arial Bold" panose="020B0604020202090204" charset="0"/>
                <a:cs typeface="Arial Bold" panose="020B0604020202090204" charset="0"/>
              </a:rPr>
              <a:t>FINDINGS</a:t>
            </a:r>
            <a:endParaRPr lang="en-US" b="1" dirty="0">
              <a:latin typeface="Arial Bold" panose="020B0604020202090204" charset="0"/>
              <a:cs typeface="Arial Bold" panose="020B060402020209020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D67E84-ED44-8962-07F7-D419F634C6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682756"/>
              </p:ext>
            </p:extLst>
          </p:nvPr>
        </p:nvGraphicFramePr>
        <p:xfrm>
          <a:off x="377370" y="1059874"/>
          <a:ext cx="11293929" cy="5391034"/>
        </p:xfrm>
        <a:graphic>
          <a:graphicData uri="http://schemas.openxmlformats.org/drawingml/2006/table">
            <a:tbl>
              <a:tblPr firstRow="1" firstCol="1" bandRow="1"/>
              <a:tblGrid>
                <a:gridCol w="744421">
                  <a:extLst>
                    <a:ext uri="{9D8B030D-6E8A-4147-A177-3AD203B41FA5}">
                      <a16:colId xmlns:a16="http://schemas.microsoft.com/office/drawing/2014/main" val="1160147018"/>
                    </a:ext>
                  </a:extLst>
                </a:gridCol>
                <a:gridCol w="6061713">
                  <a:extLst>
                    <a:ext uri="{9D8B030D-6E8A-4147-A177-3AD203B41FA5}">
                      <a16:colId xmlns:a16="http://schemas.microsoft.com/office/drawing/2014/main" val="3132211049"/>
                    </a:ext>
                  </a:extLst>
                </a:gridCol>
                <a:gridCol w="1701534">
                  <a:extLst>
                    <a:ext uri="{9D8B030D-6E8A-4147-A177-3AD203B41FA5}">
                      <a16:colId xmlns:a16="http://schemas.microsoft.com/office/drawing/2014/main" val="579505202"/>
                    </a:ext>
                  </a:extLst>
                </a:gridCol>
                <a:gridCol w="1595189">
                  <a:extLst>
                    <a:ext uri="{9D8B030D-6E8A-4147-A177-3AD203B41FA5}">
                      <a16:colId xmlns:a16="http://schemas.microsoft.com/office/drawing/2014/main" val="357761726"/>
                    </a:ext>
                  </a:extLst>
                </a:gridCol>
                <a:gridCol w="1191072">
                  <a:extLst>
                    <a:ext uri="{9D8B030D-6E8A-4147-A177-3AD203B41FA5}">
                      <a16:colId xmlns:a16="http://schemas.microsoft.com/office/drawing/2014/main" val="3745094825"/>
                    </a:ext>
                  </a:extLst>
                </a:gridCol>
              </a:tblGrid>
              <a:tr h="2371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S/N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Factor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Minimum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Maximum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Mean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4729414"/>
                  </a:ext>
                </a:extLst>
              </a:tr>
              <a:tr h="237115">
                <a:tc gridSpan="5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           Government policies and regulations Factor (GPRF)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457249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Local environmental regulations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3.87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993822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2.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Government support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3.67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0891660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Moral standards and company social responsibility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3.57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992854"/>
                  </a:ext>
                </a:extLst>
              </a:tr>
              <a:tr h="237115">
                <a:tc gridSpan="5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           Customers Factor (CF)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987035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4.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Awareness in the society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3.98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168728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Demand and public awareness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3.90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804341"/>
                  </a:ext>
                </a:extLst>
              </a:tr>
              <a:tr h="237115">
                <a:tc gridSpan="5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           Internal Factor (IF)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663465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6.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Skills and experiences in green practices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4.10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4944792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7.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Related knowledge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4.07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060260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8.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Initial cost to implement GSCM 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4.06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320355"/>
                  </a:ext>
                </a:extLst>
              </a:tr>
              <a:tr h="237115">
                <a:tc gridSpan="5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           External Factor (EF)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337718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9.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Organisational structure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4.03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54035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10.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Knowledge to implement green buying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3.97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6963114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11.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Transportation cost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3.95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210827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Production and operational factor (POF)  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262668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12.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Needed infrastructure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4.15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394069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13.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Staff training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4.09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989396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14.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Professional human resources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4.07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2144206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15.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Modification of business strategies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3.87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4146"/>
                  </a:ext>
                </a:extLst>
              </a:tr>
              <a:tr h="23711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16.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Maintenance culture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3.85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6360" marR="6636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9794916"/>
                  </a:ext>
                </a:extLst>
              </a:tr>
            </a:tbl>
          </a:graphicData>
        </a:graphic>
      </p:graphicFrame>
      <p:pic>
        <p:nvPicPr>
          <p:cNvPr id="5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1300" y="-118745"/>
            <a:ext cx="1041400" cy="8204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62013C9-D14A-8DE5-A806-A2443118D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99389"/>
            <a:ext cx="7652929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3:</a:t>
            </a: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Mean Ranking of Factors Influencing the Adoption of GSCM Technologies and  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Practices in the Study Area (Adopted from Jagannath </a:t>
            </a:r>
            <a:r>
              <a:rPr kumimoji="0" lang="en-GB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 al.,</a:t>
            </a: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2018)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6EEEDE-0E1C-1AF0-C0B4-45F9015E4319}"/>
              </a:ext>
            </a:extLst>
          </p:cNvPr>
          <p:cNvSpPr/>
          <p:nvPr/>
        </p:nvSpPr>
        <p:spPr bwMode="auto">
          <a:xfrm>
            <a:off x="0" y="6450908"/>
            <a:ext cx="12191999" cy="476944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Key: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Strongly Disagreed: 0.0-1.44; Disagreed: 1.5-2.44; Undecided 2.5-3.44; Agreed 3.5-4.44; Strongly Agreed 4.45-5.0.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6220E-2148-97E5-266F-5C33D8E0F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FINDINGS CONT’D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01EA0E0F-1401-8D4A-8AEC-61F6DAC3F3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5671423"/>
              </p:ext>
            </p:extLst>
          </p:nvPr>
        </p:nvGraphicFramePr>
        <p:xfrm>
          <a:off x="444500" y="930938"/>
          <a:ext cx="11429999" cy="6330731"/>
        </p:xfrm>
        <a:graphic>
          <a:graphicData uri="http://schemas.openxmlformats.org/drawingml/2006/table">
            <a:tbl>
              <a:tblPr firstRow="1" firstCol="1"/>
              <a:tblGrid>
                <a:gridCol w="744058">
                  <a:extLst>
                    <a:ext uri="{9D8B030D-6E8A-4147-A177-3AD203B41FA5}">
                      <a16:colId xmlns:a16="http://schemas.microsoft.com/office/drawing/2014/main" val="200797081"/>
                    </a:ext>
                  </a:extLst>
                </a:gridCol>
                <a:gridCol w="5890462">
                  <a:extLst>
                    <a:ext uri="{9D8B030D-6E8A-4147-A177-3AD203B41FA5}">
                      <a16:colId xmlns:a16="http://schemas.microsoft.com/office/drawing/2014/main" val="1111408360"/>
                    </a:ext>
                  </a:extLst>
                </a:gridCol>
                <a:gridCol w="1446778">
                  <a:extLst>
                    <a:ext uri="{9D8B030D-6E8A-4147-A177-3AD203B41FA5}">
                      <a16:colId xmlns:a16="http://schemas.microsoft.com/office/drawing/2014/main" val="2261317042"/>
                    </a:ext>
                  </a:extLst>
                </a:gridCol>
                <a:gridCol w="1343438">
                  <a:extLst>
                    <a:ext uri="{9D8B030D-6E8A-4147-A177-3AD203B41FA5}">
                      <a16:colId xmlns:a16="http://schemas.microsoft.com/office/drawing/2014/main" val="2629370780"/>
                    </a:ext>
                  </a:extLst>
                </a:gridCol>
                <a:gridCol w="171526">
                  <a:extLst>
                    <a:ext uri="{9D8B030D-6E8A-4147-A177-3AD203B41FA5}">
                      <a16:colId xmlns:a16="http://schemas.microsoft.com/office/drawing/2014/main" val="1981637364"/>
                    </a:ext>
                  </a:extLst>
                </a:gridCol>
                <a:gridCol w="1833737">
                  <a:extLst>
                    <a:ext uri="{9D8B030D-6E8A-4147-A177-3AD203B41FA5}">
                      <a16:colId xmlns:a16="http://schemas.microsoft.com/office/drawing/2014/main" val="3461474481"/>
                    </a:ext>
                  </a:extLst>
                </a:gridCol>
              </a:tblGrid>
              <a:tr h="42999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S/N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Factor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Minimum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Maximum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Mean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883390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Needed infrastructure (Production and operational)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          4.15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010054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Skills and experiences in green practices (Internal Factor)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4.10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649938"/>
                  </a:ext>
                </a:extLst>
              </a:tr>
              <a:tr h="20799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Staff training (Production and operational)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4.09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4035245"/>
                  </a:ext>
                </a:extLst>
              </a:tr>
              <a:tr h="20799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Related knowledge (Internal Factor)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4.07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8289255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Professional human resources (Production and operational)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4.07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114420"/>
                  </a:ext>
                </a:extLst>
              </a:tr>
              <a:tr h="20799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Initial cost to implement GSCM (Internal Factor)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4.06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218177"/>
                  </a:ext>
                </a:extLst>
              </a:tr>
              <a:tr h="20799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Organizational structure (External Factor)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4.03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1877503"/>
                  </a:ext>
                </a:extLst>
              </a:tr>
              <a:tr h="20799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Awareness in the society (Customers Factor)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3.98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92618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Knowledge to implement green buying (External Factor)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3.97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701292"/>
                  </a:ext>
                </a:extLst>
              </a:tr>
              <a:tr h="207991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Transportation cost (External Factor)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3.95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8521700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Demand and public awareness (Customers Factor)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3.90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675319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Local environmental regulations (Government policies and regulations)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3.87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356210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Modification of business strategies (Production and operational)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3.87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310998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Maintenance culture (Production and operational)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3.85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745212"/>
                  </a:ext>
                </a:extLst>
              </a:tr>
              <a:tr h="42999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Government support (Government policies and regulations)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3.67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285322"/>
                  </a:ext>
                </a:extLst>
              </a:tr>
              <a:tr h="65198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Moral standards and company social responsibility (Government policies and regulations)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3.57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7139" marR="67139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0914021"/>
                  </a:ext>
                </a:extLst>
              </a:tr>
            </a:tbl>
          </a:graphicData>
        </a:graphic>
      </p:graphicFrame>
      <p:sp>
        <p:nvSpPr>
          <p:cNvPr id="13" name="Rectangle 9">
            <a:extLst>
              <a:ext uri="{FF2B5EF4-FFF2-40B4-BE49-F238E27FC236}">
                <a16:creationId xmlns:a16="http://schemas.microsoft.com/office/drawing/2014/main" id="{0AACDE1F-117C-FF08-75A1-EC513007E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480"/>
            <a:ext cx="11696700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Table 4.5: General Mean Ranking of the Combined Factors Influencing the Adoption of  GSCM Technologies and Practices in the Study Area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317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FDD3-9C38-1993-D2AB-2E8B8798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FINDINGS CONT’D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FEDA3C-8DDF-A46F-DF2A-8E33FC6E3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1131668"/>
              </p:ext>
            </p:extLst>
          </p:nvPr>
        </p:nvGraphicFramePr>
        <p:xfrm>
          <a:off x="1676400" y="1216025"/>
          <a:ext cx="9906000" cy="5144652"/>
        </p:xfrm>
        <a:graphic>
          <a:graphicData uri="http://schemas.openxmlformats.org/drawingml/2006/table">
            <a:tbl>
              <a:tblPr/>
              <a:tblGrid>
                <a:gridCol w="1376845">
                  <a:extLst>
                    <a:ext uri="{9D8B030D-6E8A-4147-A177-3AD203B41FA5}">
                      <a16:colId xmlns:a16="http://schemas.microsoft.com/office/drawing/2014/main" val="734920944"/>
                    </a:ext>
                  </a:extLst>
                </a:gridCol>
                <a:gridCol w="1589290">
                  <a:extLst>
                    <a:ext uri="{9D8B030D-6E8A-4147-A177-3AD203B41FA5}">
                      <a16:colId xmlns:a16="http://schemas.microsoft.com/office/drawing/2014/main" val="1856415913"/>
                    </a:ext>
                  </a:extLst>
                </a:gridCol>
                <a:gridCol w="1779478">
                  <a:extLst>
                    <a:ext uri="{9D8B030D-6E8A-4147-A177-3AD203B41FA5}">
                      <a16:colId xmlns:a16="http://schemas.microsoft.com/office/drawing/2014/main" val="2141838719"/>
                    </a:ext>
                  </a:extLst>
                </a:gridCol>
                <a:gridCol w="1724850">
                  <a:extLst>
                    <a:ext uri="{9D8B030D-6E8A-4147-A177-3AD203B41FA5}">
                      <a16:colId xmlns:a16="http://schemas.microsoft.com/office/drawing/2014/main" val="1567584245"/>
                    </a:ext>
                  </a:extLst>
                </a:gridCol>
                <a:gridCol w="1439567">
                  <a:extLst>
                    <a:ext uri="{9D8B030D-6E8A-4147-A177-3AD203B41FA5}">
                      <a16:colId xmlns:a16="http://schemas.microsoft.com/office/drawing/2014/main" val="3457953555"/>
                    </a:ext>
                  </a:extLst>
                </a:gridCol>
                <a:gridCol w="1995970">
                  <a:extLst>
                    <a:ext uri="{9D8B030D-6E8A-4147-A177-3AD203B41FA5}">
                      <a16:colId xmlns:a16="http://schemas.microsoft.com/office/drawing/2014/main" val="3055239107"/>
                    </a:ext>
                  </a:extLst>
                </a:gridCol>
              </a:tblGrid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S/N</a:t>
                      </a: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Component Matrix</a:t>
                      </a:r>
                      <a:r>
                        <a:rPr lang="en-US" sz="1400" b="1" kern="1200" baseline="300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a                                           </a:t>
                      </a:r>
                      <a:r>
                        <a:rPr lang="en-US" sz="1400" b="1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Component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240263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0111798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POF29_2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.802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 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1247203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2.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POF29_5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.670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-.126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.226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921953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3.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POF29_3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.627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8573403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4.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EF28_3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.612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-.222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.385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7179054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5.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GPRF25_2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.599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.359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-.289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776373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6.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EF28_2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.574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.301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.121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-.183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5898398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7.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GPRF25_3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.304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.162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.161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9335581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8.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IF27_3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.143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.729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-.189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126462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9.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EF28_1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.103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.658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-.184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773859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11.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IF27_1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-.296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.615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.147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.175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005647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12.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CF26_1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.511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.178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090027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13.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POF29_1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u="sng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</a:t>
                      </a: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827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-.166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848495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14.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IF27_2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.281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.573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513312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15.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CF26_2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.206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.401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.362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113388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16.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GPRF25_1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-.219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.848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254973"/>
                  </a:ext>
                </a:extLst>
              </a:tr>
              <a:tr h="62865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POF29_4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.321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 </a:t>
                      </a:r>
                      <a:endParaRPr lang="en-US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.127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SimSun" panose="02010600030101010101" pitchFamily="2" charset="-122"/>
                        </a:rPr>
                        <a:t>.561</a:t>
                      </a:r>
                      <a:endParaRPr lang="en-US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SimSun" panose="02010600030101010101" pitchFamily="2" charset="-122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171774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74357FB0-2C77-1EA2-28BC-3EC801A0B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7975" y="13557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73847B6-3258-5388-8A68-4D34463EB125}"/>
              </a:ext>
            </a:extLst>
          </p:cNvPr>
          <p:cNvSpPr/>
          <p:nvPr/>
        </p:nvSpPr>
        <p:spPr>
          <a:xfrm>
            <a:off x="9415463" y="9353550"/>
            <a:ext cx="914400" cy="396875"/>
          </a:xfrm>
          <a:prstGeom prst="ellipse">
            <a:avLst/>
          </a:prstGeom>
          <a:solidFill>
            <a:sysClr val="window" lastClr="FFFFFF"/>
          </a:solidFill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1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SimSun" panose="02010600030101010101" pitchFamily="2" charset="-122"/>
              </a:rPr>
              <a:t> 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736F43-7B11-3AD0-CB19-5B5D480827A9}"/>
              </a:ext>
            </a:extLst>
          </p:cNvPr>
          <p:cNvSpPr/>
          <p:nvPr/>
        </p:nvSpPr>
        <p:spPr bwMode="auto">
          <a:xfrm>
            <a:off x="1498600" y="737077"/>
            <a:ext cx="7696200" cy="458787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 5: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Pattern Matrix</a:t>
            </a:r>
            <a:r>
              <a:rPr kumimoji="0" lang="en-US" altLang="en-US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Showing the Factor Loadings of the Extracted Factors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SimSun"/>
              <a:cs typeface="+mn-cs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SimSun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F5EB70-1EDC-591E-0FCC-4E569B88B26D}"/>
              </a:ext>
            </a:extLst>
          </p:cNvPr>
          <p:cNvSpPr/>
          <p:nvPr/>
        </p:nvSpPr>
        <p:spPr bwMode="auto">
          <a:xfrm>
            <a:off x="1143000" y="6084887"/>
            <a:ext cx="9186863" cy="761969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Highest factor loading; Extraction Method: Principal Component Analysis. 4 components extracted. Rotation Method: Promax with Kaiser </a:t>
            </a:r>
            <a:r>
              <a:rPr kumimoji="0" lang="en-US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Normalisation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6590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10210"/>
            <a:ext cx="10972800" cy="582613"/>
          </a:xfrm>
        </p:spPr>
        <p:txBody>
          <a:bodyPr/>
          <a:lstStyle/>
          <a:p>
            <a:r>
              <a:rPr lang="en-US" sz="2800" b="1" dirty="0">
                <a:latin typeface="Arial Bold" panose="020B0604020202090204" charset="0"/>
                <a:cs typeface="Arial Bold" panose="020B060402020209020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09218"/>
            <a:ext cx="12072731" cy="6525895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cs typeface="+mn-lt"/>
              </a:rPr>
              <a:t>The study concluded by identifying key factors influencing the adoption of Green Supply Chain Management (GSCM) technologies and practices.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cs typeface="+mn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cs typeface="+mn-lt"/>
              </a:rPr>
              <a:t>One major barrier is the unwillingness of firms to modify their existing business strategies, as many companies prioritise short-term financial goals over long-term sustainability.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cs typeface="+mn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cs typeface="+mn-lt"/>
              </a:rPr>
              <a:t>Additionally, a lack of skills and experience in green practices hinders the effective implementation of environmentally friendly initiatives. 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7941" y="0"/>
            <a:ext cx="1041400" cy="820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235" y="190500"/>
            <a:ext cx="11099165" cy="582930"/>
          </a:xfrm>
        </p:spPr>
        <p:txBody>
          <a:bodyPr/>
          <a:lstStyle/>
          <a:p>
            <a:r>
              <a:rPr lang="en-US" sz="2800" b="1" dirty="0">
                <a:latin typeface="Arial Bold" panose="020B0604020202090204" charset="0"/>
                <a:cs typeface="Arial Bold" panose="020B0604020202090204" charset="0"/>
              </a:rPr>
              <a:t>CONCLUSION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1" y="773430"/>
            <a:ext cx="11818729" cy="806069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cs typeface="+mn-lt"/>
              </a:rPr>
              <a:t>A lack of sustainability experts makes it harder for firms to integrate green technologies into their supply chains.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cs typeface="+mn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cs typeface="+mn-lt"/>
              </a:rPr>
              <a:t>Moreover, limited government support such as incentives, funding, and policies hinders firms from adopting greener practices.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cs typeface="+mn-lt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800" dirty="0">
                <a:cs typeface="+mn-lt"/>
              </a:rPr>
              <a:t>Promoting sustainable supply chain management depends on strategic policies, skill development, and active corporate engagement to address existing barriers.</a:t>
            </a:r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5801" y="-46990"/>
            <a:ext cx="1041400" cy="82042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778768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page24image4027473648"/>
          <p:cNvPicPr>
            <a:picLocks noGrp="1" noChangeAspect="1" noChangeArrowheads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2" r="2" b="11721"/>
          <a:stretch>
            <a:fillRect/>
          </a:stretch>
        </p:blipFill>
        <p:spPr bwMode="auto">
          <a:xfrm>
            <a:off x="0" y="1600200"/>
            <a:ext cx="10985500" cy="531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Content Placeholder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8185" y="436245"/>
            <a:ext cx="1041400" cy="8204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SimSun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usiness Cooperate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Business Cooperat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SimSun" pitchFamily="2" charset="-122"/>
          </a:defRPr>
        </a:defPPr>
      </a:lstStyle>
    </a:lnDef>
  </a:objectDefaults>
  <a:extraClrSchemeLst>
    <a:extraClrScheme>
      <a:clrScheme name="Business Cooper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usiness Cooper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usiness Cooper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4461</TotalTime>
  <Words>1480</Words>
  <Application>Microsoft Office PowerPoint</Application>
  <PresentationFormat>Widescreen</PresentationFormat>
  <Paragraphs>379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(Body)</vt:lpstr>
      <vt:lpstr>Arial Black</vt:lpstr>
      <vt:lpstr>Arial Bold</vt:lpstr>
      <vt:lpstr>Calibri</vt:lpstr>
      <vt:lpstr>Times New Roman</vt:lpstr>
      <vt:lpstr>Wingdings</vt:lpstr>
      <vt:lpstr>Orange Waves</vt:lpstr>
      <vt:lpstr>Business Cooperate</vt:lpstr>
      <vt:lpstr>                          </vt:lpstr>
      <vt:lpstr>OUTLINE</vt:lpstr>
      <vt:lpstr>BACKGROUND</vt:lpstr>
      <vt:lpstr>BACKGROUND CONT’D</vt:lpstr>
      <vt:lpstr>BACKGROUND CONT’D</vt:lpstr>
      <vt:lpstr>IDENTIFYING THE PROBLEM</vt:lpstr>
      <vt:lpstr> RESEARCH METHODOLOGY</vt:lpstr>
      <vt:lpstr>RESEARCH METHODOLOGY CONT’D </vt:lpstr>
      <vt:lpstr>RESEARCH METHODOLOGY CONT’D</vt:lpstr>
      <vt:lpstr>                                     FINDINGS</vt:lpstr>
      <vt:lpstr>FINDINGS CONT’D</vt:lpstr>
      <vt:lpstr>FINDINGS CONT’D</vt:lpstr>
      <vt:lpstr>CONCLUSION</vt:lpstr>
      <vt:lpstr>CONCLUSION CONT’D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BUILDING INNOVATION ECOSYSTEMS FOR ECONOMIC GROWTH AND SUSTAINABLE FOOD SECURITY IN NIGERIA: LEVERAGING ON GLOBAL EXPERIENCE</dc:title>
  <dc:creator>cex</dc:creator>
  <cp:lastModifiedBy>DELL</cp:lastModifiedBy>
  <cp:revision>36</cp:revision>
  <dcterms:created xsi:type="dcterms:W3CDTF">2023-06-21T19:15:47Z</dcterms:created>
  <dcterms:modified xsi:type="dcterms:W3CDTF">2025-08-18T13:38:58Z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1033-3.1.4.5932</vt:lpwstr>
  </property>
</Properties>
</file>