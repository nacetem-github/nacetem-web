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1"/>
    <p:sldMasterId id="2147483876" r:id="rId2"/>
  </p:sldMasterIdLst>
  <p:notesMasterIdLst>
    <p:notesMasterId r:id="rId28"/>
  </p:notesMasterIdLst>
  <p:handoutMasterIdLst>
    <p:handoutMasterId r:id="rId29"/>
  </p:handoutMasterIdLst>
  <p:sldIdLst>
    <p:sldId id="264" r:id="rId3"/>
    <p:sldId id="309" r:id="rId4"/>
    <p:sldId id="290" r:id="rId5"/>
    <p:sldId id="384" r:id="rId6"/>
    <p:sldId id="401" r:id="rId7"/>
    <p:sldId id="386" r:id="rId8"/>
    <p:sldId id="385" r:id="rId9"/>
    <p:sldId id="404" r:id="rId10"/>
    <p:sldId id="387" r:id="rId11"/>
    <p:sldId id="388" r:id="rId12"/>
    <p:sldId id="402" r:id="rId13"/>
    <p:sldId id="392" r:id="rId14"/>
    <p:sldId id="394" r:id="rId15"/>
    <p:sldId id="395" r:id="rId16"/>
    <p:sldId id="389" r:id="rId17"/>
    <p:sldId id="397" r:id="rId18"/>
    <p:sldId id="390" r:id="rId19"/>
    <p:sldId id="391" r:id="rId20"/>
    <p:sldId id="399" r:id="rId21"/>
    <p:sldId id="400" r:id="rId22"/>
    <p:sldId id="393" r:id="rId23"/>
    <p:sldId id="396" r:id="rId24"/>
    <p:sldId id="403" r:id="rId25"/>
    <p:sldId id="382" r:id="rId26"/>
    <p:sldId id="398"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8" clrIdx="0">
    <p:extLst>
      <p:ext uri="{19B8F6BF-5375-455C-9EA6-DF929625EA0E}">
        <p15:presenceInfo xmlns:p15="http://schemas.microsoft.com/office/powerpoint/2012/main" userId="d012383ee437734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34" autoAdjust="0"/>
    <p:restoredTop sz="94671" autoAdjust="0"/>
  </p:normalViewPr>
  <p:slideViewPr>
    <p:cSldViewPr>
      <p:cViewPr varScale="1">
        <p:scale>
          <a:sx n="67" d="100"/>
          <a:sy n="67" d="100"/>
        </p:scale>
        <p:origin x="1124" y="40"/>
      </p:cViewPr>
      <p:guideLst>
        <p:guide orient="horz" pos="2160"/>
        <p:guide pos="2880"/>
      </p:guideLst>
    </p:cSldViewPr>
  </p:slideViewPr>
  <p:notesTextViewPr>
    <p:cViewPr>
      <p:scale>
        <a:sx n="1" d="1"/>
        <a:sy n="1" d="1"/>
      </p:scale>
      <p:origin x="0" y="0"/>
    </p:cViewPr>
  </p:notesTextViewPr>
  <p:sorterViewPr>
    <p:cViewPr>
      <p:scale>
        <a:sx n="100" d="100"/>
        <a:sy n="100" d="100"/>
      </p:scale>
      <p:origin x="0" y="5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World Bank Data</a:t>
            </a:r>
          </a:p>
          <a:p>
            <a:pPr>
              <a:defRPr/>
            </a:pPr>
            <a:r>
              <a:rPr lang="en-US" sz="1800" b="1" dirty="0"/>
              <a:t>(Rural access to clean fuel</a:t>
            </a:r>
            <a:r>
              <a:rPr lang="en-US" b="1" dirty="0"/>
              <a: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Sheet1!$E$4</c:f>
              <c:strCache>
                <c:ptCount val="1"/>
                <c:pt idx="0">
                  <c:v>Brazil</c:v>
                </c:pt>
              </c:strCache>
            </c:strRef>
          </c:tx>
          <c:spPr>
            <a:solidFill>
              <a:schemeClr val="accent1"/>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Sheet1!$F$4:$AB$4</c:f>
              <c:numCache>
                <c:formatCode>General</c:formatCode>
                <c:ptCount val="23"/>
                <c:pt idx="0">
                  <c:v>55.8</c:v>
                </c:pt>
                <c:pt idx="1">
                  <c:v>56.9</c:v>
                </c:pt>
                <c:pt idx="2">
                  <c:v>57.9</c:v>
                </c:pt>
                <c:pt idx="3">
                  <c:v>59</c:v>
                </c:pt>
                <c:pt idx="4">
                  <c:v>60</c:v>
                </c:pt>
                <c:pt idx="5">
                  <c:v>61.3</c:v>
                </c:pt>
                <c:pt idx="6">
                  <c:v>62.8</c:v>
                </c:pt>
                <c:pt idx="7">
                  <c:v>63.9</c:v>
                </c:pt>
                <c:pt idx="8">
                  <c:v>65.900000000000006</c:v>
                </c:pt>
                <c:pt idx="9">
                  <c:v>67.3</c:v>
                </c:pt>
                <c:pt idx="10">
                  <c:v>69.099999999999994</c:v>
                </c:pt>
                <c:pt idx="11">
                  <c:v>70.8</c:v>
                </c:pt>
                <c:pt idx="12">
                  <c:v>72.7</c:v>
                </c:pt>
                <c:pt idx="13">
                  <c:v>74.099999999999994</c:v>
                </c:pt>
                <c:pt idx="14">
                  <c:v>75.5</c:v>
                </c:pt>
                <c:pt idx="15">
                  <c:v>76.7</c:v>
                </c:pt>
                <c:pt idx="16">
                  <c:v>78.099999999999994</c:v>
                </c:pt>
                <c:pt idx="17">
                  <c:v>78.8</c:v>
                </c:pt>
                <c:pt idx="18">
                  <c:v>80.099999999999994</c:v>
                </c:pt>
                <c:pt idx="19">
                  <c:v>80.7</c:v>
                </c:pt>
                <c:pt idx="20">
                  <c:v>81.599999999999994</c:v>
                </c:pt>
                <c:pt idx="21">
                  <c:v>82.5</c:v>
                </c:pt>
                <c:pt idx="22">
                  <c:v>83.1</c:v>
                </c:pt>
              </c:numCache>
            </c:numRef>
          </c:val>
          <c:extLst>
            <c:ext xmlns:c16="http://schemas.microsoft.com/office/drawing/2014/chart" uri="{C3380CC4-5D6E-409C-BE32-E72D297353CC}">
              <c16:uniqueId val="{00000000-5DD7-4215-B1FB-29774E3A76FA}"/>
            </c:ext>
          </c:extLst>
        </c:ser>
        <c:ser>
          <c:idx val="1"/>
          <c:order val="1"/>
          <c:tx>
            <c:strRef>
              <c:f>Sheet1!$E$5</c:f>
              <c:strCache>
                <c:ptCount val="1"/>
                <c:pt idx="0">
                  <c:v>China</c:v>
                </c:pt>
              </c:strCache>
            </c:strRef>
          </c:tx>
          <c:spPr>
            <a:solidFill>
              <a:schemeClr val="accent2"/>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Sheet1!$F$5:$AB$5</c:f>
              <c:numCache>
                <c:formatCode>General</c:formatCode>
                <c:ptCount val="23"/>
                <c:pt idx="0">
                  <c:v>22.3</c:v>
                </c:pt>
                <c:pt idx="1">
                  <c:v>22</c:v>
                </c:pt>
                <c:pt idx="2">
                  <c:v>22.2</c:v>
                </c:pt>
                <c:pt idx="3">
                  <c:v>22.5</c:v>
                </c:pt>
                <c:pt idx="4">
                  <c:v>22.9</c:v>
                </c:pt>
                <c:pt idx="5">
                  <c:v>23.6</c:v>
                </c:pt>
                <c:pt idx="6">
                  <c:v>25</c:v>
                </c:pt>
                <c:pt idx="7">
                  <c:v>26.2</c:v>
                </c:pt>
                <c:pt idx="8">
                  <c:v>28.2</c:v>
                </c:pt>
                <c:pt idx="9">
                  <c:v>30.5</c:v>
                </c:pt>
                <c:pt idx="10">
                  <c:v>33.200000000000003</c:v>
                </c:pt>
                <c:pt idx="11">
                  <c:v>36.1</c:v>
                </c:pt>
                <c:pt idx="12">
                  <c:v>39.299999999999997</c:v>
                </c:pt>
                <c:pt idx="13">
                  <c:v>43</c:v>
                </c:pt>
                <c:pt idx="14">
                  <c:v>46.9</c:v>
                </c:pt>
                <c:pt idx="15">
                  <c:v>50.7</c:v>
                </c:pt>
                <c:pt idx="16">
                  <c:v>54.6</c:v>
                </c:pt>
                <c:pt idx="17">
                  <c:v>58.5</c:v>
                </c:pt>
                <c:pt idx="18">
                  <c:v>62.1</c:v>
                </c:pt>
                <c:pt idx="19">
                  <c:v>65.8</c:v>
                </c:pt>
                <c:pt idx="20">
                  <c:v>69.5</c:v>
                </c:pt>
                <c:pt idx="21">
                  <c:v>72.400000000000006</c:v>
                </c:pt>
                <c:pt idx="22">
                  <c:v>75.8</c:v>
                </c:pt>
              </c:numCache>
            </c:numRef>
          </c:val>
          <c:extLst>
            <c:ext xmlns:c16="http://schemas.microsoft.com/office/drawing/2014/chart" uri="{C3380CC4-5D6E-409C-BE32-E72D297353CC}">
              <c16:uniqueId val="{00000001-5DD7-4215-B1FB-29774E3A76FA}"/>
            </c:ext>
          </c:extLst>
        </c:ser>
        <c:ser>
          <c:idx val="2"/>
          <c:order val="2"/>
          <c:tx>
            <c:strRef>
              <c:f>Sheet1!$E$6</c:f>
              <c:strCache>
                <c:ptCount val="1"/>
                <c:pt idx="0">
                  <c:v>India</c:v>
                </c:pt>
              </c:strCache>
            </c:strRef>
          </c:tx>
          <c:spPr>
            <a:solidFill>
              <a:schemeClr val="accent3"/>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Sheet1!$F$6:$AB$6</c:f>
              <c:numCache>
                <c:formatCode>General</c:formatCode>
                <c:ptCount val="23"/>
                <c:pt idx="0">
                  <c:v>6.8</c:v>
                </c:pt>
                <c:pt idx="1">
                  <c:v>7.3</c:v>
                </c:pt>
                <c:pt idx="2">
                  <c:v>7.95</c:v>
                </c:pt>
                <c:pt idx="3">
                  <c:v>8.3000000000000007</c:v>
                </c:pt>
                <c:pt idx="4">
                  <c:v>8.9</c:v>
                </c:pt>
                <c:pt idx="5">
                  <c:v>9.5</c:v>
                </c:pt>
                <c:pt idx="6">
                  <c:v>10.199999999999999</c:v>
                </c:pt>
                <c:pt idx="7">
                  <c:v>11</c:v>
                </c:pt>
                <c:pt idx="8">
                  <c:v>12.1</c:v>
                </c:pt>
                <c:pt idx="9">
                  <c:v>13.2</c:v>
                </c:pt>
                <c:pt idx="10">
                  <c:v>14.5</c:v>
                </c:pt>
                <c:pt idx="11">
                  <c:v>16.3</c:v>
                </c:pt>
                <c:pt idx="12">
                  <c:v>18.3</c:v>
                </c:pt>
                <c:pt idx="13">
                  <c:v>20.9</c:v>
                </c:pt>
                <c:pt idx="14">
                  <c:v>23.7</c:v>
                </c:pt>
                <c:pt idx="15">
                  <c:v>27</c:v>
                </c:pt>
                <c:pt idx="16">
                  <c:v>31.1</c:v>
                </c:pt>
                <c:pt idx="17">
                  <c:v>35.6</c:v>
                </c:pt>
                <c:pt idx="18">
                  <c:v>40.6</c:v>
                </c:pt>
                <c:pt idx="19">
                  <c:v>45.8</c:v>
                </c:pt>
                <c:pt idx="20">
                  <c:v>51.6</c:v>
                </c:pt>
                <c:pt idx="21">
                  <c:v>57.1</c:v>
                </c:pt>
                <c:pt idx="22">
                  <c:v>62.5</c:v>
                </c:pt>
              </c:numCache>
            </c:numRef>
          </c:val>
          <c:extLst>
            <c:ext xmlns:c16="http://schemas.microsoft.com/office/drawing/2014/chart" uri="{C3380CC4-5D6E-409C-BE32-E72D297353CC}">
              <c16:uniqueId val="{00000002-5DD7-4215-B1FB-29774E3A76FA}"/>
            </c:ext>
          </c:extLst>
        </c:ser>
        <c:ser>
          <c:idx val="3"/>
          <c:order val="3"/>
          <c:tx>
            <c:strRef>
              <c:f>Sheet1!$E$7</c:f>
              <c:strCache>
                <c:ptCount val="1"/>
                <c:pt idx="0">
                  <c:v>Russian Federation</c:v>
                </c:pt>
              </c:strCache>
            </c:strRef>
          </c:tx>
          <c:spPr>
            <a:solidFill>
              <a:schemeClr val="accent4"/>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Sheet1!$F$7:$AB$7</c:f>
              <c:numCache>
                <c:formatCode>General</c:formatCode>
                <c:ptCount val="23"/>
                <c:pt idx="0">
                  <c:v>99.9</c:v>
                </c:pt>
                <c:pt idx="1">
                  <c:v>99.8</c:v>
                </c:pt>
                <c:pt idx="2">
                  <c:v>99.8</c:v>
                </c:pt>
                <c:pt idx="3">
                  <c:v>99.7</c:v>
                </c:pt>
                <c:pt idx="4">
                  <c:v>99.7</c:v>
                </c:pt>
                <c:pt idx="5">
                  <c:v>99.6</c:v>
                </c:pt>
                <c:pt idx="6">
                  <c:v>99.5</c:v>
                </c:pt>
                <c:pt idx="7">
                  <c:v>99.4</c:v>
                </c:pt>
                <c:pt idx="8">
                  <c:v>99.4</c:v>
                </c:pt>
                <c:pt idx="9">
                  <c:v>99.3</c:v>
                </c:pt>
                <c:pt idx="10">
                  <c:v>99.3</c:v>
                </c:pt>
                <c:pt idx="11">
                  <c:v>99.2</c:v>
                </c:pt>
                <c:pt idx="12">
                  <c:v>99.1</c:v>
                </c:pt>
                <c:pt idx="13">
                  <c:v>99.1</c:v>
                </c:pt>
                <c:pt idx="14">
                  <c:v>99.1</c:v>
                </c:pt>
                <c:pt idx="15">
                  <c:v>99.1</c:v>
                </c:pt>
                <c:pt idx="16">
                  <c:v>99</c:v>
                </c:pt>
                <c:pt idx="17">
                  <c:v>99</c:v>
                </c:pt>
                <c:pt idx="18">
                  <c:v>99</c:v>
                </c:pt>
                <c:pt idx="19">
                  <c:v>99</c:v>
                </c:pt>
                <c:pt idx="20">
                  <c:v>98.9</c:v>
                </c:pt>
                <c:pt idx="21">
                  <c:v>98.9</c:v>
                </c:pt>
                <c:pt idx="22">
                  <c:v>98.9</c:v>
                </c:pt>
              </c:numCache>
            </c:numRef>
          </c:val>
          <c:extLst>
            <c:ext xmlns:c16="http://schemas.microsoft.com/office/drawing/2014/chart" uri="{C3380CC4-5D6E-409C-BE32-E72D297353CC}">
              <c16:uniqueId val="{00000003-5DD7-4215-B1FB-29774E3A76FA}"/>
            </c:ext>
          </c:extLst>
        </c:ser>
        <c:ser>
          <c:idx val="4"/>
          <c:order val="4"/>
          <c:tx>
            <c:strRef>
              <c:f>Sheet1!$E$8</c:f>
              <c:strCache>
                <c:ptCount val="1"/>
                <c:pt idx="0">
                  <c:v>South Africa</c:v>
                </c:pt>
              </c:strCache>
            </c:strRef>
          </c:tx>
          <c:spPr>
            <a:solidFill>
              <a:schemeClr val="accent5"/>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Sheet1!$F$8:$AB$8</c:f>
              <c:numCache>
                <c:formatCode>General</c:formatCode>
                <c:ptCount val="23"/>
                <c:pt idx="0">
                  <c:v>29.6</c:v>
                </c:pt>
                <c:pt idx="1">
                  <c:v>31.6</c:v>
                </c:pt>
                <c:pt idx="2">
                  <c:v>34.4</c:v>
                </c:pt>
                <c:pt idx="3">
                  <c:v>37</c:v>
                </c:pt>
                <c:pt idx="4">
                  <c:v>40.1</c:v>
                </c:pt>
                <c:pt idx="5">
                  <c:v>42.6</c:v>
                </c:pt>
                <c:pt idx="6">
                  <c:v>45.85</c:v>
                </c:pt>
                <c:pt idx="7">
                  <c:v>48.8</c:v>
                </c:pt>
                <c:pt idx="8">
                  <c:v>51.2</c:v>
                </c:pt>
                <c:pt idx="9">
                  <c:v>53.5</c:v>
                </c:pt>
                <c:pt idx="10">
                  <c:v>55.6</c:v>
                </c:pt>
                <c:pt idx="11">
                  <c:v>57.6</c:v>
                </c:pt>
                <c:pt idx="12">
                  <c:v>59.3</c:v>
                </c:pt>
                <c:pt idx="13">
                  <c:v>60.7</c:v>
                </c:pt>
                <c:pt idx="14">
                  <c:v>62.3</c:v>
                </c:pt>
                <c:pt idx="15">
                  <c:v>63.6</c:v>
                </c:pt>
                <c:pt idx="16">
                  <c:v>64.900000000000006</c:v>
                </c:pt>
                <c:pt idx="17">
                  <c:v>66.099999999999994</c:v>
                </c:pt>
                <c:pt idx="18">
                  <c:v>67.099999999999994</c:v>
                </c:pt>
                <c:pt idx="19">
                  <c:v>68.3</c:v>
                </c:pt>
                <c:pt idx="20">
                  <c:v>69.400000000000006</c:v>
                </c:pt>
                <c:pt idx="21">
                  <c:v>70.5</c:v>
                </c:pt>
                <c:pt idx="22">
                  <c:v>71.400000000000006</c:v>
                </c:pt>
              </c:numCache>
            </c:numRef>
          </c:val>
          <c:extLst>
            <c:ext xmlns:c16="http://schemas.microsoft.com/office/drawing/2014/chart" uri="{C3380CC4-5D6E-409C-BE32-E72D297353CC}">
              <c16:uniqueId val="{00000004-5DD7-4215-B1FB-29774E3A76FA}"/>
            </c:ext>
          </c:extLst>
        </c:ser>
        <c:ser>
          <c:idx val="5"/>
          <c:order val="5"/>
          <c:tx>
            <c:strRef>
              <c:f>Sheet1!$E$9</c:f>
              <c:strCache>
                <c:ptCount val="1"/>
                <c:pt idx="0">
                  <c:v>Nigeria</c:v>
                </c:pt>
              </c:strCache>
            </c:strRef>
          </c:tx>
          <c:spPr>
            <a:solidFill>
              <a:schemeClr val="accent6"/>
            </a:solidFill>
            <a:ln>
              <a:noFill/>
            </a:ln>
            <a:effectLst/>
          </c:spPr>
          <c:invertIfNegative val="0"/>
          <c:cat>
            <c:numRef>
              <c:f>Sheet1!$F$3:$AB$3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Sheet1!$F$9:$AB$9</c:f>
              <c:numCache>
                <c:formatCode>General</c:formatCode>
                <c:ptCount val="23"/>
                <c:pt idx="0">
                  <c:v>0.3</c:v>
                </c:pt>
                <c:pt idx="1">
                  <c:v>0.3</c:v>
                </c:pt>
                <c:pt idx="2">
                  <c:v>0.3</c:v>
                </c:pt>
                <c:pt idx="3">
                  <c:v>0.3</c:v>
                </c:pt>
                <c:pt idx="4">
                  <c:v>0.3</c:v>
                </c:pt>
                <c:pt idx="5">
                  <c:v>0.4</c:v>
                </c:pt>
                <c:pt idx="6">
                  <c:v>0.4</c:v>
                </c:pt>
                <c:pt idx="7">
                  <c:v>0.4</c:v>
                </c:pt>
                <c:pt idx="8">
                  <c:v>0.5</c:v>
                </c:pt>
                <c:pt idx="9">
                  <c:v>0.6</c:v>
                </c:pt>
                <c:pt idx="10">
                  <c:v>0.7</c:v>
                </c:pt>
                <c:pt idx="11">
                  <c:v>0.8</c:v>
                </c:pt>
                <c:pt idx="12">
                  <c:v>1</c:v>
                </c:pt>
                <c:pt idx="13">
                  <c:v>1.2</c:v>
                </c:pt>
                <c:pt idx="14">
                  <c:v>1.6</c:v>
                </c:pt>
                <c:pt idx="15">
                  <c:v>2.1</c:v>
                </c:pt>
                <c:pt idx="16">
                  <c:v>2.8</c:v>
                </c:pt>
                <c:pt idx="17">
                  <c:v>3.7</c:v>
                </c:pt>
                <c:pt idx="18">
                  <c:v>4.7</c:v>
                </c:pt>
                <c:pt idx="19">
                  <c:v>6.1</c:v>
                </c:pt>
                <c:pt idx="20">
                  <c:v>7.7</c:v>
                </c:pt>
                <c:pt idx="21">
                  <c:v>9.3000000000000007</c:v>
                </c:pt>
                <c:pt idx="22">
                  <c:v>10.8</c:v>
                </c:pt>
              </c:numCache>
            </c:numRef>
          </c:val>
          <c:extLst>
            <c:ext xmlns:c16="http://schemas.microsoft.com/office/drawing/2014/chart" uri="{C3380CC4-5D6E-409C-BE32-E72D297353CC}">
              <c16:uniqueId val="{00000005-5DD7-4215-B1FB-29774E3A76FA}"/>
            </c:ext>
          </c:extLst>
        </c:ser>
        <c:dLbls>
          <c:showLegendKey val="0"/>
          <c:showVal val="0"/>
          <c:showCatName val="0"/>
          <c:showSerName val="0"/>
          <c:showPercent val="0"/>
          <c:showBubbleSize val="0"/>
        </c:dLbls>
        <c:gapWidth val="150"/>
        <c:overlap val="100"/>
        <c:axId val="1413516479"/>
        <c:axId val="1416432751"/>
      </c:barChart>
      <c:catAx>
        <c:axId val="141351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16432751"/>
        <c:crosses val="autoZero"/>
        <c:auto val="1"/>
        <c:lblAlgn val="ctr"/>
        <c:lblOffset val="100"/>
        <c:noMultiLvlLbl val="0"/>
      </c:catAx>
      <c:valAx>
        <c:axId val="14164327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1351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Mean</a:t>
            </a:r>
            <a:r>
              <a:rPr lang="en-US" sz="1800" b="1" baseline="0" dirty="0"/>
              <a:t> Access  Rate</a:t>
            </a:r>
          </a:p>
          <a:p>
            <a:pPr>
              <a:defRPr/>
            </a:pPr>
            <a:r>
              <a:rPr lang="en-US" sz="1800" b="1" baseline="0" dirty="0"/>
              <a:t>Rural Access to clean Gas</a:t>
            </a:r>
          </a:p>
          <a:p>
            <a:pPr>
              <a:defRPr/>
            </a:pP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'Country-Mean-StdDev-Min-Max'!$B$1</c:f>
              <c:strCache>
                <c:ptCount val="1"/>
                <c:pt idx="0">
                  <c:v>Mean (%)</c:v>
                </c:pt>
              </c:strCache>
            </c:strRef>
          </c:tx>
          <c:spPr>
            <a:solidFill>
              <a:schemeClr val="accent1"/>
            </a:solidFill>
            <a:ln>
              <a:noFill/>
            </a:ln>
            <a:effectLst/>
          </c:spPr>
          <c:invertIfNegative val="0"/>
          <c:cat>
            <c:strRef>
              <c:f>'Country-Mean-StdDev-Min-Max'!$A$2:$A$8</c:f>
              <c:strCache>
                <c:ptCount val="7"/>
                <c:pt idx="0">
                  <c:v>Brazil</c:v>
                </c:pt>
                <c:pt idx="1">
                  <c:v>India</c:v>
                </c:pt>
                <c:pt idx="2">
                  <c:v>South Africa</c:v>
                </c:pt>
                <c:pt idx="3">
                  <c:v>China</c:v>
                </c:pt>
                <c:pt idx="4">
                  <c:v>Russia</c:v>
                </c:pt>
                <c:pt idx="5">
                  <c:v>Nigeria</c:v>
                </c:pt>
                <c:pt idx="6">
                  <c:v>BRICS Avg</c:v>
                </c:pt>
              </c:strCache>
            </c:strRef>
          </c:cat>
          <c:val>
            <c:numRef>
              <c:f>'Country-Mean-StdDev-Min-Max'!$B$2:$B$8</c:f>
              <c:numCache>
                <c:formatCode>General</c:formatCode>
                <c:ptCount val="7"/>
                <c:pt idx="0">
                  <c:v>70.2</c:v>
                </c:pt>
                <c:pt idx="1">
                  <c:v>23.49</c:v>
                </c:pt>
                <c:pt idx="2">
                  <c:v>54.41</c:v>
                </c:pt>
                <c:pt idx="3">
                  <c:v>41.45</c:v>
                </c:pt>
                <c:pt idx="4">
                  <c:v>99.29</c:v>
                </c:pt>
                <c:pt idx="5">
                  <c:v>2.4500000000000002</c:v>
                </c:pt>
                <c:pt idx="6">
                  <c:v>57.77</c:v>
                </c:pt>
              </c:numCache>
            </c:numRef>
          </c:val>
          <c:extLst>
            <c:ext xmlns:c16="http://schemas.microsoft.com/office/drawing/2014/chart" uri="{C3380CC4-5D6E-409C-BE32-E72D297353CC}">
              <c16:uniqueId val="{00000000-795A-4A0E-A1AC-142F8276ECC5}"/>
            </c:ext>
          </c:extLst>
        </c:ser>
        <c:ser>
          <c:idx val="1"/>
          <c:order val="1"/>
          <c:tx>
            <c:strRef>
              <c:f>'Country-Mean-StdDev-Min-Max'!$C$1</c:f>
              <c:strCache>
                <c:ptCount val="1"/>
                <c:pt idx="0">
                  <c:v>Std. Dev.</c:v>
                </c:pt>
              </c:strCache>
            </c:strRef>
          </c:tx>
          <c:spPr>
            <a:solidFill>
              <a:schemeClr val="accent2"/>
            </a:solidFill>
            <a:ln>
              <a:noFill/>
            </a:ln>
            <a:effectLst/>
          </c:spPr>
          <c:invertIfNegative val="0"/>
          <c:cat>
            <c:strRef>
              <c:f>'Country-Mean-StdDev-Min-Max'!$A$2:$A$8</c:f>
              <c:strCache>
                <c:ptCount val="7"/>
                <c:pt idx="0">
                  <c:v>Brazil</c:v>
                </c:pt>
                <c:pt idx="1">
                  <c:v>India</c:v>
                </c:pt>
                <c:pt idx="2">
                  <c:v>South Africa</c:v>
                </c:pt>
                <c:pt idx="3">
                  <c:v>China</c:v>
                </c:pt>
                <c:pt idx="4">
                  <c:v>Russia</c:v>
                </c:pt>
                <c:pt idx="5">
                  <c:v>Nigeria</c:v>
                </c:pt>
                <c:pt idx="6">
                  <c:v>BRICS Avg</c:v>
                </c:pt>
              </c:strCache>
            </c:strRef>
          </c:cat>
          <c:val>
            <c:numRef>
              <c:f>'Country-Mean-StdDev-Min-Max'!$C$2:$C$8</c:f>
              <c:numCache>
                <c:formatCode>General</c:formatCode>
                <c:ptCount val="7"/>
                <c:pt idx="0">
                  <c:v>9.17</c:v>
                </c:pt>
                <c:pt idx="1">
                  <c:v>17.329999999999998</c:v>
                </c:pt>
                <c:pt idx="2">
                  <c:v>13.3</c:v>
                </c:pt>
                <c:pt idx="3">
                  <c:v>18.54</c:v>
                </c:pt>
                <c:pt idx="4">
                  <c:v>0.33</c:v>
                </c:pt>
                <c:pt idx="5">
                  <c:v>3.14</c:v>
                </c:pt>
                <c:pt idx="6">
                  <c:v>11.3</c:v>
                </c:pt>
              </c:numCache>
            </c:numRef>
          </c:val>
          <c:extLst>
            <c:ext xmlns:c16="http://schemas.microsoft.com/office/drawing/2014/chart" uri="{C3380CC4-5D6E-409C-BE32-E72D297353CC}">
              <c16:uniqueId val="{00000001-795A-4A0E-A1AC-142F8276ECC5}"/>
            </c:ext>
          </c:extLst>
        </c:ser>
        <c:ser>
          <c:idx val="2"/>
          <c:order val="2"/>
          <c:tx>
            <c:strRef>
              <c:f>'Country-Mean-StdDev-Min-Max'!$D$1</c:f>
              <c:strCache>
                <c:ptCount val="1"/>
                <c:pt idx="0">
                  <c:v>Min</c:v>
                </c:pt>
              </c:strCache>
            </c:strRef>
          </c:tx>
          <c:spPr>
            <a:solidFill>
              <a:schemeClr val="accent3"/>
            </a:solidFill>
            <a:ln>
              <a:noFill/>
            </a:ln>
            <a:effectLst/>
          </c:spPr>
          <c:invertIfNegative val="0"/>
          <c:cat>
            <c:strRef>
              <c:f>'Country-Mean-StdDev-Min-Max'!$A$2:$A$8</c:f>
              <c:strCache>
                <c:ptCount val="7"/>
                <c:pt idx="0">
                  <c:v>Brazil</c:v>
                </c:pt>
                <c:pt idx="1">
                  <c:v>India</c:v>
                </c:pt>
                <c:pt idx="2">
                  <c:v>South Africa</c:v>
                </c:pt>
                <c:pt idx="3">
                  <c:v>China</c:v>
                </c:pt>
                <c:pt idx="4">
                  <c:v>Russia</c:v>
                </c:pt>
                <c:pt idx="5">
                  <c:v>Nigeria</c:v>
                </c:pt>
                <c:pt idx="6">
                  <c:v>BRICS Avg</c:v>
                </c:pt>
              </c:strCache>
            </c:strRef>
          </c:cat>
          <c:val>
            <c:numRef>
              <c:f>'Country-Mean-StdDev-Min-Max'!$D$2:$D$8</c:f>
              <c:numCache>
                <c:formatCode>General</c:formatCode>
                <c:ptCount val="7"/>
                <c:pt idx="0">
                  <c:v>55.8</c:v>
                </c:pt>
                <c:pt idx="1">
                  <c:v>6.8</c:v>
                </c:pt>
                <c:pt idx="2">
                  <c:v>29.6</c:v>
                </c:pt>
                <c:pt idx="3">
                  <c:v>22</c:v>
                </c:pt>
                <c:pt idx="4">
                  <c:v>98.9</c:v>
                </c:pt>
                <c:pt idx="5">
                  <c:v>0.3</c:v>
                </c:pt>
                <c:pt idx="6">
                  <c:v>42.88</c:v>
                </c:pt>
              </c:numCache>
            </c:numRef>
          </c:val>
          <c:extLst>
            <c:ext xmlns:c16="http://schemas.microsoft.com/office/drawing/2014/chart" uri="{C3380CC4-5D6E-409C-BE32-E72D297353CC}">
              <c16:uniqueId val="{00000002-795A-4A0E-A1AC-142F8276ECC5}"/>
            </c:ext>
          </c:extLst>
        </c:ser>
        <c:ser>
          <c:idx val="3"/>
          <c:order val="3"/>
          <c:tx>
            <c:strRef>
              <c:f>'Country-Mean-StdDev-Min-Max'!$E$1</c:f>
              <c:strCache>
                <c:ptCount val="1"/>
                <c:pt idx="0">
                  <c:v>Max</c:v>
                </c:pt>
              </c:strCache>
            </c:strRef>
          </c:tx>
          <c:spPr>
            <a:solidFill>
              <a:schemeClr val="accent4"/>
            </a:solidFill>
            <a:ln>
              <a:noFill/>
            </a:ln>
            <a:effectLst/>
          </c:spPr>
          <c:invertIfNegative val="0"/>
          <c:cat>
            <c:strRef>
              <c:f>'Country-Mean-StdDev-Min-Max'!$A$2:$A$8</c:f>
              <c:strCache>
                <c:ptCount val="7"/>
                <c:pt idx="0">
                  <c:v>Brazil</c:v>
                </c:pt>
                <c:pt idx="1">
                  <c:v>India</c:v>
                </c:pt>
                <c:pt idx="2">
                  <c:v>South Africa</c:v>
                </c:pt>
                <c:pt idx="3">
                  <c:v>China</c:v>
                </c:pt>
                <c:pt idx="4">
                  <c:v>Russia</c:v>
                </c:pt>
                <c:pt idx="5">
                  <c:v>Nigeria</c:v>
                </c:pt>
                <c:pt idx="6">
                  <c:v>BRICS Avg</c:v>
                </c:pt>
              </c:strCache>
            </c:strRef>
          </c:cat>
          <c:val>
            <c:numRef>
              <c:f>'Country-Mean-StdDev-Min-Max'!$E$2:$E$8</c:f>
              <c:numCache>
                <c:formatCode>General</c:formatCode>
                <c:ptCount val="7"/>
                <c:pt idx="0">
                  <c:v>83.1</c:v>
                </c:pt>
                <c:pt idx="1">
                  <c:v>62.5</c:v>
                </c:pt>
                <c:pt idx="2">
                  <c:v>71.400000000000006</c:v>
                </c:pt>
                <c:pt idx="3">
                  <c:v>75.8</c:v>
                </c:pt>
                <c:pt idx="4">
                  <c:v>99.9</c:v>
                </c:pt>
                <c:pt idx="5">
                  <c:v>10.8</c:v>
                </c:pt>
                <c:pt idx="6">
                  <c:v>78.34</c:v>
                </c:pt>
              </c:numCache>
            </c:numRef>
          </c:val>
          <c:extLst>
            <c:ext xmlns:c16="http://schemas.microsoft.com/office/drawing/2014/chart" uri="{C3380CC4-5D6E-409C-BE32-E72D297353CC}">
              <c16:uniqueId val="{00000003-795A-4A0E-A1AC-142F8276ECC5}"/>
            </c:ext>
          </c:extLst>
        </c:ser>
        <c:dLbls>
          <c:showLegendKey val="0"/>
          <c:showVal val="0"/>
          <c:showCatName val="0"/>
          <c:showSerName val="0"/>
          <c:showPercent val="0"/>
          <c:showBubbleSize val="0"/>
        </c:dLbls>
        <c:gapWidth val="219"/>
        <c:overlap val="-27"/>
        <c:axId val="2080569056"/>
        <c:axId val="2037820400"/>
      </c:barChart>
      <c:catAx>
        <c:axId val="208056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037820400"/>
        <c:crosses val="autoZero"/>
        <c:auto val="1"/>
        <c:lblAlgn val="ctr"/>
        <c:lblOffset val="100"/>
        <c:noMultiLvlLbl val="0"/>
      </c:catAx>
      <c:valAx>
        <c:axId val="2037820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0805690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r">
              <a:defRPr sz="1400" b="0" i="0" u="none" strike="noStrike" kern="1200" spc="0" baseline="0">
                <a:solidFill>
                  <a:schemeClr val="tx1">
                    <a:lumMod val="65000"/>
                    <a:lumOff val="35000"/>
                  </a:schemeClr>
                </a:solidFill>
                <a:latin typeface="+mn-lt"/>
                <a:ea typeface="+mn-ea"/>
                <a:cs typeface="+mn-cs"/>
              </a:defRPr>
            </a:pPr>
            <a:r>
              <a:rPr lang="en-US" b="1" dirty="0"/>
              <a:t>Nigeria</a:t>
            </a:r>
            <a:r>
              <a:rPr lang="en-US" b="1" baseline="0" dirty="0"/>
              <a:t> and BRICS  average  over time</a:t>
            </a:r>
          </a:p>
          <a:p>
            <a:pPr algn="r">
              <a:defRPr/>
            </a:pPr>
            <a:r>
              <a:rPr lang="en-US" sz="1000" b="1" baseline="0" dirty="0"/>
              <a:t> Rural access to clean cooking fuels</a:t>
            </a:r>
            <a:endParaRPr lang="en-US" sz="1000" b="1" dirty="0"/>
          </a:p>
        </c:rich>
      </c:tx>
      <c:layout>
        <c:manualLayout>
          <c:xMode val="edge"/>
          <c:yMode val="edge"/>
          <c:x val="0.29176474034495686"/>
          <c:y val="5.7471264367816091E-3"/>
        </c:manualLayout>
      </c:layout>
      <c:overlay val="0"/>
      <c:spPr>
        <a:noFill/>
        <a:ln>
          <a:noFill/>
        </a:ln>
        <a:effectLst/>
      </c:spPr>
      <c:txPr>
        <a:bodyPr rot="0" spcFirstLastPara="1" vertOverflow="ellipsis" vert="horz" wrap="square" anchor="ctr" anchorCtr="1"/>
        <a:lstStyle/>
        <a:p>
          <a:pPr algn="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Nigeria</c:v>
                </c:pt>
              </c:strCache>
            </c:strRef>
          </c:tx>
          <c:spPr>
            <a:ln w="28575" cap="rnd">
              <a:solidFill>
                <a:schemeClr val="accent1"/>
              </a:solidFill>
              <a:round/>
            </a:ln>
            <a:effectLst/>
          </c:spPr>
          <c:marker>
            <c:symbol val="none"/>
          </c:marker>
          <c:cat>
            <c:numRef>
              <c:f>Sheet1!$A$2:$A$24</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Sheet1!$B$2:$B$24</c:f>
              <c:numCache>
                <c:formatCode>General</c:formatCode>
                <c:ptCount val="23"/>
                <c:pt idx="0">
                  <c:v>0.3</c:v>
                </c:pt>
                <c:pt idx="1">
                  <c:v>0.3</c:v>
                </c:pt>
                <c:pt idx="2">
                  <c:v>0.3</c:v>
                </c:pt>
                <c:pt idx="3">
                  <c:v>0.3</c:v>
                </c:pt>
                <c:pt idx="4">
                  <c:v>0.3</c:v>
                </c:pt>
                <c:pt idx="5">
                  <c:v>0.4</c:v>
                </c:pt>
                <c:pt idx="6">
                  <c:v>0.4</c:v>
                </c:pt>
                <c:pt idx="7">
                  <c:v>0.4</c:v>
                </c:pt>
                <c:pt idx="8">
                  <c:v>0.5</c:v>
                </c:pt>
                <c:pt idx="9">
                  <c:v>0.6</c:v>
                </c:pt>
                <c:pt idx="10">
                  <c:v>0.7</c:v>
                </c:pt>
                <c:pt idx="11">
                  <c:v>0.8</c:v>
                </c:pt>
                <c:pt idx="12">
                  <c:v>1</c:v>
                </c:pt>
                <c:pt idx="13">
                  <c:v>1.2</c:v>
                </c:pt>
                <c:pt idx="14">
                  <c:v>1.6</c:v>
                </c:pt>
                <c:pt idx="15">
                  <c:v>2.1</c:v>
                </c:pt>
                <c:pt idx="16">
                  <c:v>2.8</c:v>
                </c:pt>
                <c:pt idx="17">
                  <c:v>3.7</c:v>
                </c:pt>
                <c:pt idx="18">
                  <c:v>4.7</c:v>
                </c:pt>
                <c:pt idx="19">
                  <c:v>6.1</c:v>
                </c:pt>
                <c:pt idx="20">
                  <c:v>7.7</c:v>
                </c:pt>
                <c:pt idx="21">
                  <c:v>9.3000000000000007</c:v>
                </c:pt>
                <c:pt idx="22">
                  <c:v>10.8</c:v>
                </c:pt>
              </c:numCache>
            </c:numRef>
          </c:val>
          <c:smooth val="0"/>
          <c:extLst>
            <c:ext xmlns:c16="http://schemas.microsoft.com/office/drawing/2014/chart" uri="{C3380CC4-5D6E-409C-BE32-E72D297353CC}">
              <c16:uniqueId val="{00000000-73A7-4DF5-9BE4-88E2771798BB}"/>
            </c:ext>
          </c:extLst>
        </c:ser>
        <c:ser>
          <c:idx val="1"/>
          <c:order val="1"/>
          <c:tx>
            <c:strRef>
              <c:f>Sheet1!$C$1</c:f>
              <c:strCache>
                <c:ptCount val="1"/>
                <c:pt idx="0">
                  <c:v>Brics_Avg</c:v>
                </c:pt>
              </c:strCache>
            </c:strRef>
          </c:tx>
          <c:spPr>
            <a:ln w="28575" cap="rnd">
              <a:solidFill>
                <a:schemeClr val="accent2"/>
              </a:solidFill>
              <a:round/>
            </a:ln>
            <a:effectLst/>
          </c:spPr>
          <c:marker>
            <c:symbol val="none"/>
          </c:marker>
          <c:cat>
            <c:numRef>
              <c:f>Sheet1!$A$2:$A$24</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Sheet1!$C$2:$C$24</c:f>
              <c:numCache>
                <c:formatCode>General</c:formatCode>
                <c:ptCount val="23"/>
                <c:pt idx="0">
                  <c:v>42.88</c:v>
                </c:pt>
                <c:pt idx="1">
                  <c:v>43.52</c:v>
                </c:pt>
                <c:pt idx="2">
                  <c:v>44.45</c:v>
                </c:pt>
                <c:pt idx="3">
                  <c:v>45.3</c:v>
                </c:pt>
                <c:pt idx="4">
                  <c:v>46.32</c:v>
                </c:pt>
                <c:pt idx="5">
                  <c:v>47.32</c:v>
                </c:pt>
                <c:pt idx="6">
                  <c:v>48.67</c:v>
                </c:pt>
                <c:pt idx="7">
                  <c:v>49.86</c:v>
                </c:pt>
                <c:pt idx="8">
                  <c:v>51.36</c:v>
                </c:pt>
                <c:pt idx="9">
                  <c:v>52.76</c:v>
                </c:pt>
                <c:pt idx="10">
                  <c:v>54.34</c:v>
                </c:pt>
                <c:pt idx="11">
                  <c:v>56</c:v>
                </c:pt>
                <c:pt idx="12">
                  <c:v>57.74</c:v>
                </c:pt>
                <c:pt idx="13">
                  <c:v>59.56</c:v>
                </c:pt>
                <c:pt idx="14">
                  <c:v>61.5</c:v>
                </c:pt>
                <c:pt idx="15">
                  <c:v>63.42</c:v>
                </c:pt>
                <c:pt idx="16">
                  <c:v>65.540000000000006</c:v>
                </c:pt>
                <c:pt idx="17">
                  <c:v>67.599999999999994</c:v>
                </c:pt>
                <c:pt idx="18">
                  <c:v>69.78</c:v>
                </c:pt>
                <c:pt idx="19">
                  <c:v>71.92</c:v>
                </c:pt>
                <c:pt idx="20">
                  <c:v>74.2</c:v>
                </c:pt>
                <c:pt idx="21">
                  <c:v>76.28</c:v>
                </c:pt>
                <c:pt idx="22">
                  <c:v>78.34</c:v>
                </c:pt>
              </c:numCache>
            </c:numRef>
          </c:val>
          <c:smooth val="0"/>
          <c:extLst>
            <c:ext xmlns:c16="http://schemas.microsoft.com/office/drawing/2014/chart" uri="{C3380CC4-5D6E-409C-BE32-E72D297353CC}">
              <c16:uniqueId val="{00000001-73A7-4DF5-9BE4-88E2771798BB}"/>
            </c:ext>
          </c:extLst>
        </c:ser>
        <c:dLbls>
          <c:showLegendKey val="0"/>
          <c:showVal val="0"/>
          <c:showCatName val="0"/>
          <c:showSerName val="0"/>
          <c:showPercent val="0"/>
          <c:showBubbleSize val="0"/>
        </c:dLbls>
        <c:smooth val="0"/>
        <c:axId val="2045562560"/>
        <c:axId val="2042230976"/>
      </c:lineChart>
      <c:catAx>
        <c:axId val="2045562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2042230976"/>
        <c:crosses val="autoZero"/>
        <c:auto val="1"/>
        <c:lblAlgn val="ctr"/>
        <c:lblOffset val="100"/>
        <c:noMultiLvlLbl val="0"/>
      </c:catAx>
      <c:valAx>
        <c:axId val="2042230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0455625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Regression</a:t>
            </a:r>
            <a:r>
              <a:rPr lang="en-US" baseline="0" dirty="0"/>
              <a:t> Results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9773184601924758E-2"/>
          <c:y val="0.17238444152814231"/>
          <c:w val="0.90856014873140856"/>
          <c:h val="0.6769346019247594"/>
        </c:manualLayout>
      </c:layout>
      <c:lineChart>
        <c:grouping val="standard"/>
        <c:varyColors val="0"/>
        <c:ser>
          <c:idx val="0"/>
          <c:order val="0"/>
          <c:tx>
            <c:strRef>
              <c:f>'Parameter-Value-Significance (2'!$B$1</c:f>
              <c:strCache>
                <c:ptCount val="1"/>
                <c:pt idx="0">
                  <c:v>Value</c:v>
                </c:pt>
              </c:strCache>
            </c:strRef>
          </c:tx>
          <c:spPr>
            <a:ln w="28575" cap="rnd">
              <a:solidFill>
                <a:schemeClr val="accent1"/>
              </a:solidFill>
              <a:round/>
            </a:ln>
            <a:effectLst/>
          </c:spPr>
          <c:marker>
            <c:symbol val="none"/>
          </c:marker>
          <c:cat>
            <c:strRef>
              <c:f>'Parameter-Value-Significance (2'!$A$2:$A$5</c:f>
              <c:strCache>
                <c:ptCount val="4"/>
                <c:pt idx="0">
                  <c:v>Correlation (r)</c:v>
                </c:pt>
                <c:pt idx="1">
                  <c:v>Regression Coefficient (b)</c:v>
                </c:pt>
                <c:pt idx="2">
                  <c:v>Model Fit (RÂ²)</c:v>
                </c:pt>
                <c:pt idx="3">
                  <c:v>F-statistic</c:v>
                </c:pt>
              </c:strCache>
            </c:strRef>
          </c:cat>
          <c:val>
            <c:numRef>
              <c:f>'Parameter-Value-Significance (2'!$B$2:$B$5</c:f>
              <c:numCache>
                <c:formatCode>General</c:formatCode>
                <c:ptCount val="4"/>
                <c:pt idx="0">
                  <c:v>-0.42</c:v>
                </c:pt>
                <c:pt idx="1">
                  <c:v>-0.33200000000000002</c:v>
                </c:pt>
                <c:pt idx="2">
                  <c:v>0.17699999999999999</c:v>
                </c:pt>
                <c:pt idx="3">
                  <c:v>4.931</c:v>
                </c:pt>
              </c:numCache>
            </c:numRef>
          </c:val>
          <c:smooth val="0"/>
          <c:extLst>
            <c:ext xmlns:c16="http://schemas.microsoft.com/office/drawing/2014/chart" uri="{C3380CC4-5D6E-409C-BE32-E72D297353CC}">
              <c16:uniqueId val="{00000000-B6B3-4C93-8DF9-E4B879839F05}"/>
            </c:ext>
          </c:extLst>
        </c:ser>
        <c:ser>
          <c:idx val="1"/>
          <c:order val="1"/>
          <c:tx>
            <c:strRef>
              <c:f>'Parameter-Value-Significance (2'!$C$1</c:f>
              <c:strCache>
                <c:ptCount val="1"/>
                <c:pt idx="0">
                  <c:v>Significance</c:v>
                </c:pt>
              </c:strCache>
            </c:strRef>
          </c:tx>
          <c:spPr>
            <a:ln w="28575" cap="rnd">
              <a:solidFill>
                <a:schemeClr val="accent2"/>
              </a:solidFill>
              <a:round/>
            </a:ln>
            <a:effectLst/>
          </c:spPr>
          <c:marker>
            <c:symbol val="none"/>
          </c:marker>
          <c:cat>
            <c:strRef>
              <c:f>'Parameter-Value-Significance (2'!$A$2:$A$5</c:f>
              <c:strCache>
                <c:ptCount val="4"/>
                <c:pt idx="0">
                  <c:v>Correlation (r)</c:v>
                </c:pt>
                <c:pt idx="1">
                  <c:v>Regression Coefficient (b)</c:v>
                </c:pt>
                <c:pt idx="2">
                  <c:v>Model Fit (RÂ²)</c:v>
                </c:pt>
                <c:pt idx="3">
                  <c:v>F-statistic</c:v>
                </c:pt>
              </c:strCache>
            </c:strRef>
          </c:cat>
          <c:val>
            <c:numRef>
              <c:f>'Parameter-Value-Significance (2'!$C$2:$C$5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1-B6B3-4C93-8DF9-E4B879839F05}"/>
            </c:ext>
          </c:extLst>
        </c:ser>
        <c:dLbls>
          <c:showLegendKey val="0"/>
          <c:showVal val="0"/>
          <c:showCatName val="0"/>
          <c:showSerName val="0"/>
          <c:showPercent val="0"/>
          <c:showBubbleSize val="0"/>
        </c:dLbls>
        <c:smooth val="0"/>
        <c:axId val="7556240"/>
        <c:axId val="9659376"/>
      </c:lineChart>
      <c:catAx>
        <c:axId val="7556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59376"/>
        <c:crosses val="autoZero"/>
        <c:auto val="1"/>
        <c:lblAlgn val="ctr"/>
        <c:lblOffset val="100"/>
        <c:noMultiLvlLbl val="0"/>
      </c:catAx>
      <c:valAx>
        <c:axId val="9659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56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hyperlink" Target="https://researchleap.com/product/qualitative-analysis/" TargetMode="External"/><Relationship Id="rId13" Type="http://schemas.openxmlformats.org/officeDocument/2006/relationships/hyperlink" Target="https://svgsilh.com/image/303465.html" TargetMode="External"/><Relationship Id="rId3" Type="http://schemas.openxmlformats.org/officeDocument/2006/relationships/image" Target="../media/image6.png"/><Relationship Id="rId7" Type="http://schemas.openxmlformats.org/officeDocument/2006/relationships/image" Target="../media/image8.jpeg"/><Relationship Id="rId12" Type="http://schemas.openxmlformats.org/officeDocument/2006/relationships/image" Target="../media/image11.svg"/><Relationship Id="rId2" Type="http://schemas.openxmlformats.org/officeDocument/2006/relationships/hyperlink" Target="https://africanarguments.org/2016/11/25/shell-tries-to-dodge-responsibility-for-nigeria-oil-spills-again/" TargetMode="External"/><Relationship Id="rId1" Type="http://schemas.openxmlformats.org/officeDocument/2006/relationships/image" Target="../media/image5.jpeg"/><Relationship Id="rId6" Type="http://schemas.openxmlformats.org/officeDocument/2006/relationships/hyperlink" Target="https://juniperpublishers.com/jojwb/JOJWB.MS.ID.555585.php" TargetMode="External"/><Relationship Id="rId11" Type="http://schemas.openxmlformats.org/officeDocument/2006/relationships/image" Target="../media/image10.png"/><Relationship Id="rId5" Type="http://schemas.openxmlformats.org/officeDocument/2006/relationships/image" Target="../media/image7.jpeg"/><Relationship Id="rId15" Type="http://schemas.openxmlformats.org/officeDocument/2006/relationships/hyperlink" Target="https://www.flickr.com/photos/141574894@N07/26938112844" TargetMode="External"/><Relationship Id="rId10" Type="http://schemas.openxmlformats.org/officeDocument/2006/relationships/hyperlink" Target="https://scuhdrtraining.com/researcher-metrics-impact/" TargetMode="External"/><Relationship Id="rId4" Type="http://schemas.openxmlformats.org/officeDocument/2006/relationships/hyperlink" Target="https://www.asyousow.org/report-page/2021-clean200" TargetMode="External"/><Relationship Id="rId9" Type="http://schemas.openxmlformats.org/officeDocument/2006/relationships/image" Target="../media/image9.png"/><Relationship Id="rId14"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8" Type="http://schemas.openxmlformats.org/officeDocument/2006/relationships/hyperlink" Target="https://researchleap.com/product/qualitative-analysis/" TargetMode="External"/><Relationship Id="rId13" Type="http://schemas.openxmlformats.org/officeDocument/2006/relationships/hyperlink" Target="https://svgsilh.com/image/303465.html" TargetMode="External"/><Relationship Id="rId3" Type="http://schemas.openxmlformats.org/officeDocument/2006/relationships/image" Target="../media/image6.png"/><Relationship Id="rId7" Type="http://schemas.openxmlformats.org/officeDocument/2006/relationships/image" Target="../media/image8.jpeg"/><Relationship Id="rId12" Type="http://schemas.openxmlformats.org/officeDocument/2006/relationships/image" Target="../media/image11.svg"/><Relationship Id="rId2" Type="http://schemas.openxmlformats.org/officeDocument/2006/relationships/hyperlink" Target="https://africanarguments.org/2016/11/25/shell-tries-to-dodge-responsibility-for-nigeria-oil-spills-again/" TargetMode="External"/><Relationship Id="rId1" Type="http://schemas.openxmlformats.org/officeDocument/2006/relationships/image" Target="../media/image5.jpeg"/><Relationship Id="rId6" Type="http://schemas.openxmlformats.org/officeDocument/2006/relationships/hyperlink" Target="https://juniperpublishers.com/jojwb/JOJWB.MS.ID.555585.php" TargetMode="External"/><Relationship Id="rId11" Type="http://schemas.openxmlformats.org/officeDocument/2006/relationships/image" Target="../media/image10.png"/><Relationship Id="rId5" Type="http://schemas.openxmlformats.org/officeDocument/2006/relationships/image" Target="../media/image7.jpeg"/><Relationship Id="rId15" Type="http://schemas.openxmlformats.org/officeDocument/2006/relationships/hyperlink" Target="https://www.flickr.com/photos/141574894@N07/26938112844" TargetMode="External"/><Relationship Id="rId10" Type="http://schemas.openxmlformats.org/officeDocument/2006/relationships/hyperlink" Target="https://scuhdrtraining.com/researcher-metrics-impact/" TargetMode="External"/><Relationship Id="rId4" Type="http://schemas.openxmlformats.org/officeDocument/2006/relationships/hyperlink" Target="https://www.asyousow.org/report-page/2021-clean200" TargetMode="External"/><Relationship Id="rId9" Type="http://schemas.openxmlformats.org/officeDocument/2006/relationships/image" Target="../media/image9.png"/><Relationship Id="rId14"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167A06-2E56-4204-9174-B8F1FB408918}"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D510097B-68E8-401C-B2F3-6B78F8482680}">
      <dgm:prSet/>
      <dgm:spPr/>
      <dgm:t>
        <a:bodyPr/>
        <a:lstStyle/>
        <a:p>
          <a:endParaRPr lang="en-US"/>
        </a:p>
      </dgm:t>
    </dgm:pt>
    <dgm:pt modelId="{7F7871B1-DEA5-4ECE-8ACD-42C3D5CAE012}" type="parTrans" cxnId="{4201AE93-2F35-48D5-A2CA-16817A5110F3}">
      <dgm:prSet/>
      <dgm:spPr/>
      <dgm:t>
        <a:bodyPr/>
        <a:lstStyle/>
        <a:p>
          <a:endParaRPr lang="en-US"/>
        </a:p>
      </dgm:t>
    </dgm:pt>
    <dgm:pt modelId="{5151E9CE-D58C-458E-BB11-067AC8996F20}" type="sibTrans" cxnId="{4201AE93-2F35-48D5-A2CA-16817A5110F3}">
      <dgm:prSet/>
      <dgm:spPr>
        <a:blipFill>
          <a:blip xmlns:r="http://schemas.openxmlformats.org/officeDocument/2006/relationships" r:embed="rId1" cstate="print">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3000" r="-23000"/>
          </a:stretch>
        </a:blipFill>
      </dgm:spPr>
      <dgm:t>
        <a:bodyPr/>
        <a:lstStyle/>
        <a:p>
          <a:endParaRPr lang="en-US"/>
        </a:p>
      </dgm:t>
    </dgm:pt>
    <dgm:pt modelId="{4D24A0C9-4067-4875-A352-FF17A731B132}">
      <dgm:prSet phldrT="[Text]"/>
      <dgm:spPr/>
      <dgm:t>
        <a:bodyPr/>
        <a:lstStyle/>
        <a:p>
          <a:r>
            <a:rPr lang="en-US" b="1" dirty="0"/>
            <a:t>Clean Energy</a:t>
          </a:r>
        </a:p>
        <a:p>
          <a:endParaRPr lang="en-US" b="1" dirty="0"/>
        </a:p>
      </dgm:t>
    </dgm:pt>
    <dgm:pt modelId="{251E31CE-8042-4721-8E51-6EF49AC6CB94}" type="parTrans" cxnId="{B6E5272A-B7C2-4712-9594-58C73D16B42E}">
      <dgm:prSet/>
      <dgm:spPr/>
      <dgm:t>
        <a:bodyPr/>
        <a:lstStyle/>
        <a:p>
          <a:endParaRPr lang="en-US"/>
        </a:p>
      </dgm:t>
    </dgm:pt>
    <dgm:pt modelId="{26CD2249-C252-4144-8A5C-6ACFCA9E1DF7}" type="sibTrans" cxnId="{B6E5272A-B7C2-4712-9594-58C73D16B42E}">
      <dgm:prSet/>
      <dgm:spPr>
        <a:blipFill>
          <a:blip xmlns:r="http://schemas.openxmlformats.org/officeDocument/2006/relationships"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l="-57000" r="-57000"/>
          </a:stretch>
        </a:blipFill>
      </dgm:spPr>
      <dgm:t>
        <a:bodyPr/>
        <a:lstStyle/>
        <a:p>
          <a:endParaRPr lang="en-US"/>
        </a:p>
      </dgm:t>
    </dgm:pt>
    <dgm:pt modelId="{0FA9751D-69B8-4096-9A8D-CA2FF2AB35E5}">
      <dgm:prSet phldrT="[Text]"/>
      <dgm:spPr/>
      <dgm:t>
        <a:bodyPr/>
        <a:lstStyle/>
        <a:p>
          <a:r>
            <a:rPr lang="en-US" b="1" dirty="0"/>
            <a:t>Natural Resource Management</a:t>
          </a:r>
        </a:p>
        <a:p>
          <a:endParaRPr lang="en-US" dirty="0"/>
        </a:p>
      </dgm:t>
    </dgm:pt>
    <dgm:pt modelId="{235D6B81-56EA-4D16-8A8C-D9C1703BBF66}" type="parTrans" cxnId="{0AD77784-47F9-44F4-A3C3-46DEAEE766C4}">
      <dgm:prSet/>
      <dgm:spPr/>
      <dgm:t>
        <a:bodyPr/>
        <a:lstStyle/>
        <a:p>
          <a:endParaRPr lang="en-US"/>
        </a:p>
      </dgm:t>
    </dgm:pt>
    <dgm:pt modelId="{19205962-3D52-4B89-84F3-E81BEBDCC3A6}" type="sibTrans" cxnId="{0AD77784-47F9-44F4-A3C3-46DEAEE766C4}">
      <dgm:prSet/>
      <dgm:spPr>
        <a:blipFill>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t="-12000" b="-12000"/>
          </a:stretch>
        </a:blipFill>
      </dgm:spPr>
      <dgm:t>
        <a:bodyPr/>
        <a:lstStyle/>
        <a:p>
          <a:endParaRPr lang="en-US"/>
        </a:p>
      </dgm:t>
    </dgm:pt>
    <dgm:pt modelId="{40FFC136-854D-4B03-B1A7-BD40022A2D33}">
      <dgm:prSet phldrT="[Text]"/>
      <dgm:spPr/>
      <dgm:t>
        <a:bodyPr/>
        <a:lstStyle/>
        <a:p>
          <a:r>
            <a:rPr lang="en-US" b="1" dirty="0"/>
            <a:t>Qualitative Policy Analysis</a:t>
          </a:r>
        </a:p>
      </dgm:t>
    </dgm:pt>
    <dgm:pt modelId="{5AB265A1-27D6-4736-A27D-9B73FB79F3BA}" type="parTrans" cxnId="{8366A020-8FC2-426B-8747-CBF7EE621F2A}">
      <dgm:prSet/>
      <dgm:spPr/>
      <dgm:t>
        <a:bodyPr/>
        <a:lstStyle/>
        <a:p>
          <a:endParaRPr lang="en-US"/>
        </a:p>
      </dgm:t>
    </dgm:pt>
    <dgm:pt modelId="{B612B3F4-DF4C-4F15-A237-E3A0F1C0DE8F}" type="sibTrans" cxnId="{8366A020-8FC2-426B-8747-CBF7EE621F2A}">
      <dgm:prSet/>
      <dgm:spPr>
        <a:blipFill>
          <a:blip xmlns:r="http://schemas.openxmlformats.org/officeDocument/2006/relationships"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l="-25000" r="-25000"/>
          </a:stretch>
        </a:blipFill>
      </dgm:spPr>
      <dgm:t>
        <a:bodyPr/>
        <a:lstStyle/>
        <a:p>
          <a:endParaRPr lang="en-US"/>
        </a:p>
      </dgm:t>
    </dgm:pt>
    <dgm:pt modelId="{AFCA1C6C-0F2D-4F0F-9F52-4CC29F183640}">
      <dgm:prSet/>
      <dgm:spPr/>
      <dgm:t>
        <a:bodyPr/>
        <a:lstStyle/>
        <a:p>
          <a:r>
            <a:rPr lang="en-US" b="1" dirty="0"/>
            <a:t>Quantitative Metrics</a:t>
          </a:r>
        </a:p>
      </dgm:t>
    </dgm:pt>
    <dgm:pt modelId="{57DAE0A4-FBFD-4F23-8108-BC70EC72FE82}" type="parTrans" cxnId="{0DD9FD26-2215-4512-803C-17D66AB0A36D}">
      <dgm:prSet/>
      <dgm:spPr/>
      <dgm:t>
        <a:bodyPr/>
        <a:lstStyle/>
        <a:p>
          <a:endParaRPr lang="en-US"/>
        </a:p>
      </dgm:t>
    </dgm:pt>
    <dgm:pt modelId="{FFDB1041-9184-49AA-8DF8-C37F8645A927}" type="sibTrans" cxnId="{0DD9FD26-2215-4512-803C-17D66AB0A36D}">
      <dgm:prSet/>
      <dgm:spPr>
        <a:blipFill>
          <a:blip xmlns:r="http://schemas.openxmlformats.org/officeDocument/2006/relationships"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dgm:spPr>
      <dgm:t>
        <a:bodyPr/>
        <a:lstStyle/>
        <a:p>
          <a:endParaRPr lang="en-US"/>
        </a:p>
      </dgm:t>
    </dgm:pt>
    <dgm:pt modelId="{D423A967-BDF0-4849-B473-B3451441091A}">
      <dgm:prSet/>
      <dgm:spPr/>
      <dgm:t>
        <a:bodyPr/>
        <a:lstStyle/>
        <a:p>
          <a:r>
            <a:rPr lang="en-US" b="1" dirty="0"/>
            <a:t>Mechanism Test</a:t>
          </a:r>
        </a:p>
      </dgm:t>
    </dgm:pt>
    <dgm:pt modelId="{50D9AC34-7CDE-4D5C-B404-64E0AEC948E4}" type="parTrans" cxnId="{FF97778C-03F8-48CE-893D-D263E023AF18}">
      <dgm:prSet/>
      <dgm:spPr/>
      <dgm:t>
        <a:bodyPr/>
        <a:lstStyle/>
        <a:p>
          <a:endParaRPr lang="en-US"/>
        </a:p>
      </dgm:t>
    </dgm:pt>
    <dgm:pt modelId="{37F186C4-ED4A-43B7-888E-99381AFDAE90}" type="sibTrans" cxnId="{FF97778C-03F8-48CE-893D-D263E023AF18}">
      <dgm:prSet/>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 uri="{837473B0-CC2E-450A-ABE3-18F120FF3D39}">
                <a1611:picAttrSrcUrl xmlns:a1611="http://schemas.microsoft.com/office/drawing/2016/11/main" r:id="rId13"/>
              </a:ext>
            </a:extLst>
          </a:blip>
          <a:srcRect/>
          <a:stretch>
            <a:fillRect/>
          </a:stretch>
        </a:blipFill>
      </dgm:spPr>
      <dgm:t>
        <a:bodyPr/>
        <a:lstStyle/>
        <a:p>
          <a:endParaRPr lang="en-US"/>
        </a:p>
      </dgm:t>
    </dgm:pt>
    <dgm:pt modelId="{32484188-ADB8-47A9-AE12-E709FA8A510D}">
      <dgm:prSet/>
      <dgm:spPr/>
      <dgm:t>
        <a:bodyPr/>
        <a:lstStyle/>
        <a:p>
          <a:r>
            <a:rPr lang="en-US" b="1" dirty="0"/>
            <a:t>Target polices</a:t>
          </a:r>
        </a:p>
      </dgm:t>
    </dgm:pt>
    <dgm:pt modelId="{9C3B5AD4-E7BA-4668-9A8D-413151D52591}" type="parTrans" cxnId="{03ED4496-EB7F-4E60-B99D-56EF0D6D2CFC}">
      <dgm:prSet/>
      <dgm:spPr/>
      <dgm:t>
        <a:bodyPr/>
        <a:lstStyle/>
        <a:p>
          <a:endParaRPr lang="en-US"/>
        </a:p>
      </dgm:t>
    </dgm:pt>
    <dgm:pt modelId="{BD9D6645-3F3B-4C6B-911A-0A82DD208846}" type="sibTrans" cxnId="{03ED4496-EB7F-4E60-B99D-56EF0D6D2CFC}">
      <dgm:prSet/>
      <dgm:spPr>
        <a:blipFill>
          <a:blip xmlns:r="http://schemas.openxmlformats.org/officeDocument/2006/relationships" r:embed="rId14" cstate="print">
            <a:extLst>
              <a:ext uri="{28A0092B-C50C-407E-A947-70E740481C1C}">
                <a14:useLocalDpi xmlns:a14="http://schemas.microsoft.com/office/drawing/2010/main" val="0"/>
              </a:ext>
              <a:ext uri="{837473B0-CC2E-450A-ABE3-18F120FF3D39}">
                <a1611:picAttrSrcUrl xmlns:a1611="http://schemas.microsoft.com/office/drawing/2016/11/main" r:id="rId15"/>
              </a:ext>
            </a:extLst>
          </a:blip>
          <a:srcRect/>
          <a:stretch>
            <a:fillRect l="-25000" r="-25000"/>
          </a:stretch>
        </a:blipFill>
      </dgm:spPr>
      <dgm:t>
        <a:bodyPr/>
        <a:lstStyle/>
        <a:p>
          <a:endParaRPr lang="en-US"/>
        </a:p>
      </dgm:t>
    </dgm:pt>
    <dgm:pt modelId="{D2E98B53-2164-48A9-85B7-1876DDD72BAE}">
      <dgm:prSet/>
      <dgm:spPr/>
      <dgm:t>
        <a:bodyPr/>
        <a:lstStyle/>
        <a:p>
          <a:endParaRPr lang="en-US" dirty="0"/>
        </a:p>
      </dgm:t>
    </dgm:pt>
    <dgm:pt modelId="{D083EDB9-E009-4384-9E61-B0B381F04A93}" type="parTrans" cxnId="{727C056D-88F8-4549-BA4C-4E02F065F87A}">
      <dgm:prSet/>
      <dgm:spPr/>
      <dgm:t>
        <a:bodyPr/>
        <a:lstStyle/>
        <a:p>
          <a:endParaRPr lang="en-US"/>
        </a:p>
      </dgm:t>
    </dgm:pt>
    <dgm:pt modelId="{923967B7-1E47-4FB1-AEBB-2B8FC54FC79E}" type="sibTrans" cxnId="{727C056D-88F8-4549-BA4C-4E02F065F87A}">
      <dgm:prSet/>
      <dgm:spPr/>
      <dgm:t>
        <a:bodyPr/>
        <a:lstStyle/>
        <a:p>
          <a:endParaRPr lang="en-US"/>
        </a:p>
      </dgm:t>
    </dgm:pt>
    <dgm:pt modelId="{94BCA8DE-9C9D-406F-A76B-FC9F53AEBC36}">
      <dgm:prSet/>
      <dgm:spPr/>
      <dgm:t>
        <a:bodyPr/>
        <a:lstStyle/>
        <a:p>
          <a:endParaRPr lang="en-US"/>
        </a:p>
      </dgm:t>
    </dgm:pt>
    <dgm:pt modelId="{7C29ADFC-3C0C-49E2-9882-7CC8E8347125}" type="parTrans" cxnId="{08AF8FFE-249B-47E8-B5B1-6A3690E83B03}">
      <dgm:prSet/>
      <dgm:spPr/>
      <dgm:t>
        <a:bodyPr/>
        <a:lstStyle/>
        <a:p>
          <a:endParaRPr lang="en-US"/>
        </a:p>
      </dgm:t>
    </dgm:pt>
    <dgm:pt modelId="{565E66D2-97A3-4775-AAC7-C9D55A893955}" type="sibTrans" cxnId="{08AF8FFE-249B-47E8-B5B1-6A3690E83B03}">
      <dgm:prSet/>
      <dgm:spPr/>
      <dgm:t>
        <a:bodyPr/>
        <a:lstStyle/>
        <a:p>
          <a:endParaRPr lang="en-US"/>
        </a:p>
      </dgm:t>
    </dgm:pt>
    <dgm:pt modelId="{88823A81-370A-4AFE-AECE-2EF7D2531D18}">
      <dgm:prSet/>
      <dgm:spPr/>
      <dgm:t>
        <a:bodyPr/>
        <a:lstStyle/>
        <a:p>
          <a:endParaRPr lang="en-US"/>
        </a:p>
      </dgm:t>
    </dgm:pt>
    <dgm:pt modelId="{AA7C7F06-E9EA-4B62-9252-DD89967CF611}" type="parTrans" cxnId="{7E49E2AD-F771-4825-918D-C522F7F490AB}">
      <dgm:prSet/>
      <dgm:spPr/>
      <dgm:t>
        <a:bodyPr/>
        <a:lstStyle/>
        <a:p>
          <a:endParaRPr lang="en-US"/>
        </a:p>
      </dgm:t>
    </dgm:pt>
    <dgm:pt modelId="{624D14FB-79E6-4A0F-B090-836D09D160F8}" type="sibTrans" cxnId="{7E49E2AD-F771-4825-918D-C522F7F490AB}">
      <dgm:prSet/>
      <dgm:spPr/>
      <dgm:t>
        <a:bodyPr/>
        <a:lstStyle/>
        <a:p>
          <a:endParaRPr lang="en-US"/>
        </a:p>
      </dgm:t>
    </dgm:pt>
    <dgm:pt modelId="{41BBCCB7-A9C3-4FCA-9C8F-16A89761E3D0}" type="pres">
      <dgm:prSet presAssocID="{71167A06-2E56-4204-9174-B8F1FB408918}" presName="Name0" presStyleCnt="0">
        <dgm:presLayoutVars>
          <dgm:chMax val="7"/>
          <dgm:chPref val="7"/>
          <dgm:dir/>
        </dgm:presLayoutVars>
      </dgm:prSet>
      <dgm:spPr/>
    </dgm:pt>
    <dgm:pt modelId="{BA508DB8-576D-40ED-BF62-020DB0777A85}" type="pres">
      <dgm:prSet presAssocID="{71167A06-2E56-4204-9174-B8F1FB408918}" presName="Name1" presStyleCnt="0"/>
      <dgm:spPr/>
    </dgm:pt>
    <dgm:pt modelId="{F3D92B92-9B9F-489A-9774-2849F7AECF66}" type="pres">
      <dgm:prSet presAssocID="{5151E9CE-D58C-458E-BB11-067AC8996F20}" presName="picture_1" presStyleCnt="0"/>
      <dgm:spPr/>
    </dgm:pt>
    <dgm:pt modelId="{25272CE9-E06B-4E91-8E2A-C06D417C3960}" type="pres">
      <dgm:prSet presAssocID="{5151E9CE-D58C-458E-BB11-067AC8996F20}" presName="pictureRepeatNode" presStyleLbl="alignImgPlace1" presStyleIdx="0" presStyleCnt="7" custScaleX="101221" custScaleY="107865"/>
      <dgm:spPr/>
    </dgm:pt>
    <dgm:pt modelId="{6057BA3E-CD69-4393-BC4C-F175BB9ACD91}" type="pres">
      <dgm:prSet presAssocID="{D510097B-68E8-401C-B2F3-6B78F8482680}" presName="text_1" presStyleLbl="node1" presStyleIdx="0" presStyleCnt="0">
        <dgm:presLayoutVars>
          <dgm:bulletEnabled val="1"/>
        </dgm:presLayoutVars>
      </dgm:prSet>
      <dgm:spPr/>
    </dgm:pt>
    <dgm:pt modelId="{BE2B4A33-D3C4-43B2-9CAB-849204D4F1AA}" type="pres">
      <dgm:prSet presAssocID="{26CD2249-C252-4144-8A5C-6ACFCA9E1DF7}" presName="picture_2" presStyleCnt="0"/>
      <dgm:spPr/>
    </dgm:pt>
    <dgm:pt modelId="{0B521B62-494D-4893-A04E-9A75D12F0203}" type="pres">
      <dgm:prSet presAssocID="{26CD2249-C252-4144-8A5C-6ACFCA9E1DF7}" presName="pictureRepeatNode" presStyleLbl="alignImgPlace1" presStyleIdx="1" presStyleCnt="7" custScaleX="197457" custScaleY="149031" custLinFactNeighborX="2328" custLinFactNeighborY="-11199"/>
      <dgm:spPr/>
    </dgm:pt>
    <dgm:pt modelId="{09C8A92C-4CA9-4EBE-83A5-0BA957B107BA}" type="pres">
      <dgm:prSet presAssocID="{4D24A0C9-4067-4875-A352-FF17A731B132}" presName="line_2" presStyleLbl="parChTrans1D1" presStyleIdx="0" presStyleCnt="6"/>
      <dgm:spPr/>
    </dgm:pt>
    <dgm:pt modelId="{E95638A3-8DA3-469F-BF6E-6A3AA9FCC8AF}" type="pres">
      <dgm:prSet presAssocID="{4D24A0C9-4067-4875-A352-FF17A731B132}" presName="textparent_2" presStyleLbl="node1" presStyleIdx="0" presStyleCnt="0"/>
      <dgm:spPr/>
    </dgm:pt>
    <dgm:pt modelId="{C9CBE772-0053-4EF5-A261-581DF11A3486}" type="pres">
      <dgm:prSet presAssocID="{4D24A0C9-4067-4875-A352-FF17A731B132}" presName="text_2" presStyleLbl="revTx" presStyleIdx="0" presStyleCnt="6" custLinFactNeighborX="60126" custLinFactNeighborY="-23809">
        <dgm:presLayoutVars>
          <dgm:bulletEnabled val="1"/>
        </dgm:presLayoutVars>
      </dgm:prSet>
      <dgm:spPr/>
    </dgm:pt>
    <dgm:pt modelId="{F2071653-EAD9-4D04-8A44-E6A1B86D80EE}" type="pres">
      <dgm:prSet presAssocID="{19205962-3D52-4B89-84F3-E81BEBDCC3A6}" presName="picture_3" presStyleCnt="0"/>
      <dgm:spPr/>
    </dgm:pt>
    <dgm:pt modelId="{219C678D-4A3A-4616-B8C5-8AABD7C31815}" type="pres">
      <dgm:prSet presAssocID="{19205962-3D52-4B89-84F3-E81BEBDCC3A6}" presName="pictureRepeatNode" presStyleLbl="alignImgPlace1" presStyleIdx="2" presStyleCnt="7" custScaleX="176065" custScaleY="139371"/>
      <dgm:spPr/>
    </dgm:pt>
    <dgm:pt modelId="{28B6A717-1033-449A-9EFA-A2C2EF1B3BCF}" type="pres">
      <dgm:prSet presAssocID="{0FA9751D-69B8-4096-9A8D-CA2FF2AB35E5}" presName="line_3" presStyleLbl="parChTrans1D1" presStyleIdx="1" presStyleCnt="6"/>
      <dgm:spPr/>
    </dgm:pt>
    <dgm:pt modelId="{015379AF-F79C-4F14-AE82-C040F35D2D4B}" type="pres">
      <dgm:prSet presAssocID="{0FA9751D-69B8-4096-9A8D-CA2FF2AB35E5}" presName="textparent_3" presStyleLbl="node1" presStyleIdx="0" presStyleCnt="0"/>
      <dgm:spPr/>
    </dgm:pt>
    <dgm:pt modelId="{5E25B603-1569-4DEE-B4DC-7C2006D864F9}" type="pres">
      <dgm:prSet presAssocID="{0FA9751D-69B8-4096-9A8D-CA2FF2AB35E5}" presName="text_3" presStyleLbl="revTx" presStyleIdx="1" presStyleCnt="6" custLinFactNeighborX="18183" custLinFactNeighborY="16270">
        <dgm:presLayoutVars>
          <dgm:bulletEnabled val="1"/>
        </dgm:presLayoutVars>
      </dgm:prSet>
      <dgm:spPr/>
    </dgm:pt>
    <dgm:pt modelId="{A38470E2-2B17-4DCB-8A23-D098A89DD1A6}" type="pres">
      <dgm:prSet presAssocID="{B612B3F4-DF4C-4F15-A237-E3A0F1C0DE8F}" presName="picture_4" presStyleCnt="0"/>
      <dgm:spPr/>
    </dgm:pt>
    <dgm:pt modelId="{E8B69EAA-CD3A-43F6-A2EF-3CD8B2397AD8}" type="pres">
      <dgm:prSet presAssocID="{B612B3F4-DF4C-4F15-A237-E3A0F1C0DE8F}" presName="pictureRepeatNode" presStyleLbl="alignImgPlace1" presStyleIdx="3" presStyleCnt="7" custScaleX="165545" custScaleY="126667"/>
      <dgm:spPr/>
    </dgm:pt>
    <dgm:pt modelId="{C4DB35BB-6E6E-4492-ACBD-F51384324A30}" type="pres">
      <dgm:prSet presAssocID="{40FFC136-854D-4B03-B1A7-BD40022A2D33}" presName="line_4" presStyleLbl="parChTrans1D1" presStyleIdx="2" presStyleCnt="6"/>
      <dgm:spPr/>
    </dgm:pt>
    <dgm:pt modelId="{A5F86EE5-5DB7-4DF8-9715-795CEEDE485F}" type="pres">
      <dgm:prSet presAssocID="{40FFC136-854D-4B03-B1A7-BD40022A2D33}" presName="textparent_4" presStyleLbl="node1" presStyleIdx="0" presStyleCnt="0"/>
      <dgm:spPr/>
    </dgm:pt>
    <dgm:pt modelId="{B2F5429E-F9E9-4BB2-981C-0D53B50CDEDA}" type="pres">
      <dgm:prSet presAssocID="{40FFC136-854D-4B03-B1A7-BD40022A2D33}" presName="text_4" presStyleLbl="revTx" presStyleIdx="2" presStyleCnt="6" custLinFactNeighborX="28895" custLinFactNeighborY="7664">
        <dgm:presLayoutVars>
          <dgm:bulletEnabled val="1"/>
        </dgm:presLayoutVars>
      </dgm:prSet>
      <dgm:spPr/>
    </dgm:pt>
    <dgm:pt modelId="{B0F251A5-0843-43AC-846B-2AE894C394AD}" type="pres">
      <dgm:prSet presAssocID="{FFDB1041-9184-49AA-8DF8-C37F8645A927}" presName="picture_5" presStyleCnt="0"/>
      <dgm:spPr/>
    </dgm:pt>
    <dgm:pt modelId="{6F7B7BC7-39A8-494C-B1A7-DCAB705B642A}" type="pres">
      <dgm:prSet presAssocID="{FFDB1041-9184-49AA-8DF8-C37F8645A927}" presName="pictureRepeatNode" presStyleLbl="alignImgPlace1" presStyleIdx="4" presStyleCnt="7" custScaleX="165545"/>
      <dgm:spPr/>
    </dgm:pt>
    <dgm:pt modelId="{81517894-ACAA-4E3E-A9A3-DE73ED2FA1A1}" type="pres">
      <dgm:prSet presAssocID="{AFCA1C6C-0F2D-4F0F-9F52-4CC29F183640}" presName="line_5" presStyleLbl="parChTrans1D1" presStyleIdx="3" presStyleCnt="6"/>
      <dgm:spPr/>
    </dgm:pt>
    <dgm:pt modelId="{C805D4F8-3CEB-4876-B71F-B168039130FE}" type="pres">
      <dgm:prSet presAssocID="{AFCA1C6C-0F2D-4F0F-9F52-4CC29F183640}" presName="textparent_5" presStyleLbl="node1" presStyleIdx="0" presStyleCnt="0"/>
      <dgm:spPr/>
    </dgm:pt>
    <dgm:pt modelId="{37A5C61E-71FB-4D7F-9998-105BEA657146}" type="pres">
      <dgm:prSet presAssocID="{AFCA1C6C-0F2D-4F0F-9F52-4CC29F183640}" presName="text_5" presStyleLbl="revTx" presStyleIdx="3" presStyleCnt="6" custLinFactNeighborX="18759" custLinFactNeighborY="1924">
        <dgm:presLayoutVars>
          <dgm:bulletEnabled val="1"/>
        </dgm:presLayoutVars>
      </dgm:prSet>
      <dgm:spPr/>
    </dgm:pt>
    <dgm:pt modelId="{F86269A1-0825-42E4-8AC1-64A1523D6B0D}" type="pres">
      <dgm:prSet presAssocID="{37F186C4-ED4A-43B7-888E-99381AFDAE90}" presName="picture_6" presStyleCnt="0"/>
      <dgm:spPr/>
    </dgm:pt>
    <dgm:pt modelId="{C8CA0800-4047-4895-B5B5-7195D9E1E842}" type="pres">
      <dgm:prSet presAssocID="{37F186C4-ED4A-43B7-888E-99381AFDAE90}" presName="pictureRepeatNode" presStyleLbl="alignImgPlace1" presStyleIdx="5" presStyleCnt="7" custScaleX="102995" custScaleY="91010" custLinFactNeighborX="-2078" custLinFactNeighborY="-165"/>
      <dgm:spPr/>
    </dgm:pt>
    <dgm:pt modelId="{30C3FEF9-DCA2-4943-A9FB-983B782FA775}" type="pres">
      <dgm:prSet presAssocID="{D423A967-BDF0-4849-B473-B3451441091A}" presName="line_6" presStyleLbl="parChTrans1D1" presStyleIdx="4" presStyleCnt="6" custFlipVert="1" custSzY="45720" custScaleX="77777"/>
      <dgm:spPr/>
    </dgm:pt>
    <dgm:pt modelId="{E40446C3-4E63-443F-89AD-0865F9E3E0F8}" type="pres">
      <dgm:prSet presAssocID="{D423A967-BDF0-4849-B473-B3451441091A}" presName="textparent_6" presStyleLbl="node1" presStyleIdx="0" presStyleCnt="0"/>
      <dgm:spPr/>
    </dgm:pt>
    <dgm:pt modelId="{2DA304BD-E5E5-47CA-B96B-0560592013D6}" type="pres">
      <dgm:prSet presAssocID="{D423A967-BDF0-4849-B473-B3451441091A}" presName="text_6" presStyleLbl="revTx" presStyleIdx="4" presStyleCnt="6">
        <dgm:presLayoutVars>
          <dgm:bulletEnabled val="1"/>
        </dgm:presLayoutVars>
      </dgm:prSet>
      <dgm:spPr/>
    </dgm:pt>
    <dgm:pt modelId="{0F87DAFB-1185-4C2A-A7E7-881017307B5E}" type="pres">
      <dgm:prSet presAssocID="{BD9D6645-3F3B-4C6B-911A-0A82DD208846}" presName="picture_7" presStyleCnt="0"/>
      <dgm:spPr/>
    </dgm:pt>
    <dgm:pt modelId="{609BA0F6-9641-4FF4-AC19-24DB81E595AF}" type="pres">
      <dgm:prSet presAssocID="{BD9D6645-3F3B-4C6B-911A-0A82DD208846}" presName="pictureRepeatNode" presStyleLbl="alignImgPlace1" presStyleIdx="6" presStyleCnt="7" custScaleX="155668" custScaleY="123220"/>
      <dgm:spPr/>
    </dgm:pt>
    <dgm:pt modelId="{F738EA4C-9E39-4F25-B79E-0DF0404728AA}" type="pres">
      <dgm:prSet presAssocID="{32484188-ADB8-47A9-AE12-E709FA8A510D}" presName="line_7" presStyleLbl="parChTrans1D1" presStyleIdx="5" presStyleCnt="6"/>
      <dgm:spPr/>
    </dgm:pt>
    <dgm:pt modelId="{0323F851-5672-4F27-816A-E3B6FB2207AA}" type="pres">
      <dgm:prSet presAssocID="{32484188-ADB8-47A9-AE12-E709FA8A510D}" presName="textparent_7" presStyleLbl="node1" presStyleIdx="0" presStyleCnt="0"/>
      <dgm:spPr/>
    </dgm:pt>
    <dgm:pt modelId="{56A886D0-B87F-42CE-859D-DB7A982CB873}" type="pres">
      <dgm:prSet presAssocID="{32484188-ADB8-47A9-AE12-E709FA8A510D}" presName="text_7" presStyleLbl="revTx" presStyleIdx="5" presStyleCnt="6" custLinFactNeighborX="24774" custLinFactNeighborY="6367">
        <dgm:presLayoutVars>
          <dgm:bulletEnabled val="1"/>
        </dgm:presLayoutVars>
      </dgm:prSet>
      <dgm:spPr/>
    </dgm:pt>
  </dgm:ptLst>
  <dgm:cxnLst>
    <dgm:cxn modelId="{8A40CD1F-C350-4E6B-9720-5F4C4C2D7E42}" type="presOf" srcId="{D423A967-BDF0-4849-B473-B3451441091A}" destId="{2DA304BD-E5E5-47CA-B96B-0560592013D6}" srcOrd="0" destOrd="0" presId="urn:microsoft.com/office/officeart/2008/layout/CircularPictureCallout"/>
    <dgm:cxn modelId="{8366A020-8FC2-426B-8747-CBF7EE621F2A}" srcId="{71167A06-2E56-4204-9174-B8F1FB408918}" destId="{40FFC136-854D-4B03-B1A7-BD40022A2D33}" srcOrd="3" destOrd="0" parTransId="{5AB265A1-27D6-4736-A27D-9B73FB79F3BA}" sibTransId="{B612B3F4-DF4C-4F15-A237-E3A0F1C0DE8F}"/>
    <dgm:cxn modelId="{0DD9FD26-2215-4512-803C-17D66AB0A36D}" srcId="{71167A06-2E56-4204-9174-B8F1FB408918}" destId="{AFCA1C6C-0F2D-4F0F-9F52-4CC29F183640}" srcOrd="4" destOrd="0" parTransId="{57DAE0A4-FBFD-4F23-8108-BC70EC72FE82}" sibTransId="{FFDB1041-9184-49AA-8DF8-C37F8645A927}"/>
    <dgm:cxn modelId="{B6E5272A-B7C2-4712-9594-58C73D16B42E}" srcId="{71167A06-2E56-4204-9174-B8F1FB408918}" destId="{4D24A0C9-4067-4875-A352-FF17A731B132}" srcOrd="1" destOrd="0" parTransId="{251E31CE-8042-4721-8E51-6EF49AC6CB94}" sibTransId="{26CD2249-C252-4144-8A5C-6ACFCA9E1DF7}"/>
    <dgm:cxn modelId="{6576882E-BF43-42B9-869F-38BB27199BC1}" type="presOf" srcId="{71167A06-2E56-4204-9174-B8F1FB408918}" destId="{41BBCCB7-A9C3-4FCA-9C8F-16A89761E3D0}" srcOrd="0" destOrd="0" presId="urn:microsoft.com/office/officeart/2008/layout/CircularPictureCallout"/>
    <dgm:cxn modelId="{727C056D-88F8-4549-BA4C-4E02F065F87A}" srcId="{71167A06-2E56-4204-9174-B8F1FB408918}" destId="{D2E98B53-2164-48A9-85B7-1876DDD72BAE}" srcOrd="7" destOrd="0" parTransId="{D083EDB9-E009-4384-9E61-B0B381F04A93}" sibTransId="{923967B7-1E47-4FB1-AEBB-2B8FC54FC79E}"/>
    <dgm:cxn modelId="{2F186C52-FD63-46E3-8D0B-52BEC1C27FB4}" type="presOf" srcId="{26CD2249-C252-4144-8A5C-6ACFCA9E1DF7}" destId="{0B521B62-494D-4893-A04E-9A75D12F0203}" srcOrd="0" destOrd="0" presId="urn:microsoft.com/office/officeart/2008/layout/CircularPictureCallout"/>
    <dgm:cxn modelId="{96EAB753-A308-4846-91BD-CFE67B7A30F2}" type="presOf" srcId="{5151E9CE-D58C-458E-BB11-067AC8996F20}" destId="{25272CE9-E06B-4E91-8E2A-C06D417C3960}" srcOrd="0" destOrd="0" presId="urn:microsoft.com/office/officeart/2008/layout/CircularPictureCallout"/>
    <dgm:cxn modelId="{C2006155-AFD8-4441-BB30-40A96F3DE818}" type="presOf" srcId="{40FFC136-854D-4B03-B1A7-BD40022A2D33}" destId="{B2F5429E-F9E9-4BB2-981C-0D53B50CDEDA}" srcOrd="0" destOrd="0" presId="urn:microsoft.com/office/officeart/2008/layout/CircularPictureCallout"/>
    <dgm:cxn modelId="{A353CE76-6F0A-4A3C-8BC9-05097D3DD0BE}" type="presOf" srcId="{D510097B-68E8-401C-B2F3-6B78F8482680}" destId="{6057BA3E-CD69-4393-BC4C-F175BB9ACD91}" srcOrd="0" destOrd="0" presId="urn:microsoft.com/office/officeart/2008/layout/CircularPictureCallout"/>
    <dgm:cxn modelId="{4C080C77-F7B5-4191-95D0-58F460F00D5E}" type="presOf" srcId="{BD9D6645-3F3B-4C6B-911A-0A82DD208846}" destId="{609BA0F6-9641-4FF4-AC19-24DB81E595AF}" srcOrd="0" destOrd="0" presId="urn:microsoft.com/office/officeart/2008/layout/CircularPictureCallout"/>
    <dgm:cxn modelId="{FBBC6D82-A9AE-4979-8CE9-DBCED7A88ABE}" type="presOf" srcId="{32484188-ADB8-47A9-AE12-E709FA8A510D}" destId="{56A886D0-B87F-42CE-859D-DB7A982CB873}" srcOrd="0" destOrd="0" presId="urn:microsoft.com/office/officeart/2008/layout/CircularPictureCallout"/>
    <dgm:cxn modelId="{0AD77784-47F9-44F4-A3C3-46DEAEE766C4}" srcId="{71167A06-2E56-4204-9174-B8F1FB408918}" destId="{0FA9751D-69B8-4096-9A8D-CA2FF2AB35E5}" srcOrd="2" destOrd="0" parTransId="{235D6B81-56EA-4D16-8A8C-D9C1703BBF66}" sibTransId="{19205962-3D52-4B89-84F3-E81BEBDCC3A6}"/>
    <dgm:cxn modelId="{9DA1B386-682B-418C-BBE9-691E16BF59E0}" type="presOf" srcId="{4D24A0C9-4067-4875-A352-FF17A731B132}" destId="{C9CBE772-0053-4EF5-A261-581DF11A3486}" srcOrd="0" destOrd="0" presId="urn:microsoft.com/office/officeart/2008/layout/CircularPictureCallout"/>
    <dgm:cxn modelId="{FF97778C-03F8-48CE-893D-D263E023AF18}" srcId="{71167A06-2E56-4204-9174-B8F1FB408918}" destId="{D423A967-BDF0-4849-B473-B3451441091A}" srcOrd="5" destOrd="0" parTransId="{50D9AC34-7CDE-4D5C-B404-64E0AEC948E4}" sibTransId="{37F186C4-ED4A-43B7-888E-99381AFDAE90}"/>
    <dgm:cxn modelId="{7E253193-7302-445C-B650-90FFA33A8355}" type="presOf" srcId="{19205962-3D52-4B89-84F3-E81BEBDCC3A6}" destId="{219C678D-4A3A-4616-B8C5-8AABD7C31815}" srcOrd="0" destOrd="0" presId="urn:microsoft.com/office/officeart/2008/layout/CircularPictureCallout"/>
    <dgm:cxn modelId="{4201AE93-2F35-48D5-A2CA-16817A5110F3}" srcId="{71167A06-2E56-4204-9174-B8F1FB408918}" destId="{D510097B-68E8-401C-B2F3-6B78F8482680}" srcOrd="0" destOrd="0" parTransId="{7F7871B1-DEA5-4ECE-8ACD-42C3D5CAE012}" sibTransId="{5151E9CE-D58C-458E-BB11-067AC8996F20}"/>
    <dgm:cxn modelId="{03ED4496-EB7F-4E60-B99D-56EF0D6D2CFC}" srcId="{71167A06-2E56-4204-9174-B8F1FB408918}" destId="{32484188-ADB8-47A9-AE12-E709FA8A510D}" srcOrd="6" destOrd="0" parTransId="{9C3B5AD4-E7BA-4668-9A8D-413151D52591}" sibTransId="{BD9D6645-3F3B-4C6B-911A-0A82DD208846}"/>
    <dgm:cxn modelId="{B04D71AC-D57F-40E0-8469-F67BF6BD903D}" type="presOf" srcId="{FFDB1041-9184-49AA-8DF8-C37F8645A927}" destId="{6F7B7BC7-39A8-494C-B1A7-DCAB705B642A}" srcOrd="0" destOrd="0" presId="urn:microsoft.com/office/officeart/2008/layout/CircularPictureCallout"/>
    <dgm:cxn modelId="{639ED2AC-DC0D-4BE9-B951-49F18B6296BE}" type="presOf" srcId="{AFCA1C6C-0F2D-4F0F-9F52-4CC29F183640}" destId="{37A5C61E-71FB-4D7F-9998-105BEA657146}" srcOrd="0" destOrd="0" presId="urn:microsoft.com/office/officeart/2008/layout/CircularPictureCallout"/>
    <dgm:cxn modelId="{7E49E2AD-F771-4825-918D-C522F7F490AB}" srcId="{71167A06-2E56-4204-9174-B8F1FB408918}" destId="{88823A81-370A-4AFE-AECE-2EF7D2531D18}" srcOrd="9" destOrd="0" parTransId="{AA7C7F06-E9EA-4B62-9252-DD89967CF611}" sibTransId="{624D14FB-79E6-4A0F-B090-836D09D160F8}"/>
    <dgm:cxn modelId="{062AB2AE-9FC0-4129-99EB-A7860317A77F}" type="presOf" srcId="{37F186C4-ED4A-43B7-888E-99381AFDAE90}" destId="{C8CA0800-4047-4895-B5B5-7195D9E1E842}" srcOrd="0" destOrd="0" presId="urn:microsoft.com/office/officeart/2008/layout/CircularPictureCallout"/>
    <dgm:cxn modelId="{7EFD8ECD-FCDB-41E6-89DE-F8FDA88D7C80}" type="presOf" srcId="{0FA9751D-69B8-4096-9A8D-CA2FF2AB35E5}" destId="{5E25B603-1569-4DEE-B4DC-7C2006D864F9}" srcOrd="0" destOrd="0" presId="urn:microsoft.com/office/officeart/2008/layout/CircularPictureCallout"/>
    <dgm:cxn modelId="{686211DE-FEC7-4742-9AF8-F095A0084686}" type="presOf" srcId="{B612B3F4-DF4C-4F15-A237-E3A0F1C0DE8F}" destId="{E8B69EAA-CD3A-43F6-A2EF-3CD8B2397AD8}" srcOrd="0" destOrd="0" presId="urn:microsoft.com/office/officeart/2008/layout/CircularPictureCallout"/>
    <dgm:cxn modelId="{08AF8FFE-249B-47E8-B5B1-6A3690E83B03}" srcId="{71167A06-2E56-4204-9174-B8F1FB408918}" destId="{94BCA8DE-9C9D-406F-A76B-FC9F53AEBC36}" srcOrd="8" destOrd="0" parTransId="{7C29ADFC-3C0C-49E2-9882-7CC8E8347125}" sibTransId="{565E66D2-97A3-4775-AAC7-C9D55A893955}"/>
    <dgm:cxn modelId="{15EE788B-4D2A-4CD0-9ACD-897AF7AA1B93}" type="presParOf" srcId="{41BBCCB7-A9C3-4FCA-9C8F-16A89761E3D0}" destId="{BA508DB8-576D-40ED-BF62-020DB0777A85}" srcOrd="0" destOrd="0" presId="urn:microsoft.com/office/officeart/2008/layout/CircularPictureCallout"/>
    <dgm:cxn modelId="{36FB96ED-6FA0-4224-874D-35D7214EA5EE}" type="presParOf" srcId="{BA508DB8-576D-40ED-BF62-020DB0777A85}" destId="{F3D92B92-9B9F-489A-9774-2849F7AECF66}" srcOrd="0" destOrd="0" presId="urn:microsoft.com/office/officeart/2008/layout/CircularPictureCallout"/>
    <dgm:cxn modelId="{1A137665-8BF4-4D11-9B47-AF6C9C436848}" type="presParOf" srcId="{F3D92B92-9B9F-489A-9774-2849F7AECF66}" destId="{25272CE9-E06B-4E91-8E2A-C06D417C3960}" srcOrd="0" destOrd="0" presId="urn:microsoft.com/office/officeart/2008/layout/CircularPictureCallout"/>
    <dgm:cxn modelId="{4E1731D5-13BB-459E-9891-DED14082BB07}" type="presParOf" srcId="{BA508DB8-576D-40ED-BF62-020DB0777A85}" destId="{6057BA3E-CD69-4393-BC4C-F175BB9ACD91}" srcOrd="1" destOrd="0" presId="urn:microsoft.com/office/officeart/2008/layout/CircularPictureCallout"/>
    <dgm:cxn modelId="{0FDD816F-39EE-4EF4-831E-66B09EADBB71}" type="presParOf" srcId="{BA508DB8-576D-40ED-BF62-020DB0777A85}" destId="{BE2B4A33-D3C4-43B2-9CAB-849204D4F1AA}" srcOrd="2" destOrd="0" presId="urn:microsoft.com/office/officeart/2008/layout/CircularPictureCallout"/>
    <dgm:cxn modelId="{DEF5D73C-B3D3-4AA4-997F-CDCFE52962AE}" type="presParOf" srcId="{BE2B4A33-D3C4-43B2-9CAB-849204D4F1AA}" destId="{0B521B62-494D-4893-A04E-9A75D12F0203}" srcOrd="0" destOrd="0" presId="urn:microsoft.com/office/officeart/2008/layout/CircularPictureCallout"/>
    <dgm:cxn modelId="{4B6A8289-A78E-4615-A1D9-EDA299D11E22}" type="presParOf" srcId="{BA508DB8-576D-40ED-BF62-020DB0777A85}" destId="{09C8A92C-4CA9-4EBE-83A5-0BA957B107BA}" srcOrd="3" destOrd="0" presId="urn:microsoft.com/office/officeart/2008/layout/CircularPictureCallout"/>
    <dgm:cxn modelId="{A01E77BA-E2D1-4F59-B287-8565C6B6F9B1}" type="presParOf" srcId="{BA508DB8-576D-40ED-BF62-020DB0777A85}" destId="{E95638A3-8DA3-469F-BF6E-6A3AA9FCC8AF}" srcOrd="4" destOrd="0" presId="urn:microsoft.com/office/officeart/2008/layout/CircularPictureCallout"/>
    <dgm:cxn modelId="{AA4D7311-90B0-45B7-8F19-C66AC299ECB4}" type="presParOf" srcId="{E95638A3-8DA3-469F-BF6E-6A3AA9FCC8AF}" destId="{C9CBE772-0053-4EF5-A261-581DF11A3486}" srcOrd="0" destOrd="0" presId="urn:microsoft.com/office/officeart/2008/layout/CircularPictureCallout"/>
    <dgm:cxn modelId="{75403BB5-2299-43A2-8274-DAC737A7AAA2}" type="presParOf" srcId="{BA508DB8-576D-40ED-BF62-020DB0777A85}" destId="{F2071653-EAD9-4D04-8A44-E6A1B86D80EE}" srcOrd="5" destOrd="0" presId="urn:microsoft.com/office/officeart/2008/layout/CircularPictureCallout"/>
    <dgm:cxn modelId="{BC29BE10-1AAE-44F1-8C72-E2F1FDA583E2}" type="presParOf" srcId="{F2071653-EAD9-4D04-8A44-E6A1B86D80EE}" destId="{219C678D-4A3A-4616-B8C5-8AABD7C31815}" srcOrd="0" destOrd="0" presId="urn:microsoft.com/office/officeart/2008/layout/CircularPictureCallout"/>
    <dgm:cxn modelId="{505926A0-8E9A-4FA6-9A3F-D8F50D2DAFC4}" type="presParOf" srcId="{BA508DB8-576D-40ED-BF62-020DB0777A85}" destId="{28B6A717-1033-449A-9EFA-A2C2EF1B3BCF}" srcOrd="6" destOrd="0" presId="urn:microsoft.com/office/officeart/2008/layout/CircularPictureCallout"/>
    <dgm:cxn modelId="{DE2513D3-38FE-413E-A5D8-2554CE4A1483}" type="presParOf" srcId="{BA508DB8-576D-40ED-BF62-020DB0777A85}" destId="{015379AF-F79C-4F14-AE82-C040F35D2D4B}" srcOrd="7" destOrd="0" presId="urn:microsoft.com/office/officeart/2008/layout/CircularPictureCallout"/>
    <dgm:cxn modelId="{8E2EC840-F9EC-486F-9E6A-065FFE656062}" type="presParOf" srcId="{015379AF-F79C-4F14-AE82-C040F35D2D4B}" destId="{5E25B603-1569-4DEE-B4DC-7C2006D864F9}" srcOrd="0" destOrd="0" presId="urn:microsoft.com/office/officeart/2008/layout/CircularPictureCallout"/>
    <dgm:cxn modelId="{EF598078-B316-46AD-A136-906AAE4EA921}" type="presParOf" srcId="{BA508DB8-576D-40ED-BF62-020DB0777A85}" destId="{A38470E2-2B17-4DCB-8A23-D098A89DD1A6}" srcOrd="8" destOrd="0" presId="urn:microsoft.com/office/officeart/2008/layout/CircularPictureCallout"/>
    <dgm:cxn modelId="{3FE1E206-28F2-4C19-9C77-C130992DA6BC}" type="presParOf" srcId="{A38470E2-2B17-4DCB-8A23-D098A89DD1A6}" destId="{E8B69EAA-CD3A-43F6-A2EF-3CD8B2397AD8}" srcOrd="0" destOrd="0" presId="urn:microsoft.com/office/officeart/2008/layout/CircularPictureCallout"/>
    <dgm:cxn modelId="{FDC796D9-6765-48CF-A9BD-4F18A1587F87}" type="presParOf" srcId="{BA508DB8-576D-40ED-BF62-020DB0777A85}" destId="{C4DB35BB-6E6E-4492-ACBD-F51384324A30}" srcOrd="9" destOrd="0" presId="urn:microsoft.com/office/officeart/2008/layout/CircularPictureCallout"/>
    <dgm:cxn modelId="{4F99A55A-E7FA-40F3-A5FC-824ABC1222D1}" type="presParOf" srcId="{BA508DB8-576D-40ED-BF62-020DB0777A85}" destId="{A5F86EE5-5DB7-4DF8-9715-795CEEDE485F}" srcOrd="10" destOrd="0" presId="urn:microsoft.com/office/officeart/2008/layout/CircularPictureCallout"/>
    <dgm:cxn modelId="{FC847286-EA1E-409A-B7C9-C4A78B1F6A82}" type="presParOf" srcId="{A5F86EE5-5DB7-4DF8-9715-795CEEDE485F}" destId="{B2F5429E-F9E9-4BB2-981C-0D53B50CDEDA}" srcOrd="0" destOrd="0" presId="urn:microsoft.com/office/officeart/2008/layout/CircularPictureCallout"/>
    <dgm:cxn modelId="{A0780218-3951-46A3-9C12-98C26921E80F}" type="presParOf" srcId="{BA508DB8-576D-40ED-BF62-020DB0777A85}" destId="{B0F251A5-0843-43AC-846B-2AE894C394AD}" srcOrd="11" destOrd="0" presId="urn:microsoft.com/office/officeart/2008/layout/CircularPictureCallout"/>
    <dgm:cxn modelId="{B3536DA9-A49A-4652-9BEC-AD59DA37351C}" type="presParOf" srcId="{B0F251A5-0843-43AC-846B-2AE894C394AD}" destId="{6F7B7BC7-39A8-494C-B1A7-DCAB705B642A}" srcOrd="0" destOrd="0" presId="urn:microsoft.com/office/officeart/2008/layout/CircularPictureCallout"/>
    <dgm:cxn modelId="{008DF957-392B-4796-A1A0-5C15AE423991}" type="presParOf" srcId="{BA508DB8-576D-40ED-BF62-020DB0777A85}" destId="{81517894-ACAA-4E3E-A9A3-DE73ED2FA1A1}" srcOrd="12" destOrd="0" presId="urn:microsoft.com/office/officeart/2008/layout/CircularPictureCallout"/>
    <dgm:cxn modelId="{38DEDBC3-E7CC-4F9F-AEDE-F6708B40A811}" type="presParOf" srcId="{BA508DB8-576D-40ED-BF62-020DB0777A85}" destId="{C805D4F8-3CEB-4876-B71F-B168039130FE}" srcOrd="13" destOrd="0" presId="urn:microsoft.com/office/officeart/2008/layout/CircularPictureCallout"/>
    <dgm:cxn modelId="{FE45167C-96CA-492F-A50F-57411B668164}" type="presParOf" srcId="{C805D4F8-3CEB-4876-B71F-B168039130FE}" destId="{37A5C61E-71FB-4D7F-9998-105BEA657146}" srcOrd="0" destOrd="0" presId="urn:microsoft.com/office/officeart/2008/layout/CircularPictureCallout"/>
    <dgm:cxn modelId="{F3313B75-5AA0-4707-AAE9-DBB5EF5AE856}" type="presParOf" srcId="{BA508DB8-576D-40ED-BF62-020DB0777A85}" destId="{F86269A1-0825-42E4-8AC1-64A1523D6B0D}" srcOrd="14" destOrd="0" presId="urn:microsoft.com/office/officeart/2008/layout/CircularPictureCallout"/>
    <dgm:cxn modelId="{17E8EFBD-3545-4B23-B88D-27B318D99B0B}" type="presParOf" srcId="{F86269A1-0825-42E4-8AC1-64A1523D6B0D}" destId="{C8CA0800-4047-4895-B5B5-7195D9E1E842}" srcOrd="0" destOrd="0" presId="urn:microsoft.com/office/officeart/2008/layout/CircularPictureCallout"/>
    <dgm:cxn modelId="{F347EC50-9F3A-4C3F-A6F1-FBC1DE5112E6}" type="presParOf" srcId="{BA508DB8-576D-40ED-BF62-020DB0777A85}" destId="{30C3FEF9-DCA2-4943-A9FB-983B782FA775}" srcOrd="15" destOrd="0" presId="urn:microsoft.com/office/officeart/2008/layout/CircularPictureCallout"/>
    <dgm:cxn modelId="{9A9913E9-D6EC-4C9A-BABD-41E76C73DE61}" type="presParOf" srcId="{BA508DB8-576D-40ED-BF62-020DB0777A85}" destId="{E40446C3-4E63-443F-89AD-0865F9E3E0F8}" srcOrd="16" destOrd="0" presId="urn:microsoft.com/office/officeart/2008/layout/CircularPictureCallout"/>
    <dgm:cxn modelId="{1394091E-D5C9-45DD-B17D-A3FA8F03AE86}" type="presParOf" srcId="{E40446C3-4E63-443F-89AD-0865F9E3E0F8}" destId="{2DA304BD-E5E5-47CA-B96B-0560592013D6}" srcOrd="0" destOrd="0" presId="urn:microsoft.com/office/officeart/2008/layout/CircularPictureCallout"/>
    <dgm:cxn modelId="{B5F1E9B3-D6C5-4BB4-A351-6CE3E1697143}" type="presParOf" srcId="{BA508DB8-576D-40ED-BF62-020DB0777A85}" destId="{0F87DAFB-1185-4C2A-A7E7-881017307B5E}" srcOrd="17" destOrd="0" presId="urn:microsoft.com/office/officeart/2008/layout/CircularPictureCallout"/>
    <dgm:cxn modelId="{0FCDD6CE-A6B0-46F4-9BBA-7C01004821F9}" type="presParOf" srcId="{0F87DAFB-1185-4C2A-A7E7-881017307B5E}" destId="{609BA0F6-9641-4FF4-AC19-24DB81E595AF}" srcOrd="0" destOrd="0" presId="urn:microsoft.com/office/officeart/2008/layout/CircularPictureCallout"/>
    <dgm:cxn modelId="{4C93E623-BCA1-4031-B3C9-FBE64D63E914}" type="presParOf" srcId="{BA508DB8-576D-40ED-BF62-020DB0777A85}" destId="{F738EA4C-9E39-4F25-B79E-0DF0404728AA}" srcOrd="18" destOrd="0" presId="urn:microsoft.com/office/officeart/2008/layout/CircularPictureCallout"/>
    <dgm:cxn modelId="{8AA5B68B-11DB-444C-83CB-7F0E672D01C8}" type="presParOf" srcId="{BA508DB8-576D-40ED-BF62-020DB0777A85}" destId="{0323F851-5672-4F27-816A-E3B6FB2207AA}" srcOrd="19" destOrd="0" presId="urn:microsoft.com/office/officeart/2008/layout/CircularPictureCallout"/>
    <dgm:cxn modelId="{3B034953-ADE7-4D49-8524-316A743843F7}" type="presParOf" srcId="{0323F851-5672-4F27-816A-E3B6FB2207AA}" destId="{56A886D0-B87F-42CE-859D-DB7A982CB873}" srcOrd="0"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38EA4C-9E39-4F25-B79E-0DF0404728AA}">
      <dsp:nvSpPr>
        <dsp:cNvPr id="0" name=""/>
        <dsp:cNvSpPr/>
      </dsp:nvSpPr>
      <dsp:spPr>
        <a:xfrm>
          <a:off x="2550020" y="4823460"/>
          <a:ext cx="431541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C3FEF9-DCA2-4943-A9FB-983B782FA775}">
      <dsp:nvSpPr>
        <dsp:cNvPr id="0" name=""/>
        <dsp:cNvSpPr/>
      </dsp:nvSpPr>
      <dsp:spPr>
        <a:xfrm flipV="1">
          <a:off x="2960064" y="4151985"/>
          <a:ext cx="2870184" cy="4572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517894-ACAA-4E3E-A9A3-DE73ED2FA1A1}">
      <dsp:nvSpPr>
        <dsp:cNvPr id="0" name=""/>
        <dsp:cNvSpPr/>
      </dsp:nvSpPr>
      <dsp:spPr>
        <a:xfrm>
          <a:off x="2550020" y="3415284"/>
          <a:ext cx="3349752"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DB35BB-6E6E-4492-ACBD-F51384324A30}">
      <dsp:nvSpPr>
        <dsp:cNvPr id="0" name=""/>
        <dsp:cNvSpPr/>
      </dsp:nvSpPr>
      <dsp:spPr>
        <a:xfrm>
          <a:off x="2550020" y="2604516"/>
          <a:ext cx="3349752"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B6A717-1033-449A-9EFA-A2C2EF1B3BCF}">
      <dsp:nvSpPr>
        <dsp:cNvPr id="0" name=""/>
        <dsp:cNvSpPr/>
      </dsp:nvSpPr>
      <dsp:spPr>
        <a:xfrm>
          <a:off x="2550020" y="1844954"/>
          <a:ext cx="3690274"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C8A92C-4CA9-4EBE-83A5-0BA957B107BA}">
      <dsp:nvSpPr>
        <dsp:cNvPr id="0" name=""/>
        <dsp:cNvSpPr/>
      </dsp:nvSpPr>
      <dsp:spPr>
        <a:xfrm>
          <a:off x="2550020" y="1196340"/>
          <a:ext cx="431541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272CE9-E06B-4E91-8E2A-C06D417C3960}">
      <dsp:nvSpPr>
        <dsp:cNvPr id="0" name=""/>
        <dsp:cNvSpPr/>
      </dsp:nvSpPr>
      <dsp:spPr>
        <a:xfrm>
          <a:off x="390368" y="708492"/>
          <a:ext cx="4319302" cy="4602815"/>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3000" r="-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57BA3E-CD69-4393-BC4C-F175BB9ACD91}">
      <dsp:nvSpPr>
        <dsp:cNvPr id="0" name=""/>
        <dsp:cNvSpPr/>
      </dsp:nvSpPr>
      <dsp:spPr>
        <a:xfrm>
          <a:off x="1184516" y="3142183"/>
          <a:ext cx="2731008" cy="140817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889250">
            <a:lnSpc>
              <a:spcPct val="90000"/>
            </a:lnSpc>
            <a:spcBef>
              <a:spcPct val="0"/>
            </a:spcBef>
            <a:spcAft>
              <a:spcPct val="35000"/>
            </a:spcAft>
            <a:buNone/>
          </a:pPr>
          <a:endParaRPr lang="en-US" sz="6500" kern="1200"/>
        </a:p>
      </dsp:txBody>
      <dsp:txXfrm>
        <a:off x="1184516" y="3142183"/>
        <a:ext cx="2731008" cy="1408176"/>
      </dsp:txXfrm>
    </dsp:sp>
    <dsp:sp modelId="{0B521B62-494D-4893-A04E-9A75D12F0203}">
      <dsp:nvSpPr>
        <dsp:cNvPr id="0" name=""/>
        <dsp:cNvSpPr/>
      </dsp:nvSpPr>
      <dsp:spPr>
        <a:xfrm>
          <a:off x="6248399" y="647698"/>
          <a:ext cx="1263882" cy="953917"/>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l="-57000" r="-5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CBE772-0053-4EF5-A261-581DF11A3486}">
      <dsp:nvSpPr>
        <dsp:cNvPr id="0" name=""/>
        <dsp:cNvSpPr/>
      </dsp:nvSpPr>
      <dsp:spPr>
        <a:xfrm>
          <a:off x="7620001" y="723903"/>
          <a:ext cx="722686"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Clean Energy</a:t>
          </a:r>
        </a:p>
        <a:p>
          <a:pPr marL="0" lvl="0" indent="0" algn="l" defTabSz="622300">
            <a:lnSpc>
              <a:spcPct val="90000"/>
            </a:lnSpc>
            <a:spcBef>
              <a:spcPct val="0"/>
            </a:spcBef>
            <a:spcAft>
              <a:spcPct val="35000"/>
            </a:spcAft>
            <a:buNone/>
          </a:pPr>
          <a:endParaRPr lang="en-US" sz="1400" b="1" kern="1200" dirty="0"/>
        </a:p>
      </dsp:txBody>
      <dsp:txXfrm>
        <a:off x="7620001" y="723903"/>
        <a:ext cx="722686" cy="640080"/>
      </dsp:txXfrm>
    </dsp:sp>
    <dsp:sp modelId="{219C678D-4A3A-4616-B8C5-8AABD7C31815}">
      <dsp:nvSpPr>
        <dsp:cNvPr id="0" name=""/>
        <dsp:cNvSpPr/>
      </dsp:nvSpPr>
      <dsp:spPr>
        <a:xfrm>
          <a:off x="5676816" y="1398911"/>
          <a:ext cx="1126956" cy="892085"/>
        </a:xfrm>
        <a:prstGeom prst="ellipse">
          <a:avLst/>
        </a:prstGeom>
        <a:blipFill>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t="-12000" b="-1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25B603-1569-4DEE-B4DC-7C2006D864F9}">
      <dsp:nvSpPr>
        <dsp:cNvPr id="0" name=""/>
        <dsp:cNvSpPr/>
      </dsp:nvSpPr>
      <dsp:spPr>
        <a:xfrm>
          <a:off x="6848298" y="1629055"/>
          <a:ext cx="1583696"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Natural Resource Management</a:t>
          </a:r>
        </a:p>
        <a:p>
          <a:pPr marL="0" lvl="0" indent="0" algn="l" defTabSz="622300">
            <a:lnSpc>
              <a:spcPct val="90000"/>
            </a:lnSpc>
            <a:spcBef>
              <a:spcPct val="0"/>
            </a:spcBef>
            <a:spcAft>
              <a:spcPct val="35000"/>
            </a:spcAft>
            <a:buNone/>
          </a:pPr>
          <a:endParaRPr lang="en-US" sz="1400" kern="1200" dirty="0"/>
        </a:p>
      </dsp:txBody>
      <dsp:txXfrm>
        <a:off x="6848298" y="1629055"/>
        <a:ext cx="1583696" cy="640080"/>
      </dsp:txXfrm>
    </dsp:sp>
    <dsp:sp modelId="{E8B69EAA-CD3A-43F6-A2EF-3CD8B2397AD8}">
      <dsp:nvSpPr>
        <dsp:cNvPr id="0" name=""/>
        <dsp:cNvSpPr/>
      </dsp:nvSpPr>
      <dsp:spPr>
        <a:xfrm>
          <a:off x="5369961" y="2199130"/>
          <a:ext cx="1059620" cy="810770"/>
        </a:xfrm>
        <a:prstGeom prst="ellipse">
          <a:avLst/>
        </a:prstGeom>
        <a:blipFill>
          <a:blip xmlns:r="http://schemas.openxmlformats.org/officeDocument/2006/relationships"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F5429E-F9E9-4BB2-981C-0D53B50CDEDA}">
      <dsp:nvSpPr>
        <dsp:cNvPr id="0" name=""/>
        <dsp:cNvSpPr/>
      </dsp:nvSpPr>
      <dsp:spPr>
        <a:xfrm>
          <a:off x="6520665" y="2333531"/>
          <a:ext cx="1041196"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Qualitative Policy Analysis</a:t>
          </a:r>
        </a:p>
      </dsp:txBody>
      <dsp:txXfrm>
        <a:off x="6520665" y="2333531"/>
        <a:ext cx="1041196" cy="640080"/>
      </dsp:txXfrm>
    </dsp:sp>
    <dsp:sp modelId="{6F7B7BC7-39A8-494C-B1A7-DCAB705B642A}">
      <dsp:nvSpPr>
        <dsp:cNvPr id="0" name=""/>
        <dsp:cNvSpPr/>
      </dsp:nvSpPr>
      <dsp:spPr>
        <a:xfrm>
          <a:off x="5369961" y="3095244"/>
          <a:ext cx="1059620" cy="640080"/>
        </a:xfrm>
        <a:prstGeom prst="ellipse">
          <a:avLst/>
        </a:prstGeom>
        <a:blipFill>
          <a:blip xmlns:r="http://schemas.openxmlformats.org/officeDocument/2006/relationships"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A5C61E-71FB-4D7F-9998-105BEA657146}">
      <dsp:nvSpPr>
        <dsp:cNvPr id="0" name=""/>
        <dsp:cNvSpPr/>
      </dsp:nvSpPr>
      <dsp:spPr>
        <a:xfrm>
          <a:off x="6443947" y="3107559"/>
          <a:ext cx="1194816"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Quantitative Metrics</a:t>
          </a:r>
        </a:p>
      </dsp:txBody>
      <dsp:txXfrm>
        <a:off x="6443947" y="3107559"/>
        <a:ext cx="1194816" cy="640080"/>
      </dsp:txXfrm>
    </dsp:sp>
    <dsp:sp modelId="{C8CA0800-4047-4895-B5B5-7195D9E1E842}">
      <dsp:nvSpPr>
        <dsp:cNvPr id="0" name=""/>
        <dsp:cNvSpPr/>
      </dsp:nvSpPr>
      <dsp:spPr>
        <a:xfrm>
          <a:off x="5897368" y="3882521"/>
          <a:ext cx="659250" cy="582536"/>
        </a:xfrm>
        <a:prstGeom prst="ellipse">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 uri="{837473B0-CC2E-450A-ABE3-18F120FF3D39}">
                <a1611:picAttrSrcUrl xmlns:a1611="http://schemas.microsoft.com/office/drawing/2016/11/main" r:id="rId1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A304BD-E5E5-47CA-B96B-0560592013D6}">
      <dsp:nvSpPr>
        <dsp:cNvPr id="0" name=""/>
        <dsp:cNvSpPr/>
      </dsp:nvSpPr>
      <dsp:spPr>
        <a:xfrm>
          <a:off x="6560334" y="3854805"/>
          <a:ext cx="1113069"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Mechanism Test</a:t>
          </a:r>
        </a:p>
      </dsp:txBody>
      <dsp:txXfrm>
        <a:off x="6560334" y="3854805"/>
        <a:ext cx="1113069" cy="640080"/>
      </dsp:txXfrm>
    </dsp:sp>
    <dsp:sp modelId="{609BA0F6-9641-4FF4-AC19-24DB81E595AF}">
      <dsp:nvSpPr>
        <dsp:cNvPr id="0" name=""/>
        <dsp:cNvSpPr/>
      </dsp:nvSpPr>
      <dsp:spPr>
        <a:xfrm>
          <a:off x="6367239" y="4429106"/>
          <a:ext cx="996399" cy="788706"/>
        </a:xfrm>
        <a:prstGeom prst="ellipse">
          <a:avLst/>
        </a:prstGeom>
        <a:blipFill>
          <a:blip xmlns:r="http://schemas.openxmlformats.org/officeDocument/2006/relationships" r:embed="rId14" cstate="print">
            <a:extLst>
              <a:ext uri="{28A0092B-C50C-407E-A947-70E740481C1C}">
                <a14:useLocalDpi xmlns:a14="http://schemas.microsoft.com/office/drawing/2010/main" val="0"/>
              </a:ext>
              <a:ext uri="{837473B0-CC2E-450A-ABE3-18F120FF3D39}">
                <a1611:picAttrSrcUrl xmlns:a1611="http://schemas.microsoft.com/office/drawing/2016/11/main" r:id="rId15"/>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A886D0-B87F-42CE-859D-DB7A982CB873}">
      <dsp:nvSpPr>
        <dsp:cNvPr id="0" name=""/>
        <dsp:cNvSpPr/>
      </dsp:nvSpPr>
      <dsp:spPr>
        <a:xfrm>
          <a:off x="7364517" y="4544173"/>
          <a:ext cx="722686" cy="64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0" rIns="53340" bIns="0" numCol="1" spcCol="1270" anchor="ctr" anchorCtr="0">
          <a:noAutofit/>
        </a:bodyPr>
        <a:lstStyle/>
        <a:p>
          <a:pPr marL="0" lvl="0" indent="0" algn="l" defTabSz="622300">
            <a:lnSpc>
              <a:spcPct val="90000"/>
            </a:lnSpc>
            <a:spcBef>
              <a:spcPct val="0"/>
            </a:spcBef>
            <a:spcAft>
              <a:spcPct val="35000"/>
            </a:spcAft>
            <a:buNone/>
          </a:pPr>
          <a:r>
            <a:rPr lang="en-US" sz="1400" b="1" kern="1200" dirty="0"/>
            <a:t>Target polices</a:t>
          </a:r>
        </a:p>
      </dsp:txBody>
      <dsp:txXfrm>
        <a:off x="7364517" y="4544173"/>
        <a:ext cx="722686" cy="640080"/>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sz="quarter" idx="1"/>
          </p:nvPr>
        </p:nvSpPr>
        <p:spPr>
          <a:xfrm>
            <a:off x="3970939" y="0"/>
            <a:ext cx="3037840" cy="464820"/>
          </a:xfrm>
          <a:prstGeom prst="rect">
            <a:avLst/>
          </a:prstGeom>
        </p:spPr>
        <p:txBody>
          <a:bodyPr vert="horz" lIns="92432" tIns="46216" rIns="92432" bIns="46216" rtlCol="0"/>
          <a:lstStyle>
            <a:lvl1pPr algn="r">
              <a:defRPr sz="1200"/>
            </a:lvl1pPr>
          </a:lstStyle>
          <a:p>
            <a:fld id="{B4438958-17AF-4DB7-9286-359CCE11C3D8}" type="datetime1">
              <a:rPr lang="en-US" smtClean="0"/>
              <a:t>5/12/2025</a:t>
            </a:fld>
            <a:endParaRPr lang="en-US" dirty="0"/>
          </a:p>
        </p:txBody>
      </p:sp>
      <p:sp>
        <p:nvSpPr>
          <p:cNvPr id="4" name="Footer Placeholder 3"/>
          <p:cNvSpPr>
            <a:spLocks noGrp="1"/>
          </p:cNvSpPr>
          <p:nvPr>
            <p:ph type="ftr" sz="quarter" idx="2"/>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9" y="8829967"/>
            <a:ext cx="3037840" cy="464820"/>
          </a:xfrm>
          <a:prstGeom prst="rect">
            <a:avLst/>
          </a:prstGeom>
        </p:spPr>
        <p:txBody>
          <a:bodyPr vert="horz" lIns="92432" tIns="46216" rIns="92432" bIns="46216" rtlCol="0" anchor="b"/>
          <a:lstStyle>
            <a:lvl1pPr algn="r">
              <a:defRPr sz="1200"/>
            </a:lvl1pPr>
          </a:lstStyle>
          <a:p>
            <a:fld id="{37DD3F75-C114-4AB7-8C3A-4E238D754480}" type="slidenum">
              <a:rPr lang="en-US" smtClean="0"/>
              <a:pPr/>
              <a:t>‹#›</a:t>
            </a:fld>
            <a:endParaRPr lang="en-US" dirty="0"/>
          </a:p>
        </p:txBody>
      </p:sp>
    </p:spTree>
    <p:extLst>
      <p:ext uri="{BB962C8B-B14F-4D97-AF65-F5344CB8AC3E}">
        <p14:creationId xmlns:p14="http://schemas.microsoft.com/office/powerpoint/2010/main" val="5513183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idx="1"/>
          </p:nvPr>
        </p:nvSpPr>
        <p:spPr>
          <a:xfrm>
            <a:off x="3970939" y="0"/>
            <a:ext cx="3037840" cy="464820"/>
          </a:xfrm>
          <a:prstGeom prst="rect">
            <a:avLst/>
          </a:prstGeom>
        </p:spPr>
        <p:txBody>
          <a:bodyPr vert="horz" lIns="92432" tIns="46216" rIns="92432" bIns="46216" rtlCol="0"/>
          <a:lstStyle>
            <a:lvl1pPr algn="r">
              <a:defRPr sz="1200"/>
            </a:lvl1pPr>
          </a:lstStyle>
          <a:p>
            <a:fld id="{A2E0831B-1021-4217-B7C3-10CFE9172EF4}" type="datetime1">
              <a:rPr lang="en-US" smtClean="0"/>
              <a:t>5/12/2025</a:t>
            </a:fld>
            <a:endParaRPr lang="en-US" dirty="0"/>
          </a:p>
        </p:txBody>
      </p:sp>
      <p:sp>
        <p:nvSpPr>
          <p:cNvPr id="4" name="Slide Image Placeholder 3"/>
          <p:cNvSpPr>
            <a:spLocks noGrp="1" noRot="1" noChangeAspect="1"/>
          </p:cNvSpPr>
          <p:nvPr>
            <p:ph type="sldImg" idx="2"/>
          </p:nvPr>
        </p:nvSpPr>
        <p:spPr>
          <a:xfrm>
            <a:off x="1182688" y="696913"/>
            <a:ext cx="4646612" cy="3486150"/>
          </a:xfrm>
          <a:prstGeom prst="rect">
            <a:avLst/>
          </a:prstGeom>
          <a:noFill/>
          <a:ln w="12700">
            <a:solidFill>
              <a:prstClr val="black"/>
            </a:solidFill>
          </a:ln>
        </p:spPr>
        <p:txBody>
          <a:bodyPr vert="horz" lIns="92432" tIns="46216" rIns="92432" bIns="46216" rtlCol="0" anchor="ctr"/>
          <a:lstStyle/>
          <a:p>
            <a:endParaRPr lang="en-US" dirty="0"/>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32" tIns="46216" rIns="92432" bIns="462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32" tIns="46216" rIns="92432" bIns="46216" rtlCol="0" anchor="b"/>
          <a:lstStyle>
            <a:lvl1pPr algn="r">
              <a:defRPr sz="1200"/>
            </a:lvl1pPr>
          </a:lstStyle>
          <a:p>
            <a:fld id="{B424D693-3628-4055-9377-F1C425D0BDB9}" type="slidenum">
              <a:rPr lang="en-US" smtClean="0"/>
              <a:pPr/>
              <a:t>‹#›</a:t>
            </a:fld>
            <a:endParaRPr lang="en-US" dirty="0"/>
          </a:p>
        </p:txBody>
      </p:sp>
    </p:spTree>
    <p:extLst>
      <p:ext uri="{BB962C8B-B14F-4D97-AF65-F5344CB8AC3E}">
        <p14:creationId xmlns:p14="http://schemas.microsoft.com/office/powerpoint/2010/main" val="12622586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353663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0317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2259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6052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3D4A2-2650-8252-2A54-213B772A9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9B684-5E35-DBA2-1A75-338998598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A538C-03B9-5C79-ED75-F5C1A09FA4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451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601FD1B1-7862-4BCE-8306-91D0ACB32E52}" type="datetime1">
              <a:rPr lang="en-US" smtClean="0"/>
              <a:t>5/12/2025</a:t>
            </a:fld>
            <a:endParaRPr lang="en-US" dirty="0"/>
          </a:p>
        </p:txBody>
      </p:sp>
      <p:sp>
        <p:nvSpPr>
          <p:cNvPr id="20" name="Footer Placeholder 19"/>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884FD8F-F5EB-4CB0-B34C-8F170DB455C3}"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3B2641-B32A-4319-B4CE-0842B72AE012}"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A43EE58-50E8-447D-8B2B-34348D6DE8AC}" type="datetime1">
              <a:rPr lang="en-US" smtClean="0"/>
              <a:t>5/12/2025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EAC5083-F966-4D33-8BA8-8E7408BEF121}" type="datetime1">
              <a:rPr lang="en-US" smtClean="0"/>
              <a:t>5/12/2025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Date Placeholder 1"/>
          <p:cNvSpPr>
            <a:spLocks noGrp="1"/>
          </p:cNvSpPr>
          <p:nvPr>
            <p:ph type="dt" sz="half" idx="10"/>
          </p:nvPr>
        </p:nvSpPr>
        <p:spPr/>
        <p:txBody>
          <a:bodyPr/>
          <a:lstStyle/>
          <a:p>
            <a:fld id="{EF3827FF-ED73-48FA-9478-CE0F46121E26}" type="datetime1">
              <a:rPr lang="en-US" smtClean="0"/>
              <a:t>5/12/2025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C97947A-866D-4E82-ADE7-085FBD529CD8}"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B1A45F50-6C41-4082-8A24-4FA4E106B045}"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4B1DCB-7ED9-40A1-ACE9-2CA6C88077F3}"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1F36335-CE3A-4703-8DEF-758A63B2C140}"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5" name="Rectangle 4"/>
          <p:cNvSpPr/>
          <p:nvPr/>
        </p:nvSpPr>
        <p:spPr>
          <a:xfrm>
            <a:off x="61912" y="1560513"/>
            <a:ext cx="9020175" cy="1527175"/>
          </a:xfrm>
          <a:prstGeom prst="rect">
            <a:avLst/>
          </a:prstGeom>
          <a:solidFill>
            <a:schemeClr val="accent2">
              <a:lumMod val="75000"/>
            </a:schemeClr>
          </a:solidFill>
          <a:ln/>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ectangle 5"/>
          <p:cNvSpPr/>
          <p:nvPr/>
        </p:nvSpPr>
        <p:spPr>
          <a:xfrm>
            <a:off x="61913" y="1439863"/>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Rectangle 6"/>
          <p:cNvSpPr>
            <a:spLocks noChangeArrowheads="1"/>
          </p:cNvSpPr>
          <p:nvPr/>
        </p:nvSpPr>
        <p:spPr bwMode="auto">
          <a:xfrm>
            <a:off x="1187450" y="3141663"/>
            <a:ext cx="6624638" cy="1852612"/>
          </a:xfrm>
          <a:prstGeom prst="rect">
            <a:avLst/>
          </a:prstGeom>
          <a:solidFill>
            <a:srgbClr val="262626"/>
          </a:solidFill>
          <a:ln>
            <a:noFill/>
          </a:ln>
          <a:effectLst>
            <a:outerShdw blurRad="63500" dist="38100" dir="8100000" algn="tr" rotWithShape="0">
              <a:srgbClr val="000000">
                <a:alpha val="39999"/>
              </a:srgbClr>
            </a:outerShdw>
          </a:effectLst>
          <a:extLst>
            <a:ext uri="{91240B29-F687-4f45-9708-019B960494DF}">
              <a14:hiddenLine xmlns="" xmlns:a14="http://schemas.microsoft.com/office/drawing/2010/main" w="19050" cap="sq">
                <a:solidFill>
                  <a:srgbClr val="000000"/>
                </a:solidFill>
                <a:miter lim="800000"/>
                <a:headEnd/>
                <a:tailEnd/>
              </a14:hiddenLine>
            </a:ext>
          </a:extLst>
        </p:spPr>
        <p:txBody>
          <a:bodyPr anchor="ctr"/>
          <a:lstStyle/>
          <a:p>
            <a:pPr algn="ctr" fontAlgn="auto">
              <a:spcBef>
                <a:spcPts val="0"/>
              </a:spcBef>
              <a:spcAft>
                <a:spcPts val="0"/>
              </a:spcAft>
              <a:defRPr/>
            </a:pPr>
            <a:endParaRPr lang="en-US">
              <a:solidFill>
                <a:prstClr val="white"/>
              </a:solidFill>
              <a:latin typeface="+mn-lt"/>
              <a:ea typeface="+mn-ea"/>
            </a:endParaRPr>
          </a:p>
        </p:txBody>
      </p:sp>
      <p:pic>
        <p:nvPicPr>
          <p:cNvPr id="10" name="Picture 18" descr="NAC_LOGO-2.gif"/>
          <p:cNvPicPr>
            <a:picLocks noChangeAspect="1"/>
          </p:cNvPicPr>
          <p:nvPr/>
        </p:nvPicPr>
        <p:blipFill>
          <a:blip r:embed="rId2"/>
          <a:srcRect/>
          <a:stretch>
            <a:fillRect/>
          </a:stretch>
        </p:blipFill>
        <p:spPr bwMode="auto">
          <a:xfrm>
            <a:off x="3022600" y="11113"/>
            <a:ext cx="685800" cy="677862"/>
          </a:xfrm>
          <a:prstGeom prst="rect">
            <a:avLst/>
          </a:prstGeom>
          <a:noFill/>
          <a:ln w="9525">
            <a:noFill/>
            <a:miter lim="800000"/>
            <a:headEnd/>
            <a:tailEnd/>
          </a:ln>
        </p:spPr>
      </p:pic>
      <p:sp>
        <p:nvSpPr>
          <p:cNvPr id="11" name="TextBox 10"/>
          <p:cNvSpPr txBox="1"/>
          <p:nvPr/>
        </p:nvSpPr>
        <p:spPr>
          <a:xfrm>
            <a:off x="3707904" y="-91578"/>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2" name="TextBox 11"/>
          <p:cNvSpPr txBox="1"/>
          <p:nvPr/>
        </p:nvSpPr>
        <p:spPr>
          <a:xfrm>
            <a:off x="1960922" y="628749"/>
            <a:ext cx="5469575"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sp>
        <p:nvSpPr>
          <p:cNvPr id="13" name="TextBox 12"/>
          <p:cNvSpPr txBox="1">
            <a:spLocks noChangeArrowheads="1"/>
          </p:cNvSpPr>
          <p:nvPr/>
        </p:nvSpPr>
        <p:spPr bwMode="auto">
          <a:xfrm>
            <a:off x="7086600" y="6505575"/>
            <a:ext cx="1981200" cy="307975"/>
          </a:xfrm>
          <a:prstGeom prst="rect">
            <a:avLst/>
          </a:prstGeom>
          <a:noFill/>
          <a:ln>
            <a:noFill/>
          </a:ln>
        </p:spPr>
        <p:txBody>
          <a:bodyPr>
            <a:spAutoFit/>
          </a:bodyPr>
          <a:lstStyle/>
          <a:p>
            <a:pPr algn="ctr"/>
            <a:r>
              <a:rPr lang="en-US" sz="1400" i="1" dirty="0">
                <a:solidFill>
                  <a:srgbClr val="000000"/>
                </a:solidFill>
                <a:latin typeface="Tw Cen MT" pitchFamily="34" charset="0"/>
              </a:rPr>
              <a:t>© NACETEM 2025</a:t>
            </a:r>
          </a:p>
        </p:txBody>
      </p:sp>
      <p:sp>
        <p:nvSpPr>
          <p:cNvPr id="14" name="TextBox 24"/>
          <p:cNvSpPr txBox="1">
            <a:spLocks noChangeArrowheads="1"/>
          </p:cNvSpPr>
          <p:nvPr userDrawn="1"/>
        </p:nvSpPr>
        <p:spPr bwMode="auto">
          <a:xfrm>
            <a:off x="755650" y="6500813"/>
            <a:ext cx="5976938" cy="307975"/>
          </a:xfrm>
          <a:prstGeom prst="rect">
            <a:avLst/>
          </a:prstGeom>
          <a:noFill/>
          <a:ln>
            <a:noFill/>
          </a:ln>
        </p:spPr>
        <p:txBody>
          <a:bodyPr>
            <a:spAutoFit/>
          </a:bodyPr>
          <a:lstStyle/>
          <a:p>
            <a:r>
              <a:rPr lang="en-GB" sz="1400" i="1" dirty="0">
                <a:latin typeface="Calibri Light" pitchFamily="34" charset="0"/>
              </a:rPr>
              <a:t>NACETEM…Managing Technology for Sustainable Development</a:t>
            </a: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b="0">
                <a:solidFill>
                  <a:schemeClr val="bg1"/>
                </a:solidFill>
                <a:latin typeface="Calibri Light"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libri" pitchFamily="34" charset="0"/>
              </a:defRPr>
            </a:lvl1pPr>
          </a:lstStyle>
          <a:p>
            <a:r>
              <a:rPr lang="en-US" dirty="0"/>
              <a:t>Click to edit Master title style</a:t>
            </a:r>
          </a:p>
        </p:txBody>
      </p:sp>
      <p:sp>
        <p:nvSpPr>
          <p:cNvPr id="15" name="Slide Number Placeholder 28"/>
          <p:cNvSpPr>
            <a:spLocks noGrp="1"/>
          </p:cNvSpPr>
          <p:nvPr>
            <p:ph type="sldNum" sz="quarter" idx="10"/>
          </p:nvPr>
        </p:nvSpPr>
        <p:spPr/>
        <p:txBody>
          <a:bodyPr/>
          <a:lstStyle>
            <a:lvl1pPr>
              <a:defRPr/>
            </a:lvl1pPr>
          </a:lstStyle>
          <a:p>
            <a:fld id="{CB49EDA5-6D1B-4EF8-B9D1-6F0743E708F5}" type="slidenum">
              <a:rPr lang="en-GB"/>
              <a:pPr/>
              <a:t>‹#›</a:t>
            </a:fld>
            <a:endParaRPr lang="en-GB"/>
          </a:p>
        </p:txBody>
      </p:sp>
    </p:spTree>
    <p:extLst>
      <p:ext uri="{BB962C8B-B14F-4D97-AF65-F5344CB8AC3E}">
        <p14:creationId xmlns:p14="http://schemas.microsoft.com/office/powerpoint/2010/main" val="199074244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Slide Number Placeholder 22"/>
          <p:cNvSpPr>
            <a:spLocks noGrp="1"/>
          </p:cNvSpPr>
          <p:nvPr>
            <p:ph type="sldNum" sz="quarter" idx="10"/>
          </p:nvPr>
        </p:nvSpPr>
        <p:spPr/>
        <p:txBody>
          <a:bodyPr/>
          <a:lstStyle>
            <a:lvl1pPr>
              <a:defRPr/>
            </a:lvl1pPr>
          </a:lstStyle>
          <a:p>
            <a:fld id="{570EC2F4-BA6F-46EE-850D-694B38431047}" type="slidenum">
              <a:rPr lang="en-GB"/>
              <a:pPr/>
              <a:t>‹#›</a:t>
            </a:fld>
            <a:endParaRPr lang="en-GB" dirty="0"/>
          </a:p>
        </p:txBody>
      </p:sp>
    </p:spTree>
    <p:extLst>
      <p:ext uri="{BB962C8B-B14F-4D97-AF65-F5344CB8AC3E}">
        <p14:creationId xmlns:p14="http://schemas.microsoft.com/office/powerpoint/2010/main" val="119331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539552" y="1700808"/>
            <a:ext cx="3979872"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
          </p:nvPr>
        </p:nvSpPr>
        <p:spPr>
          <a:xfrm>
            <a:off x="4788024" y="1700808"/>
            <a:ext cx="3749040"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2"/>
          <p:cNvSpPr>
            <a:spLocks noGrp="1"/>
          </p:cNvSpPr>
          <p:nvPr>
            <p:ph type="sldNum" sz="quarter" idx="10"/>
          </p:nvPr>
        </p:nvSpPr>
        <p:spPr/>
        <p:txBody>
          <a:bodyPr/>
          <a:lstStyle>
            <a:lvl1pPr>
              <a:defRPr/>
            </a:lvl1pPr>
          </a:lstStyle>
          <a:p>
            <a:fld id="{FC1CB4F6-48C5-41DC-AD8A-7C8A1C3756F9}" type="slidenum">
              <a:rPr lang="en-GB"/>
              <a:pPr/>
              <a:t>‹#›</a:t>
            </a:fld>
            <a:endParaRPr lang="en-GB"/>
          </a:p>
        </p:txBody>
      </p:sp>
    </p:spTree>
    <p:extLst>
      <p:ext uri="{BB962C8B-B14F-4D97-AF65-F5344CB8AC3E}">
        <p14:creationId xmlns:p14="http://schemas.microsoft.com/office/powerpoint/2010/main" val="879919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8"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fld id="{DEBFA543-A32D-4F79-A4ED-10059AD0630F}" type="slidenum">
              <a:rPr lang="en-GB"/>
              <a:pPr/>
              <a:t>‹#›</a:t>
            </a:fld>
            <a:endParaRPr lang="en-GB"/>
          </a:p>
        </p:txBody>
      </p:sp>
    </p:spTree>
    <p:extLst>
      <p:ext uri="{BB962C8B-B14F-4D97-AF65-F5344CB8AC3E}">
        <p14:creationId xmlns:p14="http://schemas.microsoft.com/office/powerpoint/2010/main" val="260890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552" y="2492896"/>
            <a:ext cx="8194104"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p>
        </p:txBody>
      </p:sp>
      <p:sp>
        <p:nvSpPr>
          <p:cNvPr id="3" name="Slide Number Placeholder 22"/>
          <p:cNvSpPr>
            <a:spLocks noGrp="1"/>
          </p:cNvSpPr>
          <p:nvPr>
            <p:ph type="sldNum" sz="quarter" idx="10"/>
          </p:nvPr>
        </p:nvSpPr>
        <p:spPr/>
        <p:txBody>
          <a:bodyPr/>
          <a:lstStyle>
            <a:lvl1pPr>
              <a:defRPr/>
            </a:lvl1pPr>
          </a:lstStyle>
          <a:p>
            <a:fld id="{AAF07390-5331-4807-BD67-FEA8162774E5}" type="slidenum">
              <a:rPr lang="en-GB"/>
              <a:pPr/>
              <a:t>‹#›</a:t>
            </a:fld>
            <a:endParaRPr lang="en-GB"/>
          </a:p>
        </p:txBody>
      </p:sp>
    </p:spTree>
    <p:extLst>
      <p:ext uri="{BB962C8B-B14F-4D97-AF65-F5344CB8AC3E}">
        <p14:creationId xmlns:p14="http://schemas.microsoft.com/office/powerpoint/2010/main" val="3998715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3"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fld id="{BDE93C14-AE17-4D24-86F4-FE86C4D87B1C}" type="slidenum">
              <a:rPr lang="en-GB"/>
              <a:pPr/>
              <a:t>‹#›</a:t>
            </a:fld>
            <a:endParaRPr lang="en-GB"/>
          </a:p>
        </p:txBody>
      </p:sp>
    </p:spTree>
    <p:extLst>
      <p:ext uri="{BB962C8B-B14F-4D97-AF65-F5344CB8AC3E}">
        <p14:creationId xmlns:p14="http://schemas.microsoft.com/office/powerpoint/2010/main" val="1104408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6E5F19E-E292-4EBF-9EFB-12533E997EDB}" type="slidenum">
              <a:rPr lang="en-GB"/>
              <a:pPr/>
              <a:t>‹#›</a:t>
            </a:fld>
            <a:endParaRPr lang="en-GB"/>
          </a:p>
        </p:txBody>
      </p:sp>
    </p:spTree>
    <p:extLst>
      <p:ext uri="{BB962C8B-B14F-4D97-AF65-F5344CB8AC3E}">
        <p14:creationId xmlns:p14="http://schemas.microsoft.com/office/powerpoint/2010/main" val="19371564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97C165D-DD1A-47B3-9F4B-1A7B065EABA4}" type="slidenum">
              <a:rPr lang="en-GB"/>
              <a:pPr/>
              <a:t>‹#›</a:t>
            </a:fld>
            <a:endParaRPr lang="en-GB"/>
          </a:p>
        </p:txBody>
      </p:sp>
    </p:spTree>
    <p:extLst>
      <p:ext uri="{BB962C8B-B14F-4D97-AF65-F5344CB8AC3E}">
        <p14:creationId xmlns:p14="http://schemas.microsoft.com/office/powerpoint/2010/main" val="267952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7"/>
          <p:cNvSpPr>
            <a:spLocks noGrp="1" noChangeArrowheads="1"/>
          </p:cNvSpPr>
          <p:nvPr>
            <p:ph type="sldNum" sz="quarter" idx="12"/>
          </p:nvPr>
        </p:nvSpPr>
        <p:spPr/>
        <p:txBody>
          <a:bodyPr/>
          <a:lstStyle>
            <a:lvl1pPr>
              <a:defRPr/>
            </a:lvl1pPr>
          </a:lstStyle>
          <a:p>
            <a:fld id="{B3166BE0-4650-4758-8CC1-441A41767186}" type="slidenum">
              <a:rPr lang="en-GB"/>
              <a:pPr/>
              <a:t>‹#›</a:t>
            </a:fld>
            <a:endParaRPr lang="en-GB"/>
          </a:p>
        </p:txBody>
      </p:sp>
    </p:spTree>
    <p:extLst>
      <p:ext uri="{BB962C8B-B14F-4D97-AF65-F5344CB8AC3E}">
        <p14:creationId xmlns:p14="http://schemas.microsoft.com/office/powerpoint/2010/main" val="1550149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pPr lvl="0"/>
            <a:r>
              <a:rPr lang="en-US" noProof="0"/>
              <a:t>Click icon to add table</a:t>
            </a:r>
          </a:p>
        </p:txBody>
      </p:sp>
      <p:sp>
        <p:nvSpPr>
          <p:cNvPr id="4"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Rectangle 7"/>
          <p:cNvSpPr>
            <a:spLocks noGrp="1" noChangeArrowheads="1"/>
          </p:cNvSpPr>
          <p:nvPr>
            <p:ph type="sldNum" sz="quarter" idx="12"/>
          </p:nvPr>
        </p:nvSpPr>
        <p:spPr/>
        <p:txBody>
          <a:bodyPr/>
          <a:lstStyle>
            <a:lvl1pPr>
              <a:defRPr/>
            </a:lvl1pPr>
          </a:lstStyle>
          <a:p>
            <a:fld id="{0C7A436E-455D-4B62-97ED-6266397FEF62}" type="slidenum">
              <a:rPr lang="en-GB"/>
              <a:pPr/>
              <a:t>‹#›</a:t>
            </a:fld>
            <a:endParaRPr lang="en-GB"/>
          </a:p>
        </p:txBody>
      </p:sp>
    </p:spTree>
    <p:extLst>
      <p:ext uri="{BB962C8B-B14F-4D97-AF65-F5344CB8AC3E}">
        <p14:creationId xmlns:p14="http://schemas.microsoft.com/office/powerpoint/2010/main" val="18210934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Footer Placeholder 6"/>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8" name="Slide Number Placeholder 7"/>
          <p:cNvSpPr>
            <a:spLocks noGrp="1"/>
          </p:cNvSpPr>
          <p:nvPr>
            <p:ph type="sldNum" sz="quarter" idx="12"/>
          </p:nvPr>
        </p:nvSpPr>
        <p:spPr/>
        <p:txBody>
          <a:bodyPr/>
          <a:lstStyle>
            <a:lvl1pPr>
              <a:defRPr>
                <a:solidFill>
                  <a:srgbClr val="898989"/>
                </a:solidFill>
              </a:defRPr>
            </a:lvl1pPr>
          </a:lstStyle>
          <a:p>
            <a:fld id="{27B98567-4A0B-48CC-A982-45492D08D158}" type="slidenum">
              <a:rPr lang="en-GB"/>
              <a:pPr/>
              <a:t>‹#›</a:t>
            </a:fld>
            <a:endParaRPr lang="en-GB"/>
          </a:p>
        </p:txBody>
      </p:sp>
    </p:spTree>
    <p:extLst>
      <p:ext uri="{BB962C8B-B14F-4D97-AF65-F5344CB8AC3E}">
        <p14:creationId xmlns:p14="http://schemas.microsoft.com/office/powerpoint/2010/main" val="75665953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6" name="Footer Placeholder 5"/>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rgbClr val="898989"/>
                </a:solidFill>
              </a:defRPr>
            </a:lvl1pPr>
          </a:lstStyle>
          <a:p>
            <a:fld id="{BDBB1DCD-4BB2-48AE-B70F-FA3E1C7879AB}" type="slidenum">
              <a:rPr lang="en-GB"/>
              <a:pPr/>
              <a:t>‹#›</a:t>
            </a:fld>
            <a:endParaRPr lang="en-GB"/>
          </a:p>
        </p:txBody>
      </p:sp>
    </p:spTree>
    <p:extLst>
      <p:ext uri="{BB962C8B-B14F-4D97-AF65-F5344CB8AC3E}">
        <p14:creationId xmlns:p14="http://schemas.microsoft.com/office/powerpoint/2010/main" val="244919610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extLst>
      <p:ext uri="{BB962C8B-B14F-4D97-AF65-F5344CB8AC3E}">
        <p14:creationId xmlns:p14="http://schemas.microsoft.com/office/powerpoint/2010/main" val="345722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9B0DE4D6-8062-4761-9199-9AEA6147483F}" type="datetime1">
              <a:rPr lang="en-US" smtClean="0"/>
              <a:t>5/12/2025</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1C3B027-99D8-4500-AA7E-8D849F3A1F09}"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1027" name="Title Placeholder 21"/>
          <p:cNvSpPr>
            <a:spLocks noGrp="1"/>
          </p:cNvSpPr>
          <p:nvPr>
            <p:ph type="title"/>
          </p:nvPr>
        </p:nvSpPr>
        <p:spPr bwMode="auto">
          <a:xfrm>
            <a:off x="250825" y="669925"/>
            <a:ext cx="7978775" cy="1006475"/>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8" name="Text Placeholder 12"/>
          <p:cNvSpPr>
            <a:spLocks noGrp="1"/>
          </p:cNvSpPr>
          <p:nvPr>
            <p:ph type="body" idx="1"/>
          </p:nvPr>
        </p:nvSpPr>
        <p:spPr bwMode="auto">
          <a:xfrm>
            <a:off x="250825" y="1676400"/>
            <a:ext cx="8166100" cy="4632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lide Number Placeholder 22"/>
          <p:cNvSpPr>
            <a:spLocks noGrp="1"/>
          </p:cNvSpPr>
          <p:nvPr>
            <p:ph type="sldNum" sz="quarter" idx="4"/>
          </p:nvPr>
        </p:nvSpPr>
        <p:spPr>
          <a:xfrm>
            <a:off x="146050" y="6324600"/>
            <a:ext cx="457200" cy="457200"/>
          </a:xfrm>
          <a:prstGeom prst="ellipse">
            <a:avLst/>
          </a:prstGeom>
          <a:solidFill>
            <a:schemeClr val="accent2"/>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Tw Cen MT" pitchFamily="34" charset="0"/>
              </a:defRPr>
            </a:lvl1pPr>
          </a:lstStyle>
          <a:p>
            <a:fld id="{FA2D2DF1-13C5-43BF-BBD9-0DA151975497}" type="slidenum">
              <a:rPr lang="en-GB"/>
              <a:pPr/>
              <a:t>‹#›</a:t>
            </a:fld>
            <a:endParaRPr lang="en-GB"/>
          </a:p>
        </p:txBody>
      </p:sp>
      <p:pic>
        <p:nvPicPr>
          <p:cNvPr id="1030" name="Picture 9" descr="NAC_LOGO-2.gif"/>
          <p:cNvPicPr>
            <a:picLocks noChangeAspect="1"/>
          </p:cNvPicPr>
          <p:nvPr/>
        </p:nvPicPr>
        <p:blipFill>
          <a:blip r:embed="rId15"/>
          <a:srcRect/>
          <a:stretch>
            <a:fillRect/>
          </a:stretch>
        </p:blipFill>
        <p:spPr bwMode="auto">
          <a:xfrm>
            <a:off x="8558213" y="6165850"/>
            <a:ext cx="550862" cy="542925"/>
          </a:xfrm>
          <a:prstGeom prst="rect">
            <a:avLst/>
          </a:prstGeom>
          <a:noFill/>
          <a:ln w="9525">
            <a:noFill/>
            <a:miter lim="800000"/>
            <a:headEnd/>
            <a:tailEnd/>
          </a:ln>
        </p:spPr>
      </p:pic>
      <p:sp>
        <p:nvSpPr>
          <p:cNvPr id="13" name="TextBox 12"/>
          <p:cNvSpPr txBox="1"/>
          <p:nvPr/>
        </p:nvSpPr>
        <p:spPr>
          <a:xfrm>
            <a:off x="6218461" y="-99392"/>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034" name="TextBox 23"/>
          <p:cNvSpPr txBox="1">
            <a:spLocks noChangeArrowheads="1"/>
          </p:cNvSpPr>
          <p:nvPr/>
        </p:nvSpPr>
        <p:spPr bwMode="auto">
          <a:xfrm>
            <a:off x="6751638" y="6562725"/>
            <a:ext cx="1981200" cy="276225"/>
          </a:xfrm>
          <a:prstGeom prst="rect">
            <a:avLst/>
          </a:prstGeom>
          <a:noFill/>
          <a:ln>
            <a:noFill/>
          </a:ln>
        </p:spPr>
        <p:txBody>
          <a:bodyPr>
            <a:spAutoFit/>
          </a:bodyPr>
          <a:lstStyle/>
          <a:p>
            <a:pPr algn="ctr"/>
            <a:r>
              <a:rPr lang="en-US" sz="1200" i="1" dirty="0">
                <a:solidFill>
                  <a:srgbClr val="000000"/>
                </a:solidFill>
                <a:latin typeface="Tw Cen MT" pitchFamily="34" charset="0"/>
              </a:rPr>
              <a:t>© NACETEM 2025</a:t>
            </a:r>
          </a:p>
        </p:txBody>
      </p:sp>
      <p:sp>
        <p:nvSpPr>
          <p:cNvPr id="4" name="Rectangle 3"/>
          <p:cNvSpPr/>
          <p:nvPr userDrawn="1"/>
        </p:nvSpPr>
        <p:spPr>
          <a:xfrm>
            <a:off x="8733061" y="0"/>
            <a:ext cx="41093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5" name="TextBox 14"/>
          <p:cNvSpPr txBox="1"/>
          <p:nvPr/>
        </p:nvSpPr>
        <p:spPr>
          <a:xfrm rot="16200000">
            <a:off x="5923562" y="2809500"/>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just"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cxnSp>
        <p:nvCxnSpPr>
          <p:cNvPr id="6" name="Straight Connector 5"/>
          <p:cNvCxnSpPr/>
          <p:nvPr userDrawn="1"/>
        </p:nvCxnSpPr>
        <p:spPr>
          <a:xfrm flipH="1">
            <a:off x="0" y="620713"/>
            <a:ext cx="8732838"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8" name="TextBox 7"/>
          <p:cNvSpPr txBox="1">
            <a:spLocks noChangeArrowheads="1"/>
          </p:cNvSpPr>
          <p:nvPr userDrawn="1"/>
        </p:nvSpPr>
        <p:spPr bwMode="auto">
          <a:xfrm>
            <a:off x="755650" y="6437313"/>
            <a:ext cx="6337300" cy="338137"/>
          </a:xfrm>
          <a:prstGeom prst="rect">
            <a:avLst/>
          </a:prstGeom>
          <a:noFill/>
          <a:ln>
            <a:noFill/>
          </a:ln>
        </p:spPr>
        <p:txBody>
          <a:bodyPr>
            <a:spAutoFit/>
          </a:bodyPr>
          <a:lstStyle/>
          <a:p>
            <a:r>
              <a:rPr lang="en-GB" sz="1600" i="1">
                <a:latin typeface="Calibri Light" pitchFamily="34" charset="0"/>
              </a:rPr>
              <a:t>NACETEM…Managing Technology for Sustainable Development</a:t>
            </a:r>
          </a:p>
        </p:txBody>
      </p:sp>
    </p:spTree>
    <p:extLst>
      <p:ext uri="{BB962C8B-B14F-4D97-AF65-F5344CB8AC3E}">
        <p14:creationId xmlns:p14="http://schemas.microsoft.com/office/powerpoint/2010/main" val="658528353"/>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Lst>
  <p:hf hdr="0" ftr="0" dt="0"/>
  <p:txStyles>
    <p:titleStyle>
      <a:lvl1pPr algn="l" rtl="0" eaLnBrk="0" fontAlgn="base" hangingPunct="0">
        <a:spcBef>
          <a:spcPct val="0"/>
        </a:spcBef>
        <a:spcAft>
          <a:spcPct val="0"/>
        </a:spcAft>
        <a:defRPr sz="3600" kern="1200">
          <a:solidFill>
            <a:schemeClr val="tx2"/>
          </a:solidFill>
          <a:latin typeface="Calibri" pitchFamily="34" charset="0"/>
          <a:ea typeface="ＭＳ Ｐゴシック" charset="0"/>
          <a:cs typeface="+mj-cs"/>
        </a:defRPr>
      </a:lvl1pPr>
      <a:lvl2pPr algn="l" rtl="0" eaLnBrk="0" fontAlgn="base" hangingPunct="0">
        <a:spcBef>
          <a:spcPct val="0"/>
        </a:spcBef>
        <a:spcAft>
          <a:spcPct val="0"/>
        </a:spcAft>
        <a:defRPr sz="3600">
          <a:solidFill>
            <a:schemeClr val="tx2"/>
          </a:solidFill>
          <a:latin typeface="Calibri" pitchFamily="34" charset="0"/>
          <a:ea typeface="ＭＳ Ｐゴシック" charset="0"/>
        </a:defRPr>
      </a:lvl2pPr>
      <a:lvl3pPr algn="l" rtl="0" eaLnBrk="0" fontAlgn="base" hangingPunct="0">
        <a:spcBef>
          <a:spcPct val="0"/>
        </a:spcBef>
        <a:spcAft>
          <a:spcPct val="0"/>
        </a:spcAft>
        <a:defRPr sz="3600">
          <a:solidFill>
            <a:schemeClr val="tx2"/>
          </a:solidFill>
          <a:latin typeface="Calibri" pitchFamily="34" charset="0"/>
          <a:ea typeface="ＭＳ Ｐゴシック" charset="0"/>
        </a:defRPr>
      </a:lvl3pPr>
      <a:lvl4pPr algn="l" rtl="0" eaLnBrk="0" fontAlgn="base" hangingPunct="0">
        <a:spcBef>
          <a:spcPct val="0"/>
        </a:spcBef>
        <a:spcAft>
          <a:spcPct val="0"/>
        </a:spcAft>
        <a:defRPr sz="3600">
          <a:solidFill>
            <a:schemeClr val="tx2"/>
          </a:solidFill>
          <a:latin typeface="Calibri" pitchFamily="34" charset="0"/>
          <a:ea typeface="ＭＳ Ｐゴシック" charset="0"/>
        </a:defRPr>
      </a:lvl4pPr>
      <a:lvl5pPr algn="l" rtl="0" eaLnBrk="0" fontAlgn="base" hangingPunct="0">
        <a:spcBef>
          <a:spcPct val="0"/>
        </a:spcBef>
        <a:spcAft>
          <a:spcPct val="0"/>
        </a:spcAft>
        <a:defRPr sz="3600">
          <a:solidFill>
            <a:schemeClr val="tx2"/>
          </a:solidFill>
          <a:latin typeface="Calibri" pitchFamily="34" charset="0"/>
          <a:ea typeface="ＭＳ Ｐゴシック" charset="0"/>
        </a:defRPr>
      </a:lvl5pPr>
      <a:lvl6pPr marL="457200" algn="l" rtl="0" eaLnBrk="1" fontAlgn="base" hangingPunct="1">
        <a:spcBef>
          <a:spcPct val="0"/>
        </a:spcBef>
        <a:spcAft>
          <a:spcPct val="0"/>
        </a:spcAft>
        <a:defRPr sz="4000">
          <a:solidFill>
            <a:schemeClr val="tx2"/>
          </a:solidFill>
          <a:latin typeface="Tw Cen MT" pitchFamily="34" charset="0"/>
        </a:defRPr>
      </a:lvl6pPr>
      <a:lvl7pPr marL="914400" algn="l" rtl="0" eaLnBrk="1" fontAlgn="base" hangingPunct="1">
        <a:spcBef>
          <a:spcPct val="0"/>
        </a:spcBef>
        <a:spcAft>
          <a:spcPct val="0"/>
        </a:spcAft>
        <a:defRPr sz="4000">
          <a:solidFill>
            <a:schemeClr val="tx2"/>
          </a:solidFill>
          <a:latin typeface="Tw Cen MT" pitchFamily="34" charset="0"/>
        </a:defRPr>
      </a:lvl7pPr>
      <a:lvl8pPr marL="1371600" algn="l" rtl="0" eaLnBrk="1" fontAlgn="base" hangingPunct="1">
        <a:spcBef>
          <a:spcPct val="0"/>
        </a:spcBef>
        <a:spcAft>
          <a:spcPct val="0"/>
        </a:spcAft>
        <a:defRPr sz="4000">
          <a:solidFill>
            <a:schemeClr val="tx2"/>
          </a:solidFill>
          <a:latin typeface="Tw Cen MT" pitchFamily="34" charset="0"/>
        </a:defRPr>
      </a:lvl8pPr>
      <a:lvl9pPr marL="1828800" algn="l" rtl="0" eaLnBrk="1" fontAlgn="base" hangingPunct="1">
        <a:spcBef>
          <a:spcPct val="0"/>
        </a:spcBef>
        <a:spcAft>
          <a:spcPct val="0"/>
        </a:spcAft>
        <a:defRPr sz="4000">
          <a:solidFill>
            <a:schemeClr val="tx2"/>
          </a:solidFill>
          <a:latin typeface="Tw Cen MT"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chart" Target="../charts/chart4.x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ubtitle 2"/>
          <p:cNvSpPr>
            <a:spLocks noGrp="1"/>
          </p:cNvSpPr>
          <p:nvPr>
            <p:ph type="subTitle" idx="1"/>
          </p:nvPr>
        </p:nvSpPr>
        <p:spPr>
          <a:xfrm>
            <a:off x="1219200" y="3200400"/>
            <a:ext cx="6553200" cy="2895600"/>
          </a:xfrm>
        </p:spPr>
        <p:txBody>
          <a:bodyPr/>
          <a:lstStyle/>
          <a:p>
            <a:pPr>
              <a:spcBef>
                <a:spcPts val="0"/>
              </a:spcBef>
              <a:defRPr/>
            </a:pPr>
            <a:endParaRPr lang="en-US" sz="1800" b="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3200" b="1" dirty="0">
                <a:solidFill>
                  <a:schemeClr val="accent6">
                    <a:lumMod val="20000"/>
                    <a:lumOff val="80000"/>
                  </a:schemeClr>
                </a:solidFill>
                <a:latin typeface="Aharoni" pitchFamily="2" charset="-79"/>
                <a:ea typeface="+mn-ea"/>
                <a:cs typeface="Aharoni" pitchFamily="2" charset="-79"/>
              </a:rPr>
              <a:t>Thompson-Adewole Valentina</a:t>
            </a:r>
            <a:endParaRPr lang="en-US" sz="3200" b="1" i="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ea typeface="+mn-ea"/>
              </a:rPr>
              <a:t>NACETEM NORTH-CENTRAL OFFICE, ABUJA</a:t>
            </a:r>
          </a:p>
          <a:p>
            <a:pPr>
              <a:spcBef>
                <a:spcPts val="0"/>
              </a:spcBef>
              <a:defRPr/>
            </a:pPr>
            <a:endParaRPr lang="en-US" sz="2400" b="1" dirty="0">
              <a:solidFill>
                <a:schemeClr val="accent6">
                  <a:lumMod val="20000"/>
                  <a:lumOff val="80000"/>
                </a:schemeClr>
              </a:solidFill>
              <a:ea typeface="+mn-ea"/>
            </a:endParaRPr>
          </a:p>
          <a:p>
            <a:pPr>
              <a:lnSpc>
                <a:spcPct val="150000"/>
              </a:lnSpc>
              <a:spcBef>
                <a:spcPts val="0"/>
              </a:spcBef>
              <a:defRPr/>
            </a:pPr>
            <a:endParaRPr lang="en-US" sz="2400" b="1" dirty="0">
              <a:solidFill>
                <a:srgbClr val="C00000"/>
              </a:solidFill>
              <a:ea typeface="+mn-ea"/>
            </a:endParaRPr>
          </a:p>
          <a:p>
            <a:pPr>
              <a:lnSpc>
                <a:spcPct val="150000"/>
              </a:lnSpc>
              <a:spcBef>
                <a:spcPts val="0"/>
              </a:spcBef>
              <a:defRPr/>
            </a:pPr>
            <a:r>
              <a:rPr lang="en-US" sz="2400" b="1" dirty="0">
                <a:solidFill>
                  <a:srgbClr val="C00000"/>
                </a:solidFill>
                <a:ea typeface="+mn-ea"/>
              </a:rPr>
              <a:t>NACETEM Researchers’ Seminar Series</a:t>
            </a:r>
          </a:p>
          <a:p>
            <a:pPr>
              <a:spcBef>
                <a:spcPts val="0"/>
              </a:spcBef>
              <a:defRPr/>
            </a:pPr>
            <a:r>
              <a:rPr lang="en-GB" sz="2400" b="1" dirty="0">
                <a:solidFill>
                  <a:srgbClr val="C00000"/>
                </a:solidFill>
                <a:ea typeface="+mn-ea"/>
              </a:rPr>
              <a:t>Thursday, 15</a:t>
            </a:r>
            <a:r>
              <a:rPr lang="en-GB" sz="2400" b="1" baseline="30000" dirty="0">
                <a:solidFill>
                  <a:srgbClr val="C00000"/>
                </a:solidFill>
                <a:ea typeface="+mn-ea"/>
              </a:rPr>
              <a:t>th</a:t>
            </a:r>
            <a:r>
              <a:rPr lang="en-GB" sz="2400" b="1" dirty="0">
                <a:solidFill>
                  <a:srgbClr val="C00000"/>
                </a:solidFill>
                <a:ea typeface="+mn-ea"/>
              </a:rPr>
              <a:t> May 2025</a:t>
            </a:r>
          </a:p>
        </p:txBody>
      </p:sp>
      <p:sp>
        <p:nvSpPr>
          <p:cNvPr id="16385" name="Title 1"/>
          <p:cNvSpPr>
            <a:spLocks noGrp="1"/>
          </p:cNvSpPr>
          <p:nvPr>
            <p:ph type="ctrTitle"/>
          </p:nvPr>
        </p:nvSpPr>
        <p:spPr>
          <a:xfrm>
            <a:off x="76200" y="1600200"/>
            <a:ext cx="8991600" cy="1447800"/>
          </a:xfrm>
        </p:spPr>
        <p:txBody>
          <a:bodyPr/>
          <a:lstStyle/>
          <a:p>
            <a:r>
              <a:rPr lang="en-US" dirty="0"/>
              <a:t>Unlocking Nigeria's Natural Resources through Strategies for Sustainable Development in Clean Energy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52400" y="714375"/>
            <a:ext cx="8112125" cy="676275"/>
          </a:xfrm>
        </p:spPr>
        <p:txBody>
          <a:bodyPr/>
          <a:lstStyle/>
          <a:p>
            <a:pPr eaLnBrk="1" hangingPunct="1"/>
            <a:r>
              <a:rPr lang="en-US" b="1" dirty="0">
                <a:solidFill>
                  <a:schemeClr val="accent1"/>
                </a:solidFill>
                <a:latin typeface="Gill Sans MT" panose="020B0502020104020203" pitchFamily="34" charset="0"/>
                <a:ea typeface="ＭＳ Ｐゴシック" pitchFamily="34" charset="-128"/>
                <a:cs typeface="Times New Roman" pitchFamily="18" charset="0"/>
              </a:rPr>
              <a:t>Outline</a:t>
            </a:r>
          </a:p>
        </p:txBody>
      </p:sp>
      <p:sp>
        <p:nvSpPr>
          <p:cNvPr id="17410" name="Rectangle 3"/>
          <p:cNvSpPr>
            <a:spLocks noGrp="1" noChangeArrowheads="1"/>
          </p:cNvSpPr>
          <p:nvPr>
            <p:ph idx="4294967295"/>
          </p:nvPr>
        </p:nvSpPr>
        <p:spPr>
          <a:xfrm>
            <a:off x="323850" y="1285860"/>
            <a:ext cx="8112125" cy="4962540"/>
          </a:xfrm>
        </p:spPr>
        <p:txBody>
          <a:bodyPr/>
          <a:lstStyle/>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Introduction</a:t>
            </a:r>
          </a:p>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LR</a:t>
            </a:r>
          </a:p>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Methodology</a:t>
            </a:r>
          </a:p>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Analysis and Discussions</a:t>
            </a:r>
          </a:p>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Conclusions</a:t>
            </a:r>
          </a:p>
          <a:p>
            <a:pPr lvl="0">
              <a:lnSpc>
                <a:spcPct val="150000"/>
              </a:lnSpc>
            </a:pPr>
            <a:r>
              <a:rPr lang="en-US" sz="2800" dirty="0">
                <a:solidFill>
                  <a:prstClr val="black"/>
                </a:solidFill>
                <a:latin typeface="Gill Sans MT" panose="020B0502020104020203" pitchFamily="34" charset="0"/>
                <a:cs typeface="Times New Roman" panose="02020603050405020304" pitchFamily="18" charset="0"/>
              </a:rPr>
              <a:t>Recommendations</a:t>
            </a:r>
          </a:p>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 y="152400"/>
            <a:ext cx="8997696" cy="6553200"/>
          </a:xfrm>
        </p:spPr>
        <p:txBody>
          <a:bodyPr>
            <a:normAutofit fontScale="92500" lnSpcReduction="10000"/>
          </a:bodyPr>
          <a:lstStyle/>
          <a:p>
            <a:pPr marL="658368" lvl="2" indent="0" algn="just">
              <a:spcBef>
                <a:spcPts val="0"/>
              </a:spcBef>
              <a:spcAft>
                <a:spcPts val="1200"/>
              </a:spcAft>
              <a:buNone/>
            </a:pPr>
            <a:r>
              <a:rPr lang="en-US" sz="2500" b="1" dirty="0">
                <a:latin typeface="Arial" panose="020B0604020202020204" pitchFamily="34" charset="0"/>
                <a:cs typeface="Arial" pitchFamily="34" charset="0"/>
              </a:rPr>
              <a:t>		         </a:t>
            </a:r>
            <a:r>
              <a:rPr lang="en-US" sz="3600" b="1" dirty="0">
                <a:latin typeface="+mj-lt"/>
                <a:cs typeface="Arial" pitchFamily="34" charset="0"/>
              </a:rPr>
              <a:t>INTRODUCTION</a:t>
            </a:r>
            <a:endParaRPr lang="en-US" sz="3600" dirty="0">
              <a:latin typeface="+mj-lt"/>
              <a:cs typeface="Arial" pitchFamily="34" charset="0"/>
            </a:endParaRPr>
          </a:p>
          <a:p>
            <a:pPr algn="just">
              <a:buFont typeface="Arial" panose="020B0604020202020204" pitchFamily="34" charset="0"/>
              <a:buChar char="•"/>
            </a:pPr>
            <a:r>
              <a:rPr lang="en-US" sz="2800" dirty="0">
                <a:latin typeface="fkGroteskNeue"/>
              </a:rPr>
              <a:t>Resource-rich economies, such as Nigeria, often face challenges in </a:t>
            </a:r>
            <a:r>
              <a:rPr lang="en-US" sz="2800" b="1" dirty="0">
                <a:solidFill>
                  <a:srgbClr val="FF0000"/>
                </a:solidFill>
                <a:latin typeface="fkGroteskNeue"/>
              </a:rPr>
              <a:t>transitioning from fossil fuels to renewable energy sources,</a:t>
            </a:r>
            <a:r>
              <a:rPr lang="en-US" sz="2800" dirty="0">
                <a:latin typeface="fkGroteskNeue"/>
              </a:rPr>
              <a:t> despite the long-term economic and environmental benefits. </a:t>
            </a:r>
          </a:p>
          <a:p>
            <a:pPr marL="82296" indent="0" algn="just">
              <a:buNone/>
            </a:pPr>
            <a:endParaRPr lang="en-US" sz="2800" dirty="0">
              <a:solidFill>
                <a:prstClr val="black"/>
              </a:solidFill>
              <a:latin typeface="fkGroteskNeue"/>
            </a:endParaRPr>
          </a:p>
          <a:p>
            <a:pPr marL="457200" lvl="0" indent="-457200" algn="just">
              <a:buClr>
                <a:srgbClr val="3891A7"/>
              </a:buClr>
              <a:buFont typeface="Wingdings" panose="05000000000000000000" pitchFamily="2" charset="2"/>
              <a:buChar char="§"/>
            </a:pPr>
            <a:r>
              <a:rPr lang="en-US" sz="2800" dirty="0">
                <a:solidFill>
                  <a:prstClr val="black"/>
                </a:solidFill>
                <a:latin typeface="fkGroteskNeue"/>
              </a:rPr>
              <a:t>The Environmental Kuznets Curve (EKC) theory suggests that </a:t>
            </a:r>
            <a:r>
              <a:rPr lang="en-US" sz="2800" b="1" dirty="0">
                <a:solidFill>
                  <a:srgbClr val="FF0000"/>
                </a:solidFill>
                <a:latin typeface="fkGroteskNeue"/>
              </a:rPr>
              <a:t>as economies grow, environmental degradation initially increases but eventually declines as cleaner technologies are adopted</a:t>
            </a:r>
            <a:r>
              <a:rPr lang="en-US" sz="2800" dirty="0">
                <a:solidFill>
                  <a:prstClr val="black"/>
                </a:solidFill>
                <a:latin typeface="fkGroteskNeue"/>
              </a:rPr>
              <a:t>-”a pattern particularly relevant to Nigeria’s oil-dependent growth” (Kaika &amp; Zervas, 2013).</a:t>
            </a:r>
          </a:p>
          <a:p>
            <a:pPr marL="0" lvl="0" indent="0" algn="just">
              <a:buClr>
                <a:srgbClr val="3891A7"/>
              </a:buClr>
              <a:buNone/>
            </a:pPr>
            <a:endParaRPr lang="en-US" sz="2800" dirty="0">
              <a:solidFill>
                <a:prstClr val="black"/>
              </a:solidFill>
              <a:latin typeface="fkGroteskNeue"/>
            </a:endParaRPr>
          </a:p>
          <a:p>
            <a:pPr marL="457200" lvl="0" indent="-457200" algn="just">
              <a:buClr>
                <a:srgbClr val="3891A7"/>
              </a:buClr>
              <a:buFont typeface="Wingdings" panose="05000000000000000000" pitchFamily="2" charset="2"/>
              <a:buChar char="§"/>
            </a:pPr>
            <a:r>
              <a:rPr lang="en-US" sz="2800" dirty="0">
                <a:solidFill>
                  <a:prstClr val="black"/>
                </a:solidFill>
                <a:latin typeface="fkGroteskNeue"/>
              </a:rPr>
              <a:t>This framework is adopted because is  central to understanding Nigeria’s resource-rich, fossil-fuel-dependent growth and the transition towards clean energy.</a:t>
            </a:r>
          </a:p>
          <a:p>
            <a:pPr marL="0" lvl="0" indent="0" algn="just">
              <a:buClr>
                <a:srgbClr val="3891A7"/>
              </a:buClr>
              <a:buNone/>
            </a:pPr>
            <a:r>
              <a:rPr lang="en-US" sz="2800" dirty="0">
                <a:solidFill>
                  <a:prstClr val="black"/>
                </a:solidFill>
                <a:latin typeface="fkGroteskNeue"/>
              </a:rPr>
              <a:t> </a:t>
            </a:r>
            <a:endParaRPr lang="en-US" sz="3000" dirty="0">
              <a:solidFill>
                <a:prstClr val="black"/>
              </a:solidFill>
              <a:cs typeface="Arial" panose="020B0604020202020204" pitchFamily="34" charset="0"/>
            </a:endParaRPr>
          </a:p>
        </p:txBody>
      </p:sp>
      <p:sp>
        <p:nvSpPr>
          <p:cNvPr id="7" name="Slide Number Placeholder 6"/>
          <p:cNvSpPr>
            <a:spLocks noGrp="1"/>
          </p:cNvSpPr>
          <p:nvPr>
            <p:ph type="sldNum" sz="quarter" idx="12"/>
          </p:nvPr>
        </p:nvSpPr>
        <p:spPr/>
        <p:txBody>
          <a:bodyPr/>
          <a:lstStyle/>
          <a:p>
            <a:fld id="{41C3B027-99D8-4500-AA7E-8D849F3A1F09}" type="slidenum">
              <a:rPr lang="en-US" smtClean="0"/>
              <a:pPr/>
              <a:t>3</a:t>
            </a:fld>
            <a:endParaRPr lang="en-US" dirty="0"/>
          </a:p>
        </p:txBody>
      </p:sp>
    </p:spTree>
    <p:extLst>
      <p:ext uri="{BB962C8B-B14F-4D97-AF65-F5344CB8AC3E}">
        <p14:creationId xmlns:p14="http://schemas.microsoft.com/office/powerpoint/2010/main" val="54845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56941-3EE0-44ED-8F25-6CEE31586770}"/>
              </a:ext>
            </a:extLst>
          </p:cNvPr>
          <p:cNvSpPr>
            <a:spLocks noGrp="1"/>
          </p:cNvSpPr>
          <p:nvPr>
            <p:ph type="title"/>
          </p:nvPr>
        </p:nvSpPr>
        <p:spPr>
          <a:xfrm>
            <a:off x="1092451" y="76200"/>
            <a:ext cx="7498080" cy="1143000"/>
          </a:xfrm>
        </p:spPr>
        <p:txBody>
          <a:bodyPr/>
          <a:lstStyle/>
          <a:p>
            <a:pPr algn="ctr"/>
            <a:r>
              <a:rPr lang="en-US" sz="2500" b="1" dirty="0">
                <a:solidFill>
                  <a:prstClr val="black"/>
                </a:solidFill>
                <a:effectLst/>
                <a:latin typeface="Arial" panose="020B0604020202020204" pitchFamily="34" charset="0"/>
                <a:ea typeface="+mn-ea"/>
                <a:cs typeface="Arial" pitchFamily="34" charset="0"/>
              </a:rPr>
              <a:t> </a:t>
            </a:r>
            <a:r>
              <a:rPr lang="en-US" sz="3600" b="1" dirty="0">
                <a:solidFill>
                  <a:prstClr val="black"/>
                </a:solidFill>
                <a:effectLst/>
                <a:ea typeface="+mn-ea"/>
                <a:cs typeface="Arial" pitchFamily="34" charset="0"/>
              </a:rPr>
              <a:t>INTRODUCTION CONT’D</a:t>
            </a:r>
            <a:endParaRPr lang="en-US" dirty="0"/>
          </a:p>
        </p:txBody>
      </p:sp>
      <p:sp>
        <p:nvSpPr>
          <p:cNvPr id="3" name="Content Placeholder 2">
            <a:extLst>
              <a:ext uri="{FF2B5EF4-FFF2-40B4-BE49-F238E27FC236}">
                <a16:creationId xmlns:a16="http://schemas.microsoft.com/office/drawing/2014/main" id="{7E52E5D1-7151-4BCF-995F-594C7A98BA4E}"/>
              </a:ext>
            </a:extLst>
          </p:cNvPr>
          <p:cNvSpPr>
            <a:spLocks noGrp="1"/>
          </p:cNvSpPr>
          <p:nvPr>
            <p:ph idx="1"/>
          </p:nvPr>
        </p:nvSpPr>
        <p:spPr>
          <a:xfrm>
            <a:off x="152400" y="1057275"/>
            <a:ext cx="8721527" cy="5486400"/>
          </a:xfrm>
        </p:spPr>
        <p:txBody>
          <a:bodyPr>
            <a:normAutofit/>
          </a:bodyPr>
          <a:lstStyle/>
          <a:p>
            <a:pPr marL="457200" lvl="0" indent="-457200" algn="just">
              <a:spcBef>
                <a:spcPts val="0"/>
              </a:spcBef>
              <a:buClr>
                <a:srgbClr val="3891A7"/>
              </a:buClr>
              <a:buFont typeface="Wingdings" panose="05000000000000000000" pitchFamily="2" charset="2"/>
              <a:buChar char="§"/>
            </a:pPr>
            <a:r>
              <a:rPr lang="en-US" sz="2800" dirty="0">
                <a:latin typeface="fkGroteskNeue"/>
              </a:rPr>
              <a:t>Despite extensive research on the environmental and socioeconomic impacts of resource exploitation in Nigeria, </a:t>
            </a:r>
            <a:r>
              <a:rPr lang="en-US" sz="2800" dirty="0">
                <a:solidFill>
                  <a:srgbClr val="FF0000"/>
                </a:solidFill>
                <a:latin typeface="fkGroteskNeue"/>
              </a:rPr>
              <a:t>few studies holistically integrate clean energy strategies </a:t>
            </a:r>
            <a:r>
              <a:rPr lang="en-US" sz="2800" dirty="0">
                <a:latin typeface="fkGroteskNeue"/>
              </a:rPr>
              <a:t>(Obada et. al, 2024)</a:t>
            </a:r>
          </a:p>
          <a:p>
            <a:pPr marL="457200" lvl="0" indent="-457200" algn="just">
              <a:spcBef>
                <a:spcPts val="0"/>
              </a:spcBef>
              <a:buClr>
                <a:srgbClr val="3891A7"/>
              </a:buClr>
              <a:buFont typeface="Wingdings" panose="05000000000000000000" pitchFamily="2" charset="2"/>
              <a:buChar char="§"/>
            </a:pPr>
            <a:endParaRPr lang="en-US" sz="2800" dirty="0">
              <a:latin typeface="fkGroteskNeue"/>
            </a:endParaRPr>
          </a:p>
          <a:p>
            <a:pPr marL="457200" lvl="0" indent="-457200" algn="just">
              <a:spcBef>
                <a:spcPts val="0"/>
              </a:spcBef>
              <a:buClr>
                <a:srgbClr val="3891A7"/>
              </a:buClr>
              <a:buFont typeface="Wingdings" panose="05000000000000000000" pitchFamily="2" charset="2"/>
              <a:buChar char="§"/>
            </a:pPr>
            <a:endParaRPr lang="en-US" sz="2800" dirty="0">
              <a:latin typeface="fkGroteskNeue"/>
            </a:endParaRPr>
          </a:p>
          <a:p>
            <a:pPr marL="457200" lvl="0" indent="-457200" algn="just">
              <a:spcBef>
                <a:spcPts val="0"/>
              </a:spcBef>
              <a:buClr>
                <a:srgbClr val="3891A7"/>
              </a:buClr>
              <a:buFont typeface="Wingdings" panose="05000000000000000000" pitchFamily="2" charset="2"/>
              <a:buChar char="§"/>
            </a:pPr>
            <a:r>
              <a:rPr lang="en-US" sz="2800" dirty="0">
                <a:latin typeface="fkGroteskNeue"/>
              </a:rPr>
              <a:t>This study addresses this gap by </a:t>
            </a:r>
            <a:r>
              <a:rPr lang="en-US" sz="2800" b="1" dirty="0">
                <a:solidFill>
                  <a:srgbClr val="FF0000"/>
                </a:solidFill>
                <a:latin typeface="fkGroteskNeue"/>
              </a:rPr>
              <a:t>applying EKC-derived parameters to benchmark Nigeria’s clean energy transition against BRICS countries,</a:t>
            </a:r>
            <a:r>
              <a:rPr lang="en-US" sz="2800" dirty="0">
                <a:latin typeface="fkGroteskNeue"/>
              </a:rPr>
              <a:t> leveraging their potential for technology transfer and Nigeria’s interest in joining BRICS</a:t>
            </a:r>
            <a:endParaRPr lang="en-GB" sz="2800" dirty="0">
              <a:latin typeface="fkGroteskNeue"/>
            </a:endParaRPr>
          </a:p>
          <a:p>
            <a:pPr marL="82296" indent="0">
              <a:buNone/>
            </a:pPr>
            <a:endParaRPr lang="en-US" dirty="0"/>
          </a:p>
        </p:txBody>
      </p:sp>
      <p:sp>
        <p:nvSpPr>
          <p:cNvPr id="4" name="Slide Number Placeholder 3">
            <a:extLst>
              <a:ext uri="{FF2B5EF4-FFF2-40B4-BE49-F238E27FC236}">
                <a16:creationId xmlns:a16="http://schemas.microsoft.com/office/drawing/2014/main" id="{57719F1C-A2DD-4DF3-81A2-BBC293C7515C}"/>
              </a:ext>
            </a:extLst>
          </p:cNvPr>
          <p:cNvSpPr>
            <a:spLocks noGrp="1"/>
          </p:cNvSpPr>
          <p:nvPr>
            <p:ph type="sldNum" sz="quarter" idx="12"/>
          </p:nvPr>
        </p:nvSpPr>
        <p:spPr/>
        <p:txBody>
          <a:bodyPr/>
          <a:lstStyle/>
          <a:p>
            <a:fld id="{41C3B027-99D8-4500-AA7E-8D849F3A1F09}" type="slidenum">
              <a:rPr lang="en-US" smtClean="0"/>
              <a:pPr/>
              <a:t>4</a:t>
            </a:fld>
            <a:endParaRPr lang="en-US" dirty="0"/>
          </a:p>
        </p:txBody>
      </p:sp>
    </p:spTree>
    <p:extLst>
      <p:ext uri="{BB962C8B-B14F-4D97-AF65-F5344CB8AC3E}">
        <p14:creationId xmlns:p14="http://schemas.microsoft.com/office/powerpoint/2010/main" val="262275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45B1657-2455-449C-B7BF-136889695D58}"/>
              </a:ext>
            </a:extLst>
          </p:cNvPr>
          <p:cNvGraphicFramePr>
            <a:graphicFrameLocks noGrp="1"/>
          </p:cNvGraphicFramePr>
          <p:nvPr>
            <p:ph idx="1"/>
            <p:extLst>
              <p:ext uri="{D42A27DB-BD31-4B8C-83A1-F6EECF244321}">
                <p14:modId xmlns:p14="http://schemas.microsoft.com/office/powerpoint/2010/main" val="2941545740"/>
              </p:ext>
            </p:extLst>
          </p:nvPr>
        </p:nvGraphicFramePr>
        <p:xfrm>
          <a:off x="307848" y="523875"/>
          <a:ext cx="8534400" cy="601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98CFD10-6EAE-4CD1-AA3F-4FF3BD85D752}"/>
              </a:ext>
            </a:extLst>
          </p:cNvPr>
          <p:cNvSpPr>
            <a:spLocks noGrp="1"/>
          </p:cNvSpPr>
          <p:nvPr>
            <p:ph type="sldNum" sz="quarter" idx="12"/>
          </p:nvPr>
        </p:nvSpPr>
        <p:spPr/>
        <p:txBody>
          <a:bodyPr/>
          <a:lstStyle/>
          <a:p>
            <a:fld id="{41C3B027-99D8-4500-AA7E-8D849F3A1F09}" type="slidenum">
              <a:rPr lang="en-US" smtClean="0"/>
              <a:pPr/>
              <a:t>5</a:t>
            </a:fld>
            <a:endParaRPr lang="en-US" dirty="0"/>
          </a:p>
        </p:txBody>
      </p:sp>
      <p:sp>
        <p:nvSpPr>
          <p:cNvPr id="6" name="TextBox 5">
            <a:extLst>
              <a:ext uri="{FF2B5EF4-FFF2-40B4-BE49-F238E27FC236}">
                <a16:creationId xmlns:a16="http://schemas.microsoft.com/office/drawing/2014/main" id="{436E7748-704F-4224-A54E-55F2B661ACDF}"/>
              </a:ext>
            </a:extLst>
          </p:cNvPr>
          <p:cNvSpPr txBox="1"/>
          <p:nvPr/>
        </p:nvSpPr>
        <p:spPr>
          <a:xfrm>
            <a:off x="990600" y="3151257"/>
            <a:ext cx="3657600" cy="1077218"/>
          </a:xfrm>
          <a:prstGeom prst="rect">
            <a:avLst/>
          </a:prstGeom>
          <a:noFill/>
        </p:spPr>
        <p:txBody>
          <a:bodyPr wrap="square" rtlCol="0">
            <a:spAutoFit/>
          </a:bodyPr>
          <a:lstStyle/>
          <a:p>
            <a:pPr algn="ctr"/>
            <a:r>
              <a:rPr lang="en-US" sz="3200" b="1" dirty="0">
                <a:solidFill>
                  <a:schemeClr val="bg1"/>
                </a:solidFill>
              </a:rPr>
              <a:t>EKC Curve Theory</a:t>
            </a:r>
          </a:p>
        </p:txBody>
      </p:sp>
    </p:spTree>
    <p:extLst>
      <p:ext uri="{BB962C8B-B14F-4D97-AF65-F5344CB8AC3E}">
        <p14:creationId xmlns:p14="http://schemas.microsoft.com/office/powerpoint/2010/main" val="3013155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0B1E-258A-4983-8C2C-2A6AE9FA01C3}"/>
              </a:ext>
            </a:extLst>
          </p:cNvPr>
          <p:cNvSpPr>
            <a:spLocks noGrp="1"/>
          </p:cNvSpPr>
          <p:nvPr>
            <p:ph type="title"/>
          </p:nvPr>
        </p:nvSpPr>
        <p:spPr>
          <a:xfrm>
            <a:off x="1316176" y="76200"/>
            <a:ext cx="7498080" cy="1143000"/>
          </a:xfrm>
        </p:spPr>
        <p:txBody>
          <a:bodyPr>
            <a:normAutofit/>
          </a:bodyPr>
          <a:lstStyle/>
          <a:p>
            <a:pPr marL="0" marR="0">
              <a:lnSpc>
                <a:spcPct val="106000"/>
              </a:lnSpc>
              <a:spcBef>
                <a:spcPts val="0"/>
              </a:spcBef>
              <a:spcAft>
                <a:spcPts val="800"/>
              </a:spcAft>
            </a:pPr>
            <a:r>
              <a:rPr lang="en-US" sz="4400" dirty="0"/>
              <a:t>RESEARCH OBJECTIVES </a:t>
            </a:r>
            <a:endParaRPr lang="en-US" dirty="0"/>
          </a:p>
        </p:txBody>
      </p:sp>
      <p:sp>
        <p:nvSpPr>
          <p:cNvPr id="3" name="Content Placeholder 2">
            <a:extLst>
              <a:ext uri="{FF2B5EF4-FFF2-40B4-BE49-F238E27FC236}">
                <a16:creationId xmlns:a16="http://schemas.microsoft.com/office/drawing/2014/main" id="{94DC2449-CC34-4FC1-9C9B-EE14BA1057E8}"/>
              </a:ext>
            </a:extLst>
          </p:cNvPr>
          <p:cNvSpPr>
            <a:spLocks noGrp="1"/>
          </p:cNvSpPr>
          <p:nvPr>
            <p:ph idx="1"/>
          </p:nvPr>
        </p:nvSpPr>
        <p:spPr>
          <a:xfrm>
            <a:off x="152400" y="990600"/>
            <a:ext cx="8781288" cy="5257800"/>
          </a:xfrm>
        </p:spPr>
        <p:txBody>
          <a:bodyPr>
            <a:normAutofit/>
          </a:bodyPr>
          <a:lstStyle/>
          <a:p>
            <a:pPr marL="596646" indent="-514350" algn="just">
              <a:buAutoNum type="arabicPeriod"/>
            </a:pPr>
            <a:r>
              <a:rPr lang="en-US" sz="2800" dirty="0">
                <a:latin typeface="fkGroteskNeue"/>
              </a:rPr>
              <a:t>To examine the difference between Nigeria and BRICS countries in rural access to clean fuels and technologies for cooking as sustainable development enablers.</a:t>
            </a:r>
          </a:p>
          <a:p>
            <a:pPr marL="596646" indent="-514350" algn="just">
              <a:buAutoNum type="arabicPeriod"/>
            </a:pPr>
            <a:endParaRPr lang="en-US" sz="2800" dirty="0">
              <a:latin typeface="fkGroteskNeue"/>
            </a:endParaRPr>
          </a:p>
          <a:p>
            <a:pPr marL="596646" indent="-514350" algn="just">
              <a:buAutoNum type="arabicPeriod"/>
            </a:pPr>
            <a:endParaRPr lang="en-US" sz="2800" dirty="0">
              <a:latin typeface="fkGroteskNeue"/>
            </a:endParaRPr>
          </a:p>
          <a:p>
            <a:pPr marL="596646" indent="-514350" algn="just">
              <a:buAutoNum type="arabicPeriod"/>
            </a:pPr>
            <a:r>
              <a:rPr lang="en-US" sz="2800" dirty="0">
                <a:latin typeface="fkGroteskNeue"/>
              </a:rPr>
              <a:t>To analyze and compare fossil fuel energy consumption in Nigeria with the average consumption levels in BRICS countries for driving clean energy.</a:t>
            </a:r>
            <a:endParaRPr lang="en-US" dirty="0"/>
          </a:p>
        </p:txBody>
      </p:sp>
      <p:sp>
        <p:nvSpPr>
          <p:cNvPr id="4" name="Slide Number Placeholder 3">
            <a:extLst>
              <a:ext uri="{FF2B5EF4-FFF2-40B4-BE49-F238E27FC236}">
                <a16:creationId xmlns:a16="http://schemas.microsoft.com/office/drawing/2014/main" id="{D288DAE7-58C5-4D6B-A082-25555FDE8D08}"/>
              </a:ext>
            </a:extLst>
          </p:cNvPr>
          <p:cNvSpPr>
            <a:spLocks noGrp="1"/>
          </p:cNvSpPr>
          <p:nvPr>
            <p:ph type="sldNum" sz="quarter" idx="12"/>
          </p:nvPr>
        </p:nvSpPr>
        <p:spPr/>
        <p:txBody>
          <a:bodyPr/>
          <a:lstStyle/>
          <a:p>
            <a:fld id="{41C3B027-99D8-4500-AA7E-8D849F3A1F09}" type="slidenum">
              <a:rPr lang="en-US" smtClean="0"/>
              <a:pPr/>
              <a:t>6</a:t>
            </a:fld>
            <a:endParaRPr lang="en-US" dirty="0"/>
          </a:p>
        </p:txBody>
      </p:sp>
    </p:spTree>
    <p:extLst>
      <p:ext uri="{BB962C8B-B14F-4D97-AF65-F5344CB8AC3E}">
        <p14:creationId xmlns:p14="http://schemas.microsoft.com/office/powerpoint/2010/main" val="1038841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E936-A0FB-478D-BC3B-960A6D2E1E2E}"/>
              </a:ext>
            </a:extLst>
          </p:cNvPr>
          <p:cNvSpPr>
            <a:spLocks noGrp="1"/>
          </p:cNvSpPr>
          <p:nvPr>
            <p:ph type="title"/>
          </p:nvPr>
        </p:nvSpPr>
        <p:spPr/>
        <p:txBody>
          <a:bodyPr/>
          <a:lstStyle/>
          <a:p>
            <a:r>
              <a:rPr lang="en-US" dirty="0"/>
              <a:t>SIGNIFICANCE OF STUDY</a:t>
            </a:r>
          </a:p>
        </p:txBody>
      </p:sp>
      <p:sp>
        <p:nvSpPr>
          <p:cNvPr id="3" name="Content Placeholder 2">
            <a:extLst>
              <a:ext uri="{FF2B5EF4-FFF2-40B4-BE49-F238E27FC236}">
                <a16:creationId xmlns:a16="http://schemas.microsoft.com/office/drawing/2014/main" id="{60AB8233-5511-43FC-A229-2CBB3A5A30ED}"/>
              </a:ext>
            </a:extLst>
          </p:cNvPr>
          <p:cNvSpPr>
            <a:spLocks noGrp="1"/>
          </p:cNvSpPr>
          <p:nvPr>
            <p:ph idx="1"/>
          </p:nvPr>
        </p:nvSpPr>
        <p:spPr>
          <a:xfrm>
            <a:off x="457200" y="1447800"/>
            <a:ext cx="8476488" cy="4800600"/>
          </a:xfrm>
        </p:spPr>
        <p:txBody>
          <a:bodyPr>
            <a:normAutofit fontScale="92500"/>
          </a:bodyPr>
          <a:lstStyle/>
          <a:p>
            <a:pPr algn="just">
              <a:lnSpc>
                <a:spcPct val="110000"/>
              </a:lnSpc>
            </a:pPr>
            <a:r>
              <a:rPr lang="en-US" sz="2600" dirty="0">
                <a:latin typeface="fkGroteskNeue"/>
              </a:rPr>
              <a:t>To propose strategies for harnessing Nigeria’s natural resources for clean energy, comparing indicators with BRICS</a:t>
            </a:r>
          </a:p>
          <a:p>
            <a:pPr marL="82296" indent="0" algn="just">
              <a:lnSpc>
                <a:spcPct val="110000"/>
              </a:lnSpc>
              <a:buNone/>
            </a:pPr>
            <a:endParaRPr lang="en-US" sz="2600" dirty="0">
              <a:latin typeface="fkGroteskNeue"/>
            </a:endParaRPr>
          </a:p>
          <a:p>
            <a:pPr algn="just">
              <a:lnSpc>
                <a:spcPct val="110000"/>
              </a:lnSpc>
            </a:pPr>
            <a:r>
              <a:rPr lang="en-US" sz="2600" dirty="0">
                <a:latin typeface="fkGroteskNeue"/>
              </a:rPr>
              <a:t>To develop actionable strategies for leveraging Nigeria’s abundant natural resources for clean energy, this study compares key indicators such as rural access to clean fuels and fossil fuel consumption between Nigeria and BRICS countries</a:t>
            </a:r>
          </a:p>
          <a:p>
            <a:pPr marL="82296" indent="0" algn="just">
              <a:lnSpc>
                <a:spcPct val="110000"/>
              </a:lnSpc>
              <a:buNone/>
            </a:pPr>
            <a:r>
              <a:rPr lang="en-US" sz="2200" b="1" u="sng" dirty="0">
                <a:latin typeface="fkGroteskNeue"/>
              </a:rPr>
              <a:t>Note: </a:t>
            </a:r>
          </a:p>
          <a:p>
            <a:pPr marL="82296" indent="0">
              <a:buNone/>
            </a:pPr>
            <a:r>
              <a:rPr lang="en-US" sz="2200" b="1" dirty="0">
                <a:latin typeface="fkGroteskNeue"/>
              </a:rPr>
              <a:t>The justification for juxtaposing Nigeria with the BRICS countries was based on the interest on Nigeria in joining the BRICS countries and the proposition that technology transfer and adaptation may occur with relevant impact on sustainable development.</a:t>
            </a:r>
          </a:p>
        </p:txBody>
      </p:sp>
      <p:sp>
        <p:nvSpPr>
          <p:cNvPr id="4" name="Slide Number Placeholder 3">
            <a:extLst>
              <a:ext uri="{FF2B5EF4-FFF2-40B4-BE49-F238E27FC236}">
                <a16:creationId xmlns:a16="http://schemas.microsoft.com/office/drawing/2014/main" id="{F48D1BE0-1CCB-4146-8DC3-243619011113}"/>
              </a:ext>
            </a:extLst>
          </p:cNvPr>
          <p:cNvSpPr>
            <a:spLocks noGrp="1"/>
          </p:cNvSpPr>
          <p:nvPr>
            <p:ph type="sldNum" sz="quarter" idx="12"/>
          </p:nvPr>
        </p:nvSpPr>
        <p:spPr/>
        <p:txBody>
          <a:bodyPr/>
          <a:lstStyle/>
          <a:p>
            <a:fld id="{41C3B027-99D8-4500-AA7E-8D849F3A1F09}" type="slidenum">
              <a:rPr lang="en-US" smtClean="0"/>
              <a:pPr/>
              <a:t>7</a:t>
            </a:fld>
            <a:endParaRPr lang="en-US" dirty="0"/>
          </a:p>
        </p:txBody>
      </p:sp>
    </p:spTree>
    <p:extLst>
      <p:ext uri="{BB962C8B-B14F-4D97-AF65-F5344CB8AC3E}">
        <p14:creationId xmlns:p14="http://schemas.microsoft.com/office/powerpoint/2010/main" val="143916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CEE1F-BED5-376F-F84D-F1057D815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96C75-6B0D-FAF8-60CA-3E559544DA96}"/>
              </a:ext>
            </a:extLst>
          </p:cNvPr>
          <p:cNvSpPr>
            <a:spLocks noGrp="1"/>
          </p:cNvSpPr>
          <p:nvPr>
            <p:ph type="title"/>
          </p:nvPr>
        </p:nvSpPr>
        <p:spPr/>
        <p:txBody>
          <a:bodyPr>
            <a:normAutofit fontScale="90000"/>
          </a:bodyPr>
          <a:lstStyle/>
          <a:p>
            <a:pPr marL="0" marR="0">
              <a:lnSpc>
                <a:spcPct val="106000"/>
              </a:lnSpc>
              <a:spcBef>
                <a:spcPts val="0"/>
              </a:spcBef>
              <a:spcAft>
                <a:spcPts val="800"/>
              </a:spcAft>
            </a:pPr>
            <a:r>
              <a:rPr lang="en-US" sz="4400" dirty="0"/>
              <a:t>RESEARCH HYPOTHESES</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AA9D7AA-8B2B-C525-694C-CCE04E402CDA}"/>
              </a:ext>
            </a:extLst>
          </p:cNvPr>
          <p:cNvSpPr>
            <a:spLocks noGrp="1"/>
          </p:cNvSpPr>
          <p:nvPr>
            <p:ph idx="1"/>
          </p:nvPr>
        </p:nvSpPr>
        <p:spPr>
          <a:xfrm>
            <a:off x="152400" y="990600"/>
            <a:ext cx="8781288" cy="5257800"/>
          </a:xfrm>
        </p:spPr>
        <p:txBody>
          <a:bodyPr>
            <a:normAutofit fontScale="92500"/>
          </a:bodyPr>
          <a:lstStyle/>
          <a:p>
            <a:pPr marL="82296" indent="0" algn="just">
              <a:buNone/>
            </a:pPr>
            <a:r>
              <a:rPr lang="en-US" sz="3000" dirty="0">
                <a:latin typeface="fkGroteskNeue"/>
              </a:rPr>
              <a:t>1. </a:t>
            </a:r>
            <a:r>
              <a:rPr lang="en-US" sz="2800" dirty="0">
                <a:latin typeface="fkGroteskNeue"/>
              </a:rPr>
              <a:t>H₀: There is no significant difference between Nigeria and BRICS countries in rural access to clean fuels and technologies for cooking.</a:t>
            </a:r>
          </a:p>
          <a:p>
            <a:pPr algn="just">
              <a:buFont typeface="Wingdings" panose="05000000000000000000" pitchFamily="2" charset="2"/>
              <a:buChar char="§"/>
            </a:pPr>
            <a:r>
              <a:rPr lang="en-US" sz="2800" dirty="0">
                <a:latin typeface="fkGroteskNeue"/>
              </a:rPr>
              <a:t>H₁: Nigeria has significantly lower access to clean fuels and technologies for cooking in rural areas compared to BRICS countries.</a:t>
            </a:r>
          </a:p>
          <a:p>
            <a:pPr marL="82296" indent="0" algn="just">
              <a:buNone/>
            </a:pPr>
            <a:endParaRPr lang="en-US" sz="2800" dirty="0">
              <a:latin typeface="fkGroteskNeue"/>
            </a:endParaRPr>
          </a:p>
          <a:p>
            <a:pPr marL="82296" indent="0" algn="just">
              <a:buNone/>
            </a:pPr>
            <a:r>
              <a:rPr lang="en-US" sz="2800" dirty="0">
                <a:latin typeface="fkGroteskNeue"/>
              </a:rPr>
              <a:t>2. H₀: Fossil fuel energy consumption in Nigeria is not significantly higher than the average consumption in BRICS countries.</a:t>
            </a:r>
          </a:p>
          <a:p>
            <a:pPr algn="just"/>
            <a:r>
              <a:rPr lang="en-US" sz="2800" dirty="0">
                <a:latin typeface="fkGroteskNeue"/>
              </a:rPr>
              <a:t>H₁: Nigeria’s fossil fuel energy consumption is significantly higher than the average consumption in BRICS countries.</a:t>
            </a:r>
          </a:p>
          <a:p>
            <a:endParaRPr lang="en-US" dirty="0"/>
          </a:p>
        </p:txBody>
      </p:sp>
      <p:sp>
        <p:nvSpPr>
          <p:cNvPr id="4" name="Slide Number Placeholder 3">
            <a:extLst>
              <a:ext uri="{FF2B5EF4-FFF2-40B4-BE49-F238E27FC236}">
                <a16:creationId xmlns:a16="http://schemas.microsoft.com/office/drawing/2014/main" id="{0C56464E-BA6D-A963-675C-0DDCB2511AB9}"/>
              </a:ext>
            </a:extLst>
          </p:cNvPr>
          <p:cNvSpPr>
            <a:spLocks noGrp="1"/>
          </p:cNvSpPr>
          <p:nvPr>
            <p:ph type="sldNum" sz="quarter" idx="12"/>
          </p:nvPr>
        </p:nvSpPr>
        <p:spPr/>
        <p:txBody>
          <a:bodyPr/>
          <a:lstStyle/>
          <a:p>
            <a:fld id="{41C3B027-99D8-4500-AA7E-8D849F3A1F09}" type="slidenum">
              <a:rPr lang="en-US" smtClean="0"/>
              <a:pPr/>
              <a:t>8</a:t>
            </a:fld>
            <a:endParaRPr lang="en-US" dirty="0"/>
          </a:p>
        </p:txBody>
      </p:sp>
    </p:spTree>
    <p:extLst>
      <p:ext uri="{BB962C8B-B14F-4D97-AF65-F5344CB8AC3E}">
        <p14:creationId xmlns:p14="http://schemas.microsoft.com/office/powerpoint/2010/main" val="1739382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A5E5E-D987-425A-B8E2-8566E72E2782}"/>
              </a:ext>
            </a:extLst>
          </p:cNvPr>
          <p:cNvSpPr>
            <a:spLocks noGrp="1"/>
          </p:cNvSpPr>
          <p:nvPr>
            <p:ph type="title"/>
          </p:nvPr>
        </p:nvSpPr>
        <p:spPr>
          <a:xfrm>
            <a:off x="2667000" y="152400"/>
            <a:ext cx="7498080" cy="1143000"/>
          </a:xfrm>
        </p:spPr>
        <p:txBody>
          <a:bodyPr>
            <a:normAutofit/>
          </a:bodyPr>
          <a:lstStyle/>
          <a:p>
            <a:r>
              <a:rPr lang="en-US" sz="3600" b="1" dirty="0">
                <a:solidFill>
                  <a:prstClr val="black"/>
                </a:solidFill>
                <a:effectLst/>
                <a:latin typeface="Tw Cen MT"/>
              </a:rPr>
              <a:t>METHODOLOGY</a:t>
            </a:r>
          </a:p>
        </p:txBody>
      </p:sp>
      <p:sp>
        <p:nvSpPr>
          <p:cNvPr id="3" name="Content Placeholder 2">
            <a:extLst>
              <a:ext uri="{FF2B5EF4-FFF2-40B4-BE49-F238E27FC236}">
                <a16:creationId xmlns:a16="http://schemas.microsoft.com/office/drawing/2014/main" id="{DA6281D5-D4AB-40BA-856E-44412B380FBB}"/>
              </a:ext>
            </a:extLst>
          </p:cNvPr>
          <p:cNvSpPr>
            <a:spLocks noGrp="1"/>
          </p:cNvSpPr>
          <p:nvPr>
            <p:ph idx="1"/>
          </p:nvPr>
        </p:nvSpPr>
        <p:spPr>
          <a:xfrm>
            <a:off x="0" y="1447800"/>
            <a:ext cx="8763000" cy="4800600"/>
          </a:xfrm>
        </p:spPr>
        <p:txBody>
          <a:bodyPr>
            <a:normAutofit/>
          </a:bodyPr>
          <a:lstStyle/>
          <a:p>
            <a:pPr algn="just">
              <a:lnSpc>
                <a:spcPct val="150000"/>
              </a:lnSpc>
              <a:buFont typeface="Arial" panose="020B0604020202020204" pitchFamily="34" charset="0"/>
              <a:buChar char="•"/>
            </a:pPr>
            <a:r>
              <a:rPr lang="en-US" sz="2600" dirty="0">
                <a:latin typeface="fkGroteskNeue"/>
              </a:rPr>
              <a:t>This study employs a comparative analytical approach, utilizing secondary data from the World Bank for Nigeria and BRICS countries. The analysis covers fossil fuel consumption (1971–2022) and rural access to clean fuels (2000–2022</a:t>
            </a:r>
            <a:r>
              <a:rPr lang="en-US" sz="2800" dirty="0">
                <a:latin typeface="fkGroteskNeue"/>
              </a:rPr>
              <a:t>)</a:t>
            </a:r>
            <a:endParaRPr lang="en-US" dirty="0"/>
          </a:p>
        </p:txBody>
      </p:sp>
      <p:sp>
        <p:nvSpPr>
          <p:cNvPr id="4" name="Slide Number Placeholder 3">
            <a:extLst>
              <a:ext uri="{FF2B5EF4-FFF2-40B4-BE49-F238E27FC236}">
                <a16:creationId xmlns:a16="http://schemas.microsoft.com/office/drawing/2014/main" id="{13D470E8-A863-4399-92A1-C4F1370981DA}"/>
              </a:ext>
            </a:extLst>
          </p:cNvPr>
          <p:cNvSpPr>
            <a:spLocks noGrp="1"/>
          </p:cNvSpPr>
          <p:nvPr>
            <p:ph type="sldNum" sz="quarter" idx="12"/>
          </p:nvPr>
        </p:nvSpPr>
        <p:spPr/>
        <p:txBody>
          <a:bodyPr/>
          <a:lstStyle/>
          <a:p>
            <a:fld id="{41C3B027-99D8-4500-AA7E-8D849F3A1F09}" type="slidenum">
              <a:rPr lang="en-US" smtClean="0"/>
              <a:pPr/>
              <a:t>9</a:t>
            </a:fld>
            <a:endParaRPr lang="en-US" dirty="0"/>
          </a:p>
        </p:txBody>
      </p:sp>
    </p:spTree>
    <p:extLst>
      <p:ext uri="{BB962C8B-B14F-4D97-AF65-F5344CB8AC3E}">
        <p14:creationId xmlns:p14="http://schemas.microsoft.com/office/powerpoint/2010/main" val="398213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7F90-07C7-42EF-A238-5670C9BDD3BA}"/>
              </a:ext>
            </a:extLst>
          </p:cNvPr>
          <p:cNvSpPr>
            <a:spLocks noGrp="1"/>
          </p:cNvSpPr>
          <p:nvPr>
            <p:ph type="title"/>
          </p:nvPr>
        </p:nvSpPr>
        <p:spPr>
          <a:xfrm>
            <a:off x="457200" y="274638"/>
            <a:ext cx="8476488" cy="1143000"/>
          </a:xfrm>
        </p:spPr>
        <p:txBody>
          <a:bodyPr>
            <a:normAutofit fontScale="90000"/>
          </a:bodyPr>
          <a:lstStyle/>
          <a:p>
            <a:r>
              <a:rPr lang="en-US" dirty="0">
                <a:effectLst/>
              </a:rPr>
              <a:t> Methodology - Analytical Techniques</a:t>
            </a:r>
            <a:br>
              <a:rPr lang="en-US" dirty="0">
                <a:effectLst/>
              </a:rPr>
            </a:br>
            <a:endParaRPr lang="en-US" dirty="0"/>
          </a:p>
        </p:txBody>
      </p:sp>
      <p:sp>
        <p:nvSpPr>
          <p:cNvPr id="3" name="Content Placeholder 2">
            <a:extLst>
              <a:ext uri="{FF2B5EF4-FFF2-40B4-BE49-F238E27FC236}">
                <a16:creationId xmlns:a16="http://schemas.microsoft.com/office/drawing/2014/main" id="{148F3317-86ED-4668-9697-EE8E0E1FD70E}"/>
              </a:ext>
            </a:extLst>
          </p:cNvPr>
          <p:cNvSpPr>
            <a:spLocks noGrp="1"/>
          </p:cNvSpPr>
          <p:nvPr>
            <p:ph idx="1"/>
          </p:nvPr>
        </p:nvSpPr>
        <p:spPr>
          <a:xfrm>
            <a:off x="152400" y="990600"/>
            <a:ext cx="8991600" cy="5257800"/>
          </a:xfrm>
        </p:spPr>
        <p:txBody>
          <a:bodyPr>
            <a:normAutofit/>
          </a:bodyPr>
          <a:lstStyle/>
          <a:p>
            <a:r>
              <a:rPr lang="en-US" sz="2800" dirty="0">
                <a:latin typeface="fkGroteskNeue"/>
              </a:rPr>
              <a:t>Statistical Methods:</a:t>
            </a:r>
          </a:p>
          <a:p>
            <a:pPr>
              <a:buFont typeface="Arial" panose="020B0604020202020204" pitchFamily="34" charset="0"/>
              <a:buChar char="•"/>
            </a:pPr>
            <a:r>
              <a:rPr lang="en-US" sz="2800" dirty="0">
                <a:latin typeface="fkGroteskNeue"/>
              </a:rPr>
              <a:t>Descriptive statistics: Means, standard deviations, trends</a:t>
            </a:r>
          </a:p>
          <a:p>
            <a:pPr>
              <a:buFont typeface="Arial" panose="020B0604020202020204" pitchFamily="34" charset="0"/>
              <a:buChar char="•"/>
            </a:pPr>
            <a:r>
              <a:rPr lang="en-US" sz="2800" dirty="0">
                <a:latin typeface="fkGroteskNeue"/>
              </a:rPr>
              <a:t>Correlation analysis: Examining relationships between variables</a:t>
            </a:r>
          </a:p>
          <a:p>
            <a:endParaRPr lang="en-US" sz="2800" dirty="0">
              <a:latin typeface="fkGroteskNeue"/>
            </a:endParaRPr>
          </a:p>
          <a:p>
            <a:r>
              <a:rPr lang="en-US" sz="2800" dirty="0">
                <a:latin typeface="fkGroteskNeue"/>
              </a:rPr>
              <a:t>Analytical Software:</a:t>
            </a:r>
          </a:p>
          <a:p>
            <a:pPr lvl="1"/>
            <a:r>
              <a:rPr lang="en-US" dirty="0">
                <a:latin typeface="fkGroteskNeue"/>
              </a:rPr>
              <a:t>SPSS for statistical analysis</a:t>
            </a:r>
          </a:p>
          <a:p>
            <a:pPr lvl="1"/>
            <a:r>
              <a:rPr lang="en-US" dirty="0">
                <a:latin typeface="fkGroteskNeue"/>
              </a:rPr>
              <a:t>Excel for data visualization</a:t>
            </a:r>
          </a:p>
          <a:p>
            <a:pPr lvl="1"/>
            <a:r>
              <a:rPr lang="en-US" dirty="0">
                <a:latin typeface="fkGroteskNeue"/>
              </a:rPr>
              <a:t>System Dynamics Loop Generator (SDLG)</a:t>
            </a:r>
          </a:p>
          <a:p>
            <a:pPr marL="82296" indent="0">
              <a:buNone/>
            </a:pPr>
            <a:endParaRPr lang="en-US" sz="2800" dirty="0">
              <a:latin typeface="fkGroteskNeue"/>
            </a:endParaRPr>
          </a:p>
          <a:p>
            <a:endParaRPr lang="en-US" dirty="0"/>
          </a:p>
        </p:txBody>
      </p:sp>
      <p:sp>
        <p:nvSpPr>
          <p:cNvPr id="4" name="Slide Number Placeholder 3">
            <a:extLst>
              <a:ext uri="{FF2B5EF4-FFF2-40B4-BE49-F238E27FC236}">
                <a16:creationId xmlns:a16="http://schemas.microsoft.com/office/drawing/2014/main" id="{26ECCED5-F875-4168-A395-33989D899646}"/>
              </a:ext>
            </a:extLst>
          </p:cNvPr>
          <p:cNvSpPr>
            <a:spLocks noGrp="1"/>
          </p:cNvSpPr>
          <p:nvPr>
            <p:ph type="sldNum" sz="quarter" idx="12"/>
          </p:nvPr>
        </p:nvSpPr>
        <p:spPr/>
        <p:txBody>
          <a:bodyPr/>
          <a:lstStyle/>
          <a:p>
            <a:fld id="{41C3B027-99D8-4500-AA7E-8D849F3A1F09}" type="slidenum">
              <a:rPr lang="en-US" smtClean="0"/>
              <a:pPr/>
              <a:t>10</a:t>
            </a:fld>
            <a:endParaRPr lang="en-US" dirty="0"/>
          </a:p>
        </p:txBody>
      </p:sp>
    </p:spTree>
    <p:extLst>
      <p:ext uri="{BB962C8B-B14F-4D97-AF65-F5344CB8AC3E}">
        <p14:creationId xmlns:p14="http://schemas.microsoft.com/office/powerpoint/2010/main" val="407264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9514-8425-4BC7-AB13-CAEC21520D17}"/>
              </a:ext>
            </a:extLst>
          </p:cNvPr>
          <p:cNvSpPr>
            <a:spLocks noGrp="1"/>
          </p:cNvSpPr>
          <p:nvPr>
            <p:ph type="title"/>
          </p:nvPr>
        </p:nvSpPr>
        <p:spPr>
          <a:xfrm>
            <a:off x="533400" y="274638"/>
            <a:ext cx="8400288" cy="106361"/>
          </a:xfrm>
        </p:spPr>
        <p:txBody>
          <a:bodyPr>
            <a:normAutofit fontScale="90000"/>
          </a:bodyPr>
          <a:lstStyle/>
          <a:p>
            <a:pPr algn="ctr"/>
            <a:r>
              <a:rPr lang="en-US" sz="2800" dirty="0"/>
              <a:t>Loop Diagram identifying the parameters patterns and relationships (Authors’ Idea, 2025)</a:t>
            </a:r>
          </a:p>
        </p:txBody>
      </p:sp>
      <p:pic>
        <p:nvPicPr>
          <p:cNvPr id="5" name="Content Placeholder 4">
            <a:extLst>
              <a:ext uri="{FF2B5EF4-FFF2-40B4-BE49-F238E27FC236}">
                <a16:creationId xmlns:a16="http://schemas.microsoft.com/office/drawing/2014/main" id="{583C2A43-6A8F-4E3F-9C82-FF04D3A22F44}"/>
              </a:ext>
            </a:extLst>
          </p:cNvPr>
          <p:cNvPicPr>
            <a:picLocks noGrp="1" noChangeAspect="1"/>
          </p:cNvPicPr>
          <p:nvPr>
            <p:ph idx="1"/>
          </p:nvPr>
        </p:nvPicPr>
        <p:blipFill>
          <a:blip r:embed="rId2"/>
          <a:stretch>
            <a:fillRect/>
          </a:stretch>
        </p:blipFill>
        <p:spPr>
          <a:xfrm>
            <a:off x="0" y="762000"/>
            <a:ext cx="9144000" cy="6019800"/>
          </a:xfrm>
          <a:prstGeom prst="rect">
            <a:avLst/>
          </a:prstGeom>
        </p:spPr>
      </p:pic>
      <p:sp>
        <p:nvSpPr>
          <p:cNvPr id="4" name="Slide Number Placeholder 3">
            <a:extLst>
              <a:ext uri="{FF2B5EF4-FFF2-40B4-BE49-F238E27FC236}">
                <a16:creationId xmlns:a16="http://schemas.microsoft.com/office/drawing/2014/main" id="{B664A351-8645-4B0E-9A97-91D0AC2FBAC8}"/>
              </a:ext>
            </a:extLst>
          </p:cNvPr>
          <p:cNvSpPr>
            <a:spLocks noGrp="1"/>
          </p:cNvSpPr>
          <p:nvPr>
            <p:ph type="sldNum" sz="quarter" idx="12"/>
          </p:nvPr>
        </p:nvSpPr>
        <p:spPr/>
        <p:txBody>
          <a:bodyPr/>
          <a:lstStyle/>
          <a:p>
            <a:fld id="{41C3B027-99D8-4500-AA7E-8D849F3A1F09}" type="slidenum">
              <a:rPr lang="en-US" smtClean="0"/>
              <a:pPr/>
              <a:t>11</a:t>
            </a:fld>
            <a:endParaRPr lang="en-US" dirty="0"/>
          </a:p>
        </p:txBody>
      </p:sp>
    </p:spTree>
    <p:extLst>
      <p:ext uri="{BB962C8B-B14F-4D97-AF65-F5344CB8AC3E}">
        <p14:creationId xmlns:p14="http://schemas.microsoft.com/office/powerpoint/2010/main" val="266247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F878-8199-433F-A778-E0D963DC822E}"/>
              </a:ext>
            </a:extLst>
          </p:cNvPr>
          <p:cNvSpPr>
            <a:spLocks noGrp="1"/>
          </p:cNvSpPr>
          <p:nvPr>
            <p:ph type="title"/>
          </p:nvPr>
        </p:nvSpPr>
        <p:spPr/>
        <p:txBody>
          <a:bodyPr>
            <a:normAutofit/>
          </a:bodyPr>
          <a:lstStyle/>
          <a:p>
            <a:r>
              <a:rPr lang="en-US" sz="3600" b="1" dirty="0">
                <a:solidFill>
                  <a:prstClr val="black"/>
                </a:solidFill>
                <a:effectLst/>
                <a:latin typeface="Tw Cen MT"/>
                <a:ea typeface="+mn-ea"/>
                <a:cs typeface="+mn-cs"/>
              </a:rPr>
              <a:t>ANALYTICAL FRAMEWORK</a:t>
            </a:r>
          </a:p>
        </p:txBody>
      </p:sp>
      <p:sp>
        <p:nvSpPr>
          <p:cNvPr id="4" name="Slide Number Placeholder 3">
            <a:extLst>
              <a:ext uri="{FF2B5EF4-FFF2-40B4-BE49-F238E27FC236}">
                <a16:creationId xmlns:a16="http://schemas.microsoft.com/office/drawing/2014/main" id="{305925DC-F16C-4951-A6DB-FFBFB6217C14}"/>
              </a:ext>
            </a:extLst>
          </p:cNvPr>
          <p:cNvSpPr>
            <a:spLocks noGrp="1"/>
          </p:cNvSpPr>
          <p:nvPr>
            <p:ph type="sldNum" sz="quarter" idx="12"/>
          </p:nvPr>
        </p:nvSpPr>
        <p:spPr/>
        <p:txBody>
          <a:bodyPr/>
          <a:lstStyle/>
          <a:p>
            <a:fld id="{41C3B027-99D8-4500-AA7E-8D849F3A1F09}" type="slidenum">
              <a:rPr lang="en-US" smtClean="0"/>
              <a:pPr/>
              <a:t>12</a:t>
            </a:fld>
            <a:endParaRPr lang="en-US" dirty="0"/>
          </a:p>
        </p:txBody>
      </p:sp>
      <p:pic>
        <p:nvPicPr>
          <p:cNvPr id="5" name="Picture 4">
            <a:extLst>
              <a:ext uri="{FF2B5EF4-FFF2-40B4-BE49-F238E27FC236}">
                <a16:creationId xmlns:a16="http://schemas.microsoft.com/office/drawing/2014/main" id="{10F5F172-4841-4D43-9AEB-9341042C7719}"/>
              </a:ext>
            </a:extLst>
          </p:cNvPr>
          <p:cNvPicPr>
            <a:picLocks noChangeAspect="1"/>
          </p:cNvPicPr>
          <p:nvPr/>
        </p:nvPicPr>
        <p:blipFill>
          <a:blip r:embed="rId2"/>
          <a:stretch>
            <a:fillRect/>
          </a:stretch>
        </p:blipFill>
        <p:spPr>
          <a:xfrm>
            <a:off x="152400" y="1371601"/>
            <a:ext cx="8839200" cy="5211762"/>
          </a:xfrm>
          <a:prstGeom prst="rect">
            <a:avLst/>
          </a:prstGeom>
        </p:spPr>
      </p:pic>
      <p:sp>
        <p:nvSpPr>
          <p:cNvPr id="6" name="TextBox 5">
            <a:extLst>
              <a:ext uri="{FF2B5EF4-FFF2-40B4-BE49-F238E27FC236}">
                <a16:creationId xmlns:a16="http://schemas.microsoft.com/office/drawing/2014/main" id="{82B85AB8-1505-B724-F5D0-640B7D29918D}"/>
              </a:ext>
            </a:extLst>
          </p:cNvPr>
          <p:cNvSpPr txBox="1"/>
          <p:nvPr/>
        </p:nvSpPr>
        <p:spPr>
          <a:xfrm>
            <a:off x="5788774" y="6488668"/>
            <a:ext cx="3282074" cy="369332"/>
          </a:xfrm>
          <a:prstGeom prst="rect">
            <a:avLst/>
          </a:prstGeom>
          <a:noFill/>
        </p:spPr>
        <p:txBody>
          <a:bodyPr wrap="square">
            <a:spAutoFit/>
          </a:bodyPr>
          <a:lstStyle/>
          <a:p>
            <a:r>
              <a:rPr lang="en-US" dirty="0"/>
              <a:t>(Adapted from Femi, et al, 2022)</a:t>
            </a:r>
          </a:p>
        </p:txBody>
      </p:sp>
    </p:spTree>
    <p:extLst>
      <p:ext uri="{BB962C8B-B14F-4D97-AF65-F5344CB8AC3E}">
        <p14:creationId xmlns:p14="http://schemas.microsoft.com/office/powerpoint/2010/main" val="2469464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0F71F-55FC-44ED-8F9E-145361EAD4CE}"/>
              </a:ext>
            </a:extLst>
          </p:cNvPr>
          <p:cNvSpPr>
            <a:spLocks noGrp="1"/>
          </p:cNvSpPr>
          <p:nvPr>
            <p:ph type="title"/>
          </p:nvPr>
        </p:nvSpPr>
        <p:spPr>
          <a:xfrm>
            <a:off x="946785" y="247650"/>
            <a:ext cx="7498080" cy="895350"/>
          </a:xfrm>
        </p:spPr>
        <p:txBody>
          <a:bodyPr/>
          <a:lstStyle/>
          <a:p>
            <a:pPr algn="ctr"/>
            <a:r>
              <a:rPr lang="en-US" sz="3600" b="1" dirty="0">
                <a:solidFill>
                  <a:prstClr val="black"/>
                </a:solidFill>
                <a:effectLst/>
                <a:latin typeface="Tw Cen MT"/>
              </a:rPr>
              <a:t>ANALYSIS &amp; DISCUSSIONS</a:t>
            </a:r>
            <a:endParaRPr lang="en-US" dirty="0"/>
          </a:p>
        </p:txBody>
      </p:sp>
      <p:sp>
        <p:nvSpPr>
          <p:cNvPr id="4" name="Slide Number Placeholder 3">
            <a:extLst>
              <a:ext uri="{FF2B5EF4-FFF2-40B4-BE49-F238E27FC236}">
                <a16:creationId xmlns:a16="http://schemas.microsoft.com/office/drawing/2014/main" id="{401A137D-8F79-4D6D-B919-2217AEEDF595}"/>
              </a:ext>
            </a:extLst>
          </p:cNvPr>
          <p:cNvSpPr>
            <a:spLocks noGrp="1"/>
          </p:cNvSpPr>
          <p:nvPr>
            <p:ph type="sldNum" sz="quarter" idx="12"/>
          </p:nvPr>
        </p:nvSpPr>
        <p:spPr/>
        <p:txBody>
          <a:bodyPr/>
          <a:lstStyle/>
          <a:p>
            <a:fld id="{41C3B027-99D8-4500-AA7E-8D849F3A1F09}" type="slidenum">
              <a:rPr lang="en-US" smtClean="0"/>
              <a:pPr/>
              <a:t>13</a:t>
            </a:fld>
            <a:endParaRPr lang="en-US" dirty="0"/>
          </a:p>
        </p:txBody>
      </p:sp>
      <p:graphicFrame>
        <p:nvGraphicFramePr>
          <p:cNvPr id="5" name="Content Placeholder 4">
            <a:extLst>
              <a:ext uri="{FF2B5EF4-FFF2-40B4-BE49-F238E27FC236}">
                <a16:creationId xmlns:a16="http://schemas.microsoft.com/office/drawing/2014/main" id="{DE6A1863-6AA3-4B51-9128-DAE49E467C0D}"/>
              </a:ext>
            </a:extLst>
          </p:cNvPr>
          <p:cNvGraphicFramePr>
            <a:graphicFrameLocks noGrp="1"/>
          </p:cNvGraphicFramePr>
          <p:nvPr>
            <p:ph idx="1"/>
            <p:extLst>
              <p:ext uri="{D42A27DB-BD31-4B8C-83A1-F6EECF244321}">
                <p14:modId xmlns:p14="http://schemas.microsoft.com/office/powerpoint/2010/main" val="4942319"/>
              </p:ext>
            </p:extLst>
          </p:nvPr>
        </p:nvGraphicFramePr>
        <p:xfrm>
          <a:off x="1371600" y="1752600"/>
          <a:ext cx="7620000" cy="4419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03019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2ECA4A-5DD0-4B29-8779-502550BD6595}"/>
              </a:ext>
            </a:extLst>
          </p:cNvPr>
          <p:cNvSpPr>
            <a:spLocks noGrp="1"/>
          </p:cNvSpPr>
          <p:nvPr>
            <p:ph type="sldNum" sz="quarter" idx="12"/>
          </p:nvPr>
        </p:nvSpPr>
        <p:spPr/>
        <p:txBody>
          <a:bodyPr/>
          <a:lstStyle/>
          <a:p>
            <a:fld id="{41C3B027-99D8-4500-AA7E-8D849F3A1F09}" type="slidenum">
              <a:rPr lang="en-US" smtClean="0"/>
              <a:pPr/>
              <a:t>14</a:t>
            </a:fld>
            <a:endParaRPr lang="en-US" dirty="0"/>
          </a:p>
        </p:txBody>
      </p:sp>
      <p:pic>
        <p:nvPicPr>
          <p:cNvPr id="5" name="Picture 4">
            <a:extLst>
              <a:ext uri="{FF2B5EF4-FFF2-40B4-BE49-F238E27FC236}">
                <a16:creationId xmlns:a16="http://schemas.microsoft.com/office/drawing/2014/main" id="{8A664C32-0D23-4580-B9AE-ED5BD4AAFC22}"/>
              </a:ext>
            </a:extLst>
          </p:cNvPr>
          <p:cNvPicPr>
            <a:picLocks noChangeAspect="1"/>
          </p:cNvPicPr>
          <p:nvPr/>
        </p:nvPicPr>
        <p:blipFill>
          <a:blip r:embed="rId2"/>
          <a:stretch>
            <a:fillRect/>
          </a:stretch>
        </p:blipFill>
        <p:spPr>
          <a:xfrm>
            <a:off x="418672" y="381000"/>
            <a:ext cx="8515016" cy="6202362"/>
          </a:xfrm>
          <a:prstGeom prst="rect">
            <a:avLst/>
          </a:prstGeom>
        </p:spPr>
      </p:pic>
    </p:spTree>
    <p:extLst>
      <p:ext uri="{BB962C8B-B14F-4D97-AF65-F5344CB8AC3E}">
        <p14:creationId xmlns:p14="http://schemas.microsoft.com/office/powerpoint/2010/main" val="309402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9B47-975D-448C-BC25-C6CE36498CBB}"/>
              </a:ext>
            </a:extLst>
          </p:cNvPr>
          <p:cNvSpPr>
            <a:spLocks noGrp="1"/>
          </p:cNvSpPr>
          <p:nvPr>
            <p:ph type="title"/>
          </p:nvPr>
        </p:nvSpPr>
        <p:spPr>
          <a:xfrm>
            <a:off x="1219200" y="-5137"/>
            <a:ext cx="8552688" cy="792162"/>
          </a:xfrm>
        </p:spPr>
        <p:txBody>
          <a:bodyPr>
            <a:normAutofit fontScale="90000"/>
          </a:bodyPr>
          <a:lstStyle/>
          <a:p>
            <a:pPr lvl="0">
              <a:spcBef>
                <a:spcPts val="0"/>
              </a:spcBef>
              <a:spcAft>
                <a:spcPts val="600"/>
              </a:spcAft>
            </a:pPr>
            <a:br>
              <a:rPr lang="en-US" sz="4000" b="1" dirty="0">
                <a:solidFill>
                  <a:prstClr val="black"/>
                </a:solidFill>
                <a:effectLst/>
                <a:latin typeface="Tw Cen MT"/>
                <a:ea typeface="+mn-ea"/>
                <a:cs typeface="+mn-cs"/>
              </a:rPr>
            </a:br>
            <a:r>
              <a:rPr lang="en-US" sz="4000" b="1" dirty="0">
                <a:solidFill>
                  <a:prstClr val="black"/>
                </a:solidFill>
                <a:effectLst/>
                <a:latin typeface="Tw Cen MT"/>
                <a:ea typeface="+mn-ea"/>
                <a:cs typeface="+mn-cs"/>
              </a:rPr>
              <a:t>     ANALYSIS &amp; DISCUSSIONS</a:t>
            </a:r>
            <a:br>
              <a:rPr lang="en-US" sz="4000" b="1" dirty="0">
                <a:solidFill>
                  <a:prstClr val="black"/>
                </a:solidFill>
                <a:effectLst/>
                <a:latin typeface="Tw Cen MT"/>
                <a:ea typeface="+mn-ea"/>
                <a:cs typeface="+mn-cs"/>
              </a:rPr>
            </a:br>
            <a:r>
              <a:rPr lang="en-US" sz="4000" b="1" dirty="0">
                <a:solidFill>
                  <a:prstClr val="black"/>
                </a:solidFill>
                <a:effectLst/>
                <a:latin typeface="Tw Cen MT"/>
                <a:ea typeface="+mn-ea"/>
                <a:cs typeface="+mn-cs"/>
              </a:rPr>
              <a:t>		</a:t>
            </a:r>
            <a:r>
              <a:rPr lang="en-US" sz="2800" b="1" dirty="0">
                <a:solidFill>
                  <a:prstClr val="black"/>
                </a:solidFill>
                <a:effectLst/>
                <a:latin typeface="fkGroteskNeue"/>
                <a:ea typeface="+mn-ea"/>
                <a:cs typeface="+mn-cs"/>
              </a:rPr>
              <a:t>Rural access to clean gas</a:t>
            </a:r>
            <a:endParaRPr lang="en-US" dirty="0"/>
          </a:p>
        </p:txBody>
      </p:sp>
      <p:sp>
        <p:nvSpPr>
          <p:cNvPr id="3" name="Content Placeholder 2">
            <a:extLst>
              <a:ext uri="{FF2B5EF4-FFF2-40B4-BE49-F238E27FC236}">
                <a16:creationId xmlns:a16="http://schemas.microsoft.com/office/drawing/2014/main" id="{593FED45-8116-48C6-B22B-57C53A6A32B0}"/>
              </a:ext>
            </a:extLst>
          </p:cNvPr>
          <p:cNvSpPr>
            <a:spLocks noGrp="1"/>
          </p:cNvSpPr>
          <p:nvPr>
            <p:ph idx="1"/>
          </p:nvPr>
        </p:nvSpPr>
        <p:spPr>
          <a:xfrm>
            <a:off x="0" y="1447800"/>
            <a:ext cx="8933688" cy="4800600"/>
          </a:xfrm>
        </p:spPr>
        <p:txBody>
          <a:bodyPr/>
          <a:lstStyle/>
          <a:p>
            <a:pPr marL="82296" indent="0">
              <a:buNone/>
            </a:pPr>
            <a:r>
              <a:rPr lang="en-US" sz="2800" b="1" dirty="0">
                <a:latin typeface="fkGroteskNeue"/>
              </a:rPr>
              <a:t>			</a:t>
            </a:r>
          </a:p>
          <a:p>
            <a:pPr marL="82296" indent="0">
              <a:buNone/>
            </a:pPr>
            <a:endParaRPr lang="en-US" sz="2800" dirty="0">
              <a:latin typeface="fkGroteskNeue"/>
            </a:endParaRPr>
          </a:p>
        </p:txBody>
      </p:sp>
      <p:sp>
        <p:nvSpPr>
          <p:cNvPr id="4" name="Slide Number Placeholder 3">
            <a:extLst>
              <a:ext uri="{FF2B5EF4-FFF2-40B4-BE49-F238E27FC236}">
                <a16:creationId xmlns:a16="http://schemas.microsoft.com/office/drawing/2014/main" id="{973C7354-2810-4D21-AD66-D6819BD66985}"/>
              </a:ext>
            </a:extLst>
          </p:cNvPr>
          <p:cNvSpPr>
            <a:spLocks noGrp="1"/>
          </p:cNvSpPr>
          <p:nvPr>
            <p:ph type="sldNum" sz="quarter" idx="12"/>
          </p:nvPr>
        </p:nvSpPr>
        <p:spPr>
          <a:xfrm>
            <a:off x="8613648" y="6377469"/>
            <a:ext cx="457200" cy="476250"/>
          </a:xfrm>
        </p:spPr>
        <p:txBody>
          <a:bodyPr/>
          <a:lstStyle/>
          <a:p>
            <a:fld id="{41C3B027-99D8-4500-AA7E-8D849F3A1F09}" type="slidenum">
              <a:rPr lang="en-US" smtClean="0"/>
              <a:pPr/>
              <a:t>15</a:t>
            </a:fld>
            <a:endParaRPr lang="en-US" dirty="0"/>
          </a:p>
        </p:txBody>
      </p:sp>
      <p:graphicFrame>
        <p:nvGraphicFramePr>
          <p:cNvPr id="6" name="Table 5">
            <a:extLst>
              <a:ext uri="{FF2B5EF4-FFF2-40B4-BE49-F238E27FC236}">
                <a16:creationId xmlns:a16="http://schemas.microsoft.com/office/drawing/2014/main" id="{3495F438-0A3D-44AD-8CB0-691E810D10E5}"/>
              </a:ext>
            </a:extLst>
          </p:cNvPr>
          <p:cNvGraphicFramePr>
            <a:graphicFrameLocks noGrp="1"/>
          </p:cNvGraphicFramePr>
          <p:nvPr>
            <p:extLst>
              <p:ext uri="{D42A27DB-BD31-4B8C-83A1-F6EECF244321}">
                <p14:modId xmlns:p14="http://schemas.microsoft.com/office/powerpoint/2010/main" val="633886016"/>
              </p:ext>
            </p:extLst>
          </p:nvPr>
        </p:nvGraphicFramePr>
        <p:xfrm>
          <a:off x="210312" y="1390650"/>
          <a:ext cx="8723377" cy="5162548"/>
        </p:xfrm>
        <a:graphic>
          <a:graphicData uri="http://schemas.openxmlformats.org/drawingml/2006/table">
            <a:tbl>
              <a:tblPr firstRow="1" bandRow="1">
                <a:tableStyleId>{5940675A-B579-460E-94D1-54222C63F5DA}</a:tableStyleId>
              </a:tblPr>
              <a:tblGrid>
                <a:gridCol w="1986716">
                  <a:extLst>
                    <a:ext uri="{9D8B030D-6E8A-4147-A177-3AD203B41FA5}">
                      <a16:colId xmlns:a16="http://schemas.microsoft.com/office/drawing/2014/main" val="1911359875"/>
                    </a:ext>
                  </a:extLst>
                </a:gridCol>
                <a:gridCol w="1537423">
                  <a:extLst>
                    <a:ext uri="{9D8B030D-6E8A-4147-A177-3AD203B41FA5}">
                      <a16:colId xmlns:a16="http://schemas.microsoft.com/office/drawing/2014/main" val="132036704"/>
                    </a:ext>
                  </a:extLst>
                </a:gridCol>
                <a:gridCol w="1249156">
                  <a:extLst>
                    <a:ext uri="{9D8B030D-6E8A-4147-A177-3AD203B41FA5}">
                      <a16:colId xmlns:a16="http://schemas.microsoft.com/office/drawing/2014/main" val="3966369318"/>
                    </a:ext>
                  </a:extLst>
                </a:gridCol>
                <a:gridCol w="1232136">
                  <a:extLst>
                    <a:ext uri="{9D8B030D-6E8A-4147-A177-3AD203B41FA5}">
                      <a16:colId xmlns:a16="http://schemas.microsoft.com/office/drawing/2014/main" val="3784477975"/>
                    </a:ext>
                  </a:extLst>
                </a:gridCol>
                <a:gridCol w="1190955">
                  <a:extLst>
                    <a:ext uri="{9D8B030D-6E8A-4147-A177-3AD203B41FA5}">
                      <a16:colId xmlns:a16="http://schemas.microsoft.com/office/drawing/2014/main" val="704082292"/>
                    </a:ext>
                  </a:extLst>
                </a:gridCol>
                <a:gridCol w="1526991">
                  <a:extLst>
                    <a:ext uri="{9D8B030D-6E8A-4147-A177-3AD203B41FA5}">
                      <a16:colId xmlns:a16="http://schemas.microsoft.com/office/drawing/2014/main" val="777276634"/>
                    </a:ext>
                  </a:extLst>
                </a:gridCol>
              </a:tblGrid>
              <a:tr h="889306">
                <a:tc>
                  <a:txBody>
                    <a:bodyPr/>
                    <a:lstStyle/>
                    <a:p>
                      <a:endParaRPr lang="en-US" sz="2000" dirty="0"/>
                    </a:p>
                  </a:txBody>
                  <a:tcPr/>
                </a:tc>
                <a:tc>
                  <a:txBody>
                    <a:bodyPr/>
                    <a:lstStyle/>
                    <a:p>
                      <a:pPr algn="ctr"/>
                      <a:r>
                        <a:rPr lang="en-US" sz="2000" dirty="0"/>
                        <a:t>N</a:t>
                      </a:r>
                    </a:p>
                  </a:txBody>
                  <a:tcPr/>
                </a:tc>
                <a:tc>
                  <a:txBody>
                    <a:bodyPr/>
                    <a:lstStyle/>
                    <a:p>
                      <a:r>
                        <a:rPr lang="en-US" sz="2000" dirty="0"/>
                        <a:t>Minimum</a:t>
                      </a:r>
                    </a:p>
                  </a:txBody>
                  <a:tcPr/>
                </a:tc>
                <a:tc>
                  <a:txBody>
                    <a:bodyPr/>
                    <a:lstStyle/>
                    <a:p>
                      <a:r>
                        <a:rPr lang="en-US" sz="2000" dirty="0"/>
                        <a:t>Maximum</a:t>
                      </a:r>
                    </a:p>
                  </a:txBody>
                  <a:tcPr/>
                </a:tc>
                <a:tc>
                  <a:txBody>
                    <a:bodyPr/>
                    <a:lstStyle/>
                    <a:p>
                      <a:r>
                        <a:rPr lang="en-US" sz="2000" dirty="0"/>
                        <a:t>Mean Statistics</a:t>
                      </a:r>
                    </a:p>
                  </a:txBody>
                  <a:tcPr/>
                </a:tc>
                <a:tc>
                  <a:txBody>
                    <a:bodyPr/>
                    <a:lstStyle/>
                    <a:p>
                      <a:r>
                        <a:rPr lang="en-US" sz="2000" dirty="0"/>
                        <a:t>Standard Deviation</a:t>
                      </a:r>
                    </a:p>
                  </a:txBody>
                  <a:tcPr/>
                </a:tc>
                <a:extLst>
                  <a:ext uri="{0D108BD9-81ED-4DB2-BD59-A6C34878D82A}">
                    <a16:rowId xmlns:a16="http://schemas.microsoft.com/office/drawing/2014/main" val="3372788501"/>
                  </a:ext>
                </a:extLst>
              </a:tr>
              <a:tr h="712207">
                <a:tc>
                  <a:txBody>
                    <a:bodyPr/>
                    <a:lstStyle/>
                    <a:p>
                      <a:r>
                        <a:rPr lang="en-US" sz="2000" dirty="0"/>
                        <a:t>Brazil</a:t>
                      </a:r>
                    </a:p>
                  </a:txBody>
                  <a:tcPr/>
                </a:tc>
                <a:tc>
                  <a:txBody>
                    <a:bodyPr/>
                    <a:lstStyle/>
                    <a:p>
                      <a:pPr algn="ctr"/>
                      <a:r>
                        <a:rPr lang="en-US" sz="2000" dirty="0"/>
                        <a:t>23</a:t>
                      </a:r>
                    </a:p>
                  </a:txBody>
                  <a:tcPr/>
                </a:tc>
                <a:tc>
                  <a:txBody>
                    <a:bodyPr/>
                    <a:lstStyle/>
                    <a:p>
                      <a:r>
                        <a:rPr lang="en-US" sz="2000" dirty="0"/>
                        <a:t>55.8</a:t>
                      </a:r>
                    </a:p>
                  </a:txBody>
                  <a:tcPr/>
                </a:tc>
                <a:tc>
                  <a:txBody>
                    <a:bodyPr/>
                    <a:lstStyle/>
                    <a:p>
                      <a:r>
                        <a:rPr lang="en-US" sz="2000" dirty="0"/>
                        <a:t>83.1</a:t>
                      </a:r>
                    </a:p>
                  </a:txBody>
                  <a:tcPr/>
                </a:tc>
                <a:tc>
                  <a:txBody>
                    <a:bodyPr/>
                    <a:lstStyle/>
                    <a:p>
                      <a:pPr marL="0" marR="38100" algn="l" rtl="0" eaLnBrk="1" latinLnBrk="0" hangingPunct="1">
                        <a:lnSpc>
                          <a:spcPts val="1600"/>
                        </a:lnSpc>
                        <a:spcBef>
                          <a:spcPts val="0"/>
                        </a:spcBef>
                        <a:spcAft>
                          <a:spcPts val="0"/>
                        </a:spcAft>
                      </a:pPr>
                      <a:endParaRPr kumimoji="0" lang="en-US" sz="2000" kern="1200" dirty="0">
                        <a:solidFill>
                          <a:schemeClr val="tx1"/>
                        </a:solidFill>
                        <a:latin typeface="+mn-lt"/>
                        <a:ea typeface="+mn-ea"/>
                        <a:cs typeface="+mn-cs"/>
                      </a:endParaRPr>
                    </a:p>
                    <a:p>
                      <a:pPr marL="0" marR="38100" algn="l" rtl="0" eaLnBrk="1" latinLnBrk="0" hangingPunct="1">
                        <a:lnSpc>
                          <a:spcPts val="1600"/>
                        </a:lnSpc>
                        <a:spcBef>
                          <a:spcPts val="0"/>
                        </a:spcBef>
                        <a:spcAft>
                          <a:spcPts val="0"/>
                        </a:spcAft>
                      </a:pPr>
                      <a:r>
                        <a:rPr kumimoji="0" lang="en-US" sz="2000" kern="1200" dirty="0">
                          <a:solidFill>
                            <a:schemeClr val="tx1"/>
                          </a:solidFill>
                          <a:latin typeface="+mn-lt"/>
                          <a:ea typeface="+mn-ea"/>
                          <a:cs typeface="+mn-cs"/>
                        </a:rPr>
                        <a:t>  70.200</a:t>
                      </a:r>
                    </a:p>
                  </a:txBody>
                  <a:tcPr marL="0" marR="0" marT="0" marB="0"/>
                </a:tc>
                <a:tc>
                  <a:txBody>
                    <a:bodyPr/>
                    <a:lstStyle/>
                    <a:p>
                      <a:pPr marL="38100" marR="38100" algn="just">
                        <a:lnSpc>
                          <a:spcPts val="1600"/>
                        </a:lnSpc>
                        <a:spcBef>
                          <a:spcPts val="0"/>
                        </a:spcBef>
                        <a:spcAft>
                          <a:spcPts val="0"/>
                        </a:spcAft>
                      </a:pPr>
                      <a:endParaRPr kumimoji="0" lang="en-US" sz="2000" kern="1200" dirty="0">
                        <a:solidFill>
                          <a:schemeClr val="tx1"/>
                        </a:solidFill>
                        <a:latin typeface="+mn-lt"/>
                        <a:ea typeface="+mn-ea"/>
                        <a:cs typeface="+mn-cs"/>
                      </a:endParaRPr>
                    </a:p>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9.1732</a:t>
                      </a:r>
                    </a:p>
                  </a:txBody>
                  <a:tcPr marL="0" marR="0" marT="0" marB="0"/>
                </a:tc>
                <a:extLst>
                  <a:ext uri="{0D108BD9-81ED-4DB2-BD59-A6C34878D82A}">
                    <a16:rowId xmlns:a16="http://schemas.microsoft.com/office/drawing/2014/main" val="2702480449"/>
                  </a:ext>
                </a:extLst>
              </a:tr>
              <a:tr h="712207">
                <a:tc>
                  <a:txBody>
                    <a:bodyPr/>
                    <a:lstStyle/>
                    <a:p>
                      <a:r>
                        <a:rPr lang="en-US" sz="2000" dirty="0"/>
                        <a:t>India</a:t>
                      </a:r>
                    </a:p>
                  </a:txBody>
                  <a:tcPr/>
                </a:tc>
                <a:tc>
                  <a:txBody>
                    <a:bodyPr/>
                    <a:lstStyle/>
                    <a:p>
                      <a:pPr algn="ctr"/>
                      <a:r>
                        <a:rPr lang="en-US" sz="2000" dirty="0"/>
                        <a:t>23</a:t>
                      </a:r>
                    </a:p>
                  </a:txBody>
                  <a:tcPr/>
                </a:tc>
                <a:tc>
                  <a:txBody>
                    <a:bodyPr/>
                    <a:lstStyle/>
                    <a:p>
                      <a:r>
                        <a:rPr lang="en-US" sz="2000" dirty="0"/>
                        <a:t>6.8</a:t>
                      </a:r>
                    </a:p>
                  </a:txBody>
                  <a:tcPr/>
                </a:tc>
                <a:tc>
                  <a:txBody>
                    <a:bodyPr/>
                    <a:lstStyle/>
                    <a:p>
                      <a:r>
                        <a:rPr lang="en-US" sz="2000" dirty="0"/>
                        <a:t>62.5</a:t>
                      </a:r>
                    </a:p>
                  </a:txBody>
                  <a:tcPr/>
                </a:tc>
                <a:tc>
                  <a:txBody>
                    <a:bodyPr/>
                    <a:lstStyle/>
                    <a:p>
                      <a:pPr marL="0" marR="38100" algn="l" rtl="0" eaLnBrk="1" latinLnBrk="0" hangingPunct="1">
                        <a:lnSpc>
                          <a:spcPts val="1600"/>
                        </a:lnSpc>
                        <a:spcBef>
                          <a:spcPts val="0"/>
                        </a:spcBef>
                        <a:spcAft>
                          <a:spcPts val="0"/>
                        </a:spcAft>
                      </a:pPr>
                      <a:endParaRPr kumimoji="0" lang="en-US" sz="2000" kern="1200" dirty="0">
                        <a:solidFill>
                          <a:schemeClr val="tx1"/>
                        </a:solidFill>
                        <a:latin typeface="+mn-lt"/>
                        <a:ea typeface="+mn-ea"/>
                        <a:cs typeface="+mn-cs"/>
                      </a:endParaRPr>
                    </a:p>
                    <a:p>
                      <a:pPr marL="0" marR="38100" algn="l" rtl="0" eaLnBrk="1" latinLnBrk="0" hangingPunct="1">
                        <a:lnSpc>
                          <a:spcPts val="1600"/>
                        </a:lnSpc>
                        <a:spcBef>
                          <a:spcPts val="0"/>
                        </a:spcBef>
                        <a:spcAft>
                          <a:spcPts val="0"/>
                        </a:spcAft>
                      </a:pPr>
                      <a:r>
                        <a:rPr kumimoji="0" lang="en-US" sz="2000" kern="1200" dirty="0">
                          <a:solidFill>
                            <a:schemeClr val="tx1"/>
                          </a:solidFill>
                          <a:latin typeface="+mn-lt"/>
                          <a:ea typeface="+mn-ea"/>
                          <a:cs typeface="+mn-cs"/>
                        </a:rPr>
                        <a:t>  23.489</a:t>
                      </a:r>
                    </a:p>
                  </a:txBody>
                  <a:tcPr marL="0" marR="0" marT="0" marB="0"/>
                </a:tc>
                <a:tc>
                  <a:txBody>
                    <a:bodyPr/>
                    <a:lstStyle/>
                    <a:p>
                      <a:pPr marL="38100" marR="38100" algn="just">
                        <a:lnSpc>
                          <a:spcPts val="1600"/>
                        </a:lnSpc>
                        <a:spcBef>
                          <a:spcPts val="0"/>
                        </a:spcBef>
                        <a:spcAft>
                          <a:spcPts val="0"/>
                        </a:spcAft>
                      </a:pPr>
                      <a:endParaRPr kumimoji="0" lang="en-US" sz="2000" kern="1200" dirty="0">
                        <a:solidFill>
                          <a:schemeClr val="tx1"/>
                        </a:solidFill>
                        <a:latin typeface="+mn-lt"/>
                        <a:ea typeface="+mn-ea"/>
                        <a:cs typeface="+mn-cs"/>
                      </a:endParaRPr>
                    </a:p>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17.3269</a:t>
                      </a:r>
                    </a:p>
                  </a:txBody>
                  <a:tcPr marL="0" marR="0" marT="0" marB="0"/>
                </a:tc>
                <a:extLst>
                  <a:ext uri="{0D108BD9-81ED-4DB2-BD59-A6C34878D82A}">
                    <a16:rowId xmlns:a16="http://schemas.microsoft.com/office/drawing/2014/main" val="1823108777"/>
                  </a:ext>
                </a:extLst>
              </a:tr>
              <a:tr h="712207">
                <a:tc>
                  <a:txBody>
                    <a:bodyPr/>
                    <a:lstStyle/>
                    <a:p>
                      <a:r>
                        <a:rPr lang="en-US" sz="2000" dirty="0"/>
                        <a:t>South Africa</a:t>
                      </a:r>
                    </a:p>
                  </a:txBody>
                  <a:tcPr/>
                </a:tc>
                <a:tc>
                  <a:txBody>
                    <a:bodyPr/>
                    <a:lstStyle/>
                    <a:p>
                      <a:pPr algn="ctr"/>
                      <a:r>
                        <a:rPr lang="en-US" sz="2000" dirty="0"/>
                        <a:t>23</a:t>
                      </a:r>
                    </a:p>
                  </a:txBody>
                  <a:tcPr/>
                </a:tc>
                <a:tc>
                  <a:txBody>
                    <a:bodyPr/>
                    <a:lstStyle/>
                    <a:p>
                      <a:r>
                        <a:rPr lang="en-US" sz="2000" dirty="0"/>
                        <a:t>29.6</a:t>
                      </a:r>
                    </a:p>
                  </a:txBody>
                  <a:tcPr/>
                </a:tc>
                <a:tc>
                  <a:txBody>
                    <a:bodyPr/>
                    <a:lstStyle/>
                    <a:p>
                      <a:r>
                        <a:rPr lang="en-US" sz="2000" dirty="0"/>
                        <a:t>71.4</a:t>
                      </a:r>
                    </a:p>
                  </a:txBody>
                  <a:tcPr/>
                </a:tc>
                <a:tc>
                  <a:txBody>
                    <a:bodyPr/>
                    <a:lstStyle/>
                    <a:p>
                      <a:pPr marL="0" marR="38100" algn="l" rtl="0" eaLnBrk="1" latinLnBrk="0" hangingPunct="1">
                        <a:lnSpc>
                          <a:spcPts val="1600"/>
                        </a:lnSpc>
                        <a:spcBef>
                          <a:spcPts val="0"/>
                        </a:spcBef>
                        <a:spcAft>
                          <a:spcPts val="0"/>
                        </a:spcAft>
                      </a:pPr>
                      <a:endParaRPr kumimoji="0" lang="en-US" sz="2000" kern="1200" dirty="0">
                        <a:solidFill>
                          <a:schemeClr val="tx1"/>
                        </a:solidFill>
                        <a:latin typeface="+mn-lt"/>
                        <a:ea typeface="+mn-ea"/>
                        <a:cs typeface="+mn-cs"/>
                      </a:endParaRPr>
                    </a:p>
                    <a:p>
                      <a:pPr marL="0" marR="38100" algn="l" rtl="0" eaLnBrk="1" latinLnBrk="0" hangingPunct="1">
                        <a:lnSpc>
                          <a:spcPts val="1600"/>
                        </a:lnSpc>
                        <a:spcBef>
                          <a:spcPts val="0"/>
                        </a:spcBef>
                        <a:spcAft>
                          <a:spcPts val="0"/>
                        </a:spcAft>
                      </a:pPr>
                      <a:r>
                        <a:rPr kumimoji="0" lang="en-US" sz="2000" kern="1200" dirty="0">
                          <a:solidFill>
                            <a:schemeClr val="tx1"/>
                          </a:solidFill>
                          <a:latin typeface="+mn-lt"/>
                          <a:ea typeface="+mn-ea"/>
                          <a:cs typeface="+mn-cs"/>
                        </a:rPr>
                        <a:t>  54.411</a:t>
                      </a:r>
                    </a:p>
                  </a:txBody>
                  <a:tcPr marL="0" marR="0" marT="0" marB="0"/>
                </a:tc>
                <a:tc>
                  <a:txBody>
                    <a:bodyPr/>
                    <a:lstStyle/>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a:t>
                      </a:r>
                    </a:p>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13.3044</a:t>
                      </a:r>
                    </a:p>
                  </a:txBody>
                  <a:tcPr marL="0" marR="0" marT="0" marB="0"/>
                </a:tc>
                <a:extLst>
                  <a:ext uri="{0D108BD9-81ED-4DB2-BD59-A6C34878D82A}">
                    <a16:rowId xmlns:a16="http://schemas.microsoft.com/office/drawing/2014/main" val="2489274447"/>
                  </a:ext>
                </a:extLst>
              </a:tr>
              <a:tr h="712207">
                <a:tc>
                  <a:txBody>
                    <a:bodyPr/>
                    <a:lstStyle/>
                    <a:p>
                      <a:r>
                        <a:rPr lang="en-US" sz="2000" dirty="0"/>
                        <a:t>China</a:t>
                      </a:r>
                    </a:p>
                  </a:txBody>
                  <a:tcPr/>
                </a:tc>
                <a:tc>
                  <a:txBody>
                    <a:bodyPr/>
                    <a:lstStyle/>
                    <a:p>
                      <a:pPr algn="ctr"/>
                      <a:r>
                        <a:rPr lang="en-US" sz="2000" dirty="0"/>
                        <a:t>23</a:t>
                      </a:r>
                    </a:p>
                  </a:txBody>
                  <a:tcPr/>
                </a:tc>
                <a:tc>
                  <a:txBody>
                    <a:bodyPr/>
                    <a:lstStyle/>
                    <a:p>
                      <a:r>
                        <a:rPr lang="en-US" sz="2000" dirty="0"/>
                        <a:t>22.0</a:t>
                      </a:r>
                    </a:p>
                  </a:txBody>
                  <a:tcPr/>
                </a:tc>
                <a:tc>
                  <a:txBody>
                    <a:bodyPr/>
                    <a:lstStyle/>
                    <a:p>
                      <a:r>
                        <a:rPr lang="en-US" sz="2000" dirty="0"/>
                        <a:t>75.8</a:t>
                      </a:r>
                    </a:p>
                  </a:txBody>
                  <a:tcPr/>
                </a:tc>
                <a:tc>
                  <a:txBody>
                    <a:bodyPr/>
                    <a:lstStyle/>
                    <a:p>
                      <a:pPr marL="38100" marR="38100" algn="just">
                        <a:lnSpc>
                          <a:spcPts val="1600"/>
                        </a:lnSpc>
                        <a:spcBef>
                          <a:spcPts val="0"/>
                        </a:spcBef>
                        <a:spcAft>
                          <a:spcPts val="0"/>
                        </a:spcAft>
                      </a:pPr>
                      <a:endParaRPr kumimoji="0" lang="en-US" sz="2000" kern="1200" dirty="0">
                        <a:solidFill>
                          <a:schemeClr val="tx1"/>
                        </a:solidFill>
                        <a:latin typeface="+mn-lt"/>
                        <a:ea typeface="+mn-ea"/>
                        <a:cs typeface="+mn-cs"/>
                      </a:endParaRPr>
                    </a:p>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41.448</a:t>
                      </a:r>
                    </a:p>
                  </a:txBody>
                  <a:tcPr marL="0" marR="0" marT="0" marB="0"/>
                </a:tc>
                <a:tc>
                  <a:txBody>
                    <a:bodyPr/>
                    <a:lstStyle/>
                    <a:p>
                      <a:pPr marL="0" marR="38100" algn="l" rtl="0" eaLnBrk="1" latinLnBrk="0" hangingPunct="1">
                        <a:lnSpc>
                          <a:spcPts val="1600"/>
                        </a:lnSpc>
                        <a:spcBef>
                          <a:spcPts val="0"/>
                        </a:spcBef>
                        <a:spcAft>
                          <a:spcPts val="0"/>
                        </a:spcAft>
                      </a:pPr>
                      <a:endParaRPr kumimoji="0" lang="en-US" sz="2000" kern="1200" dirty="0">
                        <a:solidFill>
                          <a:schemeClr val="tx1"/>
                        </a:solidFill>
                        <a:latin typeface="+mn-lt"/>
                        <a:ea typeface="+mn-ea"/>
                        <a:cs typeface="+mn-cs"/>
                      </a:endParaRPr>
                    </a:p>
                    <a:p>
                      <a:pPr marL="0" marR="38100" algn="l" rtl="0" eaLnBrk="1" latinLnBrk="0" hangingPunct="1">
                        <a:lnSpc>
                          <a:spcPts val="1600"/>
                        </a:lnSpc>
                        <a:spcBef>
                          <a:spcPts val="0"/>
                        </a:spcBef>
                        <a:spcAft>
                          <a:spcPts val="0"/>
                        </a:spcAft>
                      </a:pPr>
                      <a:r>
                        <a:rPr kumimoji="0" lang="en-US" sz="2000" kern="1200" dirty="0">
                          <a:solidFill>
                            <a:schemeClr val="tx1"/>
                          </a:solidFill>
                          <a:latin typeface="+mn-lt"/>
                          <a:ea typeface="+mn-ea"/>
                          <a:cs typeface="+mn-cs"/>
                        </a:rPr>
                        <a:t>   18.5406</a:t>
                      </a:r>
                    </a:p>
                  </a:txBody>
                  <a:tcPr marL="0" marR="0" marT="0" marB="0"/>
                </a:tc>
                <a:extLst>
                  <a:ext uri="{0D108BD9-81ED-4DB2-BD59-A6C34878D82A}">
                    <a16:rowId xmlns:a16="http://schemas.microsoft.com/office/drawing/2014/main" val="403242813"/>
                  </a:ext>
                </a:extLst>
              </a:tr>
              <a:tr h="712207">
                <a:tc>
                  <a:txBody>
                    <a:bodyPr/>
                    <a:lstStyle/>
                    <a:p>
                      <a:r>
                        <a:rPr lang="en-US" sz="2000" dirty="0"/>
                        <a:t>Russia</a:t>
                      </a:r>
                    </a:p>
                  </a:txBody>
                  <a:tcPr/>
                </a:tc>
                <a:tc>
                  <a:txBody>
                    <a:bodyPr/>
                    <a:lstStyle/>
                    <a:p>
                      <a:pPr algn="ctr"/>
                      <a:r>
                        <a:rPr lang="en-US" sz="2000" dirty="0"/>
                        <a:t>23</a:t>
                      </a:r>
                    </a:p>
                  </a:txBody>
                  <a:tcPr/>
                </a:tc>
                <a:tc>
                  <a:txBody>
                    <a:bodyPr/>
                    <a:lstStyle/>
                    <a:p>
                      <a:r>
                        <a:rPr lang="en-US" sz="2000" dirty="0"/>
                        <a:t>98.9</a:t>
                      </a:r>
                    </a:p>
                  </a:txBody>
                  <a:tcPr/>
                </a:tc>
                <a:tc>
                  <a:txBody>
                    <a:bodyPr/>
                    <a:lstStyle/>
                    <a:p>
                      <a:r>
                        <a:rPr lang="en-US" sz="2000" dirty="0"/>
                        <a:t>99.9</a:t>
                      </a:r>
                    </a:p>
                  </a:txBody>
                  <a:tcPr/>
                </a:tc>
                <a:tc>
                  <a:txBody>
                    <a:bodyPr/>
                    <a:lstStyle/>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a:t>
                      </a:r>
                    </a:p>
                    <a:p>
                      <a:pPr marL="38100" marR="38100" algn="just">
                        <a:lnSpc>
                          <a:spcPts val="1600"/>
                        </a:lnSpc>
                        <a:spcBef>
                          <a:spcPts val="0"/>
                        </a:spcBef>
                        <a:spcAft>
                          <a:spcPts val="0"/>
                        </a:spcAft>
                      </a:pPr>
                      <a:r>
                        <a:rPr kumimoji="0" lang="en-US" sz="2000" kern="1200" dirty="0">
                          <a:solidFill>
                            <a:schemeClr val="tx1"/>
                          </a:solidFill>
                          <a:latin typeface="+mn-lt"/>
                          <a:ea typeface="+mn-ea"/>
                          <a:cs typeface="+mn-cs"/>
                        </a:rPr>
                        <a:t>  99.291</a:t>
                      </a:r>
                    </a:p>
                  </a:txBody>
                  <a:tcPr marL="0" marR="0" marT="0" marB="0"/>
                </a:tc>
                <a:tc>
                  <a:txBody>
                    <a:bodyPr/>
                    <a:lstStyle/>
                    <a:p>
                      <a:pPr marL="0" marR="38100" algn="l" rtl="0" eaLnBrk="1" latinLnBrk="0" hangingPunct="1">
                        <a:lnSpc>
                          <a:spcPts val="1600"/>
                        </a:lnSpc>
                        <a:spcBef>
                          <a:spcPts val="0"/>
                        </a:spcBef>
                        <a:spcAft>
                          <a:spcPts val="0"/>
                        </a:spcAft>
                      </a:pPr>
                      <a:endParaRPr kumimoji="0" lang="en-US" sz="2000" kern="1200" dirty="0">
                        <a:solidFill>
                          <a:schemeClr val="tx1"/>
                        </a:solidFill>
                        <a:latin typeface="+mn-lt"/>
                        <a:ea typeface="+mn-ea"/>
                        <a:cs typeface="+mn-cs"/>
                      </a:endParaRPr>
                    </a:p>
                    <a:p>
                      <a:pPr marL="0" marR="38100" algn="l" rtl="0" eaLnBrk="1" latinLnBrk="0" hangingPunct="1">
                        <a:lnSpc>
                          <a:spcPts val="1600"/>
                        </a:lnSpc>
                        <a:spcBef>
                          <a:spcPts val="0"/>
                        </a:spcBef>
                        <a:spcAft>
                          <a:spcPts val="0"/>
                        </a:spcAft>
                      </a:pPr>
                      <a:r>
                        <a:rPr kumimoji="0" lang="en-US" sz="2000" kern="1200" dirty="0">
                          <a:solidFill>
                            <a:schemeClr val="tx1"/>
                          </a:solidFill>
                          <a:latin typeface="+mn-lt"/>
                          <a:ea typeface="+mn-ea"/>
                          <a:cs typeface="+mn-cs"/>
                        </a:rPr>
                        <a:t>   .3260</a:t>
                      </a:r>
                    </a:p>
                  </a:txBody>
                  <a:tcPr marL="0" marR="0" marT="0" marB="0"/>
                </a:tc>
                <a:extLst>
                  <a:ext uri="{0D108BD9-81ED-4DB2-BD59-A6C34878D82A}">
                    <a16:rowId xmlns:a16="http://schemas.microsoft.com/office/drawing/2014/main" val="764446375"/>
                  </a:ext>
                </a:extLst>
              </a:tr>
              <a:tr h="712207">
                <a:tc>
                  <a:txBody>
                    <a:bodyPr/>
                    <a:lstStyle/>
                    <a:p>
                      <a:r>
                        <a:rPr lang="en-US" sz="2000" dirty="0"/>
                        <a:t>Nigeria</a:t>
                      </a:r>
                    </a:p>
                  </a:txBody>
                  <a:tcPr/>
                </a:tc>
                <a:tc>
                  <a:txBody>
                    <a:bodyPr/>
                    <a:lstStyle/>
                    <a:p>
                      <a:pPr algn="ctr"/>
                      <a:r>
                        <a:rPr lang="en-US" sz="2000" dirty="0"/>
                        <a:t>23</a:t>
                      </a:r>
                    </a:p>
                  </a:txBody>
                  <a:tcPr/>
                </a:tc>
                <a:tc>
                  <a:txBody>
                    <a:bodyPr/>
                    <a:lstStyle/>
                    <a:p>
                      <a:r>
                        <a:rPr lang="en-US" sz="2000" dirty="0"/>
                        <a:t>3</a:t>
                      </a:r>
                    </a:p>
                  </a:txBody>
                  <a:tcPr/>
                </a:tc>
                <a:tc>
                  <a:txBody>
                    <a:bodyPr/>
                    <a:lstStyle/>
                    <a:p>
                      <a:r>
                        <a:rPr lang="en-US" sz="2000" dirty="0"/>
                        <a:t>10.8</a:t>
                      </a:r>
                    </a:p>
                  </a:txBody>
                  <a:tcPr/>
                </a:tc>
                <a:tc>
                  <a:txBody>
                    <a:bodyPr/>
                    <a:lstStyle/>
                    <a:p>
                      <a:r>
                        <a:rPr kumimoji="0" lang="en-US" sz="2000" kern="1200" dirty="0">
                          <a:solidFill>
                            <a:schemeClr val="tx1"/>
                          </a:solidFill>
                          <a:effectLst/>
                          <a:latin typeface="+mn-lt"/>
                          <a:ea typeface="+mn-ea"/>
                          <a:cs typeface="+mn-cs"/>
                        </a:rPr>
                        <a:t>2.448</a:t>
                      </a:r>
                      <a:endParaRPr lang="en-US" sz="2000" dirty="0"/>
                    </a:p>
                  </a:txBody>
                  <a:tcPr/>
                </a:tc>
                <a:tc>
                  <a:txBody>
                    <a:bodyPr/>
                    <a:lstStyle/>
                    <a:p>
                      <a:r>
                        <a:rPr lang="en-US" sz="2000" dirty="0">
                          <a:solidFill>
                            <a:srgbClr val="000000"/>
                          </a:solidFill>
                          <a:effectLst/>
                          <a:latin typeface="Times New Roman" panose="02020603050405020304" pitchFamily="18" charset="0"/>
                          <a:ea typeface="Calibri" panose="020F0502020204030204" pitchFamily="34" charset="0"/>
                        </a:rPr>
                        <a:t> 3.1444 </a:t>
                      </a:r>
                      <a:endParaRPr lang="en-US" sz="2000" dirty="0"/>
                    </a:p>
                  </a:txBody>
                  <a:tcPr/>
                </a:tc>
                <a:extLst>
                  <a:ext uri="{0D108BD9-81ED-4DB2-BD59-A6C34878D82A}">
                    <a16:rowId xmlns:a16="http://schemas.microsoft.com/office/drawing/2014/main" val="2737313809"/>
                  </a:ext>
                </a:extLst>
              </a:tr>
            </a:tbl>
          </a:graphicData>
        </a:graphic>
      </p:graphicFrame>
    </p:spTree>
    <p:extLst>
      <p:ext uri="{BB962C8B-B14F-4D97-AF65-F5344CB8AC3E}">
        <p14:creationId xmlns:p14="http://schemas.microsoft.com/office/powerpoint/2010/main" val="200527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6CE080-7B1A-423C-BDEF-F6BFF41B15CB}"/>
              </a:ext>
            </a:extLst>
          </p:cNvPr>
          <p:cNvSpPr>
            <a:spLocks noGrp="1"/>
          </p:cNvSpPr>
          <p:nvPr>
            <p:ph type="sldNum" sz="quarter" idx="12"/>
          </p:nvPr>
        </p:nvSpPr>
        <p:spPr/>
        <p:txBody>
          <a:bodyPr/>
          <a:lstStyle/>
          <a:p>
            <a:fld id="{41C3B027-99D8-4500-AA7E-8D849F3A1F09}" type="slidenum">
              <a:rPr lang="en-US" smtClean="0"/>
              <a:pPr/>
              <a:t>16</a:t>
            </a:fld>
            <a:endParaRPr lang="en-US" dirty="0"/>
          </a:p>
        </p:txBody>
      </p:sp>
      <p:graphicFrame>
        <p:nvGraphicFramePr>
          <p:cNvPr id="5" name="Chart 4">
            <a:extLst>
              <a:ext uri="{FF2B5EF4-FFF2-40B4-BE49-F238E27FC236}">
                <a16:creationId xmlns:a16="http://schemas.microsoft.com/office/drawing/2014/main" id="{A026EB50-A588-4C70-A188-650320B6B348}"/>
              </a:ext>
            </a:extLst>
          </p:cNvPr>
          <p:cNvGraphicFramePr>
            <a:graphicFrameLocks/>
          </p:cNvGraphicFramePr>
          <p:nvPr>
            <p:extLst>
              <p:ext uri="{D42A27DB-BD31-4B8C-83A1-F6EECF244321}">
                <p14:modId xmlns:p14="http://schemas.microsoft.com/office/powerpoint/2010/main" val="3270538706"/>
              </p:ext>
            </p:extLst>
          </p:nvPr>
        </p:nvGraphicFramePr>
        <p:xfrm>
          <a:off x="228600" y="685800"/>
          <a:ext cx="8385048" cy="5715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46420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186EA8EA-9753-48B9-B4BE-BAB86A41C0FB}"/>
              </a:ext>
            </a:extLst>
          </p:cNvPr>
          <p:cNvGraphicFramePr>
            <a:graphicFrameLocks noGrp="1"/>
          </p:cNvGraphicFramePr>
          <p:nvPr>
            <p:ph idx="1"/>
            <p:extLst>
              <p:ext uri="{D42A27DB-BD31-4B8C-83A1-F6EECF244321}">
                <p14:modId xmlns:p14="http://schemas.microsoft.com/office/powerpoint/2010/main" val="2561501445"/>
              </p:ext>
            </p:extLst>
          </p:nvPr>
        </p:nvGraphicFramePr>
        <p:xfrm>
          <a:off x="381000" y="1422568"/>
          <a:ext cx="8461248" cy="1860550"/>
        </p:xfrm>
        <a:graphic>
          <a:graphicData uri="http://schemas.openxmlformats.org/drawingml/2006/table">
            <a:tbl>
              <a:tblPr/>
              <a:tblGrid>
                <a:gridCol w="2907370">
                  <a:extLst>
                    <a:ext uri="{9D8B030D-6E8A-4147-A177-3AD203B41FA5}">
                      <a16:colId xmlns:a16="http://schemas.microsoft.com/office/drawing/2014/main" val="3656748328"/>
                    </a:ext>
                  </a:extLst>
                </a:gridCol>
                <a:gridCol w="2445744">
                  <a:extLst>
                    <a:ext uri="{9D8B030D-6E8A-4147-A177-3AD203B41FA5}">
                      <a16:colId xmlns:a16="http://schemas.microsoft.com/office/drawing/2014/main" val="529387971"/>
                    </a:ext>
                  </a:extLst>
                </a:gridCol>
                <a:gridCol w="3108134">
                  <a:extLst>
                    <a:ext uri="{9D8B030D-6E8A-4147-A177-3AD203B41FA5}">
                      <a16:colId xmlns:a16="http://schemas.microsoft.com/office/drawing/2014/main" val="2183990493"/>
                    </a:ext>
                  </a:extLst>
                </a:gridCol>
              </a:tblGrid>
              <a:tr h="279366">
                <a:tc>
                  <a:txBody>
                    <a:bodyPr/>
                    <a:lstStyle/>
                    <a:p>
                      <a:pPr algn="l" fontAlgn="b"/>
                      <a:endParaRPr lang="en-US" sz="24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1" i="0" u="none" strike="noStrike" dirty="0">
                          <a:solidFill>
                            <a:srgbClr val="000000"/>
                          </a:solidFill>
                          <a:effectLst/>
                          <a:latin typeface="Calibri" panose="020F0502020204030204" pitchFamily="34" charset="0"/>
                        </a:rPr>
                        <a:t>Nigeria</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1" i="0" u="none" strike="noStrike" dirty="0">
                          <a:solidFill>
                            <a:srgbClr val="000000"/>
                          </a:solidFill>
                          <a:effectLst/>
                          <a:latin typeface="Calibri" panose="020F0502020204030204" pitchFamily="34" charset="0"/>
                        </a:rPr>
                        <a:t>BRICS Avg</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825604576"/>
                  </a:ext>
                </a:extLst>
              </a:tr>
              <a:tr h="279366">
                <a:tc>
                  <a:txBody>
                    <a:bodyPr/>
                    <a:lstStyle/>
                    <a:p>
                      <a:pPr algn="l" fontAlgn="b"/>
                      <a:r>
                        <a:rPr lang="en-US" sz="2400" b="0" i="0" u="none" strike="noStrike">
                          <a:solidFill>
                            <a:srgbClr val="000000"/>
                          </a:solidFill>
                          <a:effectLst/>
                          <a:latin typeface="Calibri" panose="020F0502020204030204" pitchFamily="34" charset="0"/>
                        </a:rPr>
                        <a:t>Nigeria</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tc>
                  <a:txBody>
                    <a:bodyPr/>
                    <a:lstStyle/>
                    <a:p>
                      <a:pPr algn="ctr" fontAlgn="b"/>
                      <a:r>
                        <a:rPr lang="en-US" sz="2400" b="0"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tc>
                  <a:txBody>
                    <a:bodyPr/>
                    <a:lstStyle/>
                    <a:p>
                      <a:pPr algn="ctr" fontAlgn="b"/>
                      <a:r>
                        <a:rPr lang="en-US" sz="2400" b="0" i="0" u="none" strike="noStrike" dirty="0">
                          <a:solidFill>
                            <a:srgbClr val="000000"/>
                          </a:solidFill>
                          <a:effectLst/>
                          <a:latin typeface="Calibri" panose="020F0502020204030204" pitchFamily="34" charset="0"/>
                        </a:rPr>
                        <a:t>0.896</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extLst>
                  <a:ext uri="{0D108BD9-81ED-4DB2-BD59-A6C34878D82A}">
                    <a16:rowId xmlns:a16="http://schemas.microsoft.com/office/drawing/2014/main" val="2813037466"/>
                  </a:ext>
                </a:extLst>
              </a:tr>
              <a:tr h="279366">
                <a:tc>
                  <a:txBody>
                    <a:bodyPr/>
                    <a:lstStyle/>
                    <a:p>
                      <a:pPr algn="l" fontAlgn="b"/>
                      <a:r>
                        <a:rPr lang="en-US" sz="2400" b="0" i="0" u="none" strike="noStrike" dirty="0">
                          <a:solidFill>
                            <a:srgbClr val="000000"/>
                          </a:solidFill>
                          <a:effectLst/>
                          <a:latin typeface="Calibri" panose="020F0502020204030204" pitchFamily="34" charset="0"/>
                        </a:rPr>
                        <a:t>BRICS Avg</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0.896</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500258757"/>
                  </a:ext>
                </a:extLst>
              </a:tr>
              <a:tr h="279366">
                <a:tc>
                  <a:txBody>
                    <a:bodyPr/>
                    <a:lstStyle/>
                    <a:p>
                      <a:pPr algn="l" fontAlgn="b"/>
                      <a:endParaRPr lang="en-US" sz="2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tc>
                  <a:txBody>
                    <a:bodyPr/>
                    <a:lstStyle/>
                    <a:p>
                      <a:pPr algn="ctr" fontAlgn="b"/>
                      <a:endParaRPr lang="en-US" sz="2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tc>
                  <a:txBody>
                    <a:bodyPr/>
                    <a:lstStyle/>
                    <a:p>
                      <a:pPr algn="ctr" fontAlgn="b"/>
                      <a:endParaRPr lang="en-US" sz="2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EDEDED"/>
                    </a:solidFill>
                  </a:tcPr>
                </a:tc>
                <a:extLst>
                  <a:ext uri="{0D108BD9-81ED-4DB2-BD59-A6C34878D82A}">
                    <a16:rowId xmlns:a16="http://schemas.microsoft.com/office/drawing/2014/main" val="2718985997"/>
                  </a:ext>
                </a:extLst>
              </a:tr>
              <a:tr h="279366">
                <a:tc>
                  <a:txBody>
                    <a:bodyPr/>
                    <a:lstStyle/>
                    <a:p>
                      <a:pPr algn="l" fontAlgn="b"/>
                      <a:r>
                        <a:rPr lang="en-US" sz="2400" b="0" i="0" u="none" strike="noStrike" dirty="0">
                          <a:solidFill>
                            <a:srgbClr val="000000"/>
                          </a:solidFill>
                          <a:effectLst/>
                          <a:latin typeface="Calibri" panose="020F0502020204030204" pitchFamily="34" charset="0"/>
                          <a:ea typeface="Calibri" panose="020F0502020204030204" pitchFamily="34" charset="0"/>
                        </a:rPr>
                        <a:t>N</a:t>
                      </a:r>
                      <a:endParaRPr lang="en-US" sz="2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23</a:t>
                      </a: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ea typeface="Calibri" panose="020F0502020204030204" pitchFamily="34" charset="0"/>
                        </a:rPr>
                        <a:t>23</a:t>
                      </a:r>
                      <a:endParaRPr lang="en-US" sz="2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124683161"/>
                  </a:ext>
                </a:extLst>
              </a:tr>
            </a:tbl>
          </a:graphicData>
        </a:graphic>
      </p:graphicFrame>
      <p:sp>
        <p:nvSpPr>
          <p:cNvPr id="4" name="Slide Number Placeholder 3">
            <a:extLst>
              <a:ext uri="{FF2B5EF4-FFF2-40B4-BE49-F238E27FC236}">
                <a16:creationId xmlns:a16="http://schemas.microsoft.com/office/drawing/2014/main" id="{BAA48470-548A-4D41-A4BF-18BE77A0CE1C}"/>
              </a:ext>
            </a:extLst>
          </p:cNvPr>
          <p:cNvSpPr>
            <a:spLocks noGrp="1"/>
          </p:cNvSpPr>
          <p:nvPr>
            <p:ph type="sldNum" sz="quarter" idx="12"/>
          </p:nvPr>
        </p:nvSpPr>
        <p:spPr/>
        <p:txBody>
          <a:bodyPr/>
          <a:lstStyle/>
          <a:p>
            <a:fld id="{41C3B027-99D8-4500-AA7E-8D849F3A1F09}" type="slidenum">
              <a:rPr lang="en-US" smtClean="0"/>
              <a:pPr/>
              <a:t>17</a:t>
            </a:fld>
            <a:endParaRPr lang="en-US" dirty="0"/>
          </a:p>
        </p:txBody>
      </p:sp>
      <p:sp>
        <p:nvSpPr>
          <p:cNvPr id="7" name="Rectangle 6">
            <a:extLst>
              <a:ext uri="{FF2B5EF4-FFF2-40B4-BE49-F238E27FC236}">
                <a16:creationId xmlns:a16="http://schemas.microsoft.com/office/drawing/2014/main" id="{8FCC1393-6856-491A-81B8-6C6924988C48}"/>
              </a:ext>
            </a:extLst>
          </p:cNvPr>
          <p:cNvSpPr/>
          <p:nvPr/>
        </p:nvSpPr>
        <p:spPr>
          <a:xfrm>
            <a:off x="685800" y="357993"/>
            <a:ext cx="7239000" cy="707886"/>
          </a:xfrm>
          <a:prstGeom prst="rect">
            <a:avLst/>
          </a:prstGeom>
        </p:spPr>
        <p:txBody>
          <a:bodyPr wrap="square">
            <a:spAutoFit/>
          </a:bodyPr>
          <a:lstStyle/>
          <a:p>
            <a:pPr algn="ctr"/>
            <a:r>
              <a:rPr lang="en-US" sz="2000" b="1" dirty="0">
                <a:latin typeface="fkGroteskNeue"/>
              </a:rPr>
              <a:t>Correlation &amp; Regression Analysis Overview</a:t>
            </a:r>
          </a:p>
          <a:p>
            <a:pPr algn="ctr"/>
            <a:r>
              <a:rPr lang="en-US" sz="2000" b="1" dirty="0">
                <a:latin typeface="fkGroteskNeue"/>
              </a:rPr>
              <a:t>Rural access to clean gas</a:t>
            </a:r>
          </a:p>
        </p:txBody>
      </p:sp>
      <p:sp>
        <p:nvSpPr>
          <p:cNvPr id="8" name="Rectangle 7">
            <a:extLst>
              <a:ext uri="{FF2B5EF4-FFF2-40B4-BE49-F238E27FC236}">
                <a16:creationId xmlns:a16="http://schemas.microsoft.com/office/drawing/2014/main" id="{0E2D9897-67A0-4C68-ABE2-458C418B5C7F}"/>
              </a:ext>
            </a:extLst>
          </p:cNvPr>
          <p:cNvSpPr/>
          <p:nvPr/>
        </p:nvSpPr>
        <p:spPr>
          <a:xfrm>
            <a:off x="336804" y="3118121"/>
            <a:ext cx="8549640" cy="3693319"/>
          </a:xfrm>
          <a:prstGeom prst="rect">
            <a:avLst/>
          </a:prstGeom>
        </p:spPr>
        <p:txBody>
          <a:bodyPr wrap="square">
            <a:spAutoFit/>
          </a:bodyPr>
          <a:lstStyle/>
          <a:p>
            <a:endParaRPr lang="en-US" dirty="0"/>
          </a:p>
          <a:p>
            <a:pPr marL="285750" indent="-285750">
              <a:buFont typeface="Wingdings" panose="05000000000000000000" pitchFamily="2" charset="2"/>
              <a:buChar char="§"/>
            </a:pPr>
            <a:r>
              <a:rPr lang="en-US" sz="2400" dirty="0"/>
              <a:t>Strong positive correlation (r = 0.896, p &lt; 0.001), indicating Nigeria’s progress mirrors BRICS trends, suggesting benchmarking opportunities.</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Nigeria’s positive trend aligns with BRICS, implying that policy improvements could accelerate progress.</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Recent policies (e.g., National Clean Cooking Policy, LPG initiatives) are steps in the</a:t>
            </a:r>
          </a:p>
        </p:txBody>
      </p:sp>
    </p:spTree>
    <p:extLst>
      <p:ext uri="{BB962C8B-B14F-4D97-AF65-F5344CB8AC3E}">
        <p14:creationId xmlns:p14="http://schemas.microsoft.com/office/powerpoint/2010/main" val="3388286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F9512E-B3D5-4B89-AE72-84662C65AC09}"/>
              </a:ext>
            </a:extLst>
          </p:cNvPr>
          <p:cNvSpPr>
            <a:spLocks noGrp="1"/>
          </p:cNvSpPr>
          <p:nvPr>
            <p:ph type="sldNum" sz="quarter" idx="12"/>
          </p:nvPr>
        </p:nvSpPr>
        <p:spPr/>
        <p:txBody>
          <a:bodyPr/>
          <a:lstStyle/>
          <a:p>
            <a:fld id="{41C3B027-99D8-4500-AA7E-8D849F3A1F09}" type="slidenum">
              <a:rPr lang="en-US" smtClean="0"/>
              <a:pPr/>
              <a:t>18</a:t>
            </a:fld>
            <a:endParaRPr lang="en-US" dirty="0"/>
          </a:p>
        </p:txBody>
      </p:sp>
      <p:sp>
        <p:nvSpPr>
          <p:cNvPr id="6" name="Rectangle 5">
            <a:extLst>
              <a:ext uri="{FF2B5EF4-FFF2-40B4-BE49-F238E27FC236}">
                <a16:creationId xmlns:a16="http://schemas.microsoft.com/office/drawing/2014/main" id="{F2E01401-4CF3-4873-A084-627DD2A60624}"/>
              </a:ext>
            </a:extLst>
          </p:cNvPr>
          <p:cNvSpPr/>
          <p:nvPr/>
        </p:nvSpPr>
        <p:spPr>
          <a:xfrm>
            <a:off x="441412" y="4539810"/>
            <a:ext cx="8153400" cy="169540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fkGroteskNeue"/>
              </a:rPr>
              <a:t>Strong positive correlation (R = 0.896, R² = 0.803, p &lt; 0.001) between Nigeria and BRICS trends, but Nigeria’s absolute access remains much lower.</a:t>
            </a:r>
            <a:endParaRPr lang="en-US" sz="2400" dirty="0"/>
          </a:p>
        </p:txBody>
      </p:sp>
      <p:graphicFrame>
        <p:nvGraphicFramePr>
          <p:cNvPr id="7" name="Chart 6">
            <a:extLst>
              <a:ext uri="{FF2B5EF4-FFF2-40B4-BE49-F238E27FC236}">
                <a16:creationId xmlns:a16="http://schemas.microsoft.com/office/drawing/2014/main" id="{C8E5EA2F-122B-4B14-9BA0-5DBA0076A08F}"/>
              </a:ext>
            </a:extLst>
          </p:cNvPr>
          <p:cNvGraphicFramePr>
            <a:graphicFrameLocks/>
          </p:cNvGraphicFramePr>
          <p:nvPr>
            <p:extLst>
              <p:ext uri="{D42A27DB-BD31-4B8C-83A1-F6EECF244321}">
                <p14:modId xmlns:p14="http://schemas.microsoft.com/office/powerpoint/2010/main" val="1114190216"/>
              </p:ext>
            </p:extLst>
          </p:nvPr>
        </p:nvGraphicFramePr>
        <p:xfrm>
          <a:off x="609600" y="381000"/>
          <a:ext cx="8534400" cy="4419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78158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1623A-F353-4B84-B828-E9CB169A2F79}"/>
              </a:ext>
            </a:extLst>
          </p:cNvPr>
          <p:cNvSpPr>
            <a:spLocks noGrp="1"/>
          </p:cNvSpPr>
          <p:nvPr>
            <p:ph type="title"/>
          </p:nvPr>
        </p:nvSpPr>
        <p:spPr>
          <a:xfrm>
            <a:off x="1516460" y="228600"/>
            <a:ext cx="7498080" cy="609600"/>
          </a:xfrm>
        </p:spPr>
        <p:txBody>
          <a:bodyPr/>
          <a:lstStyle/>
          <a:p>
            <a:pPr algn="ctr"/>
            <a:r>
              <a:rPr lang="en-US" sz="2500" b="1" dirty="0">
                <a:solidFill>
                  <a:prstClr val="black"/>
                </a:solidFill>
                <a:effectLst/>
                <a:latin typeface="fkGroteskNeue"/>
                <a:ea typeface="+mn-ea"/>
                <a:cs typeface="+mn-cs"/>
              </a:rPr>
              <a:t>Fossil Fuel Consumption</a:t>
            </a:r>
          </a:p>
        </p:txBody>
      </p:sp>
      <p:sp>
        <p:nvSpPr>
          <p:cNvPr id="4" name="Slide Number Placeholder 3">
            <a:extLst>
              <a:ext uri="{FF2B5EF4-FFF2-40B4-BE49-F238E27FC236}">
                <a16:creationId xmlns:a16="http://schemas.microsoft.com/office/drawing/2014/main" id="{10EF6694-AC95-4157-89E3-90C73AF108D5}"/>
              </a:ext>
            </a:extLst>
          </p:cNvPr>
          <p:cNvSpPr>
            <a:spLocks noGrp="1"/>
          </p:cNvSpPr>
          <p:nvPr>
            <p:ph type="sldNum" sz="quarter" idx="12"/>
          </p:nvPr>
        </p:nvSpPr>
        <p:spPr/>
        <p:txBody>
          <a:bodyPr/>
          <a:lstStyle/>
          <a:p>
            <a:fld id="{41C3B027-99D8-4500-AA7E-8D849F3A1F09}" type="slidenum">
              <a:rPr lang="en-US" smtClean="0"/>
              <a:pPr/>
              <a:t>19</a:t>
            </a:fld>
            <a:endParaRPr lang="en-US" dirty="0"/>
          </a:p>
        </p:txBody>
      </p:sp>
      <p:graphicFrame>
        <p:nvGraphicFramePr>
          <p:cNvPr id="7" name="Object 6">
            <a:extLst>
              <a:ext uri="{FF2B5EF4-FFF2-40B4-BE49-F238E27FC236}">
                <a16:creationId xmlns:a16="http://schemas.microsoft.com/office/drawing/2014/main" id="{5874F8BD-E4F7-4C50-B3C9-64D2508DCF1F}"/>
              </a:ext>
            </a:extLst>
          </p:cNvPr>
          <p:cNvGraphicFramePr>
            <a:graphicFrameLocks noChangeAspect="1"/>
          </p:cNvGraphicFramePr>
          <p:nvPr>
            <p:extLst>
              <p:ext uri="{D42A27DB-BD31-4B8C-83A1-F6EECF244321}">
                <p14:modId xmlns:p14="http://schemas.microsoft.com/office/powerpoint/2010/main" val="2123311557"/>
              </p:ext>
            </p:extLst>
          </p:nvPr>
        </p:nvGraphicFramePr>
        <p:xfrm>
          <a:off x="228600" y="1143000"/>
          <a:ext cx="8534400" cy="3581400"/>
        </p:xfrm>
        <a:graphic>
          <a:graphicData uri="http://schemas.openxmlformats.org/presentationml/2006/ole">
            <mc:AlternateContent xmlns:mc="http://schemas.openxmlformats.org/markup-compatibility/2006">
              <mc:Choice xmlns:v="urn:schemas-microsoft-com:vml" Requires="v">
                <p:oleObj spid="_x0000_s1028" name="Worksheet" r:id="rId3" imgW="4883042" imgH="1295539" progId="Excel.Sheet.12">
                  <p:embed/>
                </p:oleObj>
              </mc:Choice>
              <mc:Fallback>
                <p:oleObj name="Worksheet" r:id="rId3" imgW="4883042" imgH="1295539" progId="Excel.Sheet.12">
                  <p:embed/>
                  <p:pic>
                    <p:nvPicPr>
                      <p:cNvPr id="0" name=""/>
                      <p:cNvPicPr/>
                      <p:nvPr/>
                    </p:nvPicPr>
                    <p:blipFill>
                      <a:blip r:embed="rId4"/>
                      <a:stretch>
                        <a:fillRect/>
                      </a:stretch>
                    </p:blipFill>
                    <p:spPr>
                      <a:xfrm>
                        <a:off x="228600" y="1143000"/>
                        <a:ext cx="8534400" cy="35814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145B30C-11F7-44CB-B8F2-9080BB76049A}"/>
              </a:ext>
            </a:extLst>
          </p:cNvPr>
          <p:cNvSpPr/>
          <p:nvPr/>
        </p:nvSpPr>
        <p:spPr>
          <a:xfrm>
            <a:off x="457200" y="5191809"/>
            <a:ext cx="8229600" cy="646331"/>
          </a:xfrm>
          <a:prstGeom prst="rect">
            <a:avLst/>
          </a:prstGeom>
        </p:spPr>
        <p:txBody>
          <a:bodyPr wrap="square">
            <a:spAutoFit/>
          </a:bodyPr>
          <a:lstStyle/>
          <a:p>
            <a:r>
              <a:rPr lang="en-US" dirty="0">
                <a:latin typeface="fkGroteskNeue"/>
              </a:rPr>
              <a:t>Nigeria’s fossil fuel consumption is much lower and more stable than that of BRICS countries.</a:t>
            </a:r>
            <a:endParaRPr lang="en-US" dirty="0"/>
          </a:p>
        </p:txBody>
      </p:sp>
    </p:spTree>
    <p:extLst>
      <p:ext uri="{BB962C8B-B14F-4D97-AF65-F5344CB8AC3E}">
        <p14:creationId xmlns:p14="http://schemas.microsoft.com/office/powerpoint/2010/main" val="3703658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7B0AE6-D218-4294-B6B3-983F769D9CB4}"/>
              </a:ext>
            </a:extLst>
          </p:cNvPr>
          <p:cNvSpPr>
            <a:spLocks noGrp="1"/>
          </p:cNvSpPr>
          <p:nvPr>
            <p:ph type="sldNum" sz="quarter" idx="12"/>
          </p:nvPr>
        </p:nvSpPr>
        <p:spPr/>
        <p:txBody>
          <a:bodyPr/>
          <a:lstStyle/>
          <a:p>
            <a:fld id="{41C3B027-99D8-4500-AA7E-8D849F3A1F09}" type="slidenum">
              <a:rPr lang="en-US" smtClean="0"/>
              <a:pPr/>
              <a:t>20</a:t>
            </a:fld>
            <a:endParaRPr lang="en-US" dirty="0"/>
          </a:p>
        </p:txBody>
      </p:sp>
      <p:pic>
        <p:nvPicPr>
          <p:cNvPr id="5" name="Picture 4">
            <a:extLst>
              <a:ext uri="{FF2B5EF4-FFF2-40B4-BE49-F238E27FC236}">
                <a16:creationId xmlns:a16="http://schemas.microsoft.com/office/drawing/2014/main" id="{371539E2-32D5-41EA-A745-1816A22ABAD2}"/>
              </a:ext>
            </a:extLst>
          </p:cNvPr>
          <p:cNvPicPr>
            <a:picLocks noChangeAspect="1"/>
          </p:cNvPicPr>
          <p:nvPr/>
        </p:nvPicPr>
        <p:blipFill>
          <a:blip r:embed="rId2"/>
          <a:stretch>
            <a:fillRect/>
          </a:stretch>
        </p:blipFill>
        <p:spPr>
          <a:xfrm>
            <a:off x="241435" y="122188"/>
            <a:ext cx="8385047" cy="4267200"/>
          </a:xfrm>
          <a:prstGeom prst="rect">
            <a:avLst/>
          </a:prstGeom>
        </p:spPr>
      </p:pic>
      <p:sp>
        <p:nvSpPr>
          <p:cNvPr id="6" name="Rectangle 5">
            <a:extLst>
              <a:ext uri="{FF2B5EF4-FFF2-40B4-BE49-F238E27FC236}">
                <a16:creationId xmlns:a16="http://schemas.microsoft.com/office/drawing/2014/main" id="{CAAA9EC0-82BC-4A38-AA02-41612D3F0F24}"/>
              </a:ext>
            </a:extLst>
          </p:cNvPr>
          <p:cNvSpPr/>
          <p:nvPr/>
        </p:nvSpPr>
        <p:spPr>
          <a:xfrm>
            <a:off x="685800" y="4392463"/>
            <a:ext cx="7391400" cy="1754326"/>
          </a:xfrm>
          <a:prstGeom prst="rect">
            <a:avLst/>
          </a:prstGeom>
        </p:spPr>
        <p:txBody>
          <a:bodyPr wrap="square">
            <a:spAutoFit/>
          </a:bodyPr>
          <a:lstStyle/>
          <a:p>
            <a:r>
              <a:rPr lang="en-US" dirty="0"/>
              <a:t>Nigeria’s mean fossil fuel consumption (19.35%) is much lower than all BRICS countries, reflecting limited access to modern energy rather than a clean energy transition.</a:t>
            </a:r>
          </a:p>
          <a:p>
            <a:endParaRPr lang="en-US" dirty="0"/>
          </a:p>
          <a:p>
            <a:r>
              <a:rPr lang="en-US" dirty="0"/>
              <a:t>BRICS countries on the other hand have higher and more variable fossil fuel consumption, consistent with their industrialization and energy infrastructure</a:t>
            </a:r>
          </a:p>
        </p:txBody>
      </p:sp>
    </p:spTree>
    <p:extLst>
      <p:ext uri="{BB962C8B-B14F-4D97-AF65-F5344CB8AC3E}">
        <p14:creationId xmlns:p14="http://schemas.microsoft.com/office/powerpoint/2010/main" val="1028783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8A38-D101-4A3B-86F5-72B95CDAFB0C}"/>
              </a:ext>
            </a:extLst>
          </p:cNvPr>
          <p:cNvSpPr>
            <a:spLocks noGrp="1"/>
          </p:cNvSpPr>
          <p:nvPr>
            <p:ph type="title"/>
          </p:nvPr>
        </p:nvSpPr>
        <p:spPr>
          <a:xfrm>
            <a:off x="457200" y="274638"/>
            <a:ext cx="8476488" cy="1143000"/>
          </a:xfrm>
        </p:spPr>
        <p:txBody>
          <a:bodyPr>
            <a:normAutofit fontScale="90000"/>
          </a:bodyPr>
          <a:lstStyle/>
          <a:p>
            <a:r>
              <a:rPr lang="en-US" sz="4000" b="1" dirty="0">
                <a:solidFill>
                  <a:prstClr val="black"/>
                </a:solidFill>
                <a:effectLst/>
                <a:latin typeface="Tw Cen MT"/>
                <a:ea typeface="+mn-ea"/>
                <a:cs typeface="+mn-cs"/>
              </a:rPr>
              <a:t>Nigeria vs. BRICS Fossil Fuel Consumption Analysis</a:t>
            </a:r>
            <a:endParaRPr lang="en-US" dirty="0"/>
          </a:p>
        </p:txBody>
      </p:sp>
      <p:sp>
        <p:nvSpPr>
          <p:cNvPr id="4" name="Slide Number Placeholder 3">
            <a:extLst>
              <a:ext uri="{FF2B5EF4-FFF2-40B4-BE49-F238E27FC236}">
                <a16:creationId xmlns:a16="http://schemas.microsoft.com/office/drawing/2014/main" id="{D3D1D8DD-6525-4984-9107-D2AFE1D772FC}"/>
              </a:ext>
            </a:extLst>
          </p:cNvPr>
          <p:cNvSpPr>
            <a:spLocks noGrp="1"/>
          </p:cNvSpPr>
          <p:nvPr>
            <p:ph type="sldNum" sz="quarter" idx="12"/>
          </p:nvPr>
        </p:nvSpPr>
        <p:spPr/>
        <p:txBody>
          <a:bodyPr/>
          <a:lstStyle/>
          <a:p>
            <a:fld id="{41C3B027-99D8-4500-AA7E-8D849F3A1F09}" type="slidenum">
              <a:rPr lang="en-US" smtClean="0"/>
              <a:pPr/>
              <a:t>21</a:t>
            </a:fld>
            <a:endParaRPr lang="en-US" dirty="0"/>
          </a:p>
        </p:txBody>
      </p:sp>
      <p:graphicFrame>
        <p:nvGraphicFramePr>
          <p:cNvPr id="7" name="Object 6">
            <a:extLst>
              <a:ext uri="{FF2B5EF4-FFF2-40B4-BE49-F238E27FC236}">
                <a16:creationId xmlns:a16="http://schemas.microsoft.com/office/drawing/2014/main" id="{40251555-8E8D-421C-BAF6-8650FEF28DC1}"/>
              </a:ext>
            </a:extLst>
          </p:cNvPr>
          <p:cNvGraphicFramePr>
            <a:graphicFrameLocks noChangeAspect="1"/>
          </p:cNvGraphicFramePr>
          <p:nvPr>
            <p:extLst>
              <p:ext uri="{D42A27DB-BD31-4B8C-83A1-F6EECF244321}">
                <p14:modId xmlns:p14="http://schemas.microsoft.com/office/powerpoint/2010/main" val="377949863"/>
              </p:ext>
            </p:extLst>
          </p:nvPr>
        </p:nvGraphicFramePr>
        <p:xfrm>
          <a:off x="44094" y="1981200"/>
          <a:ext cx="3947365" cy="1515666"/>
        </p:xfrm>
        <a:graphic>
          <a:graphicData uri="http://schemas.openxmlformats.org/presentationml/2006/ole">
            <mc:AlternateContent xmlns:mc="http://schemas.openxmlformats.org/markup-compatibility/2006">
              <mc:Choice xmlns:v="urn:schemas-microsoft-com:vml" Requires="v">
                <p:oleObj spid="_x0000_s2052" name="Worksheet" r:id="rId3" imgW="3809896" imgH="927285" progId="Excel.Sheet.12">
                  <p:embed/>
                </p:oleObj>
              </mc:Choice>
              <mc:Fallback>
                <p:oleObj name="Worksheet" r:id="rId3" imgW="3809896" imgH="927285" progId="Excel.Sheet.12">
                  <p:embed/>
                  <p:pic>
                    <p:nvPicPr>
                      <p:cNvPr id="0" name=""/>
                      <p:cNvPicPr/>
                      <p:nvPr/>
                    </p:nvPicPr>
                    <p:blipFill>
                      <a:blip r:embed="rId4"/>
                      <a:stretch>
                        <a:fillRect/>
                      </a:stretch>
                    </p:blipFill>
                    <p:spPr>
                      <a:xfrm>
                        <a:off x="44094" y="1981200"/>
                        <a:ext cx="3947365" cy="1515666"/>
                      </a:xfrm>
                      <a:prstGeom prst="rect">
                        <a:avLst/>
                      </a:prstGeom>
                    </p:spPr>
                  </p:pic>
                </p:oleObj>
              </mc:Fallback>
            </mc:AlternateContent>
          </a:graphicData>
        </a:graphic>
      </p:graphicFrame>
      <p:graphicFrame>
        <p:nvGraphicFramePr>
          <p:cNvPr id="8" name="Chart 7">
            <a:extLst>
              <a:ext uri="{FF2B5EF4-FFF2-40B4-BE49-F238E27FC236}">
                <a16:creationId xmlns:a16="http://schemas.microsoft.com/office/drawing/2014/main" id="{A9CA5551-A1ED-4345-8FBE-3E0035A5B059}"/>
              </a:ext>
            </a:extLst>
          </p:cNvPr>
          <p:cNvGraphicFramePr>
            <a:graphicFrameLocks/>
          </p:cNvGraphicFramePr>
          <p:nvPr>
            <p:extLst>
              <p:ext uri="{D42A27DB-BD31-4B8C-83A1-F6EECF244321}">
                <p14:modId xmlns:p14="http://schemas.microsoft.com/office/powerpoint/2010/main" val="433683288"/>
              </p:ext>
            </p:extLst>
          </p:nvPr>
        </p:nvGraphicFramePr>
        <p:xfrm>
          <a:off x="3962401" y="985044"/>
          <a:ext cx="4891834" cy="5598318"/>
        </p:xfrm>
        <a:graphic>
          <a:graphicData uri="http://schemas.openxmlformats.org/drawingml/2006/chart">
            <c:chart xmlns:c="http://schemas.openxmlformats.org/drawingml/2006/chart" xmlns:r="http://schemas.openxmlformats.org/officeDocument/2006/relationships" r:id="rId5"/>
          </a:graphicData>
        </a:graphic>
      </p:graphicFrame>
      <p:sp>
        <p:nvSpPr>
          <p:cNvPr id="3" name="Rectangle 2">
            <a:extLst>
              <a:ext uri="{FF2B5EF4-FFF2-40B4-BE49-F238E27FC236}">
                <a16:creationId xmlns:a16="http://schemas.microsoft.com/office/drawing/2014/main" id="{0E25A480-675C-4011-B847-343519A4081B}"/>
              </a:ext>
            </a:extLst>
          </p:cNvPr>
          <p:cNvSpPr/>
          <p:nvPr/>
        </p:nvSpPr>
        <p:spPr>
          <a:xfrm>
            <a:off x="73152" y="3811012"/>
            <a:ext cx="3947365" cy="2814617"/>
          </a:xfrm>
          <a:prstGeom prst="rect">
            <a:avLst/>
          </a:prstGeom>
        </p:spPr>
        <p:txBody>
          <a:bodyPr wrap="square">
            <a:spAutoFit/>
          </a:bodyPr>
          <a:lstStyle/>
          <a:p>
            <a:pPr>
              <a:lnSpc>
                <a:spcPct val="150000"/>
              </a:lnSpc>
            </a:pPr>
            <a:r>
              <a:rPr lang="en-US" sz="2000" dirty="0">
                <a:latin typeface="fkGroteskNeue"/>
              </a:rPr>
              <a:t>Statistically significant negative relationship between Nigeria's fossil fuel consumption and BRICS average (1990-2014), challenging the hypothesis that Nigeria's consumption is higher than BRICS.</a:t>
            </a:r>
          </a:p>
        </p:txBody>
      </p:sp>
    </p:spTree>
    <p:extLst>
      <p:ext uri="{BB962C8B-B14F-4D97-AF65-F5344CB8AC3E}">
        <p14:creationId xmlns:p14="http://schemas.microsoft.com/office/powerpoint/2010/main" val="2656927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0ACC-90D9-4A46-A449-DC882C376C81}"/>
              </a:ext>
            </a:extLst>
          </p:cNvPr>
          <p:cNvSpPr>
            <a:spLocks noGrp="1"/>
          </p:cNvSpPr>
          <p:nvPr>
            <p:ph type="title"/>
          </p:nvPr>
        </p:nvSpPr>
        <p:spPr>
          <a:xfrm>
            <a:off x="685800" y="-228600"/>
            <a:ext cx="7498080" cy="838200"/>
          </a:xfrm>
        </p:spPr>
        <p:txBody>
          <a:bodyPr>
            <a:normAutofit/>
          </a:bodyPr>
          <a:lstStyle/>
          <a:p>
            <a:pPr algn="ctr"/>
            <a:r>
              <a:rPr lang="en-US" sz="3200" dirty="0"/>
              <a:t>Contextual Analysis</a:t>
            </a:r>
          </a:p>
        </p:txBody>
      </p:sp>
      <p:sp>
        <p:nvSpPr>
          <p:cNvPr id="4" name="Slide Number Placeholder 3">
            <a:extLst>
              <a:ext uri="{FF2B5EF4-FFF2-40B4-BE49-F238E27FC236}">
                <a16:creationId xmlns:a16="http://schemas.microsoft.com/office/drawing/2014/main" id="{E6406C01-7CAA-462C-99A6-4E4DE50EDFF6}"/>
              </a:ext>
            </a:extLst>
          </p:cNvPr>
          <p:cNvSpPr>
            <a:spLocks noGrp="1"/>
          </p:cNvSpPr>
          <p:nvPr>
            <p:ph type="sldNum" sz="quarter" idx="12"/>
          </p:nvPr>
        </p:nvSpPr>
        <p:spPr/>
        <p:txBody>
          <a:bodyPr/>
          <a:lstStyle/>
          <a:p>
            <a:fld id="{41C3B027-99D8-4500-AA7E-8D849F3A1F09}" type="slidenum">
              <a:rPr lang="en-US" smtClean="0"/>
              <a:pPr/>
              <a:t>22</a:t>
            </a:fld>
            <a:endParaRPr lang="en-US" dirty="0"/>
          </a:p>
        </p:txBody>
      </p:sp>
      <p:graphicFrame>
        <p:nvGraphicFramePr>
          <p:cNvPr id="7" name="Table 6">
            <a:extLst>
              <a:ext uri="{FF2B5EF4-FFF2-40B4-BE49-F238E27FC236}">
                <a16:creationId xmlns:a16="http://schemas.microsoft.com/office/drawing/2014/main" id="{8F0661CD-A45E-422F-9349-B952DA414CAD}"/>
              </a:ext>
            </a:extLst>
          </p:cNvPr>
          <p:cNvGraphicFramePr>
            <a:graphicFrameLocks noGrp="1"/>
          </p:cNvGraphicFramePr>
          <p:nvPr>
            <p:extLst>
              <p:ext uri="{D42A27DB-BD31-4B8C-83A1-F6EECF244321}">
                <p14:modId xmlns:p14="http://schemas.microsoft.com/office/powerpoint/2010/main" val="3012826111"/>
              </p:ext>
            </p:extLst>
          </p:nvPr>
        </p:nvGraphicFramePr>
        <p:xfrm>
          <a:off x="304800" y="533401"/>
          <a:ext cx="8575548" cy="6035040"/>
        </p:xfrm>
        <a:graphic>
          <a:graphicData uri="http://schemas.openxmlformats.org/drawingml/2006/table">
            <a:tbl>
              <a:tblPr firstRow="1" bandRow="1">
                <a:tableStyleId>{5940675A-B579-460E-94D1-54222C63F5DA}</a:tableStyleId>
              </a:tblPr>
              <a:tblGrid>
                <a:gridCol w="3581400">
                  <a:extLst>
                    <a:ext uri="{9D8B030D-6E8A-4147-A177-3AD203B41FA5}">
                      <a16:colId xmlns:a16="http://schemas.microsoft.com/office/drawing/2014/main" val="1459742885"/>
                    </a:ext>
                  </a:extLst>
                </a:gridCol>
                <a:gridCol w="4994148">
                  <a:extLst>
                    <a:ext uri="{9D8B030D-6E8A-4147-A177-3AD203B41FA5}">
                      <a16:colId xmlns:a16="http://schemas.microsoft.com/office/drawing/2014/main" val="1172345219"/>
                    </a:ext>
                  </a:extLst>
                </a:gridCol>
              </a:tblGrid>
              <a:tr h="1368372">
                <a:tc>
                  <a:txBody>
                    <a:bodyPr/>
                    <a:lstStyle/>
                    <a:p>
                      <a:pPr fontAlgn="base" latinLnBrk="0"/>
                      <a:r>
                        <a:rPr lang="en-US" sz="1800" dirty="0">
                          <a:effectLst/>
                        </a:rPr>
                        <a:t>Qualitative Policy Analysis</a:t>
                      </a:r>
                    </a:p>
                  </a:txBody>
                  <a:tcPr marL="50800" marR="50800" anchor="ctr"/>
                </a:tc>
                <a:tc>
                  <a:txBody>
                    <a:bodyPr/>
                    <a:lstStyle/>
                    <a:p>
                      <a:pPr fontAlgn="base" latinLnBrk="0"/>
                      <a:r>
                        <a:rPr lang="en-US" sz="1800" dirty="0">
                          <a:effectLst/>
                        </a:rPr>
                        <a:t>Reveals that, despite policy frameworks implementation gaps persist due to weak governance and limited coordination.</a:t>
                      </a:r>
                    </a:p>
                    <a:p>
                      <a:pPr fontAlgn="base" latinLnBrk="0"/>
                      <a:r>
                        <a:rPr lang="en-US" sz="1800" dirty="0">
                          <a:effectLst/>
                        </a:rPr>
                        <a:t>According to EKC, effective policy interventions are crucial at the “turning point”</a:t>
                      </a:r>
                    </a:p>
                  </a:txBody>
                  <a:tcPr marL="50800" marR="50800" anchor="ctr"/>
                </a:tc>
                <a:extLst>
                  <a:ext uri="{0D108BD9-81ED-4DB2-BD59-A6C34878D82A}">
                    <a16:rowId xmlns:a16="http://schemas.microsoft.com/office/drawing/2014/main" val="3538746991"/>
                  </a:ext>
                </a:extLst>
              </a:tr>
              <a:tr h="1881512">
                <a:tc>
                  <a:txBody>
                    <a:bodyPr/>
                    <a:lstStyle/>
                    <a:p>
                      <a:pPr fontAlgn="base" latinLnBrk="0"/>
                      <a:r>
                        <a:rPr lang="en-US" sz="1800" dirty="0">
                          <a:effectLst/>
                        </a:rPr>
                        <a:t>Quantitative Metrics</a:t>
                      </a:r>
                    </a:p>
                  </a:txBody>
                  <a:tcPr marL="50800" marR="50800" anchor="ctr"/>
                </a:tc>
                <a:tc>
                  <a:txBody>
                    <a:bodyPr/>
                    <a:lstStyle/>
                    <a:p>
                      <a:pPr fontAlgn="base" latinLnBrk="0"/>
                      <a:r>
                        <a:rPr lang="en-US" sz="1800" dirty="0">
                          <a:effectLst/>
                        </a:rPr>
                        <a:t>Quantitative findings show Nigeria’s rural access to clean fuels is significantly lower than BRICS, and fossil fuel consumption patterns diverge which validated the hypothesis and EKC. Nigeria is at a stage where economic growth has not yet translated into environmental improvement, unlike more advanced BRICS economies</a:t>
                      </a:r>
                    </a:p>
                  </a:txBody>
                  <a:tcPr marL="50800" marR="50800" anchor="ctr"/>
                </a:tc>
                <a:extLst>
                  <a:ext uri="{0D108BD9-81ED-4DB2-BD59-A6C34878D82A}">
                    <a16:rowId xmlns:a16="http://schemas.microsoft.com/office/drawing/2014/main" val="485352497"/>
                  </a:ext>
                </a:extLst>
              </a:tr>
              <a:tr h="2394652">
                <a:tc>
                  <a:txBody>
                    <a:bodyPr/>
                    <a:lstStyle/>
                    <a:p>
                      <a:pPr fontAlgn="base" latinLnBrk="0"/>
                      <a:r>
                        <a:rPr lang="en-US" sz="1800" dirty="0">
                          <a:effectLst/>
                        </a:rPr>
                        <a:t>Natural Resource Management</a:t>
                      </a:r>
                    </a:p>
                  </a:txBody>
                  <a:tcPr marL="50800" marR="50800" anchor="ctr"/>
                </a:tc>
                <a:tc>
                  <a:txBody>
                    <a:bodyPr/>
                    <a:lstStyle/>
                    <a:p>
                      <a:pPr fontAlgn="base" latinLnBrk="0"/>
                      <a:r>
                        <a:rPr lang="en-US" sz="1800" dirty="0">
                          <a:effectLst/>
                        </a:rPr>
                        <a:t>Nigeria’s vast natural resources (oil, gas, solar, hydropower, marine) are underutilized leading to environmental degradation and lost economic opportunities.</a:t>
                      </a:r>
                    </a:p>
                    <a:p>
                      <a:pPr fontAlgn="base" latinLnBrk="0"/>
                      <a:endParaRPr lang="en-US" sz="1800" dirty="0">
                        <a:effectLst/>
                      </a:endParaRPr>
                    </a:p>
                    <a:p>
                      <a:pPr fontAlgn="base" latinLnBrk="0"/>
                      <a:r>
                        <a:rPr lang="en-US" sz="1800" dirty="0">
                          <a:effectLst/>
                        </a:rPr>
                        <a:t>EKC suggests that improved resource management-through investment in renewables and blue economy initiatives-can help Nigeria move past the degradation peak</a:t>
                      </a:r>
                    </a:p>
                  </a:txBody>
                  <a:tcPr marL="50800" marR="50800" anchor="ctr"/>
                </a:tc>
                <a:extLst>
                  <a:ext uri="{0D108BD9-81ED-4DB2-BD59-A6C34878D82A}">
                    <a16:rowId xmlns:a16="http://schemas.microsoft.com/office/drawing/2014/main" val="3784500345"/>
                  </a:ext>
                </a:extLst>
              </a:tr>
            </a:tbl>
          </a:graphicData>
        </a:graphic>
      </p:graphicFrame>
    </p:spTree>
    <p:extLst>
      <p:ext uri="{BB962C8B-B14F-4D97-AF65-F5344CB8AC3E}">
        <p14:creationId xmlns:p14="http://schemas.microsoft.com/office/powerpoint/2010/main" val="4010712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0ACC-90D9-4A46-A449-DC882C376C81}"/>
              </a:ext>
            </a:extLst>
          </p:cNvPr>
          <p:cNvSpPr>
            <a:spLocks noGrp="1"/>
          </p:cNvSpPr>
          <p:nvPr>
            <p:ph type="title"/>
          </p:nvPr>
        </p:nvSpPr>
        <p:spPr>
          <a:xfrm>
            <a:off x="685800" y="-228600"/>
            <a:ext cx="7498080" cy="838200"/>
          </a:xfrm>
        </p:spPr>
        <p:txBody>
          <a:bodyPr>
            <a:normAutofit/>
          </a:bodyPr>
          <a:lstStyle/>
          <a:p>
            <a:pPr algn="ctr"/>
            <a:r>
              <a:rPr lang="en-US" sz="3200" dirty="0"/>
              <a:t>Contextual Analysis</a:t>
            </a:r>
          </a:p>
        </p:txBody>
      </p:sp>
      <p:sp>
        <p:nvSpPr>
          <p:cNvPr id="4" name="Slide Number Placeholder 3">
            <a:extLst>
              <a:ext uri="{FF2B5EF4-FFF2-40B4-BE49-F238E27FC236}">
                <a16:creationId xmlns:a16="http://schemas.microsoft.com/office/drawing/2014/main" id="{E6406C01-7CAA-462C-99A6-4E4DE50EDFF6}"/>
              </a:ext>
            </a:extLst>
          </p:cNvPr>
          <p:cNvSpPr>
            <a:spLocks noGrp="1"/>
          </p:cNvSpPr>
          <p:nvPr>
            <p:ph type="sldNum" sz="quarter" idx="12"/>
          </p:nvPr>
        </p:nvSpPr>
        <p:spPr/>
        <p:txBody>
          <a:bodyPr/>
          <a:lstStyle/>
          <a:p>
            <a:fld id="{41C3B027-99D8-4500-AA7E-8D849F3A1F09}" type="slidenum">
              <a:rPr lang="en-US" smtClean="0"/>
              <a:pPr/>
              <a:t>23</a:t>
            </a:fld>
            <a:endParaRPr lang="en-US" dirty="0"/>
          </a:p>
        </p:txBody>
      </p:sp>
      <p:graphicFrame>
        <p:nvGraphicFramePr>
          <p:cNvPr id="7" name="Table 6">
            <a:extLst>
              <a:ext uri="{FF2B5EF4-FFF2-40B4-BE49-F238E27FC236}">
                <a16:creationId xmlns:a16="http://schemas.microsoft.com/office/drawing/2014/main" id="{8F0661CD-A45E-422F-9349-B952DA414CAD}"/>
              </a:ext>
            </a:extLst>
          </p:cNvPr>
          <p:cNvGraphicFramePr>
            <a:graphicFrameLocks noGrp="1"/>
          </p:cNvGraphicFramePr>
          <p:nvPr>
            <p:extLst>
              <p:ext uri="{D42A27DB-BD31-4B8C-83A1-F6EECF244321}">
                <p14:modId xmlns:p14="http://schemas.microsoft.com/office/powerpoint/2010/main" val="260445219"/>
              </p:ext>
            </p:extLst>
          </p:nvPr>
        </p:nvGraphicFramePr>
        <p:xfrm>
          <a:off x="304800" y="533401"/>
          <a:ext cx="8575548" cy="6418012"/>
        </p:xfrm>
        <a:graphic>
          <a:graphicData uri="http://schemas.openxmlformats.org/drawingml/2006/table">
            <a:tbl>
              <a:tblPr firstRow="1" bandRow="1">
                <a:tableStyleId>{5940675A-B579-460E-94D1-54222C63F5DA}</a:tableStyleId>
              </a:tblPr>
              <a:tblGrid>
                <a:gridCol w="3581400">
                  <a:extLst>
                    <a:ext uri="{9D8B030D-6E8A-4147-A177-3AD203B41FA5}">
                      <a16:colId xmlns:a16="http://schemas.microsoft.com/office/drawing/2014/main" val="1459742885"/>
                    </a:ext>
                  </a:extLst>
                </a:gridCol>
                <a:gridCol w="4994148">
                  <a:extLst>
                    <a:ext uri="{9D8B030D-6E8A-4147-A177-3AD203B41FA5}">
                      <a16:colId xmlns:a16="http://schemas.microsoft.com/office/drawing/2014/main" val="1172345219"/>
                    </a:ext>
                  </a:extLst>
                </a:gridCol>
              </a:tblGrid>
              <a:tr h="1368372">
                <a:tc>
                  <a:txBody>
                    <a:bodyPr/>
                    <a:lstStyle/>
                    <a:p>
                      <a:pPr fontAlgn="base" latinLnBrk="0"/>
                      <a:r>
                        <a:rPr lang="en-US" sz="1800" dirty="0">
                          <a:effectLst/>
                        </a:rPr>
                        <a:t>Clean Energy</a:t>
                      </a:r>
                    </a:p>
                  </a:txBody>
                  <a:tcPr marL="50800" marR="50800" anchor="ctr"/>
                </a:tc>
                <a:tc>
                  <a:txBody>
                    <a:bodyPr/>
                    <a:lstStyle/>
                    <a:p>
                      <a:pPr fontAlgn="base" latinLnBrk="0"/>
                      <a:r>
                        <a:rPr lang="en-US" sz="1800" dirty="0">
                          <a:effectLst/>
                        </a:rPr>
                        <a:t>Clean energy adoption (solar, LPG, hydropower) is central to reducing Nigeria’s reliance on traditional biomass and fossil fuels.</a:t>
                      </a:r>
                    </a:p>
                    <a:p>
                      <a:pPr fontAlgn="base" latinLnBrk="0"/>
                      <a:r>
                        <a:rPr lang="en-US" sz="1800" dirty="0">
                          <a:effectLst/>
                        </a:rPr>
                        <a:t>EKC theory underscores the role of clean energy in the post-peak phase, where environmental quality improves with economic advancement and innovation”</a:t>
                      </a:r>
                    </a:p>
                  </a:txBody>
                  <a:tcPr marL="50800" marR="50800" anchor="ctr"/>
                </a:tc>
                <a:extLst>
                  <a:ext uri="{0D108BD9-81ED-4DB2-BD59-A6C34878D82A}">
                    <a16:rowId xmlns:a16="http://schemas.microsoft.com/office/drawing/2014/main" val="3538746991"/>
                  </a:ext>
                </a:extLst>
              </a:tr>
              <a:tr h="1881512">
                <a:tc>
                  <a:txBody>
                    <a:bodyPr/>
                    <a:lstStyle/>
                    <a:p>
                      <a:pPr fontAlgn="base" latinLnBrk="0"/>
                      <a:r>
                        <a:rPr lang="en-US" sz="1800" dirty="0">
                          <a:effectLst/>
                        </a:rPr>
                        <a:t>Mechanism Test</a:t>
                      </a:r>
                    </a:p>
                  </a:txBody>
                  <a:tcPr marL="50800" marR="50800" anchor="ctr"/>
                </a:tc>
                <a:tc>
                  <a:txBody>
                    <a:bodyPr/>
                    <a:lstStyle/>
                    <a:p>
                      <a:pPr fontAlgn="base" latinLnBrk="0"/>
                      <a:r>
                        <a:rPr lang="en-US" sz="1800" dirty="0">
                          <a:effectLst/>
                        </a:rPr>
                        <a:t>The correlation and regression tests confirm that Nigeria’s clean energy progress is positively correlated with the BRICS trends but lags in absolute terms.</a:t>
                      </a:r>
                    </a:p>
                    <a:p>
                      <a:pPr fontAlgn="base" latinLnBrk="0"/>
                      <a:r>
                        <a:rPr lang="en-US" sz="1800" dirty="0">
                          <a:effectLst/>
                        </a:rPr>
                        <a:t>This supports the EKC view that structural transformation and policy alignment with global best practices are needed for sustainable progress.</a:t>
                      </a:r>
                    </a:p>
                  </a:txBody>
                  <a:tcPr marL="50800" marR="50800" anchor="ctr"/>
                </a:tc>
                <a:extLst>
                  <a:ext uri="{0D108BD9-81ED-4DB2-BD59-A6C34878D82A}">
                    <a16:rowId xmlns:a16="http://schemas.microsoft.com/office/drawing/2014/main" val="485352497"/>
                  </a:ext>
                </a:extLst>
              </a:tr>
              <a:tr h="2394652">
                <a:tc>
                  <a:txBody>
                    <a:bodyPr/>
                    <a:lstStyle/>
                    <a:p>
                      <a:pPr fontAlgn="base" latinLnBrk="0"/>
                      <a:r>
                        <a:rPr lang="en-US" sz="1800" dirty="0">
                          <a:effectLst/>
                        </a:rPr>
                        <a:t>Natural Resource Management</a:t>
                      </a:r>
                    </a:p>
                  </a:txBody>
                  <a:tcPr marL="50800" marR="50800" anchor="ctr"/>
                </a:tc>
                <a:tc>
                  <a:txBody>
                    <a:bodyPr/>
                    <a:lstStyle/>
                    <a:p>
                      <a:pPr fontAlgn="base" latinLnBrk="0"/>
                      <a:r>
                        <a:rPr lang="en-US" sz="1800" dirty="0">
                          <a:effectLst/>
                        </a:rPr>
                        <a:t>The Study calls for targeted subsidies, public-private partnerships, and technology transfer from BRICS as levers to accelerate clean energy adoption. According to EKC such policies are essential to reach and surpass the “turning point,” that will enable Nigeria to decouple growth from environmental harm.</a:t>
                      </a:r>
                    </a:p>
                  </a:txBody>
                  <a:tcPr marL="50800" marR="50800" anchor="ctr"/>
                </a:tc>
                <a:extLst>
                  <a:ext uri="{0D108BD9-81ED-4DB2-BD59-A6C34878D82A}">
                    <a16:rowId xmlns:a16="http://schemas.microsoft.com/office/drawing/2014/main" val="3784500345"/>
                  </a:ext>
                </a:extLst>
              </a:tr>
            </a:tbl>
          </a:graphicData>
        </a:graphic>
      </p:graphicFrame>
    </p:spTree>
    <p:extLst>
      <p:ext uri="{BB962C8B-B14F-4D97-AF65-F5344CB8AC3E}">
        <p14:creationId xmlns:p14="http://schemas.microsoft.com/office/powerpoint/2010/main" val="4212662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4294967295"/>
          </p:nvPr>
        </p:nvSpPr>
        <p:spPr>
          <a:xfrm>
            <a:off x="323850" y="128586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
        <p:nvSpPr>
          <p:cNvPr id="3" name="TextBox 2">
            <a:extLst>
              <a:ext uri="{FF2B5EF4-FFF2-40B4-BE49-F238E27FC236}">
                <a16:creationId xmlns:a16="http://schemas.microsoft.com/office/drawing/2014/main" id="{BA7691B6-EC74-299D-3574-05F7FAB17CE3}"/>
              </a:ext>
            </a:extLst>
          </p:cNvPr>
          <p:cNvSpPr txBox="1"/>
          <p:nvPr/>
        </p:nvSpPr>
        <p:spPr>
          <a:xfrm>
            <a:off x="-457200" y="0"/>
            <a:ext cx="8820150" cy="707886"/>
          </a:xfrm>
          <a:prstGeom prst="rect">
            <a:avLst/>
          </a:prstGeom>
          <a:noFill/>
        </p:spPr>
        <p:txBody>
          <a:bodyPr wrap="square">
            <a:spAutoFit/>
          </a:bodyPr>
          <a:lstStyle/>
          <a:p>
            <a:pPr marL="0" indent="0" algn="ctr">
              <a:spcAft>
                <a:spcPts val="600"/>
              </a:spcAft>
              <a:buNone/>
            </a:pPr>
            <a:r>
              <a:rPr lang="en-US" sz="4000" b="1" dirty="0">
                <a:latin typeface="+mj-lt"/>
              </a:rPr>
              <a:t>CONCLUSION</a:t>
            </a:r>
          </a:p>
        </p:txBody>
      </p:sp>
      <p:sp>
        <p:nvSpPr>
          <p:cNvPr id="4" name="Rectangle 3">
            <a:extLst>
              <a:ext uri="{FF2B5EF4-FFF2-40B4-BE49-F238E27FC236}">
                <a16:creationId xmlns:a16="http://schemas.microsoft.com/office/drawing/2014/main" id="{BA07AAF4-2547-4090-8CD6-D405DE5FA63B}"/>
              </a:ext>
            </a:extLst>
          </p:cNvPr>
          <p:cNvSpPr/>
          <p:nvPr/>
        </p:nvSpPr>
        <p:spPr>
          <a:xfrm>
            <a:off x="323850" y="914400"/>
            <a:ext cx="8362950" cy="4524315"/>
          </a:xfrm>
          <a:prstGeom prst="rect">
            <a:avLst/>
          </a:prstGeom>
        </p:spPr>
        <p:txBody>
          <a:bodyPr wrap="square">
            <a:spAutoFit/>
          </a:bodyPr>
          <a:lstStyle/>
          <a:p>
            <a:pPr marL="342900" indent="-342900" algn="just">
              <a:buFont typeface="Wingdings" panose="05000000000000000000" pitchFamily="2" charset="2"/>
              <a:buChar char="§"/>
            </a:pPr>
            <a:r>
              <a:rPr lang="en-US" sz="2400" dirty="0"/>
              <a:t>EKC theory effectively frames Nigeria’s energy-environment dilemma: economic growth has not yet led to environmental improvement due to overreliance on fossil fuels and weak policy execution.</a:t>
            </a:r>
          </a:p>
          <a:p>
            <a:pPr marL="342900" indent="-342900" algn="just">
              <a:buFont typeface="Wingdings" panose="05000000000000000000" pitchFamily="2" charset="2"/>
              <a:buChar char="§"/>
            </a:pPr>
            <a:endParaRPr lang="en-US" sz="2400" dirty="0"/>
          </a:p>
          <a:p>
            <a:pPr marL="342900" indent="-342900" algn="just">
              <a:buFont typeface="Wingdings" panose="05000000000000000000" pitchFamily="2" charset="2"/>
              <a:buChar char="§"/>
            </a:pPr>
            <a:r>
              <a:rPr lang="en-US" sz="2400" dirty="0"/>
              <a:t>The results reveals that Nigeria’s rural access to clean fuels is significantly lower than that of BRICS countries, supporting the alternative hypothesis. </a:t>
            </a:r>
          </a:p>
          <a:p>
            <a:pPr marL="342900" indent="-342900" algn="just">
              <a:buFont typeface="Wingdings" panose="05000000000000000000" pitchFamily="2" charset="2"/>
              <a:buChar char="§"/>
            </a:pPr>
            <a:endParaRPr lang="en-US" sz="2400" dirty="0"/>
          </a:p>
          <a:p>
            <a:pPr marL="342900" indent="-342900" algn="just">
              <a:buFont typeface="Wingdings" panose="05000000000000000000" pitchFamily="2" charset="2"/>
              <a:buChar char="§"/>
            </a:pPr>
            <a:r>
              <a:rPr lang="en-US" sz="2400" dirty="0"/>
              <a:t>The findings align with the EKC theory, highlighting the need for targeted policies to accelerate Nigeria’s progress toward sustainable development</a:t>
            </a:r>
            <a:r>
              <a:rPr lang="en-US" sz="2000" dirty="0"/>
              <a:t>.</a:t>
            </a:r>
          </a:p>
        </p:txBody>
      </p:sp>
    </p:spTree>
    <p:extLst>
      <p:ext uri="{BB962C8B-B14F-4D97-AF65-F5344CB8AC3E}">
        <p14:creationId xmlns:p14="http://schemas.microsoft.com/office/powerpoint/2010/main" val="2615830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BD2EB-15C0-44F2-A62A-DB84261BA6EC}"/>
              </a:ext>
            </a:extLst>
          </p:cNvPr>
          <p:cNvSpPr>
            <a:spLocks noGrp="1"/>
          </p:cNvSpPr>
          <p:nvPr>
            <p:ph type="title"/>
          </p:nvPr>
        </p:nvSpPr>
        <p:spPr>
          <a:xfrm>
            <a:off x="374650" y="76200"/>
            <a:ext cx="7978775" cy="1006475"/>
          </a:xfrm>
        </p:spPr>
        <p:txBody>
          <a:bodyPr/>
          <a:lstStyle/>
          <a:p>
            <a:pPr algn="ctr"/>
            <a:r>
              <a:rPr lang="en-US" b="1" dirty="0"/>
              <a:t>RECOMMENDATION</a:t>
            </a:r>
          </a:p>
        </p:txBody>
      </p:sp>
      <p:sp>
        <p:nvSpPr>
          <p:cNvPr id="3" name="Slide Number Placeholder 2">
            <a:extLst>
              <a:ext uri="{FF2B5EF4-FFF2-40B4-BE49-F238E27FC236}">
                <a16:creationId xmlns:a16="http://schemas.microsoft.com/office/drawing/2014/main" id="{E58EC691-7A49-4F1C-B4EE-A50D42149B34}"/>
              </a:ext>
            </a:extLst>
          </p:cNvPr>
          <p:cNvSpPr>
            <a:spLocks noGrp="1"/>
          </p:cNvSpPr>
          <p:nvPr>
            <p:ph type="sldNum" sz="quarter" idx="10"/>
          </p:nvPr>
        </p:nvSpPr>
        <p:spPr/>
        <p:txBody>
          <a:bodyPr/>
          <a:lstStyle/>
          <a:p>
            <a:fld id="{570EC2F4-BA6F-46EE-850D-694B38431047}" type="slidenum">
              <a:rPr lang="en-GB" smtClean="0"/>
              <a:pPr/>
              <a:t>25</a:t>
            </a:fld>
            <a:endParaRPr lang="en-GB" dirty="0"/>
          </a:p>
        </p:txBody>
      </p:sp>
      <p:sp>
        <p:nvSpPr>
          <p:cNvPr id="4" name="Rectangle 3">
            <a:extLst>
              <a:ext uri="{FF2B5EF4-FFF2-40B4-BE49-F238E27FC236}">
                <a16:creationId xmlns:a16="http://schemas.microsoft.com/office/drawing/2014/main" id="{70FD7BAE-CC3F-426A-9785-A48CE9AA56D5}"/>
              </a:ext>
            </a:extLst>
          </p:cNvPr>
          <p:cNvSpPr/>
          <p:nvPr/>
        </p:nvSpPr>
        <p:spPr>
          <a:xfrm>
            <a:off x="593725" y="990600"/>
            <a:ext cx="7848600" cy="6370975"/>
          </a:xfrm>
          <a:prstGeom prst="rect">
            <a:avLst/>
          </a:prstGeom>
        </p:spPr>
        <p:txBody>
          <a:bodyPr wrap="square">
            <a:spAutoFit/>
          </a:bodyPr>
          <a:lstStyle/>
          <a:p>
            <a:pPr marL="342900" indent="-342900" fontAlgn="base">
              <a:buFont typeface="Wingdings" panose="05000000000000000000" pitchFamily="2" charset="2"/>
              <a:buChar char="§"/>
            </a:pPr>
            <a:r>
              <a:rPr lang="en-US" sz="2400" dirty="0"/>
              <a:t>Accelerate Clean Energy Adoption: Invest in solar, LPG, and hydropower infrastructure, prioritizing rural and peri-urban areas.</a:t>
            </a:r>
          </a:p>
          <a:p>
            <a:pPr marL="342900" indent="-342900" fontAlgn="base">
              <a:buFont typeface="Wingdings" panose="05000000000000000000" pitchFamily="2" charset="2"/>
              <a:buChar char="§"/>
            </a:pPr>
            <a:endParaRPr lang="en-US" sz="2400" dirty="0"/>
          </a:p>
          <a:p>
            <a:pPr marL="342900" indent="-342900" fontAlgn="base">
              <a:buFont typeface="Wingdings" panose="05000000000000000000" pitchFamily="2" charset="2"/>
              <a:buChar char="§"/>
            </a:pPr>
            <a:r>
              <a:rPr lang="en-US" sz="2400" dirty="0"/>
              <a:t>Adopt Targeted Policies: Implement subsidies, public-private partnerships, and technology transfer initiatives modeled after successful BRICS strategies.</a:t>
            </a:r>
          </a:p>
          <a:p>
            <a:pPr marL="342900" indent="-342900" fontAlgn="base">
              <a:buFont typeface="Wingdings" panose="05000000000000000000" pitchFamily="2" charset="2"/>
              <a:buChar char="§"/>
            </a:pPr>
            <a:endParaRPr lang="en-US" sz="2400" dirty="0"/>
          </a:p>
          <a:p>
            <a:pPr marL="342900" indent="-342900" fontAlgn="base">
              <a:buFont typeface="Wingdings" panose="05000000000000000000" pitchFamily="2" charset="2"/>
              <a:buChar char="§"/>
            </a:pPr>
            <a:r>
              <a:rPr lang="en-US" sz="2400" dirty="0"/>
              <a:t>Strengthen Resource Management: Improve governance, reduce corruption, and enhance regulatory frameworks to optimize natural resource use.</a:t>
            </a:r>
          </a:p>
          <a:p>
            <a:pPr marL="342900" indent="-342900" fontAlgn="base">
              <a:buFont typeface="Wingdings" panose="05000000000000000000" pitchFamily="2" charset="2"/>
              <a:buChar char="§"/>
            </a:pPr>
            <a:endParaRPr lang="en-US" sz="2400" dirty="0"/>
          </a:p>
          <a:p>
            <a:pPr marL="342900" indent="-342900" fontAlgn="base">
              <a:buFont typeface="Wingdings" panose="05000000000000000000" pitchFamily="2" charset="2"/>
              <a:buChar char="§"/>
            </a:pPr>
            <a:r>
              <a:rPr lang="en-US" sz="2400" dirty="0"/>
              <a:t>Leverage Quantitative Monitoring: Use robust data analytics to track progress, identify gaps, and adjust policies dynamically.</a:t>
            </a:r>
          </a:p>
          <a:p>
            <a:pPr marL="342900" indent="-342900" fontAlgn="base">
              <a:buFont typeface="Wingdings" panose="05000000000000000000" pitchFamily="2" charset="2"/>
              <a:buChar char="§"/>
            </a:pPr>
            <a:endParaRPr lang="en-US" sz="2400" dirty="0"/>
          </a:p>
          <a:p>
            <a:pPr marL="342900" indent="-342900" fontAlgn="base">
              <a:buFont typeface="Wingdings" panose="05000000000000000000" pitchFamily="2" charset="2"/>
              <a:buChar char="§"/>
            </a:pPr>
            <a:endParaRPr lang="en-US" sz="2400" dirty="0"/>
          </a:p>
        </p:txBody>
      </p:sp>
    </p:spTree>
    <p:extLst>
      <p:ext uri="{BB962C8B-B14F-4D97-AF65-F5344CB8AC3E}">
        <p14:creationId xmlns:p14="http://schemas.microsoft.com/office/powerpoint/2010/main" val="25195129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1_nctm_ne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Solstice</Template>
  <TotalTime>15570</TotalTime>
  <Words>1353</Words>
  <Application>Microsoft Office PowerPoint</Application>
  <PresentationFormat>On-screen Show (4:3)</PresentationFormat>
  <Paragraphs>208</Paragraphs>
  <Slides>25</Slides>
  <Notes>5</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40" baseType="lpstr">
      <vt:lpstr>ＭＳ Ｐゴシック</vt:lpstr>
      <vt:lpstr>Aharoni</vt:lpstr>
      <vt:lpstr>Arial</vt:lpstr>
      <vt:lpstr>Calibri</vt:lpstr>
      <vt:lpstr>Calibri Light</vt:lpstr>
      <vt:lpstr>fkGroteskNeue</vt:lpstr>
      <vt:lpstr>Gill Sans MT</vt:lpstr>
      <vt:lpstr>Times New Roman</vt:lpstr>
      <vt:lpstr>Tw Cen MT</vt:lpstr>
      <vt:lpstr>Verdana</vt:lpstr>
      <vt:lpstr>Wingdings</vt:lpstr>
      <vt:lpstr>Wingdings 2</vt:lpstr>
      <vt:lpstr>Solstice</vt:lpstr>
      <vt:lpstr>1_nctm_new</vt:lpstr>
      <vt:lpstr>Worksheet</vt:lpstr>
      <vt:lpstr>Unlocking Nigeria's Natural Resources through Strategies for Sustainable Development in Clean Energy</vt:lpstr>
      <vt:lpstr>Outline</vt:lpstr>
      <vt:lpstr>PowerPoint Presentation</vt:lpstr>
      <vt:lpstr> INTRODUCTION CONT’D</vt:lpstr>
      <vt:lpstr>PowerPoint Presentation</vt:lpstr>
      <vt:lpstr>RESEARCH OBJECTIVES </vt:lpstr>
      <vt:lpstr>SIGNIFICANCE OF STUDY</vt:lpstr>
      <vt:lpstr>RESEARCH HYPOTHESES </vt:lpstr>
      <vt:lpstr>METHODOLOGY</vt:lpstr>
      <vt:lpstr> Methodology - Analytical Techniques </vt:lpstr>
      <vt:lpstr>Loop Diagram identifying the parameters patterns and relationships (Authors’ Idea, 2025)</vt:lpstr>
      <vt:lpstr>ANALYTICAL FRAMEWORK</vt:lpstr>
      <vt:lpstr>ANALYSIS &amp; DISCUSSIONS</vt:lpstr>
      <vt:lpstr>PowerPoint Presentation</vt:lpstr>
      <vt:lpstr>      ANALYSIS &amp; DISCUSSIONS   Rural access to clean gas</vt:lpstr>
      <vt:lpstr>PowerPoint Presentation</vt:lpstr>
      <vt:lpstr>PowerPoint Presentation</vt:lpstr>
      <vt:lpstr>PowerPoint Presentation</vt:lpstr>
      <vt:lpstr>Fossil Fuel Consumption</vt:lpstr>
      <vt:lpstr>PowerPoint Presentation</vt:lpstr>
      <vt:lpstr>Nigeria vs. BRICS Fossil Fuel Consumption Analysis</vt:lpstr>
      <vt:lpstr>Contextual Analysis</vt:lpstr>
      <vt:lpstr>Contextual Analysis</vt:lpstr>
      <vt:lpstr>PowerPoint Presentation</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INFORMATION AND COMMUNICATION TECHNOLOGY (ICT) IN PAINT INDUSTRY PRODUCT MARKETING IN SOUTH WESTERN NIGERIA  BY   OLOMU, MICHAEL OLUWASEUN TP12/13/H/2469</dc:title>
  <dc:creator>us</dc:creator>
  <cp:lastModifiedBy>Valentina Thompson-Adewole (s5736159)</cp:lastModifiedBy>
  <cp:revision>2710</cp:revision>
  <cp:lastPrinted>2021-07-13T09:53:54Z</cp:lastPrinted>
  <dcterms:created xsi:type="dcterms:W3CDTF">2014-01-15T07:11:14Z</dcterms:created>
  <dcterms:modified xsi:type="dcterms:W3CDTF">2025-05-12T12:52:28Z</dcterms:modified>
</cp:coreProperties>
</file>