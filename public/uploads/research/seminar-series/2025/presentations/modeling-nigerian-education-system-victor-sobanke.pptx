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76" r:id="rId1"/>
  </p:sldMasterIdLst>
  <p:notesMasterIdLst>
    <p:notesMasterId r:id="rId16"/>
  </p:notesMasterIdLst>
  <p:handoutMasterIdLst>
    <p:handoutMasterId r:id="rId17"/>
  </p:handoutMasterIdLst>
  <p:sldIdLst>
    <p:sldId id="384" r:id="rId2"/>
    <p:sldId id="309" r:id="rId3"/>
    <p:sldId id="399" r:id="rId4"/>
    <p:sldId id="398" r:id="rId5"/>
    <p:sldId id="400" r:id="rId6"/>
    <p:sldId id="401" r:id="rId7"/>
    <p:sldId id="402" r:id="rId8"/>
    <p:sldId id="403" r:id="rId9"/>
    <p:sldId id="404" r:id="rId10"/>
    <p:sldId id="411" r:id="rId11"/>
    <p:sldId id="412" r:id="rId12"/>
    <p:sldId id="413" r:id="rId13"/>
    <p:sldId id="410" r:id="rId14"/>
    <p:sldId id="397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8" clrIdx="0">
    <p:extLst>
      <p:ext uri="{19B8F6BF-5375-455C-9EA6-DF929625EA0E}">
        <p15:presenceInfo xmlns:p15="http://schemas.microsoft.com/office/powerpoint/2012/main" userId="d012383ee43773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34" autoAdjust="0"/>
    <p:restoredTop sz="94671" autoAdjust="0"/>
  </p:normalViewPr>
  <p:slideViewPr>
    <p:cSldViewPr>
      <p:cViewPr>
        <p:scale>
          <a:sx n="66" d="100"/>
          <a:sy n="66" d="100"/>
        </p:scale>
        <p:origin x="732" y="1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8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r">
              <a:defRPr sz="1200"/>
            </a:lvl1pPr>
          </a:lstStyle>
          <a:p>
            <a:fld id="{B4438958-17AF-4DB7-9286-359CCE11C3D8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r">
              <a:defRPr sz="1200"/>
            </a:lvl1pPr>
          </a:lstStyle>
          <a:p>
            <a:fld id="{37DD3F75-C114-4AB7-8C3A-4E238D7544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183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/>
          <a:lstStyle>
            <a:lvl1pPr algn="r">
              <a:defRPr sz="1200"/>
            </a:lvl1pPr>
          </a:lstStyle>
          <a:p>
            <a:fld id="{A2E0831B-1021-4217-B7C3-10CFE9172EF4}" type="datetime1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2" tIns="46216" rIns="92432" bIns="46216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32" tIns="46216" rIns="92432" bIns="462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32" tIns="46216" rIns="92432" bIns="46216" rtlCol="0" anchor="b"/>
          <a:lstStyle>
            <a:lvl1pPr algn="r">
              <a:defRPr sz="1200"/>
            </a:lvl1pPr>
          </a:lstStyle>
          <a:p>
            <a:fld id="{B424D693-3628-4055-9377-F1C425D0BDB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2586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550" y="1560514"/>
            <a:ext cx="12026900" cy="1527175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551" y="1439863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83267" y="3141663"/>
            <a:ext cx="8832851" cy="1852612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63500" dist="38100" dir="8100000" algn="tr" rotWithShape="0">
              <a:srgbClr val="000000">
                <a:alpha val="39999"/>
              </a:srgbClr>
            </a:outerShdw>
          </a:effectLst>
          <a:extLst>
            <a:ext uri="{91240B29-F687-4f45-9708-019B960494DF}">
              <a14:hiddenLine xmlns="" xmlns:a14="http://schemas.microsoft.com/office/drawing/2010/main" w="1905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  <a:latin typeface="+mn-lt"/>
              <a:ea typeface="+mn-ea"/>
            </a:endParaRPr>
          </a:p>
        </p:txBody>
      </p:sp>
      <p:pic>
        <p:nvPicPr>
          <p:cNvPr id="10" name="Picture 18" descr="NAC_LOGO-2.gi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0133" y="11113"/>
            <a:ext cx="914400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943872" y="-91578"/>
            <a:ext cx="33528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NACETEM</a:t>
            </a:r>
            <a:r>
              <a:rPr 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4563" y="628750"/>
            <a:ext cx="7292767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  <a:ea typeface="+mn-ea"/>
                <a:cs typeface="Arial" charset="0"/>
              </a:rPr>
              <a:t>NATIONAL CENTRE FOR TECHNOLOGY MANAGEMENT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9448800" y="6505576"/>
            <a:ext cx="264160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Tw Cen MT" pitchFamily="34" charset="0"/>
              </a:rPr>
              <a:t>© NACETEM 2025</a:t>
            </a:r>
          </a:p>
        </p:txBody>
      </p:sp>
      <p:sp>
        <p:nvSpPr>
          <p:cNvPr id="14" name="TextBox 24"/>
          <p:cNvSpPr txBox="1">
            <a:spLocks noChangeArrowheads="1"/>
          </p:cNvSpPr>
          <p:nvPr userDrawn="1"/>
        </p:nvSpPr>
        <p:spPr bwMode="auto">
          <a:xfrm>
            <a:off x="1007533" y="6500814"/>
            <a:ext cx="7969251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lang="en-GB" sz="1400" i="1" dirty="0">
                <a:latin typeface="Calibri Light" pitchFamily="34" charset="0"/>
              </a:rPr>
              <a:t>NACETEM…Managing Technology for Sustainable Development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0">
                <a:solidFill>
                  <a:schemeClr val="bg1"/>
                </a:solidFill>
                <a:latin typeface="Calibri Light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lide Number Placeholder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9EDA5-6D1B-4EF8-B9D1-6F0743E708F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74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70EC2F4-BA6F-46EE-850D-694B38431047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3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719403" y="1700808"/>
            <a:ext cx="5306496" cy="4824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384032" y="1700808"/>
            <a:ext cx="4998720" cy="4824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C1CB4F6-48C5-41DC-AD8A-7C8A1C3756F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91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FA543-A32D-4F79-A4ED-10059AD0630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90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2492896"/>
            <a:ext cx="10925472" cy="1800200"/>
          </a:xfrm>
          <a:solidFill>
            <a:schemeClr val="accent2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F07390-5331-4807-BD67-FEA8162774E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71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E93C14-AE17-4D24-86F4-FE86C4D87B1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40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5F19E-E292-4EBF-9EFB-12533E997ED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5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C165D-DD1A-47B3-9F4B-1A7B065EABA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52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22239"/>
            <a:ext cx="10972800" cy="6008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66BE0-4650-4758-8CC1-441A4176718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14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7A436E-455D-4B62-97ED-6266397FEF6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09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1816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1816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27B98567-4A0B-48CC-A982-45492D08D15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65953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17600" y="6172200"/>
            <a:ext cx="7315200" cy="457200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fld id="{BDBB1DCD-4BB2-48AE-B70F-FA3E1C7879A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196107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70EC2F4-BA6F-46EE-850D-694B38431047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229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27" name="Title Placeholder 21"/>
          <p:cNvSpPr>
            <a:spLocks noGrp="1"/>
          </p:cNvSpPr>
          <p:nvPr>
            <p:ph type="title"/>
          </p:nvPr>
        </p:nvSpPr>
        <p:spPr bwMode="auto">
          <a:xfrm>
            <a:off x="334434" y="669926"/>
            <a:ext cx="1063836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34434" y="1676401"/>
            <a:ext cx="10888133" cy="463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4733" y="6324600"/>
            <a:ext cx="609600" cy="457200"/>
          </a:xfrm>
          <a:prstGeom prst="ellipse">
            <a:avLst/>
          </a:prstGeom>
          <a:solidFill>
            <a:schemeClr val="accent2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Tw Cen MT" pitchFamily="34" charset="0"/>
              </a:defRPr>
            </a:lvl1pPr>
          </a:lstStyle>
          <a:p>
            <a:fld id="{FA2D2DF1-13C5-43BF-BBD9-0DA151975497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1030" name="Picture 9" descr="NAC_LOGO-2.gif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11410951" y="6165851"/>
            <a:ext cx="73448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8291281" y="-99392"/>
            <a:ext cx="3352800" cy="769441"/>
          </a:xfrm>
          <a:prstGeom prst="rect">
            <a:avLst/>
          </a:prstGeom>
          <a:solidFill>
            <a:schemeClr val="bg1"/>
          </a:solidFill>
          <a:effectLst>
            <a:outerShdw blurRad="38100" dist="25400" dir="5400000" algn="t" rotWithShape="0">
              <a:srgbClr val="000000">
                <a:alpha val="50000"/>
              </a:srgbClr>
            </a:outerShdw>
            <a:softEdge rad="317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sz="4400" b="1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NACETEM</a:t>
            </a:r>
            <a:r>
              <a:rPr lang="en-US" sz="4400" b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</a:t>
            </a:r>
          </a:p>
        </p:txBody>
      </p:sp>
      <p:sp>
        <p:nvSpPr>
          <p:cNvPr id="1034" name="TextBox 23"/>
          <p:cNvSpPr txBox="1">
            <a:spLocks noChangeArrowheads="1"/>
          </p:cNvSpPr>
          <p:nvPr/>
        </p:nvSpPr>
        <p:spPr bwMode="auto">
          <a:xfrm>
            <a:off x="9002184" y="6562726"/>
            <a:ext cx="26416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/>
            <a:r>
              <a:rPr lang="en-US" sz="1200" i="1" dirty="0">
                <a:solidFill>
                  <a:srgbClr val="000000"/>
                </a:solidFill>
                <a:latin typeface="Tw Cen MT" pitchFamily="34" charset="0"/>
              </a:rPr>
              <a:t>© NACETEM 2025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644082" y="0"/>
            <a:ext cx="547919" cy="60212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800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8885879" y="2809501"/>
            <a:ext cx="5926776" cy="307777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spc="150" dirty="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Tw Cen MT"/>
                <a:ea typeface="+mn-ea"/>
                <a:cs typeface="Arial" charset="0"/>
              </a:rPr>
              <a:t>NATIONAL CENTRE FOR TECHNOLOGY MANAGEMENT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 flipH="1">
            <a:off x="0" y="620713"/>
            <a:ext cx="11643784" cy="0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TextBox 7"/>
          <p:cNvSpPr txBox="1">
            <a:spLocks noChangeArrowheads="1"/>
          </p:cNvSpPr>
          <p:nvPr userDrawn="1"/>
        </p:nvSpPr>
        <p:spPr bwMode="auto">
          <a:xfrm>
            <a:off x="1007534" y="6437314"/>
            <a:ext cx="8449733" cy="3381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r>
              <a:rPr lang="en-GB" sz="1600" i="1">
                <a:latin typeface="Calibri Light" pitchFamily="34" charset="0"/>
              </a:rPr>
              <a:t>NACETEM…Managing Technology for Sustainable Development</a:t>
            </a:r>
          </a:p>
        </p:txBody>
      </p:sp>
    </p:spTree>
    <p:extLst>
      <p:ext uri="{BB962C8B-B14F-4D97-AF65-F5344CB8AC3E}">
        <p14:creationId xmlns:p14="http://schemas.microsoft.com/office/powerpoint/2010/main" val="65852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902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Calibri" pitchFamily="34" charset="0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w Cen MT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Calibri Light" pitchFamily="34" charset="0"/>
          <a:ea typeface="ＭＳ Ｐゴシック" charset="0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752600"/>
            <a:ext cx="10591800" cy="1066800"/>
          </a:xfrm>
        </p:spPr>
        <p:txBody>
          <a:bodyPr>
            <a:noAutofit/>
          </a:bodyPr>
          <a:lstStyle/>
          <a:p>
            <a:r>
              <a:rPr lang="en-GB" sz="4800" dirty="0" err="1"/>
              <a:t>Modeling</a:t>
            </a:r>
            <a:r>
              <a:rPr lang="en-GB" sz="4800" dirty="0"/>
              <a:t> the Nigerian Education System: A system dynamics approach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3482578"/>
            <a:ext cx="7772400" cy="1241822"/>
          </a:xfrm>
        </p:spPr>
        <p:txBody>
          <a:bodyPr>
            <a:normAutofit/>
          </a:bodyPr>
          <a:lstStyle/>
          <a:p>
            <a:endParaRPr lang="en-US" sz="2000" dirty="0" smtClean="0"/>
          </a:p>
          <a:p>
            <a:r>
              <a:rPr lang="en-US" sz="3300" dirty="0" smtClean="0"/>
              <a:t>Victor </a:t>
            </a:r>
            <a:r>
              <a:rPr lang="en-US" sz="3300" dirty="0"/>
              <a:t>O. Sobanke (PhD) </a:t>
            </a:r>
          </a:p>
        </p:txBody>
      </p:sp>
    </p:spTree>
    <p:extLst>
      <p:ext uri="{BB962C8B-B14F-4D97-AF65-F5344CB8AC3E}">
        <p14:creationId xmlns:p14="http://schemas.microsoft.com/office/powerpoint/2010/main" val="286420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685785"/>
            <a:ext cx="10134600" cy="676275"/>
          </a:xfrm>
        </p:spPr>
        <p:txBody>
          <a:bodyPr/>
          <a:lstStyle/>
          <a:p>
            <a:pPr algn="ctr" eaLnBrk="1" hangingPunct="1"/>
            <a:r>
              <a:rPr lang="en-GB" dirty="0"/>
              <a:t>Contents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14350" y="1362060"/>
            <a:ext cx="10306050" cy="4962540"/>
          </a:xfrm>
        </p:spPr>
        <p:txBody>
          <a:bodyPr/>
          <a:lstStyle/>
          <a:p>
            <a:pPr eaLnBrk="1" hangingPunct="1">
              <a:buFont typeface="Wingdings" pitchFamily="2" charset="2"/>
              <a:buChar char="v"/>
              <a:defRPr/>
            </a:pPr>
            <a:r>
              <a:rPr lang="en-GB" sz="24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Introduction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Statements of the Problem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Objectives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Dynamic Hypothesis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GB" sz="2400" dirty="0">
                <a:solidFill>
                  <a:schemeClr val="tx2">
                    <a:lumMod val="75000"/>
                  </a:schemeClr>
                </a:solidFill>
                <a:cs typeface="Times New Roman" pitchFamily="18" charset="0"/>
              </a:rPr>
              <a:t>Research Methodology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Historical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Behaviour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(Model Boundary)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Study Variables 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Results and Discussion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Conclusion</a:t>
            </a:r>
            <a:endParaRPr lang="en-GB" sz="1800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97033" y="714376"/>
            <a:ext cx="9904553" cy="676275"/>
          </a:xfrm>
        </p:spPr>
        <p:txBody>
          <a:bodyPr/>
          <a:lstStyle/>
          <a:p>
            <a:pPr algn="ctr" eaLnBrk="1" hangingPunct="1"/>
            <a:r>
              <a:rPr lang="en-GB" dirty="0"/>
              <a:t>Introduction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362060"/>
            <a:ext cx="10210800" cy="4962540"/>
          </a:xfrm>
        </p:spPr>
        <p:txBody>
          <a:bodyPr/>
          <a:lstStyle/>
          <a:p>
            <a:pPr algn="just" eaLnBrk="1" hangingPunct="1"/>
            <a:r>
              <a:rPr lang="en-GB" sz="2400" dirty="0">
                <a:cs typeface="Times New Roman" panose="02020603050405020304" pitchFamily="18" charset="0"/>
              </a:rPr>
              <a:t>Science and technology is a major factor responsible for sustainable economic development, and shifting the foundation of the global economy from resource-based to knowledge-based.</a:t>
            </a:r>
          </a:p>
          <a:p>
            <a:pPr algn="just" eaLnBrk="1" hangingPunct="1"/>
            <a:endParaRPr lang="en-GB" sz="2400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GB" sz="2400" dirty="0">
                <a:cs typeface="Times New Roman" panose="02020603050405020304" pitchFamily="18" charset="0"/>
              </a:rPr>
              <a:t>Endogenous growth theory argued that investment in education is helpful in building human capital which is key determinant in growth process and innovation (Arrow, 1962; Nelson and Phelps, 1966; </a:t>
            </a:r>
            <a:r>
              <a:rPr lang="en-GB" sz="2400" dirty="0" err="1">
                <a:cs typeface="Times New Roman" panose="02020603050405020304" pitchFamily="18" charset="0"/>
              </a:rPr>
              <a:t>Romer</a:t>
            </a:r>
            <a:r>
              <a:rPr lang="en-GB" sz="2400" dirty="0">
                <a:cs typeface="Times New Roman" panose="02020603050405020304" pitchFamily="18" charset="0"/>
              </a:rPr>
              <a:t>, 1986; Lucas, 1988) </a:t>
            </a:r>
          </a:p>
          <a:p>
            <a:pPr algn="just" eaLnBrk="1" hangingPunct="1"/>
            <a:endParaRPr lang="en-GB" sz="2400" dirty="0">
              <a:cs typeface="Times New Roman" panose="02020603050405020304" pitchFamily="18" charset="0"/>
            </a:endParaRPr>
          </a:p>
          <a:p>
            <a:pPr algn="just" eaLnBrk="1" hangingPunct="1"/>
            <a:r>
              <a:rPr lang="en-US" sz="2400" dirty="0">
                <a:cs typeface="Times New Roman" panose="02020603050405020304" pitchFamily="18" charset="0"/>
              </a:rPr>
              <a:t>Nigeria education system has continued to witness an increase in the rate of enrolments and completion resulting production of manpower (Halsey, 1961; </a:t>
            </a:r>
            <a:r>
              <a:rPr lang="en-US" sz="2400" dirty="0" err="1">
                <a:cs typeface="Times New Roman" panose="02020603050405020304" pitchFamily="18" charset="0"/>
              </a:rPr>
              <a:t>Okoh</a:t>
            </a:r>
            <a:r>
              <a:rPr lang="en-US" sz="2400" dirty="0">
                <a:cs typeface="Times New Roman" panose="02020603050405020304" pitchFamily="18" charset="0"/>
              </a:rPr>
              <a:t>, 2002</a:t>
            </a:r>
            <a:r>
              <a:rPr lang="en-US" sz="2400" dirty="0" smtClean="0">
                <a:cs typeface="Times New Roman" panose="02020603050405020304" pitchFamily="18" charset="0"/>
              </a:rPr>
              <a:t>).</a:t>
            </a: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3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714376"/>
            <a:ext cx="10058399" cy="676275"/>
          </a:xfrm>
        </p:spPr>
        <p:txBody>
          <a:bodyPr/>
          <a:lstStyle/>
          <a:p>
            <a:pPr algn="ctr" eaLnBrk="1" hangingPunct="1"/>
            <a:r>
              <a:rPr lang="en-GB" dirty="0"/>
              <a:t>Statement of the Problem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0" y="1362060"/>
            <a:ext cx="10058399" cy="496254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en-GB" sz="2400" dirty="0">
                <a:cs typeface="Times New Roman" panose="02020603050405020304" pitchFamily="18" charset="0"/>
              </a:rPr>
              <a:t>Despite the importance of human capital as a central element in the current knowledge-based economy. </a:t>
            </a:r>
          </a:p>
          <a:p>
            <a:pPr algn="just" eaLnBrk="1" hangingPunct="1">
              <a:lnSpc>
                <a:spcPct val="120000"/>
              </a:lnSpc>
            </a:pPr>
            <a:endParaRPr lang="en-GB" sz="105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GB" sz="2400" dirty="0">
                <a:cs typeface="Times New Roman" panose="02020603050405020304" pitchFamily="18" charset="0"/>
              </a:rPr>
              <a:t>Recent report from the labour market showed generally that there is a rising incidence of unemployment among graduates (</a:t>
            </a:r>
            <a:r>
              <a:rPr lang="en-GB" sz="2400" dirty="0" err="1">
                <a:cs typeface="Times New Roman" panose="02020603050405020304" pitchFamily="18" charset="0"/>
              </a:rPr>
              <a:t>Yesufu</a:t>
            </a:r>
            <a:r>
              <a:rPr lang="en-GB" sz="2400" dirty="0">
                <a:cs typeface="Times New Roman" panose="02020603050405020304" pitchFamily="18" charset="0"/>
              </a:rPr>
              <a:t>, 2000, NBS, 2016). </a:t>
            </a:r>
          </a:p>
          <a:p>
            <a:pPr algn="just" eaLnBrk="1" hangingPunct="1">
              <a:lnSpc>
                <a:spcPct val="120000"/>
              </a:lnSpc>
            </a:pPr>
            <a:endParaRPr lang="en-GB" sz="105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GB" sz="2400" dirty="0">
                <a:cs typeface="Times New Roman" panose="02020603050405020304" pitchFamily="18" charset="0"/>
              </a:rPr>
              <a:t>Although, there are many studies on education system and unemployment in Nigeria, they all employed variable-oriented approach. </a:t>
            </a:r>
          </a:p>
          <a:p>
            <a:pPr algn="just" eaLnBrk="1" hangingPunct="1">
              <a:lnSpc>
                <a:spcPct val="120000"/>
              </a:lnSpc>
            </a:pPr>
            <a:endParaRPr lang="en-GB" sz="105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en-GB" sz="2400" dirty="0">
                <a:cs typeface="Times New Roman" panose="02020603050405020304" pitchFamily="18" charset="0"/>
              </a:rPr>
              <a:t>Hence, the need for this study </a:t>
            </a:r>
            <a:r>
              <a:rPr lang="en-US" sz="2400" dirty="0">
                <a:cs typeface="Times New Roman" panose="02020603050405020304" pitchFamily="18" charset="0"/>
              </a:rPr>
              <a:t>to apply</a:t>
            </a:r>
            <a:r>
              <a:rPr lang="en-GB" sz="2400" dirty="0">
                <a:cs typeface="Times New Roman" panose="02020603050405020304" pitchFamily="18" charset="0"/>
              </a:rPr>
              <a:t> process-oriented approach using SD modelling. </a:t>
            </a:r>
          </a:p>
          <a:p>
            <a:pPr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GB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859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714376"/>
            <a:ext cx="10210799" cy="676275"/>
          </a:xfrm>
        </p:spPr>
        <p:txBody>
          <a:bodyPr/>
          <a:lstStyle/>
          <a:p>
            <a:pPr algn="ctr" eaLnBrk="1" hangingPunct="1"/>
            <a:r>
              <a:rPr lang="en-GB" dirty="0"/>
              <a:t>Objective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81050" y="1390651"/>
            <a:ext cx="10210800" cy="4829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600" kern="1200">
                <a:solidFill>
                  <a:schemeClr val="tx1"/>
                </a:solidFill>
                <a:latin typeface="Calibri Light" pitchFamily="34" charset="0"/>
                <a:ea typeface="ＭＳ Ｐゴシック" charset="0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Calibri Light" pitchFamily="34" charset="0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Calibri Light" pitchFamily="34" charset="0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Calibri Light" pitchFamily="34" charset="0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Calibri Light" pitchFamily="34" charset="0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sz="4000" dirty="0">
                <a:cs typeface="Times New Roman" panose="02020603050405020304" pitchFamily="18" charset="0"/>
              </a:rPr>
              <a:t>examined the dynamics influencing the Nigerian education sector. </a:t>
            </a:r>
            <a:endParaRPr lang="en-GB" sz="4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09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714376"/>
            <a:ext cx="10210799" cy="676275"/>
          </a:xfrm>
        </p:spPr>
        <p:txBody>
          <a:bodyPr/>
          <a:lstStyle/>
          <a:p>
            <a:pPr algn="ctr" eaLnBrk="1" hangingPunct="1"/>
            <a:r>
              <a:rPr lang="en-GB" dirty="0"/>
              <a:t>Dynamic Hypothesis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1524000"/>
            <a:ext cx="10210799" cy="4724400"/>
          </a:xfrm>
        </p:spPr>
        <p:txBody>
          <a:bodyPr/>
          <a:lstStyle/>
          <a:p>
            <a:pPr algn="just"/>
            <a:r>
              <a:rPr lang="en-GB" sz="3200" dirty="0"/>
              <a:t>The increase in primary and secondary school-leavers increases the unemployment of graduates.</a:t>
            </a:r>
          </a:p>
          <a:p>
            <a:pPr algn="just"/>
            <a:endParaRPr lang="en-US" sz="1600" dirty="0"/>
          </a:p>
          <a:p>
            <a:pPr algn="just"/>
            <a:r>
              <a:rPr lang="en-GB" sz="3200" dirty="0"/>
              <a:t>The unemployment of graduates results in low absorptive capacity and poor innovation. </a:t>
            </a:r>
          </a:p>
          <a:p>
            <a:pPr algn="just"/>
            <a:endParaRPr lang="en-US" sz="1400" dirty="0"/>
          </a:p>
          <a:p>
            <a:pPr algn="just"/>
            <a:r>
              <a:rPr lang="en-GB" sz="3200" dirty="0"/>
              <a:t>The low absorptive capacity and poor innovation capability further increases the number of primary and secondary school-leavers.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0638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GB" dirty="0"/>
              <a:t>Research Methodology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3645853" y="5322887"/>
            <a:ext cx="3408362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 eaLnBrk="1" hangingPunct="1">
              <a:lnSpc>
                <a:spcPct val="115000"/>
              </a:lnSpc>
              <a:defRPr/>
            </a:pPr>
            <a:r>
              <a:rPr lang="en-US" b="1" dirty="0">
                <a:latin typeface="+mn-lt"/>
                <a:ea typeface="SimSun" pitchFamily="2" charset="-122"/>
                <a:cs typeface="Times New Roman" pitchFamily="18" charset="0"/>
              </a:rPr>
              <a:t>Figure 3.1: </a:t>
            </a:r>
            <a:r>
              <a:rPr lang="en-GB" dirty="0">
                <a:cs typeface="Arial" charset="0"/>
              </a:rPr>
              <a:t>Conceptual framework </a:t>
            </a:r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161" y="3257431"/>
            <a:ext cx="1566862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873" y="2831318"/>
            <a:ext cx="1570037" cy="134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819" y="3608957"/>
            <a:ext cx="2355850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18"/>
          <a:stretch>
            <a:fillRect/>
          </a:stretch>
        </p:blipFill>
        <p:spPr bwMode="auto">
          <a:xfrm>
            <a:off x="6921500" y="2743200"/>
            <a:ext cx="19177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15"/>
          <p:cNvGrpSpPr>
            <a:grpSpLocks/>
          </p:cNvGrpSpPr>
          <p:nvPr/>
        </p:nvGrpSpPr>
        <p:grpSpPr bwMode="auto">
          <a:xfrm>
            <a:off x="5987415" y="2743200"/>
            <a:ext cx="407988" cy="423862"/>
            <a:chOff x="3444875" y="3725218"/>
            <a:chExt cx="407988" cy="423862"/>
          </a:xfrm>
        </p:grpSpPr>
        <p:grpSp>
          <p:nvGrpSpPr>
            <p:cNvPr id="24" name="Group 22"/>
            <p:cNvGrpSpPr>
              <a:grpSpLocks/>
            </p:cNvGrpSpPr>
            <p:nvPr/>
          </p:nvGrpSpPr>
          <p:grpSpPr bwMode="auto">
            <a:xfrm>
              <a:off x="3444875" y="3725218"/>
              <a:ext cx="407988" cy="371475"/>
              <a:chOff x="1695450" y="1018540"/>
              <a:chExt cx="408467" cy="371475"/>
            </a:xfrm>
          </p:grpSpPr>
          <p:sp>
            <p:nvSpPr>
              <p:cNvPr id="26" name="Arc 56"/>
              <p:cNvSpPr>
                <a:spLocks/>
              </p:cNvSpPr>
              <p:nvPr/>
            </p:nvSpPr>
            <p:spPr bwMode="auto">
              <a:xfrm>
                <a:off x="1695450" y="1018540"/>
                <a:ext cx="371475" cy="371475"/>
              </a:xfrm>
              <a:custGeom>
                <a:avLst/>
                <a:gdLst>
                  <a:gd name="T0" fmla="*/ 2147483646 w 43194"/>
                  <a:gd name="T1" fmla="*/ 2147483646 h 43200"/>
                  <a:gd name="T2" fmla="*/ 2147483646 w 43194"/>
                  <a:gd name="T3" fmla="*/ 1554008178 h 43200"/>
                  <a:gd name="T4" fmla="*/ 2147483646 w 43194"/>
                  <a:gd name="T5" fmla="*/ 214748364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4" h="43200" fill="none" extrusionOk="0">
                    <a:moveTo>
                      <a:pt x="43194" y="22092"/>
                    </a:moveTo>
                    <a:cubicBezTo>
                      <a:pt x="42927" y="33826"/>
                      <a:pt x="333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2" y="-1"/>
                      <a:pt x="21944" y="2"/>
                      <a:pt x="22115" y="6"/>
                    </a:cubicBezTo>
                  </a:path>
                  <a:path w="43194" h="43200" stroke="0" extrusionOk="0">
                    <a:moveTo>
                      <a:pt x="43194" y="22092"/>
                    </a:moveTo>
                    <a:cubicBezTo>
                      <a:pt x="42927" y="33826"/>
                      <a:pt x="33337" y="43199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1772" y="-1"/>
                      <a:pt x="21944" y="2"/>
                      <a:pt x="22115" y="6"/>
                    </a:cubicBezTo>
                    <a:lnTo>
                      <a:pt x="21600" y="21600"/>
                    </a:lnTo>
                    <a:lnTo>
                      <a:pt x="43194" y="22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57"/>
              <p:cNvSpPr>
                <a:spLocks/>
              </p:cNvSpPr>
              <p:nvPr/>
            </p:nvSpPr>
            <p:spPr bwMode="auto">
              <a:xfrm>
                <a:off x="2027717" y="1075690"/>
                <a:ext cx="76200" cy="133350"/>
              </a:xfrm>
              <a:custGeom>
                <a:avLst/>
                <a:gdLst>
                  <a:gd name="T0" fmla="*/ 2147483646 w 120"/>
                  <a:gd name="T1" fmla="*/ 0 h 210"/>
                  <a:gd name="T2" fmla="*/ 0 w 120"/>
                  <a:gd name="T3" fmla="*/ 2147483646 h 210"/>
                  <a:gd name="T4" fmla="*/ 2147483646 w 120"/>
                  <a:gd name="T5" fmla="*/ 2147483646 h 210"/>
                  <a:gd name="T6" fmla="*/ 2147483646 w 120"/>
                  <a:gd name="T7" fmla="*/ 0 h 2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" h="210">
                    <a:moveTo>
                      <a:pt x="60" y="0"/>
                    </a:moveTo>
                    <a:lnTo>
                      <a:pt x="0" y="210"/>
                    </a:lnTo>
                    <a:lnTo>
                      <a:pt x="120" y="210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Rectangle 58"/>
            <p:cNvSpPr>
              <a:spLocks noChangeArrowheads="1"/>
            </p:cNvSpPr>
            <p:nvPr/>
          </p:nvSpPr>
          <p:spPr bwMode="auto">
            <a:xfrm>
              <a:off x="3587750" y="3820468"/>
              <a:ext cx="109538" cy="32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400">
                  <a:solidFill>
                    <a:schemeClr val="tx2"/>
                  </a:solidFill>
                  <a:latin typeface="Candara" panose="020E0502030303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200">
                  <a:solidFill>
                    <a:schemeClr val="tx2"/>
                  </a:solidFill>
                  <a:latin typeface="Candara" panose="020E0502030303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2000">
                  <a:solidFill>
                    <a:schemeClr val="tx2"/>
                  </a:solidFill>
                  <a:latin typeface="Candara" panose="020E0502030303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>
                  <a:solidFill>
                    <a:schemeClr val="tx2"/>
                  </a:solidFill>
                  <a:latin typeface="Candara" panose="020E0502030303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Symbol" panose="05050102010706020507" pitchFamily="18" charset="2"/>
                <a:buChar char=""/>
                <a:defRPr sz="1600">
                  <a:solidFill>
                    <a:schemeClr val="tx2"/>
                  </a:solidFill>
                  <a:latin typeface="Candara" panose="020E0502030303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</a:pPr>
              <a:r>
                <a:rPr lang="en-US" sz="1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R</a:t>
              </a:r>
              <a:endParaRPr lang="en-US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14" name="Picture 13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3323" b="43931"/>
          <a:stretch/>
        </p:blipFill>
        <p:spPr bwMode="auto">
          <a:xfrm>
            <a:off x="4243993" y="1839912"/>
            <a:ext cx="3500120" cy="10096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7497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dirty="0"/>
              <a:t>System Historical </a:t>
            </a:r>
            <a:r>
              <a:rPr lang="en-US" dirty="0" err="1"/>
              <a:t>Behaviour</a:t>
            </a:r>
            <a:endParaRPr lang="en-US" b="1" dirty="0">
              <a:solidFill>
                <a:srgbClr val="002060"/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60575"/>
            <a:ext cx="5611813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491" y="5373688"/>
            <a:ext cx="494539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60575"/>
            <a:ext cx="5611813" cy="329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34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4434" y="669927"/>
            <a:ext cx="10638367" cy="802721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Results and Discussion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57400"/>
            <a:ext cx="6197193" cy="4763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472648"/>
            <a:ext cx="6324600" cy="303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8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4434" y="669927"/>
            <a:ext cx="10638367" cy="802721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Results and Discussion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1451"/>
          <a:stretch/>
        </p:blipFill>
        <p:spPr>
          <a:xfrm>
            <a:off x="838200" y="1472648"/>
            <a:ext cx="9677400" cy="523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899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4434" y="669927"/>
            <a:ext cx="10638367" cy="802721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Results and Discussion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266"/>
          <a:stretch/>
        </p:blipFill>
        <p:spPr>
          <a:xfrm>
            <a:off x="903515" y="1458134"/>
            <a:ext cx="10058400" cy="477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79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334434" y="669927"/>
            <a:ext cx="10638367" cy="802721"/>
          </a:xfrm>
        </p:spPr>
        <p:txBody>
          <a:bodyPr/>
          <a:lstStyle/>
          <a:p>
            <a:pPr algn="ctr" eaLnBrk="1" hangingPunct="1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Results and Discussion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0"/>
              <a:ea typeface="ＭＳ Ｐゴシック" pitchFamily="34" charset="-128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791" y="1295400"/>
            <a:ext cx="10192809" cy="511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36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/>
          </p:nvPr>
        </p:nvSpPr>
        <p:spPr>
          <a:xfrm>
            <a:off x="381000" y="1371601"/>
            <a:ext cx="11049000" cy="4530726"/>
          </a:xfrm>
        </p:spPr>
        <p:txBody>
          <a:bodyPr/>
          <a:lstStyle/>
          <a:p>
            <a:pPr algn="just"/>
            <a:r>
              <a:rPr lang="en-GB" sz="2400" dirty="0" smtClean="0"/>
              <a:t>The </a:t>
            </a:r>
            <a:r>
              <a:rPr lang="en-GB" sz="2400" dirty="0"/>
              <a:t>insight of the activities of variables as important to the overall configuration of the whole system was discussed along the line of developing a model for engaging </a:t>
            </a:r>
            <a:r>
              <a:rPr lang="en-GB" sz="2400" dirty="0" smtClean="0"/>
              <a:t>more graduates in employment.</a:t>
            </a:r>
            <a:endParaRPr lang="en-GB" sz="2400" dirty="0"/>
          </a:p>
          <a:p>
            <a:pPr algn="just"/>
            <a:endParaRPr lang="en-GB" sz="1050" dirty="0"/>
          </a:p>
          <a:p>
            <a:pPr algn="just"/>
            <a:r>
              <a:rPr lang="en-GB" sz="2400" dirty="0"/>
              <a:t>The interaction of these subsystems is in such a way that alters the state of the system and its components which further results in a complex problem of </a:t>
            </a:r>
            <a:r>
              <a:rPr lang="en-GB" sz="2400" dirty="0" smtClean="0"/>
              <a:t>low </a:t>
            </a:r>
            <a:r>
              <a:rPr lang="en-GB" sz="2400" dirty="0"/>
              <a:t>productivity, and poor innovation. </a:t>
            </a:r>
          </a:p>
          <a:p>
            <a:pPr marL="0" indent="0" algn="just">
              <a:buNone/>
            </a:pPr>
            <a:endParaRPr lang="en-GB" sz="1050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729927" y="669926"/>
            <a:ext cx="9382449" cy="7016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696464"/>
                </a:solidFill>
              </a:rPr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1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95601" y="1828801"/>
            <a:ext cx="6084094" cy="3721905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ea typeface="ＭＳ Ｐゴシック" pitchFamily="34" charset="-128"/>
            </a:endParaRPr>
          </a:p>
        </p:txBody>
      </p:sp>
      <p:pic>
        <p:nvPicPr>
          <p:cNvPr id="4" name="Picture 21">
            <a:extLst>
              <a:ext uri="{FF2B5EF4-FFF2-40B4-BE49-F238E27FC236}">
                <a16:creationId xmlns:a16="http://schemas.microsoft.com/office/drawing/2014/main" xmlns="" id="{3086A5CB-8FC9-D45F-8F3D-65BCE1ABF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783193"/>
            <a:ext cx="257175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BABB753-00FB-5ACD-3228-393E79C7A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26209" y="1841311"/>
            <a:ext cx="3886200" cy="297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309B08A-50E5-A0FD-4488-922291314E99}"/>
              </a:ext>
            </a:extLst>
          </p:cNvPr>
          <p:cNvSpPr txBox="1"/>
          <p:nvPr/>
        </p:nvSpPr>
        <p:spPr>
          <a:xfrm>
            <a:off x="6088502" y="2932711"/>
            <a:ext cx="32575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002060"/>
                </a:solidFill>
                <a:latin typeface="Ink Free" panose="03080402000500000000" pitchFamily="66" charset="0"/>
              </a:rPr>
              <a:t>Thank you for  listening.  </a:t>
            </a:r>
          </a:p>
        </p:txBody>
      </p:sp>
    </p:spTree>
    <p:extLst>
      <p:ext uri="{BB962C8B-B14F-4D97-AF65-F5344CB8AC3E}">
        <p14:creationId xmlns:p14="http://schemas.microsoft.com/office/powerpoint/2010/main" val="33221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nctm_new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14101</TotalTime>
  <Words>373</Words>
  <Application>Microsoft Office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ＭＳ Ｐゴシック</vt:lpstr>
      <vt:lpstr>SimSun</vt:lpstr>
      <vt:lpstr>Arial</vt:lpstr>
      <vt:lpstr>Calibri</vt:lpstr>
      <vt:lpstr>Calibri Light</vt:lpstr>
      <vt:lpstr>Gill Sans MT</vt:lpstr>
      <vt:lpstr>Ink Free</vt:lpstr>
      <vt:lpstr>Times New Roman</vt:lpstr>
      <vt:lpstr>Tw Cen MT</vt:lpstr>
      <vt:lpstr>Wingdings</vt:lpstr>
      <vt:lpstr>Wingdings 2</vt:lpstr>
      <vt:lpstr>1_nctm_new</vt:lpstr>
      <vt:lpstr>Modeling the Nigerian Education System: A system dynamics approach</vt:lpstr>
      <vt:lpstr>Contents</vt:lpstr>
      <vt:lpstr>Introduction</vt:lpstr>
      <vt:lpstr>Statement of the Problem</vt:lpstr>
      <vt:lpstr>Objective</vt:lpstr>
      <vt:lpstr>Dynamic Hypothesis</vt:lpstr>
      <vt:lpstr>Research Methodology</vt:lpstr>
      <vt:lpstr>System Historical Behaviour</vt:lpstr>
      <vt:lpstr>Results and Discussion</vt:lpstr>
      <vt:lpstr>Results and Discussion</vt:lpstr>
      <vt:lpstr>Results and Discussion</vt:lpstr>
      <vt:lpstr>Results and Discussion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STUDY OF INFORMATION AND COMMUNICATION TECHNOLOGY (ICT) IN PAINT INDUSTRY PRODUCT MARKETING IN SOUTH WESTERN NIGERIA  BY   OLOMU, MICHAEL OLUWASEUN TP12/13/H/2469</dc:title>
  <dc:creator>us</dc:creator>
  <cp:lastModifiedBy>Microsoft account</cp:lastModifiedBy>
  <cp:revision>2631</cp:revision>
  <cp:lastPrinted>2021-07-13T09:53:54Z</cp:lastPrinted>
  <dcterms:created xsi:type="dcterms:W3CDTF">2014-01-15T07:11:14Z</dcterms:created>
  <dcterms:modified xsi:type="dcterms:W3CDTF">2025-10-15T14:54:13Z</dcterms:modified>
</cp:coreProperties>
</file>