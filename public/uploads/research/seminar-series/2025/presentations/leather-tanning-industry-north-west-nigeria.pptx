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handoutMasterIdLst>
    <p:handoutMasterId r:id="rId20"/>
  </p:handoutMasterIdLst>
  <p:sldIdLst>
    <p:sldId id="256" r:id="rId2"/>
    <p:sldId id="285" r:id="rId3"/>
    <p:sldId id="296" r:id="rId4"/>
    <p:sldId id="545" r:id="rId5"/>
    <p:sldId id="546" r:id="rId6"/>
    <p:sldId id="536" r:id="rId7"/>
    <p:sldId id="318" r:id="rId8"/>
    <p:sldId id="547" r:id="rId9"/>
    <p:sldId id="548" r:id="rId10"/>
    <p:sldId id="549" r:id="rId11"/>
    <p:sldId id="550" r:id="rId12"/>
    <p:sldId id="551" r:id="rId13"/>
    <p:sldId id="552" r:id="rId14"/>
    <p:sldId id="553" r:id="rId15"/>
    <p:sldId id="544" r:id="rId16"/>
    <p:sldId id="554" r:id="rId17"/>
    <p:sldId id="34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2D1F"/>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50" autoAdjust="0"/>
    <p:restoredTop sz="94641" autoAdjust="0"/>
  </p:normalViewPr>
  <p:slideViewPr>
    <p:cSldViewPr snapToGrid="0">
      <p:cViewPr varScale="1">
        <p:scale>
          <a:sx n="70" d="100"/>
          <a:sy n="70" d="100"/>
        </p:scale>
        <p:origin x="-792" y="-9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6" d="100"/>
          <a:sy n="56" d="100"/>
        </p:scale>
        <p:origin x="-288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82A8907-E409-4241-B768-72745FEBA794}" type="datetimeFigureOut">
              <a:rPr lang="en-US" smtClean="0"/>
              <a:t>8/18/2025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CBE09EE-DF63-40B8-A4E3-BECC444DF2D3}" type="slidenum">
              <a:rPr lang="en-US" smtClean="0"/>
              <a:t>‹#›</a:t>
            </a:fld>
            <a:endParaRPr lang="en-US"/>
          </a:p>
        </p:txBody>
      </p:sp>
    </p:spTree>
    <p:extLst>
      <p:ext uri="{BB962C8B-B14F-4D97-AF65-F5344CB8AC3E}">
        <p14:creationId xmlns:p14="http://schemas.microsoft.com/office/powerpoint/2010/main" val="1962818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D4285D-A679-405B-AB0A-19DBAF68B5C5}" type="datetimeFigureOut">
              <a:rPr lang="en-US" smtClean="0"/>
              <a:t>8/18/2025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1D230C-011A-4E96-A43D-D745587C5A96}" type="slidenum">
              <a:rPr lang="en-US" smtClean="0"/>
              <a:t>‹#›</a:t>
            </a:fld>
            <a:endParaRPr lang="en-US"/>
          </a:p>
        </p:txBody>
      </p:sp>
    </p:spTree>
    <p:extLst>
      <p:ext uri="{BB962C8B-B14F-4D97-AF65-F5344CB8AC3E}">
        <p14:creationId xmlns:p14="http://schemas.microsoft.com/office/powerpoint/2010/main" val="121819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1D230C-011A-4E96-A43D-D745587C5A96}" type="slidenum">
              <a:rPr lang="en-US" smtClean="0"/>
              <a:t>1</a:t>
            </a:fld>
            <a:endParaRPr lang="en-US"/>
          </a:p>
        </p:txBody>
      </p:sp>
    </p:spTree>
    <p:extLst>
      <p:ext uri="{BB962C8B-B14F-4D97-AF65-F5344CB8AC3E}">
        <p14:creationId xmlns:p14="http://schemas.microsoft.com/office/powerpoint/2010/main" val="3816589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7066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6AE4BD8-0B21-422E-8FA3-C5379FB5FE58}" type="slidenum">
              <a:rPr lang="en-GB">
                <a:latin typeface="Calibri" panose="020F0502020204030204" pitchFamily="34" charset="0"/>
              </a:rPr>
              <a:pPr eaLnBrk="1" hangingPunct="1"/>
              <a:t>2</a:t>
            </a:fld>
            <a:endParaRPr lang="en-GB">
              <a:latin typeface="Calibri" panose="020F0502020204030204" pitchFamily="34" charset="0"/>
            </a:endParaRPr>
          </a:p>
        </p:txBody>
      </p:sp>
    </p:spTree>
    <p:extLst>
      <p:ext uri="{BB962C8B-B14F-4D97-AF65-F5344CB8AC3E}">
        <p14:creationId xmlns:p14="http://schemas.microsoft.com/office/powerpoint/2010/main" val="3694610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64C428C-DA32-4A2B-AA14-527390A0A863}" type="slidenum">
              <a:rPr lang="en-US" altLang="en-US" smtClean="0"/>
              <a:pPr>
                <a:spcBef>
                  <a:spcPct val="0"/>
                </a:spcBef>
              </a:pPr>
              <a:t>17</a:t>
            </a:fld>
            <a:endParaRPr lang="en-US" altLang="en-US"/>
          </a:p>
        </p:txBody>
      </p:sp>
      <p:sp>
        <p:nvSpPr>
          <p:cNvPr id="90115" name="Rectangle 2"/>
          <p:cNvSpPr>
            <a:spLocks noGrp="1" noRot="1" noChangeAspect="1" noChangeArrowheads="1" noTextEdit="1"/>
          </p:cNvSpPr>
          <p:nvPr>
            <p:ph type="sldImg"/>
          </p:nvPr>
        </p:nvSpPr>
        <p:spPr>
          <a:xfrm>
            <a:off x="2700338" y="511175"/>
            <a:ext cx="4527550" cy="2547938"/>
          </a:xfrm>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59372437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3">
        <a:schemeClr val="bg1"/>
      </p:bgRef>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Slide Number Placeholder 28"/>
          <p:cNvSpPr>
            <a:spLocks noGrp="1"/>
          </p:cNvSpPr>
          <p:nvPr>
            <p:ph type="sldNum" sz="quarter" idx="12"/>
          </p:nvPr>
        </p:nvSpPr>
        <p:spPr>
          <a:xfrm>
            <a:off x="194733" y="6079438"/>
            <a:ext cx="609600" cy="457200"/>
          </a:xfrm>
        </p:spPr>
        <p:txBody>
          <a:bodyPr/>
          <a:lstStyle>
            <a:lvl1pPr>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1400" b="0" i="0" u="none" strike="noStrike" kern="1200" cap="none" spc="0" normalizeH="0" baseline="0" noProof="0">
              <a:ln>
                <a:noFill/>
              </a:ln>
              <a:solidFill>
                <a:srgbClr val="FFFFFF"/>
              </a:solidFill>
              <a:effectLst/>
              <a:uLnTx/>
              <a:uFillTx/>
              <a:latin typeface="Calibri"/>
              <a:ea typeface="+mj-ea"/>
              <a:cs typeface="+mj-cs"/>
            </a:endParaRPr>
          </a:p>
        </p:txBody>
      </p:sp>
      <p:sp>
        <p:nvSpPr>
          <p:cNvPr id="11" name="TextBox 10"/>
          <p:cNvSpPr txBox="1"/>
          <p:nvPr/>
        </p:nvSpPr>
        <p:spPr>
          <a:xfrm>
            <a:off x="9467848" y="6505600"/>
            <a:ext cx="2641600" cy="52322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Tw Cen MT"/>
                <a:ea typeface="+mn-ea"/>
                <a:cs typeface="Arial" charset="0"/>
              </a:rPr>
              <a:t>© NACETEM 2025</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1" u="none" strike="noStrike" kern="1200" cap="none" spc="0" normalizeH="0" baseline="0" noProof="0" dirty="0">
              <a:ln>
                <a:noFill/>
              </a:ln>
              <a:solidFill>
                <a:prstClr val="black"/>
              </a:solidFill>
              <a:effectLst/>
              <a:uLnTx/>
              <a:uFillTx/>
              <a:latin typeface="Tw Cen MT"/>
              <a:ea typeface="+mn-ea"/>
              <a:cs typeface="Arial" charset="0"/>
            </a:endParaRPr>
          </a:p>
        </p:txBody>
      </p:sp>
      <p:sp>
        <p:nvSpPr>
          <p:cNvPr id="15" name="TextBox 14"/>
          <p:cNvSpPr txBox="1"/>
          <p:nvPr/>
        </p:nvSpPr>
        <p:spPr>
          <a:xfrm>
            <a:off x="1007435" y="6077048"/>
            <a:ext cx="796888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dirty="0">
                <a:ln>
                  <a:noFill/>
                </a:ln>
                <a:solidFill>
                  <a:prstClr val="black"/>
                </a:solidFill>
                <a:effectLst/>
                <a:uLnTx/>
                <a:uFillTx/>
                <a:latin typeface="Calibri Light" pitchFamily="34" charset="0"/>
                <a:ea typeface="+mn-ea"/>
                <a:cs typeface="Arial" charset="0"/>
              </a:rPr>
              <a:t>NACETEM…Managing Technology for Sustainable Development</a:t>
            </a:r>
          </a:p>
        </p:txBody>
      </p:sp>
      <p:pic>
        <p:nvPicPr>
          <p:cNvPr id="5" name="Picture 4">
            <a:extLst>
              <a:ext uri="{FF2B5EF4-FFF2-40B4-BE49-F238E27FC236}">
                <a16:creationId xmlns:a16="http://schemas.microsoft.com/office/drawing/2014/main" xmlns="" id="{B8EB9ACF-041C-590D-0341-9C3AC8DAAF9A}"/>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b="19786"/>
          <a:stretch/>
        </p:blipFill>
        <p:spPr>
          <a:xfrm>
            <a:off x="5795962" y="2724322"/>
            <a:ext cx="6396037" cy="3551251"/>
          </a:xfrm>
          <a:prstGeom prst="rect">
            <a:avLst/>
          </a:prstGeom>
          <a:ln>
            <a:noFill/>
          </a:ln>
          <a:effectLst>
            <a:outerShdw blurRad="292100" dist="139700" dir="2700000" algn="tl" rotWithShape="0">
              <a:srgbClr val="333333">
                <a:alpha val="65000"/>
              </a:srgbClr>
            </a:outerShdw>
          </a:effectLst>
        </p:spPr>
      </p:pic>
      <p:sp>
        <p:nvSpPr>
          <p:cNvPr id="3" name="Rectangle: Rounded Corners 2">
            <a:extLst>
              <a:ext uri="{FF2B5EF4-FFF2-40B4-BE49-F238E27FC236}">
                <a16:creationId xmlns:a16="http://schemas.microsoft.com/office/drawing/2014/main" xmlns="" id="{25DD53E8-2E7D-135D-A1E5-629FA7AAA5BF}"/>
              </a:ext>
            </a:extLst>
          </p:cNvPr>
          <p:cNvSpPr/>
          <p:nvPr userDrawn="1"/>
        </p:nvSpPr>
        <p:spPr>
          <a:xfrm>
            <a:off x="0" y="789427"/>
            <a:ext cx="5713410" cy="5819194"/>
          </a:xfrm>
          <a:prstGeom prst="roundRect">
            <a:avLst>
              <a:gd name="adj" fmla="val 0"/>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xmlns="" id="{4B5B3F15-CD74-C0F1-933B-3FE53D7CF98E}"/>
              </a:ext>
            </a:extLst>
          </p:cNvPr>
          <p:cNvSpPr>
            <a:spLocks noGrp="1"/>
          </p:cNvSpPr>
          <p:nvPr>
            <p:ph type="title"/>
          </p:nvPr>
        </p:nvSpPr>
        <p:spPr>
          <a:xfrm>
            <a:off x="361928" y="2381007"/>
            <a:ext cx="4648222" cy="1453946"/>
          </a:xfrm>
        </p:spPr>
        <p:txBody>
          <a:bodyPr/>
          <a:lstStyle>
            <a:lvl1pPr>
              <a:defRPr>
                <a:solidFill>
                  <a:schemeClr val="bg1"/>
                </a:solidFill>
              </a:defRPr>
            </a:lvl1pPr>
          </a:lstStyle>
          <a:p>
            <a:r>
              <a:rPr lang="en-US" dirty="0"/>
              <a:t>Click to edit Master title style</a:t>
            </a:r>
          </a:p>
        </p:txBody>
      </p:sp>
      <p:sp>
        <p:nvSpPr>
          <p:cNvPr id="20" name="Text Placeholder 19">
            <a:extLst>
              <a:ext uri="{FF2B5EF4-FFF2-40B4-BE49-F238E27FC236}">
                <a16:creationId xmlns:a16="http://schemas.microsoft.com/office/drawing/2014/main" xmlns="" id="{FD1D382B-9D76-FFC8-E206-87BB16EB008F}"/>
              </a:ext>
            </a:extLst>
          </p:cNvPr>
          <p:cNvSpPr>
            <a:spLocks noGrp="1"/>
          </p:cNvSpPr>
          <p:nvPr>
            <p:ph type="body" sz="quarter" idx="13"/>
          </p:nvPr>
        </p:nvSpPr>
        <p:spPr>
          <a:xfrm>
            <a:off x="671513" y="4100548"/>
            <a:ext cx="4452937" cy="1652459"/>
          </a:xfrm>
        </p:spPr>
        <p:txBody>
          <a:bodyPr/>
          <a:lstStyle>
            <a:lvl1pPr marL="0" indent="0" algn="r">
              <a:buNone/>
              <a:defRPr>
                <a:solidFill>
                  <a:schemeClr val="bg1"/>
                </a:solidFill>
              </a:defRPr>
            </a:lvl1pPr>
            <a:lvl2pPr marL="319088" indent="0" algn="r">
              <a:buNone/>
              <a:defRPr>
                <a:solidFill>
                  <a:schemeClr val="bg1"/>
                </a:solidFill>
              </a:defRPr>
            </a:lvl2pPr>
            <a:lvl3pPr marL="593725" indent="0" algn="r">
              <a:buNone/>
              <a:defRPr>
                <a:solidFill>
                  <a:schemeClr val="bg1"/>
                </a:solidFill>
              </a:defRPr>
            </a:lvl3pPr>
            <a:lvl4pPr marL="868363" indent="0" algn="r">
              <a:buNone/>
              <a:defRPr>
                <a:solidFill>
                  <a:schemeClr val="bg1"/>
                </a:solidFill>
              </a:defRPr>
            </a:lvl4pPr>
            <a:lvl5pPr marL="1143000" indent="0" algn="r">
              <a:buNone/>
              <a:defRPr>
                <a:solidFill>
                  <a:schemeClr val="bg1"/>
                </a:solidFill>
              </a:defRPr>
            </a:lvl5pPr>
          </a:lstStyle>
          <a:p>
            <a:pPr lvl="0"/>
            <a:r>
              <a:rPr lang="en-US" dirty="0"/>
              <a:t>Click to edit Master text styles</a:t>
            </a:r>
          </a:p>
          <a:p>
            <a:pPr lvl="1"/>
            <a:r>
              <a:rPr lang="en-US" dirty="0"/>
              <a:t>Second level</a:t>
            </a:r>
          </a:p>
        </p:txBody>
      </p:sp>
      <p:pic>
        <p:nvPicPr>
          <p:cNvPr id="12" name="Picture 9" descr="NAC_LOGO-2.gif"/>
          <p:cNvPicPr>
            <a:picLocks noChangeAspect="1"/>
          </p:cNvPicPr>
          <p:nvPr/>
        </p:nvPicPr>
        <p:blipFill>
          <a:blip r:embed="rId4" cstate="print"/>
          <a:srcRect/>
          <a:stretch>
            <a:fillRect/>
          </a:stretch>
        </p:blipFill>
        <p:spPr bwMode="auto">
          <a:xfrm>
            <a:off x="8060996" y="162904"/>
            <a:ext cx="1481548" cy="1453946"/>
          </a:xfrm>
          <a:prstGeom prst="rect">
            <a:avLst/>
          </a:prstGeom>
          <a:noFill/>
          <a:ln w="9525">
            <a:noFill/>
            <a:miter lim="800000"/>
            <a:headEnd/>
            <a:tailEnd/>
          </a:ln>
        </p:spPr>
      </p:pic>
      <p:sp>
        <p:nvSpPr>
          <p:cNvPr id="14" name="TextBox 13"/>
          <p:cNvSpPr txBox="1"/>
          <p:nvPr/>
        </p:nvSpPr>
        <p:spPr>
          <a:xfrm>
            <a:off x="5689600" y="1590833"/>
            <a:ext cx="6502400" cy="369332"/>
          </a:xfrm>
          <a:prstGeom prst="rect">
            <a:avLst/>
          </a:prstGeom>
          <a:noFill/>
        </p:spPr>
        <p:txBody>
          <a:bodyPr wrap="square">
            <a:spAutoFit/>
            <a:scene3d>
              <a:camera prst="orthographicFront"/>
              <a:lightRig rig="soft" dir="t">
                <a:rot lat="0" lon="0" rev="10800000"/>
              </a:lightRig>
            </a:scene3d>
            <a:sp3d>
              <a:bevelT w="27940" h="12700"/>
              <a:contourClr>
                <a:srgbClr val="DDDDDD"/>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50" normalizeH="0" baseline="0" noProof="0" dirty="0">
                <a:ln w="11430"/>
                <a:solidFill>
                  <a:srgbClr val="F8F8F8"/>
                </a:solidFill>
                <a:effectLst>
                  <a:outerShdw blurRad="25400" algn="tl" rotWithShape="0">
                    <a:srgbClr val="000000">
                      <a:alpha val="43000"/>
                    </a:srgbClr>
                  </a:outerShdw>
                </a:effectLst>
                <a:uLnTx/>
                <a:uFillTx/>
                <a:latin typeface="Tw Cen MT"/>
                <a:ea typeface="+mn-ea"/>
                <a:cs typeface="Arial" charset="0"/>
              </a:rPr>
              <a:t>NATIONAL CENTRE FOR TECHNOLOGY MANAGEMENT</a:t>
            </a:r>
          </a:p>
        </p:txBody>
      </p:sp>
      <p:sp>
        <p:nvSpPr>
          <p:cNvPr id="9" name="TextBox 8">
            <a:extLst>
              <a:ext uri="{FF2B5EF4-FFF2-40B4-BE49-F238E27FC236}">
                <a16:creationId xmlns:a16="http://schemas.microsoft.com/office/drawing/2014/main" xmlns="" id="{A2E9DA62-522A-5149-7921-670AFDA25F77}"/>
              </a:ext>
            </a:extLst>
          </p:cNvPr>
          <p:cNvSpPr txBox="1"/>
          <p:nvPr userDrawn="1"/>
        </p:nvSpPr>
        <p:spPr>
          <a:xfrm>
            <a:off x="5949346" y="1920574"/>
            <a:ext cx="5973571" cy="738664"/>
          </a:xfrm>
          <a:prstGeom prst="rect">
            <a:avLst/>
          </a:prstGeom>
          <a:noFill/>
        </p:spPr>
        <p:txBody>
          <a:bodyPr wrap="square">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85000"/>
                    <a:lumOff val="15000"/>
                  </a:schemeClr>
                </a:solidFill>
                <a:latin typeface="Abel" panose="02000506030000020004" pitchFamily="2" charset="0"/>
              </a:rPr>
              <a:t>An Agency of the Federal Ministry of  Innovation</a:t>
            </a:r>
          </a:p>
          <a:p>
            <a:pPr algn="ctr"/>
            <a:r>
              <a:rPr lang="en-GB" sz="1200" dirty="0">
                <a:solidFill>
                  <a:schemeClr val="tx1">
                    <a:lumMod val="85000"/>
                    <a:lumOff val="15000"/>
                  </a:schemeClr>
                </a:solidFill>
                <a:latin typeface="Abel" panose="02000506030000020004" pitchFamily="2" charset="0"/>
              </a:rPr>
              <a:t>Science</a:t>
            </a:r>
            <a:r>
              <a:rPr lang="en-GB" sz="1200" baseline="0" dirty="0">
                <a:solidFill>
                  <a:schemeClr val="tx1">
                    <a:lumMod val="85000"/>
                    <a:lumOff val="15000"/>
                  </a:schemeClr>
                </a:solidFill>
                <a:latin typeface="Abel" panose="02000506030000020004" pitchFamily="2" charset="0"/>
              </a:rPr>
              <a:t> </a:t>
            </a:r>
            <a:r>
              <a:rPr lang="en-GB" sz="1200" dirty="0">
                <a:solidFill>
                  <a:schemeClr val="tx1">
                    <a:lumMod val="85000"/>
                    <a:lumOff val="15000"/>
                  </a:schemeClr>
                </a:solidFill>
                <a:latin typeface="Abel" panose="02000506030000020004" pitchFamily="2" charset="0"/>
              </a:rPr>
              <a:t>and Technology Headquarters: Obafemi Awolowo University, Ile-Ife, Osun State, Nigeria</a:t>
            </a:r>
          </a:p>
          <a:p>
            <a:pPr algn="ctr"/>
            <a:r>
              <a:rPr lang="en-GB" sz="1800" b="1" dirty="0">
                <a:solidFill>
                  <a:srgbClr val="FF0000"/>
                </a:solidFill>
                <a:latin typeface="Abel" panose="02000506030000020004" pitchFamily="2" charset="0"/>
              </a:rPr>
              <a:t>www.nacetem.gov.ng</a:t>
            </a:r>
          </a:p>
        </p:txBody>
      </p:sp>
    </p:spTree>
    <p:extLst>
      <p:ext uri="{BB962C8B-B14F-4D97-AF65-F5344CB8AC3E}">
        <p14:creationId xmlns:p14="http://schemas.microsoft.com/office/powerpoint/2010/main" val="395200610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8" name="Content Placeholder 7"/>
          <p:cNvSpPr>
            <a:spLocks noGrp="1"/>
          </p:cNvSpPr>
          <p:nvPr>
            <p:ph sz="quarter" idx="1"/>
          </p:nvPr>
        </p:nvSpPr>
        <p:spPr>
          <a:xfrm>
            <a:off x="1219200" y="1700808"/>
            <a:ext cx="10363200" cy="4752528"/>
          </a:xfrm>
        </p:spPr>
        <p:txBody>
          <a:bodyPr/>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22"/>
          <p:cNvSpPr>
            <a:spLocks noGrp="1"/>
          </p:cNvSpPr>
          <p:nvPr>
            <p:ph type="sldNum"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1400" b="0" i="0" u="none" strike="noStrike" kern="1200" cap="none" spc="0" normalizeH="0" baseline="0" noProof="0">
              <a:ln>
                <a:noFill/>
              </a:ln>
              <a:solidFill>
                <a:srgbClr val="FFFFFF"/>
              </a:solidFill>
              <a:effectLst/>
              <a:uLnTx/>
              <a:uFillTx/>
              <a:latin typeface="Calibri"/>
              <a:ea typeface="+mj-ea"/>
              <a:cs typeface="+mj-cs"/>
            </a:endParaRPr>
          </a:p>
        </p:txBody>
      </p:sp>
    </p:spTree>
    <p:extLst>
      <p:ext uri="{BB962C8B-B14F-4D97-AF65-F5344CB8AC3E}">
        <p14:creationId xmlns:p14="http://schemas.microsoft.com/office/powerpoint/2010/main" val="3478875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719403" y="1700808"/>
            <a:ext cx="5306496" cy="4824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2"/>
          </p:nvPr>
        </p:nvSpPr>
        <p:spPr>
          <a:xfrm>
            <a:off x="6384032" y="1700808"/>
            <a:ext cx="4998720" cy="4824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1400" b="0" i="0" u="none" strike="noStrike" kern="1200" cap="none" spc="0" normalizeH="0" baseline="0" noProof="0">
              <a:ln>
                <a:noFill/>
              </a:ln>
              <a:solidFill>
                <a:srgbClr val="FFFFFF"/>
              </a:solidFill>
              <a:effectLst/>
              <a:uLnTx/>
              <a:uFillTx/>
              <a:latin typeface="Calibri"/>
              <a:ea typeface="+mj-ea"/>
              <a:cs typeface="+mj-cs"/>
            </a:endParaRPr>
          </a:p>
        </p:txBody>
      </p:sp>
    </p:spTree>
    <p:extLst>
      <p:ext uri="{BB962C8B-B14F-4D97-AF65-F5344CB8AC3E}">
        <p14:creationId xmlns:p14="http://schemas.microsoft.com/office/powerpoint/2010/main" val="2620809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Abel" panose="02000506030000020004" pitchFamily="2" charset="0"/>
                <a:ea typeface="+mj-ea"/>
                <a:cs typeface="+mj-cs"/>
              </a:defRPr>
            </a:lvl1pPr>
            <a:lvl2pPr>
              <a:buNone/>
              <a:defRPr sz="2000" b="1"/>
            </a:lvl2pPr>
            <a:lvl3pPr>
              <a:buNone/>
              <a:defRPr sz="1800" b="1"/>
            </a:lvl3pPr>
            <a:lvl4pPr>
              <a:buNone/>
              <a:defRPr sz="1600" b="1"/>
            </a:lvl4pPr>
            <a:lvl5pPr>
              <a:buNone/>
              <a:defRPr sz="1600" b="1"/>
            </a:lvl5pPr>
          </a:lstStyle>
          <a:p>
            <a:pPr lvl="0"/>
            <a:r>
              <a:rPr lang="en-US" dirty="0"/>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Abel" panose="02000506030000020004" pitchFamily="2" charset="0"/>
                <a:ea typeface="+mj-ea"/>
                <a:cs typeface="+mj-cs"/>
              </a:defRPr>
            </a:lvl1pPr>
            <a:lvl2pPr>
              <a:buNone/>
              <a:defRPr sz="2000" b="1"/>
            </a:lvl2pPr>
            <a:lvl3pPr>
              <a:buNone/>
              <a:defRPr sz="1800" b="1"/>
            </a:lvl3pPr>
            <a:lvl4pPr>
              <a:buNone/>
              <a:defRPr sz="1600" b="1"/>
            </a:lvl4pPr>
            <a:lvl5pPr>
              <a:buNone/>
              <a:defRPr sz="1600" b="1"/>
            </a:lvl5pPr>
          </a:lstStyle>
          <a:p>
            <a:pPr lvl="0"/>
            <a:r>
              <a:rPr lang="en-US" dirty="0"/>
              <a:t>Click to edit Master text styles</a:t>
            </a:r>
          </a:p>
        </p:txBody>
      </p:sp>
      <p:sp>
        <p:nvSpPr>
          <p:cNvPr id="11" name="Content Placeholder 10"/>
          <p:cNvSpPr>
            <a:spLocks noGrp="1"/>
          </p:cNvSpPr>
          <p:nvPr>
            <p:ph sz="half" idx="2"/>
          </p:nvPr>
        </p:nvSpPr>
        <p:spPr>
          <a:xfrm>
            <a:off x="12192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66040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a:xfrm>
            <a:off x="8229600" y="6191250"/>
            <a:ext cx="33020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2428020-E7E2-415E-B88D-D53194348333}" type="datetimeFigureOut">
              <a:rPr kumimoji="0" lang="en-GB" sz="1800" b="0" i="0" u="none" strike="noStrike" kern="1200" cap="none" spc="0" normalizeH="0" baseline="0" noProof="0" smtClean="0">
                <a:ln>
                  <a:noFill/>
                </a:ln>
                <a:solidFill>
                  <a:prstClr val="black"/>
                </a:solidFill>
                <a:effectLst/>
                <a:uLnTx/>
                <a:uFillTx/>
                <a:latin typeface="Calibri"/>
                <a:ea typeface="+mn-ea"/>
                <a:cs typeface="Arial" charset="0"/>
              </a:rPr>
              <a:pPr marL="0" marR="0" lvl="0" indent="0" algn="l" defTabSz="914400" rtl="0" eaLnBrk="1" fontAlgn="auto" latinLnBrk="0" hangingPunct="1">
                <a:lnSpc>
                  <a:spcPct val="100000"/>
                </a:lnSpc>
                <a:spcBef>
                  <a:spcPts val="0"/>
                </a:spcBef>
                <a:spcAft>
                  <a:spcPts val="0"/>
                </a:spcAft>
                <a:buClrTx/>
                <a:buSzTx/>
                <a:buFontTx/>
                <a:buNone/>
                <a:tabLst/>
                <a:defRPr/>
              </a:pPr>
              <a:t>18/08/2025</a:t>
            </a:fld>
            <a:endParaRPr kumimoji="0" lang="en-GB" sz="18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8"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9"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1400" b="0" i="0" u="none" strike="noStrike" kern="1200" cap="none" spc="0" normalizeH="0" baseline="0" noProof="0">
              <a:ln>
                <a:noFill/>
              </a:ln>
              <a:solidFill>
                <a:srgbClr val="FFFFFF"/>
              </a:solidFill>
              <a:effectLst/>
              <a:uLnTx/>
              <a:uFillTx/>
              <a:latin typeface="Calibri"/>
              <a:ea typeface="+mj-ea"/>
              <a:cs typeface="+mj-cs"/>
            </a:endParaRPr>
          </a:p>
        </p:txBody>
      </p:sp>
    </p:spTree>
    <p:extLst>
      <p:ext uri="{BB962C8B-B14F-4D97-AF65-F5344CB8AC3E}">
        <p14:creationId xmlns:p14="http://schemas.microsoft.com/office/powerpoint/2010/main" val="3524361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19403" y="2492896"/>
            <a:ext cx="10925472" cy="1800200"/>
          </a:xfrm>
          <a:solidFill>
            <a:schemeClr val="accent2">
              <a:lumMod val="75000"/>
            </a:schemeClr>
          </a:solidFill>
          <a:effectLst>
            <a:outerShdw blurRad="50800" dist="38100" dir="8100000" algn="tr" rotWithShape="0">
              <a:prstClr val="black">
                <a:alpha val="40000"/>
              </a:prstClr>
            </a:outerShdw>
          </a:effectLst>
        </p:spPr>
        <p:txBody>
          <a:bodyPr/>
          <a:lstStyle>
            <a:lvl1pPr>
              <a:defRPr>
                <a:solidFill>
                  <a:schemeClr val="bg1"/>
                </a:solidFill>
              </a:defRPr>
            </a:lvl1pPr>
          </a:lstStyle>
          <a:p>
            <a:r>
              <a:rPr lang="en-US"/>
              <a:t>Click to edit Master title style</a:t>
            </a:r>
          </a:p>
        </p:txBody>
      </p:sp>
      <p:sp>
        <p:nvSpPr>
          <p:cNvPr id="5"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1400" b="0" i="0" u="none" strike="noStrike" kern="1200" cap="none" spc="0" normalizeH="0" baseline="0" noProof="0">
              <a:ln>
                <a:noFill/>
              </a:ln>
              <a:solidFill>
                <a:srgbClr val="FFFFFF"/>
              </a:solidFill>
              <a:effectLst/>
              <a:uLnTx/>
              <a:uFillTx/>
              <a:latin typeface="Calibri"/>
              <a:ea typeface="+mj-ea"/>
              <a:cs typeface="+mj-cs"/>
            </a:endParaRPr>
          </a:p>
        </p:txBody>
      </p:sp>
    </p:spTree>
    <p:extLst>
      <p:ext uri="{BB962C8B-B14F-4D97-AF65-F5344CB8AC3E}">
        <p14:creationId xmlns:p14="http://schemas.microsoft.com/office/powerpoint/2010/main" val="3852607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a:xfrm>
            <a:off x="8229600" y="6191250"/>
            <a:ext cx="33020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2428020-E7E2-415E-B88D-D53194348333}" type="datetimeFigureOut">
              <a:rPr kumimoji="0" lang="en-GB" sz="1800" b="0" i="0" u="none" strike="noStrike" kern="1200" cap="none" spc="0" normalizeH="0" baseline="0" noProof="0" smtClean="0">
                <a:ln>
                  <a:noFill/>
                </a:ln>
                <a:solidFill>
                  <a:prstClr val="black"/>
                </a:solidFill>
                <a:effectLst/>
                <a:uLnTx/>
                <a:uFillTx/>
                <a:latin typeface="Calibri"/>
                <a:ea typeface="+mn-ea"/>
                <a:cs typeface="Arial" charset="0"/>
              </a:rPr>
              <a:pPr marL="0" marR="0" lvl="0" indent="0" algn="l" defTabSz="914400" rtl="0" eaLnBrk="1" fontAlgn="auto" latinLnBrk="0" hangingPunct="1">
                <a:lnSpc>
                  <a:spcPct val="100000"/>
                </a:lnSpc>
                <a:spcBef>
                  <a:spcPts val="0"/>
                </a:spcBef>
                <a:spcAft>
                  <a:spcPts val="0"/>
                </a:spcAft>
                <a:buClrTx/>
                <a:buSzTx/>
                <a:buFontTx/>
                <a:buNone/>
                <a:tabLst/>
                <a:defRPr/>
              </a:pPr>
              <a:t>18/08/2025</a:t>
            </a:fld>
            <a:endParaRPr kumimoji="0" lang="en-GB" sz="18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3"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4"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1400" b="0" i="0" u="none" strike="noStrike" kern="1200" cap="none" spc="0" normalizeH="0" baseline="0" noProof="0">
              <a:ln>
                <a:noFill/>
              </a:ln>
              <a:solidFill>
                <a:srgbClr val="FFFFFF"/>
              </a:solidFill>
              <a:effectLst/>
              <a:uLnTx/>
              <a:uFillTx/>
              <a:latin typeface="Calibri"/>
              <a:ea typeface="+mj-ea"/>
              <a:cs typeface="+mj-cs"/>
            </a:endParaRPr>
          </a:p>
        </p:txBody>
      </p:sp>
    </p:spTree>
    <p:extLst>
      <p:ext uri="{BB962C8B-B14F-4D97-AF65-F5344CB8AC3E}">
        <p14:creationId xmlns:p14="http://schemas.microsoft.com/office/powerpoint/2010/main" val="134274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a:xfrm>
            <a:off x="8229600" y="6191250"/>
            <a:ext cx="33020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2428020-E7E2-415E-B88D-D53194348333}" type="datetimeFigureOut">
              <a:rPr kumimoji="0" lang="en-GB" sz="1800" b="0" i="0" u="none" strike="noStrike" kern="1200" cap="none" spc="0" normalizeH="0" baseline="0" noProof="0" smtClean="0">
                <a:ln>
                  <a:noFill/>
                </a:ln>
                <a:solidFill>
                  <a:prstClr val="black"/>
                </a:solidFill>
                <a:effectLst/>
                <a:uLnTx/>
                <a:uFillTx/>
                <a:latin typeface="Calibri"/>
                <a:ea typeface="+mn-ea"/>
                <a:cs typeface="Arial" charset="0"/>
              </a:rPr>
              <a:pPr marL="0" marR="0" lvl="0" indent="0" algn="l" defTabSz="914400" rtl="0" eaLnBrk="1" fontAlgn="auto" latinLnBrk="0" hangingPunct="1">
                <a:lnSpc>
                  <a:spcPct val="100000"/>
                </a:lnSpc>
                <a:spcBef>
                  <a:spcPts val="0"/>
                </a:spcBef>
                <a:spcAft>
                  <a:spcPts val="0"/>
                </a:spcAft>
                <a:buClrTx/>
                <a:buSzTx/>
                <a:buFontTx/>
                <a:buNone/>
                <a:tabLst/>
                <a:defRPr/>
              </a:pPr>
              <a:t>18/08/2025</a:t>
            </a:fld>
            <a:endParaRPr kumimoji="0" lang="en-GB" sz="18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5"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6"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1400" b="0" i="0" u="none" strike="noStrike" kern="1200" cap="none" spc="0" normalizeH="0" baseline="0" noProof="0">
              <a:ln>
                <a:noFill/>
              </a:ln>
              <a:solidFill>
                <a:srgbClr val="FFFFFF"/>
              </a:solidFill>
              <a:effectLst/>
              <a:uLnTx/>
              <a:uFillTx/>
              <a:latin typeface="Calibri"/>
              <a:ea typeface="+mj-ea"/>
              <a:cs typeface="+mj-cs"/>
            </a:endParaRPr>
          </a:p>
        </p:txBody>
      </p:sp>
    </p:spTree>
    <p:extLst>
      <p:ext uri="{BB962C8B-B14F-4D97-AF65-F5344CB8AC3E}">
        <p14:creationId xmlns:p14="http://schemas.microsoft.com/office/powerpoint/2010/main" val="314424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a:xfrm>
            <a:off x="8229600" y="6191250"/>
            <a:ext cx="33020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2428020-E7E2-415E-B88D-D53194348333}" type="datetimeFigureOut">
              <a:rPr kumimoji="0" lang="en-GB" sz="1800" b="0" i="0" u="none" strike="noStrike" kern="1200" cap="none" spc="0" normalizeH="0" baseline="0" noProof="0" smtClean="0">
                <a:ln>
                  <a:noFill/>
                </a:ln>
                <a:solidFill>
                  <a:prstClr val="black"/>
                </a:solidFill>
                <a:effectLst/>
                <a:uLnTx/>
                <a:uFillTx/>
                <a:latin typeface="Calibri"/>
                <a:ea typeface="+mn-ea"/>
                <a:cs typeface="Arial" charset="0"/>
              </a:rPr>
              <a:pPr marL="0" marR="0" lvl="0" indent="0" algn="l" defTabSz="914400" rtl="0" eaLnBrk="1" fontAlgn="auto" latinLnBrk="0" hangingPunct="1">
                <a:lnSpc>
                  <a:spcPct val="100000"/>
                </a:lnSpc>
                <a:spcBef>
                  <a:spcPts val="0"/>
                </a:spcBef>
                <a:spcAft>
                  <a:spcPts val="0"/>
                </a:spcAft>
                <a:buClrTx/>
                <a:buSzTx/>
                <a:buFontTx/>
                <a:buNone/>
                <a:tabLst/>
                <a:defRPr/>
              </a:pPr>
              <a:t>18/08/2025</a:t>
            </a:fld>
            <a:endParaRPr kumimoji="0" lang="en-GB" sz="18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5"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6"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1400" b="0" i="0" u="none" strike="noStrike" kern="1200" cap="none" spc="0" normalizeH="0" baseline="0" noProof="0">
              <a:ln>
                <a:noFill/>
              </a:ln>
              <a:solidFill>
                <a:srgbClr val="FFFFFF"/>
              </a:solidFill>
              <a:effectLst/>
              <a:uLnTx/>
              <a:uFillTx/>
              <a:latin typeface="Calibri"/>
              <a:ea typeface="+mj-ea"/>
              <a:cs typeface="+mj-cs"/>
            </a:endParaRPr>
          </a:p>
        </p:txBody>
      </p:sp>
    </p:spTree>
    <p:extLst>
      <p:ext uri="{BB962C8B-B14F-4D97-AF65-F5344CB8AC3E}">
        <p14:creationId xmlns:p14="http://schemas.microsoft.com/office/powerpoint/2010/main" val="25878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122239"/>
            <a:ext cx="109728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p:cNvSpPr>
            <a:spLocks noGrp="1" noChangeArrowheads="1"/>
          </p:cNvSpPr>
          <p:nvPr>
            <p:ph type="dt" sz="half" idx="10"/>
          </p:nvPr>
        </p:nvSpPr>
        <p:spPr>
          <a:xfrm>
            <a:off x="8229600" y="6191250"/>
            <a:ext cx="33020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2428020-E7E2-415E-B88D-D53194348333}" type="datetimeFigureOut">
              <a:rPr kumimoji="0" lang="en-GB" sz="1800" b="0" i="0" u="none" strike="noStrike" kern="1200" cap="none" spc="0" normalizeH="0" baseline="0" noProof="0" smtClean="0">
                <a:ln>
                  <a:noFill/>
                </a:ln>
                <a:solidFill>
                  <a:prstClr val="black"/>
                </a:solidFill>
                <a:effectLst/>
                <a:uLnTx/>
                <a:uFillTx/>
                <a:latin typeface="Calibri"/>
                <a:ea typeface="+mn-ea"/>
                <a:cs typeface="Arial" charset="0"/>
              </a:rPr>
              <a:pPr marL="0" marR="0" lvl="0" indent="0" algn="l" defTabSz="914400" rtl="0" eaLnBrk="1" fontAlgn="auto" latinLnBrk="0" hangingPunct="1">
                <a:lnSpc>
                  <a:spcPct val="100000"/>
                </a:lnSpc>
                <a:spcBef>
                  <a:spcPts val="0"/>
                </a:spcBef>
                <a:spcAft>
                  <a:spcPts val="0"/>
                </a:spcAft>
                <a:buClrTx/>
                <a:buSzTx/>
                <a:buFontTx/>
                <a:buNone/>
                <a:tabLst/>
                <a:defRPr/>
              </a:pPr>
              <a:t>18/08/2025</a:t>
            </a:fld>
            <a:endParaRPr kumimoji="0" lang="en-GB" sz="18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4" name="Rectangle 6"/>
          <p:cNvSpPr>
            <a:spLocks noGrp="1" noChangeArrowheads="1"/>
          </p:cNvSpPr>
          <p:nvPr>
            <p:ph type="ftr" sz="quarter" idx="11"/>
          </p:nvPr>
        </p:nvSpPr>
        <p:spPr>
          <a:xfrm>
            <a:off x="1117600" y="6172200"/>
            <a:ext cx="73152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5" name="Rectangle 7"/>
          <p:cNvSpPr>
            <a:spLocks noGrp="1" noChangeArrowheads="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1400" b="0" i="0" u="none" strike="noStrike" kern="1200" cap="none" spc="0" normalizeH="0" baseline="0" noProof="0">
              <a:ln>
                <a:noFill/>
              </a:ln>
              <a:solidFill>
                <a:srgbClr val="FFFFFF"/>
              </a:solidFill>
              <a:effectLst/>
              <a:uLnTx/>
              <a:uFillTx/>
              <a:latin typeface="Calibri"/>
              <a:ea typeface="+mj-ea"/>
              <a:cs typeface="+mj-cs"/>
            </a:endParaRPr>
          </a:p>
        </p:txBody>
      </p:sp>
    </p:spTree>
    <p:extLst>
      <p:ext uri="{BB962C8B-B14F-4D97-AF65-F5344CB8AC3E}">
        <p14:creationId xmlns:p14="http://schemas.microsoft.com/office/powerpoint/2010/main" val="559773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p>
        </p:txBody>
      </p:sp>
      <p:sp>
        <p:nvSpPr>
          <p:cNvPr id="3" name="Table Placeholder 2"/>
          <p:cNvSpPr>
            <a:spLocks noGrp="1"/>
          </p:cNvSpPr>
          <p:nvPr>
            <p:ph type="tbl" idx="1"/>
          </p:nvPr>
        </p:nvSpPr>
        <p:spPr>
          <a:xfrm>
            <a:off x="609600" y="1719263"/>
            <a:ext cx="10972800" cy="4411662"/>
          </a:xfrm>
        </p:spPr>
        <p:txBody>
          <a:bodyPr/>
          <a:lstStyle/>
          <a:p>
            <a:pPr lvl="0"/>
            <a:r>
              <a:rPr lang="en-US" noProof="0"/>
              <a:t>Click icon to add table</a:t>
            </a:r>
          </a:p>
        </p:txBody>
      </p:sp>
      <p:sp>
        <p:nvSpPr>
          <p:cNvPr id="4" name="Rectangle 5"/>
          <p:cNvSpPr>
            <a:spLocks noGrp="1" noChangeArrowheads="1"/>
          </p:cNvSpPr>
          <p:nvPr>
            <p:ph type="dt" sz="half" idx="10"/>
          </p:nvPr>
        </p:nvSpPr>
        <p:spPr>
          <a:xfrm>
            <a:off x="8229600" y="6191250"/>
            <a:ext cx="33020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2428020-E7E2-415E-B88D-D53194348333}" type="datetimeFigureOut">
              <a:rPr kumimoji="0" lang="en-GB" sz="1800" b="0" i="0" u="none" strike="noStrike" kern="1200" cap="none" spc="0" normalizeH="0" baseline="0" noProof="0" smtClean="0">
                <a:ln>
                  <a:noFill/>
                </a:ln>
                <a:solidFill>
                  <a:prstClr val="black"/>
                </a:solidFill>
                <a:effectLst/>
                <a:uLnTx/>
                <a:uFillTx/>
                <a:latin typeface="Calibri"/>
                <a:ea typeface="+mn-ea"/>
                <a:cs typeface="Arial" charset="0"/>
              </a:rPr>
              <a:pPr marL="0" marR="0" lvl="0" indent="0" algn="l" defTabSz="914400" rtl="0" eaLnBrk="1" fontAlgn="auto" latinLnBrk="0" hangingPunct="1">
                <a:lnSpc>
                  <a:spcPct val="100000"/>
                </a:lnSpc>
                <a:spcBef>
                  <a:spcPts val="0"/>
                </a:spcBef>
                <a:spcAft>
                  <a:spcPts val="0"/>
                </a:spcAft>
                <a:buClrTx/>
                <a:buSzTx/>
                <a:buFontTx/>
                <a:buNone/>
                <a:tabLst/>
                <a:defRPr/>
              </a:pPr>
              <a:t>18/08/2025</a:t>
            </a:fld>
            <a:endParaRPr kumimoji="0" lang="en-GB" sz="18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5" name="Rectangle 6"/>
          <p:cNvSpPr>
            <a:spLocks noGrp="1" noChangeArrowheads="1"/>
          </p:cNvSpPr>
          <p:nvPr>
            <p:ph type="ftr" sz="quarter" idx="11"/>
          </p:nvPr>
        </p:nvSpPr>
        <p:spPr>
          <a:xfrm>
            <a:off x="1117600" y="6172200"/>
            <a:ext cx="73152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6" name="Rectangle 7"/>
          <p:cNvSpPr>
            <a:spLocks noGrp="1" noChangeArrowheads="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1400" b="0" i="0" u="none" strike="noStrike" kern="1200" cap="none" spc="0" normalizeH="0" baseline="0" noProof="0">
              <a:ln>
                <a:noFill/>
              </a:ln>
              <a:solidFill>
                <a:srgbClr val="FFFFFF"/>
              </a:solidFill>
              <a:effectLst/>
              <a:uLnTx/>
              <a:uFillTx/>
              <a:latin typeface="Calibri"/>
              <a:ea typeface="+mj-ea"/>
              <a:cs typeface="+mj-cs"/>
            </a:endParaRPr>
          </a:p>
        </p:txBody>
      </p:sp>
    </p:spTree>
    <p:extLst>
      <p:ext uri="{BB962C8B-B14F-4D97-AF65-F5344CB8AC3E}">
        <p14:creationId xmlns:p14="http://schemas.microsoft.com/office/powerpoint/2010/main" val="1175384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60352" y="228600"/>
            <a:ext cx="10687049"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812800" y="1600200"/>
            <a:ext cx="51816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6197600" y="1600200"/>
            <a:ext cx="51816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6197600" y="3886200"/>
            <a:ext cx="51816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5"/>
          <p:cNvSpPr>
            <a:spLocks noGrp="1"/>
          </p:cNvSpPr>
          <p:nvPr>
            <p:ph type="dt" sz="half" idx="10"/>
          </p:nvPr>
        </p:nvSpPr>
        <p:spPr>
          <a:xfrm>
            <a:off x="8229600" y="6191250"/>
            <a:ext cx="3302000" cy="476250"/>
          </a:xfrm>
          <a:prstGeom prst="rect">
            <a:avLst/>
          </a:prstGeom>
        </p:spPr>
        <p:txBody>
          <a:bodyPr/>
          <a:lstStyle>
            <a:lvl1pPr fontAlgn="auto">
              <a:spcBef>
                <a:spcPts val="0"/>
              </a:spcBef>
              <a:spcAft>
                <a:spcPts val="0"/>
              </a:spcAft>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2428020-E7E2-415E-B88D-D53194348333}" type="datetimeFigureOut">
              <a:rPr kumimoji="0" lang="en-GB" sz="1800" b="0" i="0" u="none" strike="noStrike" kern="1200" cap="none" spc="0" normalizeH="0" baseline="0" noProof="0" smtClean="0">
                <a:ln>
                  <a:noFill/>
                </a:ln>
                <a:solidFill>
                  <a:prstClr val="black">
                    <a:tint val="75000"/>
                  </a:prstClr>
                </a:solidFill>
                <a:effectLst/>
                <a:uLnTx/>
                <a:uFillTx/>
                <a:latin typeface="Calibri"/>
                <a:ea typeface="+mn-ea"/>
                <a:cs typeface="Arial" charset="0"/>
              </a:rPr>
              <a:pPr marL="0" marR="0" lvl="0" indent="0" algn="l" defTabSz="914400" rtl="0" eaLnBrk="1" fontAlgn="auto" latinLnBrk="0" hangingPunct="1">
                <a:lnSpc>
                  <a:spcPct val="100000"/>
                </a:lnSpc>
                <a:spcBef>
                  <a:spcPts val="0"/>
                </a:spcBef>
                <a:spcAft>
                  <a:spcPts val="0"/>
                </a:spcAft>
                <a:buClrTx/>
                <a:buSzTx/>
                <a:buFontTx/>
                <a:buNone/>
                <a:tabLst/>
                <a:defRPr/>
              </a:pPr>
              <a:t>18/08/2025</a:t>
            </a:fld>
            <a:endParaRPr kumimoji="0" lang="en-GB" sz="1800" b="0" i="0" u="none" strike="noStrike" kern="1200" cap="none" spc="0" normalizeH="0" baseline="0" noProof="0">
              <a:ln>
                <a:noFill/>
              </a:ln>
              <a:solidFill>
                <a:prstClr val="black">
                  <a:tint val="75000"/>
                </a:prstClr>
              </a:solidFill>
              <a:effectLst/>
              <a:uLnTx/>
              <a:uFillTx/>
              <a:latin typeface="Calibri"/>
              <a:ea typeface="+mn-ea"/>
              <a:cs typeface="Arial" charset="0"/>
            </a:endParaRPr>
          </a:p>
        </p:txBody>
      </p:sp>
      <p:sp>
        <p:nvSpPr>
          <p:cNvPr id="7" name="Footer Placeholder 6"/>
          <p:cNvSpPr>
            <a:spLocks noGrp="1"/>
          </p:cNvSpPr>
          <p:nvPr>
            <p:ph type="ftr" sz="quarter" idx="11"/>
          </p:nvPr>
        </p:nvSpPr>
        <p:spPr>
          <a:xfrm>
            <a:off x="1117600" y="6172200"/>
            <a:ext cx="7315200" cy="457200"/>
          </a:xfrm>
          <a:prstGeom prst="rect">
            <a:avLst/>
          </a:prstGeom>
        </p:spPr>
        <p:txBody>
          <a:bodyPr/>
          <a:lstStyle>
            <a:lvl1pPr fontAlgn="auto">
              <a:spcBef>
                <a:spcPts val="0"/>
              </a:spcBef>
              <a:spcAft>
                <a:spcPts val="0"/>
              </a:spcAft>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tint val="75000"/>
                </a:prstClr>
              </a:solidFill>
              <a:effectLst/>
              <a:uLnTx/>
              <a:uFillTx/>
              <a:latin typeface="Calibri"/>
              <a:ea typeface="+mn-ea"/>
              <a:cs typeface="Arial" charset="0"/>
            </a:endParaRPr>
          </a:p>
        </p:txBody>
      </p:sp>
      <p:sp>
        <p:nvSpPr>
          <p:cNvPr id="8" name="Slide Number Placeholder 7"/>
          <p:cNvSpPr>
            <a:spLocks noGrp="1"/>
          </p:cNvSpPr>
          <p:nvPr>
            <p:ph type="sldNum" sz="quarter" idx="12"/>
          </p:nvPr>
        </p:nvSpPr>
        <p:spPr/>
        <p:txBody>
          <a:bodyPr/>
          <a:lstStyle>
            <a:lvl1pPr fontAlgn="auto">
              <a:spcBef>
                <a:spcPts val="0"/>
              </a:spcBef>
              <a:spcAft>
                <a:spcPts val="0"/>
              </a:spcAft>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A7C2BA6-9175-4393-BC16-AD9AEFA91D9A}" type="slidenum">
              <a:rPr kumimoji="0" lang="en-GB" sz="1400" b="0" i="0" u="none" strike="noStrike" kern="1200" cap="none" spc="0" normalizeH="0" baseline="0" noProof="0" smtClean="0">
                <a:ln>
                  <a:noFill/>
                </a:ln>
                <a:solidFill>
                  <a:prstClr val="black">
                    <a:tint val="75000"/>
                  </a:prstClr>
                </a:solidFill>
                <a:effectLst/>
                <a:uLnTx/>
                <a:uFillTx/>
                <a:latin typeface="Calibri"/>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1400" b="0" i="0" u="none" strike="noStrike" kern="1200" cap="none" spc="0" normalizeH="0" baseline="0" noProof="0">
              <a:ln>
                <a:noFill/>
              </a:ln>
              <a:solidFill>
                <a:prstClr val="black">
                  <a:tint val="75000"/>
                </a:prstClr>
              </a:solidFill>
              <a:effectLst/>
              <a:uLnTx/>
              <a:uFillTx/>
              <a:latin typeface="Calibri"/>
              <a:ea typeface="+mj-ea"/>
              <a:cs typeface="+mj-cs"/>
            </a:endParaRPr>
          </a:p>
        </p:txBody>
      </p:sp>
    </p:spTree>
    <p:extLst>
      <p:ext uri="{BB962C8B-B14F-4D97-AF65-F5344CB8AC3E}">
        <p14:creationId xmlns:p14="http://schemas.microsoft.com/office/powerpoint/2010/main" val="102338200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0352" y="228600"/>
            <a:ext cx="10687049"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812800" y="1600200"/>
            <a:ext cx="51816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0"/>
            <a:ext cx="51816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229600" y="6191250"/>
            <a:ext cx="3302000" cy="476250"/>
          </a:xfrm>
          <a:prstGeom prst="rect">
            <a:avLst/>
          </a:prstGeom>
        </p:spPr>
        <p:txBody>
          <a:bodyPr/>
          <a:lstStyle>
            <a:lvl1pPr fontAlgn="auto">
              <a:spcBef>
                <a:spcPts val="0"/>
              </a:spcBef>
              <a:spcAft>
                <a:spcPts val="0"/>
              </a:spcAft>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2428020-E7E2-415E-B88D-D53194348333}" type="datetimeFigureOut">
              <a:rPr kumimoji="0" lang="en-GB" sz="1800" b="0" i="0" u="none" strike="noStrike" kern="1200" cap="none" spc="0" normalizeH="0" baseline="0" noProof="0" smtClean="0">
                <a:ln>
                  <a:noFill/>
                </a:ln>
                <a:solidFill>
                  <a:prstClr val="black">
                    <a:tint val="75000"/>
                  </a:prstClr>
                </a:solidFill>
                <a:effectLst/>
                <a:uLnTx/>
                <a:uFillTx/>
                <a:latin typeface="Calibri"/>
                <a:ea typeface="+mn-ea"/>
                <a:cs typeface="Arial" charset="0"/>
              </a:rPr>
              <a:pPr marL="0" marR="0" lvl="0" indent="0" algn="l" defTabSz="914400" rtl="0" eaLnBrk="1" fontAlgn="auto" latinLnBrk="0" hangingPunct="1">
                <a:lnSpc>
                  <a:spcPct val="100000"/>
                </a:lnSpc>
                <a:spcBef>
                  <a:spcPts val="0"/>
                </a:spcBef>
                <a:spcAft>
                  <a:spcPts val="0"/>
                </a:spcAft>
                <a:buClrTx/>
                <a:buSzTx/>
                <a:buFontTx/>
                <a:buNone/>
                <a:tabLst/>
                <a:defRPr/>
              </a:pPr>
              <a:t>18/08/2025</a:t>
            </a:fld>
            <a:endParaRPr kumimoji="0" lang="en-GB" sz="1800" b="0" i="0" u="none" strike="noStrike" kern="1200" cap="none" spc="0" normalizeH="0" baseline="0" noProof="0">
              <a:ln>
                <a:noFill/>
              </a:ln>
              <a:solidFill>
                <a:prstClr val="black">
                  <a:tint val="75000"/>
                </a:prstClr>
              </a:solidFill>
              <a:effectLst/>
              <a:uLnTx/>
              <a:uFillTx/>
              <a:latin typeface="Calibri"/>
              <a:ea typeface="+mn-ea"/>
              <a:cs typeface="Arial" charset="0"/>
            </a:endParaRPr>
          </a:p>
        </p:txBody>
      </p:sp>
      <p:sp>
        <p:nvSpPr>
          <p:cNvPr id="6" name="Footer Placeholder 5"/>
          <p:cNvSpPr>
            <a:spLocks noGrp="1"/>
          </p:cNvSpPr>
          <p:nvPr>
            <p:ph type="ftr" sz="quarter" idx="11"/>
          </p:nvPr>
        </p:nvSpPr>
        <p:spPr>
          <a:xfrm>
            <a:off x="1117600" y="6172200"/>
            <a:ext cx="7315200" cy="457200"/>
          </a:xfrm>
          <a:prstGeom prst="rect">
            <a:avLst/>
          </a:prstGeom>
        </p:spPr>
        <p:txBody>
          <a:bodyPr/>
          <a:lstStyle>
            <a:lvl1pPr fontAlgn="auto">
              <a:spcBef>
                <a:spcPts val="0"/>
              </a:spcBef>
              <a:spcAft>
                <a:spcPts val="0"/>
              </a:spcAft>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tint val="75000"/>
                </a:prstClr>
              </a:solidFill>
              <a:effectLst/>
              <a:uLnTx/>
              <a:uFillTx/>
              <a:latin typeface="Calibri"/>
              <a:ea typeface="+mn-ea"/>
              <a:cs typeface="Arial" charset="0"/>
            </a:endParaRPr>
          </a:p>
        </p:txBody>
      </p:sp>
      <p:sp>
        <p:nvSpPr>
          <p:cNvPr id="7" name="Slide Number Placeholder 6"/>
          <p:cNvSpPr>
            <a:spLocks noGrp="1"/>
          </p:cNvSpPr>
          <p:nvPr>
            <p:ph type="sldNum" sz="quarter" idx="12"/>
          </p:nvPr>
        </p:nvSpPr>
        <p:spPr/>
        <p:txBody>
          <a:bodyPr/>
          <a:lstStyle>
            <a:lvl1pPr fontAlgn="auto">
              <a:spcBef>
                <a:spcPts val="0"/>
              </a:spcBef>
              <a:spcAft>
                <a:spcPts val="0"/>
              </a:spcAft>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A7C2BA6-9175-4393-BC16-AD9AEFA91D9A}" type="slidenum">
              <a:rPr kumimoji="0" lang="en-GB" sz="1400" b="0" i="0" u="none" strike="noStrike" kern="1200" cap="none" spc="0" normalizeH="0" baseline="0" noProof="0" smtClean="0">
                <a:ln>
                  <a:noFill/>
                </a:ln>
                <a:solidFill>
                  <a:prstClr val="black">
                    <a:tint val="75000"/>
                  </a:prstClr>
                </a:solidFill>
                <a:effectLst/>
                <a:uLnTx/>
                <a:uFillTx/>
                <a:latin typeface="Calibri"/>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1400" b="0" i="0" u="none" strike="noStrike" kern="1200" cap="none" spc="0" normalizeH="0" baseline="0" noProof="0" dirty="0">
              <a:ln>
                <a:noFill/>
              </a:ln>
              <a:solidFill>
                <a:prstClr val="black">
                  <a:tint val="75000"/>
                </a:prstClr>
              </a:solidFill>
              <a:effectLst/>
              <a:uLnTx/>
              <a:uFillTx/>
              <a:latin typeface="Calibri"/>
              <a:ea typeface="+mj-ea"/>
              <a:cs typeface="+mj-cs"/>
            </a:endParaRPr>
          </a:p>
        </p:txBody>
      </p:sp>
    </p:spTree>
    <p:extLst>
      <p:ext uri="{BB962C8B-B14F-4D97-AF65-F5344CB8AC3E}">
        <p14:creationId xmlns:p14="http://schemas.microsoft.com/office/powerpoint/2010/main" val="112470406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F4C2DA3-8C38-4304-AD39-CC3B2BF82A66}" type="datetimeFigureOut">
              <a:rPr kumimoji="0" lang="en-US" sz="1800" b="0" i="0" u="none" strike="noStrike" kern="1200" cap="none" spc="0" normalizeH="0" baseline="0" noProof="0" smtClean="0">
                <a:ln>
                  <a:noFill/>
                </a:ln>
                <a:solidFill>
                  <a:prstClr val="black"/>
                </a:solidFill>
                <a:effectLst/>
                <a:uLnTx/>
                <a:uFillTx/>
                <a:latin typeface="Calibri"/>
                <a:ea typeface="+mn-ea"/>
                <a:cs typeface="Arial" charset="0"/>
              </a:rPr>
              <a:pPr marL="0" marR="0" lvl="0" indent="0" algn="l" defTabSz="914400" rtl="0" eaLnBrk="1" fontAlgn="auto" latinLnBrk="0" hangingPunct="1">
                <a:lnSpc>
                  <a:spcPct val="100000"/>
                </a:lnSpc>
                <a:spcBef>
                  <a:spcPts val="0"/>
                </a:spcBef>
                <a:spcAft>
                  <a:spcPts val="0"/>
                </a:spcAft>
                <a:buClrTx/>
                <a:buSzTx/>
                <a:buFontTx/>
                <a:buNone/>
                <a:tabLst/>
                <a:defRPr/>
              </a:pPr>
              <a:t>8/18/2025</a:t>
            </a:fld>
            <a:endParaRPr kumimoji="0" lang="en-US" sz="18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Arial" charset="0"/>
            </a:endParaRPr>
          </a:p>
        </p:txBody>
      </p:sp>
      <p:sp>
        <p:nvSpPr>
          <p:cNvPr id="6" name="Slide Number Placeholder 5"/>
          <p:cNvSpPr>
            <a:spLocks noGrp="1"/>
          </p:cNvSpPr>
          <p:nvPr>
            <p:ph type="sldNum" sz="quarter" idx="12"/>
          </p:nvPr>
        </p:nvSpPr>
        <p:spPr>
          <a:solidFill>
            <a:srgbClr val="9B2D1F"/>
          </a:solidFill>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69BEF48-7922-4F67-98C7-3161304E1AE1}" type="slidenum">
              <a:rPr kumimoji="0" lang="en-US" sz="1400" b="0" i="0" u="none" strike="noStrike" kern="1200" cap="none" spc="0" normalizeH="0" baseline="0" noProof="0" smtClean="0">
                <a:ln>
                  <a:noFill/>
                </a:ln>
                <a:solidFill>
                  <a:srgbClr val="FFFFFF"/>
                </a:solidFill>
                <a:effectLst/>
                <a:uLnTx/>
                <a:uFillTx/>
                <a:latin typeface="Calibri"/>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FFFFFF"/>
              </a:solidFill>
              <a:effectLst/>
              <a:uLnTx/>
              <a:uFillTx/>
              <a:latin typeface="Calibri"/>
              <a:ea typeface="+mj-ea"/>
              <a:cs typeface="+mj-cs"/>
            </a:endParaRPr>
          </a:p>
        </p:txBody>
      </p:sp>
    </p:spTree>
    <p:extLst>
      <p:ext uri="{BB962C8B-B14F-4D97-AF65-F5344CB8AC3E}">
        <p14:creationId xmlns:p14="http://schemas.microsoft.com/office/powerpoint/2010/main" val="2001026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n-lt"/>
              <a:ea typeface="+mn-ea"/>
              <a:cs typeface="+mn-cs"/>
            </a:endParaRPr>
          </a:p>
        </p:txBody>
      </p:sp>
      <p:sp>
        <p:nvSpPr>
          <p:cNvPr id="3075" name="Title Placeholder 21"/>
          <p:cNvSpPr>
            <a:spLocks noGrp="1"/>
          </p:cNvSpPr>
          <p:nvPr>
            <p:ph type="title"/>
          </p:nvPr>
        </p:nvSpPr>
        <p:spPr bwMode="auto">
          <a:xfrm>
            <a:off x="335360" y="670050"/>
            <a:ext cx="10637440" cy="1006351"/>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lvl="0"/>
            <a:r>
              <a:rPr lang="en-US" dirty="0"/>
              <a:t>Click to edit Master title style</a:t>
            </a:r>
          </a:p>
        </p:txBody>
      </p:sp>
      <p:sp>
        <p:nvSpPr>
          <p:cNvPr id="3076" name="Text Placeholder 12"/>
          <p:cNvSpPr>
            <a:spLocks noGrp="1"/>
          </p:cNvSpPr>
          <p:nvPr>
            <p:ph type="body" idx="1"/>
          </p:nvPr>
        </p:nvSpPr>
        <p:spPr bwMode="auto">
          <a:xfrm>
            <a:off x="335360" y="1676400"/>
            <a:ext cx="10887173" cy="46329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Slide Number Placeholder 22"/>
          <p:cNvSpPr>
            <a:spLocks noGrp="1"/>
          </p:cNvSpPr>
          <p:nvPr>
            <p:ph type="sldNum" sz="quarter" idx="4"/>
          </p:nvPr>
        </p:nvSpPr>
        <p:spPr>
          <a:xfrm>
            <a:off x="194733" y="6324600"/>
            <a:ext cx="609600" cy="457200"/>
          </a:xfrm>
          <a:prstGeom prst="ellipse">
            <a:avLst/>
          </a:prstGeom>
          <a:solidFill>
            <a:schemeClr val="accent2"/>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1400" b="0" i="0" u="none" strike="noStrike" kern="1200" cap="none" spc="0" normalizeH="0" baseline="0" noProof="0">
              <a:ln>
                <a:noFill/>
              </a:ln>
              <a:solidFill>
                <a:srgbClr val="FFFFFF"/>
              </a:solidFill>
              <a:effectLst/>
              <a:uLnTx/>
              <a:uFillTx/>
              <a:latin typeface="Calibri"/>
              <a:ea typeface="+mj-ea"/>
              <a:cs typeface="+mj-cs"/>
            </a:endParaRPr>
          </a:p>
        </p:txBody>
      </p:sp>
      <p:pic>
        <p:nvPicPr>
          <p:cNvPr id="3080" name="Picture 9" descr="NAC_LOGO-2.gif"/>
          <p:cNvPicPr>
            <a:picLocks noChangeAspect="1"/>
          </p:cNvPicPr>
          <p:nvPr/>
        </p:nvPicPr>
        <p:blipFill>
          <a:blip r:embed="rId15" cstate="print"/>
          <a:srcRect/>
          <a:stretch>
            <a:fillRect/>
          </a:stretch>
        </p:blipFill>
        <p:spPr bwMode="auto">
          <a:xfrm>
            <a:off x="11410698" y="6165304"/>
            <a:ext cx="733975" cy="544110"/>
          </a:xfrm>
          <a:prstGeom prst="rect">
            <a:avLst/>
          </a:prstGeom>
          <a:noFill/>
          <a:ln w="9525">
            <a:noFill/>
            <a:miter lim="800000"/>
            <a:headEnd/>
            <a:tailEnd/>
          </a:ln>
        </p:spPr>
      </p:pic>
      <p:sp>
        <p:nvSpPr>
          <p:cNvPr id="24" name="TextBox 23"/>
          <p:cNvSpPr txBox="1"/>
          <p:nvPr/>
        </p:nvSpPr>
        <p:spPr>
          <a:xfrm>
            <a:off x="9002481" y="6563445"/>
            <a:ext cx="2641600" cy="276225"/>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Tw Cen MT"/>
                <a:ea typeface="+mn-ea"/>
                <a:cs typeface="Arial" charset="0"/>
              </a:rPr>
              <a:t>© NACETEM 2025</a:t>
            </a:r>
          </a:p>
        </p:txBody>
      </p:sp>
      <p:sp>
        <p:nvSpPr>
          <p:cNvPr id="4" name="Rectangle 3"/>
          <p:cNvSpPr/>
          <p:nvPr userDrawn="1"/>
        </p:nvSpPr>
        <p:spPr>
          <a:xfrm>
            <a:off x="11644082" y="0"/>
            <a:ext cx="547919" cy="6021288"/>
          </a:xfrm>
          <a:prstGeom prst="rect">
            <a:avLst/>
          </a:prstGeom>
          <a:solidFill>
            <a:schemeClr val="tx1">
              <a:lumMod val="85000"/>
              <a:lumOff val="15000"/>
            </a:schemeClr>
          </a:solidFill>
          <a:ln>
            <a:noFill/>
          </a:ln>
          <a:effectLst>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rot="16200000">
            <a:off x="8885879" y="2809501"/>
            <a:ext cx="5926776"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50" normalizeH="0" baseline="0" noProof="0" dirty="0">
                <a:ln w="11430"/>
                <a:solidFill>
                  <a:srgbClr val="F8F8F8"/>
                </a:solidFill>
                <a:effectLst>
                  <a:outerShdw blurRad="25400" algn="tl" rotWithShape="0">
                    <a:srgbClr val="000000">
                      <a:alpha val="43000"/>
                    </a:srgbClr>
                  </a:outerShdw>
                </a:effectLst>
                <a:uLnTx/>
                <a:uFillTx/>
                <a:latin typeface="Tw Cen MT"/>
                <a:ea typeface="+mn-ea"/>
                <a:cs typeface="Arial" charset="0"/>
              </a:rPr>
              <a:t>NATIONAL CENTRE FOR TECHNOLOGY MANAGEMENT</a:t>
            </a:r>
          </a:p>
        </p:txBody>
      </p:sp>
      <p:sp>
        <p:nvSpPr>
          <p:cNvPr id="8" name="TextBox 7"/>
          <p:cNvSpPr txBox="1"/>
          <p:nvPr/>
        </p:nvSpPr>
        <p:spPr>
          <a:xfrm>
            <a:off x="1007435" y="6437359"/>
            <a:ext cx="844893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1" u="none" strike="noStrike" kern="1200" cap="none" spc="0" normalizeH="0" baseline="0" noProof="0" dirty="0">
                <a:ln>
                  <a:noFill/>
                </a:ln>
                <a:solidFill>
                  <a:prstClr val="black"/>
                </a:solidFill>
                <a:effectLst/>
                <a:uLnTx/>
                <a:uFillTx/>
                <a:latin typeface="Calibri Light" pitchFamily="34" charset="0"/>
                <a:ea typeface="+mn-ea"/>
                <a:cs typeface="Arial" charset="0"/>
              </a:rPr>
              <a:t>NACETEM…Managing Technology for Sustainable Development</a:t>
            </a:r>
          </a:p>
        </p:txBody>
      </p:sp>
    </p:spTree>
    <p:extLst>
      <p:ext uri="{BB962C8B-B14F-4D97-AF65-F5344CB8AC3E}">
        <p14:creationId xmlns:p14="http://schemas.microsoft.com/office/powerpoint/2010/main" val="1969075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sz="3600" b="1" kern="1200">
          <a:solidFill>
            <a:schemeClr val="tx1">
              <a:lumMod val="75000"/>
              <a:lumOff val="25000"/>
            </a:schemeClr>
          </a:solidFill>
          <a:latin typeface="Abel" panose="02000506030000020004" pitchFamily="2" charset="0"/>
          <a:ea typeface="+mj-ea"/>
          <a:cs typeface="+mj-cs"/>
        </a:defRPr>
      </a:lvl1pPr>
      <a:lvl2pPr algn="l" rtl="0" eaLnBrk="1" fontAlgn="base" hangingPunct="1">
        <a:spcBef>
          <a:spcPct val="0"/>
        </a:spcBef>
        <a:spcAft>
          <a:spcPct val="0"/>
        </a:spcAft>
        <a:defRPr sz="4000">
          <a:solidFill>
            <a:schemeClr val="tx2"/>
          </a:solidFill>
          <a:latin typeface="Tw Cen MT" pitchFamily="34" charset="0"/>
        </a:defRPr>
      </a:lvl2pPr>
      <a:lvl3pPr algn="l" rtl="0" eaLnBrk="1" fontAlgn="base" hangingPunct="1">
        <a:spcBef>
          <a:spcPct val="0"/>
        </a:spcBef>
        <a:spcAft>
          <a:spcPct val="0"/>
        </a:spcAft>
        <a:defRPr sz="4000">
          <a:solidFill>
            <a:schemeClr val="tx2"/>
          </a:solidFill>
          <a:latin typeface="Tw Cen MT" pitchFamily="34" charset="0"/>
        </a:defRPr>
      </a:lvl3pPr>
      <a:lvl4pPr algn="l" rtl="0" eaLnBrk="1" fontAlgn="base" hangingPunct="1">
        <a:spcBef>
          <a:spcPct val="0"/>
        </a:spcBef>
        <a:spcAft>
          <a:spcPct val="0"/>
        </a:spcAft>
        <a:defRPr sz="4000">
          <a:solidFill>
            <a:schemeClr val="tx2"/>
          </a:solidFill>
          <a:latin typeface="Tw Cen MT" pitchFamily="34" charset="0"/>
        </a:defRPr>
      </a:lvl4pPr>
      <a:lvl5pPr algn="l" rtl="0" eaLnBrk="1" fontAlgn="base" hangingPunct="1">
        <a:spcBef>
          <a:spcPct val="0"/>
        </a:spcBef>
        <a:spcAft>
          <a:spcPct val="0"/>
        </a:spcAft>
        <a:defRPr sz="4000">
          <a:solidFill>
            <a:schemeClr val="tx2"/>
          </a:solidFill>
          <a:latin typeface="Tw Cen MT" pitchFamily="34" charset="0"/>
        </a:defRPr>
      </a:lvl5pPr>
      <a:lvl6pPr marL="457200" algn="l" rtl="0" eaLnBrk="1" fontAlgn="base" hangingPunct="1">
        <a:spcBef>
          <a:spcPct val="0"/>
        </a:spcBef>
        <a:spcAft>
          <a:spcPct val="0"/>
        </a:spcAft>
        <a:defRPr sz="4000">
          <a:solidFill>
            <a:schemeClr val="tx2"/>
          </a:solidFill>
          <a:latin typeface="Tw Cen MT" pitchFamily="34" charset="0"/>
        </a:defRPr>
      </a:lvl6pPr>
      <a:lvl7pPr marL="914400" algn="l" rtl="0" eaLnBrk="1" fontAlgn="base" hangingPunct="1">
        <a:spcBef>
          <a:spcPct val="0"/>
        </a:spcBef>
        <a:spcAft>
          <a:spcPct val="0"/>
        </a:spcAft>
        <a:defRPr sz="4000">
          <a:solidFill>
            <a:schemeClr val="tx2"/>
          </a:solidFill>
          <a:latin typeface="Tw Cen MT" pitchFamily="34" charset="0"/>
        </a:defRPr>
      </a:lvl7pPr>
      <a:lvl8pPr marL="1371600" algn="l" rtl="0" eaLnBrk="1" fontAlgn="base" hangingPunct="1">
        <a:spcBef>
          <a:spcPct val="0"/>
        </a:spcBef>
        <a:spcAft>
          <a:spcPct val="0"/>
        </a:spcAft>
        <a:defRPr sz="4000">
          <a:solidFill>
            <a:schemeClr val="tx2"/>
          </a:solidFill>
          <a:latin typeface="Tw Cen MT" pitchFamily="34" charset="0"/>
        </a:defRPr>
      </a:lvl8pPr>
      <a:lvl9pPr marL="1828800" algn="l" rtl="0" eaLnBrk="1" fontAlgn="base" hangingPunct="1">
        <a:spcBef>
          <a:spcPct val="0"/>
        </a:spcBef>
        <a:spcAft>
          <a:spcPct val="0"/>
        </a:spcAft>
        <a:defRPr sz="4000">
          <a:solidFill>
            <a:schemeClr val="tx2"/>
          </a:solidFill>
          <a:latin typeface="Tw Cen MT" pitchFamily="34" charset="0"/>
        </a:defRPr>
      </a:lvl9pPr>
    </p:titleStyle>
    <p:bodyStyle>
      <a:lvl1pPr marL="273050" indent="-273050" algn="l" rtl="0" eaLnBrk="1" fontAlgn="base" hangingPunct="1">
        <a:spcBef>
          <a:spcPts val="575"/>
        </a:spcBef>
        <a:spcAft>
          <a:spcPct val="0"/>
        </a:spcAft>
        <a:buClr>
          <a:schemeClr val="accent1"/>
        </a:buClr>
        <a:buSzPct val="85000"/>
        <a:buFont typeface="Wingdings 2" pitchFamily="18" charset="2"/>
        <a:buChar char=""/>
        <a:defRPr sz="2400" kern="1200">
          <a:solidFill>
            <a:schemeClr val="tx1"/>
          </a:solidFill>
          <a:latin typeface="Abel" panose="02000506030000020004" pitchFamily="2" charset="0"/>
          <a:ea typeface="+mn-ea"/>
          <a:cs typeface="+mn-cs"/>
        </a:defRPr>
      </a:lvl1pPr>
      <a:lvl2pPr marL="547688" indent="-228600" algn="l" rtl="0" eaLnBrk="1" fontAlgn="base" hangingPunct="1">
        <a:spcBef>
          <a:spcPts val="375"/>
        </a:spcBef>
        <a:spcAft>
          <a:spcPct val="0"/>
        </a:spcAft>
        <a:buClr>
          <a:schemeClr val="accent2"/>
        </a:buClr>
        <a:buSzPct val="85000"/>
        <a:buFont typeface="Wingdings 2" pitchFamily="18" charset="2"/>
        <a:buChar char=""/>
        <a:defRPr sz="2400" kern="1200">
          <a:solidFill>
            <a:schemeClr val="tx1"/>
          </a:solidFill>
          <a:latin typeface="Abel" panose="02000506030000020004" pitchFamily="2" charset="0"/>
          <a:ea typeface="+mn-ea"/>
          <a:cs typeface="+mn-cs"/>
        </a:defRPr>
      </a:lvl2pPr>
      <a:lvl3pPr marL="822325" indent="-228600" algn="l" rtl="0" eaLnBrk="1" fontAlgn="base" hangingPunct="1">
        <a:spcBef>
          <a:spcPts val="375"/>
        </a:spcBef>
        <a:spcAft>
          <a:spcPct val="0"/>
        </a:spcAft>
        <a:buClr>
          <a:srgbClr val="E6B1AB"/>
        </a:buClr>
        <a:buSzPct val="85000"/>
        <a:buFont typeface="Wingdings 2" pitchFamily="18" charset="2"/>
        <a:buChar char=""/>
        <a:defRPr sz="2000" kern="1200">
          <a:solidFill>
            <a:schemeClr val="tx1"/>
          </a:solidFill>
          <a:latin typeface="Abel" panose="02000506030000020004" pitchFamily="2" charset="0"/>
          <a:ea typeface="+mn-ea"/>
          <a:cs typeface="+mn-cs"/>
        </a:defRPr>
      </a:lvl3pPr>
      <a:lvl4pPr marL="1096963" indent="-228600" algn="l" rtl="0" eaLnBrk="1" fontAlgn="base" hangingPunct="1">
        <a:spcBef>
          <a:spcPts val="375"/>
        </a:spcBef>
        <a:spcAft>
          <a:spcPct val="0"/>
        </a:spcAft>
        <a:buClr>
          <a:srgbClr val="A28E6A"/>
        </a:buClr>
        <a:buSzPct val="80000"/>
        <a:buFont typeface="Wingdings 2" pitchFamily="18" charset="2"/>
        <a:buChar char=""/>
        <a:defRPr sz="2000" kern="1200">
          <a:solidFill>
            <a:schemeClr val="tx1"/>
          </a:solidFill>
          <a:latin typeface="Abel" panose="02000506030000020004" pitchFamily="2" charset="0"/>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Abel" panose="02000506030000020004" pitchFamily="2" charset="0"/>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304BD4B7-8F87-4E92-80A3-CE48002B218F}"/>
              </a:ext>
            </a:extLst>
          </p:cNvPr>
          <p:cNvSpPr>
            <a:spLocks noGrp="1"/>
          </p:cNvSpPr>
          <p:nvPr>
            <p:ph type="subTitle" idx="4294967295"/>
          </p:nvPr>
        </p:nvSpPr>
        <p:spPr>
          <a:xfrm>
            <a:off x="0" y="4203387"/>
            <a:ext cx="5732060" cy="1487730"/>
          </a:xfrm>
          <a:solidFill>
            <a:srgbClr val="00B050"/>
          </a:solidFill>
        </p:spPr>
        <p:txBody>
          <a:bodyPr/>
          <a:lstStyle/>
          <a:p>
            <a:pPr marL="0" indent="0" algn="ctr">
              <a:buNone/>
            </a:pPr>
            <a:r>
              <a:rPr lang="en-GB" sz="2000" b="1" dirty="0">
                <a:solidFill>
                  <a:schemeClr val="bg1"/>
                </a:solidFill>
                <a:effectLst>
                  <a:outerShdw blurRad="38100" dist="38100" dir="2700000" algn="tl">
                    <a:srgbClr val="000000">
                      <a:alpha val="43137"/>
                    </a:srgbClr>
                  </a:outerShdw>
                </a:effectLst>
              </a:rPr>
              <a:t> </a:t>
            </a:r>
            <a:r>
              <a:rPr lang="en-GB" sz="2000" b="1" dirty="0" smtClean="0">
                <a:solidFill>
                  <a:schemeClr val="bg1"/>
                </a:solidFill>
                <a:effectLst>
                  <a:outerShdw blurRad="38100" dist="38100" dir="2700000" algn="tl">
                    <a:srgbClr val="000000">
                      <a:alpha val="43137"/>
                    </a:srgbClr>
                  </a:outerShdw>
                </a:effectLst>
              </a:rPr>
              <a:t>Mohammed </a:t>
            </a:r>
            <a:r>
              <a:rPr lang="en-GB" sz="2000" b="1" dirty="0" err="1" smtClean="0">
                <a:solidFill>
                  <a:schemeClr val="bg1"/>
                </a:solidFill>
                <a:effectLst>
                  <a:outerShdw blurRad="38100" dist="38100" dir="2700000" algn="tl">
                    <a:srgbClr val="000000">
                      <a:alpha val="43137"/>
                    </a:srgbClr>
                  </a:outerShdw>
                </a:effectLst>
              </a:rPr>
              <a:t>Zayyanu</a:t>
            </a:r>
            <a:r>
              <a:rPr lang="en-GB" sz="2000" b="1" dirty="0" smtClean="0">
                <a:solidFill>
                  <a:schemeClr val="bg1"/>
                </a:solidFill>
                <a:effectLst>
                  <a:outerShdw blurRad="38100" dist="38100" dir="2700000" algn="tl">
                    <a:srgbClr val="000000">
                      <a:alpha val="43137"/>
                    </a:srgbClr>
                  </a:outerShdw>
                </a:effectLst>
              </a:rPr>
              <a:t> Musa</a:t>
            </a:r>
            <a:endParaRPr lang="en-GB" sz="2000" b="1" dirty="0">
              <a:solidFill>
                <a:schemeClr val="bg1"/>
              </a:solidFill>
              <a:effectLst>
                <a:outerShdw blurRad="38100" dist="38100" dir="2700000" algn="tl">
                  <a:srgbClr val="000000">
                    <a:alpha val="43137"/>
                  </a:srgbClr>
                </a:outerShdw>
              </a:effectLst>
            </a:endParaRPr>
          </a:p>
          <a:p>
            <a:pPr marL="0" indent="0" algn="ctr">
              <a:buNone/>
            </a:pPr>
            <a:r>
              <a:rPr lang="en-GB" sz="1800" b="1" dirty="0" smtClean="0">
                <a:solidFill>
                  <a:schemeClr val="bg1"/>
                </a:solidFill>
                <a:effectLst>
                  <a:outerShdw blurRad="38100" dist="38100" dir="2700000" algn="tl">
                    <a:srgbClr val="000000">
                      <a:alpha val="43137"/>
                    </a:srgbClr>
                  </a:outerShdw>
                </a:effectLst>
              </a:rPr>
              <a:t>ACRO </a:t>
            </a:r>
            <a:r>
              <a:rPr lang="en-GB" sz="1800" b="1" dirty="0">
                <a:solidFill>
                  <a:schemeClr val="bg1"/>
                </a:solidFill>
                <a:effectLst>
                  <a:outerShdw blurRad="38100" dist="38100" dir="2700000" algn="tl">
                    <a:srgbClr val="000000">
                      <a:alpha val="43137"/>
                    </a:srgbClr>
                  </a:outerShdw>
                </a:effectLst>
              </a:rPr>
              <a:t>&amp; Head, Department Of Science Policy &amp; Innovation Studies</a:t>
            </a:r>
          </a:p>
          <a:p>
            <a:pPr marL="0" indent="0" algn="ctr">
              <a:buNone/>
            </a:pPr>
            <a:r>
              <a:rPr lang="en-GB" sz="2000" b="1" dirty="0">
                <a:solidFill>
                  <a:schemeClr val="bg1"/>
                </a:solidFill>
                <a:effectLst>
                  <a:outerShdw blurRad="38100" dist="38100" dir="2700000" algn="tl">
                    <a:srgbClr val="000000">
                      <a:alpha val="43137"/>
                    </a:srgbClr>
                  </a:outerShdw>
                </a:effectLst>
              </a:rPr>
              <a:t>NACETEM, </a:t>
            </a:r>
            <a:r>
              <a:rPr lang="en-GB" sz="2000" b="1" dirty="0" smtClean="0">
                <a:solidFill>
                  <a:schemeClr val="bg1"/>
                </a:solidFill>
                <a:effectLst>
                  <a:outerShdw blurRad="38100" dist="38100" dir="2700000" algn="tl">
                    <a:srgbClr val="000000">
                      <a:alpha val="43137"/>
                    </a:srgbClr>
                  </a:outerShdw>
                </a:effectLst>
              </a:rPr>
              <a:t>NW-Kano, </a:t>
            </a:r>
            <a:r>
              <a:rPr lang="en-GB" sz="2000" b="1" dirty="0">
                <a:solidFill>
                  <a:schemeClr val="bg1"/>
                </a:solidFill>
                <a:effectLst>
                  <a:outerShdw blurRad="38100" dist="38100" dir="2700000" algn="tl">
                    <a:srgbClr val="000000">
                      <a:alpha val="43137"/>
                    </a:srgbClr>
                  </a:outerShdw>
                </a:effectLst>
              </a:rPr>
              <a:t>Nigeria</a:t>
            </a:r>
          </a:p>
          <a:p>
            <a:pPr marL="0" indent="0" algn="ctr">
              <a:buNone/>
            </a:pPr>
            <a:endParaRPr lang="en-GB" sz="2000" b="1" dirty="0">
              <a:solidFill>
                <a:schemeClr val="bg1"/>
              </a:solidFill>
              <a:effectLst>
                <a:outerShdw blurRad="38100" dist="38100" dir="2700000" algn="tl">
                  <a:srgbClr val="000000">
                    <a:alpha val="43137"/>
                  </a:srgbClr>
                </a:outerShdw>
              </a:effectLst>
            </a:endParaRPr>
          </a:p>
        </p:txBody>
      </p:sp>
      <p:sp>
        <p:nvSpPr>
          <p:cNvPr id="2" name="Title 1">
            <a:extLst>
              <a:ext uri="{FF2B5EF4-FFF2-40B4-BE49-F238E27FC236}">
                <a16:creationId xmlns:a16="http://schemas.microsoft.com/office/drawing/2014/main" xmlns="" id="{FB19D249-14CB-4E07-BF9F-714C29F6ACA0}"/>
              </a:ext>
            </a:extLst>
          </p:cNvPr>
          <p:cNvSpPr>
            <a:spLocks noGrp="1"/>
          </p:cNvSpPr>
          <p:nvPr>
            <p:ph type="ctrTitle"/>
          </p:nvPr>
        </p:nvSpPr>
        <p:spPr>
          <a:xfrm>
            <a:off x="-128554" y="1412667"/>
            <a:ext cx="5929440" cy="2483892"/>
          </a:xfrm>
        </p:spPr>
        <p:txBody>
          <a:bodyPr/>
          <a:lstStyle/>
          <a:p>
            <a:pPr algn="ctr"/>
            <a:r>
              <a:rPr lang="en-US" sz="3200" dirty="0" smtClean="0"/>
              <a:t>PROPOSAL ON IN-DEPTH EVALUATION OF LEATHER TANNING INDUSTRY IN THE NORTH-WEST REGION OF NIGERIA</a:t>
            </a:r>
            <a:endParaRPr lang="en-US" sz="3200" dirty="0"/>
          </a:p>
        </p:txBody>
      </p:sp>
      <p:sp>
        <p:nvSpPr>
          <p:cNvPr id="4" name="Subtitle 2">
            <a:extLst>
              <a:ext uri="{FF2B5EF4-FFF2-40B4-BE49-F238E27FC236}">
                <a16:creationId xmlns:a16="http://schemas.microsoft.com/office/drawing/2014/main" xmlns="" id="{304BD4B7-8F87-4E92-80A3-CE48002B218F}"/>
              </a:ext>
            </a:extLst>
          </p:cNvPr>
          <p:cNvSpPr txBox="1">
            <a:spLocks/>
          </p:cNvSpPr>
          <p:nvPr/>
        </p:nvSpPr>
        <p:spPr bwMode="auto">
          <a:xfrm>
            <a:off x="0" y="5882185"/>
            <a:ext cx="12192000" cy="832513"/>
          </a:xfrm>
          <a:prstGeom prst="rect">
            <a:avLst/>
          </a:prstGeom>
          <a:solidFill>
            <a:schemeClr val="tx1"/>
          </a:solidFill>
          <a:ln w="9525">
            <a:no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1" fontAlgn="base" hangingPunct="1">
              <a:spcBef>
                <a:spcPts val="575"/>
              </a:spcBef>
              <a:spcAft>
                <a:spcPct val="0"/>
              </a:spcAft>
              <a:buClr>
                <a:schemeClr val="accent1"/>
              </a:buClr>
              <a:buSzPct val="85000"/>
              <a:buFont typeface="Wingdings 2" pitchFamily="18" charset="2"/>
              <a:buChar char=""/>
              <a:defRPr sz="2400" kern="1200">
                <a:solidFill>
                  <a:schemeClr val="tx1"/>
                </a:solidFill>
                <a:latin typeface="Abel" panose="02000506030000020004" pitchFamily="2" charset="0"/>
                <a:ea typeface="+mn-ea"/>
                <a:cs typeface="+mn-cs"/>
              </a:defRPr>
            </a:lvl1pPr>
            <a:lvl2pPr marL="547688" indent="-228600" algn="l" rtl="0" eaLnBrk="1" fontAlgn="base" hangingPunct="1">
              <a:spcBef>
                <a:spcPts val="375"/>
              </a:spcBef>
              <a:spcAft>
                <a:spcPct val="0"/>
              </a:spcAft>
              <a:buClr>
                <a:schemeClr val="accent2"/>
              </a:buClr>
              <a:buSzPct val="85000"/>
              <a:buFont typeface="Wingdings 2" pitchFamily="18" charset="2"/>
              <a:buChar char=""/>
              <a:defRPr sz="2400" kern="1200">
                <a:solidFill>
                  <a:schemeClr val="tx1"/>
                </a:solidFill>
                <a:latin typeface="Abel" panose="02000506030000020004" pitchFamily="2" charset="0"/>
                <a:ea typeface="+mn-ea"/>
                <a:cs typeface="+mn-cs"/>
              </a:defRPr>
            </a:lvl2pPr>
            <a:lvl3pPr marL="822325" indent="-228600" algn="l" rtl="0" eaLnBrk="1" fontAlgn="base" hangingPunct="1">
              <a:spcBef>
                <a:spcPts val="375"/>
              </a:spcBef>
              <a:spcAft>
                <a:spcPct val="0"/>
              </a:spcAft>
              <a:buClr>
                <a:srgbClr val="E6B1AB"/>
              </a:buClr>
              <a:buSzPct val="85000"/>
              <a:buFont typeface="Wingdings 2" pitchFamily="18" charset="2"/>
              <a:buChar char=""/>
              <a:defRPr sz="2000" kern="1200">
                <a:solidFill>
                  <a:schemeClr val="tx1"/>
                </a:solidFill>
                <a:latin typeface="Abel" panose="02000506030000020004" pitchFamily="2" charset="0"/>
                <a:ea typeface="+mn-ea"/>
                <a:cs typeface="+mn-cs"/>
              </a:defRPr>
            </a:lvl3pPr>
            <a:lvl4pPr marL="1096963" indent="-228600" algn="l" rtl="0" eaLnBrk="1" fontAlgn="base" hangingPunct="1">
              <a:spcBef>
                <a:spcPts val="375"/>
              </a:spcBef>
              <a:spcAft>
                <a:spcPct val="0"/>
              </a:spcAft>
              <a:buClr>
                <a:srgbClr val="A28E6A"/>
              </a:buClr>
              <a:buSzPct val="80000"/>
              <a:buFont typeface="Wingdings 2" pitchFamily="18" charset="2"/>
              <a:buChar char=""/>
              <a:defRPr sz="2000" kern="1200">
                <a:solidFill>
                  <a:schemeClr val="tx1"/>
                </a:solidFill>
                <a:latin typeface="Abel" panose="02000506030000020004" pitchFamily="2" charset="0"/>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Abel" panose="02000506030000020004" pitchFamily="2" charset="0"/>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lgn="ctr">
              <a:buNone/>
            </a:pPr>
            <a:r>
              <a:rPr lang="en-US" sz="1400" dirty="0">
                <a:solidFill>
                  <a:schemeClr val="bg1"/>
                </a:solidFill>
              </a:rPr>
              <a:t>Presented at the </a:t>
            </a:r>
            <a:r>
              <a:rPr lang="en-US" sz="1400" dirty="0" smtClean="0">
                <a:solidFill>
                  <a:schemeClr val="bg1"/>
                </a:solidFill>
              </a:rPr>
              <a:t>NACETEM Monthly Researcher’s Seminar Series-2025 Edition,</a:t>
            </a:r>
          </a:p>
          <a:p>
            <a:pPr marL="0" indent="0" algn="ctr">
              <a:buNone/>
            </a:pPr>
            <a:r>
              <a:rPr lang="en-US" sz="1400" dirty="0" smtClean="0">
                <a:solidFill>
                  <a:schemeClr val="bg1"/>
                </a:solidFill>
              </a:rPr>
              <a:t> </a:t>
            </a:r>
            <a:r>
              <a:rPr lang="en-US" sz="1400" dirty="0" smtClean="0">
                <a:solidFill>
                  <a:schemeClr val="bg1"/>
                </a:solidFill>
              </a:rPr>
              <a:t>O</a:t>
            </a:r>
            <a:r>
              <a:rPr lang="en-US" sz="1400" dirty="0" smtClean="0">
                <a:solidFill>
                  <a:schemeClr val="bg1"/>
                </a:solidFill>
              </a:rPr>
              <a:t>rganized by SPIS Department, HQ</a:t>
            </a:r>
            <a:endParaRPr lang="en-US" sz="1400" dirty="0">
              <a:solidFill>
                <a:schemeClr val="bg1"/>
              </a:solidFill>
            </a:endParaRPr>
          </a:p>
          <a:p>
            <a:pPr marL="0" indent="0" algn="ctr">
              <a:buNone/>
            </a:pPr>
            <a:r>
              <a:rPr lang="en-US" sz="1400" dirty="0">
                <a:solidFill>
                  <a:schemeClr val="bg1"/>
                </a:solidFill>
              </a:rPr>
              <a:t>August </a:t>
            </a:r>
            <a:r>
              <a:rPr lang="en-US" sz="1400" dirty="0" smtClean="0">
                <a:solidFill>
                  <a:schemeClr val="bg1"/>
                </a:solidFill>
              </a:rPr>
              <a:t>21</a:t>
            </a:r>
            <a:r>
              <a:rPr lang="en-US" sz="1400" baseline="30000" dirty="0" smtClean="0">
                <a:solidFill>
                  <a:schemeClr val="bg1"/>
                </a:solidFill>
              </a:rPr>
              <a:t>st</a:t>
            </a:r>
            <a:r>
              <a:rPr lang="en-US" sz="1400" dirty="0" smtClean="0">
                <a:solidFill>
                  <a:schemeClr val="bg1"/>
                </a:solidFill>
              </a:rPr>
              <a:t>, </a:t>
            </a:r>
            <a:r>
              <a:rPr lang="en-US" sz="1400" dirty="0">
                <a:solidFill>
                  <a:schemeClr val="bg1"/>
                </a:solidFill>
              </a:rPr>
              <a:t>2025 @ </a:t>
            </a:r>
            <a:r>
              <a:rPr lang="en-US" sz="1400" dirty="0" smtClean="0">
                <a:solidFill>
                  <a:schemeClr val="bg1"/>
                </a:solidFill>
              </a:rPr>
              <a:t>NACETEM-NW. </a:t>
            </a:r>
            <a:r>
              <a:rPr lang="en-US" sz="1400" dirty="0" smtClean="0">
                <a:solidFill>
                  <a:schemeClr val="bg1"/>
                </a:solidFill>
              </a:rPr>
              <a:t>Kano</a:t>
            </a:r>
            <a:r>
              <a:rPr lang="en-US" sz="1400" dirty="0" smtClean="0">
                <a:solidFill>
                  <a:schemeClr val="bg1"/>
                </a:solidFill>
              </a:rPr>
              <a:t>.</a:t>
            </a:r>
            <a:endParaRPr lang="en-GB" sz="1400" dirty="0">
              <a:solidFill>
                <a:schemeClr val="bg1"/>
              </a:solidFill>
            </a:endParaRPr>
          </a:p>
        </p:txBody>
      </p:sp>
    </p:spTree>
    <p:extLst>
      <p:ext uri="{BB962C8B-B14F-4D97-AF65-F5344CB8AC3E}">
        <p14:creationId xmlns:p14="http://schemas.microsoft.com/office/powerpoint/2010/main" val="10621179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18413" y="332096"/>
            <a:ext cx="2797993" cy="655232"/>
          </a:xfrm>
        </p:spPr>
        <p:txBody>
          <a:bodyPr/>
          <a:lstStyle/>
          <a:p>
            <a:pPr algn="ctr" eaLnBrk="1" hangingPunct="1"/>
            <a:r>
              <a:rPr lang="en-GB" b="1" dirty="0">
                <a:latin typeface="Lucida Handwriting" pitchFamily="66" charset="0"/>
              </a:rPr>
              <a:t>OUTLINE</a:t>
            </a:r>
          </a:p>
        </p:txBody>
      </p:sp>
      <p:sp>
        <p:nvSpPr>
          <p:cNvPr id="10243" name="Content Placeholder 2"/>
          <p:cNvSpPr>
            <a:spLocks noGrp="1"/>
          </p:cNvSpPr>
          <p:nvPr>
            <p:ph sz="quarter" idx="1"/>
          </p:nvPr>
        </p:nvSpPr>
        <p:spPr>
          <a:xfrm>
            <a:off x="431295" y="1017941"/>
            <a:ext cx="4700264" cy="5114819"/>
          </a:xfrm>
        </p:spPr>
        <p:txBody>
          <a:bodyPr/>
          <a:lstStyle/>
          <a:p>
            <a:pPr>
              <a:lnSpc>
                <a:spcPct val="150000"/>
              </a:lnSpc>
            </a:pPr>
            <a:r>
              <a:rPr lang="en-US" dirty="0"/>
              <a:t>Background of </a:t>
            </a:r>
            <a:r>
              <a:rPr lang="en-US" dirty="0" smtClean="0"/>
              <a:t>Study</a:t>
            </a:r>
          </a:p>
          <a:p>
            <a:pPr>
              <a:lnSpc>
                <a:spcPct val="150000"/>
              </a:lnSpc>
            </a:pPr>
            <a:r>
              <a:rPr lang="en-US" dirty="0"/>
              <a:t>Scope of </a:t>
            </a:r>
            <a:r>
              <a:rPr lang="en-US" dirty="0" smtClean="0"/>
              <a:t>Study</a:t>
            </a:r>
          </a:p>
          <a:p>
            <a:pPr>
              <a:lnSpc>
                <a:spcPct val="150000"/>
              </a:lnSpc>
            </a:pPr>
            <a:r>
              <a:rPr lang="en-US" dirty="0" smtClean="0"/>
              <a:t>Objectives</a:t>
            </a:r>
          </a:p>
          <a:p>
            <a:pPr>
              <a:lnSpc>
                <a:spcPct val="150000"/>
              </a:lnSpc>
            </a:pPr>
            <a:r>
              <a:rPr lang="en-US" dirty="0"/>
              <a:t>Significance of the </a:t>
            </a:r>
            <a:r>
              <a:rPr lang="en-US" dirty="0" smtClean="0"/>
              <a:t>Study</a:t>
            </a:r>
          </a:p>
          <a:p>
            <a:pPr>
              <a:lnSpc>
                <a:spcPct val="150000"/>
              </a:lnSpc>
            </a:pPr>
            <a:r>
              <a:rPr lang="en-US" dirty="0"/>
              <a:t>Method and Materials </a:t>
            </a:r>
            <a:endParaRPr lang="en-US" dirty="0" smtClean="0"/>
          </a:p>
          <a:p>
            <a:pPr>
              <a:lnSpc>
                <a:spcPct val="150000"/>
              </a:lnSpc>
            </a:pPr>
            <a:r>
              <a:rPr lang="en-US" dirty="0" smtClean="0"/>
              <a:t>Deliverables</a:t>
            </a:r>
          </a:p>
          <a:p>
            <a:pPr>
              <a:lnSpc>
                <a:spcPct val="150000"/>
              </a:lnSpc>
            </a:pPr>
            <a:r>
              <a:rPr lang="en-US" dirty="0"/>
              <a:t>Planned </a:t>
            </a:r>
            <a:r>
              <a:rPr lang="en-US" dirty="0" smtClean="0"/>
              <a:t>Activities</a:t>
            </a:r>
          </a:p>
          <a:p>
            <a:pPr>
              <a:lnSpc>
                <a:spcPct val="150000"/>
              </a:lnSpc>
            </a:pPr>
            <a:r>
              <a:rPr lang="en-US" dirty="0"/>
              <a:t>Expected </a:t>
            </a:r>
            <a:r>
              <a:rPr lang="en-US" dirty="0" smtClean="0"/>
              <a:t>Outcomes</a:t>
            </a:r>
          </a:p>
          <a:p>
            <a:pPr marL="0" indent="0">
              <a:lnSpc>
                <a:spcPct val="150000"/>
              </a:lnSpc>
              <a:buNone/>
            </a:pPr>
            <a:endParaRPr lang="en-GB" dirty="0">
              <a:latin typeface="Agency FB" panose="020B0503020202020204" pitchFamily="34" charset="0"/>
            </a:endParaRPr>
          </a:p>
        </p:txBody>
      </p:sp>
      <p:sp>
        <p:nvSpPr>
          <p:cNvPr id="4" name="Slide Number Placeholder 3"/>
          <p:cNvSpPr>
            <a:spLocks noGrp="1"/>
          </p:cNvSpPr>
          <p:nvPr>
            <p:ph type="sldNum" sz="quarter" idx="11"/>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D08D7E8-DE6B-40D7-B9F1-272D93C86BA4}" type="slidenum">
              <a:rPr lang="en-US">
                <a:solidFill>
                  <a:srgbClr val="FFFFFF"/>
                </a:solidFill>
                <a:latin typeface="Tw Cen MT" panose="020B0602020104020603" pitchFamily="34" charset="0"/>
              </a:rPr>
              <a:pPr eaLnBrk="1" hangingPunct="1"/>
              <a:t>2</a:t>
            </a:fld>
            <a:endParaRPr lang="en-US">
              <a:solidFill>
                <a:srgbClr val="FFFFFF"/>
              </a:solidFill>
              <a:latin typeface="Tw Cen MT" panose="020B0602020104020603" pitchFamily="34" charset="0"/>
            </a:endParaRPr>
          </a:p>
        </p:txBody>
      </p:sp>
    </p:spTree>
    <p:extLst>
      <p:ext uri="{BB962C8B-B14F-4D97-AF65-F5344CB8AC3E}">
        <p14:creationId xmlns:p14="http://schemas.microsoft.com/office/powerpoint/2010/main" val="21834273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 y="1"/>
            <a:ext cx="3862316" cy="709683"/>
          </a:xfrm>
          <a:solidFill>
            <a:schemeClr val="accent2">
              <a:lumMod val="75000"/>
            </a:schemeClr>
          </a:solidFill>
        </p:spPr>
        <p:txBody>
          <a:bodyPr anchor="ctr"/>
          <a:lstStyle/>
          <a:p>
            <a:pPr marL="0" indent="0" algn="ctr">
              <a:buNone/>
            </a:pPr>
            <a:r>
              <a:rPr lang="en-GB" sz="3200" dirty="0" smtClean="0">
                <a:solidFill>
                  <a:schemeClr val="bg1"/>
                </a:solidFill>
              </a:rPr>
              <a:t>Introduction</a:t>
            </a:r>
            <a:endParaRPr lang="en-US" sz="3200" dirty="0">
              <a:solidFill>
                <a:schemeClr val="bg1"/>
              </a:solidFill>
            </a:endParaRPr>
          </a:p>
        </p:txBody>
      </p:sp>
      <p:sp>
        <p:nvSpPr>
          <p:cNvPr id="4" name="TextBox 3">
            <a:extLst>
              <a:ext uri="{FF2B5EF4-FFF2-40B4-BE49-F238E27FC236}">
                <a16:creationId xmlns:a16="http://schemas.microsoft.com/office/drawing/2014/main" xmlns="" id="{A09AFF1C-31DD-5AB8-1FC5-2470CD4D0D41}"/>
              </a:ext>
            </a:extLst>
          </p:cNvPr>
          <p:cNvSpPr txBox="1"/>
          <p:nvPr/>
        </p:nvSpPr>
        <p:spPr>
          <a:xfrm>
            <a:off x="286603" y="828225"/>
            <a:ext cx="11177516" cy="5632311"/>
          </a:xfrm>
          <a:prstGeom prst="rect">
            <a:avLst/>
          </a:prstGeom>
          <a:noFill/>
        </p:spPr>
        <p:txBody>
          <a:bodyPr wrap="square">
            <a:spAutoFit/>
          </a:bodyPr>
          <a:lstStyle/>
          <a:p>
            <a:pPr marL="285750" indent="-285750" algn="just">
              <a:lnSpc>
                <a:spcPct val="150000"/>
              </a:lnSpc>
              <a:buFont typeface="Wingdings" pitchFamily="2" charset="2"/>
              <a:buChar char="q"/>
            </a:pPr>
            <a:r>
              <a:rPr lang="en-US" sz="2400" dirty="0">
                <a:latin typeface="Times New Roman" pitchFamily="18" charset="0"/>
                <a:cs typeface="Times New Roman" pitchFamily="18" charset="0"/>
              </a:rPr>
              <a:t>Nigerian leather industry has been a significant economic activity for centuries. It is a key driver of business development and economic growth</a:t>
            </a:r>
            <a:r>
              <a:rPr lang="en-US" sz="2400" dirty="0" smtClean="0">
                <a:latin typeface="Times New Roman" pitchFamily="18" charset="0"/>
                <a:cs typeface="Times New Roman" pitchFamily="18" charset="0"/>
              </a:rPr>
              <a:t>.</a:t>
            </a:r>
          </a:p>
          <a:p>
            <a:pPr algn="just">
              <a:lnSpc>
                <a:spcPct val="150000"/>
              </a:lnSpc>
            </a:pPr>
            <a:endParaRPr lang="en-US" sz="2400" dirty="0" smtClean="0">
              <a:latin typeface="Times New Roman" pitchFamily="18" charset="0"/>
              <a:cs typeface="Times New Roman" pitchFamily="18" charset="0"/>
            </a:endParaRPr>
          </a:p>
          <a:p>
            <a:pPr marL="285750" indent="-285750" algn="just">
              <a:lnSpc>
                <a:spcPct val="150000"/>
              </a:lnSpc>
              <a:buFont typeface="Wingdings" pitchFamily="2" charset="2"/>
              <a:buChar char="q"/>
            </a:pPr>
            <a:r>
              <a:rPr lang="en-US" sz="2400" dirty="0">
                <a:latin typeface="Times New Roman" pitchFamily="18" charset="0"/>
                <a:cs typeface="Times New Roman" pitchFamily="18" charset="0"/>
              </a:rPr>
              <a:t>The industry not only provides employment opportunities but also contributes significantly to Nigeria’s export revenue through raw hides, finished leather, and leather products such as footwear, bags, and garments</a:t>
            </a:r>
            <a:r>
              <a:rPr lang="en-US" sz="2400" dirty="0" smtClean="0">
                <a:latin typeface="Times New Roman" pitchFamily="18" charset="0"/>
                <a:cs typeface="Times New Roman" pitchFamily="18" charset="0"/>
              </a:rPr>
              <a:t>.</a:t>
            </a:r>
          </a:p>
          <a:p>
            <a:pPr algn="just">
              <a:lnSpc>
                <a:spcPct val="150000"/>
              </a:lnSpc>
            </a:pPr>
            <a:endParaRPr lang="en-US" sz="2400" dirty="0" smtClean="0">
              <a:latin typeface="Times New Roman" pitchFamily="18" charset="0"/>
              <a:cs typeface="Times New Roman" pitchFamily="18" charset="0"/>
            </a:endParaRPr>
          </a:p>
          <a:p>
            <a:pPr marL="285750" indent="-285750" algn="just">
              <a:lnSpc>
                <a:spcPct val="150000"/>
              </a:lnSpc>
              <a:buFont typeface="Wingdings" pitchFamily="2" charset="2"/>
              <a:buChar char="q"/>
            </a:pPr>
            <a:r>
              <a:rPr lang="en-US" sz="2400" dirty="0">
                <a:latin typeface="Times New Roman" pitchFamily="18" charset="0"/>
                <a:cs typeface="Times New Roman" pitchFamily="18" charset="0"/>
              </a:rPr>
              <a:t>Nigeria is known for producing high-quality leather from a variety of sources, including cattle, goats, and sheep, with the Red </a:t>
            </a:r>
            <a:r>
              <a:rPr lang="en-US" sz="2400" dirty="0" err="1">
                <a:latin typeface="Times New Roman" pitchFamily="18" charset="0"/>
                <a:cs typeface="Times New Roman" pitchFamily="18" charset="0"/>
              </a:rPr>
              <a:t>Sokoto</a:t>
            </a:r>
            <a:r>
              <a:rPr lang="en-US" sz="2400" dirty="0">
                <a:latin typeface="Times New Roman" pitchFamily="18" charset="0"/>
                <a:cs typeface="Times New Roman" pitchFamily="18" charset="0"/>
              </a:rPr>
              <a:t> goat skin recognized globally for its superior quality (NEPC, 2024). </a:t>
            </a:r>
            <a:endParaRPr lang="en-US" sz="24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1164301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 y="1"/>
            <a:ext cx="3862316" cy="709683"/>
          </a:xfrm>
          <a:solidFill>
            <a:schemeClr val="accent2">
              <a:lumMod val="75000"/>
            </a:schemeClr>
          </a:solidFill>
        </p:spPr>
        <p:txBody>
          <a:bodyPr anchor="ctr"/>
          <a:lstStyle/>
          <a:p>
            <a:pPr marL="0" indent="0" algn="ctr">
              <a:buNone/>
            </a:pPr>
            <a:r>
              <a:rPr lang="en-GB" sz="3200" dirty="0" err="1" smtClean="0">
                <a:solidFill>
                  <a:schemeClr val="bg1"/>
                </a:solidFill>
              </a:rPr>
              <a:t>Cont’s</a:t>
            </a:r>
            <a:endParaRPr lang="en-US" sz="3200" dirty="0">
              <a:solidFill>
                <a:schemeClr val="bg1"/>
              </a:solidFill>
            </a:endParaRPr>
          </a:p>
        </p:txBody>
      </p:sp>
      <p:sp>
        <p:nvSpPr>
          <p:cNvPr id="4" name="TextBox 3">
            <a:extLst>
              <a:ext uri="{FF2B5EF4-FFF2-40B4-BE49-F238E27FC236}">
                <a16:creationId xmlns:a16="http://schemas.microsoft.com/office/drawing/2014/main" xmlns="" id="{A09AFF1C-31DD-5AB8-1FC5-2470CD4D0D41}"/>
              </a:ext>
            </a:extLst>
          </p:cNvPr>
          <p:cNvSpPr txBox="1"/>
          <p:nvPr/>
        </p:nvSpPr>
        <p:spPr>
          <a:xfrm>
            <a:off x="286603" y="828225"/>
            <a:ext cx="11177516" cy="7294305"/>
          </a:xfrm>
          <a:prstGeom prst="rect">
            <a:avLst/>
          </a:prstGeom>
          <a:noFill/>
        </p:spPr>
        <p:txBody>
          <a:bodyPr wrap="square">
            <a:spAutoFit/>
          </a:bodyPr>
          <a:lstStyle/>
          <a:p>
            <a:pPr marL="285750" indent="-285750" algn="just">
              <a:lnSpc>
                <a:spcPct val="150000"/>
              </a:lnSpc>
              <a:buFont typeface="Wingdings" pitchFamily="2" charset="2"/>
              <a:buChar char="q"/>
            </a:pPr>
            <a:r>
              <a:rPr lang="en-US" sz="2400" dirty="0">
                <a:latin typeface="Times New Roman" pitchFamily="18" charset="0"/>
                <a:cs typeface="Times New Roman" pitchFamily="18" charset="0"/>
              </a:rPr>
              <a:t>It is estimated that the leather sector of Nigeria is capable of generating USD 17 billion worth of business in coming five years (Isaac, 2024). </a:t>
            </a:r>
            <a:endParaRPr lang="en-US" sz="2400" dirty="0" smtClean="0">
              <a:latin typeface="Times New Roman" pitchFamily="18" charset="0"/>
              <a:cs typeface="Times New Roman" pitchFamily="18" charset="0"/>
            </a:endParaRPr>
          </a:p>
          <a:p>
            <a:pPr algn="just">
              <a:lnSpc>
                <a:spcPct val="150000"/>
              </a:lnSpc>
            </a:pPr>
            <a:endParaRPr lang="en-US" sz="2400" dirty="0" smtClean="0">
              <a:latin typeface="Times New Roman" pitchFamily="18" charset="0"/>
              <a:cs typeface="Times New Roman" pitchFamily="18" charset="0"/>
            </a:endParaRPr>
          </a:p>
          <a:p>
            <a:pPr marL="285750" indent="-285750" algn="just">
              <a:lnSpc>
                <a:spcPct val="150000"/>
              </a:lnSpc>
              <a:buFont typeface="Wingdings" pitchFamily="2" charset="2"/>
              <a:buChar char="q"/>
            </a:pPr>
            <a:r>
              <a:rPr lang="en-US" sz="2400" dirty="0" smtClean="0">
                <a:latin typeface="Times New Roman" pitchFamily="18" charset="0"/>
                <a:cs typeface="Times New Roman" pitchFamily="18" charset="0"/>
              </a:rPr>
              <a:t>Nigeria </a:t>
            </a:r>
            <a:r>
              <a:rPr lang="en-US" sz="2400" dirty="0">
                <a:latin typeface="Times New Roman" pitchFamily="18" charset="0"/>
                <a:cs typeface="Times New Roman" pitchFamily="18" charset="0"/>
              </a:rPr>
              <a:t>is one of the highest producers of leather and finished leather products in Africa; a study carried out by the Nigerian Economic Summit Group (NESG) projected that the Nigerian leather industry has the potential to generate over 1 billion dollars by </a:t>
            </a:r>
            <a:r>
              <a:rPr lang="en-US" sz="2400" dirty="0" smtClean="0">
                <a:latin typeface="Times New Roman" pitchFamily="18" charset="0"/>
                <a:cs typeface="Times New Roman" pitchFamily="18" charset="0"/>
              </a:rPr>
              <a:t>2025 (</a:t>
            </a:r>
            <a:r>
              <a:rPr lang="en-US" sz="2400" dirty="0" err="1">
                <a:latin typeface="Times New Roman" pitchFamily="18" charset="0"/>
                <a:cs typeface="Times New Roman" pitchFamily="18" charset="0"/>
              </a:rPr>
              <a:t>Yemi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Osinbajo</a:t>
            </a:r>
            <a:r>
              <a:rPr lang="en-US" sz="2400" dirty="0">
                <a:latin typeface="Times New Roman" pitchFamily="18" charset="0"/>
                <a:cs typeface="Times New Roman" pitchFamily="18" charset="0"/>
              </a:rPr>
              <a:t>, Guardian new paper 2021</a:t>
            </a:r>
            <a:r>
              <a:rPr lang="en-US" sz="2400" dirty="0" smtClean="0">
                <a:latin typeface="Times New Roman" pitchFamily="18" charset="0"/>
                <a:cs typeface="Times New Roman" pitchFamily="18" charset="0"/>
              </a:rPr>
              <a:t>). </a:t>
            </a:r>
          </a:p>
          <a:p>
            <a:pPr algn="just">
              <a:lnSpc>
                <a:spcPct val="150000"/>
              </a:lnSpc>
            </a:pPr>
            <a:endParaRPr lang="en-US" sz="2400" dirty="0" smtClean="0">
              <a:latin typeface="Times New Roman" pitchFamily="18" charset="0"/>
              <a:cs typeface="Times New Roman" pitchFamily="18" charset="0"/>
            </a:endParaRPr>
          </a:p>
          <a:p>
            <a:pPr marL="285750" indent="-285750" algn="just">
              <a:lnSpc>
                <a:spcPct val="150000"/>
              </a:lnSpc>
              <a:buFont typeface="Wingdings" pitchFamily="2" charset="2"/>
              <a:buChar char="q"/>
            </a:pPr>
            <a:r>
              <a:rPr lang="en-US" sz="2400" dirty="0">
                <a:latin typeface="Times New Roman" pitchFamily="18" charset="0"/>
                <a:cs typeface="Times New Roman" pitchFamily="18" charset="0"/>
              </a:rPr>
              <a:t>The leather industry consumes resources and produces pollutants that are toxic and hazardous to the environment (</a:t>
            </a:r>
            <a:r>
              <a:rPr lang="en-US" sz="2400" dirty="0" err="1">
                <a:latin typeface="Times New Roman" pitchFamily="18" charset="0"/>
                <a:cs typeface="Times New Roman" pitchFamily="18" charset="0"/>
              </a:rPr>
              <a:t>Gimba</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et-al,</a:t>
            </a:r>
            <a:r>
              <a:rPr lang="en-US" sz="2400" dirty="0">
                <a:latin typeface="Times New Roman" pitchFamily="18" charset="0"/>
                <a:cs typeface="Times New Roman" pitchFamily="18" charset="0"/>
              </a:rPr>
              <a:t> 2023). </a:t>
            </a:r>
            <a:endParaRPr lang="en-US" sz="2400" dirty="0" smtClean="0">
              <a:latin typeface="Times New Roman" pitchFamily="18" charset="0"/>
              <a:cs typeface="Times New Roman" pitchFamily="18" charset="0"/>
            </a:endParaRPr>
          </a:p>
          <a:p>
            <a:pPr marL="285750" indent="-285750" algn="just">
              <a:lnSpc>
                <a:spcPct val="150000"/>
              </a:lnSpc>
              <a:buFont typeface="Wingdings" pitchFamily="2" charset="2"/>
              <a:buChar char="q"/>
            </a:pPr>
            <a:endParaRPr lang="en-US" sz="2400" dirty="0">
              <a:latin typeface="Times New Roman" pitchFamily="18" charset="0"/>
              <a:cs typeface="Times New Roman" pitchFamily="18" charset="0"/>
            </a:endParaRPr>
          </a:p>
          <a:p>
            <a:pPr marL="285750" indent="-285750" algn="just">
              <a:lnSpc>
                <a:spcPct val="150000"/>
              </a:lnSpc>
              <a:buFont typeface="Wingdings" pitchFamily="2" charset="2"/>
              <a:buChar char="q"/>
            </a:pPr>
            <a:endParaRPr lang="en-US" sz="2400" dirty="0" smtClean="0">
              <a:latin typeface="Times New Roman" pitchFamily="18" charset="0"/>
              <a:cs typeface="Times New Roman" pitchFamily="18" charset="0"/>
            </a:endParaRPr>
          </a:p>
          <a:p>
            <a:pPr marL="285750" indent="-285750" algn="just">
              <a:lnSpc>
                <a:spcPct val="150000"/>
              </a:lnSpc>
              <a:buFont typeface="Wingdings" pitchFamily="2" charset="2"/>
              <a:buChar char="q"/>
            </a:pPr>
            <a:endParaRPr lang="en-US" sz="24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4635849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 y="1"/>
            <a:ext cx="3862316" cy="709683"/>
          </a:xfrm>
          <a:solidFill>
            <a:schemeClr val="accent2">
              <a:lumMod val="75000"/>
            </a:schemeClr>
          </a:solidFill>
        </p:spPr>
        <p:txBody>
          <a:bodyPr anchor="ctr"/>
          <a:lstStyle/>
          <a:p>
            <a:pPr marL="0" indent="0" algn="ctr">
              <a:buNone/>
            </a:pPr>
            <a:r>
              <a:rPr lang="en-GB" sz="3200" dirty="0" err="1" smtClean="0">
                <a:solidFill>
                  <a:schemeClr val="bg1"/>
                </a:solidFill>
              </a:rPr>
              <a:t>Cont’s</a:t>
            </a:r>
            <a:endParaRPr lang="en-US" sz="3200" dirty="0">
              <a:solidFill>
                <a:schemeClr val="bg1"/>
              </a:solidFill>
            </a:endParaRPr>
          </a:p>
        </p:txBody>
      </p:sp>
      <p:sp>
        <p:nvSpPr>
          <p:cNvPr id="4" name="TextBox 3">
            <a:extLst>
              <a:ext uri="{FF2B5EF4-FFF2-40B4-BE49-F238E27FC236}">
                <a16:creationId xmlns:a16="http://schemas.microsoft.com/office/drawing/2014/main" xmlns="" id="{A09AFF1C-31DD-5AB8-1FC5-2470CD4D0D41}"/>
              </a:ext>
            </a:extLst>
          </p:cNvPr>
          <p:cNvSpPr txBox="1"/>
          <p:nvPr/>
        </p:nvSpPr>
        <p:spPr>
          <a:xfrm>
            <a:off x="286603" y="828225"/>
            <a:ext cx="11177516" cy="5565947"/>
          </a:xfrm>
          <a:prstGeom prst="rect">
            <a:avLst/>
          </a:prstGeom>
          <a:noFill/>
        </p:spPr>
        <p:txBody>
          <a:bodyPr wrap="square">
            <a:spAutoFit/>
          </a:bodyPr>
          <a:lstStyle/>
          <a:p>
            <a:pPr marL="285750" indent="-285750" algn="just">
              <a:lnSpc>
                <a:spcPct val="150000"/>
              </a:lnSpc>
              <a:buFont typeface="Wingdings" pitchFamily="2" charset="2"/>
              <a:buChar char="q"/>
            </a:pPr>
            <a:r>
              <a:rPr lang="en-US" sz="2400" dirty="0">
                <a:latin typeface="Times New Roman" pitchFamily="18" charset="0"/>
                <a:cs typeface="Times New Roman" pitchFamily="18" charset="0"/>
              </a:rPr>
              <a:t>However, the industry’s full potential remains untapped due to a combination of issues such as poor infrastructure, outdated technology, environmental concerns, and limited access to global markets (</a:t>
            </a:r>
            <a:r>
              <a:rPr lang="en-US" sz="2400" dirty="0" err="1">
                <a:latin typeface="Times New Roman" pitchFamily="18" charset="0"/>
                <a:cs typeface="Times New Roman" pitchFamily="18" charset="0"/>
              </a:rPr>
              <a:t>Gimba</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et-al,</a:t>
            </a:r>
            <a:r>
              <a:rPr lang="en-US" sz="2400" dirty="0">
                <a:latin typeface="Times New Roman" pitchFamily="18" charset="0"/>
                <a:cs typeface="Times New Roman" pitchFamily="18" charset="0"/>
              </a:rPr>
              <a:t> 2023</a:t>
            </a:r>
            <a:r>
              <a:rPr lang="en-US" sz="2400" dirty="0" smtClean="0">
                <a:latin typeface="Times New Roman" pitchFamily="18" charset="0"/>
                <a:cs typeface="Times New Roman" pitchFamily="18" charset="0"/>
              </a:rPr>
              <a:t>).</a:t>
            </a:r>
          </a:p>
          <a:p>
            <a:pPr algn="just">
              <a:lnSpc>
                <a:spcPct val="150000"/>
              </a:lnSpc>
            </a:pPr>
            <a:endParaRPr lang="en-US" sz="2400" dirty="0" smtClean="0">
              <a:latin typeface="Times New Roman" pitchFamily="18" charset="0"/>
              <a:cs typeface="Times New Roman" pitchFamily="18" charset="0"/>
            </a:endParaRPr>
          </a:p>
          <a:p>
            <a:pPr marL="285750" indent="-285750" algn="just">
              <a:lnSpc>
                <a:spcPct val="150000"/>
              </a:lnSpc>
              <a:buFont typeface="Wingdings" pitchFamily="2" charset="2"/>
              <a:buChar char="q"/>
            </a:pPr>
            <a:r>
              <a:rPr lang="en-US" sz="2400" dirty="0" smtClean="0">
                <a:latin typeface="Times New Roman" pitchFamily="18" charset="0"/>
                <a:cs typeface="Times New Roman" pitchFamily="18" charset="0"/>
              </a:rPr>
              <a:t>Therefore</a:t>
            </a:r>
            <a:r>
              <a:rPr lang="en-US" sz="2400" dirty="0">
                <a:latin typeface="Times New Roman" pitchFamily="18" charset="0"/>
                <a:cs typeface="Times New Roman" pitchFamily="18" charset="0"/>
              </a:rPr>
              <a:t>, this research seeks to evaluate the leather tanning industry in the northwest region of Nigeria, examining its role in social impact, foreign exchange earnings, and overall economic development. Furthermore, the study will explore the potential for growth and sustainability in the region’s leather tanning industry, considering the challenges and opportunities within the sector</a:t>
            </a:r>
            <a:r>
              <a:rPr lang="en-US" sz="2400" b="1" dirty="0">
                <a:latin typeface="Times New Roman" pitchFamily="18" charset="0"/>
                <a:cs typeface="Times New Roman" pitchFamily="18" charset="0"/>
              </a:rPr>
              <a:t>.</a:t>
            </a:r>
            <a:endParaRPr lang="en-US" sz="2400" dirty="0">
              <a:latin typeface="Times New Roman" pitchFamily="18" charset="0"/>
              <a:cs typeface="Times New Roman" pitchFamily="18" charset="0"/>
            </a:endParaRPr>
          </a:p>
          <a:p>
            <a:pPr algn="just">
              <a:lnSpc>
                <a:spcPct val="150000"/>
              </a:lnSpc>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4817031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4">
            <a:extLst>
              <a:ext uri="{FF2B5EF4-FFF2-40B4-BE49-F238E27FC236}">
                <a16:creationId xmlns:a16="http://schemas.microsoft.com/office/drawing/2014/main" xmlns="" id="{2A6751B1-933A-9A87-8FF9-F2414BAFACDA}"/>
              </a:ext>
            </a:extLst>
          </p:cNvPr>
          <p:cNvSpPr/>
          <p:nvPr/>
        </p:nvSpPr>
        <p:spPr>
          <a:xfrm>
            <a:off x="351322" y="1967799"/>
            <a:ext cx="4439174" cy="354330"/>
          </a:xfrm>
          <a:prstGeom prst="rect">
            <a:avLst/>
          </a:prstGeom>
          <a:noFill/>
          <a:ln/>
        </p:spPr>
        <p:txBody>
          <a:bodyPr wrap="none" lIns="0" tIns="0" rIns="0" bIns="0" rtlCol="0" anchor="t"/>
          <a:lstStyle/>
          <a:p>
            <a:pPr marL="0" indent="0" algn="ctr">
              <a:lnSpc>
                <a:spcPts val="2750"/>
              </a:lnSpc>
              <a:buNone/>
            </a:pPr>
            <a:r>
              <a:rPr lang="en-US" sz="2200" b="1" dirty="0">
                <a:solidFill>
                  <a:schemeClr val="bg1"/>
                </a:solidFill>
                <a:latin typeface="Gelasio Semi Bold" pitchFamily="34" charset="0"/>
                <a:ea typeface="Gelasio Semi Bold" pitchFamily="34" charset="-122"/>
                <a:cs typeface="Gelasio Semi Bold" pitchFamily="34" charset="-120"/>
              </a:rPr>
              <a:t>Internal Capability </a:t>
            </a:r>
            <a:endParaRPr lang="en-US" sz="2200" b="1" dirty="0">
              <a:solidFill>
                <a:schemeClr val="bg1"/>
              </a:solidFill>
            </a:endParaRPr>
          </a:p>
        </p:txBody>
      </p:sp>
      <p:sp>
        <p:nvSpPr>
          <p:cNvPr id="10" name="Shape 6">
            <a:extLst>
              <a:ext uri="{FF2B5EF4-FFF2-40B4-BE49-F238E27FC236}">
                <a16:creationId xmlns:a16="http://schemas.microsoft.com/office/drawing/2014/main" xmlns="" id="{34A7FDB6-F0E3-53AF-D3F5-617ABD1E6578}"/>
              </a:ext>
            </a:extLst>
          </p:cNvPr>
          <p:cNvSpPr/>
          <p:nvPr/>
        </p:nvSpPr>
        <p:spPr>
          <a:xfrm>
            <a:off x="466716" y="1286113"/>
            <a:ext cx="10110299" cy="3135762"/>
          </a:xfrm>
          <a:prstGeom prst="roundRect">
            <a:avLst>
              <a:gd name="adj" fmla="val 6988"/>
            </a:avLst>
          </a:prstGeom>
          <a:noFill/>
          <a:ln w="30480">
            <a:noFill/>
            <a:prstDash val="solid"/>
          </a:ln>
        </p:spPr>
        <p:txBody>
          <a:bodyPr/>
          <a:lstStyle/>
          <a:p>
            <a:pPr marL="342900" indent="-342900" algn="just">
              <a:lnSpc>
                <a:spcPct val="150000"/>
              </a:lnSpc>
              <a:buFont typeface="Wingdings" pitchFamily="2" charset="2"/>
              <a:buChar char="q"/>
            </a:pPr>
            <a:r>
              <a:rPr lang="en-US" sz="2400" dirty="0">
                <a:latin typeface="Times New Roman" pitchFamily="18" charset="0"/>
                <a:cs typeface="Times New Roman" pitchFamily="18" charset="0"/>
              </a:rPr>
              <a:t>This study will focus on the northwest region of </a:t>
            </a:r>
            <a:r>
              <a:rPr lang="en-US" sz="2400" dirty="0" smtClean="0">
                <a:latin typeface="Times New Roman" pitchFamily="18" charset="0"/>
                <a:cs typeface="Times New Roman" pitchFamily="18" charset="0"/>
              </a:rPr>
              <a:t>Nigeria; </a:t>
            </a:r>
            <a:r>
              <a:rPr lang="en-US" sz="2400" dirty="0">
                <a:latin typeface="Times New Roman" pitchFamily="18" charset="0"/>
                <a:cs typeface="Times New Roman" pitchFamily="18" charset="0"/>
              </a:rPr>
              <a:t>including the states of Kano, Kaduna, </a:t>
            </a:r>
            <a:r>
              <a:rPr lang="en-US" sz="2400" dirty="0" err="1">
                <a:latin typeface="Times New Roman" pitchFamily="18" charset="0"/>
                <a:cs typeface="Times New Roman" pitchFamily="18" charset="0"/>
              </a:rPr>
              <a:t>Katsina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Sokoto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Zamfara</a:t>
            </a:r>
            <a:r>
              <a:rPr lang="en-US" sz="2400" dirty="0">
                <a:latin typeface="Times New Roman" pitchFamily="18" charset="0"/>
                <a:cs typeface="Times New Roman" pitchFamily="18" charset="0"/>
              </a:rPr>
              <a:t>, </a:t>
            </a:r>
            <a:r>
              <a:rPr lang="en-US" sz="2400" dirty="0" err="1" smtClean="0">
                <a:latin typeface="Times New Roman" pitchFamily="18" charset="0"/>
                <a:cs typeface="Times New Roman" pitchFamily="18" charset="0"/>
              </a:rPr>
              <a:t>Jigawa</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Kebbi</a:t>
            </a:r>
            <a:r>
              <a:rPr lang="en-US" sz="2400" dirty="0" smtClean="0">
                <a:latin typeface="Times New Roman" pitchFamily="18" charset="0"/>
                <a:cs typeface="Times New Roman" pitchFamily="18" charset="0"/>
              </a:rPr>
              <a:t>.</a:t>
            </a:r>
          </a:p>
          <a:p>
            <a:pPr algn="just">
              <a:lnSpc>
                <a:spcPct val="150000"/>
              </a:lnSpc>
            </a:pPr>
            <a:endParaRPr lang="en-US" sz="2400" dirty="0" smtClean="0">
              <a:latin typeface="Times New Roman" pitchFamily="18" charset="0"/>
              <a:cs typeface="Times New Roman" pitchFamily="18" charset="0"/>
            </a:endParaRPr>
          </a:p>
          <a:p>
            <a:pPr marL="342900" indent="-342900" algn="just">
              <a:lnSpc>
                <a:spcPct val="150000"/>
              </a:lnSpc>
              <a:buFont typeface="Wingdings" pitchFamily="2" charset="2"/>
              <a:buChar char="q"/>
            </a:pPr>
            <a:r>
              <a:rPr lang="en-US" sz="2400" dirty="0" smtClean="0">
                <a:latin typeface="Times New Roman" pitchFamily="18" charset="0"/>
                <a:cs typeface="Times New Roman" pitchFamily="18" charset="0"/>
              </a:rPr>
              <a:t>These </a:t>
            </a:r>
            <a:r>
              <a:rPr lang="en-US" sz="2400" dirty="0">
                <a:latin typeface="Times New Roman" pitchFamily="18" charset="0"/>
                <a:cs typeface="Times New Roman" pitchFamily="18" charset="0"/>
              </a:rPr>
              <a:t>states are known for their significant livestock production and leather tanning activities (JAS, 2081).</a:t>
            </a:r>
            <a:endParaRPr lang="en-US" sz="2400" dirty="0">
              <a:latin typeface="Times New Roman" pitchFamily="18" charset="0"/>
              <a:cs typeface="Times New Roman" pitchFamily="18" charset="0"/>
            </a:endParaRPr>
          </a:p>
        </p:txBody>
      </p:sp>
      <p:sp>
        <p:nvSpPr>
          <p:cNvPr id="14" name="Content Placeholder 2"/>
          <p:cNvSpPr>
            <a:spLocks noGrp="1"/>
          </p:cNvSpPr>
          <p:nvPr>
            <p:ph sz="quarter" idx="1"/>
          </p:nvPr>
        </p:nvSpPr>
        <p:spPr>
          <a:xfrm>
            <a:off x="1" y="1"/>
            <a:ext cx="4490112" cy="709683"/>
          </a:xfrm>
          <a:solidFill>
            <a:schemeClr val="accent2">
              <a:lumMod val="75000"/>
            </a:schemeClr>
          </a:solidFill>
        </p:spPr>
        <p:txBody>
          <a:bodyPr anchor="ctr"/>
          <a:lstStyle/>
          <a:p>
            <a:pPr marL="0" indent="0" algn="ctr">
              <a:buNone/>
            </a:pPr>
            <a:r>
              <a:rPr lang="en-GB" sz="3200" dirty="0" smtClean="0">
                <a:solidFill>
                  <a:schemeClr val="bg1"/>
                </a:solidFill>
              </a:rPr>
              <a:t>SCOPE OF THE STUDY</a:t>
            </a:r>
            <a:endParaRPr lang="en-US" sz="3200" dirty="0">
              <a:solidFill>
                <a:schemeClr val="bg1"/>
              </a:solidFill>
            </a:endParaRPr>
          </a:p>
        </p:txBody>
      </p:sp>
    </p:spTree>
    <p:extLst>
      <p:ext uri="{BB962C8B-B14F-4D97-AF65-F5344CB8AC3E}">
        <p14:creationId xmlns:p14="http://schemas.microsoft.com/office/powerpoint/2010/main" val="31807088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55D3A539-B024-4A9D-AB39-8A8CD28DFA40}"/>
              </a:ext>
            </a:extLst>
          </p:cNvPr>
          <p:cNvSpPr>
            <a:spLocks noGrp="1"/>
          </p:cNvSpPr>
          <p:nvPr>
            <p:ph type="sldNum" sz="quarter" idx="4294967295"/>
          </p:nvPr>
        </p:nvSpPr>
        <p:spPr>
          <a:xfrm>
            <a:off x="194733" y="6324600"/>
            <a:ext cx="609600" cy="457200"/>
          </a:xfrm>
          <a:prstGeom prst="ellipse">
            <a:avLst/>
          </a:prstGeom>
        </p:spPr>
        <p:txBody>
          <a:bodyPr/>
          <a:lstStyle/>
          <a:p>
            <a:pPr>
              <a:defRPr/>
            </a:pPr>
            <a:fld id="{13E89DE0-BABE-41AF-B6B2-65B34D6E537A}" type="slidenum">
              <a:rPr lang="en-GB" smtClean="0">
                <a:solidFill>
                  <a:prstClr val="white"/>
                </a:solidFill>
              </a:rPr>
              <a:pPr>
                <a:defRPr/>
              </a:pPr>
              <a:t>7</a:t>
            </a:fld>
            <a:endParaRPr lang="en-GB">
              <a:solidFill>
                <a:prstClr val="white"/>
              </a:solidFill>
            </a:endParaRPr>
          </a:p>
        </p:txBody>
      </p:sp>
      <p:sp>
        <p:nvSpPr>
          <p:cNvPr id="21" name="Content Placeholder 2"/>
          <p:cNvSpPr>
            <a:spLocks noGrp="1"/>
          </p:cNvSpPr>
          <p:nvPr>
            <p:ph sz="quarter" idx="1"/>
          </p:nvPr>
        </p:nvSpPr>
        <p:spPr>
          <a:xfrm>
            <a:off x="0" y="1"/>
            <a:ext cx="4790363" cy="709683"/>
          </a:xfrm>
          <a:solidFill>
            <a:schemeClr val="accent2">
              <a:lumMod val="75000"/>
            </a:schemeClr>
          </a:solidFill>
        </p:spPr>
        <p:txBody>
          <a:bodyPr anchor="ctr"/>
          <a:lstStyle/>
          <a:p>
            <a:pPr marL="0" indent="0" algn="ctr">
              <a:buNone/>
            </a:pPr>
            <a:r>
              <a:rPr lang="en-GB" sz="3200" dirty="0" smtClean="0">
                <a:solidFill>
                  <a:schemeClr val="bg1"/>
                </a:solidFill>
              </a:rPr>
              <a:t>Objectives of the Study </a:t>
            </a:r>
            <a:endParaRPr lang="en-US" sz="3200" dirty="0">
              <a:solidFill>
                <a:schemeClr val="bg1"/>
              </a:solidFill>
            </a:endParaRPr>
          </a:p>
        </p:txBody>
      </p:sp>
      <p:sp>
        <p:nvSpPr>
          <p:cNvPr id="22" name="TextBox 21">
            <a:extLst>
              <a:ext uri="{FF2B5EF4-FFF2-40B4-BE49-F238E27FC236}">
                <a16:creationId xmlns:a16="http://schemas.microsoft.com/office/drawing/2014/main" xmlns="" id="{A09AFF1C-31DD-5AB8-1FC5-2470CD4D0D41}"/>
              </a:ext>
            </a:extLst>
          </p:cNvPr>
          <p:cNvSpPr txBox="1"/>
          <p:nvPr/>
        </p:nvSpPr>
        <p:spPr>
          <a:xfrm>
            <a:off x="286603" y="869173"/>
            <a:ext cx="11177516" cy="5262979"/>
          </a:xfrm>
          <a:prstGeom prst="rect">
            <a:avLst/>
          </a:prstGeom>
          <a:noFill/>
        </p:spPr>
        <p:txBody>
          <a:bodyPr wrap="square">
            <a:spAutoFit/>
          </a:bodyPr>
          <a:lstStyle/>
          <a:p>
            <a:pPr algn="just"/>
            <a:r>
              <a:rPr lang="en-US" sz="2400" dirty="0">
                <a:latin typeface="Lucida Handwriting" pitchFamily="66" charset="0"/>
                <a:cs typeface="Times New Roman" pitchFamily="18" charset="0"/>
              </a:rPr>
              <a:t>The primary objectives of this research are:</a:t>
            </a:r>
          </a:p>
          <a:p>
            <a:pPr lvl="0" algn="just"/>
            <a:endParaRPr lang="en-GB" sz="2400" dirty="0" smtClean="0">
              <a:latin typeface="Times New Roman" pitchFamily="18" charset="0"/>
              <a:cs typeface="Times New Roman" pitchFamily="18" charset="0"/>
            </a:endParaRPr>
          </a:p>
          <a:p>
            <a:pPr marL="342900" lvl="0" indent="-342900" algn="just">
              <a:buFont typeface="Wingdings" pitchFamily="2" charset="2"/>
              <a:buChar char="q"/>
            </a:pPr>
            <a:r>
              <a:rPr lang="en-GB" sz="2400" dirty="0" smtClean="0">
                <a:latin typeface="Times New Roman" pitchFamily="18" charset="0"/>
                <a:cs typeface="Times New Roman" pitchFamily="18" charset="0"/>
              </a:rPr>
              <a:t>To </a:t>
            </a:r>
            <a:r>
              <a:rPr lang="en-GB" sz="2400" dirty="0">
                <a:latin typeface="Times New Roman" pitchFamily="18" charset="0"/>
                <a:cs typeface="Times New Roman" pitchFamily="18" charset="0"/>
              </a:rPr>
              <a:t>identify extant technologies in leather tanning industry in the Northwest </a:t>
            </a:r>
            <a:r>
              <a:rPr lang="en-GB" sz="2400" dirty="0" smtClean="0">
                <a:latin typeface="Times New Roman" pitchFamily="18" charset="0"/>
                <a:cs typeface="Times New Roman" pitchFamily="18" charset="0"/>
              </a:rPr>
              <a:t>region.</a:t>
            </a:r>
          </a:p>
          <a:p>
            <a:pPr lvl="0" algn="just"/>
            <a:endParaRPr lang="en-US" sz="2400" dirty="0">
              <a:latin typeface="Times New Roman" pitchFamily="18" charset="0"/>
              <a:cs typeface="Times New Roman" pitchFamily="18" charset="0"/>
            </a:endParaRPr>
          </a:p>
          <a:p>
            <a:pPr marL="342900" lvl="0" indent="-342900" algn="just">
              <a:buFont typeface="Wingdings" pitchFamily="2" charset="2"/>
              <a:buChar char="q"/>
            </a:pPr>
            <a:r>
              <a:rPr lang="en-US" sz="2400" dirty="0">
                <a:latin typeface="Times New Roman" pitchFamily="18" charset="0"/>
                <a:cs typeface="Times New Roman" pitchFamily="18" charset="0"/>
              </a:rPr>
              <a:t>To evaluate the factor(s) hindering or driving the adoption of the technologies in the </a:t>
            </a:r>
            <a:r>
              <a:rPr lang="en-US" sz="2400" dirty="0" smtClean="0">
                <a:latin typeface="Times New Roman" pitchFamily="18" charset="0"/>
                <a:cs typeface="Times New Roman" pitchFamily="18" charset="0"/>
              </a:rPr>
              <a:t>industry.</a:t>
            </a:r>
          </a:p>
          <a:p>
            <a:pPr lvl="0" algn="just"/>
            <a:endParaRPr lang="en-US" sz="2400" dirty="0">
              <a:latin typeface="Times New Roman" pitchFamily="18" charset="0"/>
              <a:cs typeface="Times New Roman" pitchFamily="18" charset="0"/>
            </a:endParaRPr>
          </a:p>
          <a:p>
            <a:pPr marL="342900" lvl="0" indent="-342900" algn="just">
              <a:buFont typeface="Wingdings" pitchFamily="2" charset="2"/>
              <a:buChar char="q"/>
            </a:pPr>
            <a:r>
              <a:rPr lang="en-US" sz="2400" dirty="0">
                <a:latin typeface="Times New Roman" pitchFamily="18" charset="0"/>
                <a:cs typeface="Times New Roman" pitchFamily="18" charset="0"/>
              </a:rPr>
              <a:t>To assess the compliance of the industry to extant environmental regulatory standards and </a:t>
            </a:r>
            <a:r>
              <a:rPr lang="en-US" sz="2400" dirty="0" smtClean="0">
                <a:latin typeface="Times New Roman" pitchFamily="18" charset="0"/>
                <a:cs typeface="Times New Roman" pitchFamily="18" charset="0"/>
              </a:rPr>
              <a:t>framework.</a:t>
            </a:r>
          </a:p>
          <a:p>
            <a:pPr lvl="0" algn="just"/>
            <a:endParaRPr lang="en-US" sz="2400" dirty="0">
              <a:latin typeface="Times New Roman" pitchFamily="18" charset="0"/>
              <a:cs typeface="Times New Roman" pitchFamily="18" charset="0"/>
            </a:endParaRPr>
          </a:p>
          <a:p>
            <a:pPr marL="342900" lvl="0" indent="-342900" algn="just">
              <a:buFont typeface="Wingdings" pitchFamily="2" charset="2"/>
              <a:buChar char="q"/>
            </a:pPr>
            <a:r>
              <a:rPr lang="en-US" sz="2400" dirty="0">
                <a:latin typeface="Times New Roman" pitchFamily="18" charset="0"/>
                <a:cs typeface="Times New Roman" pitchFamily="18" charset="0"/>
              </a:rPr>
              <a:t>To examine the social impact of the industry in the Northwest region. </a:t>
            </a:r>
            <a:endParaRPr lang="en-US" sz="2400" dirty="0" smtClean="0">
              <a:latin typeface="Times New Roman" pitchFamily="18" charset="0"/>
              <a:cs typeface="Times New Roman" pitchFamily="18" charset="0"/>
            </a:endParaRPr>
          </a:p>
          <a:p>
            <a:pPr lvl="0" algn="just"/>
            <a:endParaRPr lang="en-US" sz="2400" dirty="0">
              <a:latin typeface="Times New Roman" pitchFamily="18" charset="0"/>
              <a:cs typeface="Times New Roman" pitchFamily="18" charset="0"/>
            </a:endParaRPr>
          </a:p>
          <a:p>
            <a:pPr marL="342900" lvl="0" indent="-342900" algn="just">
              <a:buFont typeface="Wingdings" pitchFamily="2" charset="2"/>
              <a:buChar char="q"/>
            </a:pPr>
            <a:r>
              <a:rPr lang="en-US" sz="2400" dirty="0">
                <a:latin typeface="Times New Roman" pitchFamily="18" charset="0"/>
                <a:cs typeface="Times New Roman" pitchFamily="18" charset="0"/>
              </a:rPr>
              <a:t>To provide policy recommendations that will foster a sustainable industrial growth and social inclusiveness. </a:t>
            </a:r>
          </a:p>
        </p:txBody>
      </p:sp>
    </p:spTree>
    <p:extLst>
      <p:ext uri="{BB962C8B-B14F-4D97-AF65-F5344CB8AC3E}">
        <p14:creationId xmlns:p14="http://schemas.microsoft.com/office/powerpoint/2010/main" val="32195267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55D3A539-B024-4A9D-AB39-8A8CD28DFA40}"/>
              </a:ext>
            </a:extLst>
          </p:cNvPr>
          <p:cNvSpPr>
            <a:spLocks noGrp="1"/>
          </p:cNvSpPr>
          <p:nvPr>
            <p:ph type="sldNum" sz="quarter" idx="4294967295"/>
          </p:nvPr>
        </p:nvSpPr>
        <p:spPr>
          <a:xfrm>
            <a:off x="194733" y="6324600"/>
            <a:ext cx="609600" cy="457200"/>
          </a:xfrm>
          <a:prstGeom prst="ellipse">
            <a:avLst/>
          </a:prstGeom>
        </p:spPr>
        <p:txBody>
          <a:bodyPr/>
          <a:lstStyle/>
          <a:p>
            <a:pPr>
              <a:defRPr/>
            </a:pPr>
            <a:fld id="{13E89DE0-BABE-41AF-B6B2-65B34D6E537A}" type="slidenum">
              <a:rPr lang="en-GB" smtClean="0">
                <a:solidFill>
                  <a:prstClr val="white"/>
                </a:solidFill>
              </a:rPr>
              <a:pPr>
                <a:defRPr/>
              </a:pPr>
              <a:t>8</a:t>
            </a:fld>
            <a:endParaRPr lang="en-GB">
              <a:solidFill>
                <a:prstClr val="white"/>
              </a:solidFill>
            </a:endParaRPr>
          </a:p>
        </p:txBody>
      </p:sp>
      <p:sp>
        <p:nvSpPr>
          <p:cNvPr id="21" name="Content Placeholder 2"/>
          <p:cNvSpPr>
            <a:spLocks noGrp="1"/>
          </p:cNvSpPr>
          <p:nvPr>
            <p:ph sz="quarter" idx="1"/>
          </p:nvPr>
        </p:nvSpPr>
        <p:spPr>
          <a:xfrm>
            <a:off x="0" y="1"/>
            <a:ext cx="5172501" cy="709683"/>
          </a:xfrm>
          <a:solidFill>
            <a:schemeClr val="accent2">
              <a:lumMod val="75000"/>
            </a:schemeClr>
          </a:solidFill>
        </p:spPr>
        <p:txBody>
          <a:bodyPr anchor="ctr"/>
          <a:lstStyle/>
          <a:p>
            <a:pPr marL="0" indent="0" algn="ctr">
              <a:buNone/>
            </a:pPr>
            <a:r>
              <a:rPr lang="en-GB" sz="3200" dirty="0" smtClean="0">
                <a:solidFill>
                  <a:schemeClr val="bg1"/>
                </a:solidFill>
              </a:rPr>
              <a:t>Significance of the Study</a:t>
            </a:r>
            <a:endParaRPr lang="en-US" sz="3200" dirty="0">
              <a:solidFill>
                <a:schemeClr val="bg1"/>
              </a:solidFill>
            </a:endParaRPr>
          </a:p>
        </p:txBody>
      </p:sp>
      <p:sp>
        <p:nvSpPr>
          <p:cNvPr id="22" name="TextBox 21">
            <a:extLst>
              <a:ext uri="{FF2B5EF4-FFF2-40B4-BE49-F238E27FC236}">
                <a16:creationId xmlns:a16="http://schemas.microsoft.com/office/drawing/2014/main" xmlns="" id="{A09AFF1C-31DD-5AB8-1FC5-2470CD4D0D41}"/>
              </a:ext>
            </a:extLst>
          </p:cNvPr>
          <p:cNvSpPr txBox="1"/>
          <p:nvPr/>
        </p:nvSpPr>
        <p:spPr>
          <a:xfrm>
            <a:off x="286603" y="869173"/>
            <a:ext cx="10604310" cy="4524315"/>
          </a:xfrm>
          <a:prstGeom prst="rect">
            <a:avLst/>
          </a:prstGeom>
          <a:noFill/>
        </p:spPr>
        <p:txBody>
          <a:bodyPr wrap="square">
            <a:spAutoFit/>
          </a:bodyPr>
          <a:lstStyle/>
          <a:p>
            <a:pPr lvl="0" algn="just">
              <a:lnSpc>
                <a:spcPct val="150000"/>
              </a:lnSpc>
            </a:pPr>
            <a:endParaRPr lang="en-GB" sz="2400" dirty="0" smtClean="0">
              <a:latin typeface="Times New Roman" pitchFamily="18" charset="0"/>
              <a:cs typeface="Times New Roman" pitchFamily="18" charset="0"/>
            </a:endParaRPr>
          </a:p>
          <a:p>
            <a:pPr marL="342900" indent="-342900" algn="just">
              <a:lnSpc>
                <a:spcPct val="150000"/>
              </a:lnSpc>
              <a:buFont typeface="Wingdings" pitchFamily="2" charset="2"/>
              <a:buChar char="q"/>
            </a:pPr>
            <a:r>
              <a:rPr lang="en-US" sz="2400" dirty="0">
                <a:latin typeface="Times New Roman" pitchFamily="18" charset="0"/>
                <a:cs typeface="Times New Roman" pitchFamily="18" charset="0"/>
              </a:rPr>
              <a:t>This study will provide valuable insights for stakeholders including policymakers, industry leaders, and development agencies. </a:t>
            </a:r>
            <a:endParaRPr lang="en-US" sz="2400" dirty="0" smtClean="0">
              <a:latin typeface="Times New Roman" pitchFamily="18" charset="0"/>
              <a:cs typeface="Times New Roman" pitchFamily="18" charset="0"/>
            </a:endParaRPr>
          </a:p>
          <a:p>
            <a:pPr marL="342900" indent="-342900" algn="just">
              <a:lnSpc>
                <a:spcPct val="150000"/>
              </a:lnSpc>
              <a:buFont typeface="Wingdings" pitchFamily="2" charset="2"/>
              <a:buChar char="q"/>
            </a:pPr>
            <a:endParaRPr lang="en-US" sz="2400" dirty="0">
              <a:latin typeface="Times New Roman" pitchFamily="18" charset="0"/>
              <a:cs typeface="Times New Roman" pitchFamily="18" charset="0"/>
            </a:endParaRPr>
          </a:p>
          <a:p>
            <a:pPr marL="342900" indent="-342900" algn="just">
              <a:lnSpc>
                <a:spcPct val="150000"/>
              </a:lnSpc>
              <a:buFont typeface="Wingdings" pitchFamily="2" charset="2"/>
              <a:buChar char="q"/>
            </a:pPr>
            <a:r>
              <a:rPr lang="en-US" sz="2400" dirty="0" smtClean="0">
                <a:latin typeface="Times New Roman" pitchFamily="18" charset="0"/>
                <a:cs typeface="Times New Roman" pitchFamily="18" charset="0"/>
              </a:rPr>
              <a:t>By </a:t>
            </a:r>
            <a:r>
              <a:rPr lang="en-US" sz="2400" dirty="0">
                <a:latin typeface="Times New Roman" pitchFamily="18" charset="0"/>
                <a:cs typeface="Times New Roman" pitchFamily="18" charset="0"/>
              </a:rPr>
              <a:t>evaluating the economic potential and challenges of the leather tanning industry in northwest Nigeria, the research will help inform strategies that promote sustainable growth and development in the sector. This can lead to job creation, increased exports, and enhanced economic stability in the region.</a:t>
            </a:r>
          </a:p>
        </p:txBody>
      </p:sp>
    </p:spTree>
    <p:extLst>
      <p:ext uri="{BB962C8B-B14F-4D97-AF65-F5344CB8AC3E}">
        <p14:creationId xmlns:p14="http://schemas.microsoft.com/office/powerpoint/2010/main" val="26849844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55D3A539-B024-4A9D-AB39-8A8CD28DFA40}"/>
              </a:ext>
            </a:extLst>
          </p:cNvPr>
          <p:cNvSpPr>
            <a:spLocks noGrp="1"/>
          </p:cNvSpPr>
          <p:nvPr>
            <p:ph type="sldNum" sz="quarter" idx="4294967295"/>
          </p:nvPr>
        </p:nvSpPr>
        <p:spPr>
          <a:xfrm>
            <a:off x="194733" y="6324600"/>
            <a:ext cx="609600" cy="457200"/>
          </a:xfrm>
          <a:prstGeom prst="ellipse">
            <a:avLst/>
          </a:prstGeom>
        </p:spPr>
        <p:txBody>
          <a:bodyPr/>
          <a:lstStyle/>
          <a:p>
            <a:pPr>
              <a:defRPr/>
            </a:pPr>
            <a:fld id="{13E89DE0-BABE-41AF-B6B2-65B34D6E537A}" type="slidenum">
              <a:rPr lang="en-GB" smtClean="0">
                <a:solidFill>
                  <a:prstClr val="white"/>
                </a:solidFill>
              </a:rPr>
              <a:pPr>
                <a:defRPr/>
              </a:pPr>
              <a:t>9</a:t>
            </a:fld>
            <a:endParaRPr lang="en-GB">
              <a:solidFill>
                <a:prstClr val="white"/>
              </a:solidFill>
            </a:endParaRPr>
          </a:p>
        </p:txBody>
      </p:sp>
      <p:sp>
        <p:nvSpPr>
          <p:cNvPr id="21" name="Content Placeholder 2"/>
          <p:cNvSpPr>
            <a:spLocks noGrp="1"/>
          </p:cNvSpPr>
          <p:nvPr>
            <p:ph sz="quarter" idx="1"/>
          </p:nvPr>
        </p:nvSpPr>
        <p:spPr>
          <a:xfrm>
            <a:off x="0" y="1"/>
            <a:ext cx="5172501" cy="709683"/>
          </a:xfrm>
          <a:solidFill>
            <a:schemeClr val="accent2">
              <a:lumMod val="75000"/>
            </a:schemeClr>
          </a:solidFill>
        </p:spPr>
        <p:txBody>
          <a:bodyPr anchor="ctr"/>
          <a:lstStyle/>
          <a:p>
            <a:pPr marL="0" indent="0" algn="ctr">
              <a:buNone/>
            </a:pPr>
            <a:r>
              <a:rPr lang="en-GB" sz="3200" dirty="0" smtClean="0">
                <a:solidFill>
                  <a:schemeClr val="bg1"/>
                </a:solidFill>
              </a:rPr>
              <a:t>Method and Materials </a:t>
            </a:r>
            <a:endParaRPr lang="en-US" sz="3200" dirty="0">
              <a:solidFill>
                <a:schemeClr val="bg1"/>
              </a:solidFill>
            </a:endParaRPr>
          </a:p>
        </p:txBody>
      </p:sp>
      <p:sp>
        <p:nvSpPr>
          <p:cNvPr id="22" name="TextBox 21">
            <a:extLst>
              <a:ext uri="{FF2B5EF4-FFF2-40B4-BE49-F238E27FC236}">
                <a16:creationId xmlns:a16="http://schemas.microsoft.com/office/drawing/2014/main" xmlns="" id="{A09AFF1C-31DD-5AB8-1FC5-2470CD4D0D41}"/>
              </a:ext>
            </a:extLst>
          </p:cNvPr>
          <p:cNvSpPr txBox="1"/>
          <p:nvPr/>
        </p:nvSpPr>
        <p:spPr>
          <a:xfrm>
            <a:off x="545911" y="910108"/>
            <a:ext cx="10604310" cy="5262979"/>
          </a:xfrm>
          <a:prstGeom prst="rect">
            <a:avLst/>
          </a:prstGeom>
          <a:noFill/>
        </p:spPr>
        <p:txBody>
          <a:bodyPr wrap="square">
            <a:spAutoFit/>
          </a:bodyPr>
          <a:lstStyle/>
          <a:p>
            <a:pPr marL="342900" indent="-342900" algn="just">
              <a:lnSpc>
                <a:spcPct val="150000"/>
              </a:lnSpc>
              <a:buFont typeface="Wingdings" pitchFamily="2" charset="2"/>
              <a:buChar char="q"/>
            </a:pPr>
            <a:r>
              <a:rPr lang="en-US" sz="2400" dirty="0" smtClean="0">
                <a:latin typeface="Times New Roman" pitchFamily="18" charset="0"/>
                <a:cs typeface="Times New Roman" pitchFamily="18" charset="0"/>
              </a:rPr>
              <a:t>This </a:t>
            </a:r>
            <a:r>
              <a:rPr lang="en-US" sz="2400" dirty="0">
                <a:latin typeface="Times New Roman" pitchFamily="18" charset="0"/>
                <a:cs typeface="Times New Roman" pitchFamily="18" charset="0"/>
              </a:rPr>
              <a:t>study will adopt a “mixed-methods approach”, combining both </a:t>
            </a:r>
            <a:r>
              <a:rPr lang="en-US" sz="2400" b="1" dirty="0">
                <a:latin typeface="Times New Roman" pitchFamily="18" charset="0"/>
                <a:cs typeface="Times New Roman" pitchFamily="18" charset="0"/>
              </a:rPr>
              <a:t>(qualitative) </a:t>
            </a:r>
            <a:r>
              <a:rPr lang="en-US" sz="2400" dirty="0">
                <a:latin typeface="Times New Roman" pitchFamily="18" charset="0"/>
                <a:cs typeface="Times New Roman" pitchFamily="18" charset="0"/>
              </a:rPr>
              <a:t>and </a:t>
            </a:r>
            <a:r>
              <a:rPr lang="en-US" sz="2400" b="1" dirty="0">
                <a:latin typeface="Times New Roman" pitchFamily="18" charset="0"/>
                <a:cs typeface="Times New Roman" pitchFamily="18" charset="0"/>
              </a:rPr>
              <a:t>(quantitative)</a:t>
            </a:r>
            <a:r>
              <a:rPr lang="en-US" sz="2400" dirty="0">
                <a:latin typeface="Times New Roman" pitchFamily="18" charset="0"/>
                <a:cs typeface="Times New Roman" pitchFamily="18" charset="0"/>
              </a:rPr>
              <a:t> research techniques to provide a comprehensive analysis of the leather tanning industry in northwest Nigeria. </a:t>
            </a:r>
            <a:endParaRPr lang="en-US" sz="2400" dirty="0" smtClean="0">
              <a:latin typeface="Times New Roman" pitchFamily="18" charset="0"/>
              <a:cs typeface="Times New Roman" pitchFamily="18" charset="0"/>
            </a:endParaRPr>
          </a:p>
          <a:p>
            <a:pPr algn="just"/>
            <a:endParaRPr lang="en-US" sz="2400" dirty="0" smtClean="0">
              <a:latin typeface="Times New Roman" pitchFamily="18" charset="0"/>
              <a:cs typeface="Times New Roman" pitchFamily="18" charset="0"/>
            </a:endParaRPr>
          </a:p>
          <a:p>
            <a:pPr marL="342900" indent="-342900" algn="just">
              <a:lnSpc>
                <a:spcPct val="150000"/>
              </a:lnSpc>
              <a:buFont typeface="Wingdings" pitchFamily="2" charset="2"/>
              <a:buChar char="q"/>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quantitative data will be analyzed using appropriate statistical tool notably SPSS. </a:t>
            </a:r>
            <a:endParaRPr lang="en-US" sz="2400" dirty="0" smtClean="0">
              <a:latin typeface="Times New Roman" pitchFamily="18" charset="0"/>
              <a:cs typeface="Times New Roman" pitchFamily="18" charset="0"/>
            </a:endParaRPr>
          </a:p>
          <a:p>
            <a:pPr algn="just"/>
            <a:endParaRPr lang="en-US" sz="2400" dirty="0" smtClean="0">
              <a:latin typeface="Times New Roman" pitchFamily="18" charset="0"/>
              <a:cs typeface="Times New Roman" pitchFamily="18" charset="0"/>
            </a:endParaRPr>
          </a:p>
          <a:p>
            <a:pPr marL="342900" indent="-342900" algn="just">
              <a:lnSpc>
                <a:spcPct val="150000"/>
              </a:lnSpc>
              <a:buFont typeface="Wingdings" pitchFamily="2" charset="2"/>
              <a:buChar char="q"/>
            </a:pPr>
            <a:r>
              <a:rPr lang="en-US" sz="2400" dirty="0" smtClean="0">
                <a:latin typeface="Times New Roman" pitchFamily="18" charset="0"/>
                <a:cs typeface="Times New Roman" pitchFamily="18" charset="0"/>
              </a:rPr>
              <a:t>However</a:t>
            </a:r>
            <a:r>
              <a:rPr lang="en-US" sz="2400" dirty="0">
                <a:latin typeface="Times New Roman" pitchFamily="18" charset="0"/>
                <a:cs typeface="Times New Roman" pitchFamily="18" charset="0"/>
              </a:rPr>
              <a:t>, the qualitative data will be analyzed through “thematic analysis” to identify recurring themes and patterns related to the challenges and opportunities in the industry. </a:t>
            </a:r>
          </a:p>
        </p:txBody>
      </p:sp>
    </p:spTree>
    <p:extLst>
      <p:ext uri="{BB962C8B-B14F-4D97-AF65-F5344CB8AC3E}">
        <p14:creationId xmlns:p14="http://schemas.microsoft.com/office/powerpoint/2010/main" val="29606568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55D3A539-B024-4A9D-AB39-8A8CD28DFA40}"/>
              </a:ext>
            </a:extLst>
          </p:cNvPr>
          <p:cNvSpPr>
            <a:spLocks noGrp="1"/>
          </p:cNvSpPr>
          <p:nvPr>
            <p:ph type="sldNum" sz="quarter" idx="4294967295"/>
          </p:nvPr>
        </p:nvSpPr>
        <p:spPr>
          <a:xfrm>
            <a:off x="194733" y="6324600"/>
            <a:ext cx="609600" cy="457200"/>
          </a:xfrm>
          <a:prstGeom prst="ellipse">
            <a:avLst/>
          </a:prstGeom>
        </p:spPr>
        <p:txBody>
          <a:bodyPr/>
          <a:lstStyle/>
          <a:p>
            <a:pPr>
              <a:defRPr/>
            </a:pPr>
            <a:fld id="{13E89DE0-BABE-41AF-B6B2-65B34D6E537A}" type="slidenum">
              <a:rPr lang="en-GB" smtClean="0">
                <a:solidFill>
                  <a:prstClr val="white"/>
                </a:solidFill>
              </a:rPr>
              <a:pPr>
                <a:defRPr/>
              </a:pPr>
              <a:t>10</a:t>
            </a:fld>
            <a:endParaRPr lang="en-GB">
              <a:solidFill>
                <a:prstClr val="white"/>
              </a:solidFill>
            </a:endParaRPr>
          </a:p>
        </p:txBody>
      </p:sp>
      <p:sp>
        <p:nvSpPr>
          <p:cNvPr id="21" name="Content Placeholder 2"/>
          <p:cNvSpPr>
            <a:spLocks noGrp="1"/>
          </p:cNvSpPr>
          <p:nvPr>
            <p:ph sz="quarter" idx="1"/>
          </p:nvPr>
        </p:nvSpPr>
        <p:spPr>
          <a:xfrm>
            <a:off x="1" y="1"/>
            <a:ext cx="3043450" cy="709683"/>
          </a:xfrm>
          <a:solidFill>
            <a:schemeClr val="accent2">
              <a:lumMod val="75000"/>
            </a:schemeClr>
          </a:solidFill>
        </p:spPr>
        <p:txBody>
          <a:bodyPr anchor="ctr"/>
          <a:lstStyle/>
          <a:p>
            <a:pPr marL="0" indent="0" algn="ctr">
              <a:buNone/>
            </a:pPr>
            <a:r>
              <a:rPr lang="en-GB" sz="3200" dirty="0" smtClean="0">
                <a:solidFill>
                  <a:schemeClr val="bg1"/>
                </a:solidFill>
              </a:rPr>
              <a:t>Deliverables</a:t>
            </a:r>
            <a:endParaRPr lang="en-US" sz="3200" dirty="0">
              <a:solidFill>
                <a:schemeClr val="bg1"/>
              </a:solidFill>
            </a:endParaRPr>
          </a:p>
        </p:txBody>
      </p:sp>
      <p:sp>
        <p:nvSpPr>
          <p:cNvPr id="22" name="TextBox 21">
            <a:extLst>
              <a:ext uri="{FF2B5EF4-FFF2-40B4-BE49-F238E27FC236}">
                <a16:creationId xmlns:a16="http://schemas.microsoft.com/office/drawing/2014/main" xmlns="" id="{A09AFF1C-31DD-5AB8-1FC5-2470CD4D0D41}"/>
              </a:ext>
            </a:extLst>
          </p:cNvPr>
          <p:cNvSpPr txBox="1"/>
          <p:nvPr/>
        </p:nvSpPr>
        <p:spPr>
          <a:xfrm>
            <a:off x="600507" y="1169424"/>
            <a:ext cx="10604310" cy="4893647"/>
          </a:xfrm>
          <a:prstGeom prst="rect">
            <a:avLst/>
          </a:prstGeom>
          <a:noFill/>
        </p:spPr>
        <p:txBody>
          <a:bodyPr wrap="square">
            <a:spAutoFit/>
          </a:bodyPr>
          <a:lstStyle/>
          <a:p>
            <a:pPr algn="just"/>
            <a:r>
              <a:rPr lang="en-US" sz="2400" b="1" dirty="0" smtClean="0">
                <a:latin typeface="Lucida Handwriting" pitchFamily="66" charset="0"/>
                <a:cs typeface="Times New Roman" pitchFamily="18" charset="0"/>
              </a:rPr>
              <a:t>The </a:t>
            </a:r>
            <a:r>
              <a:rPr lang="en-US" sz="2400" b="1" dirty="0">
                <a:latin typeface="Lucida Handwriting" pitchFamily="66" charset="0"/>
                <a:cs typeface="Times New Roman" pitchFamily="18" charset="0"/>
              </a:rPr>
              <a:t>following deliverables will be submitted at the end of this </a:t>
            </a:r>
            <a:r>
              <a:rPr lang="en-US" sz="2400" b="1" dirty="0" smtClean="0">
                <a:latin typeface="Lucida Handwriting" pitchFamily="66" charset="0"/>
                <a:cs typeface="Times New Roman" pitchFamily="18" charset="0"/>
              </a:rPr>
              <a:t>study</a:t>
            </a:r>
            <a:r>
              <a:rPr lang="en-US" sz="2400" dirty="0" smtClean="0">
                <a:latin typeface="Lucida Handwriting" pitchFamily="66" charset="0"/>
                <a:cs typeface="Times New Roman" pitchFamily="18" charset="0"/>
              </a:rPr>
              <a:t>:</a:t>
            </a:r>
          </a:p>
          <a:p>
            <a:pPr algn="just"/>
            <a:endParaRPr lang="en-US" sz="2400" dirty="0" smtClean="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marL="342900" lvl="0" indent="-342900" algn="just">
              <a:buFont typeface="Wingdings" pitchFamily="2" charset="2"/>
              <a:buChar char="q"/>
            </a:pPr>
            <a:r>
              <a:rPr lang="en-GB" sz="2400" b="1" dirty="0">
                <a:latin typeface="Times New Roman" pitchFamily="18" charset="0"/>
                <a:cs typeface="Times New Roman" pitchFamily="18" charset="0"/>
              </a:rPr>
              <a:t>Profile of firms in the leather tanning industries in the Northwest region.  </a:t>
            </a:r>
            <a:endParaRPr lang="en-US" sz="2400" b="1" dirty="0">
              <a:latin typeface="Times New Roman" pitchFamily="18" charset="0"/>
              <a:cs typeface="Times New Roman" pitchFamily="18" charset="0"/>
            </a:endParaRPr>
          </a:p>
          <a:p>
            <a:pPr marL="342900" lvl="0" indent="-342900" algn="just">
              <a:buFont typeface="Wingdings" pitchFamily="2" charset="2"/>
              <a:buChar char="q"/>
            </a:pPr>
            <a:endParaRPr lang="en-US" sz="2400" b="1" dirty="0">
              <a:latin typeface="Times New Roman" pitchFamily="18" charset="0"/>
              <a:cs typeface="Times New Roman" pitchFamily="18" charset="0"/>
            </a:endParaRPr>
          </a:p>
          <a:p>
            <a:pPr marL="342900" lvl="0" indent="-342900" algn="just">
              <a:buFont typeface="Wingdings" pitchFamily="2" charset="2"/>
              <a:buChar char="q"/>
            </a:pPr>
            <a:endParaRPr lang="en-US" sz="2400" b="1" dirty="0">
              <a:latin typeface="Times New Roman" pitchFamily="18" charset="0"/>
              <a:cs typeface="Times New Roman" pitchFamily="18" charset="0"/>
            </a:endParaRPr>
          </a:p>
          <a:p>
            <a:pPr marL="342900" lvl="0" indent="-342900" algn="just">
              <a:buFont typeface="Wingdings" pitchFamily="2" charset="2"/>
              <a:buChar char="q"/>
            </a:pPr>
            <a:r>
              <a:rPr lang="en-GB" sz="2400" b="1" dirty="0" smtClean="0">
                <a:latin typeface="Times New Roman" pitchFamily="18" charset="0"/>
                <a:cs typeface="Times New Roman" pitchFamily="18" charset="0"/>
              </a:rPr>
              <a:t>A </a:t>
            </a:r>
            <a:r>
              <a:rPr lang="en-GB" sz="2400" b="1" dirty="0">
                <a:latin typeface="Times New Roman" pitchFamily="18" charset="0"/>
                <a:cs typeface="Times New Roman" pitchFamily="18" charset="0"/>
              </a:rPr>
              <a:t>Technical </a:t>
            </a:r>
            <a:r>
              <a:rPr lang="en-GB" sz="2400" b="1" dirty="0" smtClean="0">
                <a:latin typeface="Times New Roman" pitchFamily="18" charset="0"/>
                <a:cs typeface="Times New Roman" pitchFamily="18" charset="0"/>
              </a:rPr>
              <a:t>report.</a:t>
            </a:r>
            <a:endParaRPr lang="en-US" sz="2400" b="1" dirty="0">
              <a:latin typeface="Times New Roman" pitchFamily="18" charset="0"/>
              <a:cs typeface="Times New Roman" pitchFamily="18" charset="0"/>
            </a:endParaRPr>
          </a:p>
          <a:p>
            <a:pPr marL="342900" lvl="0" indent="-342900" algn="just">
              <a:buFont typeface="Wingdings" pitchFamily="2" charset="2"/>
              <a:buChar char="q"/>
            </a:pPr>
            <a:endParaRPr lang="en-US" sz="2400" b="1" dirty="0">
              <a:latin typeface="Times New Roman" pitchFamily="18" charset="0"/>
              <a:cs typeface="Times New Roman" pitchFamily="18" charset="0"/>
            </a:endParaRPr>
          </a:p>
          <a:p>
            <a:pPr lvl="0" algn="just"/>
            <a:endParaRPr lang="en-US" sz="2400" b="1" dirty="0">
              <a:latin typeface="Times New Roman" pitchFamily="18" charset="0"/>
              <a:cs typeface="Times New Roman" pitchFamily="18" charset="0"/>
            </a:endParaRPr>
          </a:p>
          <a:p>
            <a:pPr marL="342900" lvl="0" indent="-342900" algn="just">
              <a:lnSpc>
                <a:spcPct val="150000"/>
              </a:lnSpc>
              <a:buFont typeface="Wingdings" pitchFamily="2" charset="2"/>
              <a:buChar char="q"/>
            </a:pPr>
            <a:r>
              <a:rPr lang="en-GB" sz="2400" b="1" dirty="0" smtClean="0">
                <a:latin typeface="Times New Roman" pitchFamily="18" charset="0"/>
                <a:cs typeface="Times New Roman" pitchFamily="18" charset="0"/>
              </a:rPr>
              <a:t>At </a:t>
            </a:r>
            <a:r>
              <a:rPr lang="en-GB" sz="2400" b="1" dirty="0">
                <a:latin typeface="Times New Roman" pitchFamily="18" charset="0"/>
                <a:cs typeface="Times New Roman" pitchFamily="18" charset="0"/>
              </a:rPr>
              <a:t>least three research outputs – 1 journal publication and 2 conference presentations</a:t>
            </a: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4981183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55D3A539-B024-4A9D-AB39-8A8CD28DFA40}"/>
              </a:ext>
            </a:extLst>
          </p:cNvPr>
          <p:cNvSpPr>
            <a:spLocks noGrp="1"/>
          </p:cNvSpPr>
          <p:nvPr>
            <p:ph type="sldNum" sz="quarter" idx="4294967295"/>
          </p:nvPr>
        </p:nvSpPr>
        <p:spPr>
          <a:xfrm>
            <a:off x="194733" y="6324600"/>
            <a:ext cx="609600" cy="457200"/>
          </a:xfrm>
          <a:prstGeom prst="ellipse">
            <a:avLst/>
          </a:prstGeom>
        </p:spPr>
        <p:txBody>
          <a:bodyPr/>
          <a:lstStyle/>
          <a:p>
            <a:pPr>
              <a:defRPr/>
            </a:pPr>
            <a:fld id="{13E89DE0-BABE-41AF-B6B2-65B34D6E537A}" type="slidenum">
              <a:rPr lang="en-GB" smtClean="0">
                <a:solidFill>
                  <a:prstClr val="white"/>
                </a:solidFill>
              </a:rPr>
              <a:pPr>
                <a:defRPr/>
              </a:pPr>
              <a:t>11</a:t>
            </a:fld>
            <a:endParaRPr lang="en-GB">
              <a:solidFill>
                <a:prstClr val="white"/>
              </a:solidFill>
            </a:endParaRPr>
          </a:p>
        </p:txBody>
      </p:sp>
      <p:sp>
        <p:nvSpPr>
          <p:cNvPr id="21" name="Content Placeholder 2"/>
          <p:cNvSpPr>
            <a:spLocks noGrp="1"/>
          </p:cNvSpPr>
          <p:nvPr>
            <p:ph sz="quarter" idx="1"/>
          </p:nvPr>
        </p:nvSpPr>
        <p:spPr>
          <a:xfrm>
            <a:off x="0" y="1"/>
            <a:ext cx="3903260" cy="709683"/>
          </a:xfrm>
          <a:solidFill>
            <a:schemeClr val="accent2">
              <a:lumMod val="75000"/>
            </a:schemeClr>
          </a:solidFill>
        </p:spPr>
        <p:txBody>
          <a:bodyPr anchor="ctr"/>
          <a:lstStyle/>
          <a:p>
            <a:pPr marL="0" indent="0" algn="ctr">
              <a:buNone/>
            </a:pPr>
            <a:r>
              <a:rPr lang="en-GB" sz="3200" dirty="0" smtClean="0">
                <a:solidFill>
                  <a:schemeClr val="bg1"/>
                </a:solidFill>
              </a:rPr>
              <a:t>Planned Activities</a:t>
            </a:r>
            <a:endParaRPr lang="en-US" sz="3200" dirty="0">
              <a:solidFill>
                <a:schemeClr val="bg1"/>
              </a:solidFill>
            </a:endParaRPr>
          </a:p>
        </p:txBody>
      </p:sp>
      <p:sp>
        <p:nvSpPr>
          <p:cNvPr id="22" name="TextBox 21">
            <a:extLst>
              <a:ext uri="{FF2B5EF4-FFF2-40B4-BE49-F238E27FC236}">
                <a16:creationId xmlns:a16="http://schemas.microsoft.com/office/drawing/2014/main" xmlns="" id="{A09AFF1C-31DD-5AB8-1FC5-2470CD4D0D41}"/>
              </a:ext>
            </a:extLst>
          </p:cNvPr>
          <p:cNvSpPr txBox="1"/>
          <p:nvPr/>
        </p:nvSpPr>
        <p:spPr>
          <a:xfrm>
            <a:off x="600507" y="719050"/>
            <a:ext cx="10604310" cy="5632311"/>
          </a:xfrm>
          <a:prstGeom prst="rect">
            <a:avLst/>
          </a:prstGeom>
          <a:noFill/>
        </p:spPr>
        <p:txBody>
          <a:bodyPr wrap="square">
            <a:spAutoFit/>
          </a:bodyPr>
          <a:lstStyle/>
          <a:p>
            <a:pPr algn="just">
              <a:lnSpc>
                <a:spcPct val="150000"/>
              </a:lnSpc>
            </a:pPr>
            <a:r>
              <a:rPr lang="en-US" sz="2400" b="1" dirty="0">
                <a:latin typeface="Lucida Handwriting" pitchFamily="66" charset="0"/>
              </a:rPr>
              <a:t>Listed below are some of the activities to guide the conduct of the </a:t>
            </a:r>
            <a:r>
              <a:rPr lang="en-US" sz="2400" b="1" dirty="0" smtClean="0">
                <a:latin typeface="Lucida Handwriting" pitchFamily="66" charset="0"/>
              </a:rPr>
              <a:t>study</a:t>
            </a:r>
            <a:r>
              <a:rPr lang="en-US" sz="2400" b="1" dirty="0" smtClean="0">
                <a:latin typeface="Lucida Handwriting" pitchFamily="66" charset="0"/>
                <a:cs typeface="Times New Roman" pitchFamily="18" charset="0"/>
              </a:rPr>
              <a:t>:</a:t>
            </a:r>
          </a:p>
          <a:p>
            <a:pPr marL="342900" lvl="0" indent="-342900" algn="just">
              <a:lnSpc>
                <a:spcPct val="150000"/>
              </a:lnSpc>
              <a:buFont typeface="Wingdings" pitchFamily="2" charset="2"/>
              <a:buChar char="q"/>
            </a:pPr>
            <a:r>
              <a:rPr lang="en-GB" sz="2400" b="1" dirty="0" smtClean="0">
                <a:latin typeface="Times New Roman" pitchFamily="18" charset="0"/>
                <a:cs typeface="Times New Roman" pitchFamily="18" charset="0"/>
              </a:rPr>
              <a:t>Preliminary </a:t>
            </a:r>
            <a:r>
              <a:rPr lang="en-GB" sz="2400" b="1" dirty="0">
                <a:latin typeface="Times New Roman" pitchFamily="18" charset="0"/>
                <a:cs typeface="Times New Roman" pitchFamily="18" charset="0"/>
              </a:rPr>
              <a:t>brainstorming sessions on project </a:t>
            </a:r>
            <a:r>
              <a:rPr lang="en-GB" sz="2400" b="1" dirty="0" smtClean="0">
                <a:latin typeface="Times New Roman" pitchFamily="18" charset="0"/>
                <a:cs typeface="Times New Roman" pitchFamily="18" charset="0"/>
              </a:rPr>
              <a:t>conceptualisation</a:t>
            </a:r>
          </a:p>
          <a:p>
            <a:pPr lvl="0" algn="just"/>
            <a:endParaRPr lang="en-US" sz="2400" b="1" dirty="0">
              <a:latin typeface="Times New Roman" pitchFamily="18" charset="0"/>
              <a:cs typeface="Times New Roman" pitchFamily="18" charset="0"/>
            </a:endParaRPr>
          </a:p>
          <a:p>
            <a:pPr marL="342900" lvl="0" indent="-342900" algn="just">
              <a:lnSpc>
                <a:spcPct val="150000"/>
              </a:lnSpc>
              <a:buFont typeface="Wingdings" pitchFamily="2" charset="2"/>
              <a:buChar char="q"/>
            </a:pPr>
            <a:r>
              <a:rPr lang="en-GB" sz="2400" b="1" dirty="0" smtClean="0">
                <a:latin typeface="Times New Roman" pitchFamily="18" charset="0"/>
                <a:cs typeface="Times New Roman" pitchFamily="18" charset="0"/>
              </a:rPr>
              <a:t>Comprehensive </a:t>
            </a:r>
            <a:r>
              <a:rPr lang="en-GB" sz="2400" b="1" dirty="0">
                <a:latin typeface="Times New Roman" pitchFamily="18" charset="0"/>
                <a:cs typeface="Times New Roman" pitchFamily="18" charset="0"/>
              </a:rPr>
              <a:t>literature review on leather tanning industries in the northwest region (poor infrastructure, out-dated technology, environmental pollution, and limited access to global markets) </a:t>
            </a:r>
            <a:endParaRPr lang="en-GB" sz="2400" b="1" dirty="0" smtClean="0">
              <a:latin typeface="Times New Roman" pitchFamily="18" charset="0"/>
              <a:cs typeface="Times New Roman" pitchFamily="18" charset="0"/>
            </a:endParaRPr>
          </a:p>
          <a:p>
            <a:pPr lvl="0" algn="just"/>
            <a:endParaRPr lang="en-US" sz="2400" b="1" dirty="0">
              <a:latin typeface="Times New Roman" pitchFamily="18" charset="0"/>
              <a:cs typeface="Times New Roman" pitchFamily="18" charset="0"/>
            </a:endParaRPr>
          </a:p>
          <a:p>
            <a:pPr marL="342900" lvl="0" indent="-342900" algn="just">
              <a:lnSpc>
                <a:spcPct val="150000"/>
              </a:lnSpc>
              <a:buFont typeface="Wingdings" pitchFamily="2" charset="2"/>
              <a:buChar char="q"/>
            </a:pPr>
            <a:r>
              <a:rPr lang="en-GB" sz="2400" b="1" dirty="0" smtClean="0">
                <a:latin typeface="Times New Roman" pitchFamily="18" charset="0"/>
                <a:cs typeface="Times New Roman" pitchFamily="18" charset="0"/>
              </a:rPr>
              <a:t>Drafting </a:t>
            </a:r>
            <a:r>
              <a:rPr lang="en-GB" sz="2400" b="1" dirty="0">
                <a:latin typeface="Times New Roman" pitchFamily="18" charset="0"/>
                <a:cs typeface="Times New Roman" pitchFamily="18" charset="0"/>
              </a:rPr>
              <a:t>and validation of research </a:t>
            </a:r>
            <a:r>
              <a:rPr lang="en-GB" sz="2400" b="1" dirty="0" smtClean="0">
                <a:latin typeface="Times New Roman" pitchFamily="18" charset="0"/>
                <a:cs typeface="Times New Roman" pitchFamily="18" charset="0"/>
              </a:rPr>
              <a:t>instruments</a:t>
            </a:r>
          </a:p>
          <a:p>
            <a:pPr lvl="0" algn="just"/>
            <a:endParaRPr lang="en-US" sz="2400" b="1" dirty="0">
              <a:latin typeface="Times New Roman" pitchFamily="18" charset="0"/>
              <a:cs typeface="Times New Roman" pitchFamily="18" charset="0"/>
            </a:endParaRPr>
          </a:p>
          <a:p>
            <a:pPr marL="342900" lvl="0" indent="-342900" algn="just">
              <a:lnSpc>
                <a:spcPct val="150000"/>
              </a:lnSpc>
              <a:buFont typeface="Wingdings" pitchFamily="2" charset="2"/>
              <a:buChar char="q"/>
            </a:pPr>
            <a:r>
              <a:rPr lang="en-GB" sz="2400" b="1" dirty="0" smtClean="0">
                <a:latin typeface="Times New Roman" pitchFamily="18" charset="0"/>
                <a:cs typeface="Times New Roman" pitchFamily="18" charset="0"/>
              </a:rPr>
              <a:t>Proposal </a:t>
            </a:r>
            <a:r>
              <a:rPr lang="en-GB" sz="2400" b="1" dirty="0">
                <a:latin typeface="Times New Roman" pitchFamily="18" charset="0"/>
                <a:cs typeface="Times New Roman" pitchFamily="18" charset="0"/>
              </a:rPr>
              <a:t>presentation </a:t>
            </a:r>
            <a:r>
              <a:rPr lang="en-GB" sz="2400" b="1" dirty="0" smtClean="0">
                <a:latin typeface="Times New Roman" pitchFamily="18" charset="0"/>
                <a:cs typeface="Times New Roman" pitchFamily="18" charset="0"/>
              </a:rPr>
              <a:t>seminar</a:t>
            </a:r>
          </a:p>
        </p:txBody>
      </p:sp>
    </p:spTree>
    <p:extLst>
      <p:ext uri="{BB962C8B-B14F-4D97-AF65-F5344CB8AC3E}">
        <p14:creationId xmlns:p14="http://schemas.microsoft.com/office/powerpoint/2010/main" val="11685284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55D3A539-B024-4A9D-AB39-8A8CD28DFA40}"/>
              </a:ext>
            </a:extLst>
          </p:cNvPr>
          <p:cNvSpPr>
            <a:spLocks noGrp="1"/>
          </p:cNvSpPr>
          <p:nvPr>
            <p:ph type="sldNum" sz="quarter" idx="4294967295"/>
          </p:nvPr>
        </p:nvSpPr>
        <p:spPr>
          <a:xfrm>
            <a:off x="194733" y="6324600"/>
            <a:ext cx="609600" cy="457200"/>
          </a:xfrm>
          <a:prstGeom prst="ellipse">
            <a:avLst/>
          </a:prstGeom>
        </p:spPr>
        <p:txBody>
          <a:bodyPr/>
          <a:lstStyle/>
          <a:p>
            <a:pPr>
              <a:defRPr/>
            </a:pPr>
            <a:fld id="{13E89DE0-BABE-41AF-B6B2-65B34D6E537A}" type="slidenum">
              <a:rPr lang="en-GB" smtClean="0">
                <a:solidFill>
                  <a:prstClr val="white"/>
                </a:solidFill>
              </a:rPr>
              <a:pPr>
                <a:defRPr/>
              </a:pPr>
              <a:t>12</a:t>
            </a:fld>
            <a:endParaRPr lang="en-GB">
              <a:solidFill>
                <a:prstClr val="white"/>
              </a:solidFill>
            </a:endParaRPr>
          </a:p>
        </p:txBody>
      </p:sp>
      <p:sp>
        <p:nvSpPr>
          <p:cNvPr id="21" name="Content Placeholder 2"/>
          <p:cNvSpPr>
            <a:spLocks noGrp="1"/>
          </p:cNvSpPr>
          <p:nvPr>
            <p:ph sz="quarter" idx="1"/>
          </p:nvPr>
        </p:nvSpPr>
        <p:spPr>
          <a:xfrm>
            <a:off x="0" y="1"/>
            <a:ext cx="3903260" cy="709683"/>
          </a:xfrm>
          <a:solidFill>
            <a:schemeClr val="accent2">
              <a:lumMod val="75000"/>
            </a:schemeClr>
          </a:solidFill>
        </p:spPr>
        <p:txBody>
          <a:bodyPr anchor="ctr"/>
          <a:lstStyle/>
          <a:p>
            <a:pPr marL="0" indent="0" algn="ctr">
              <a:buNone/>
            </a:pPr>
            <a:r>
              <a:rPr lang="en-GB" sz="3200" dirty="0" err="1" smtClean="0">
                <a:solidFill>
                  <a:schemeClr val="bg1"/>
                </a:solidFill>
              </a:rPr>
              <a:t>Cont’s</a:t>
            </a:r>
            <a:endParaRPr lang="en-US" sz="3200" dirty="0">
              <a:solidFill>
                <a:schemeClr val="bg1"/>
              </a:solidFill>
            </a:endParaRPr>
          </a:p>
        </p:txBody>
      </p:sp>
      <p:sp>
        <p:nvSpPr>
          <p:cNvPr id="22" name="TextBox 21">
            <a:extLst>
              <a:ext uri="{FF2B5EF4-FFF2-40B4-BE49-F238E27FC236}">
                <a16:creationId xmlns:a16="http://schemas.microsoft.com/office/drawing/2014/main" xmlns="" id="{A09AFF1C-31DD-5AB8-1FC5-2470CD4D0D41}"/>
              </a:ext>
            </a:extLst>
          </p:cNvPr>
          <p:cNvSpPr txBox="1"/>
          <p:nvPr/>
        </p:nvSpPr>
        <p:spPr>
          <a:xfrm>
            <a:off x="600507" y="1305903"/>
            <a:ext cx="10604310" cy="4893647"/>
          </a:xfrm>
          <a:prstGeom prst="rect">
            <a:avLst/>
          </a:prstGeom>
          <a:noFill/>
        </p:spPr>
        <p:txBody>
          <a:bodyPr wrap="square">
            <a:spAutoFit/>
          </a:bodyPr>
          <a:lstStyle/>
          <a:p>
            <a:pPr marL="342900" lvl="0" indent="-342900" algn="just">
              <a:buFont typeface="Wingdings" pitchFamily="2" charset="2"/>
              <a:buChar char="q"/>
            </a:pPr>
            <a:r>
              <a:rPr lang="en-GB" sz="2400" b="1" dirty="0" smtClean="0">
                <a:latin typeface="Times New Roman" pitchFamily="18" charset="0"/>
                <a:cs typeface="Times New Roman" pitchFamily="18" charset="0"/>
              </a:rPr>
              <a:t>Engagement </a:t>
            </a:r>
            <a:r>
              <a:rPr lang="en-GB" sz="2400" b="1" dirty="0">
                <a:latin typeface="Times New Roman" pitchFamily="18" charset="0"/>
                <a:cs typeface="Times New Roman" pitchFamily="18" charset="0"/>
              </a:rPr>
              <a:t>with relevant and cognate stakeholders </a:t>
            </a:r>
            <a:endParaRPr lang="en-GB" sz="2400" b="1" dirty="0" smtClean="0">
              <a:latin typeface="Times New Roman" pitchFamily="18" charset="0"/>
              <a:cs typeface="Times New Roman" pitchFamily="18" charset="0"/>
            </a:endParaRPr>
          </a:p>
          <a:p>
            <a:pPr lvl="0" algn="just"/>
            <a:endParaRPr lang="en-GB" sz="2400" b="1" dirty="0" smtClean="0">
              <a:latin typeface="Times New Roman" pitchFamily="18" charset="0"/>
              <a:cs typeface="Times New Roman" pitchFamily="18" charset="0"/>
            </a:endParaRPr>
          </a:p>
          <a:p>
            <a:pPr marL="342900" lvl="0" indent="-342900" algn="just">
              <a:buFont typeface="Wingdings" pitchFamily="2" charset="2"/>
              <a:buChar char="q"/>
            </a:pPr>
            <a:r>
              <a:rPr lang="en-GB" sz="2400" b="1" dirty="0">
                <a:latin typeface="Times New Roman" pitchFamily="18" charset="0"/>
                <a:cs typeface="Times New Roman" pitchFamily="18" charset="0"/>
              </a:rPr>
              <a:t>D</a:t>
            </a:r>
            <a:r>
              <a:rPr lang="en-GB" sz="2400" b="1" dirty="0" smtClean="0">
                <a:latin typeface="Times New Roman" pitchFamily="18" charset="0"/>
                <a:cs typeface="Times New Roman" pitchFamily="18" charset="0"/>
              </a:rPr>
              <a:t>esign </a:t>
            </a:r>
            <a:r>
              <a:rPr lang="en-GB" sz="2400" b="1" dirty="0">
                <a:latin typeface="Times New Roman" pitchFamily="18" charset="0"/>
                <a:cs typeface="Times New Roman" pitchFamily="18" charset="0"/>
              </a:rPr>
              <a:t>of data sampling and data collection </a:t>
            </a:r>
            <a:r>
              <a:rPr lang="en-GB" sz="2400" b="1" dirty="0" smtClean="0">
                <a:latin typeface="Times New Roman" pitchFamily="18" charset="0"/>
                <a:cs typeface="Times New Roman" pitchFamily="18" charset="0"/>
              </a:rPr>
              <a:t>procedures</a:t>
            </a:r>
          </a:p>
          <a:p>
            <a:pPr lvl="0" algn="just"/>
            <a:endParaRPr lang="en-US" sz="2400" b="1" dirty="0">
              <a:latin typeface="Times New Roman" pitchFamily="18" charset="0"/>
              <a:cs typeface="Times New Roman" pitchFamily="18" charset="0"/>
            </a:endParaRPr>
          </a:p>
          <a:p>
            <a:pPr marL="342900" lvl="0" indent="-342900" algn="just">
              <a:buFont typeface="Wingdings" pitchFamily="2" charset="2"/>
              <a:buChar char="q"/>
            </a:pPr>
            <a:r>
              <a:rPr lang="en-GB" sz="2400" b="1" dirty="0">
                <a:latin typeface="Times New Roman" pitchFamily="18" charset="0"/>
                <a:cs typeface="Times New Roman" pitchFamily="18" charset="0"/>
              </a:rPr>
              <a:t>Data analysis </a:t>
            </a:r>
            <a:endParaRPr lang="en-GB" sz="2400" b="1" dirty="0" smtClean="0">
              <a:latin typeface="Times New Roman" pitchFamily="18" charset="0"/>
              <a:cs typeface="Times New Roman" pitchFamily="18" charset="0"/>
            </a:endParaRPr>
          </a:p>
          <a:p>
            <a:pPr lvl="0" algn="just"/>
            <a:endParaRPr lang="en-US" sz="2400" b="1" dirty="0">
              <a:latin typeface="Times New Roman" pitchFamily="18" charset="0"/>
              <a:cs typeface="Times New Roman" pitchFamily="18" charset="0"/>
            </a:endParaRPr>
          </a:p>
          <a:p>
            <a:pPr marL="342900" lvl="0" indent="-342900" algn="just">
              <a:buFont typeface="Wingdings" pitchFamily="2" charset="2"/>
              <a:buChar char="q"/>
            </a:pPr>
            <a:r>
              <a:rPr lang="en-GB" sz="2400" b="1" dirty="0">
                <a:latin typeface="Times New Roman" pitchFamily="18" charset="0"/>
                <a:cs typeface="Times New Roman" pitchFamily="18" charset="0"/>
              </a:rPr>
              <a:t>Report  writing </a:t>
            </a:r>
            <a:endParaRPr lang="en-GB" sz="2400" b="1" dirty="0" smtClean="0">
              <a:latin typeface="Times New Roman" pitchFamily="18" charset="0"/>
              <a:cs typeface="Times New Roman" pitchFamily="18" charset="0"/>
            </a:endParaRPr>
          </a:p>
          <a:p>
            <a:pPr lvl="0" algn="just"/>
            <a:endParaRPr lang="en-US" sz="2400" b="1" dirty="0">
              <a:latin typeface="Times New Roman" pitchFamily="18" charset="0"/>
              <a:cs typeface="Times New Roman" pitchFamily="18" charset="0"/>
            </a:endParaRPr>
          </a:p>
          <a:p>
            <a:pPr marL="342900" lvl="0" indent="-342900" algn="just">
              <a:buFont typeface="Wingdings" pitchFamily="2" charset="2"/>
              <a:buChar char="q"/>
            </a:pPr>
            <a:r>
              <a:rPr lang="en-GB" sz="2400" b="1" dirty="0">
                <a:latin typeface="Times New Roman" pitchFamily="18" charset="0"/>
                <a:cs typeface="Times New Roman" pitchFamily="18" charset="0"/>
              </a:rPr>
              <a:t>Expert review of the </a:t>
            </a:r>
            <a:r>
              <a:rPr lang="en-GB" sz="2400" b="1" dirty="0" smtClean="0">
                <a:latin typeface="Times New Roman" pitchFamily="18" charset="0"/>
                <a:cs typeface="Times New Roman" pitchFamily="18" charset="0"/>
              </a:rPr>
              <a:t>report</a:t>
            </a:r>
          </a:p>
          <a:p>
            <a:pPr lvl="0" algn="just"/>
            <a:endParaRPr lang="en-US" sz="2400" b="1" dirty="0">
              <a:latin typeface="Times New Roman" pitchFamily="18" charset="0"/>
              <a:cs typeface="Times New Roman" pitchFamily="18" charset="0"/>
            </a:endParaRPr>
          </a:p>
          <a:p>
            <a:pPr marL="342900" lvl="0" indent="-342900" algn="just">
              <a:buFont typeface="Wingdings" pitchFamily="2" charset="2"/>
              <a:buChar char="q"/>
            </a:pPr>
            <a:r>
              <a:rPr lang="en-GB" sz="2400" b="1" dirty="0">
                <a:latin typeface="Times New Roman" pitchFamily="18" charset="0"/>
                <a:cs typeface="Times New Roman" pitchFamily="18" charset="0"/>
              </a:rPr>
              <a:t>Copy editing and </a:t>
            </a:r>
            <a:r>
              <a:rPr lang="en-GB" sz="2400" b="1" dirty="0" smtClean="0">
                <a:latin typeface="Times New Roman" pitchFamily="18" charset="0"/>
                <a:cs typeface="Times New Roman" pitchFamily="18" charset="0"/>
              </a:rPr>
              <a:t>printing</a:t>
            </a:r>
          </a:p>
          <a:p>
            <a:pPr lvl="0" algn="just"/>
            <a:endParaRPr lang="en-US" sz="2400" b="1" dirty="0">
              <a:latin typeface="Times New Roman" pitchFamily="18" charset="0"/>
              <a:cs typeface="Times New Roman" pitchFamily="18" charset="0"/>
            </a:endParaRPr>
          </a:p>
          <a:p>
            <a:pPr marL="342900" lvl="0" indent="-342900" algn="just">
              <a:buFont typeface="Wingdings" pitchFamily="2" charset="2"/>
              <a:buChar char="q"/>
            </a:pPr>
            <a:r>
              <a:rPr lang="en-US" sz="2400" b="1" dirty="0">
                <a:latin typeface="Times New Roman" pitchFamily="18" charset="0"/>
                <a:cs typeface="Times New Roman" pitchFamily="18" charset="0"/>
              </a:rPr>
              <a:t>Report dissemination to stakeholders</a:t>
            </a:r>
          </a:p>
        </p:txBody>
      </p:sp>
    </p:spTree>
    <p:extLst>
      <p:ext uri="{BB962C8B-B14F-4D97-AF65-F5344CB8AC3E}">
        <p14:creationId xmlns:p14="http://schemas.microsoft.com/office/powerpoint/2010/main" val="34167451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55D3A539-B024-4A9D-AB39-8A8CD28DFA40}"/>
              </a:ext>
            </a:extLst>
          </p:cNvPr>
          <p:cNvSpPr>
            <a:spLocks noGrp="1"/>
          </p:cNvSpPr>
          <p:nvPr>
            <p:ph type="sldNum" sz="quarter" idx="4294967295"/>
          </p:nvPr>
        </p:nvSpPr>
        <p:spPr>
          <a:xfrm>
            <a:off x="194733" y="6324600"/>
            <a:ext cx="609600" cy="457200"/>
          </a:xfrm>
          <a:prstGeom prst="ellipse">
            <a:avLst/>
          </a:prstGeom>
        </p:spPr>
        <p:txBody>
          <a:bodyPr/>
          <a:lstStyle/>
          <a:p>
            <a:pPr>
              <a:defRPr/>
            </a:pPr>
            <a:fld id="{13E89DE0-BABE-41AF-B6B2-65B34D6E537A}" type="slidenum">
              <a:rPr lang="en-GB" smtClean="0">
                <a:solidFill>
                  <a:prstClr val="white"/>
                </a:solidFill>
              </a:rPr>
              <a:pPr>
                <a:defRPr/>
              </a:pPr>
              <a:t>13</a:t>
            </a:fld>
            <a:endParaRPr lang="en-GB">
              <a:solidFill>
                <a:prstClr val="white"/>
              </a:solidFill>
            </a:endParaRPr>
          </a:p>
        </p:txBody>
      </p:sp>
      <p:sp>
        <p:nvSpPr>
          <p:cNvPr id="21" name="Content Placeholder 2"/>
          <p:cNvSpPr>
            <a:spLocks noGrp="1"/>
          </p:cNvSpPr>
          <p:nvPr>
            <p:ph sz="quarter" idx="1"/>
          </p:nvPr>
        </p:nvSpPr>
        <p:spPr>
          <a:xfrm>
            <a:off x="0" y="1"/>
            <a:ext cx="4107976" cy="709683"/>
          </a:xfrm>
          <a:solidFill>
            <a:schemeClr val="accent2">
              <a:lumMod val="75000"/>
            </a:schemeClr>
          </a:solidFill>
        </p:spPr>
        <p:txBody>
          <a:bodyPr anchor="ctr"/>
          <a:lstStyle/>
          <a:p>
            <a:pPr marL="0" indent="0" algn="ctr">
              <a:buNone/>
            </a:pPr>
            <a:r>
              <a:rPr lang="en-GB" sz="3200" dirty="0" smtClean="0">
                <a:solidFill>
                  <a:schemeClr val="bg1"/>
                </a:solidFill>
              </a:rPr>
              <a:t>Expected Outcomes</a:t>
            </a:r>
            <a:endParaRPr lang="en-US" sz="3200" dirty="0">
              <a:solidFill>
                <a:schemeClr val="bg1"/>
              </a:solidFill>
            </a:endParaRPr>
          </a:p>
        </p:txBody>
      </p:sp>
      <p:sp>
        <p:nvSpPr>
          <p:cNvPr id="22" name="TextBox 21">
            <a:extLst>
              <a:ext uri="{FF2B5EF4-FFF2-40B4-BE49-F238E27FC236}">
                <a16:creationId xmlns:a16="http://schemas.microsoft.com/office/drawing/2014/main" xmlns="" id="{A09AFF1C-31DD-5AB8-1FC5-2470CD4D0D41}"/>
              </a:ext>
            </a:extLst>
          </p:cNvPr>
          <p:cNvSpPr txBox="1"/>
          <p:nvPr/>
        </p:nvSpPr>
        <p:spPr>
          <a:xfrm>
            <a:off x="600508" y="701117"/>
            <a:ext cx="10604310" cy="5632311"/>
          </a:xfrm>
          <a:prstGeom prst="rect">
            <a:avLst/>
          </a:prstGeom>
          <a:noFill/>
        </p:spPr>
        <p:txBody>
          <a:bodyPr wrap="square">
            <a:spAutoFit/>
          </a:bodyPr>
          <a:lstStyle/>
          <a:p>
            <a:pPr>
              <a:lnSpc>
                <a:spcPct val="150000"/>
              </a:lnSpc>
            </a:pPr>
            <a:r>
              <a:rPr lang="en-US" sz="2400" b="1" dirty="0">
                <a:latin typeface="Times New Roman" pitchFamily="18" charset="0"/>
                <a:cs typeface="Times New Roman" pitchFamily="18" charset="0"/>
              </a:rPr>
              <a:t>The anticipated outcomes of the research include</a:t>
            </a:r>
            <a:r>
              <a:rPr lang="en-US" sz="2400" b="1" dirty="0" smtClean="0">
                <a:latin typeface="Times New Roman" pitchFamily="18" charset="0"/>
                <a:cs typeface="Times New Roman" pitchFamily="18" charset="0"/>
              </a:rPr>
              <a:t>:</a:t>
            </a:r>
          </a:p>
          <a:p>
            <a:pPr>
              <a:lnSpc>
                <a:spcPct val="150000"/>
              </a:lnSpc>
            </a:pPr>
            <a:endParaRPr lang="en-US" sz="2400" b="1" dirty="0" smtClean="0">
              <a:latin typeface="Times New Roman" pitchFamily="18" charset="0"/>
              <a:cs typeface="Times New Roman" pitchFamily="18" charset="0"/>
            </a:endParaRPr>
          </a:p>
          <a:p>
            <a:pPr marL="342900" lvl="0" indent="-342900" algn="just">
              <a:lnSpc>
                <a:spcPct val="150000"/>
              </a:lnSpc>
              <a:buFont typeface="Wingdings" pitchFamily="2" charset="2"/>
              <a:buChar char="q"/>
            </a:pPr>
            <a:r>
              <a:rPr lang="en-GB" sz="2400" b="1" dirty="0" smtClean="0">
                <a:latin typeface="Times New Roman" pitchFamily="18" charset="0"/>
                <a:cs typeface="Times New Roman" pitchFamily="18" charset="0"/>
              </a:rPr>
              <a:t>The </a:t>
            </a:r>
            <a:r>
              <a:rPr lang="en-GB" sz="2400" b="1" dirty="0">
                <a:latin typeface="Times New Roman" pitchFamily="18" charset="0"/>
                <a:cs typeface="Times New Roman" pitchFamily="18" charset="0"/>
              </a:rPr>
              <a:t>study will identify the extant technologies in leather tanning industry in the Northwest region of Nigeria</a:t>
            </a:r>
            <a:r>
              <a:rPr lang="en-GB" sz="2400" b="1" dirty="0" smtClean="0">
                <a:latin typeface="Times New Roman" pitchFamily="18" charset="0"/>
                <a:cs typeface="Times New Roman" pitchFamily="18" charset="0"/>
              </a:rPr>
              <a:t>.</a:t>
            </a:r>
          </a:p>
          <a:p>
            <a:pPr lvl="0" algn="just">
              <a:lnSpc>
                <a:spcPct val="150000"/>
              </a:lnSpc>
            </a:pPr>
            <a:endParaRPr lang="en-US" sz="2400" b="1" dirty="0">
              <a:latin typeface="Times New Roman" pitchFamily="18" charset="0"/>
              <a:cs typeface="Times New Roman" pitchFamily="18" charset="0"/>
            </a:endParaRPr>
          </a:p>
          <a:p>
            <a:pPr marL="342900" lvl="0" indent="-342900" algn="just">
              <a:lnSpc>
                <a:spcPct val="150000"/>
              </a:lnSpc>
              <a:buFont typeface="Wingdings" pitchFamily="2" charset="2"/>
              <a:buChar char="q"/>
            </a:pPr>
            <a:r>
              <a:rPr lang="en-US" sz="2400" b="1" dirty="0">
                <a:latin typeface="Times New Roman" pitchFamily="18" charset="0"/>
                <a:cs typeface="Times New Roman" pitchFamily="18" charset="0"/>
              </a:rPr>
              <a:t>The study will evaluate the factor(s) hindering or driving the adoption of the technologies in the </a:t>
            </a:r>
            <a:r>
              <a:rPr lang="en-US" sz="2400" b="1" dirty="0" smtClean="0">
                <a:latin typeface="Times New Roman" pitchFamily="18" charset="0"/>
                <a:cs typeface="Times New Roman" pitchFamily="18" charset="0"/>
              </a:rPr>
              <a:t>industry</a:t>
            </a:r>
          </a:p>
          <a:p>
            <a:pPr lvl="0" algn="just">
              <a:lnSpc>
                <a:spcPct val="150000"/>
              </a:lnSpc>
            </a:pPr>
            <a:endParaRPr lang="en-US" sz="2400" b="1" dirty="0">
              <a:latin typeface="Times New Roman" pitchFamily="18" charset="0"/>
              <a:cs typeface="Times New Roman" pitchFamily="18" charset="0"/>
            </a:endParaRPr>
          </a:p>
          <a:p>
            <a:pPr marL="342900" lvl="0" indent="-342900" algn="just">
              <a:lnSpc>
                <a:spcPct val="150000"/>
              </a:lnSpc>
              <a:buFont typeface="Wingdings" pitchFamily="2" charset="2"/>
              <a:buChar char="q"/>
            </a:pPr>
            <a:r>
              <a:rPr lang="en-US" sz="2400" b="1" dirty="0">
                <a:latin typeface="Times New Roman" pitchFamily="18" charset="0"/>
                <a:cs typeface="Times New Roman" pitchFamily="18" charset="0"/>
              </a:rPr>
              <a:t>The study will assess the compliance of the industry to extant environmental regulatory standards and framework</a:t>
            </a:r>
            <a:r>
              <a:rPr lang="en-US" sz="2400" b="1" dirty="0" smtClean="0">
                <a:latin typeface="Times New Roman" pitchFamily="18" charset="0"/>
                <a:cs typeface="Times New Roman" pitchFamily="18" charset="0"/>
              </a:rPr>
              <a:t>.</a:t>
            </a:r>
          </a:p>
        </p:txBody>
      </p:sp>
    </p:spTree>
    <p:extLst>
      <p:ext uri="{BB962C8B-B14F-4D97-AF65-F5344CB8AC3E}">
        <p14:creationId xmlns:p14="http://schemas.microsoft.com/office/powerpoint/2010/main" val="5905190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55D3A539-B024-4A9D-AB39-8A8CD28DFA40}"/>
              </a:ext>
            </a:extLst>
          </p:cNvPr>
          <p:cNvSpPr>
            <a:spLocks noGrp="1"/>
          </p:cNvSpPr>
          <p:nvPr>
            <p:ph type="sldNum" sz="quarter" idx="4294967295"/>
          </p:nvPr>
        </p:nvSpPr>
        <p:spPr>
          <a:xfrm>
            <a:off x="194733" y="6324600"/>
            <a:ext cx="609600" cy="457200"/>
          </a:xfrm>
          <a:prstGeom prst="ellipse">
            <a:avLst/>
          </a:prstGeom>
        </p:spPr>
        <p:txBody>
          <a:bodyPr/>
          <a:lstStyle/>
          <a:p>
            <a:pPr>
              <a:defRPr/>
            </a:pPr>
            <a:fld id="{13E89DE0-BABE-41AF-B6B2-65B34D6E537A}" type="slidenum">
              <a:rPr lang="en-GB" smtClean="0">
                <a:solidFill>
                  <a:prstClr val="white"/>
                </a:solidFill>
              </a:rPr>
              <a:pPr>
                <a:defRPr/>
              </a:pPr>
              <a:t>14</a:t>
            </a:fld>
            <a:endParaRPr lang="en-GB">
              <a:solidFill>
                <a:prstClr val="white"/>
              </a:solidFill>
            </a:endParaRPr>
          </a:p>
        </p:txBody>
      </p:sp>
      <p:sp>
        <p:nvSpPr>
          <p:cNvPr id="21" name="Content Placeholder 2"/>
          <p:cNvSpPr>
            <a:spLocks noGrp="1"/>
          </p:cNvSpPr>
          <p:nvPr>
            <p:ph sz="quarter" idx="1"/>
          </p:nvPr>
        </p:nvSpPr>
        <p:spPr>
          <a:xfrm>
            <a:off x="0" y="1"/>
            <a:ext cx="4107976" cy="709683"/>
          </a:xfrm>
          <a:solidFill>
            <a:schemeClr val="accent2">
              <a:lumMod val="75000"/>
            </a:schemeClr>
          </a:solidFill>
        </p:spPr>
        <p:txBody>
          <a:bodyPr anchor="ctr"/>
          <a:lstStyle/>
          <a:p>
            <a:pPr marL="0" indent="0" algn="ctr">
              <a:buNone/>
            </a:pPr>
            <a:r>
              <a:rPr lang="en-GB" sz="3200" dirty="0" smtClean="0">
                <a:solidFill>
                  <a:schemeClr val="bg1"/>
                </a:solidFill>
              </a:rPr>
              <a:t>Expected Outcomes</a:t>
            </a:r>
            <a:endParaRPr lang="en-US" sz="3200" dirty="0">
              <a:solidFill>
                <a:schemeClr val="bg1"/>
              </a:solidFill>
            </a:endParaRPr>
          </a:p>
        </p:txBody>
      </p:sp>
      <p:sp>
        <p:nvSpPr>
          <p:cNvPr id="22" name="TextBox 21">
            <a:extLst>
              <a:ext uri="{FF2B5EF4-FFF2-40B4-BE49-F238E27FC236}">
                <a16:creationId xmlns:a16="http://schemas.microsoft.com/office/drawing/2014/main" xmlns="" id="{A09AFF1C-31DD-5AB8-1FC5-2470CD4D0D41}"/>
              </a:ext>
            </a:extLst>
          </p:cNvPr>
          <p:cNvSpPr txBox="1"/>
          <p:nvPr/>
        </p:nvSpPr>
        <p:spPr>
          <a:xfrm>
            <a:off x="600508" y="1178800"/>
            <a:ext cx="10604310" cy="3349956"/>
          </a:xfrm>
          <a:prstGeom prst="rect">
            <a:avLst/>
          </a:prstGeom>
          <a:noFill/>
        </p:spPr>
        <p:txBody>
          <a:bodyPr wrap="square">
            <a:spAutoFit/>
          </a:bodyPr>
          <a:lstStyle/>
          <a:p>
            <a:pPr marL="342900" lvl="0" indent="-342900" algn="just">
              <a:lnSpc>
                <a:spcPct val="150000"/>
              </a:lnSpc>
              <a:buFont typeface="Wingdings" pitchFamily="2" charset="2"/>
              <a:buChar char="q"/>
            </a:pPr>
            <a:r>
              <a:rPr lang="en-US" sz="2400" b="1" dirty="0" smtClean="0">
                <a:latin typeface="Times New Roman" pitchFamily="18" charset="0"/>
                <a:cs typeface="Times New Roman" pitchFamily="18" charset="0"/>
              </a:rPr>
              <a:t>The </a:t>
            </a:r>
            <a:r>
              <a:rPr lang="en-US" sz="2400" b="1" dirty="0">
                <a:latin typeface="Times New Roman" pitchFamily="18" charset="0"/>
                <a:cs typeface="Times New Roman" pitchFamily="18" charset="0"/>
              </a:rPr>
              <a:t>study will examine the social impact of the industry in the Northwest region</a:t>
            </a:r>
            <a:r>
              <a:rPr lang="en-US" sz="2400" b="1" dirty="0" smtClean="0">
                <a:latin typeface="Times New Roman" pitchFamily="18" charset="0"/>
                <a:cs typeface="Times New Roman" pitchFamily="18" charset="0"/>
              </a:rPr>
              <a:t>.</a:t>
            </a:r>
          </a:p>
          <a:p>
            <a:pPr lvl="0" algn="just">
              <a:lnSpc>
                <a:spcPct val="150000"/>
              </a:lnSpc>
            </a:pPr>
            <a:endParaRPr lang="en-US" sz="2400" b="1" dirty="0">
              <a:latin typeface="Times New Roman" pitchFamily="18" charset="0"/>
              <a:cs typeface="Times New Roman" pitchFamily="18" charset="0"/>
            </a:endParaRPr>
          </a:p>
          <a:p>
            <a:pPr marL="342900" lvl="0" indent="-342900" algn="just">
              <a:lnSpc>
                <a:spcPct val="150000"/>
              </a:lnSpc>
              <a:buFont typeface="Wingdings" pitchFamily="2" charset="2"/>
              <a:buChar char="q"/>
            </a:pPr>
            <a:r>
              <a:rPr lang="en-US" sz="2400" b="1" dirty="0">
                <a:latin typeface="Times New Roman" pitchFamily="18" charset="0"/>
                <a:cs typeface="Times New Roman" pitchFamily="18" charset="0"/>
              </a:rPr>
              <a:t>The study will provide policy recommendations that will foster a sustainable industrial growth, including export opportunities and local market expansion, and social inclusiveness.</a:t>
            </a:r>
          </a:p>
        </p:txBody>
      </p:sp>
    </p:spTree>
    <p:extLst>
      <p:ext uri="{BB962C8B-B14F-4D97-AF65-F5344CB8AC3E}">
        <p14:creationId xmlns:p14="http://schemas.microsoft.com/office/powerpoint/2010/main" val="32051454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E70CC5E-36A8-154D-529F-764C34616D7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xmlns="" id="{0201F985-8FA1-BEC8-0A9B-E728B9F3D9A0}"/>
              </a:ext>
            </a:extLst>
          </p:cNvPr>
          <p:cNvSpPr>
            <a:spLocks noGrp="1"/>
          </p:cNvSpPr>
          <p:nvPr>
            <p:ph type="title"/>
          </p:nvPr>
        </p:nvSpPr>
        <p:spPr>
          <a:xfrm>
            <a:off x="887103" y="1594212"/>
            <a:ext cx="9935571" cy="1287415"/>
          </a:xfrm>
        </p:spPr>
        <p:txBody>
          <a:bodyPr/>
          <a:lstStyle/>
          <a:p>
            <a:pPr algn="ctr"/>
            <a:r>
              <a:rPr lang="en-US" sz="5400" dirty="0"/>
              <a:t>CONCLUDING REMARKS </a:t>
            </a:r>
          </a:p>
        </p:txBody>
      </p:sp>
      <p:sp>
        <p:nvSpPr>
          <p:cNvPr id="4" name="Slide Number Placeholder 3">
            <a:extLst>
              <a:ext uri="{FF2B5EF4-FFF2-40B4-BE49-F238E27FC236}">
                <a16:creationId xmlns:a16="http://schemas.microsoft.com/office/drawing/2014/main" xmlns="" id="{BC9ADCA1-E65F-E2E4-E7F5-4E6010EB28C1}"/>
              </a:ext>
            </a:extLst>
          </p:cNvPr>
          <p:cNvSpPr>
            <a:spLocks noGrp="1"/>
          </p:cNvSpPr>
          <p:nvPr>
            <p:ph type="sldNum" sz="quarter" idx="4294967295"/>
          </p:nvPr>
        </p:nvSpPr>
        <p:spPr>
          <a:xfrm>
            <a:off x="194733" y="6324600"/>
            <a:ext cx="609600" cy="457200"/>
          </a:xfrm>
          <a:prstGeom prst="ellipse">
            <a:avLst/>
          </a:prstGeom>
        </p:spPr>
        <p:txBody>
          <a:bodyPr/>
          <a:lstStyle/>
          <a:p>
            <a:pPr>
              <a:defRPr/>
            </a:pPr>
            <a:fld id="{13E89DE0-BABE-41AF-B6B2-65B34D6E537A}" type="slidenum">
              <a:rPr lang="en-GB" smtClean="0">
                <a:solidFill>
                  <a:prstClr val="white"/>
                </a:solidFill>
              </a:rPr>
              <a:pPr>
                <a:defRPr/>
              </a:pPr>
              <a:t>15</a:t>
            </a:fld>
            <a:endParaRPr lang="en-GB">
              <a:solidFill>
                <a:prstClr val="white"/>
              </a:solidFill>
            </a:endParaRPr>
          </a:p>
        </p:txBody>
      </p:sp>
    </p:spTree>
    <p:extLst>
      <p:ext uri="{BB962C8B-B14F-4D97-AF65-F5344CB8AC3E}">
        <p14:creationId xmlns:p14="http://schemas.microsoft.com/office/powerpoint/2010/main" val="19730781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E70CC5E-36A8-154D-529F-764C34616D7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BC9ADCA1-E65F-E2E4-E7F5-4E6010EB28C1}"/>
              </a:ext>
            </a:extLst>
          </p:cNvPr>
          <p:cNvSpPr>
            <a:spLocks noGrp="1"/>
          </p:cNvSpPr>
          <p:nvPr>
            <p:ph type="sldNum" sz="quarter" idx="4294967295"/>
          </p:nvPr>
        </p:nvSpPr>
        <p:spPr>
          <a:xfrm>
            <a:off x="194733" y="6324600"/>
            <a:ext cx="609600" cy="457200"/>
          </a:xfrm>
          <a:prstGeom prst="ellipse">
            <a:avLst/>
          </a:prstGeom>
        </p:spPr>
        <p:txBody>
          <a:bodyPr/>
          <a:lstStyle/>
          <a:p>
            <a:pPr>
              <a:defRPr/>
            </a:pPr>
            <a:fld id="{13E89DE0-BABE-41AF-B6B2-65B34D6E537A}" type="slidenum">
              <a:rPr lang="en-GB" smtClean="0">
                <a:solidFill>
                  <a:prstClr val="white"/>
                </a:solidFill>
              </a:rPr>
              <a:pPr>
                <a:defRPr/>
              </a:pPr>
              <a:t>16</a:t>
            </a:fld>
            <a:endParaRPr lang="en-GB">
              <a:solidFill>
                <a:prstClr val="white"/>
              </a:solidFill>
            </a:endParaRPr>
          </a:p>
        </p:txBody>
      </p:sp>
      <p:sp>
        <p:nvSpPr>
          <p:cNvPr id="3" name="TextBox 2"/>
          <p:cNvSpPr txBox="1"/>
          <p:nvPr/>
        </p:nvSpPr>
        <p:spPr>
          <a:xfrm>
            <a:off x="941695" y="750626"/>
            <a:ext cx="9853684" cy="4524315"/>
          </a:xfrm>
          <a:prstGeom prst="rect">
            <a:avLst/>
          </a:prstGeom>
          <a:noFill/>
        </p:spPr>
        <p:txBody>
          <a:bodyPr wrap="square" rtlCol="0">
            <a:spAutoFit/>
          </a:bodyPr>
          <a:lstStyle/>
          <a:p>
            <a:pPr algn="just">
              <a:lnSpc>
                <a:spcPct val="200000"/>
              </a:lnSpc>
            </a:pPr>
            <a:r>
              <a:rPr lang="en-US" sz="2400" b="1" dirty="0">
                <a:latin typeface="Times New Roman" pitchFamily="18" charset="0"/>
                <a:cs typeface="Times New Roman" pitchFamily="18" charset="0"/>
              </a:rPr>
              <a:t>This research will offer a comprehensive analysis of the leather tanning industry in the northwest region of Nigeria, focusing on its social impacts, key </a:t>
            </a:r>
            <a:r>
              <a:rPr lang="en-US" sz="2400" b="1" dirty="0" smtClean="0">
                <a:latin typeface="Times New Roman" pitchFamily="18" charset="0"/>
                <a:cs typeface="Times New Roman" pitchFamily="18" charset="0"/>
              </a:rPr>
              <a:t>challenges, and growth </a:t>
            </a:r>
            <a:r>
              <a:rPr lang="en-US" sz="2400" b="1" dirty="0">
                <a:latin typeface="Times New Roman" pitchFamily="18" charset="0"/>
                <a:cs typeface="Times New Roman" pitchFamily="18" charset="0"/>
              </a:rPr>
              <a:t>potential. The findings will provide valuable insights that can guide policies aimed at enhancing the sustainability and </a:t>
            </a:r>
            <a:r>
              <a:rPr lang="en-US" sz="2400" b="1" dirty="0" smtClean="0">
                <a:latin typeface="Times New Roman" pitchFamily="18" charset="0"/>
                <a:cs typeface="Times New Roman" pitchFamily="18" charset="0"/>
              </a:rPr>
              <a:t>competitiveness </a:t>
            </a:r>
            <a:r>
              <a:rPr lang="en-US" sz="2400" b="1" dirty="0">
                <a:latin typeface="Times New Roman" pitchFamily="18" charset="0"/>
                <a:cs typeface="Times New Roman" pitchFamily="18" charset="0"/>
              </a:rPr>
              <a:t>of the leather tanning sector, ultimately contributing to the economic development of the northwest region and Nigeria as a whole.</a:t>
            </a:r>
          </a:p>
        </p:txBody>
      </p:sp>
    </p:spTree>
    <p:extLst>
      <p:ext uri="{BB962C8B-B14F-4D97-AF65-F5344CB8AC3E}">
        <p14:creationId xmlns:p14="http://schemas.microsoft.com/office/powerpoint/2010/main" val="6035476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3" name="Rectangle 3"/>
          <p:cNvSpPr>
            <a:spLocks noGrp="1" noChangeArrowheads="1"/>
          </p:cNvSpPr>
          <p:nvPr>
            <p:ph type="body" idx="1"/>
          </p:nvPr>
        </p:nvSpPr>
        <p:spPr>
          <a:xfrm>
            <a:off x="259307" y="1001945"/>
            <a:ext cx="11136573" cy="3774772"/>
          </a:xfrm>
        </p:spPr>
        <p:txBody>
          <a:bodyPr/>
          <a:lstStyle/>
          <a:p>
            <a:pPr marL="0" indent="0" algn="ctr" eaLnBrk="1" hangingPunct="1">
              <a:buNone/>
              <a:defRPr/>
            </a:pPr>
            <a:r>
              <a:rPr lang="en-US" sz="6600" dirty="0">
                <a:solidFill>
                  <a:srgbClr val="FF0000"/>
                </a:solidFill>
                <a:effectLst>
                  <a:outerShdw blurRad="38100" dist="38100" dir="2700000" algn="tl">
                    <a:srgbClr val="C0C0C0"/>
                  </a:outerShdw>
                </a:effectLst>
                <a:latin typeface="Lucida Handwriting" pitchFamily="66" charset="0"/>
              </a:rPr>
              <a:t>THANK YOU FOR </a:t>
            </a:r>
            <a:endParaRPr lang="en-US" sz="6600" dirty="0" smtClean="0">
              <a:solidFill>
                <a:srgbClr val="FF0000"/>
              </a:solidFill>
              <a:effectLst>
                <a:outerShdw blurRad="38100" dist="38100" dir="2700000" algn="tl">
                  <a:srgbClr val="C0C0C0"/>
                </a:outerShdw>
              </a:effectLst>
              <a:latin typeface="Lucida Handwriting" pitchFamily="66" charset="0"/>
            </a:endParaRPr>
          </a:p>
          <a:p>
            <a:pPr marL="0" indent="0" algn="ctr" eaLnBrk="1" hangingPunct="1">
              <a:buNone/>
              <a:defRPr/>
            </a:pPr>
            <a:endParaRPr lang="en-US" sz="6600" dirty="0">
              <a:solidFill>
                <a:srgbClr val="FF0000"/>
              </a:solidFill>
              <a:effectLst>
                <a:outerShdw blurRad="38100" dist="38100" dir="2700000" algn="tl">
                  <a:srgbClr val="C0C0C0"/>
                </a:outerShdw>
              </a:effectLst>
              <a:latin typeface="Lucida Handwriting" pitchFamily="66" charset="0"/>
            </a:endParaRPr>
          </a:p>
          <a:p>
            <a:pPr marL="0" indent="0" algn="ctr" eaLnBrk="1" hangingPunct="1">
              <a:buNone/>
              <a:defRPr/>
            </a:pPr>
            <a:r>
              <a:rPr lang="en-US" sz="6600" dirty="0" smtClean="0">
                <a:solidFill>
                  <a:srgbClr val="FF0000"/>
                </a:solidFill>
                <a:effectLst>
                  <a:outerShdw blurRad="38100" dist="38100" dir="2700000" algn="tl">
                    <a:srgbClr val="C0C0C0"/>
                  </a:outerShdw>
                </a:effectLst>
                <a:latin typeface="Lucida Handwriting" pitchFamily="66" charset="0"/>
              </a:rPr>
              <a:t>LISTENING </a:t>
            </a:r>
            <a:endParaRPr lang="en-US" sz="6600" dirty="0">
              <a:solidFill>
                <a:srgbClr val="FF0000"/>
              </a:solidFill>
              <a:effectLst>
                <a:outerShdw blurRad="38100" dist="38100" dir="2700000" algn="tl">
                  <a:srgbClr val="C0C0C0"/>
                </a:outerShdw>
              </a:effectLst>
              <a:latin typeface="Lucida Handwriting" pitchFamily="66" charset="0"/>
            </a:endParaRPr>
          </a:p>
          <a:p>
            <a:pPr marL="0" indent="0" algn="ctr" eaLnBrk="1" hangingPunct="1">
              <a:buNone/>
              <a:defRPr/>
            </a:pPr>
            <a:endParaRPr lang="en-US" sz="6600" dirty="0">
              <a:solidFill>
                <a:srgbClr val="FF0000"/>
              </a:solidFill>
              <a:effectLst>
                <a:outerShdw blurRad="38100" dist="38100" dir="2700000" algn="tl">
                  <a:srgbClr val="C0C0C0"/>
                </a:outerShdw>
              </a:effectLst>
              <a:latin typeface="Lucida Handwriting" pitchFamily="66" charset="0"/>
            </a:endParaRPr>
          </a:p>
        </p:txBody>
      </p:sp>
    </p:spTree>
    <p:extLst>
      <p:ext uri="{BB962C8B-B14F-4D97-AF65-F5344CB8AC3E}">
        <p14:creationId xmlns:p14="http://schemas.microsoft.com/office/powerpoint/2010/main" val="304559818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ctm2013latest">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ustom 1">
      <a:majorFont>
        <a:latin typeface="Bahnschrift Condensed"/>
        <a:ea typeface=""/>
        <a:cs typeface=""/>
      </a:majorFont>
      <a:minorFont>
        <a:latin typeface="Bahnschrift Light Condensed"/>
        <a:ea typeface=""/>
        <a:cs typeface=""/>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9239</TotalTime>
  <Words>1006</Words>
  <Application>Microsoft Office PowerPoint</Application>
  <PresentationFormat>Custom</PresentationFormat>
  <Paragraphs>127</Paragraphs>
  <Slides>17</Slides>
  <Notes>3</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nctm2013latest</vt:lpstr>
      <vt:lpstr>PROPOSAL ON IN-DEPTH EVALUATION OF LEATHER TANNING INDUSTRY IN THE NORTH-WEST REGION OF NIGERIA</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CONCLUDING REMARKS </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About NACETEM</dc:title>
  <dc:creator>Siyanbola</dc:creator>
  <cp:lastModifiedBy>M.2</cp:lastModifiedBy>
  <cp:revision>208</cp:revision>
  <dcterms:created xsi:type="dcterms:W3CDTF">2018-12-04T11:13:26Z</dcterms:created>
  <dcterms:modified xsi:type="dcterms:W3CDTF">2025-08-18T16:33:14Z</dcterms:modified>
</cp:coreProperties>
</file>