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4" r:id="rId1"/>
    <p:sldMasterId id="2147483876" r:id="rId2"/>
  </p:sldMasterIdLst>
  <p:notesMasterIdLst>
    <p:notesMasterId r:id="rId22"/>
  </p:notesMasterIdLst>
  <p:handoutMasterIdLst>
    <p:handoutMasterId r:id="rId23"/>
  </p:handoutMasterIdLst>
  <p:sldIdLst>
    <p:sldId id="264" r:id="rId3"/>
    <p:sldId id="309" r:id="rId4"/>
    <p:sldId id="290" r:id="rId5"/>
    <p:sldId id="358" r:id="rId6"/>
    <p:sldId id="361" r:id="rId7"/>
    <p:sldId id="323" r:id="rId8"/>
    <p:sldId id="374" r:id="rId9"/>
    <p:sldId id="312" r:id="rId10"/>
    <p:sldId id="356" r:id="rId11"/>
    <p:sldId id="390" r:id="rId12"/>
    <p:sldId id="384" r:id="rId13"/>
    <p:sldId id="385" r:id="rId14"/>
    <p:sldId id="386" r:id="rId15"/>
    <p:sldId id="387" r:id="rId16"/>
    <p:sldId id="388" r:id="rId17"/>
    <p:sldId id="389" r:id="rId18"/>
    <p:sldId id="382" r:id="rId19"/>
    <p:sldId id="378" r:id="rId20"/>
    <p:sldId id="383" r:id="rId2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8" clrIdx="0">
    <p:extLst>
      <p:ext uri="{19B8F6BF-5375-455C-9EA6-DF929625EA0E}">
        <p15:presenceInfo xmlns:p15="http://schemas.microsoft.com/office/powerpoint/2012/main" xmlns="" userId="d012383ee437734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134" autoAdjust="0"/>
    <p:restoredTop sz="94671" autoAdjust="0"/>
  </p:normalViewPr>
  <p:slideViewPr>
    <p:cSldViewPr>
      <p:cViewPr varScale="1">
        <p:scale>
          <a:sx n="74" d="100"/>
          <a:sy n="74" d="100"/>
        </p:scale>
        <p:origin x="-1122" y="-96"/>
      </p:cViewPr>
      <p:guideLst>
        <p:guide orient="horz" pos="2160"/>
        <p:guide pos="2880"/>
      </p:guideLst>
    </p:cSldViewPr>
  </p:slideViewPr>
  <p:notesTextViewPr>
    <p:cViewPr>
      <p:scale>
        <a:sx n="1" d="1"/>
        <a:sy n="1" d="1"/>
      </p:scale>
      <p:origin x="0" y="0"/>
    </p:cViewPr>
  </p:notesTextViewPr>
  <p:sorterViewPr>
    <p:cViewPr>
      <p:scale>
        <a:sx n="100" d="100"/>
        <a:sy n="100" d="100"/>
      </p:scale>
      <p:origin x="0" y="582"/>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sz="quarter" idx="1"/>
          </p:nvPr>
        </p:nvSpPr>
        <p:spPr>
          <a:xfrm>
            <a:off x="3970939" y="0"/>
            <a:ext cx="3037840" cy="464820"/>
          </a:xfrm>
          <a:prstGeom prst="rect">
            <a:avLst/>
          </a:prstGeom>
        </p:spPr>
        <p:txBody>
          <a:bodyPr vert="horz" lIns="92432" tIns="46216" rIns="92432" bIns="46216" rtlCol="0"/>
          <a:lstStyle>
            <a:lvl1pPr algn="r">
              <a:defRPr sz="1200"/>
            </a:lvl1pPr>
          </a:lstStyle>
          <a:p>
            <a:fld id="{B4438958-17AF-4DB7-9286-359CCE11C3D8}" type="datetime1">
              <a:rPr lang="en-US" smtClean="0"/>
              <a:pPr/>
              <a:t>9/11/2025</a:t>
            </a:fld>
            <a:endParaRPr lang="en-US" dirty="0"/>
          </a:p>
        </p:txBody>
      </p:sp>
      <p:sp>
        <p:nvSpPr>
          <p:cNvPr id="4" name="Footer Placeholder 3"/>
          <p:cNvSpPr>
            <a:spLocks noGrp="1"/>
          </p:cNvSpPr>
          <p:nvPr>
            <p:ph type="ftr" sz="quarter" idx="2"/>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9" y="8829967"/>
            <a:ext cx="3037840" cy="464820"/>
          </a:xfrm>
          <a:prstGeom prst="rect">
            <a:avLst/>
          </a:prstGeom>
        </p:spPr>
        <p:txBody>
          <a:bodyPr vert="horz" lIns="92432" tIns="46216" rIns="92432" bIns="46216" rtlCol="0" anchor="b"/>
          <a:lstStyle>
            <a:lvl1pPr algn="r">
              <a:defRPr sz="1200"/>
            </a:lvl1pPr>
          </a:lstStyle>
          <a:p>
            <a:fld id="{37DD3F75-C114-4AB7-8C3A-4E238D754480}" type="slidenum">
              <a:rPr lang="en-US" smtClean="0"/>
              <a:pPr/>
              <a:t>‹#›</a:t>
            </a:fld>
            <a:endParaRPr lang="en-US" dirty="0"/>
          </a:p>
        </p:txBody>
      </p:sp>
    </p:spTree>
    <p:extLst>
      <p:ext uri="{BB962C8B-B14F-4D97-AF65-F5344CB8AC3E}">
        <p14:creationId xmlns:p14="http://schemas.microsoft.com/office/powerpoint/2010/main" xmlns="" val="5513183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32" tIns="46216" rIns="92432" bIns="46216" rtlCol="0"/>
          <a:lstStyle>
            <a:lvl1pPr algn="l">
              <a:defRPr sz="1200"/>
            </a:lvl1pPr>
          </a:lstStyle>
          <a:p>
            <a:endParaRPr lang="en-US" dirty="0"/>
          </a:p>
        </p:txBody>
      </p:sp>
      <p:sp>
        <p:nvSpPr>
          <p:cNvPr id="3" name="Date Placeholder 2"/>
          <p:cNvSpPr>
            <a:spLocks noGrp="1"/>
          </p:cNvSpPr>
          <p:nvPr>
            <p:ph type="dt" idx="1"/>
          </p:nvPr>
        </p:nvSpPr>
        <p:spPr>
          <a:xfrm>
            <a:off x="3970939" y="0"/>
            <a:ext cx="3037840" cy="464820"/>
          </a:xfrm>
          <a:prstGeom prst="rect">
            <a:avLst/>
          </a:prstGeom>
        </p:spPr>
        <p:txBody>
          <a:bodyPr vert="horz" lIns="92432" tIns="46216" rIns="92432" bIns="46216" rtlCol="0"/>
          <a:lstStyle>
            <a:lvl1pPr algn="r">
              <a:defRPr sz="1200"/>
            </a:lvl1pPr>
          </a:lstStyle>
          <a:p>
            <a:fld id="{A2E0831B-1021-4217-B7C3-10CFE9172EF4}" type="datetime1">
              <a:rPr lang="en-US" smtClean="0"/>
              <a:pPr/>
              <a:t>9/11/2025</a:t>
            </a:fld>
            <a:endParaRPr lang="en-US" dirty="0"/>
          </a:p>
        </p:txBody>
      </p:sp>
      <p:sp>
        <p:nvSpPr>
          <p:cNvPr id="4" name="Slide Image Placeholder 3"/>
          <p:cNvSpPr>
            <a:spLocks noGrp="1" noRot="1" noChangeAspect="1"/>
          </p:cNvSpPr>
          <p:nvPr>
            <p:ph type="sldImg" idx="2"/>
          </p:nvPr>
        </p:nvSpPr>
        <p:spPr>
          <a:xfrm>
            <a:off x="1182688" y="696913"/>
            <a:ext cx="4646612" cy="3486150"/>
          </a:xfrm>
          <a:prstGeom prst="rect">
            <a:avLst/>
          </a:prstGeom>
          <a:noFill/>
          <a:ln w="12700">
            <a:solidFill>
              <a:prstClr val="black"/>
            </a:solidFill>
          </a:ln>
        </p:spPr>
        <p:txBody>
          <a:bodyPr vert="horz" lIns="92432" tIns="46216" rIns="92432" bIns="46216" rtlCol="0" anchor="ctr"/>
          <a:lstStyle/>
          <a:p>
            <a:endParaRPr lang="en-US" dirty="0"/>
          </a:p>
        </p:txBody>
      </p:sp>
      <p:sp>
        <p:nvSpPr>
          <p:cNvPr id="5" name="Notes Placeholder 4"/>
          <p:cNvSpPr>
            <a:spLocks noGrp="1"/>
          </p:cNvSpPr>
          <p:nvPr>
            <p:ph type="body" sz="quarter" idx="3"/>
          </p:nvPr>
        </p:nvSpPr>
        <p:spPr>
          <a:xfrm>
            <a:off x="701041" y="4415790"/>
            <a:ext cx="5608320" cy="4183380"/>
          </a:xfrm>
          <a:prstGeom prst="rect">
            <a:avLst/>
          </a:prstGeom>
        </p:spPr>
        <p:txBody>
          <a:bodyPr vert="horz" lIns="92432" tIns="46216" rIns="92432" bIns="462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7"/>
            <a:ext cx="3037840" cy="464820"/>
          </a:xfrm>
          <a:prstGeom prst="rect">
            <a:avLst/>
          </a:prstGeom>
        </p:spPr>
        <p:txBody>
          <a:bodyPr vert="horz" lIns="92432" tIns="46216" rIns="92432" bIns="4621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9" y="8829967"/>
            <a:ext cx="3037840" cy="464820"/>
          </a:xfrm>
          <a:prstGeom prst="rect">
            <a:avLst/>
          </a:prstGeom>
        </p:spPr>
        <p:txBody>
          <a:bodyPr vert="horz" lIns="92432" tIns="46216" rIns="92432" bIns="46216" rtlCol="0" anchor="b"/>
          <a:lstStyle>
            <a:lvl1pPr algn="r">
              <a:defRPr sz="1200"/>
            </a:lvl1pPr>
          </a:lstStyle>
          <a:p>
            <a:fld id="{B424D693-3628-4055-9377-F1C425D0BDB9}" type="slidenum">
              <a:rPr lang="en-US" smtClean="0"/>
              <a:pPr/>
              <a:t>‹#›</a:t>
            </a:fld>
            <a:endParaRPr lang="en-US" dirty="0"/>
          </a:p>
        </p:txBody>
      </p:sp>
    </p:spTree>
    <p:extLst>
      <p:ext uri="{BB962C8B-B14F-4D97-AF65-F5344CB8AC3E}">
        <p14:creationId xmlns:p14="http://schemas.microsoft.com/office/powerpoint/2010/main" xmlns="" val="12622586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xmlns="" val="3353663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br>
              <a:rPr lang="en-US" dirty="0"/>
            </a:br>
            <a:endParaRPr lang="en-US" dirty="0"/>
          </a:p>
        </p:txBody>
      </p:sp>
    </p:spTree>
    <p:extLst>
      <p:ext uri="{BB962C8B-B14F-4D97-AF65-F5344CB8AC3E}">
        <p14:creationId xmlns:p14="http://schemas.microsoft.com/office/powerpoint/2010/main" xmlns="" val="3412285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930837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217364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br>
              <a:rPr lang="en-US" dirty="0"/>
            </a:br>
            <a:endParaRPr lang="en-US" dirty="0"/>
          </a:p>
        </p:txBody>
      </p:sp>
    </p:spTree>
    <p:extLst>
      <p:ext uri="{BB962C8B-B14F-4D97-AF65-F5344CB8AC3E}">
        <p14:creationId xmlns:p14="http://schemas.microsoft.com/office/powerpoint/2010/main" xmlns="" val="4048518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3544234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br>
              <a:rPr lang="en-US" dirty="0"/>
            </a:br>
            <a:endParaRPr lang="en-US" dirty="0"/>
          </a:p>
        </p:txBody>
      </p:sp>
    </p:spTree>
    <p:extLst>
      <p:ext uri="{BB962C8B-B14F-4D97-AF65-F5344CB8AC3E}">
        <p14:creationId xmlns:p14="http://schemas.microsoft.com/office/powerpoint/2010/main" xmlns="" val="2929819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3113575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601FD1B1-7862-4BCE-8306-91D0ACB32E52}" type="datetime1">
              <a:rPr lang="en-US" smtClean="0"/>
              <a:pPr/>
              <a:t>9/11/2025</a:t>
            </a:fld>
            <a:endParaRPr lang="en-US" dirty="0"/>
          </a:p>
        </p:txBody>
      </p:sp>
      <p:sp>
        <p:nvSpPr>
          <p:cNvPr id="20" name="Footer Placeholder 19"/>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1C3B027-99D8-4500-AA7E-8D849F3A1F09}" type="slidenum">
              <a:rPr lang="en-US" smtClean="0"/>
              <a:pPr/>
              <a:t>‹#›</a:t>
            </a:fld>
            <a:endParaRPr lang="en-US"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pPr/>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884FD8F-F5EB-4CB0-B34C-8F170DB455C3}" type="datetime1">
              <a:rPr lang="en-US" smtClean="0"/>
              <a:pPr/>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73B2641-B32A-4319-B4CE-0842B72AE012}" type="datetime1">
              <a:rPr lang="en-US" smtClean="0"/>
              <a:pPr/>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A43EE58-50E8-447D-8B2B-34348D6DE8AC}" type="datetime1">
              <a:rPr lang="en-US" smtClean="0"/>
              <a:pPr/>
              <a:t>9/11/2025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EAC5083-F966-4D33-8BA8-8E7408BEF121}" type="datetime1">
              <a:rPr lang="en-US" smtClean="0"/>
              <a:pPr/>
              <a:t>9/11/2025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Date Placeholder 1"/>
          <p:cNvSpPr>
            <a:spLocks noGrp="1"/>
          </p:cNvSpPr>
          <p:nvPr>
            <p:ph type="dt" sz="half" idx="10"/>
          </p:nvPr>
        </p:nvSpPr>
        <p:spPr/>
        <p:txBody>
          <a:bodyPr/>
          <a:lstStyle/>
          <a:p>
            <a:fld id="{EF3827FF-ED73-48FA-9478-CE0F46121E26}" type="datetime1">
              <a:rPr lang="en-US" smtClean="0"/>
              <a:pPr/>
              <a:t>9/11/2025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a:t>
            </a:fld>
            <a:endParaRPr lang="en-US"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C97947A-866D-4E82-ADE7-085FBD529CD8}" type="datetime1">
              <a:rPr lang="en-US" smtClean="0"/>
              <a:pPr/>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B1A45F50-6C41-4082-8A24-4FA4E106B045}" type="datetime1">
              <a:rPr lang="en-US" smtClean="0"/>
              <a:pPr/>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a:t>
            </a:fld>
            <a:endParaRPr lang="en-US"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dirty="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a:t>Click icon to add picture</a:t>
            </a:r>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4B1DCB-7ED9-40A1-ACE9-2CA6C88077F3}" type="datetime1">
              <a:rPr lang="en-US" smtClean="0"/>
              <a:pPr/>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1F36335-CE3A-4703-8DEF-758A63B2C140}" type="datetime1">
              <a:rPr lang="en-US" smtClean="0"/>
              <a:pPr/>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5" name="Rectangle 4"/>
          <p:cNvSpPr/>
          <p:nvPr/>
        </p:nvSpPr>
        <p:spPr>
          <a:xfrm>
            <a:off x="61912" y="1560513"/>
            <a:ext cx="9020175" cy="1527175"/>
          </a:xfrm>
          <a:prstGeom prst="rect">
            <a:avLst/>
          </a:prstGeom>
          <a:solidFill>
            <a:schemeClr val="accent2">
              <a:lumMod val="75000"/>
            </a:schemeClr>
          </a:solidFill>
          <a:ln/>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6" name="Rectangle 5"/>
          <p:cNvSpPr/>
          <p:nvPr/>
        </p:nvSpPr>
        <p:spPr>
          <a:xfrm>
            <a:off x="61913" y="1439863"/>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7" name="Rectangle 6"/>
          <p:cNvSpPr>
            <a:spLocks noChangeArrowheads="1"/>
          </p:cNvSpPr>
          <p:nvPr/>
        </p:nvSpPr>
        <p:spPr bwMode="auto">
          <a:xfrm>
            <a:off x="1187450" y="3141663"/>
            <a:ext cx="6624638" cy="1852612"/>
          </a:xfrm>
          <a:prstGeom prst="rect">
            <a:avLst/>
          </a:prstGeom>
          <a:solidFill>
            <a:srgbClr val="262626"/>
          </a:solidFill>
          <a:ln>
            <a:noFill/>
          </a:ln>
          <a:effectLst>
            <a:outerShdw blurRad="63500" dist="38100" dir="8100000" algn="tr" rotWithShape="0">
              <a:srgbClr val="000000">
                <a:alpha val="39999"/>
              </a:srgbClr>
            </a:outerShdw>
          </a:effectLst>
          <a:extLst>
            <a:ext uri="{91240B29-F687-4f45-9708-019B960494DF}">
              <a14:hiddenLine xmlns="" xmlns:a14="http://schemas.microsoft.com/office/drawing/2010/main" w="19050" cap="sq">
                <a:solidFill>
                  <a:srgbClr val="000000"/>
                </a:solidFill>
                <a:miter lim="800000"/>
                <a:headEnd/>
                <a:tailEnd/>
              </a14:hiddenLine>
            </a:ext>
          </a:extLst>
        </p:spPr>
        <p:txBody>
          <a:bodyPr anchor="ctr"/>
          <a:lstStyle/>
          <a:p>
            <a:pPr algn="ctr" fontAlgn="auto">
              <a:spcBef>
                <a:spcPts val="0"/>
              </a:spcBef>
              <a:spcAft>
                <a:spcPts val="0"/>
              </a:spcAft>
              <a:defRPr/>
            </a:pPr>
            <a:endParaRPr lang="en-US">
              <a:solidFill>
                <a:prstClr val="white"/>
              </a:solidFill>
              <a:latin typeface="+mn-lt"/>
              <a:ea typeface="+mn-ea"/>
            </a:endParaRPr>
          </a:p>
        </p:txBody>
      </p:sp>
      <p:pic>
        <p:nvPicPr>
          <p:cNvPr id="10" name="Picture 18" descr="NAC_LOGO-2.gif"/>
          <p:cNvPicPr>
            <a:picLocks noChangeAspect="1"/>
          </p:cNvPicPr>
          <p:nvPr/>
        </p:nvPicPr>
        <p:blipFill>
          <a:blip r:embed="rId2"/>
          <a:srcRect/>
          <a:stretch>
            <a:fillRect/>
          </a:stretch>
        </p:blipFill>
        <p:spPr bwMode="auto">
          <a:xfrm>
            <a:off x="3022600" y="11113"/>
            <a:ext cx="685800" cy="677862"/>
          </a:xfrm>
          <a:prstGeom prst="rect">
            <a:avLst/>
          </a:prstGeom>
          <a:noFill/>
          <a:ln w="9525">
            <a:noFill/>
            <a:miter lim="800000"/>
            <a:headEnd/>
            <a:tailEnd/>
          </a:ln>
        </p:spPr>
      </p:pic>
      <p:sp>
        <p:nvSpPr>
          <p:cNvPr id="11" name="TextBox 10"/>
          <p:cNvSpPr txBox="1"/>
          <p:nvPr/>
        </p:nvSpPr>
        <p:spPr>
          <a:xfrm>
            <a:off x="3707904" y="-91578"/>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2" name="TextBox 11"/>
          <p:cNvSpPr txBox="1"/>
          <p:nvPr/>
        </p:nvSpPr>
        <p:spPr>
          <a:xfrm>
            <a:off x="1960922" y="628749"/>
            <a:ext cx="5469575"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sp>
        <p:nvSpPr>
          <p:cNvPr id="13" name="TextBox 12"/>
          <p:cNvSpPr txBox="1">
            <a:spLocks noChangeArrowheads="1"/>
          </p:cNvSpPr>
          <p:nvPr/>
        </p:nvSpPr>
        <p:spPr bwMode="auto">
          <a:xfrm>
            <a:off x="7086600" y="6505575"/>
            <a:ext cx="1981200" cy="307975"/>
          </a:xfrm>
          <a:prstGeom prst="rect">
            <a:avLst/>
          </a:prstGeom>
          <a:noFill/>
          <a:ln>
            <a:noFill/>
          </a:ln>
        </p:spPr>
        <p:txBody>
          <a:bodyPr>
            <a:spAutoFit/>
          </a:bodyPr>
          <a:lstStyle/>
          <a:p>
            <a:pPr algn="ctr"/>
            <a:r>
              <a:rPr lang="en-US" sz="1400" i="1" dirty="0">
                <a:solidFill>
                  <a:srgbClr val="000000"/>
                </a:solidFill>
                <a:latin typeface="Tw Cen MT" pitchFamily="34" charset="0"/>
              </a:rPr>
              <a:t>© NACETEM 2025</a:t>
            </a:r>
          </a:p>
        </p:txBody>
      </p:sp>
      <p:sp>
        <p:nvSpPr>
          <p:cNvPr id="14" name="TextBox 24"/>
          <p:cNvSpPr txBox="1">
            <a:spLocks noChangeArrowheads="1"/>
          </p:cNvSpPr>
          <p:nvPr userDrawn="1"/>
        </p:nvSpPr>
        <p:spPr bwMode="auto">
          <a:xfrm>
            <a:off x="755650" y="6500813"/>
            <a:ext cx="5976938" cy="307975"/>
          </a:xfrm>
          <a:prstGeom prst="rect">
            <a:avLst/>
          </a:prstGeom>
          <a:noFill/>
          <a:ln>
            <a:noFill/>
          </a:ln>
        </p:spPr>
        <p:txBody>
          <a:bodyPr>
            <a:spAutoFit/>
          </a:bodyPr>
          <a:lstStyle/>
          <a:p>
            <a:r>
              <a:rPr lang="en-GB" sz="1400" i="1" dirty="0">
                <a:latin typeface="Calibri Light" pitchFamily="34" charset="0"/>
              </a:rPr>
              <a:t>NACETEM…Managing Technology for Sustainable Development</a:t>
            </a: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b="0">
                <a:solidFill>
                  <a:schemeClr val="bg1"/>
                </a:solidFill>
                <a:latin typeface="Calibri Light"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libri" pitchFamily="34" charset="0"/>
              </a:defRPr>
            </a:lvl1pPr>
          </a:lstStyle>
          <a:p>
            <a:r>
              <a:rPr lang="en-US" dirty="0"/>
              <a:t>Click to edit Master title style</a:t>
            </a:r>
          </a:p>
        </p:txBody>
      </p:sp>
      <p:sp>
        <p:nvSpPr>
          <p:cNvPr id="15" name="Slide Number Placeholder 28"/>
          <p:cNvSpPr>
            <a:spLocks noGrp="1"/>
          </p:cNvSpPr>
          <p:nvPr>
            <p:ph type="sldNum" sz="quarter" idx="10"/>
          </p:nvPr>
        </p:nvSpPr>
        <p:spPr/>
        <p:txBody>
          <a:bodyPr/>
          <a:lstStyle>
            <a:lvl1pPr>
              <a:defRPr/>
            </a:lvl1pPr>
          </a:lstStyle>
          <a:p>
            <a:fld id="{CB49EDA5-6D1B-4EF8-B9D1-6F0743E708F5}" type="slidenum">
              <a:rPr lang="en-GB"/>
              <a:pPr/>
              <a:t>‹#›</a:t>
            </a:fld>
            <a:endParaRPr lang="en-GB"/>
          </a:p>
        </p:txBody>
      </p:sp>
    </p:spTree>
    <p:extLst>
      <p:ext uri="{BB962C8B-B14F-4D97-AF65-F5344CB8AC3E}">
        <p14:creationId xmlns:p14="http://schemas.microsoft.com/office/powerpoint/2010/main" xmlns="" val="199074244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Slide Number Placeholder 22"/>
          <p:cNvSpPr>
            <a:spLocks noGrp="1"/>
          </p:cNvSpPr>
          <p:nvPr>
            <p:ph type="sldNum" sz="quarter" idx="10"/>
          </p:nvPr>
        </p:nvSpPr>
        <p:spPr/>
        <p:txBody>
          <a:bodyPr/>
          <a:lstStyle>
            <a:lvl1pPr>
              <a:defRPr/>
            </a:lvl1pPr>
          </a:lstStyle>
          <a:p>
            <a:fld id="{570EC2F4-BA6F-46EE-850D-694B38431047}" type="slidenum">
              <a:rPr lang="en-GB"/>
              <a:pPr/>
              <a:t>‹#›</a:t>
            </a:fld>
            <a:endParaRPr lang="en-GB" dirty="0"/>
          </a:p>
        </p:txBody>
      </p:sp>
    </p:spTree>
    <p:extLst>
      <p:ext uri="{BB962C8B-B14F-4D97-AF65-F5344CB8AC3E}">
        <p14:creationId xmlns:p14="http://schemas.microsoft.com/office/powerpoint/2010/main" xmlns="" val="119331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539552" y="1700808"/>
            <a:ext cx="3979872"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
          </p:nvPr>
        </p:nvSpPr>
        <p:spPr>
          <a:xfrm>
            <a:off x="4788024" y="1700808"/>
            <a:ext cx="3749040" cy="48245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2"/>
          <p:cNvSpPr>
            <a:spLocks noGrp="1"/>
          </p:cNvSpPr>
          <p:nvPr>
            <p:ph type="sldNum" sz="quarter" idx="10"/>
          </p:nvPr>
        </p:nvSpPr>
        <p:spPr/>
        <p:txBody>
          <a:bodyPr/>
          <a:lstStyle>
            <a:lvl1pPr>
              <a:defRPr/>
            </a:lvl1pPr>
          </a:lstStyle>
          <a:p>
            <a:fld id="{FC1CB4F6-48C5-41DC-AD8A-7C8A1C3756F9}" type="slidenum">
              <a:rPr lang="en-GB"/>
              <a:pPr/>
              <a:t>‹#›</a:t>
            </a:fld>
            <a:endParaRPr lang="en-GB"/>
          </a:p>
        </p:txBody>
      </p:sp>
    </p:spTree>
    <p:extLst>
      <p:ext uri="{BB962C8B-B14F-4D97-AF65-F5344CB8AC3E}">
        <p14:creationId xmlns:p14="http://schemas.microsoft.com/office/powerpoint/2010/main" xmlns="" val="879919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8"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fld id="{DEBFA543-A32D-4F79-A4ED-10059AD0630F}" type="slidenum">
              <a:rPr lang="en-GB"/>
              <a:pPr/>
              <a:t>‹#›</a:t>
            </a:fld>
            <a:endParaRPr lang="en-GB"/>
          </a:p>
        </p:txBody>
      </p:sp>
    </p:spTree>
    <p:extLst>
      <p:ext uri="{BB962C8B-B14F-4D97-AF65-F5344CB8AC3E}">
        <p14:creationId xmlns:p14="http://schemas.microsoft.com/office/powerpoint/2010/main" xmlns="" val="2608907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552" y="2492896"/>
            <a:ext cx="8194104"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p>
        </p:txBody>
      </p:sp>
      <p:sp>
        <p:nvSpPr>
          <p:cNvPr id="3" name="Slide Number Placeholder 22"/>
          <p:cNvSpPr>
            <a:spLocks noGrp="1"/>
          </p:cNvSpPr>
          <p:nvPr>
            <p:ph type="sldNum" sz="quarter" idx="10"/>
          </p:nvPr>
        </p:nvSpPr>
        <p:spPr/>
        <p:txBody>
          <a:bodyPr/>
          <a:lstStyle>
            <a:lvl1pPr>
              <a:defRPr/>
            </a:lvl1pPr>
          </a:lstStyle>
          <a:p>
            <a:fld id="{AAF07390-5331-4807-BD67-FEA8162774E5}" type="slidenum">
              <a:rPr lang="en-GB"/>
              <a:pPr/>
              <a:t>‹#›</a:t>
            </a:fld>
            <a:endParaRPr lang="en-GB"/>
          </a:p>
        </p:txBody>
      </p:sp>
    </p:spTree>
    <p:extLst>
      <p:ext uri="{BB962C8B-B14F-4D97-AF65-F5344CB8AC3E}">
        <p14:creationId xmlns:p14="http://schemas.microsoft.com/office/powerpoint/2010/main" xmlns="" val="3998715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3"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fld id="{BDE93C14-AE17-4D24-86F4-FE86C4D87B1C}" type="slidenum">
              <a:rPr lang="en-GB"/>
              <a:pPr/>
              <a:t>‹#›</a:t>
            </a:fld>
            <a:endParaRPr lang="en-GB"/>
          </a:p>
        </p:txBody>
      </p:sp>
    </p:spTree>
    <p:extLst>
      <p:ext uri="{BB962C8B-B14F-4D97-AF65-F5344CB8AC3E}">
        <p14:creationId xmlns:p14="http://schemas.microsoft.com/office/powerpoint/2010/main" xmlns="" val="1104408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6E5F19E-E292-4EBF-9EFB-12533E997EDB}" type="slidenum">
              <a:rPr lang="en-GB"/>
              <a:pPr/>
              <a:t>‹#›</a:t>
            </a:fld>
            <a:endParaRPr lang="en-GB"/>
          </a:p>
        </p:txBody>
      </p:sp>
    </p:spTree>
    <p:extLst>
      <p:ext uri="{BB962C8B-B14F-4D97-AF65-F5344CB8AC3E}">
        <p14:creationId xmlns:p14="http://schemas.microsoft.com/office/powerpoint/2010/main" xmlns="" val="19371564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Footer Placeholder 2"/>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fld id="{797C165D-DD1A-47B3-9F4B-1A7B065EABA4}" type="slidenum">
              <a:rPr lang="en-GB"/>
              <a:pPr/>
              <a:t>‹#›</a:t>
            </a:fld>
            <a:endParaRPr lang="en-GB"/>
          </a:p>
        </p:txBody>
      </p:sp>
    </p:spTree>
    <p:extLst>
      <p:ext uri="{BB962C8B-B14F-4D97-AF65-F5344CB8AC3E}">
        <p14:creationId xmlns:p14="http://schemas.microsoft.com/office/powerpoint/2010/main" xmlns="" val="267952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4"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7"/>
          <p:cNvSpPr>
            <a:spLocks noGrp="1" noChangeArrowheads="1"/>
          </p:cNvSpPr>
          <p:nvPr>
            <p:ph type="sldNum" sz="quarter" idx="12"/>
          </p:nvPr>
        </p:nvSpPr>
        <p:spPr/>
        <p:txBody>
          <a:bodyPr/>
          <a:lstStyle>
            <a:lvl1pPr>
              <a:defRPr/>
            </a:lvl1pPr>
          </a:lstStyle>
          <a:p>
            <a:fld id="{B3166BE0-4650-4758-8CC1-441A41767186}" type="slidenum">
              <a:rPr lang="en-GB"/>
              <a:pPr/>
              <a:t>‹#›</a:t>
            </a:fld>
            <a:endParaRPr lang="en-GB"/>
          </a:p>
        </p:txBody>
      </p:sp>
    </p:spTree>
    <p:extLst>
      <p:ext uri="{BB962C8B-B14F-4D97-AF65-F5344CB8AC3E}">
        <p14:creationId xmlns:p14="http://schemas.microsoft.com/office/powerpoint/2010/main" xmlns="" val="1550149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lstStyle/>
          <a:p>
            <a:pPr lvl="0"/>
            <a:r>
              <a:rPr lang="en-US" noProof="0"/>
              <a:t>Click icon to add table</a:t>
            </a:r>
          </a:p>
        </p:txBody>
      </p:sp>
      <p:sp>
        <p:nvSpPr>
          <p:cNvPr id="4" name="Rectangle 5"/>
          <p:cNvSpPr>
            <a:spLocks noGrp="1" noChangeArrowheads="1"/>
          </p:cNvSpPr>
          <p:nvPr>
            <p:ph type="dt" sz="half" idx="10"/>
          </p:nvPr>
        </p:nvSpPr>
        <p:spPr>
          <a:xfrm>
            <a:off x="6172200" y="6191250"/>
            <a:ext cx="2476500" cy="47625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5" name="Rectangle 6"/>
          <p:cNvSpPr>
            <a:spLocks noGrp="1" noChangeArrowheads="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GB"/>
          </a:p>
        </p:txBody>
      </p:sp>
      <p:sp>
        <p:nvSpPr>
          <p:cNvPr id="6" name="Rectangle 7"/>
          <p:cNvSpPr>
            <a:spLocks noGrp="1" noChangeArrowheads="1"/>
          </p:cNvSpPr>
          <p:nvPr>
            <p:ph type="sldNum" sz="quarter" idx="12"/>
          </p:nvPr>
        </p:nvSpPr>
        <p:spPr/>
        <p:txBody>
          <a:bodyPr/>
          <a:lstStyle>
            <a:lvl1pPr>
              <a:defRPr/>
            </a:lvl1pPr>
          </a:lstStyle>
          <a:p>
            <a:fld id="{0C7A436E-455D-4B62-97ED-6266397FEF62}" type="slidenum">
              <a:rPr lang="en-GB"/>
              <a:pPr/>
              <a:t>‹#›</a:t>
            </a:fld>
            <a:endParaRPr lang="en-GB"/>
          </a:p>
        </p:txBody>
      </p:sp>
    </p:spTree>
    <p:extLst>
      <p:ext uri="{BB962C8B-B14F-4D97-AF65-F5344CB8AC3E}">
        <p14:creationId xmlns:p14="http://schemas.microsoft.com/office/powerpoint/2010/main" xmlns="" val="18210934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48200" y="1600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48200" y="3886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Footer Placeholder 6"/>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8" name="Slide Number Placeholder 7"/>
          <p:cNvSpPr>
            <a:spLocks noGrp="1"/>
          </p:cNvSpPr>
          <p:nvPr>
            <p:ph type="sldNum" sz="quarter" idx="12"/>
          </p:nvPr>
        </p:nvSpPr>
        <p:spPr/>
        <p:txBody>
          <a:bodyPr/>
          <a:lstStyle>
            <a:lvl1pPr>
              <a:defRPr>
                <a:solidFill>
                  <a:srgbClr val="898989"/>
                </a:solidFill>
              </a:defRPr>
            </a:lvl1pPr>
          </a:lstStyle>
          <a:p>
            <a:fld id="{27B98567-4A0B-48CC-A982-45492D08D158}" type="slidenum">
              <a:rPr lang="en-GB"/>
              <a:pPr/>
              <a:t>‹#›</a:t>
            </a:fld>
            <a:endParaRPr lang="en-GB"/>
          </a:p>
        </p:txBody>
      </p:sp>
    </p:spTree>
    <p:extLst>
      <p:ext uri="{BB962C8B-B14F-4D97-AF65-F5344CB8AC3E}">
        <p14:creationId xmlns:p14="http://schemas.microsoft.com/office/powerpoint/2010/main" xmlns="" val="75665953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6172200" y="6191250"/>
            <a:ext cx="2476500" cy="47625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6" name="Footer Placeholder 5"/>
          <p:cNvSpPr>
            <a:spLocks noGrp="1"/>
          </p:cNvSpPr>
          <p:nvPr>
            <p:ph type="ftr" sz="quarter" idx="11"/>
          </p:nvPr>
        </p:nvSpPr>
        <p:spPr>
          <a:xfrm>
            <a:off x="838200" y="6172200"/>
            <a:ext cx="5486400" cy="457200"/>
          </a:xfrm>
          <a:prstGeom prst="rect">
            <a:avLst/>
          </a:prstGeom>
        </p:spPr>
        <p:txBody>
          <a:bodyPr/>
          <a:lstStyle>
            <a:lvl1pPr fontAlgn="auto">
              <a:spcBef>
                <a:spcPts val="0"/>
              </a:spcBef>
              <a:spcAft>
                <a:spcPts val="0"/>
              </a:spcAft>
              <a:defRPr>
                <a:solidFill>
                  <a:schemeClr val="tx1">
                    <a:tint val="75000"/>
                  </a:schemeClr>
                </a:solidFill>
                <a:latin typeface="+mn-lt"/>
                <a:ea typeface="+mn-ea"/>
                <a:cs typeface="+mn-cs"/>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rgbClr val="898989"/>
                </a:solidFill>
              </a:defRPr>
            </a:lvl1pPr>
          </a:lstStyle>
          <a:p>
            <a:fld id="{BDBB1DCD-4BB2-48AE-B70F-FA3E1C7879AB}" type="slidenum">
              <a:rPr lang="en-GB"/>
              <a:pPr/>
              <a:t>‹#›</a:t>
            </a:fld>
            <a:endParaRPr lang="en-GB"/>
          </a:p>
        </p:txBody>
      </p:sp>
    </p:spTree>
    <p:extLst>
      <p:ext uri="{BB962C8B-B14F-4D97-AF65-F5344CB8AC3E}">
        <p14:creationId xmlns:p14="http://schemas.microsoft.com/office/powerpoint/2010/main" xmlns="" val="244919610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2E5C3DA-A1D3-4A1C-9703-FC7E652E640F}" type="datetime1">
              <a:rPr lang="en-US" smtClean="0"/>
              <a:pPr/>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a:t>
            </a:fld>
            <a:endParaRPr lang="en-US" dirty="0"/>
          </a:p>
        </p:txBody>
      </p:sp>
    </p:spTree>
    <p:extLst>
      <p:ext uri="{BB962C8B-B14F-4D97-AF65-F5344CB8AC3E}">
        <p14:creationId xmlns:p14="http://schemas.microsoft.com/office/powerpoint/2010/main" xmlns="" val="3457226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9B0DE4D6-8062-4761-9199-9AEA6147483F}" type="datetime1">
              <a:rPr lang="en-US" smtClean="0"/>
              <a:pPr/>
              <a:t>9/11/2025</a:t>
            </a:fld>
            <a:endParaRPr lang="en-US" dirty="0"/>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41C3B027-99D8-4500-AA7E-8D849F3A1F09}" type="slidenum">
              <a:rPr lang="en-US" smtClean="0"/>
              <a:pPr/>
              <a:t>‹#›</a:t>
            </a:fld>
            <a:endParaRPr lang="en-US"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1027" name="Title Placeholder 21"/>
          <p:cNvSpPr>
            <a:spLocks noGrp="1"/>
          </p:cNvSpPr>
          <p:nvPr>
            <p:ph type="title"/>
          </p:nvPr>
        </p:nvSpPr>
        <p:spPr bwMode="auto">
          <a:xfrm>
            <a:off x="250825" y="669925"/>
            <a:ext cx="7978775" cy="1006475"/>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8" name="Text Placeholder 12"/>
          <p:cNvSpPr>
            <a:spLocks noGrp="1"/>
          </p:cNvSpPr>
          <p:nvPr>
            <p:ph type="body" idx="1"/>
          </p:nvPr>
        </p:nvSpPr>
        <p:spPr bwMode="auto">
          <a:xfrm>
            <a:off x="250825" y="1676400"/>
            <a:ext cx="8166100" cy="4632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Slide Number Placeholder 22"/>
          <p:cNvSpPr>
            <a:spLocks noGrp="1"/>
          </p:cNvSpPr>
          <p:nvPr>
            <p:ph type="sldNum" sz="quarter" idx="4"/>
          </p:nvPr>
        </p:nvSpPr>
        <p:spPr>
          <a:xfrm>
            <a:off x="146050" y="6324600"/>
            <a:ext cx="457200" cy="457200"/>
          </a:xfrm>
          <a:prstGeom prst="ellipse">
            <a:avLst/>
          </a:prstGeom>
          <a:solidFill>
            <a:schemeClr val="accent2"/>
          </a:solidFill>
        </p:spPr>
        <p:txBody>
          <a:bodyPr vert="horz" wrap="none" lIns="0" tIns="0" rIns="0" bIns="0" numCol="1" anchor="ctr" anchorCtr="1" compatLnSpc="1">
            <a:prstTxWarp prst="textNoShape">
              <a:avLst/>
            </a:prstTxWarp>
            <a:noAutofit/>
          </a:bodyPr>
          <a:lstStyle>
            <a:lvl1pPr algn="ctr">
              <a:defRPr sz="1400">
                <a:solidFill>
                  <a:srgbClr val="FFFFFF"/>
                </a:solidFill>
                <a:latin typeface="Tw Cen MT" pitchFamily="34" charset="0"/>
              </a:defRPr>
            </a:lvl1pPr>
          </a:lstStyle>
          <a:p>
            <a:fld id="{FA2D2DF1-13C5-43BF-BBD9-0DA151975497}" type="slidenum">
              <a:rPr lang="en-GB"/>
              <a:pPr/>
              <a:t>‹#›</a:t>
            </a:fld>
            <a:endParaRPr lang="en-GB"/>
          </a:p>
        </p:txBody>
      </p:sp>
      <p:pic>
        <p:nvPicPr>
          <p:cNvPr id="1030" name="Picture 9" descr="NAC_LOGO-2.gif"/>
          <p:cNvPicPr>
            <a:picLocks noChangeAspect="1"/>
          </p:cNvPicPr>
          <p:nvPr/>
        </p:nvPicPr>
        <p:blipFill>
          <a:blip r:embed="rId15"/>
          <a:srcRect/>
          <a:stretch>
            <a:fillRect/>
          </a:stretch>
        </p:blipFill>
        <p:spPr bwMode="auto">
          <a:xfrm>
            <a:off x="8558213" y="6165850"/>
            <a:ext cx="550862" cy="542925"/>
          </a:xfrm>
          <a:prstGeom prst="rect">
            <a:avLst/>
          </a:prstGeom>
          <a:noFill/>
          <a:ln w="9525">
            <a:noFill/>
            <a:miter lim="800000"/>
            <a:headEnd/>
            <a:tailEnd/>
          </a:ln>
        </p:spPr>
      </p:pic>
      <p:sp>
        <p:nvSpPr>
          <p:cNvPr id="13" name="TextBox 12"/>
          <p:cNvSpPr txBox="1"/>
          <p:nvPr/>
        </p:nvSpPr>
        <p:spPr>
          <a:xfrm>
            <a:off x="6218461" y="-99392"/>
            <a:ext cx="25146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r>
              <a:rPr lang="en-US" sz="4400" b="1">
                <a:solidFill>
                  <a:srgbClr val="C00000"/>
                </a:solidFill>
                <a:effectLst>
                  <a:outerShdw blurRad="38100" dist="38100" dir="2700000" algn="tl">
                    <a:srgbClr val="C0C0C0"/>
                  </a:outerShdw>
                </a:effectLst>
                <a:ea typeface="ＭＳ Ｐゴシック" pitchFamily="34" charset="-128"/>
              </a:rPr>
              <a:t>NACETEM</a:t>
            </a:r>
            <a:r>
              <a:rPr lang="en-US" sz="4400" b="1">
                <a:solidFill>
                  <a:srgbClr val="FFFFFF"/>
                </a:solidFill>
                <a:effectLst>
                  <a:outerShdw blurRad="38100" dist="38100" dir="2700000" algn="tl">
                    <a:srgbClr val="C0C0C0"/>
                  </a:outerShdw>
                </a:effectLst>
                <a:ea typeface="ＭＳ Ｐゴシック" pitchFamily="34" charset="-128"/>
              </a:rPr>
              <a:t> </a:t>
            </a:r>
          </a:p>
        </p:txBody>
      </p:sp>
      <p:sp>
        <p:nvSpPr>
          <p:cNvPr id="1034" name="TextBox 23"/>
          <p:cNvSpPr txBox="1">
            <a:spLocks noChangeArrowheads="1"/>
          </p:cNvSpPr>
          <p:nvPr/>
        </p:nvSpPr>
        <p:spPr bwMode="auto">
          <a:xfrm>
            <a:off x="6751638" y="6562725"/>
            <a:ext cx="1981200" cy="276225"/>
          </a:xfrm>
          <a:prstGeom prst="rect">
            <a:avLst/>
          </a:prstGeom>
          <a:noFill/>
          <a:ln>
            <a:noFill/>
          </a:ln>
        </p:spPr>
        <p:txBody>
          <a:bodyPr>
            <a:spAutoFit/>
          </a:bodyPr>
          <a:lstStyle/>
          <a:p>
            <a:pPr algn="ctr"/>
            <a:r>
              <a:rPr lang="en-US" sz="1200" i="1" dirty="0">
                <a:solidFill>
                  <a:srgbClr val="000000"/>
                </a:solidFill>
                <a:latin typeface="Tw Cen MT" pitchFamily="34" charset="0"/>
              </a:rPr>
              <a:t>© NACETEM 2025</a:t>
            </a:r>
          </a:p>
        </p:txBody>
      </p:sp>
      <p:sp>
        <p:nvSpPr>
          <p:cNvPr id="4" name="Rectangle 3"/>
          <p:cNvSpPr/>
          <p:nvPr userDrawn="1"/>
        </p:nvSpPr>
        <p:spPr>
          <a:xfrm>
            <a:off x="8733061" y="0"/>
            <a:ext cx="41093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15" name="TextBox 14"/>
          <p:cNvSpPr txBox="1"/>
          <p:nvPr/>
        </p:nvSpPr>
        <p:spPr>
          <a:xfrm rot="16200000">
            <a:off x="5923562" y="2809500"/>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just" fontAlgn="auto">
              <a:spcBef>
                <a:spcPts val="0"/>
              </a:spcBef>
              <a:spcAft>
                <a:spcPts val="0"/>
              </a:spcAft>
              <a:defRPr/>
            </a:pPr>
            <a:r>
              <a:rPr lang="en-US" sz="1400" b="1" spc="150" dirty="0">
                <a:ln w="11430"/>
                <a:solidFill>
                  <a:srgbClr val="F8F8F8"/>
                </a:solidFill>
                <a:effectLst>
                  <a:outerShdw blurRad="25400" algn="tl" rotWithShape="0">
                    <a:srgbClr val="000000">
                      <a:alpha val="43000"/>
                    </a:srgbClr>
                  </a:outerShdw>
                </a:effectLst>
                <a:latin typeface="Tw Cen MT"/>
                <a:ea typeface="+mn-ea"/>
                <a:cs typeface="Arial" charset="0"/>
              </a:rPr>
              <a:t>NATIONAL CENTRE FOR TECHNOLOGY MANAGEMENT</a:t>
            </a:r>
          </a:p>
        </p:txBody>
      </p:sp>
      <p:cxnSp>
        <p:nvCxnSpPr>
          <p:cNvPr id="6" name="Straight Connector 5"/>
          <p:cNvCxnSpPr/>
          <p:nvPr userDrawn="1"/>
        </p:nvCxnSpPr>
        <p:spPr>
          <a:xfrm flipH="1">
            <a:off x="0" y="620713"/>
            <a:ext cx="8732838"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38" name="TextBox 7"/>
          <p:cNvSpPr txBox="1">
            <a:spLocks noChangeArrowheads="1"/>
          </p:cNvSpPr>
          <p:nvPr userDrawn="1"/>
        </p:nvSpPr>
        <p:spPr bwMode="auto">
          <a:xfrm>
            <a:off x="755650" y="6437313"/>
            <a:ext cx="6337300" cy="338137"/>
          </a:xfrm>
          <a:prstGeom prst="rect">
            <a:avLst/>
          </a:prstGeom>
          <a:noFill/>
          <a:ln>
            <a:noFill/>
          </a:ln>
        </p:spPr>
        <p:txBody>
          <a:bodyPr>
            <a:spAutoFit/>
          </a:bodyPr>
          <a:lstStyle/>
          <a:p>
            <a:r>
              <a:rPr lang="en-GB" sz="1600" i="1">
                <a:latin typeface="Calibri Light" pitchFamily="34" charset="0"/>
              </a:rPr>
              <a:t>NACETEM…Managing Technology for Sustainable Development</a:t>
            </a:r>
          </a:p>
        </p:txBody>
      </p:sp>
    </p:spTree>
    <p:extLst>
      <p:ext uri="{BB962C8B-B14F-4D97-AF65-F5344CB8AC3E}">
        <p14:creationId xmlns:p14="http://schemas.microsoft.com/office/powerpoint/2010/main" xmlns="" val="658528353"/>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Lst>
  <p:hf hdr="0" ftr="0" dt="0"/>
  <p:txStyles>
    <p:titleStyle>
      <a:lvl1pPr algn="l" rtl="0" eaLnBrk="0" fontAlgn="base" hangingPunct="0">
        <a:spcBef>
          <a:spcPct val="0"/>
        </a:spcBef>
        <a:spcAft>
          <a:spcPct val="0"/>
        </a:spcAft>
        <a:defRPr sz="3600" kern="1200">
          <a:solidFill>
            <a:schemeClr val="tx2"/>
          </a:solidFill>
          <a:latin typeface="Calibri" pitchFamily="34" charset="0"/>
          <a:ea typeface="ＭＳ Ｐゴシック" charset="0"/>
          <a:cs typeface="+mj-cs"/>
        </a:defRPr>
      </a:lvl1pPr>
      <a:lvl2pPr algn="l" rtl="0" eaLnBrk="0" fontAlgn="base" hangingPunct="0">
        <a:spcBef>
          <a:spcPct val="0"/>
        </a:spcBef>
        <a:spcAft>
          <a:spcPct val="0"/>
        </a:spcAft>
        <a:defRPr sz="3600">
          <a:solidFill>
            <a:schemeClr val="tx2"/>
          </a:solidFill>
          <a:latin typeface="Calibri" pitchFamily="34" charset="0"/>
          <a:ea typeface="ＭＳ Ｐゴシック" charset="0"/>
        </a:defRPr>
      </a:lvl2pPr>
      <a:lvl3pPr algn="l" rtl="0" eaLnBrk="0" fontAlgn="base" hangingPunct="0">
        <a:spcBef>
          <a:spcPct val="0"/>
        </a:spcBef>
        <a:spcAft>
          <a:spcPct val="0"/>
        </a:spcAft>
        <a:defRPr sz="3600">
          <a:solidFill>
            <a:schemeClr val="tx2"/>
          </a:solidFill>
          <a:latin typeface="Calibri" pitchFamily="34" charset="0"/>
          <a:ea typeface="ＭＳ Ｐゴシック" charset="0"/>
        </a:defRPr>
      </a:lvl3pPr>
      <a:lvl4pPr algn="l" rtl="0" eaLnBrk="0" fontAlgn="base" hangingPunct="0">
        <a:spcBef>
          <a:spcPct val="0"/>
        </a:spcBef>
        <a:spcAft>
          <a:spcPct val="0"/>
        </a:spcAft>
        <a:defRPr sz="3600">
          <a:solidFill>
            <a:schemeClr val="tx2"/>
          </a:solidFill>
          <a:latin typeface="Calibri" pitchFamily="34" charset="0"/>
          <a:ea typeface="ＭＳ Ｐゴシック" charset="0"/>
        </a:defRPr>
      </a:lvl4pPr>
      <a:lvl5pPr algn="l" rtl="0" eaLnBrk="0" fontAlgn="base" hangingPunct="0">
        <a:spcBef>
          <a:spcPct val="0"/>
        </a:spcBef>
        <a:spcAft>
          <a:spcPct val="0"/>
        </a:spcAft>
        <a:defRPr sz="3600">
          <a:solidFill>
            <a:schemeClr val="tx2"/>
          </a:solidFill>
          <a:latin typeface="Calibri" pitchFamily="34" charset="0"/>
          <a:ea typeface="ＭＳ Ｐゴシック" charset="0"/>
        </a:defRPr>
      </a:lvl5pPr>
      <a:lvl6pPr marL="457200" algn="l" rtl="0" eaLnBrk="1" fontAlgn="base" hangingPunct="1">
        <a:spcBef>
          <a:spcPct val="0"/>
        </a:spcBef>
        <a:spcAft>
          <a:spcPct val="0"/>
        </a:spcAft>
        <a:defRPr sz="4000">
          <a:solidFill>
            <a:schemeClr val="tx2"/>
          </a:solidFill>
          <a:latin typeface="Tw Cen MT" pitchFamily="34" charset="0"/>
        </a:defRPr>
      </a:lvl6pPr>
      <a:lvl7pPr marL="914400" algn="l" rtl="0" eaLnBrk="1" fontAlgn="base" hangingPunct="1">
        <a:spcBef>
          <a:spcPct val="0"/>
        </a:spcBef>
        <a:spcAft>
          <a:spcPct val="0"/>
        </a:spcAft>
        <a:defRPr sz="4000">
          <a:solidFill>
            <a:schemeClr val="tx2"/>
          </a:solidFill>
          <a:latin typeface="Tw Cen MT" pitchFamily="34" charset="0"/>
        </a:defRPr>
      </a:lvl7pPr>
      <a:lvl8pPr marL="1371600" algn="l" rtl="0" eaLnBrk="1" fontAlgn="base" hangingPunct="1">
        <a:spcBef>
          <a:spcPct val="0"/>
        </a:spcBef>
        <a:spcAft>
          <a:spcPct val="0"/>
        </a:spcAft>
        <a:defRPr sz="4000">
          <a:solidFill>
            <a:schemeClr val="tx2"/>
          </a:solidFill>
          <a:latin typeface="Tw Cen MT" pitchFamily="34" charset="0"/>
        </a:defRPr>
      </a:lvl8pPr>
      <a:lvl9pPr marL="1828800" algn="l" rtl="0" eaLnBrk="1" fontAlgn="base" hangingPunct="1">
        <a:spcBef>
          <a:spcPct val="0"/>
        </a:spcBef>
        <a:spcAft>
          <a:spcPct val="0"/>
        </a:spcAft>
        <a:defRPr sz="4000">
          <a:solidFill>
            <a:schemeClr val="tx2"/>
          </a:solidFill>
          <a:latin typeface="Tw Cen MT"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Calibri Light" pitchFamily="34" charset="0"/>
          <a:ea typeface="ＭＳ Ｐゴシック" charset="0"/>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Calibri Light" pitchFamily="34" charset="0"/>
          <a:ea typeface="ＭＳ Ｐゴシック" charset="0"/>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Calibri Light" pitchFamily="34" charset="0"/>
          <a:ea typeface="ＭＳ Ｐゴシック" charset="0"/>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Calibri Light" pitchFamily="34" charset="0"/>
          <a:ea typeface="ＭＳ Ｐゴシック" charset="0"/>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Calibri Light" pitchFamily="34" charset="0"/>
          <a:ea typeface="ＭＳ Ｐゴシック" charset="0"/>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ubtitle 2"/>
          <p:cNvSpPr>
            <a:spLocks noGrp="1"/>
          </p:cNvSpPr>
          <p:nvPr>
            <p:ph type="subTitle" idx="1"/>
          </p:nvPr>
        </p:nvSpPr>
        <p:spPr>
          <a:xfrm>
            <a:off x="1219200" y="3200400"/>
            <a:ext cx="6553200" cy="2895600"/>
          </a:xfrm>
        </p:spPr>
        <p:txBody>
          <a:bodyPr/>
          <a:lstStyle/>
          <a:p>
            <a:pPr>
              <a:spcBef>
                <a:spcPts val="0"/>
              </a:spcBef>
              <a:defRPr/>
            </a:pPr>
            <a:endParaRPr lang="en-US" sz="1800" b="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smtClean="0">
                <a:solidFill>
                  <a:schemeClr val="accent6">
                    <a:lumMod val="20000"/>
                    <a:lumOff val="80000"/>
                  </a:schemeClr>
                </a:solidFill>
                <a:latin typeface="Aharoni" pitchFamily="2" charset="-79"/>
                <a:ea typeface="+mn-ea"/>
                <a:cs typeface="Aharoni" pitchFamily="2" charset="-79"/>
              </a:rPr>
              <a:t>Engr. AYUBA, David Mshelia</a:t>
            </a:r>
            <a:endParaRPr lang="en-US" sz="2400" b="1" i="1" dirty="0">
              <a:solidFill>
                <a:schemeClr val="accent6">
                  <a:lumMod val="20000"/>
                  <a:lumOff val="80000"/>
                </a:schemeClr>
              </a:solidFill>
              <a:latin typeface="Aharoni" pitchFamily="2" charset="-79"/>
              <a:ea typeface="+mn-ea"/>
              <a:cs typeface="Aharoni" pitchFamily="2" charset="-79"/>
            </a:endParaRPr>
          </a:p>
          <a:p>
            <a:pPr>
              <a:spcBef>
                <a:spcPts val="0"/>
              </a:spcBef>
              <a:defRPr/>
            </a:pPr>
            <a:r>
              <a:rPr lang="en-US" sz="2400" b="1" dirty="0">
                <a:solidFill>
                  <a:schemeClr val="accent6">
                    <a:lumMod val="20000"/>
                    <a:lumOff val="80000"/>
                  </a:schemeClr>
                </a:solidFill>
                <a:ea typeface="+mn-ea"/>
              </a:rPr>
              <a:t>NACETEM </a:t>
            </a:r>
            <a:r>
              <a:rPr lang="en-US" sz="2400" b="1" dirty="0" smtClean="0">
                <a:solidFill>
                  <a:schemeClr val="accent6">
                    <a:lumMod val="20000"/>
                    <a:lumOff val="80000"/>
                  </a:schemeClr>
                </a:solidFill>
                <a:ea typeface="+mn-ea"/>
              </a:rPr>
              <a:t>NORTHEAST ZONAL OFFICE, MODIBBO ADAMA UNIVERSITY</a:t>
            </a:r>
            <a:r>
              <a:rPr lang="en-US" sz="2400" b="1" dirty="0">
                <a:solidFill>
                  <a:schemeClr val="accent6">
                    <a:lumMod val="20000"/>
                    <a:lumOff val="80000"/>
                  </a:schemeClr>
                </a:solidFill>
                <a:ea typeface="+mn-ea"/>
              </a:rPr>
              <a:t>, </a:t>
            </a:r>
            <a:r>
              <a:rPr lang="en-US" sz="2400" b="1" dirty="0" smtClean="0">
                <a:solidFill>
                  <a:schemeClr val="accent6">
                    <a:lumMod val="20000"/>
                    <a:lumOff val="80000"/>
                  </a:schemeClr>
                </a:solidFill>
                <a:ea typeface="+mn-ea"/>
              </a:rPr>
              <a:t>YOLA, </a:t>
            </a:r>
            <a:r>
              <a:rPr lang="en-US" sz="2400" b="1" dirty="0">
                <a:solidFill>
                  <a:schemeClr val="accent6">
                    <a:lumMod val="20000"/>
                    <a:lumOff val="80000"/>
                  </a:schemeClr>
                </a:solidFill>
                <a:ea typeface="+mn-ea"/>
              </a:rPr>
              <a:t>NIGERIA</a:t>
            </a:r>
          </a:p>
          <a:p>
            <a:pPr>
              <a:spcBef>
                <a:spcPts val="0"/>
              </a:spcBef>
              <a:defRPr/>
            </a:pPr>
            <a:endParaRPr lang="en-US" sz="2400" b="1" dirty="0">
              <a:solidFill>
                <a:schemeClr val="accent6">
                  <a:lumMod val="20000"/>
                  <a:lumOff val="80000"/>
                </a:schemeClr>
              </a:solidFill>
              <a:ea typeface="+mn-ea"/>
            </a:endParaRPr>
          </a:p>
          <a:p>
            <a:pPr>
              <a:lnSpc>
                <a:spcPct val="150000"/>
              </a:lnSpc>
              <a:spcBef>
                <a:spcPts val="0"/>
              </a:spcBef>
              <a:defRPr/>
            </a:pPr>
            <a:r>
              <a:rPr lang="en-US" sz="2400" b="1" dirty="0">
                <a:solidFill>
                  <a:srgbClr val="C00000"/>
                </a:solidFill>
                <a:ea typeface="+mn-ea"/>
              </a:rPr>
              <a:t>NACETEM Researchers’ Seminar Series</a:t>
            </a:r>
          </a:p>
          <a:p>
            <a:pPr>
              <a:spcBef>
                <a:spcPts val="0"/>
              </a:spcBef>
              <a:defRPr/>
            </a:pPr>
            <a:r>
              <a:rPr lang="en-GB" sz="2400" b="1" dirty="0">
                <a:solidFill>
                  <a:srgbClr val="C00000"/>
                </a:solidFill>
                <a:ea typeface="+mn-ea"/>
              </a:rPr>
              <a:t>Thursday, </a:t>
            </a:r>
            <a:r>
              <a:rPr lang="en-GB" sz="2400" b="1" dirty="0" smtClean="0">
                <a:solidFill>
                  <a:srgbClr val="C00000"/>
                </a:solidFill>
                <a:ea typeface="+mn-ea"/>
              </a:rPr>
              <a:t>18</a:t>
            </a:r>
            <a:r>
              <a:rPr lang="en-GB" sz="2400" b="1" baseline="30000" dirty="0" smtClean="0">
                <a:solidFill>
                  <a:srgbClr val="C00000"/>
                </a:solidFill>
                <a:ea typeface="+mn-ea"/>
              </a:rPr>
              <a:t>th</a:t>
            </a:r>
            <a:r>
              <a:rPr lang="en-GB" sz="2400" b="1" dirty="0" smtClean="0">
                <a:solidFill>
                  <a:srgbClr val="C00000"/>
                </a:solidFill>
                <a:ea typeface="+mn-ea"/>
              </a:rPr>
              <a:t> September, 2025</a:t>
            </a:r>
            <a:endParaRPr lang="en-GB" sz="2400" b="1" dirty="0">
              <a:solidFill>
                <a:srgbClr val="C00000"/>
              </a:solidFill>
              <a:ea typeface="+mn-ea"/>
            </a:endParaRPr>
          </a:p>
        </p:txBody>
      </p:sp>
      <p:sp>
        <p:nvSpPr>
          <p:cNvPr id="16385" name="Title 1"/>
          <p:cNvSpPr>
            <a:spLocks noGrp="1"/>
          </p:cNvSpPr>
          <p:nvPr>
            <p:ph type="ctrTitle"/>
          </p:nvPr>
        </p:nvSpPr>
        <p:spPr>
          <a:xfrm>
            <a:off x="76200" y="1600200"/>
            <a:ext cx="8991600" cy="1447800"/>
          </a:xfrm>
        </p:spPr>
        <p:txBody>
          <a:bodyPr>
            <a:normAutofit/>
          </a:bodyPr>
          <a:lstStyle/>
          <a:p>
            <a:r>
              <a:rPr lang="en-GB" sz="2800" b="1" dirty="0" smtClean="0"/>
              <a:t>Development and Optimization of  Super-hydrophobic Biochar-infused Coating for Corrosion Protection of Carbon Steel Pipelines in Oil and Gas Facilities</a:t>
            </a:r>
            <a:endParaRPr sz="28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52400" y="714375"/>
            <a:ext cx="8112125" cy="676275"/>
          </a:xfrm>
        </p:spPr>
        <p:txBody>
          <a:bodyPr/>
          <a:lstStyle/>
          <a:p>
            <a:pPr eaLnBrk="1" hangingPunct="1"/>
            <a:r>
              <a:rPr lang="en-US" b="1" dirty="0">
                <a:solidFill>
                  <a:srgbClr val="002060"/>
                </a:solidFill>
                <a:latin typeface="Gill Sans MT" panose="020B0502020104020203" pitchFamily="34" charset="0"/>
                <a:ea typeface="ＭＳ Ｐゴシック" pitchFamily="34" charset="-128"/>
                <a:cs typeface="Times New Roman" pitchFamily="18" charset="0"/>
              </a:rPr>
              <a:t>Outline</a:t>
            </a:r>
          </a:p>
        </p:txBody>
      </p:sp>
      <p:sp>
        <p:nvSpPr>
          <p:cNvPr id="17410" name="Rectangle 3"/>
          <p:cNvSpPr>
            <a:spLocks noGrp="1" noChangeArrowheads="1"/>
          </p:cNvSpPr>
          <p:nvPr>
            <p:ph idx="4294967295"/>
          </p:nvPr>
        </p:nvSpPr>
        <p:spPr>
          <a:xfrm>
            <a:off x="323850" y="1285860"/>
            <a:ext cx="8112125" cy="4962540"/>
          </a:xfrm>
        </p:spPr>
        <p:txBody>
          <a:bodyPr/>
          <a:lstStyle/>
          <a:p>
            <a:pPr lvl="0" algn="just">
              <a:lnSpc>
                <a:spcPct val="150000"/>
              </a:lnSpc>
            </a:pPr>
            <a:r>
              <a:rPr lang="en-US" sz="2400" dirty="0" smtClean="0">
                <a:solidFill>
                  <a:prstClr val="black"/>
                </a:solidFill>
                <a:latin typeface="Gill Sans MT" panose="020B0502020104020203" pitchFamily="34" charset="0"/>
                <a:cs typeface="Times New Roman" panose="02020603050405020304" pitchFamily="18" charset="0"/>
              </a:rPr>
              <a:t>Introduction</a:t>
            </a:r>
          </a:p>
          <a:p>
            <a:pPr lvl="0" algn="just">
              <a:lnSpc>
                <a:spcPct val="150000"/>
              </a:lnSpc>
            </a:pPr>
            <a:r>
              <a:rPr lang="en-GB" sz="2400" dirty="0" smtClean="0">
                <a:solidFill>
                  <a:prstClr val="black"/>
                </a:solidFill>
                <a:latin typeface="Gill Sans MT" panose="020B0502020104020203" pitchFamily="34" charset="0"/>
                <a:cs typeface="Times New Roman" panose="02020603050405020304" pitchFamily="18" charset="0"/>
              </a:rPr>
              <a:t>Statement of the problem</a:t>
            </a:r>
            <a:endParaRPr lang="en-US" sz="2400" dirty="0">
              <a:solidFill>
                <a:prstClr val="black"/>
              </a:solidFill>
              <a:latin typeface="Gill Sans MT" panose="020B0502020104020203" pitchFamily="34" charset="0"/>
              <a:cs typeface="Times New Roman" panose="02020603050405020304" pitchFamily="18" charset="0"/>
            </a:endParaRPr>
          </a:p>
          <a:p>
            <a:pPr lvl="0" algn="just">
              <a:lnSpc>
                <a:spcPct val="150000"/>
              </a:lnSpc>
            </a:pPr>
            <a:r>
              <a:rPr lang="en-GB" sz="2400" dirty="0" smtClean="0">
                <a:solidFill>
                  <a:prstClr val="black"/>
                </a:solidFill>
                <a:latin typeface="Gill Sans MT" panose="020B0502020104020203" pitchFamily="34" charset="0"/>
                <a:cs typeface="Times New Roman" panose="02020603050405020304" pitchFamily="18" charset="0"/>
              </a:rPr>
              <a:t>Aim and Objectives of the study</a:t>
            </a:r>
            <a:endParaRPr lang="en-US" sz="2400" dirty="0">
              <a:solidFill>
                <a:prstClr val="black"/>
              </a:solidFill>
              <a:latin typeface="Gill Sans MT" panose="020B0502020104020203" pitchFamily="34" charset="0"/>
              <a:cs typeface="Times New Roman" panose="02020603050405020304" pitchFamily="18" charset="0"/>
            </a:endParaRPr>
          </a:p>
          <a:p>
            <a:pPr lvl="0" algn="just">
              <a:lnSpc>
                <a:spcPct val="150000"/>
              </a:lnSpc>
            </a:pPr>
            <a:r>
              <a:rPr lang="en-GB" sz="2400" dirty="0" smtClean="0">
                <a:solidFill>
                  <a:prstClr val="black"/>
                </a:solidFill>
                <a:latin typeface="Gill Sans MT" panose="020B0502020104020203" pitchFamily="34" charset="0"/>
                <a:cs typeface="Times New Roman" panose="02020603050405020304" pitchFamily="18" charset="0"/>
              </a:rPr>
              <a:t>Significance of the study</a:t>
            </a:r>
            <a:endParaRPr lang="en-US" sz="2400" dirty="0">
              <a:solidFill>
                <a:prstClr val="black"/>
              </a:solidFill>
              <a:latin typeface="Gill Sans MT" panose="020B0502020104020203" pitchFamily="34" charset="0"/>
              <a:cs typeface="Times New Roman" panose="02020603050405020304" pitchFamily="18" charset="0"/>
            </a:endParaRPr>
          </a:p>
          <a:p>
            <a:pPr lvl="0" algn="just">
              <a:lnSpc>
                <a:spcPct val="150000"/>
              </a:lnSpc>
            </a:pPr>
            <a:r>
              <a:rPr lang="en-GB" sz="2400" dirty="0" smtClean="0">
                <a:solidFill>
                  <a:prstClr val="black"/>
                </a:solidFill>
                <a:latin typeface="Gill Sans MT" panose="020B0502020104020203" pitchFamily="34" charset="0"/>
                <a:cs typeface="Times New Roman" panose="02020603050405020304" pitchFamily="18" charset="0"/>
              </a:rPr>
              <a:t>Materials and methods</a:t>
            </a:r>
          </a:p>
          <a:p>
            <a:pPr lvl="0" algn="just">
              <a:lnSpc>
                <a:spcPct val="150000"/>
              </a:lnSpc>
            </a:pPr>
            <a:r>
              <a:rPr lang="en-GB" sz="2400" dirty="0" smtClean="0">
                <a:solidFill>
                  <a:prstClr val="black"/>
                </a:solidFill>
                <a:latin typeface="Gill Sans MT" panose="020B0502020104020203" pitchFamily="34" charset="0"/>
                <a:cs typeface="Times New Roman" panose="02020603050405020304" pitchFamily="18" charset="0"/>
              </a:rPr>
              <a:t>Expected </a:t>
            </a:r>
            <a:r>
              <a:rPr lang="en-GB" sz="2400" dirty="0" smtClean="0">
                <a:solidFill>
                  <a:prstClr val="black"/>
                </a:solidFill>
                <a:latin typeface="Gill Sans MT" panose="020B0502020104020203" pitchFamily="34" charset="0"/>
                <a:cs typeface="Times New Roman" panose="02020603050405020304" pitchFamily="18" charset="0"/>
              </a:rPr>
              <a:t>results</a:t>
            </a:r>
          </a:p>
          <a:p>
            <a:pPr lvl="0" algn="just">
              <a:lnSpc>
                <a:spcPct val="150000"/>
              </a:lnSpc>
            </a:pPr>
            <a:r>
              <a:rPr lang="en-GB" sz="2400" dirty="0" smtClean="0">
                <a:solidFill>
                  <a:prstClr val="black"/>
                </a:solidFill>
                <a:latin typeface="Gill Sans MT" panose="020B0502020104020203" pitchFamily="34" charset="0"/>
                <a:cs typeface="Times New Roman" panose="02020603050405020304" pitchFamily="18" charset="0"/>
              </a:rPr>
              <a:t>Conclusions</a:t>
            </a:r>
            <a:endParaRPr lang="en-US" sz="2400" dirty="0">
              <a:solidFill>
                <a:prstClr val="black"/>
              </a:solidFill>
              <a:latin typeface="Gill Sans MT" panose="020B0502020104020203" pitchFamily="34" charset="0"/>
              <a:cs typeface="Times New Roman" panose="02020603050405020304" pitchFamily="18" charset="0"/>
            </a:endParaRPr>
          </a:p>
          <a:p>
            <a:pPr lvl="0">
              <a:lnSpc>
                <a:spcPct val="150000"/>
              </a:lnSpc>
            </a:pPr>
            <a:endParaRPr lang="en-US" sz="2800" dirty="0">
              <a:solidFill>
                <a:prstClr val="black"/>
              </a:solidFill>
              <a:latin typeface="Gill Sans MT" panose="020B0502020104020203" pitchFamily="34" charset="0"/>
              <a:cs typeface="Times New Roman" panose="02020603050405020304" pitchFamily="18" charset="0"/>
            </a:endParaRPr>
          </a:p>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 y="152400"/>
            <a:ext cx="8997696" cy="6553200"/>
          </a:xfrm>
        </p:spPr>
        <p:txBody>
          <a:bodyPr>
            <a:normAutofit/>
          </a:bodyPr>
          <a:lstStyle/>
          <a:p>
            <a:pPr marL="658368" lvl="2" indent="0" algn="just">
              <a:spcBef>
                <a:spcPts val="0"/>
              </a:spcBef>
              <a:spcAft>
                <a:spcPts val="1200"/>
              </a:spcAft>
              <a:buNone/>
            </a:pPr>
            <a:r>
              <a:rPr lang="en-US" sz="2500" b="1" dirty="0">
                <a:latin typeface="Arial" panose="020B0604020202020204" pitchFamily="34" charset="0"/>
                <a:cs typeface="Arial" pitchFamily="34" charset="0"/>
              </a:rPr>
              <a:t>		         </a:t>
            </a:r>
            <a:r>
              <a:rPr lang="en-US" sz="3600" b="1" dirty="0">
                <a:latin typeface="+mj-lt"/>
                <a:cs typeface="Arial" pitchFamily="34" charset="0"/>
              </a:rPr>
              <a:t>INTRODUCTION</a:t>
            </a:r>
            <a:endParaRPr lang="en-US" sz="3600" dirty="0">
              <a:latin typeface="+mj-lt"/>
              <a:cs typeface="Arial" pitchFamily="34" charset="0"/>
            </a:endParaRPr>
          </a:p>
          <a:p>
            <a:pPr marL="365125" indent="-365125" algn="just">
              <a:lnSpc>
                <a:spcPct val="150000"/>
              </a:lnSpc>
              <a:buFont typeface="Wingdings" pitchFamily="2" charset="2"/>
              <a:buChar char="q"/>
            </a:pPr>
            <a:r>
              <a:rPr lang="en-US" sz="2000" dirty="0" smtClean="0"/>
              <a:t>Carbon steel pipelines play a crucial role in oil and gas transportation but are highly susceptible to corrosion due to exposure to harsh environments. Corrosion leads to material degradation, safety hazards, and economic losses, accounting for about 25% of failures in the industry (</a:t>
            </a:r>
            <a:r>
              <a:rPr lang="en-US" sz="2000" dirty="0" err="1" smtClean="0"/>
              <a:t>Solovyeva</a:t>
            </a:r>
            <a:r>
              <a:rPr lang="en-US" sz="2000" dirty="0" smtClean="0"/>
              <a:t> </a:t>
            </a:r>
            <a:r>
              <a:rPr lang="en-US" sz="2000" i="1" dirty="0" smtClean="0"/>
              <a:t>et al.,</a:t>
            </a:r>
            <a:r>
              <a:rPr lang="en-US" sz="2000" dirty="0" smtClean="0"/>
              <a:t> 2023). </a:t>
            </a:r>
            <a:endParaRPr lang="en-US" sz="2000" dirty="0">
              <a:cs typeface="Arial" panose="020B0604020202020204" pitchFamily="34" charset="0"/>
            </a:endParaRPr>
          </a:p>
          <a:p>
            <a:pPr marL="365125" indent="-365125" algn="just">
              <a:lnSpc>
                <a:spcPct val="150000"/>
              </a:lnSpc>
              <a:buFont typeface="Wingdings" pitchFamily="2" charset="2"/>
              <a:buChar char="q"/>
            </a:pPr>
            <a:r>
              <a:rPr lang="en-US" sz="2000" dirty="0" smtClean="0"/>
              <a:t>Super-hydrophobic coatings have emerged as a promising alternative, reducing the contact between water and steel surfaces, thereby minimizing corrosion (Ferrari </a:t>
            </a:r>
            <a:r>
              <a:rPr lang="en-US" sz="2000" i="1" dirty="0" smtClean="0"/>
              <a:t>et al.</a:t>
            </a:r>
            <a:r>
              <a:rPr lang="en-US" sz="2000" dirty="0" smtClean="0"/>
              <a:t>, 2019). </a:t>
            </a:r>
            <a:endParaRPr lang="en-US" sz="2000" dirty="0">
              <a:cs typeface="Arial" panose="020B0604020202020204" pitchFamily="34" charset="0"/>
            </a:endParaRPr>
          </a:p>
          <a:p>
            <a:pPr marL="365125" indent="-365125" algn="just">
              <a:lnSpc>
                <a:spcPct val="150000"/>
              </a:lnSpc>
              <a:buFont typeface="Wingdings" pitchFamily="2" charset="2"/>
              <a:buChar char="q"/>
            </a:pPr>
            <a:r>
              <a:rPr lang="en-US" sz="2000" dirty="0" smtClean="0"/>
              <a:t>Biochar, a carbon-rich material derived from biomass, has gained attention as an environmentally friendly and cost-effective material for these coatings(Zhang </a:t>
            </a:r>
            <a:r>
              <a:rPr lang="en-US" sz="2000" i="1" dirty="0" smtClean="0"/>
              <a:t>et al.</a:t>
            </a:r>
            <a:r>
              <a:rPr lang="en-US" sz="2000" dirty="0" smtClean="0"/>
              <a:t>, 2020). </a:t>
            </a:r>
            <a:endParaRPr lang="en-GB" sz="2000"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3</a:t>
            </a:fld>
            <a:endParaRPr lang="en-US" dirty="0"/>
          </a:p>
        </p:txBody>
      </p:sp>
    </p:spTree>
    <p:extLst>
      <p:ext uri="{BB962C8B-B14F-4D97-AF65-F5344CB8AC3E}">
        <p14:creationId xmlns:p14="http://schemas.microsoft.com/office/powerpoint/2010/main" xmlns="" val="5484561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 y="228600"/>
            <a:ext cx="8997696" cy="6477000"/>
          </a:xfrm>
        </p:spPr>
        <p:txBody>
          <a:bodyPr>
            <a:noAutofit/>
          </a:bodyPr>
          <a:lstStyle/>
          <a:p>
            <a:pPr marL="0" indent="0" algn="ctr">
              <a:spcAft>
                <a:spcPts val="1200"/>
              </a:spcAft>
              <a:buNone/>
              <a:tabLst>
                <a:tab pos="271463" algn="l"/>
              </a:tabLst>
            </a:pPr>
            <a:r>
              <a:rPr lang="en-GB" sz="3300" b="1" dirty="0" smtClean="0">
                <a:effectLst/>
                <a:latin typeface="+mj-lt"/>
                <a:ea typeface="Calibri" panose="020F0502020204030204" pitchFamily="34" charset="0"/>
              </a:rPr>
              <a:t>STATEMENT OF THE PROBLEM</a:t>
            </a:r>
            <a:endParaRPr lang="en-US" sz="3300" b="1" dirty="0">
              <a:effectLst/>
              <a:latin typeface="+mj-lt"/>
              <a:ea typeface="Calibri" panose="020F0502020204030204" pitchFamily="34" charset="0"/>
            </a:endParaRPr>
          </a:p>
          <a:p>
            <a:pPr marL="358775" indent="-358775" algn="just">
              <a:lnSpc>
                <a:spcPct val="150000"/>
              </a:lnSpc>
              <a:spcAft>
                <a:spcPts val="1900"/>
              </a:spcAft>
              <a:buFont typeface="Wingdings" panose="05000000000000000000" pitchFamily="2" charset="2"/>
              <a:buChar char="q"/>
              <a:tabLst>
                <a:tab pos="185738" algn="l"/>
                <a:tab pos="358775" algn="l"/>
              </a:tabLst>
            </a:pPr>
            <a:r>
              <a:rPr lang="en-US" sz="2000" dirty="0" smtClean="0"/>
              <a:t>In Nigeria, oil and gas companies lose an estimated $765 million annually to corrosion-related damage, with 81% of this cost attributed to chemical treatments and 19% to protective coatings (</a:t>
            </a:r>
            <a:r>
              <a:rPr lang="en-US" sz="2000" dirty="0" err="1" smtClean="0"/>
              <a:t>Ijuo</a:t>
            </a:r>
            <a:r>
              <a:rPr lang="en-US" sz="2000" dirty="0" smtClean="0"/>
              <a:t> </a:t>
            </a:r>
            <a:r>
              <a:rPr lang="en-US" sz="2000" i="1" dirty="0" smtClean="0"/>
              <a:t>et al.,</a:t>
            </a:r>
            <a:r>
              <a:rPr lang="en-US" sz="2000" dirty="0" smtClean="0"/>
              <a:t> 2023). </a:t>
            </a:r>
            <a:r>
              <a:rPr lang="en-GB" sz="2000" dirty="0" smtClean="0">
                <a:effectLst/>
                <a:ea typeface="Calibri" panose="020F0502020204030204" pitchFamily="34" charset="0"/>
              </a:rPr>
              <a:t> </a:t>
            </a:r>
          </a:p>
          <a:p>
            <a:pPr algn="just">
              <a:lnSpc>
                <a:spcPct val="150000"/>
              </a:lnSpc>
            </a:pPr>
            <a:r>
              <a:rPr lang="en-US" sz="2000" dirty="0" smtClean="0"/>
              <a:t>Superhydrophobic coatings have emerged as an alternative solution, aiming to repel water and reduce corrosion. However, real-world applications have revealed critical failures:</a:t>
            </a:r>
          </a:p>
          <a:p>
            <a:pPr algn="just">
              <a:lnSpc>
                <a:spcPct val="150000"/>
              </a:lnSpc>
            </a:pPr>
            <a:r>
              <a:rPr lang="en-US" sz="2000" dirty="0" smtClean="0"/>
              <a:t>1. Mechanical durability issues: Many superhydrophobic coatings lack sufficient abrasion resistance, leading to rapid degradation in high-flow environments such as pipelines.</a:t>
            </a:r>
          </a:p>
          <a:p>
            <a:pPr marL="271463" indent="-271463" algn="just">
              <a:spcAft>
                <a:spcPts val="1900"/>
              </a:spcAft>
              <a:buFont typeface="Wingdings" panose="05000000000000000000" pitchFamily="2" charset="2"/>
              <a:buChar char="q"/>
              <a:tabLst>
                <a:tab pos="271463" algn="l"/>
              </a:tabLst>
            </a:pPr>
            <a:endParaRPr lang="en-GB" sz="1050" dirty="0">
              <a:solidFill>
                <a:srgbClr val="000000"/>
              </a:solidFill>
              <a:effectLst/>
              <a:ea typeface="Calibri" panose="020F0502020204030204" pitchFamily="34" charset="0"/>
            </a:endParaRPr>
          </a:p>
          <a:p>
            <a:pPr marL="271463" indent="-271463" algn="just">
              <a:spcAft>
                <a:spcPts val="600"/>
              </a:spcAft>
              <a:buFont typeface="Wingdings" panose="05000000000000000000" pitchFamily="2" charset="2"/>
              <a:buChar char="q"/>
              <a:tabLst>
                <a:tab pos="271463" algn="l"/>
              </a:tabLst>
            </a:pPr>
            <a:endParaRPr lang="en-US" sz="1400" i="1" dirty="0">
              <a:cs typeface="Arial" pitchFamily="34" charset="0"/>
            </a:endParaRPr>
          </a:p>
        </p:txBody>
      </p:sp>
      <p:sp>
        <p:nvSpPr>
          <p:cNvPr id="7" name="Slide Number Placeholder 6"/>
          <p:cNvSpPr>
            <a:spLocks noGrp="1"/>
          </p:cNvSpPr>
          <p:nvPr>
            <p:ph type="sldNum" sz="quarter" idx="12"/>
          </p:nvPr>
        </p:nvSpPr>
        <p:spPr/>
        <p:txBody>
          <a:bodyPr/>
          <a:lstStyle/>
          <a:p>
            <a:fld id="{41C3B027-99D8-4500-AA7E-8D849F3A1F09}" type="slidenum">
              <a:rPr lang="en-US" smtClean="0"/>
              <a:pPr/>
              <a:t>4</a:t>
            </a:fld>
            <a:endParaRPr lang="en-US" dirty="0"/>
          </a:p>
        </p:txBody>
      </p:sp>
    </p:spTree>
    <p:extLst>
      <p:ext uri="{BB962C8B-B14F-4D97-AF65-F5344CB8AC3E}">
        <p14:creationId xmlns:p14="http://schemas.microsoft.com/office/powerpoint/2010/main" xmlns="" val="11612271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94648" cy="6705600"/>
          </a:xfrm>
        </p:spPr>
        <p:txBody>
          <a:bodyPr>
            <a:noAutofit/>
          </a:bodyPr>
          <a:lstStyle/>
          <a:p>
            <a:pPr algn="just">
              <a:lnSpc>
                <a:spcPct val="150000"/>
              </a:lnSpc>
            </a:pPr>
            <a:r>
              <a:rPr lang="en-US" sz="2000" dirty="0" smtClean="0"/>
              <a:t>2. Loss of </a:t>
            </a:r>
            <a:r>
              <a:rPr lang="en-US" sz="2000" dirty="0" err="1" smtClean="0"/>
              <a:t>hydrophobicity</a:t>
            </a:r>
            <a:r>
              <a:rPr lang="en-US" sz="2000" dirty="0" smtClean="0"/>
              <a:t> over time: Prolonged exposure to oil, saltwater, and extreme temperatures causes degradation of surface roughness and chemical coatings, diminishing their water-repellent properties.</a:t>
            </a:r>
          </a:p>
          <a:p>
            <a:pPr algn="just">
              <a:lnSpc>
                <a:spcPct val="150000"/>
              </a:lnSpc>
            </a:pPr>
            <a:r>
              <a:rPr lang="en-US" sz="2000" dirty="0" smtClean="0"/>
              <a:t>3. Poor adhesion to metal substrates: The coatings often delaminate from carbon steel surfaces under thermal and mechanical stresses.</a:t>
            </a:r>
          </a:p>
          <a:p>
            <a:pPr algn="just">
              <a:lnSpc>
                <a:spcPct val="150000"/>
              </a:lnSpc>
            </a:pPr>
            <a:r>
              <a:rPr lang="en-US" sz="2000" dirty="0" smtClean="0"/>
              <a:t>4. Chemical instability: Fluorine-based hydrophobic agents, commonly used in these coatings, pose environmental concerns and degrade under harsh conditions.</a:t>
            </a:r>
          </a:p>
          <a:p>
            <a:pPr marL="0" indent="0">
              <a:buNone/>
            </a:pPr>
            <a:endParaRPr lang="en-US" sz="2100" dirty="0">
              <a:latin typeface="Arial" pitchFamily="34" charset="0"/>
              <a:cs typeface="Arial" pitchFamily="34" charset="0"/>
            </a:endParaRPr>
          </a:p>
        </p:txBody>
      </p:sp>
    </p:spTree>
    <p:extLst>
      <p:ext uri="{BB962C8B-B14F-4D97-AF65-F5344CB8AC3E}">
        <p14:creationId xmlns:p14="http://schemas.microsoft.com/office/powerpoint/2010/main" xmlns="" val="34432621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324600"/>
          </a:xfrm>
        </p:spPr>
        <p:txBody>
          <a:bodyPr>
            <a:noAutofit/>
          </a:bodyPr>
          <a:lstStyle/>
          <a:p>
            <a:pPr marL="0" indent="0" algn="ctr">
              <a:spcBef>
                <a:spcPts val="0"/>
              </a:spcBef>
              <a:spcAft>
                <a:spcPts val="1200"/>
              </a:spcAft>
              <a:buNone/>
            </a:pPr>
            <a:r>
              <a:rPr lang="en-GB" sz="3000" b="1" dirty="0" smtClean="0">
                <a:cs typeface="Arial" pitchFamily="34" charset="0"/>
              </a:rPr>
              <a:t>AIM AND OBJECTIVES</a:t>
            </a:r>
            <a:endParaRPr lang="en-GB" sz="3000" dirty="0"/>
          </a:p>
          <a:p>
            <a:pPr algn="just">
              <a:lnSpc>
                <a:spcPct val="150000"/>
              </a:lnSpc>
            </a:pPr>
            <a:r>
              <a:rPr lang="en-US" sz="2000" dirty="0" smtClean="0"/>
              <a:t>This study aims to develop and optimize a super-hydrophobic biochar-based coating for corrosion mitigating in carbon steel pipelines.</a:t>
            </a:r>
          </a:p>
          <a:p>
            <a:pPr algn="just">
              <a:lnSpc>
                <a:spcPct val="150000"/>
              </a:lnSpc>
            </a:pPr>
            <a:r>
              <a:rPr lang="en-US" sz="2000" dirty="0" smtClean="0"/>
              <a:t>The objectives of the study are to:-</a:t>
            </a:r>
          </a:p>
          <a:p>
            <a:pPr lvl="1" algn="just"/>
            <a:r>
              <a:rPr lang="en-US" sz="2000" dirty="0" smtClean="0"/>
              <a:t>Synthesize biochar from cocoyam (</a:t>
            </a:r>
            <a:r>
              <a:rPr lang="en-US" sz="2000" i="1" dirty="0" err="1" smtClean="0"/>
              <a:t>Xanthosoma</a:t>
            </a:r>
            <a:r>
              <a:rPr lang="en-US" sz="2000" i="1" dirty="0" smtClean="0"/>
              <a:t> </a:t>
            </a:r>
            <a:r>
              <a:rPr lang="en-US" sz="2000" i="1" dirty="0" err="1" smtClean="0"/>
              <a:t>sagittifolium</a:t>
            </a:r>
            <a:r>
              <a:rPr lang="en-US" sz="2000" dirty="0" smtClean="0"/>
              <a:t>) leaves through </a:t>
            </a:r>
            <a:r>
              <a:rPr lang="en-US" sz="2000" dirty="0" err="1" smtClean="0"/>
              <a:t>pyrolysis</a:t>
            </a:r>
            <a:r>
              <a:rPr lang="en-US" sz="2000" dirty="0" smtClean="0"/>
              <a:t> at different temperatures.</a:t>
            </a:r>
          </a:p>
          <a:p>
            <a:pPr lvl="1" algn="just"/>
            <a:r>
              <a:rPr lang="en-US" sz="2000" dirty="0" smtClean="0"/>
              <a:t>Develop super-hydrophobic biochar based coatings using biochar synthesized from cocoyam leaves.</a:t>
            </a:r>
          </a:p>
          <a:p>
            <a:pPr lvl="1" algn="just"/>
            <a:r>
              <a:rPr lang="en-US" sz="2000" dirty="0" smtClean="0"/>
              <a:t>Characterise the coatings' surface morphology, chemical composition, and hydrophobic properties.</a:t>
            </a:r>
          </a:p>
          <a:p>
            <a:pPr lvl="1" algn="just"/>
            <a:r>
              <a:rPr lang="en-US" sz="2000" dirty="0" smtClean="0"/>
              <a:t>Determine the mechanical properties and corrosion resistance on carbon steel pipes.</a:t>
            </a:r>
          </a:p>
          <a:p>
            <a:pPr lvl="1" algn="just"/>
            <a:r>
              <a:rPr lang="en-US" sz="2000" dirty="0" smtClean="0"/>
              <a:t>Optimize the composition and application of the coating for maximum performance.</a:t>
            </a:r>
          </a:p>
          <a:p>
            <a:pPr>
              <a:buNone/>
            </a:pPr>
            <a:r>
              <a:rPr lang="en-US" sz="2400" dirty="0" smtClean="0"/>
              <a:t> </a:t>
            </a:r>
          </a:p>
          <a:p>
            <a:pPr marL="342900" indent="-342900">
              <a:spcBef>
                <a:spcPts val="0"/>
              </a:spcBef>
              <a:buNone/>
            </a:pPr>
            <a:r>
              <a:rPr lang="en-US" sz="1400" dirty="0"/>
              <a:t/>
            </a:r>
            <a:br>
              <a:rPr lang="en-US" sz="1400" dirty="0"/>
            </a:br>
            <a:endParaRPr lang="en-US" sz="2100" i="1" dirty="0">
              <a:latin typeface="Arial" pitchFamily="34" charset="0"/>
              <a:cs typeface="Arial" pitchFamily="34" charset="0"/>
            </a:endParaRPr>
          </a:p>
          <a:p>
            <a:pPr marL="0" indent="0">
              <a:buNone/>
            </a:pPr>
            <a:endParaRPr lang="en-US" sz="2100" dirty="0">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41C3B027-99D8-4500-AA7E-8D849F3A1F09}" type="slidenum">
              <a:rPr lang="en-US" smtClean="0"/>
              <a:pPr/>
              <a:t>6</a:t>
            </a:fld>
            <a:endParaRPr lang="en-US" dirty="0"/>
          </a:p>
        </p:txBody>
      </p:sp>
    </p:spTree>
    <p:extLst>
      <p:ext uri="{BB962C8B-B14F-4D97-AF65-F5344CB8AC3E}">
        <p14:creationId xmlns:p14="http://schemas.microsoft.com/office/powerpoint/2010/main" xmlns="" val="14918749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610600" cy="5848350"/>
          </a:xfrm>
        </p:spPr>
        <p:txBody>
          <a:bodyPr>
            <a:noAutofit/>
          </a:bodyPr>
          <a:lstStyle/>
          <a:p>
            <a:pPr marL="0" indent="0" algn="ctr">
              <a:spcAft>
                <a:spcPts val="600"/>
              </a:spcAft>
              <a:buNone/>
            </a:pPr>
            <a:r>
              <a:rPr lang="en-US" b="1" dirty="0" smtClean="0">
                <a:latin typeface="+mj-lt"/>
              </a:rPr>
              <a:t>SIGNIFICANCE OF </a:t>
            </a:r>
            <a:r>
              <a:rPr lang="en-US" b="1" dirty="0">
                <a:latin typeface="+mj-lt"/>
              </a:rPr>
              <a:t>THE STUDY</a:t>
            </a:r>
          </a:p>
          <a:p>
            <a:pPr marL="361950" indent="-361950" algn="just">
              <a:lnSpc>
                <a:spcPct val="150000"/>
              </a:lnSpc>
              <a:spcAft>
                <a:spcPts val="600"/>
              </a:spcAft>
              <a:buFont typeface="Wingdings" panose="05000000000000000000" pitchFamily="2" charset="2"/>
              <a:buChar char="q"/>
            </a:pPr>
            <a:r>
              <a:rPr lang="en-US" sz="2000" dirty="0" smtClean="0"/>
              <a:t>The development of a superhydrophobic biochar-based coating represents a transformative solution for mitigating corrosion in carbon steel pipelines within the oil and gas industry. This innovation integrates biochar, a cost-effective and sustainable material, to create a robust, water-repellent coating that addresses the limitations of conventional coatings</a:t>
            </a:r>
            <a:endParaRPr lang="en-GB" sz="2000" dirty="0" smtClean="0"/>
          </a:p>
          <a:p>
            <a:pPr marL="0" indent="0">
              <a:spcAft>
                <a:spcPts val="600"/>
              </a:spcAft>
              <a:buNone/>
            </a:pPr>
            <a:endParaRPr lang="en-US" sz="1800" dirty="0">
              <a:latin typeface="Arial" pitchFamily="34" charset="0"/>
              <a:cs typeface="Arial" pitchFamily="34" charset="0"/>
            </a:endParaRPr>
          </a:p>
          <a:p>
            <a:pPr marL="0" indent="0" algn="just">
              <a:buNone/>
            </a:pPr>
            <a:endParaRPr lang="en-US" sz="1800" i="1" dirty="0">
              <a:latin typeface="Arial" pitchFamily="34" charset="0"/>
              <a:cs typeface="Arial" pitchFamily="34" charset="0"/>
            </a:endParaRPr>
          </a:p>
          <a:p>
            <a:pPr marL="0" indent="0" algn="just">
              <a:buFont typeface="Wingdings" pitchFamily="2" charset="2"/>
              <a:buChar char="q"/>
            </a:pPr>
            <a:endParaRPr lang="en-US" sz="1800" i="1" dirty="0">
              <a:latin typeface="Arial" pitchFamily="34" charset="0"/>
              <a:cs typeface="Arial" pitchFamily="34" charset="0"/>
            </a:endParaRPr>
          </a:p>
          <a:p>
            <a:pPr marL="0" indent="0" algn="just">
              <a:buNone/>
            </a:pPr>
            <a:endParaRPr lang="en-US" sz="1800" i="1" dirty="0">
              <a:latin typeface="Arial" pitchFamily="34" charset="0"/>
              <a:cs typeface="Arial" pitchFamily="34" charset="0"/>
            </a:endParaRPr>
          </a:p>
          <a:p>
            <a:pPr marL="0" indent="0">
              <a:buNone/>
            </a:pPr>
            <a:endParaRPr lang="en-US" sz="1800" dirty="0">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41C3B027-99D8-4500-AA7E-8D849F3A1F09}" type="slidenum">
              <a:rPr lang="en-US" smtClean="0"/>
              <a:pPr/>
              <a:t>7</a:t>
            </a:fld>
            <a:endParaRPr lang="en-US" dirty="0"/>
          </a:p>
        </p:txBody>
      </p:sp>
    </p:spTree>
    <p:extLst>
      <p:ext uri="{BB962C8B-B14F-4D97-AF65-F5344CB8AC3E}">
        <p14:creationId xmlns:p14="http://schemas.microsoft.com/office/powerpoint/2010/main" xmlns="" val="37777816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14290"/>
            <a:ext cx="8628888" cy="700110"/>
          </a:xfrm>
        </p:spPr>
        <p:txBody>
          <a:bodyPr>
            <a:noAutofit/>
          </a:bodyPr>
          <a:lstStyle/>
          <a:p>
            <a:pPr algn="ctr"/>
            <a:r>
              <a:rPr lang="en-US" sz="3000" b="1" dirty="0" smtClean="0">
                <a:solidFill>
                  <a:schemeClr val="tx1"/>
                </a:solidFill>
                <a:effectLst/>
                <a:cs typeface="Arial" pitchFamily="34" charset="0"/>
              </a:rPr>
              <a:t>MATERIALS AND METHODS</a:t>
            </a:r>
            <a:r>
              <a:rPr lang="en-US" sz="2400" dirty="0">
                <a:solidFill>
                  <a:schemeClr val="tx1"/>
                </a:solidFill>
                <a:effectLst/>
                <a:cs typeface="Arial" pitchFamily="34" charset="0"/>
              </a:rPr>
              <a:t/>
            </a:r>
            <a:br>
              <a:rPr lang="en-US" sz="2400" dirty="0">
                <a:solidFill>
                  <a:schemeClr val="tx1"/>
                </a:solidFill>
                <a:effectLst/>
                <a:cs typeface="Arial" pitchFamily="34" charset="0"/>
              </a:rPr>
            </a:br>
            <a:endParaRPr lang="en-US" sz="2400" dirty="0">
              <a:solidFill>
                <a:schemeClr val="tx1"/>
              </a:solidFill>
              <a:effectLst/>
              <a:cs typeface="Arial" pitchFamily="34" charset="0"/>
            </a:endParaRPr>
          </a:p>
        </p:txBody>
      </p:sp>
      <p:sp>
        <p:nvSpPr>
          <p:cNvPr id="3" name="Content Placeholder 2"/>
          <p:cNvSpPr>
            <a:spLocks noGrp="1"/>
          </p:cNvSpPr>
          <p:nvPr>
            <p:ph idx="1"/>
          </p:nvPr>
        </p:nvSpPr>
        <p:spPr>
          <a:xfrm>
            <a:off x="76200" y="838200"/>
            <a:ext cx="8994648" cy="5943600"/>
          </a:xfrm>
          <a:noFill/>
        </p:spPr>
        <p:txBody>
          <a:bodyPr>
            <a:noAutofit/>
          </a:bodyPr>
          <a:lstStyle/>
          <a:p>
            <a:pPr algn="just">
              <a:lnSpc>
                <a:spcPct val="150000"/>
              </a:lnSpc>
            </a:pPr>
            <a:r>
              <a:rPr lang="en-US" sz="2000" b="1" dirty="0" smtClean="0"/>
              <a:t>Materials</a:t>
            </a:r>
            <a:endParaRPr lang="en-US" sz="2000" dirty="0" smtClean="0"/>
          </a:p>
          <a:p>
            <a:pPr algn="just">
              <a:lnSpc>
                <a:spcPct val="150000"/>
              </a:lnSpc>
            </a:pPr>
            <a:r>
              <a:rPr lang="en-US" sz="2000" dirty="0" smtClean="0"/>
              <a:t>A carbon steel substrate (ASTM A106) with the following measurements: 2.0 cm x 1.0 cm x 0.1 cm will be used. Cocoyam leaves (</a:t>
            </a:r>
            <a:r>
              <a:rPr lang="en-US" sz="2000" i="1" dirty="0" err="1" smtClean="0"/>
              <a:t>Xanthosoma</a:t>
            </a:r>
            <a:r>
              <a:rPr lang="en-US" sz="2000" i="1" dirty="0" smtClean="0"/>
              <a:t> </a:t>
            </a:r>
            <a:r>
              <a:rPr lang="en-US" sz="2000" i="1" dirty="0" err="1" smtClean="0"/>
              <a:t>sagattifolium</a:t>
            </a:r>
            <a:r>
              <a:rPr lang="en-US" sz="2000" dirty="0" smtClean="0"/>
              <a:t>) will be collected in accordance with institutional, national, and international guidelines. </a:t>
            </a:r>
            <a:r>
              <a:rPr lang="en-US" sz="2000" dirty="0" err="1" smtClean="0"/>
              <a:t>Ultrasonicator</a:t>
            </a:r>
            <a:r>
              <a:rPr lang="en-US" sz="2000" dirty="0" smtClean="0"/>
              <a:t> (</a:t>
            </a:r>
            <a:r>
              <a:rPr lang="en-US" sz="2000" dirty="0" err="1" smtClean="0"/>
              <a:t>Hielscher</a:t>
            </a:r>
            <a:r>
              <a:rPr lang="en-US" sz="2000" dirty="0" smtClean="0"/>
              <a:t> UP100H), </a:t>
            </a:r>
            <a:r>
              <a:rPr lang="en-US" sz="2000" dirty="0" err="1" smtClean="0"/>
              <a:t>Bisphenol</a:t>
            </a:r>
            <a:r>
              <a:rPr lang="en-US" sz="2000" dirty="0" smtClean="0"/>
              <a:t> A </a:t>
            </a:r>
            <a:r>
              <a:rPr lang="en-US" sz="2000" dirty="0" err="1" smtClean="0"/>
              <a:t>diglycidyl</a:t>
            </a:r>
            <a:r>
              <a:rPr lang="en-US" sz="2000" dirty="0" smtClean="0"/>
              <a:t> ether (BADGE) epoxy resin and </a:t>
            </a:r>
            <a:r>
              <a:rPr lang="en-US" sz="2000" dirty="0" err="1" smtClean="0"/>
              <a:t>Jeffamine</a:t>
            </a:r>
            <a:r>
              <a:rPr lang="en-US" sz="2000" dirty="0" smtClean="0"/>
              <a:t> D230, anhydrous ethanol, zirconium IV oxide, sodium chloride, and sodium hydroxide of analytical grade will be used.</a:t>
            </a:r>
            <a:endParaRPr lang="en-US" sz="2000" dirty="0"/>
          </a:p>
        </p:txBody>
      </p:sp>
      <p:sp>
        <p:nvSpPr>
          <p:cNvPr id="6" name="Slide Number Placeholder 5"/>
          <p:cNvSpPr>
            <a:spLocks noGrp="1"/>
          </p:cNvSpPr>
          <p:nvPr>
            <p:ph type="sldNum" sz="quarter" idx="12"/>
          </p:nvPr>
        </p:nvSpPr>
        <p:spPr/>
        <p:txBody>
          <a:bodyPr/>
          <a:lstStyle/>
          <a:p>
            <a:fld id="{41C3B027-99D8-4500-AA7E-8D849F3A1F09}" type="slidenum">
              <a:rPr lang="en-US" smtClean="0"/>
              <a:pPr/>
              <a:t>8</a:t>
            </a:fld>
            <a:endParaRPr lang="en-US" dirty="0"/>
          </a:p>
        </p:txBody>
      </p:sp>
    </p:spTree>
    <p:extLst>
      <p:ext uri="{BB962C8B-B14F-4D97-AF65-F5344CB8AC3E}">
        <p14:creationId xmlns:p14="http://schemas.microsoft.com/office/powerpoint/2010/main" xmlns="" val="15918133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 y="76200"/>
            <a:ext cx="8997696" cy="6705600"/>
          </a:xfrm>
        </p:spPr>
        <p:txBody>
          <a:bodyPr>
            <a:noAutofit/>
          </a:bodyPr>
          <a:lstStyle/>
          <a:p>
            <a:pPr marL="0" indent="0" algn="ctr">
              <a:spcAft>
                <a:spcPts val="600"/>
              </a:spcAft>
              <a:buNone/>
            </a:pPr>
            <a:endParaRPr lang="en-US" sz="3000" b="1" dirty="0">
              <a:latin typeface="+mj-lt"/>
            </a:endParaRPr>
          </a:p>
          <a:p>
            <a:r>
              <a:rPr lang="en-US" sz="2800" b="1" dirty="0" smtClean="0"/>
              <a:t>Methods</a:t>
            </a:r>
            <a:endParaRPr lang="en-US" sz="2800" dirty="0" smtClean="0"/>
          </a:p>
          <a:p>
            <a:pPr algn="just">
              <a:lnSpc>
                <a:spcPct val="150000"/>
              </a:lnSpc>
            </a:pPr>
            <a:r>
              <a:rPr lang="en-US" sz="2000" dirty="0" smtClean="0"/>
              <a:t>Biochar is synthesized from cocoyam leaves by first washing the leaves to remove impurities, then air-drying it before placing it in an oven at 60°C for 24 hours. The clean, dried cocoyam leaves is then processed into a fine powder using size reduction machinery (hammer mill; Pellet master, </a:t>
            </a:r>
            <a:r>
              <a:rPr lang="en-US" sz="2000" dirty="0" err="1" smtClean="0"/>
              <a:t>Ecostan</a:t>
            </a:r>
            <a:r>
              <a:rPr lang="en-US" sz="2000" dirty="0" smtClean="0"/>
              <a:t>). The biochar is produced by </a:t>
            </a:r>
            <a:r>
              <a:rPr lang="en-US" sz="2000" dirty="0" err="1" smtClean="0"/>
              <a:t>pyrolyzing</a:t>
            </a:r>
            <a:r>
              <a:rPr lang="en-US" sz="2000" dirty="0" smtClean="0"/>
              <a:t> of the fine powder for three hours at different temperatures in a muffle furnace. ZrO</a:t>
            </a:r>
            <a:r>
              <a:rPr lang="en-US" sz="2000" baseline="-25000" dirty="0" smtClean="0"/>
              <a:t>2</a:t>
            </a:r>
            <a:r>
              <a:rPr lang="en-US" sz="2000" dirty="0" smtClean="0"/>
              <a:t> is added to 100mL of </a:t>
            </a:r>
            <a:r>
              <a:rPr lang="en-US" sz="2000" dirty="0" err="1" smtClean="0"/>
              <a:t>deionized</a:t>
            </a:r>
            <a:r>
              <a:rPr lang="en-US" sz="2000" dirty="0" smtClean="0"/>
              <a:t> water containing 10g of cocoyam leaves fine powder at a wt% ratio of 1:10 for ZrO</a:t>
            </a:r>
            <a:r>
              <a:rPr lang="en-US" sz="2000" baseline="-25000" dirty="0" smtClean="0"/>
              <a:t>2</a:t>
            </a:r>
            <a:r>
              <a:rPr lang="en-US" sz="2000" dirty="0" smtClean="0"/>
              <a:t>: cocoyam leaves powder. The mixture is </a:t>
            </a:r>
            <a:r>
              <a:rPr lang="en-US" sz="2000" dirty="0" err="1" smtClean="0"/>
              <a:t>sonicated</a:t>
            </a:r>
            <a:r>
              <a:rPr lang="en-US" sz="2000" dirty="0" smtClean="0"/>
              <a:t> for 30 minutes and then stirred for 1 hour. Subsequently, the mixture is oven-dried at 60°C overnight and then </a:t>
            </a:r>
            <a:r>
              <a:rPr lang="en-US" sz="2000" dirty="0" err="1" smtClean="0"/>
              <a:t>pyrolyzed</a:t>
            </a:r>
            <a:r>
              <a:rPr lang="en-US" sz="2000" dirty="0" smtClean="0"/>
              <a:t> in a muffle furnace at 600°C for three hours to obtain the </a:t>
            </a:r>
            <a:r>
              <a:rPr lang="en-US" sz="2000" dirty="0" err="1" smtClean="0"/>
              <a:t>zirconia</a:t>
            </a:r>
            <a:r>
              <a:rPr lang="en-US" sz="2000" dirty="0" smtClean="0"/>
              <a:t>-modified biochar material, </a:t>
            </a:r>
            <a:r>
              <a:rPr lang="en-US" sz="2000" dirty="0" err="1" smtClean="0"/>
              <a:t>Zr</a:t>
            </a:r>
            <a:r>
              <a:rPr lang="en-US" sz="2000" dirty="0" smtClean="0"/>
              <a:t>-BC</a:t>
            </a:r>
            <a:r>
              <a:rPr lang="en-US" sz="2400" dirty="0" smtClean="0"/>
              <a:t>.</a:t>
            </a:r>
          </a:p>
          <a:p>
            <a:pPr marL="0" indent="0">
              <a:spcAft>
                <a:spcPts val="600"/>
              </a:spcAft>
              <a:buNone/>
            </a:pPr>
            <a:endParaRPr lang="en-US" sz="1800" dirty="0">
              <a:latin typeface="Arial" pitchFamily="34" charset="0"/>
              <a:cs typeface="Arial" pitchFamily="34" charset="0"/>
            </a:endParaRPr>
          </a:p>
          <a:p>
            <a:pPr marL="0" indent="0" algn="just">
              <a:buNone/>
            </a:pPr>
            <a:endParaRPr lang="en-US" sz="1800" i="1" dirty="0">
              <a:latin typeface="Arial" pitchFamily="34" charset="0"/>
              <a:cs typeface="Arial" pitchFamily="34" charset="0"/>
            </a:endParaRPr>
          </a:p>
          <a:p>
            <a:pPr marL="0" indent="0" algn="just">
              <a:buFont typeface="Wingdings" pitchFamily="2" charset="2"/>
              <a:buChar char="q"/>
            </a:pPr>
            <a:endParaRPr lang="en-US" sz="1800" i="1" dirty="0">
              <a:latin typeface="Arial" pitchFamily="34" charset="0"/>
              <a:cs typeface="Arial" pitchFamily="34" charset="0"/>
            </a:endParaRPr>
          </a:p>
          <a:p>
            <a:pPr marL="0" indent="0" algn="just">
              <a:buNone/>
            </a:pPr>
            <a:endParaRPr lang="en-US" sz="1800" i="1" dirty="0">
              <a:latin typeface="Arial" pitchFamily="34" charset="0"/>
              <a:cs typeface="Arial" pitchFamily="34" charset="0"/>
            </a:endParaRPr>
          </a:p>
          <a:p>
            <a:pPr marL="0" indent="0">
              <a:buNone/>
            </a:pPr>
            <a:endParaRPr lang="en-US" sz="1800" dirty="0">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41C3B027-99D8-4500-AA7E-8D849F3A1F09}" type="slidenum">
              <a:rPr lang="en-US" smtClean="0"/>
              <a:pPr/>
              <a:t>9</a:t>
            </a:fld>
            <a:endParaRPr lang="en-US" dirty="0"/>
          </a:p>
        </p:txBody>
      </p:sp>
    </p:spTree>
    <p:extLst>
      <p:ext uri="{BB962C8B-B14F-4D97-AF65-F5344CB8AC3E}">
        <p14:creationId xmlns:p14="http://schemas.microsoft.com/office/powerpoint/2010/main" xmlns="" val="41287230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1C3B027-99D8-4500-AA7E-8D849F3A1F09}" type="slidenum">
              <a:rPr lang="en-US" smtClean="0"/>
              <a:pPr/>
              <a:t>10</a:t>
            </a:fld>
            <a:endParaRPr lang="en-US" dirty="0"/>
          </a:p>
        </p:txBody>
      </p:sp>
      <p:pic>
        <p:nvPicPr>
          <p:cNvPr id="1026" name="Picture 2" descr="C:\Users\David Ayuba Mshelia\Downloads\ChatGPT Image Sep 8, 2025, 12_10_11 PM.png"/>
          <p:cNvPicPr>
            <a:picLocks noGrp="1" noChangeAspect="1" noChangeArrowheads="1"/>
          </p:cNvPicPr>
          <p:nvPr>
            <p:ph idx="1"/>
          </p:nvPr>
        </p:nvPicPr>
        <p:blipFill>
          <a:blip r:embed="rId2"/>
          <a:srcRect/>
          <a:stretch>
            <a:fillRect/>
          </a:stretch>
        </p:blipFill>
        <p:spPr bwMode="auto">
          <a:xfrm>
            <a:off x="285720" y="285728"/>
            <a:ext cx="7996267" cy="5962672"/>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7968" cy="1143000"/>
          </a:xfrm>
        </p:spPr>
        <p:txBody>
          <a:bodyPr>
            <a:normAutofit/>
          </a:bodyPr>
          <a:lstStyle/>
          <a:p>
            <a:pPr algn="ctr"/>
            <a:r>
              <a:rPr lang="en-GB" sz="3000" b="1" dirty="0" smtClean="0">
                <a:solidFill>
                  <a:schemeClr val="tx1"/>
                </a:solidFill>
                <a:effectLst/>
              </a:rPr>
              <a:t>DESIGN</a:t>
            </a:r>
            <a:r>
              <a:rPr lang="en-GB" sz="3000" b="1" dirty="0" smtClean="0">
                <a:solidFill>
                  <a:schemeClr val="tx1"/>
                </a:solidFill>
              </a:rPr>
              <a:t> </a:t>
            </a:r>
            <a:r>
              <a:rPr lang="en-GB" sz="3000" b="1" dirty="0" smtClean="0">
                <a:solidFill>
                  <a:schemeClr val="tx1"/>
                </a:solidFill>
                <a:effectLst/>
              </a:rPr>
              <a:t>OF</a:t>
            </a:r>
            <a:r>
              <a:rPr lang="en-GB" sz="3000" b="1" dirty="0" smtClean="0">
                <a:solidFill>
                  <a:schemeClr val="tx1"/>
                </a:solidFill>
              </a:rPr>
              <a:t> </a:t>
            </a:r>
            <a:r>
              <a:rPr lang="en-GB" sz="3000" b="1" dirty="0" smtClean="0">
                <a:solidFill>
                  <a:schemeClr val="tx1"/>
                </a:solidFill>
                <a:effectLst/>
              </a:rPr>
              <a:t>EXPERIMENT</a:t>
            </a:r>
            <a:endParaRPr lang="en-US" sz="3000" b="1" dirty="0">
              <a:solidFill>
                <a:schemeClr val="tx1"/>
              </a:solidFill>
              <a:effectLst/>
            </a:endParaRPr>
          </a:p>
        </p:txBody>
      </p:sp>
      <p:sp>
        <p:nvSpPr>
          <p:cNvPr id="3" name="Content Placeholder 2"/>
          <p:cNvSpPr>
            <a:spLocks noGrp="1"/>
          </p:cNvSpPr>
          <p:nvPr>
            <p:ph idx="1"/>
          </p:nvPr>
        </p:nvSpPr>
        <p:spPr>
          <a:xfrm>
            <a:off x="285720" y="1447800"/>
            <a:ext cx="8647968" cy="5195910"/>
          </a:xfrm>
        </p:spPr>
        <p:txBody>
          <a:bodyPr/>
          <a:lstStyle/>
          <a:p>
            <a:pPr algn="just">
              <a:lnSpc>
                <a:spcPct val="150000"/>
              </a:lnSpc>
            </a:pPr>
            <a:r>
              <a:rPr lang="en-US" sz="2000" dirty="0" smtClean="0"/>
              <a:t>The </a:t>
            </a:r>
            <a:r>
              <a:rPr lang="en-US" sz="2000" dirty="0" err="1" smtClean="0"/>
              <a:t>sythesis</a:t>
            </a:r>
            <a:r>
              <a:rPr lang="en-US" sz="2000" dirty="0" smtClean="0"/>
              <a:t> of the biochar will be done at different temperatures to obtain low-temperature biochar (600ºC), moderate-temperature biochar (800ºC) and high-temperature biochar (1000ºC). Each of the biochar produced at different temperature will be used at different percentages 10 %, 15%, 20%, 25% and 30% to develop the SHP coatings.</a:t>
            </a:r>
          </a:p>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719406" cy="1143000"/>
          </a:xfrm>
        </p:spPr>
        <p:txBody>
          <a:bodyPr>
            <a:normAutofit/>
          </a:bodyPr>
          <a:lstStyle/>
          <a:p>
            <a:pPr algn="ctr"/>
            <a:r>
              <a:rPr lang="en-GB" sz="3000" b="1" dirty="0" smtClean="0">
                <a:solidFill>
                  <a:schemeClr val="tx1"/>
                </a:solidFill>
                <a:effectLst/>
              </a:rPr>
              <a:t>DATA ANALYSIS</a:t>
            </a:r>
            <a:endParaRPr lang="en-US" sz="3000" b="1" dirty="0">
              <a:solidFill>
                <a:schemeClr val="tx1"/>
              </a:solidFill>
              <a:effectLst/>
            </a:endParaRPr>
          </a:p>
        </p:txBody>
      </p:sp>
      <p:sp>
        <p:nvSpPr>
          <p:cNvPr id="3" name="Content Placeholder 2"/>
          <p:cNvSpPr>
            <a:spLocks noGrp="1"/>
          </p:cNvSpPr>
          <p:nvPr>
            <p:ph idx="1"/>
          </p:nvPr>
        </p:nvSpPr>
        <p:spPr>
          <a:xfrm>
            <a:off x="214282" y="1447800"/>
            <a:ext cx="8719406" cy="4800600"/>
          </a:xfrm>
        </p:spPr>
        <p:txBody>
          <a:bodyPr>
            <a:normAutofit fontScale="62500" lnSpcReduction="20000"/>
          </a:bodyPr>
          <a:lstStyle/>
          <a:p>
            <a:pPr algn="just">
              <a:lnSpc>
                <a:spcPct val="170000"/>
              </a:lnSpc>
            </a:pPr>
            <a:r>
              <a:rPr lang="en-US" sz="2900" dirty="0" smtClean="0"/>
              <a:t>The study will apply various analytical and statistical techniques to achieve its objectives:</a:t>
            </a:r>
          </a:p>
          <a:p>
            <a:pPr algn="just">
              <a:lnSpc>
                <a:spcPct val="170000"/>
              </a:lnSpc>
            </a:pPr>
            <a:r>
              <a:rPr lang="en-US" sz="2900" b="1" dirty="0" smtClean="0"/>
              <a:t>Development of Super-Hydrophobic Biochar-Based Coatings</a:t>
            </a:r>
            <a:endParaRPr lang="en-US" sz="2900" dirty="0" smtClean="0"/>
          </a:p>
          <a:p>
            <a:pPr algn="just">
              <a:lnSpc>
                <a:spcPct val="170000"/>
              </a:lnSpc>
            </a:pPr>
            <a:r>
              <a:rPr lang="en-US" sz="2900" b="1" dirty="0" smtClean="0"/>
              <a:t>Objective:</a:t>
            </a:r>
            <a:r>
              <a:rPr lang="en-US" sz="2900" dirty="0" smtClean="0"/>
              <a:t> Develop coatings using biochar derived from cocoyam leaves.</a:t>
            </a:r>
          </a:p>
          <a:p>
            <a:pPr algn="just">
              <a:lnSpc>
                <a:spcPct val="170000"/>
              </a:lnSpc>
            </a:pPr>
            <a:r>
              <a:rPr lang="en-US" sz="2900" b="1" dirty="0" smtClean="0"/>
              <a:t>Analysis Methods:</a:t>
            </a:r>
            <a:endParaRPr lang="en-US" sz="2900" dirty="0" smtClean="0"/>
          </a:p>
          <a:p>
            <a:pPr lvl="1" algn="just">
              <a:lnSpc>
                <a:spcPct val="170000"/>
              </a:lnSpc>
            </a:pPr>
            <a:r>
              <a:rPr lang="en-US" sz="2900" dirty="0" smtClean="0"/>
              <a:t>Fourier Transform Infrared Spectroscopy (FTIR): Identify functional groups in biochar.</a:t>
            </a:r>
          </a:p>
          <a:p>
            <a:pPr lvl="1" algn="just">
              <a:lnSpc>
                <a:spcPct val="170000"/>
              </a:lnSpc>
            </a:pPr>
            <a:r>
              <a:rPr lang="en-US" sz="2900" dirty="0" smtClean="0"/>
              <a:t>X-Ray Diffraction (XRD): Confirm </a:t>
            </a:r>
            <a:r>
              <a:rPr lang="en-US" sz="2900" dirty="0" err="1" smtClean="0"/>
              <a:t>crystallinity</a:t>
            </a:r>
            <a:r>
              <a:rPr lang="en-US" sz="2900" dirty="0" smtClean="0"/>
              <a:t> and phase composition.</a:t>
            </a:r>
          </a:p>
          <a:p>
            <a:pPr lvl="1" algn="just">
              <a:lnSpc>
                <a:spcPct val="170000"/>
              </a:lnSpc>
            </a:pPr>
            <a:r>
              <a:rPr lang="en-US" sz="2900" dirty="0" smtClean="0"/>
              <a:t>Scanning Electron Microscopy (SEM): Examine surface morphology and roughness.</a:t>
            </a:r>
          </a:p>
          <a:p>
            <a:pPr algn="just">
              <a:lnSpc>
                <a:spcPct val="170000"/>
              </a:lnSpc>
            </a:pPr>
            <a:r>
              <a:rPr lang="en-US" sz="2900" b="1" dirty="0" smtClean="0"/>
              <a:t>Statistical Tests (Design Expert):</a:t>
            </a:r>
            <a:r>
              <a:rPr lang="en-US" sz="2900" dirty="0" smtClean="0"/>
              <a:t> One-way ANOVA to evaluate effects of </a:t>
            </a:r>
            <a:r>
              <a:rPr lang="en-US" sz="2900" dirty="0" err="1" smtClean="0"/>
              <a:t>pyrolysis</a:t>
            </a:r>
            <a:r>
              <a:rPr lang="en-US" sz="2900" dirty="0" smtClean="0"/>
              <a:t> temperature on biochar properties.</a:t>
            </a:r>
          </a:p>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7968" cy="1143000"/>
          </a:xfrm>
        </p:spPr>
        <p:txBody>
          <a:bodyPr>
            <a:normAutofit/>
          </a:bodyPr>
          <a:lstStyle/>
          <a:p>
            <a:pPr algn="ctr"/>
            <a:r>
              <a:rPr lang="en-GB" sz="3000" b="1" dirty="0" smtClean="0">
                <a:solidFill>
                  <a:schemeClr val="tx1"/>
                </a:solidFill>
                <a:effectLst/>
              </a:rPr>
              <a:t>DATA ANALYSIS</a:t>
            </a:r>
            <a:endParaRPr lang="en-US" sz="3000" dirty="0"/>
          </a:p>
        </p:txBody>
      </p:sp>
      <p:sp>
        <p:nvSpPr>
          <p:cNvPr id="3" name="Content Placeholder 2"/>
          <p:cNvSpPr>
            <a:spLocks noGrp="1"/>
          </p:cNvSpPr>
          <p:nvPr>
            <p:ph idx="1"/>
          </p:nvPr>
        </p:nvSpPr>
        <p:spPr>
          <a:xfrm>
            <a:off x="285720" y="1428736"/>
            <a:ext cx="8647968" cy="4800600"/>
          </a:xfrm>
        </p:spPr>
        <p:txBody>
          <a:bodyPr>
            <a:normAutofit fontScale="92500" lnSpcReduction="20000"/>
          </a:bodyPr>
          <a:lstStyle/>
          <a:p>
            <a:pPr algn="just">
              <a:lnSpc>
                <a:spcPct val="150000"/>
              </a:lnSpc>
            </a:pPr>
            <a:r>
              <a:rPr lang="en-US" sz="2200" b="1" dirty="0" smtClean="0"/>
              <a:t>Characterization of Surface Morphology, Composition, and Hydrophobic Properties</a:t>
            </a:r>
            <a:endParaRPr lang="en-US" sz="2200" dirty="0" smtClean="0"/>
          </a:p>
          <a:p>
            <a:pPr algn="just">
              <a:lnSpc>
                <a:spcPct val="150000"/>
              </a:lnSpc>
            </a:pPr>
            <a:r>
              <a:rPr lang="en-US" sz="2200" b="1" dirty="0" smtClean="0"/>
              <a:t>Objective:</a:t>
            </a:r>
            <a:r>
              <a:rPr lang="en-US" sz="2200" dirty="0" smtClean="0"/>
              <a:t> Characterize coatings’ morphology, chemical composition, and </a:t>
            </a:r>
            <a:r>
              <a:rPr lang="en-US" sz="2200" dirty="0" err="1" smtClean="0"/>
              <a:t>hydrophobicity</a:t>
            </a:r>
            <a:r>
              <a:rPr lang="en-US" sz="2200" dirty="0" smtClean="0"/>
              <a:t>.</a:t>
            </a:r>
          </a:p>
          <a:p>
            <a:pPr algn="just">
              <a:lnSpc>
                <a:spcPct val="150000"/>
              </a:lnSpc>
            </a:pPr>
            <a:r>
              <a:rPr lang="en-US" sz="2200" b="1" dirty="0" smtClean="0"/>
              <a:t>Analysis Methods:</a:t>
            </a:r>
            <a:endParaRPr lang="en-US" sz="2200" dirty="0" smtClean="0"/>
          </a:p>
          <a:p>
            <a:pPr lvl="1" algn="just">
              <a:lnSpc>
                <a:spcPct val="150000"/>
              </a:lnSpc>
            </a:pPr>
            <a:r>
              <a:rPr lang="en-US" sz="2200" dirty="0" smtClean="0"/>
              <a:t>Contact Angle Measurement (</a:t>
            </a:r>
            <a:r>
              <a:rPr lang="en-US" sz="2200" dirty="0" err="1" smtClean="0"/>
              <a:t>Goniometer</a:t>
            </a:r>
            <a:r>
              <a:rPr lang="en-US" sz="2200" dirty="0" smtClean="0"/>
              <a:t>,  ASTM D7334-08): Determine water contact angle.</a:t>
            </a:r>
          </a:p>
          <a:p>
            <a:pPr lvl="1" algn="just">
              <a:lnSpc>
                <a:spcPct val="150000"/>
              </a:lnSpc>
            </a:pPr>
            <a:r>
              <a:rPr lang="en-US" sz="2200" dirty="0" smtClean="0"/>
              <a:t>SEM Analysis: Assess surface roughness and coating distribution.</a:t>
            </a:r>
          </a:p>
          <a:p>
            <a:pPr algn="just">
              <a:lnSpc>
                <a:spcPct val="150000"/>
              </a:lnSpc>
            </a:pPr>
            <a:r>
              <a:rPr lang="en-US" sz="2200" b="1" dirty="0" smtClean="0"/>
              <a:t>Statistical Tests (Design Expert):</a:t>
            </a:r>
            <a:r>
              <a:rPr lang="en-US" sz="2200" dirty="0" smtClean="0"/>
              <a:t> Regression analysis and ANOVA to compare contact angles across different biochar compositions</a:t>
            </a:r>
            <a:r>
              <a:rPr lang="en-US" sz="2600" dirty="0" smtClean="0"/>
              <a:t>.</a:t>
            </a:r>
          </a:p>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274638"/>
            <a:ext cx="8790844" cy="1143000"/>
          </a:xfrm>
        </p:spPr>
        <p:txBody>
          <a:bodyPr>
            <a:normAutofit/>
          </a:bodyPr>
          <a:lstStyle/>
          <a:p>
            <a:pPr algn="ctr"/>
            <a:r>
              <a:rPr lang="en-GB" sz="3000" b="1" dirty="0" smtClean="0">
                <a:solidFill>
                  <a:schemeClr val="tx1"/>
                </a:solidFill>
                <a:effectLst/>
              </a:rPr>
              <a:t>DATA ANALYSIS</a:t>
            </a:r>
            <a:endParaRPr lang="en-US" sz="3000" dirty="0"/>
          </a:p>
        </p:txBody>
      </p:sp>
      <p:sp>
        <p:nvSpPr>
          <p:cNvPr id="3" name="Content Placeholder 2"/>
          <p:cNvSpPr>
            <a:spLocks noGrp="1"/>
          </p:cNvSpPr>
          <p:nvPr>
            <p:ph idx="1"/>
          </p:nvPr>
        </p:nvSpPr>
        <p:spPr>
          <a:xfrm>
            <a:off x="142844" y="1447800"/>
            <a:ext cx="8790844" cy="4800600"/>
          </a:xfrm>
        </p:spPr>
        <p:txBody>
          <a:bodyPr>
            <a:normAutofit fontScale="92500" lnSpcReduction="10000"/>
          </a:bodyPr>
          <a:lstStyle/>
          <a:p>
            <a:pPr algn="just">
              <a:lnSpc>
                <a:spcPct val="150000"/>
              </a:lnSpc>
            </a:pPr>
            <a:r>
              <a:rPr lang="en-GB" sz="2400" b="1" dirty="0" smtClean="0"/>
              <a:t>Durability and Mechanical Performance Testing</a:t>
            </a:r>
            <a:endParaRPr lang="en-GB" sz="2400" dirty="0" smtClean="0"/>
          </a:p>
          <a:p>
            <a:pPr algn="just">
              <a:lnSpc>
                <a:spcPct val="150000"/>
              </a:lnSpc>
            </a:pPr>
            <a:r>
              <a:rPr lang="en-GB" sz="2400" b="1" dirty="0" smtClean="0"/>
              <a:t>Objective:</a:t>
            </a:r>
            <a:r>
              <a:rPr lang="en-GB" sz="2400" dirty="0" smtClean="0"/>
              <a:t> Assess coatings’ resistance to environmental degradation and mechanical wear.</a:t>
            </a:r>
          </a:p>
          <a:p>
            <a:pPr algn="just">
              <a:lnSpc>
                <a:spcPct val="150000"/>
              </a:lnSpc>
            </a:pPr>
            <a:r>
              <a:rPr lang="en-GB" sz="2400" b="1" dirty="0" smtClean="0"/>
              <a:t>Analysis Methods:</a:t>
            </a:r>
            <a:endParaRPr lang="en-GB" sz="2400" dirty="0" smtClean="0"/>
          </a:p>
          <a:p>
            <a:pPr lvl="1" algn="just">
              <a:lnSpc>
                <a:spcPct val="150000"/>
              </a:lnSpc>
            </a:pPr>
            <a:r>
              <a:rPr lang="en-GB" sz="2400" dirty="0" smtClean="0"/>
              <a:t>Impact Resistance Test (ASTM D2794): Measure coating toughness.</a:t>
            </a:r>
          </a:p>
          <a:p>
            <a:pPr lvl="1" algn="just">
              <a:lnSpc>
                <a:spcPct val="150000"/>
              </a:lnSpc>
            </a:pPr>
            <a:r>
              <a:rPr lang="en-GB" sz="2400" dirty="0" smtClean="0"/>
              <a:t>Abrasion Resistance Test (ASTM D4060): Evaluate wear resistance.</a:t>
            </a:r>
          </a:p>
          <a:p>
            <a:pPr algn="just">
              <a:lnSpc>
                <a:spcPct val="150000"/>
              </a:lnSpc>
            </a:pPr>
            <a:r>
              <a:rPr lang="en-GB" sz="2400" b="1" dirty="0" smtClean="0"/>
              <a:t>Statistical Tests (Design Expert):</a:t>
            </a:r>
            <a:r>
              <a:rPr lang="en-GB" sz="2400" dirty="0" smtClean="0"/>
              <a:t> Two-way ANOVA for environmental exposure effects and paired T-test for performance before and after durability testing.</a:t>
            </a:r>
          </a:p>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505092" cy="1143000"/>
          </a:xfrm>
        </p:spPr>
        <p:txBody>
          <a:bodyPr>
            <a:normAutofit/>
          </a:bodyPr>
          <a:lstStyle/>
          <a:p>
            <a:pPr algn="ctr"/>
            <a:r>
              <a:rPr lang="en-GB" sz="3000" b="1" dirty="0" smtClean="0">
                <a:solidFill>
                  <a:schemeClr val="tx1"/>
                </a:solidFill>
                <a:effectLst/>
              </a:rPr>
              <a:t>DATA ANALYSIS</a:t>
            </a:r>
            <a:endParaRPr lang="en-US" sz="3000" dirty="0"/>
          </a:p>
        </p:txBody>
      </p:sp>
      <p:sp>
        <p:nvSpPr>
          <p:cNvPr id="3" name="Content Placeholder 2"/>
          <p:cNvSpPr>
            <a:spLocks noGrp="1"/>
          </p:cNvSpPr>
          <p:nvPr>
            <p:ph idx="1"/>
          </p:nvPr>
        </p:nvSpPr>
        <p:spPr>
          <a:xfrm>
            <a:off x="428596" y="1447800"/>
            <a:ext cx="8505092" cy="4800600"/>
          </a:xfrm>
        </p:spPr>
        <p:txBody>
          <a:bodyPr>
            <a:normAutofit fontScale="92500"/>
          </a:bodyPr>
          <a:lstStyle/>
          <a:p>
            <a:pPr algn="just">
              <a:lnSpc>
                <a:spcPct val="150000"/>
              </a:lnSpc>
            </a:pPr>
            <a:r>
              <a:rPr lang="en-US" sz="2200" b="1" dirty="0" smtClean="0"/>
              <a:t>Evaluation of Corrosion Resistance</a:t>
            </a:r>
            <a:endParaRPr lang="en-US" sz="2200" dirty="0" smtClean="0"/>
          </a:p>
          <a:p>
            <a:pPr algn="just">
              <a:lnSpc>
                <a:spcPct val="150000"/>
              </a:lnSpc>
            </a:pPr>
            <a:r>
              <a:rPr lang="en-US" sz="2200" b="1" dirty="0" smtClean="0"/>
              <a:t>Objective:</a:t>
            </a:r>
            <a:r>
              <a:rPr lang="en-US" sz="2200" dirty="0" smtClean="0"/>
              <a:t> Evaluate coatings’ ability to resist corrosion on carbon steel.</a:t>
            </a:r>
          </a:p>
          <a:p>
            <a:pPr algn="just">
              <a:lnSpc>
                <a:spcPct val="150000"/>
              </a:lnSpc>
            </a:pPr>
            <a:r>
              <a:rPr lang="en-US" sz="2200" b="1" dirty="0" smtClean="0"/>
              <a:t>Analysis Methods:</a:t>
            </a:r>
            <a:endParaRPr lang="en-US" sz="2200" dirty="0" smtClean="0"/>
          </a:p>
          <a:p>
            <a:pPr lvl="1" algn="just">
              <a:lnSpc>
                <a:spcPct val="150000"/>
              </a:lnSpc>
            </a:pPr>
            <a:r>
              <a:rPr lang="en-US" sz="2200" dirty="0" smtClean="0"/>
              <a:t>Electrochemical Impedance Spectroscopy (EIS, ASTM G106-89): Measure corrosion resistance.</a:t>
            </a:r>
          </a:p>
          <a:p>
            <a:pPr lvl="1" algn="just">
              <a:lnSpc>
                <a:spcPct val="150000"/>
              </a:lnSpc>
            </a:pPr>
            <a:r>
              <a:rPr lang="en-US" sz="2200" dirty="0" smtClean="0"/>
              <a:t>Weight Loss Method: Determine corrosion rate after exposure.</a:t>
            </a:r>
          </a:p>
          <a:p>
            <a:pPr algn="just">
              <a:lnSpc>
                <a:spcPct val="150000"/>
              </a:lnSpc>
            </a:pPr>
            <a:r>
              <a:rPr lang="en-US" sz="2200" b="1" dirty="0" smtClean="0"/>
              <a:t>Statistical Tests (Design Expert):</a:t>
            </a:r>
            <a:r>
              <a:rPr lang="en-US" sz="2200" dirty="0" smtClean="0"/>
              <a:t> T-test for coated vs. uncoated samples, Kaplan-Meier survival analysis for coating durability over time.</a:t>
            </a:r>
          </a:p>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7968" cy="1143000"/>
          </a:xfrm>
        </p:spPr>
        <p:txBody>
          <a:bodyPr>
            <a:normAutofit/>
          </a:bodyPr>
          <a:lstStyle/>
          <a:p>
            <a:pPr algn="ctr"/>
            <a:r>
              <a:rPr lang="en-GB" sz="3000" b="1" dirty="0" smtClean="0">
                <a:solidFill>
                  <a:schemeClr val="tx1"/>
                </a:solidFill>
                <a:effectLst/>
              </a:rPr>
              <a:t>DATA ANALYSIS</a:t>
            </a:r>
            <a:endParaRPr lang="en-US" sz="3000" dirty="0"/>
          </a:p>
        </p:txBody>
      </p:sp>
      <p:sp>
        <p:nvSpPr>
          <p:cNvPr id="3" name="Content Placeholder 2"/>
          <p:cNvSpPr>
            <a:spLocks noGrp="1"/>
          </p:cNvSpPr>
          <p:nvPr>
            <p:ph idx="1"/>
          </p:nvPr>
        </p:nvSpPr>
        <p:spPr>
          <a:xfrm>
            <a:off x="285720" y="1447800"/>
            <a:ext cx="8647968" cy="4800600"/>
          </a:xfrm>
        </p:spPr>
        <p:txBody>
          <a:bodyPr>
            <a:normAutofit fontScale="77500" lnSpcReduction="20000"/>
          </a:bodyPr>
          <a:lstStyle/>
          <a:p>
            <a:pPr algn="just">
              <a:lnSpc>
                <a:spcPct val="160000"/>
              </a:lnSpc>
            </a:pPr>
            <a:r>
              <a:rPr lang="en-GB" sz="2600" b="1" dirty="0" smtClean="0"/>
              <a:t>Optimization of Biochar Composition and Application Parameters</a:t>
            </a:r>
            <a:endParaRPr lang="en-GB" sz="2600" dirty="0" smtClean="0"/>
          </a:p>
          <a:p>
            <a:pPr algn="just">
              <a:lnSpc>
                <a:spcPct val="160000"/>
              </a:lnSpc>
            </a:pPr>
            <a:r>
              <a:rPr lang="en-GB" sz="2600" b="1" dirty="0" smtClean="0"/>
              <a:t>Objective:</a:t>
            </a:r>
            <a:r>
              <a:rPr lang="en-GB" sz="2600" dirty="0" smtClean="0"/>
              <a:t> Optimize composition and processing conditions for best performance.</a:t>
            </a:r>
          </a:p>
          <a:p>
            <a:pPr algn="just">
              <a:lnSpc>
                <a:spcPct val="160000"/>
              </a:lnSpc>
            </a:pPr>
            <a:r>
              <a:rPr lang="en-GB" sz="2600" b="1" dirty="0" smtClean="0"/>
              <a:t>Analysis Methods:</a:t>
            </a:r>
            <a:endParaRPr lang="en-GB" sz="2600" dirty="0" smtClean="0"/>
          </a:p>
          <a:p>
            <a:pPr lvl="1" algn="just">
              <a:lnSpc>
                <a:spcPct val="160000"/>
              </a:lnSpc>
            </a:pPr>
            <a:r>
              <a:rPr lang="en-GB" sz="2600" dirty="0" smtClean="0"/>
              <a:t>Factorial Design in Design Expert: Evaluate biochar ratio, curing temperature, and curing time.</a:t>
            </a:r>
          </a:p>
          <a:p>
            <a:pPr lvl="1" algn="just">
              <a:lnSpc>
                <a:spcPct val="160000"/>
              </a:lnSpc>
            </a:pPr>
            <a:r>
              <a:rPr lang="en-GB" sz="2600" dirty="0" smtClean="0"/>
              <a:t>Response Surface Methodology (RSM): Identify optimal settings for maximum </a:t>
            </a:r>
            <a:r>
              <a:rPr lang="en-GB" sz="2600" dirty="0" err="1" smtClean="0"/>
              <a:t>hydrophobicity</a:t>
            </a:r>
            <a:r>
              <a:rPr lang="en-GB" sz="2600" dirty="0" smtClean="0"/>
              <a:t>.</a:t>
            </a:r>
          </a:p>
          <a:p>
            <a:pPr algn="just">
              <a:lnSpc>
                <a:spcPct val="160000"/>
              </a:lnSpc>
            </a:pPr>
            <a:r>
              <a:rPr lang="en-GB" sz="2600" b="1" dirty="0" smtClean="0"/>
              <a:t>Statistical Tests (Design Expert):</a:t>
            </a:r>
            <a:r>
              <a:rPr lang="en-GB" sz="2600" dirty="0" smtClean="0"/>
              <a:t> Full factorial ANOVA to assess combined factor effects and regression analysis to model variable influences.</a:t>
            </a:r>
          </a:p>
          <a:p>
            <a:endParaRPr lang="en-US" dirty="0"/>
          </a:p>
        </p:txBody>
      </p:sp>
      <p:sp>
        <p:nvSpPr>
          <p:cNvPr id="4" name="Slide Number Placeholder 3"/>
          <p:cNvSpPr>
            <a:spLocks noGrp="1"/>
          </p:cNvSpPr>
          <p:nvPr>
            <p:ph type="sldNum" sz="quarter" idx="12"/>
          </p:nvPr>
        </p:nvSpPr>
        <p:spPr/>
        <p:txBody>
          <a:bodyPr/>
          <a:lstStyle/>
          <a:p>
            <a:fld id="{41C3B027-99D8-4500-AA7E-8D849F3A1F09}" type="slidenum">
              <a:rPr lang="en-US" smtClean="0"/>
              <a:pPr/>
              <a:t>16</a:t>
            </a:fld>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4294967295"/>
          </p:nvPr>
        </p:nvSpPr>
        <p:spPr>
          <a:xfrm>
            <a:off x="323850" y="128586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sp>
        <p:nvSpPr>
          <p:cNvPr id="3" name="TextBox 2">
            <a:extLst>
              <a:ext uri="{FF2B5EF4-FFF2-40B4-BE49-F238E27FC236}">
                <a16:creationId xmlns:a16="http://schemas.microsoft.com/office/drawing/2014/main" xmlns="" id="{BA7691B6-EC74-299D-3574-05F7FAB17CE3}"/>
              </a:ext>
            </a:extLst>
          </p:cNvPr>
          <p:cNvSpPr txBox="1"/>
          <p:nvPr/>
        </p:nvSpPr>
        <p:spPr>
          <a:xfrm>
            <a:off x="0" y="2743200"/>
            <a:ext cx="8820150" cy="707886"/>
          </a:xfrm>
          <a:prstGeom prst="rect">
            <a:avLst/>
          </a:prstGeom>
          <a:noFill/>
        </p:spPr>
        <p:txBody>
          <a:bodyPr wrap="square">
            <a:spAutoFit/>
          </a:bodyPr>
          <a:lstStyle/>
          <a:p>
            <a:pPr marL="0" indent="0" algn="ctr">
              <a:spcAft>
                <a:spcPts val="600"/>
              </a:spcAft>
              <a:buNone/>
            </a:pPr>
            <a:r>
              <a:rPr lang="en-US" sz="4000" b="1" dirty="0" smtClean="0">
                <a:latin typeface="+mj-lt"/>
              </a:rPr>
              <a:t>EXPECTED RESULTS </a:t>
            </a:r>
            <a:endParaRPr lang="en-US" sz="4000" b="1" dirty="0">
              <a:latin typeface="+mj-lt"/>
            </a:endParaRPr>
          </a:p>
        </p:txBody>
      </p:sp>
    </p:spTree>
    <p:extLst>
      <p:ext uri="{BB962C8B-B14F-4D97-AF65-F5344CB8AC3E}">
        <p14:creationId xmlns:p14="http://schemas.microsoft.com/office/powerpoint/2010/main" xmlns="" val="26158301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94648" cy="6705600"/>
          </a:xfrm>
        </p:spPr>
        <p:txBody>
          <a:bodyPr>
            <a:noAutofit/>
          </a:bodyPr>
          <a:lstStyle/>
          <a:p>
            <a:pPr marL="82296" indent="0" algn="ctr">
              <a:spcBef>
                <a:spcPts val="0"/>
              </a:spcBef>
              <a:spcAft>
                <a:spcPts val="2400"/>
              </a:spcAft>
              <a:buNone/>
            </a:pPr>
            <a:r>
              <a:rPr lang="en-US" sz="3100" b="1" dirty="0"/>
              <a:t>CONCLUSIONS</a:t>
            </a:r>
          </a:p>
          <a:p>
            <a:pPr marL="82296" indent="0" algn="ctr">
              <a:spcBef>
                <a:spcPts val="0"/>
              </a:spcBef>
              <a:spcAft>
                <a:spcPts val="2400"/>
              </a:spcAft>
              <a:buNone/>
            </a:pPr>
            <a:endParaRPr lang="en-US" sz="3100" b="1" dirty="0"/>
          </a:p>
          <a:p>
            <a:pPr marL="82296" indent="0" algn="ctr">
              <a:spcBef>
                <a:spcPts val="0"/>
              </a:spcBef>
              <a:spcAft>
                <a:spcPts val="2400"/>
              </a:spcAft>
              <a:buNone/>
            </a:pPr>
            <a:endParaRPr lang="en-US" sz="3100" b="1" dirty="0"/>
          </a:p>
        </p:txBody>
      </p:sp>
      <p:sp>
        <p:nvSpPr>
          <p:cNvPr id="7" name="Slide Number Placeholder 6"/>
          <p:cNvSpPr>
            <a:spLocks noGrp="1"/>
          </p:cNvSpPr>
          <p:nvPr>
            <p:ph type="sldNum" sz="quarter" idx="12"/>
          </p:nvPr>
        </p:nvSpPr>
        <p:spPr/>
        <p:txBody>
          <a:bodyPr/>
          <a:lstStyle/>
          <a:p>
            <a:fld id="{41C3B027-99D8-4500-AA7E-8D849F3A1F09}" type="slidenum">
              <a:rPr lang="en-US" smtClean="0"/>
              <a:pPr/>
              <a:t>18</a:t>
            </a:fld>
            <a:endParaRPr lang="en-US" dirty="0"/>
          </a:p>
        </p:txBody>
      </p:sp>
      <p:sp>
        <p:nvSpPr>
          <p:cNvPr id="4" name="TextBox 3">
            <a:extLst>
              <a:ext uri="{FF2B5EF4-FFF2-40B4-BE49-F238E27FC236}">
                <a16:creationId xmlns:a16="http://schemas.microsoft.com/office/drawing/2014/main" xmlns="" id="{6A25BBAF-4792-B0BD-5C21-EC076237D530}"/>
              </a:ext>
            </a:extLst>
          </p:cNvPr>
          <p:cNvSpPr txBox="1"/>
          <p:nvPr/>
        </p:nvSpPr>
        <p:spPr>
          <a:xfrm>
            <a:off x="73152" y="675412"/>
            <a:ext cx="8994648" cy="461665"/>
          </a:xfrm>
          <a:prstGeom prst="rect">
            <a:avLst/>
          </a:prstGeom>
          <a:noFill/>
        </p:spPr>
        <p:txBody>
          <a:bodyPr wrap="square">
            <a:spAutoFit/>
          </a:bodyPr>
          <a:lstStyle/>
          <a:p>
            <a:pPr marL="361950" indent="-361950" algn="just">
              <a:spcAft>
                <a:spcPts val="600"/>
              </a:spcAft>
              <a:buFont typeface="Wingdings" panose="05000000000000000000" pitchFamily="2" charset="2"/>
              <a:buChar char="q"/>
            </a:pPr>
            <a:endParaRPr lang="en-GB" sz="2400" dirty="0">
              <a:effectLst/>
              <a:ea typeface="Calibri" panose="020F0502020204030204" pitchFamily="34" charset="0"/>
              <a:cs typeface="Times New Roman" panose="02020603050405020304" pitchFamily="18" charset="0"/>
            </a:endParaRPr>
          </a:p>
        </p:txBody>
      </p:sp>
      <p:sp>
        <p:nvSpPr>
          <p:cNvPr id="5" name="Rectangle 4"/>
          <p:cNvSpPr/>
          <p:nvPr/>
        </p:nvSpPr>
        <p:spPr>
          <a:xfrm>
            <a:off x="571472" y="889844"/>
            <a:ext cx="8215370" cy="4654736"/>
          </a:xfrm>
          <a:prstGeom prst="rect">
            <a:avLst/>
          </a:prstGeom>
        </p:spPr>
        <p:txBody>
          <a:bodyPr wrap="square">
            <a:spAutoFit/>
          </a:bodyPr>
          <a:lstStyle/>
          <a:p>
            <a:pPr algn="just">
              <a:lnSpc>
                <a:spcPct val="150000"/>
              </a:lnSpc>
            </a:pPr>
            <a:r>
              <a:rPr lang="en-GB" sz="2000" dirty="0" smtClean="0"/>
              <a:t>- Corrosion in carbon steel pipelines remains a critical challenge in the oil and gas industry, causing high economic losses.</a:t>
            </a:r>
          </a:p>
          <a:p>
            <a:pPr algn="just">
              <a:lnSpc>
                <a:spcPct val="150000"/>
              </a:lnSpc>
            </a:pPr>
            <a:r>
              <a:rPr lang="en-GB" sz="2000" dirty="0" smtClean="0"/>
              <a:t>- Superhydrophobic biochar-based coatings present a sustainable and effective solution by enhancing </a:t>
            </a:r>
            <a:r>
              <a:rPr lang="en-GB" sz="2000" dirty="0" err="1" smtClean="0"/>
              <a:t>hydrophobicity</a:t>
            </a:r>
            <a:r>
              <a:rPr lang="en-GB" sz="2000" dirty="0" smtClean="0"/>
              <a:t>, adhesion, and corrosion resistance.</a:t>
            </a:r>
          </a:p>
          <a:p>
            <a:pPr algn="just">
              <a:lnSpc>
                <a:spcPct val="150000"/>
              </a:lnSpc>
            </a:pPr>
            <a:r>
              <a:rPr lang="en-GB" sz="2000" dirty="0" smtClean="0"/>
              <a:t>- Biochar derived from cocoyam leaves, modified with zirconium and epoxy resin, shows strong potential for durable, eco-friendly protective coatings.</a:t>
            </a:r>
          </a:p>
          <a:p>
            <a:pPr algn="just">
              <a:lnSpc>
                <a:spcPct val="150000"/>
              </a:lnSpc>
            </a:pPr>
            <a:r>
              <a:rPr lang="en-GB" sz="2000" dirty="0" smtClean="0"/>
              <a:t>- The study’s optimization approach will ensure coatings achieve maximum performance under harsh operational conditions.</a:t>
            </a:r>
          </a:p>
          <a:p>
            <a:pPr algn="just">
              <a:lnSpc>
                <a:spcPct val="150000"/>
              </a:lnSpc>
            </a:pPr>
            <a:r>
              <a:rPr lang="en-GB" sz="2000" dirty="0" smtClean="0"/>
              <a:t>- This research contributes to advancing green materials for pipeline integrity management in Nigeria’s oil and gas sector.</a:t>
            </a:r>
            <a:endParaRPr lang="en-GB" sz="2000" dirty="0"/>
          </a:p>
        </p:txBody>
      </p:sp>
    </p:spTree>
    <p:extLst>
      <p:ext uri="{BB962C8B-B14F-4D97-AF65-F5344CB8AC3E}">
        <p14:creationId xmlns:p14="http://schemas.microsoft.com/office/powerpoint/2010/main" xmlns="" val="39904330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idx="4294967295"/>
          </p:nvPr>
        </p:nvSpPr>
        <p:spPr>
          <a:xfrm>
            <a:off x="304800" y="1295400"/>
            <a:ext cx="8112125" cy="4962540"/>
          </a:xfrm>
        </p:spPr>
        <p:txBody>
          <a:bodyPr/>
          <a:lstStyle/>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dirty="0">
              <a:ea typeface="ＭＳ Ｐゴシック" pitchFamily="34" charset="-128"/>
            </a:endParaRPr>
          </a:p>
        </p:txBody>
      </p:sp>
      <p:pic>
        <p:nvPicPr>
          <p:cNvPr id="5" name="Content Placeholder 4">
            <a:extLst>
              <a:ext uri="{FF2B5EF4-FFF2-40B4-BE49-F238E27FC236}">
                <a16:creationId xmlns:a16="http://schemas.microsoft.com/office/drawing/2014/main" xmlns="" id="{BBABB753-00FB-5ACD-3228-393E79C7AB95}"/>
              </a:ext>
            </a:extLst>
          </p:cNvPr>
          <p:cNvPicPr>
            <a:picLocks noChangeAspect="1"/>
          </p:cNvPicPr>
          <p:nvPr/>
        </p:nvPicPr>
        <p:blipFill>
          <a:blip r:embed="rId2">
            <a:extLst>
              <a:ext uri="{BEBA8EAE-BF5A-486C-A8C5-ECC9F3942E4B}">
                <a14:imgProps xmlns:a14="http://schemas.microsoft.com/office/drawing/2010/main" xmlns="">
                  <a14:imgLayer r:embed="rId4">
                    <a14:imgEffect>
                      <a14:saturation sat="0"/>
                    </a14:imgEffect>
                  </a14:imgLayer>
                </a14:imgProps>
              </a:ext>
            </a:extLst>
          </a:blip>
          <a:stretch>
            <a:fillRect/>
          </a:stretch>
        </p:blipFill>
        <p:spPr>
          <a:xfrm>
            <a:off x="3505200" y="1371600"/>
            <a:ext cx="5181600" cy="3962400"/>
          </a:xfrm>
          <a:prstGeom prst="rect">
            <a:avLst/>
          </a:prstGeom>
        </p:spPr>
      </p:pic>
      <p:sp>
        <p:nvSpPr>
          <p:cNvPr id="6" name="TextBox 5">
            <a:extLst>
              <a:ext uri="{FF2B5EF4-FFF2-40B4-BE49-F238E27FC236}">
                <a16:creationId xmlns:a16="http://schemas.microsoft.com/office/drawing/2014/main" xmlns="" id="{3309B08A-50E5-A0FD-4488-922291314E99}"/>
              </a:ext>
            </a:extLst>
          </p:cNvPr>
          <p:cNvSpPr txBox="1"/>
          <p:nvPr/>
        </p:nvSpPr>
        <p:spPr>
          <a:xfrm>
            <a:off x="3810000" y="2767280"/>
            <a:ext cx="4343400" cy="1323439"/>
          </a:xfrm>
          <a:prstGeom prst="rect">
            <a:avLst/>
          </a:prstGeom>
          <a:noFill/>
        </p:spPr>
        <p:txBody>
          <a:bodyPr wrap="square" rtlCol="0">
            <a:spAutoFit/>
          </a:bodyPr>
          <a:lstStyle/>
          <a:p>
            <a:pPr algn="ctr"/>
            <a:r>
              <a:rPr lang="en-US" sz="4000" b="1" dirty="0">
                <a:solidFill>
                  <a:srgbClr val="002060"/>
                </a:solidFill>
                <a:latin typeface="Ink Free" panose="03080402000500000000" pitchFamily="66" charset="0"/>
              </a:rPr>
              <a:t>Thank you for  listening.  </a:t>
            </a:r>
          </a:p>
        </p:txBody>
      </p:sp>
    </p:spTree>
    <p:extLst>
      <p:ext uri="{BB962C8B-B14F-4D97-AF65-F5344CB8AC3E}">
        <p14:creationId xmlns:p14="http://schemas.microsoft.com/office/powerpoint/2010/main" xmlns="" val="352646354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1_nctm_new">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14346</TotalTime>
  <Words>1119</Words>
  <Application>Microsoft Office PowerPoint</Application>
  <PresentationFormat>On-screen Show (4:3)</PresentationFormat>
  <Paragraphs>115</Paragraphs>
  <Slides>19</Slides>
  <Notes>8</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Solstice</vt:lpstr>
      <vt:lpstr>1_nctm_new</vt:lpstr>
      <vt:lpstr>Development and Optimization of  Super-hydrophobic Biochar-infused Coating for Corrosion Protection of Carbon Steel Pipelines in Oil and Gas Facilities</vt:lpstr>
      <vt:lpstr>Outline</vt:lpstr>
      <vt:lpstr>Slide 3</vt:lpstr>
      <vt:lpstr>Slide 4</vt:lpstr>
      <vt:lpstr>Slide 5</vt:lpstr>
      <vt:lpstr>Slide 6</vt:lpstr>
      <vt:lpstr>Slide 7</vt:lpstr>
      <vt:lpstr>MATERIALS AND METHODS </vt:lpstr>
      <vt:lpstr>Slide 9</vt:lpstr>
      <vt:lpstr>Slide 10</vt:lpstr>
      <vt:lpstr>DESIGN OF EXPERIMENT</vt:lpstr>
      <vt:lpstr>DATA ANALYSIS</vt:lpstr>
      <vt:lpstr>DATA ANALYSIS</vt:lpstr>
      <vt:lpstr>DATA ANALYSIS</vt:lpstr>
      <vt:lpstr>DATA ANALYSIS</vt:lpstr>
      <vt:lpstr>DATA ANALYSIS</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INFORMATION AND COMMUNICATION TECHNOLOGY (ICT) IN PAINT INDUSTRY PRODUCT MARKETING IN SOUTH WESTERN NIGERIA  BY   OLOMU, MICHAEL OLUWASEUN TP12/13/H/2469</dc:title>
  <dc:creator>us</dc:creator>
  <cp:lastModifiedBy>David Ayuba Mshelia</cp:lastModifiedBy>
  <cp:revision>2671</cp:revision>
  <cp:lastPrinted>2021-07-13T09:53:54Z</cp:lastPrinted>
  <dcterms:created xsi:type="dcterms:W3CDTF">2014-01-15T07:11:14Z</dcterms:created>
  <dcterms:modified xsi:type="dcterms:W3CDTF">2025-09-11T13:47:41Z</dcterms:modified>
</cp:coreProperties>
</file>