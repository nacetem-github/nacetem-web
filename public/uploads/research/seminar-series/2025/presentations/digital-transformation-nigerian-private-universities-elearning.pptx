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2">
  <p:sldMasterIdLst>
    <p:sldMasterId id="2147483660" r:id="rId1"/>
    <p:sldMasterId id="2147483675" r:id="rId2"/>
    <p:sldMasterId id="2147483687" r:id="rId3"/>
  </p:sldMasterIdLst>
  <p:notesMasterIdLst>
    <p:notesMasterId r:id="rId24"/>
  </p:notesMasterIdLst>
  <p:sldIdLst>
    <p:sldId id="256" r:id="rId4"/>
    <p:sldId id="273" r:id="rId5"/>
    <p:sldId id="257" r:id="rId6"/>
    <p:sldId id="258" r:id="rId7"/>
    <p:sldId id="259" r:id="rId8"/>
    <p:sldId id="282" r:id="rId9"/>
    <p:sldId id="261" r:id="rId10"/>
    <p:sldId id="263" r:id="rId11"/>
    <p:sldId id="275" r:id="rId12"/>
    <p:sldId id="276" r:id="rId13"/>
    <p:sldId id="277" r:id="rId14"/>
    <p:sldId id="278" r:id="rId15"/>
    <p:sldId id="279" r:id="rId16"/>
    <p:sldId id="280" r:id="rId17"/>
    <p:sldId id="271" r:id="rId18"/>
    <p:sldId id="281" r:id="rId19"/>
    <p:sldId id="265" r:id="rId20"/>
    <p:sldId id="267" r:id="rId21"/>
    <p:sldId id="266" r:id="rId22"/>
    <p:sldId id="283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72EBF4-6591-422B-BA10-C918F01C705E}" v="84" dt="2025-07-07T10:04:06.8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971" autoAdjust="0"/>
  </p:normalViewPr>
  <p:slideViewPr>
    <p:cSldViewPr snapToGrid="0" snapToObjects="1">
      <p:cViewPr>
        <p:scale>
          <a:sx n="66" d="100"/>
          <a:sy n="66" d="100"/>
        </p:scale>
        <p:origin x="150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heme" Target="theme/theme1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fe Oyefuga" userId="687e2b22d9c1f0c1" providerId="LiveId" clId="{9B72EBF4-6591-422B-BA10-C918F01C705E}"/>
    <pc:docChg chg="undo redo custSel addSld delSld modSld sldOrd">
      <pc:chgData name="Mofe Oyefuga" userId="687e2b22d9c1f0c1" providerId="LiveId" clId="{9B72EBF4-6591-422B-BA10-C918F01C705E}" dt="2025-07-07T10:04:06.940" v="2041" actId="27636"/>
      <pc:docMkLst>
        <pc:docMk/>
      </pc:docMkLst>
      <pc:sldChg chg="modSp mod">
        <pc:chgData name="Mofe Oyefuga" userId="687e2b22d9c1f0c1" providerId="LiveId" clId="{9B72EBF4-6591-422B-BA10-C918F01C705E}" dt="2025-07-05T11:54:46.407" v="372" actId="20577"/>
        <pc:sldMkLst>
          <pc:docMk/>
          <pc:sldMk cId="0" sldId="256"/>
        </pc:sldMkLst>
        <pc:spChg chg="mod">
          <ac:chgData name="Mofe Oyefuga" userId="687e2b22d9c1f0c1" providerId="LiveId" clId="{9B72EBF4-6591-422B-BA10-C918F01C705E}" dt="2025-07-05T11:54:46.407" v="372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Mofe Oyefuga" userId="687e2b22d9c1f0c1" providerId="LiveId" clId="{9B72EBF4-6591-422B-BA10-C918F01C705E}" dt="2025-07-05T11:48:53.430" v="364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Mofe Oyefuga" userId="687e2b22d9c1f0c1" providerId="LiveId" clId="{9B72EBF4-6591-422B-BA10-C918F01C705E}" dt="2025-07-06T23:43:36.356" v="1304" actId="255"/>
        <pc:sldMkLst>
          <pc:docMk/>
          <pc:sldMk cId="0" sldId="257"/>
        </pc:sldMkLst>
        <pc:spChg chg="mod">
          <ac:chgData name="Mofe Oyefuga" userId="687e2b22d9c1f0c1" providerId="LiveId" clId="{9B72EBF4-6591-422B-BA10-C918F01C705E}" dt="2025-07-06T23:43:36.356" v="1304" actId="255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Mofe Oyefuga" userId="687e2b22d9c1f0c1" providerId="LiveId" clId="{9B72EBF4-6591-422B-BA10-C918F01C705E}" dt="2025-07-06T23:49:20.344" v="1353" actId="20577"/>
        <pc:sldMkLst>
          <pc:docMk/>
          <pc:sldMk cId="0" sldId="258"/>
        </pc:sldMkLst>
        <pc:spChg chg="mod">
          <ac:chgData name="Mofe Oyefuga" userId="687e2b22d9c1f0c1" providerId="LiveId" clId="{9B72EBF4-6591-422B-BA10-C918F01C705E}" dt="2025-07-06T23:49:20.344" v="1353" actId="20577"/>
          <ac:spMkLst>
            <pc:docMk/>
            <pc:sldMk cId="0" sldId="258"/>
            <ac:spMk id="3" creationId="{00000000-0000-0000-0000-000000000000}"/>
          </ac:spMkLst>
        </pc:spChg>
        <pc:spChg chg="add">
          <ac:chgData name="Mofe Oyefuga" userId="687e2b22d9c1f0c1" providerId="LiveId" clId="{9B72EBF4-6591-422B-BA10-C918F01C705E}" dt="2025-07-06T23:45:15.545" v="1307"/>
          <ac:spMkLst>
            <pc:docMk/>
            <pc:sldMk cId="0" sldId="258"/>
            <ac:spMk id="4" creationId="{9EFB51C3-FE0F-CACD-97D7-E237C9882A3C}"/>
          </ac:spMkLst>
        </pc:spChg>
        <pc:spChg chg="add mod">
          <ac:chgData name="Mofe Oyefuga" userId="687e2b22d9c1f0c1" providerId="LiveId" clId="{9B72EBF4-6591-422B-BA10-C918F01C705E}" dt="2025-07-06T23:45:19.977" v="1309"/>
          <ac:spMkLst>
            <pc:docMk/>
            <pc:sldMk cId="0" sldId="258"/>
            <ac:spMk id="5" creationId="{06324AD6-B40A-9A87-4C6E-443D19271D6D}"/>
          </ac:spMkLst>
        </pc:spChg>
        <pc:spChg chg="add">
          <ac:chgData name="Mofe Oyefuga" userId="687e2b22d9c1f0c1" providerId="LiveId" clId="{9B72EBF4-6591-422B-BA10-C918F01C705E}" dt="2025-07-06T23:45:22.829" v="1311"/>
          <ac:spMkLst>
            <pc:docMk/>
            <pc:sldMk cId="0" sldId="258"/>
            <ac:spMk id="6" creationId="{10C05F5D-FF69-4705-4851-588728A0B497}"/>
          </ac:spMkLst>
        </pc:spChg>
      </pc:sldChg>
      <pc:sldChg chg="modSp mod">
        <pc:chgData name="Mofe Oyefuga" userId="687e2b22d9c1f0c1" providerId="LiveId" clId="{9B72EBF4-6591-422B-BA10-C918F01C705E}" dt="2025-07-05T11:01:02.341" v="3" actId="255"/>
        <pc:sldMkLst>
          <pc:docMk/>
          <pc:sldMk cId="0" sldId="259"/>
        </pc:sldMkLst>
        <pc:spChg chg="mod">
          <ac:chgData name="Mofe Oyefuga" userId="687e2b22d9c1f0c1" providerId="LiveId" clId="{9B72EBF4-6591-422B-BA10-C918F01C705E}" dt="2025-07-05T11:01:02.341" v="3" actId="255"/>
          <ac:spMkLst>
            <pc:docMk/>
            <pc:sldMk cId="0" sldId="259"/>
            <ac:spMk id="3" creationId="{00000000-0000-0000-0000-000000000000}"/>
          </ac:spMkLst>
        </pc:spChg>
      </pc:sldChg>
      <pc:sldChg chg="modSp del mod">
        <pc:chgData name="Mofe Oyefuga" userId="687e2b22d9c1f0c1" providerId="LiveId" clId="{9B72EBF4-6591-422B-BA10-C918F01C705E}" dt="2025-07-05T13:21:04.413" v="376" actId="2696"/>
        <pc:sldMkLst>
          <pc:docMk/>
          <pc:sldMk cId="0" sldId="260"/>
        </pc:sldMkLst>
      </pc:sldChg>
      <pc:sldChg chg="addSp delSp modSp mod modClrScheme chgLayout">
        <pc:chgData name="Mofe Oyefuga" userId="687e2b22d9c1f0c1" providerId="LiveId" clId="{9B72EBF4-6591-422B-BA10-C918F01C705E}" dt="2025-07-06T23:57:31.132" v="1777" actId="20577"/>
        <pc:sldMkLst>
          <pc:docMk/>
          <pc:sldMk cId="0" sldId="261"/>
        </pc:sldMkLst>
        <pc:spChg chg="mod ord">
          <ac:chgData name="Mofe Oyefuga" userId="687e2b22d9c1f0c1" providerId="LiveId" clId="{9B72EBF4-6591-422B-BA10-C918F01C705E}" dt="2025-07-06T23:57:31.132" v="1777" actId="20577"/>
          <ac:spMkLst>
            <pc:docMk/>
            <pc:sldMk cId="0" sldId="261"/>
            <ac:spMk id="3" creationId="{00000000-0000-0000-0000-000000000000}"/>
          </ac:spMkLst>
        </pc:spChg>
        <pc:spChg chg="add mod ord">
          <ac:chgData name="Mofe Oyefuga" userId="687e2b22d9c1f0c1" providerId="LiveId" clId="{9B72EBF4-6591-422B-BA10-C918F01C705E}" dt="2025-07-05T11:05:13.489" v="79" actId="1076"/>
          <ac:spMkLst>
            <pc:docMk/>
            <pc:sldMk cId="0" sldId="261"/>
            <ac:spMk id="9" creationId="{314736B4-F0C6-1EC6-165C-AB6FC28388CE}"/>
          </ac:spMkLst>
        </pc:spChg>
        <pc:spChg chg="add mod ord">
          <ac:chgData name="Mofe Oyefuga" userId="687e2b22d9c1f0c1" providerId="LiveId" clId="{9B72EBF4-6591-422B-BA10-C918F01C705E}" dt="2025-07-05T11:05:09.390" v="78" actId="1076"/>
          <ac:spMkLst>
            <pc:docMk/>
            <pc:sldMk cId="0" sldId="261"/>
            <ac:spMk id="10" creationId="{57108156-FF12-C400-2DE7-C5263A999B99}"/>
          </ac:spMkLst>
        </pc:spChg>
        <pc:spChg chg="add mod ord">
          <ac:chgData name="Mofe Oyefuga" userId="687e2b22d9c1f0c1" providerId="LiveId" clId="{9B72EBF4-6591-422B-BA10-C918F01C705E}" dt="2025-07-06T23:57:06.753" v="1742" actId="27636"/>
          <ac:spMkLst>
            <pc:docMk/>
            <pc:sldMk cId="0" sldId="261"/>
            <ac:spMk id="11" creationId="{9FD71A2C-5CB4-3CDD-D43D-AF4B941131E5}"/>
          </ac:spMkLst>
        </pc:spChg>
      </pc:sldChg>
      <pc:sldChg chg="modSp del mod">
        <pc:chgData name="Mofe Oyefuga" userId="687e2b22d9c1f0c1" providerId="LiveId" clId="{9B72EBF4-6591-422B-BA10-C918F01C705E}" dt="2025-07-05T11:05:28.673" v="81" actId="47"/>
        <pc:sldMkLst>
          <pc:docMk/>
          <pc:sldMk cId="0" sldId="262"/>
        </pc:sldMkLst>
      </pc:sldChg>
      <pc:sldChg chg="addSp modSp mod">
        <pc:chgData name="Mofe Oyefuga" userId="687e2b22d9c1f0c1" providerId="LiveId" clId="{9B72EBF4-6591-422B-BA10-C918F01C705E}" dt="2025-07-05T11:02:57.219" v="17" actId="27918"/>
        <pc:sldMkLst>
          <pc:docMk/>
          <pc:sldMk cId="0" sldId="263"/>
        </pc:sldMkLst>
        <pc:spChg chg="mod">
          <ac:chgData name="Mofe Oyefuga" userId="687e2b22d9c1f0c1" providerId="LiveId" clId="{9B72EBF4-6591-422B-BA10-C918F01C705E}" dt="2025-07-05T11:02:21.566" v="9" actId="255"/>
          <ac:spMkLst>
            <pc:docMk/>
            <pc:sldMk cId="0" sldId="263"/>
            <ac:spMk id="3" creationId="{00000000-0000-0000-0000-000000000000}"/>
          </ac:spMkLst>
        </pc:spChg>
        <pc:graphicFrameChg chg="add mod">
          <ac:chgData name="Mofe Oyefuga" userId="687e2b22d9c1f0c1" providerId="LiveId" clId="{9B72EBF4-6591-422B-BA10-C918F01C705E}" dt="2025-07-05T11:02:31.607" v="12" actId="1076"/>
          <ac:graphicFrameMkLst>
            <pc:docMk/>
            <pc:sldMk cId="0" sldId="263"/>
            <ac:graphicFrameMk id="4" creationId="{E44CE8D6-2F89-60C6-F63E-08EF4D11C5CE}"/>
          </ac:graphicFrameMkLst>
        </pc:graphicFrameChg>
      </pc:sldChg>
      <pc:sldChg chg="addSp modSp del mod modClrScheme chgLayout">
        <pc:chgData name="Mofe Oyefuga" userId="687e2b22d9c1f0c1" providerId="LiveId" clId="{9B72EBF4-6591-422B-BA10-C918F01C705E}" dt="2025-07-05T11:45:46.792" v="317" actId="47"/>
        <pc:sldMkLst>
          <pc:docMk/>
          <pc:sldMk cId="0" sldId="264"/>
        </pc:sldMkLst>
      </pc:sldChg>
      <pc:sldChg chg="addSp delSp modSp mod setBg modClrScheme chgLayout modNotesTx">
        <pc:chgData name="Mofe Oyefuga" userId="687e2b22d9c1f0c1" providerId="LiveId" clId="{9B72EBF4-6591-422B-BA10-C918F01C705E}" dt="2025-07-07T00:47:09.558" v="1880" actId="1076"/>
        <pc:sldMkLst>
          <pc:docMk/>
          <pc:sldMk cId="0" sldId="265"/>
        </pc:sldMkLst>
        <pc:spChg chg="mod ord">
          <ac:chgData name="Mofe Oyefuga" userId="687e2b22d9c1f0c1" providerId="LiveId" clId="{9B72EBF4-6591-422B-BA10-C918F01C705E}" dt="2025-07-05T11:20:13.312" v="194" actId="26606"/>
          <ac:spMkLst>
            <pc:docMk/>
            <pc:sldMk cId="0" sldId="265"/>
            <ac:spMk id="2" creationId="{00000000-0000-0000-0000-000000000000}"/>
          </ac:spMkLst>
        </pc:spChg>
        <pc:spChg chg="add mod ord">
          <ac:chgData name="Mofe Oyefuga" userId="687e2b22d9c1f0c1" providerId="LiveId" clId="{9B72EBF4-6591-422B-BA10-C918F01C705E}" dt="2025-07-07T00:46:58.397" v="1878" actId="207"/>
          <ac:spMkLst>
            <pc:docMk/>
            <pc:sldMk cId="0" sldId="265"/>
            <ac:spMk id="5" creationId="{B4810AC9-3B1B-C66A-9A2D-2E5627E04774}"/>
          </ac:spMkLst>
        </pc:spChg>
        <pc:spChg chg="add">
          <ac:chgData name="Mofe Oyefuga" userId="687e2b22d9c1f0c1" providerId="LiveId" clId="{9B72EBF4-6591-422B-BA10-C918F01C705E}" dt="2025-07-05T11:20:13.312" v="194" actId="26606"/>
          <ac:spMkLst>
            <pc:docMk/>
            <pc:sldMk cId="0" sldId="265"/>
            <ac:spMk id="80" creationId="{69D47016-023F-44BD-981C-50E7A10A6609}"/>
          </ac:spMkLst>
        </pc:spChg>
        <pc:spChg chg="add">
          <ac:chgData name="Mofe Oyefuga" userId="687e2b22d9c1f0c1" providerId="LiveId" clId="{9B72EBF4-6591-422B-BA10-C918F01C705E}" dt="2025-07-05T11:20:13.312" v="194" actId="26606"/>
          <ac:spMkLst>
            <pc:docMk/>
            <pc:sldMk cId="0" sldId="265"/>
            <ac:spMk id="81" creationId="{6D8B37B0-0682-433E-BC8D-498C04ABD9A7}"/>
          </ac:spMkLst>
        </pc:spChg>
        <pc:graphicFrameChg chg="add mod ord modGraphic">
          <ac:chgData name="Mofe Oyefuga" userId="687e2b22d9c1f0c1" providerId="LiveId" clId="{9B72EBF4-6591-422B-BA10-C918F01C705E}" dt="2025-07-05T11:22:07.320" v="209" actId="255"/>
          <ac:graphicFrameMkLst>
            <pc:docMk/>
            <pc:sldMk cId="0" sldId="265"/>
            <ac:graphicFrameMk id="10" creationId="{4E8189D1-A4EC-D851-5B97-2EC486BD2D25}"/>
          </ac:graphicFrameMkLst>
        </pc:graphicFrameChg>
        <pc:picChg chg="add mod modCrop">
          <ac:chgData name="Mofe Oyefuga" userId="687e2b22d9c1f0c1" providerId="LiveId" clId="{9B72EBF4-6591-422B-BA10-C918F01C705E}" dt="2025-07-07T00:47:09.558" v="1880" actId="1076"/>
          <ac:picMkLst>
            <pc:docMk/>
            <pc:sldMk cId="0" sldId="265"/>
            <ac:picMk id="13" creationId="{5E18543E-899E-4EBE-D283-2144D40032BE}"/>
          </ac:picMkLst>
        </pc:picChg>
      </pc:sldChg>
      <pc:sldChg chg="modSp mod">
        <pc:chgData name="Mofe Oyefuga" userId="687e2b22d9c1f0c1" providerId="LiveId" clId="{9B72EBF4-6591-422B-BA10-C918F01C705E}" dt="2025-07-07T00:48:39.149" v="1886" actId="255"/>
        <pc:sldMkLst>
          <pc:docMk/>
          <pc:sldMk cId="0" sldId="266"/>
        </pc:sldMkLst>
        <pc:spChg chg="mod">
          <ac:chgData name="Mofe Oyefuga" userId="687e2b22d9c1f0c1" providerId="LiveId" clId="{9B72EBF4-6591-422B-BA10-C918F01C705E}" dt="2025-07-07T00:48:39.149" v="1886" actId="255"/>
          <ac:spMkLst>
            <pc:docMk/>
            <pc:sldMk cId="0" sldId="266"/>
            <ac:spMk id="3" creationId="{00000000-0000-0000-0000-000000000000}"/>
          </ac:spMkLst>
        </pc:spChg>
      </pc:sldChg>
      <pc:sldChg chg="modSp mod ord">
        <pc:chgData name="Mofe Oyefuga" userId="687e2b22d9c1f0c1" providerId="LiveId" clId="{9B72EBF4-6591-422B-BA10-C918F01C705E}" dt="2025-07-06T11:16:37.985" v="749"/>
        <pc:sldMkLst>
          <pc:docMk/>
          <pc:sldMk cId="0" sldId="267"/>
        </pc:sldMkLst>
        <pc:spChg chg="mod">
          <ac:chgData name="Mofe Oyefuga" userId="687e2b22d9c1f0c1" providerId="LiveId" clId="{9B72EBF4-6591-422B-BA10-C918F01C705E}" dt="2025-07-05T11:06:32.515" v="83" actId="255"/>
          <ac:spMkLst>
            <pc:docMk/>
            <pc:sldMk cId="0" sldId="267"/>
            <ac:spMk id="3" creationId="{00000000-0000-0000-0000-000000000000}"/>
          </ac:spMkLst>
        </pc:spChg>
      </pc:sldChg>
      <pc:sldChg chg="addSp delSp modSp new mod modClrScheme chgLayout">
        <pc:chgData name="Mofe Oyefuga" userId="687e2b22d9c1f0c1" providerId="LiveId" clId="{9B72EBF4-6591-422B-BA10-C918F01C705E}" dt="2025-07-07T00:54:05.105" v="1906" actId="113"/>
        <pc:sldMkLst>
          <pc:docMk/>
          <pc:sldMk cId="1789931130" sldId="268"/>
        </pc:sldMkLst>
        <pc:spChg chg="add mod ord">
          <ac:chgData name="Mofe Oyefuga" userId="687e2b22d9c1f0c1" providerId="LiveId" clId="{9B72EBF4-6591-422B-BA10-C918F01C705E}" dt="2025-07-05T11:48:25.700" v="349" actId="700"/>
          <ac:spMkLst>
            <pc:docMk/>
            <pc:sldMk cId="1789931130" sldId="268"/>
            <ac:spMk id="8" creationId="{EE612A67-A0CE-9507-A730-E82517F324CB}"/>
          </ac:spMkLst>
        </pc:spChg>
        <pc:spChg chg="add del mod ord">
          <ac:chgData name="Mofe Oyefuga" userId="687e2b22d9c1f0c1" providerId="LiveId" clId="{9B72EBF4-6591-422B-BA10-C918F01C705E}" dt="2025-07-07T00:54:05.105" v="1906" actId="113"/>
          <ac:spMkLst>
            <pc:docMk/>
            <pc:sldMk cId="1789931130" sldId="268"/>
            <ac:spMk id="9" creationId="{CAF88900-74CB-2C6B-0D00-86A06F88C0AA}"/>
          </ac:spMkLst>
        </pc:spChg>
        <pc:spChg chg="add del mod ord">
          <ac:chgData name="Mofe Oyefuga" userId="687e2b22d9c1f0c1" providerId="LiveId" clId="{9B72EBF4-6591-422B-BA10-C918F01C705E}" dt="2025-07-05T11:48:25.712" v="351" actId="27636"/>
          <ac:spMkLst>
            <pc:docMk/>
            <pc:sldMk cId="1789931130" sldId="268"/>
            <ac:spMk id="10" creationId="{B2AA7C4B-6B70-22B5-679F-A2DECD0218AA}"/>
          </ac:spMkLst>
        </pc:spChg>
        <pc:spChg chg="add mod ord">
          <ac:chgData name="Mofe Oyefuga" userId="687e2b22d9c1f0c1" providerId="LiveId" clId="{9B72EBF4-6591-422B-BA10-C918F01C705E}" dt="2025-07-05T11:48:32.838" v="362" actId="20577"/>
          <ac:spMkLst>
            <pc:docMk/>
            <pc:sldMk cId="1789931130" sldId="268"/>
            <ac:spMk id="15" creationId="{305DC6E8-90E7-A115-195E-9CD469B2512C}"/>
          </ac:spMkLst>
        </pc:spChg>
      </pc:sldChg>
      <pc:sldChg chg="addSp delSp modSp new del mod setBg">
        <pc:chgData name="Mofe Oyefuga" userId="687e2b22d9c1f0c1" providerId="LiveId" clId="{9B72EBF4-6591-422B-BA10-C918F01C705E}" dt="2025-07-05T11:12:47.407" v="145" actId="47"/>
        <pc:sldMkLst>
          <pc:docMk/>
          <pc:sldMk cId="3391078395" sldId="268"/>
        </pc:sldMkLst>
      </pc:sldChg>
      <pc:sldChg chg="addSp delSp modSp new mod ord setBg">
        <pc:chgData name="Mofe Oyefuga" userId="687e2b22d9c1f0c1" providerId="LiveId" clId="{9B72EBF4-6591-422B-BA10-C918F01C705E}" dt="2025-07-05T11:48:13.322" v="348" actId="14734"/>
        <pc:sldMkLst>
          <pc:docMk/>
          <pc:sldMk cId="3174194207" sldId="269"/>
        </pc:sldMkLst>
        <pc:spChg chg="add">
          <ac:chgData name="Mofe Oyefuga" userId="687e2b22d9c1f0c1" providerId="LiveId" clId="{9B72EBF4-6591-422B-BA10-C918F01C705E}" dt="2025-07-05T11:46:46.788" v="329" actId="26606"/>
          <ac:spMkLst>
            <pc:docMk/>
            <pc:sldMk cId="3174194207" sldId="269"/>
            <ac:spMk id="20" creationId="{FF9F2414-84E8-453E-B1F3-389FDE8192D9}"/>
          </ac:spMkLst>
        </pc:spChg>
        <pc:spChg chg="add">
          <ac:chgData name="Mofe Oyefuga" userId="687e2b22d9c1f0c1" providerId="LiveId" clId="{9B72EBF4-6591-422B-BA10-C918F01C705E}" dt="2025-07-05T11:46:46.788" v="329" actId="26606"/>
          <ac:spMkLst>
            <pc:docMk/>
            <pc:sldMk cId="3174194207" sldId="269"/>
            <ac:spMk id="21" creationId="{F3060C83-F051-4F0E-ABAD-AA0DFC48B218}"/>
          </ac:spMkLst>
        </pc:spChg>
        <pc:spChg chg="add">
          <ac:chgData name="Mofe Oyefuga" userId="687e2b22d9c1f0c1" providerId="LiveId" clId="{9B72EBF4-6591-422B-BA10-C918F01C705E}" dt="2025-07-05T11:46:46.788" v="329" actId="26606"/>
          <ac:spMkLst>
            <pc:docMk/>
            <pc:sldMk cId="3174194207" sldId="269"/>
            <ac:spMk id="22" creationId="{3ECA69A1-7536-43AC-85EF-C7106179F5ED}"/>
          </ac:spMkLst>
        </pc:spChg>
        <pc:spChg chg="add">
          <ac:chgData name="Mofe Oyefuga" userId="687e2b22d9c1f0c1" providerId="LiveId" clId="{9B72EBF4-6591-422B-BA10-C918F01C705E}" dt="2025-07-05T11:46:46.788" v="329" actId="26606"/>
          <ac:spMkLst>
            <pc:docMk/>
            <pc:sldMk cId="3174194207" sldId="269"/>
            <ac:spMk id="23" creationId="{83C98ABE-055B-441F-B07E-44F97F083C39}"/>
          </ac:spMkLst>
        </pc:spChg>
        <pc:spChg chg="add">
          <ac:chgData name="Mofe Oyefuga" userId="687e2b22d9c1f0c1" providerId="LiveId" clId="{9B72EBF4-6591-422B-BA10-C918F01C705E}" dt="2025-07-05T11:46:46.788" v="329" actId="26606"/>
          <ac:spMkLst>
            <pc:docMk/>
            <pc:sldMk cId="3174194207" sldId="269"/>
            <ac:spMk id="24" creationId="{29FDB030-9B49-4CED-8CCD-4D99382388AC}"/>
          </ac:spMkLst>
        </pc:spChg>
        <pc:spChg chg="add">
          <ac:chgData name="Mofe Oyefuga" userId="687e2b22d9c1f0c1" providerId="LiveId" clId="{9B72EBF4-6591-422B-BA10-C918F01C705E}" dt="2025-07-05T11:46:46.788" v="329" actId="26606"/>
          <ac:spMkLst>
            <pc:docMk/>
            <pc:sldMk cId="3174194207" sldId="269"/>
            <ac:spMk id="25" creationId="{3783CA14-24A1-485C-8B30-D6A5D87987AD}"/>
          </ac:spMkLst>
        </pc:spChg>
        <pc:spChg chg="add">
          <ac:chgData name="Mofe Oyefuga" userId="687e2b22d9c1f0c1" providerId="LiveId" clId="{9B72EBF4-6591-422B-BA10-C918F01C705E}" dt="2025-07-05T11:46:46.788" v="329" actId="26606"/>
          <ac:spMkLst>
            <pc:docMk/>
            <pc:sldMk cId="3174194207" sldId="269"/>
            <ac:spMk id="26" creationId="{9A97C86A-04D6-40F7-AE84-31AB43E6A846}"/>
          </ac:spMkLst>
        </pc:spChg>
        <pc:graphicFrameChg chg="add mod ord modGraphic">
          <ac:chgData name="Mofe Oyefuga" userId="687e2b22d9c1f0c1" providerId="LiveId" clId="{9B72EBF4-6591-422B-BA10-C918F01C705E}" dt="2025-07-05T11:48:13.322" v="348" actId="14734"/>
          <ac:graphicFrameMkLst>
            <pc:docMk/>
            <pc:sldMk cId="3174194207" sldId="269"/>
            <ac:graphicFrameMk id="5" creationId="{0285AFAF-1C15-407E-0573-292196314A36}"/>
          </ac:graphicFrameMkLst>
        </pc:graphicFrameChg>
      </pc:sldChg>
      <pc:sldChg chg="new del">
        <pc:chgData name="Mofe Oyefuga" userId="687e2b22d9c1f0c1" providerId="LiveId" clId="{9B72EBF4-6591-422B-BA10-C918F01C705E}" dt="2025-07-06T11:16:47.662" v="750" actId="2696"/>
        <pc:sldMkLst>
          <pc:docMk/>
          <pc:sldMk cId="3811378744" sldId="270"/>
        </pc:sldMkLst>
      </pc:sldChg>
      <pc:sldChg chg="addSp modSp new mod ord">
        <pc:chgData name="Mofe Oyefuga" userId="687e2b22d9c1f0c1" providerId="LiveId" clId="{9B72EBF4-6591-422B-BA10-C918F01C705E}" dt="2025-07-06T11:36:26.608" v="1176" actId="1076"/>
        <pc:sldMkLst>
          <pc:docMk/>
          <pc:sldMk cId="1664126406" sldId="271"/>
        </pc:sldMkLst>
        <pc:spChg chg="mod">
          <ac:chgData name="Mofe Oyefuga" userId="687e2b22d9c1f0c1" providerId="LiveId" clId="{9B72EBF4-6591-422B-BA10-C918F01C705E}" dt="2025-07-06T10:59:42.208" v="409" actId="20577"/>
          <ac:spMkLst>
            <pc:docMk/>
            <pc:sldMk cId="1664126406" sldId="271"/>
            <ac:spMk id="2" creationId="{6FDE4285-D390-C6B2-9EDB-D453B2BD3ED3}"/>
          </ac:spMkLst>
        </pc:spChg>
        <pc:spChg chg="mod">
          <ac:chgData name="Mofe Oyefuga" userId="687e2b22d9c1f0c1" providerId="LiveId" clId="{9B72EBF4-6591-422B-BA10-C918F01C705E}" dt="2025-07-06T11:35:07.842" v="1164" actId="123"/>
          <ac:spMkLst>
            <pc:docMk/>
            <pc:sldMk cId="1664126406" sldId="271"/>
            <ac:spMk id="3" creationId="{6215CFEE-EF97-8379-C682-74F492D2A508}"/>
          </ac:spMkLst>
        </pc:spChg>
        <pc:spChg chg="mod">
          <ac:chgData name="Mofe Oyefuga" userId="687e2b22d9c1f0c1" providerId="LiveId" clId="{9B72EBF4-6591-422B-BA10-C918F01C705E}" dt="2025-07-06T11:27:54.648" v="1139" actId="20577"/>
          <ac:spMkLst>
            <pc:docMk/>
            <pc:sldMk cId="1664126406" sldId="271"/>
            <ac:spMk id="4" creationId="{51F5DD56-06E2-6F22-C321-F646DB7C3582}"/>
          </ac:spMkLst>
        </pc:spChg>
        <pc:graphicFrameChg chg="add mod modGraphic">
          <ac:chgData name="Mofe Oyefuga" userId="687e2b22d9c1f0c1" providerId="LiveId" clId="{9B72EBF4-6591-422B-BA10-C918F01C705E}" dt="2025-07-06T11:35:15.229" v="1167" actId="122"/>
          <ac:graphicFrameMkLst>
            <pc:docMk/>
            <pc:sldMk cId="1664126406" sldId="271"/>
            <ac:graphicFrameMk id="5" creationId="{ED1680BB-4E93-5E36-5CCB-ED1F33B42369}"/>
          </ac:graphicFrameMkLst>
        </pc:graphicFrameChg>
        <pc:graphicFrameChg chg="add mod modGraphic">
          <ac:chgData name="Mofe Oyefuga" userId="687e2b22d9c1f0c1" providerId="LiveId" clId="{9B72EBF4-6591-422B-BA10-C918F01C705E}" dt="2025-07-06T11:36:26.608" v="1176" actId="1076"/>
          <ac:graphicFrameMkLst>
            <pc:docMk/>
            <pc:sldMk cId="1664126406" sldId="271"/>
            <ac:graphicFrameMk id="6" creationId="{74CEC86C-3BC5-FF7E-7B8C-313041CAA26B}"/>
          </ac:graphicFrameMkLst>
        </pc:graphicFrameChg>
      </pc:sldChg>
      <pc:sldChg chg="modSp new mod">
        <pc:chgData name="Mofe Oyefuga" userId="687e2b22d9c1f0c1" providerId="LiveId" clId="{9B72EBF4-6591-422B-BA10-C918F01C705E}" dt="2025-07-07T00:51:49.330" v="1903" actId="27636"/>
        <pc:sldMkLst>
          <pc:docMk/>
          <pc:sldMk cId="2220389137" sldId="272"/>
        </pc:sldMkLst>
        <pc:spChg chg="mod">
          <ac:chgData name="Mofe Oyefuga" userId="687e2b22d9c1f0c1" providerId="LiveId" clId="{9B72EBF4-6591-422B-BA10-C918F01C705E}" dt="2025-07-07T00:51:47.358" v="1901" actId="5793"/>
          <ac:spMkLst>
            <pc:docMk/>
            <pc:sldMk cId="2220389137" sldId="272"/>
            <ac:spMk id="2" creationId="{DB4FF337-9C5C-F18B-BBD9-6336CA677AFF}"/>
          </ac:spMkLst>
        </pc:spChg>
        <pc:spChg chg="mod">
          <ac:chgData name="Mofe Oyefuga" userId="687e2b22d9c1f0c1" providerId="LiveId" clId="{9B72EBF4-6591-422B-BA10-C918F01C705E}" dt="2025-07-07T00:51:49.330" v="1903" actId="27636"/>
          <ac:spMkLst>
            <pc:docMk/>
            <pc:sldMk cId="2220389137" sldId="272"/>
            <ac:spMk id="3" creationId="{304F8755-8BF7-2B3F-2A52-68B7D62F78AC}"/>
          </ac:spMkLst>
        </pc:spChg>
      </pc:sldChg>
      <pc:sldChg chg="modSp new mod">
        <pc:chgData name="Mofe Oyefuga" userId="687e2b22d9c1f0c1" providerId="LiveId" clId="{9B72EBF4-6591-422B-BA10-C918F01C705E}" dt="2025-07-07T10:03:32.740" v="2038" actId="5793"/>
        <pc:sldMkLst>
          <pc:docMk/>
          <pc:sldMk cId="1257232380" sldId="273"/>
        </pc:sldMkLst>
        <pc:spChg chg="mod">
          <ac:chgData name="Mofe Oyefuga" userId="687e2b22d9c1f0c1" providerId="LiveId" clId="{9B72EBF4-6591-422B-BA10-C918F01C705E}" dt="2025-07-07T10:02:27.297" v="1915" actId="20577"/>
          <ac:spMkLst>
            <pc:docMk/>
            <pc:sldMk cId="1257232380" sldId="273"/>
            <ac:spMk id="2" creationId="{AE3CC117-67E5-551A-1BB6-D3FB271B8F7E}"/>
          </ac:spMkLst>
        </pc:spChg>
        <pc:spChg chg="mod">
          <ac:chgData name="Mofe Oyefuga" userId="687e2b22d9c1f0c1" providerId="LiveId" clId="{9B72EBF4-6591-422B-BA10-C918F01C705E}" dt="2025-07-07T10:03:32.740" v="2038" actId="5793"/>
          <ac:spMkLst>
            <pc:docMk/>
            <pc:sldMk cId="1257232380" sldId="273"/>
            <ac:spMk id="3" creationId="{8F7BAE3D-004D-B0F8-BA25-8EAD2F91A37B}"/>
          </ac:spMkLst>
        </pc:spChg>
      </pc:sldChg>
      <pc:sldChg chg="modSp new mod">
        <pc:chgData name="Mofe Oyefuga" userId="687e2b22d9c1f0c1" providerId="LiveId" clId="{9B72EBF4-6591-422B-BA10-C918F01C705E}" dt="2025-07-07T10:04:06.940" v="2041" actId="27636"/>
        <pc:sldMkLst>
          <pc:docMk/>
          <pc:sldMk cId="2637354930" sldId="274"/>
        </pc:sldMkLst>
        <pc:spChg chg="mod">
          <ac:chgData name="Mofe Oyefuga" userId="687e2b22d9c1f0c1" providerId="LiveId" clId="{9B72EBF4-6591-422B-BA10-C918F01C705E}" dt="2025-07-07T10:04:06.940" v="2041" actId="27636"/>
          <ac:spMkLst>
            <pc:docMk/>
            <pc:sldMk cId="2637354930" sldId="274"/>
            <ac:spMk id="3" creationId="{8B625694-B67C-F65D-1EB5-000A7EF4D2F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Location (%)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 Campus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Anchor University</c:v>
                </c:pt>
                <c:pt idx="1">
                  <c:v>Augustine University</c:v>
                </c:pt>
                <c:pt idx="2">
                  <c:v>Caleb University</c:v>
                </c:pt>
                <c:pt idx="3">
                  <c:v>Trinity University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15.8</c:v>
                </c:pt>
                <c:pt idx="1">
                  <c:v>25.8</c:v>
                </c:pt>
                <c:pt idx="2">
                  <c:v>27.9</c:v>
                </c:pt>
                <c:pt idx="3">
                  <c:v>16.3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7D27-472F-A95C-E7AB6B56CB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 Campus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Anchor University</c:v>
                </c:pt>
                <c:pt idx="1">
                  <c:v>Augustine University</c:v>
                </c:pt>
                <c:pt idx="2">
                  <c:v>Caleb University</c:v>
                </c:pt>
                <c:pt idx="3">
                  <c:v>Trinity University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3.7</c:v>
                </c:pt>
                <c:pt idx="1">
                  <c:v>1.6</c:v>
                </c:pt>
                <c:pt idx="2">
                  <c:v>7.4</c:v>
                </c:pt>
                <c:pt idx="3">
                  <c:v>1.6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7D27-472F-A95C-E7AB6B56CBE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Anchor University</c:v>
                </c:pt>
                <c:pt idx="1">
                  <c:v>Augustine University</c:v>
                </c:pt>
                <c:pt idx="2">
                  <c:v>Caleb University</c:v>
                </c:pt>
                <c:pt idx="3">
                  <c:v>Trinity University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7D27-472F-A95C-E7AB6B56CB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1808067328"/>
        <c:axId val="-1808064064"/>
      </c:barChart>
      <c:catAx>
        <c:axId val="-1808067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-1808064064"/>
        <c:crosses val="autoZero"/>
        <c:auto val="1"/>
        <c:lblAlgn val="ctr"/>
        <c:lblOffset val="100"/>
        <c:noMultiLvlLbl val="0"/>
      </c:catAx>
      <c:valAx>
        <c:axId val="-1808064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-1808067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CB6C14-E553-4211-BA1C-2C64A9F72BE1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52E582-3E29-4BE1-9828-0C67EC9C7D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5151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PEOU &gt; PU &amp; ATU</a:t>
            </a:r>
            <a:r>
              <a:rPr lang="en-US" dirty="0"/>
              <a:t>: If students find the e-learning platform </a:t>
            </a:r>
            <a:r>
              <a:rPr lang="en-US" b="1" dirty="0"/>
              <a:t>easy to use</a:t>
            </a:r>
            <a:r>
              <a:rPr lang="en-US" dirty="0"/>
              <a:t>, they’re more likely to think it’s </a:t>
            </a:r>
            <a:r>
              <a:rPr lang="en-US" b="1" dirty="0"/>
              <a:t>useful</a:t>
            </a:r>
            <a:r>
              <a:rPr lang="en-US" dirty="0"/>
              <a:t> for their education, and they’re more likely to have a </a:t>
            </a:r>
            <a:r>
              <a:rPr lang="en-US" b="1" dirty="0"/>
              <a:t>positive attitude</a:t>
            </a:r>
            <a:r>
              <a:rPr lang="en-US" dirty="0"/>
              <a:t> towards it.</a:t>
            </a:r>
          </a:p>
          <a:p>
            <a:r>
              <a:rPr lang="en-US" sz="1400" b="1" dirty="0"/>
              <a:t>ATU &gt; BITU</a:t>
            </a:r>
            <a:r>
              <a:rPr lang="en-US" dirty="0"/>
              <a:t>: Students with a </a:t>
            </a:r>
            <a:r>
              <a:rPr lang="en-US" b="1" dirty="0"/>
              <a:t>positive attitude</a:t>
            </a:r>
            <a:r>
              <a:rPr lang="en-US" dirty="0"/>
              <a:t> toward the e-learning platform are much more likely to intend to </a:t>
            </a:r>
            <a:r>
              <a:rPr lang="en-US" b="1" dirty="0"/>
              <a:t>keep using it</a:t>
            </a:r>
            <a:r>
              <a:rPr lang="en-US" dirty="0"/>
              <a:t> in the future.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/>
              <a:t>PU &gt; BITU</a:t>
            </a:r>
            <a:r>
              <a:rPr lang="en-US" dirty="0"/>
              <a:t>: Even if a student thinks a platform is useful, it doesn’t mean they’ll </a:t>
            </a:r>
            <a:r>
              <a:rPr lang="en-US" b="1" dirty="0"/>
              <a:t>automatically intend to use it</a:t>
            </a:r>
            <a:r>
              <a:rPr lang="en-US" dirty="0"/>
              <a:t> regularly. Something else — like their </a:t>
            </a:r>
            <a:r>
              <a:rPr lang="en-US" b="1" dirty="0"/>
              <a:t>attitude toward it</a:t>
            </a:r>
            <a:r>
              <a:rPr lang="en-US" dirty="0"/>
              <a:t> — comes in between. This finding is surprising but important. It tells us that </a:t>
            </a:r>
            <a:r>
              <a:rPr lang="en-US" b="1" dirty="0"/>
              <a:t>usefulness alone isn't enough</a:t>
            </a:r>
            <a:r>
              <a:rPr lang="en-US" dirty="0"/>
              <a:t>. Students might acknowledge that the platform helps them — but if they don’t </a:t>
            </a:r>
            <a:r>
              <a:rPr lang="en-US" b="1" dirty="0"/>
              <a:t>like using it</a:t>
            </a:r>
            <a:r>
              <a:rPr lang="en-US" dirty="0"/>
              <a:t>, they won’t stick with it.</a:t>
            </a:r>
            <a:br>
              <a:rPr lang="en-US" dirty="0"/>
            </a:br>
            <a:r>
              <a:rPr lang="en-US" dirty="0"/>
              <a:t>This points to the need for e-learning platforms to be </a:t>
            </a:r>
            <a:r>
              <a:rPr lang="en-US" b="1" dirty="0"/>
              <a:t>not just functional but also enjoyable and engaging</a:t>
            </a:r>
            <a:r>
              <a:rPr lang="en-US" dirty="0"/>
              <a:t>.</a:t>
            </a:r>
          </a:p>
          <a:p>
            <a:r>
              <a:rPr lang="en-US" dirty="0"/>
              <a:t>There’s a chain reaction:</a:t>
            </a:r>
            <a:br>
              <a:rPr lang="en-US" dirty="0"/>
            </a:br>
            <a:r>
              <a:rPr lang="en-US" dirty="0"/>
              <a:t>→ If a platform is easy to use,</a:t>
            </a:r>
            <a:br>
              <a:rPr lang="en-US" dirty="0"/>
            </a:br>
            <a:r>
              <a:rPr lang="en-US" dirty="0"/>
              <a:t>→ Students start to see it as useful,</a:t>
            </a:r>
            <a:br>
              <a:rPr lang="en-US" dirty="0"/>
            </a:br>
            <a:r>
              <a:rPr lang="en-US" dirty="0"/>
              <a:t>→ And that </a:t>
            </a:r>
            <a:r>
              <a:rPr lang="en-US" b="1" dirty="0"/>
              <a:t>develops a positive attitude</a:t>
            </a:r>
            <a:r>
              <a:rPr lang="en-US" dirty="0"/>
              <a:t> toward using it.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52E582-3E29-4BE1-9828-0C67EC9C7D92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1973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912" y="1560513"/>
            <a:ext cx="9020175" cy="1527175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913" y="1439863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187450" y="3141663"/>
            <a:ext cx="6624638" cy="1852612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63500" dist="38100" dir="8100000" algn="tr" rotWithShape="0">
              <a:srgbClr val="000000">
                <a:alpha val="39999"/>
              </a:srgbClr>
            </a:outerShdw>
          </a:effectLst>
          <a:extLst>
            <a:ext uri="{91240B29-F687-4f45-9708-019B960494DF}">
              <a14:hiddenLine xmlns:a14="http://schemas.microsoft.com/office/drawing/2010/main" xmlns="" w="1905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  <a:latin typeface="+mn-lt"/>
              <a:ea typeface="+mn-ea"/>
            </a:endParaRPr>
          </a:p>
        </p:txBody>
      </p:sp>
      <p:pic>
        <p:nvPicPr>
          <p:cNvPr id="10" name="Picture 18" descr="NAC_LOGO-2.gi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22600" y="11113"/>
            <a:ext cx="685800" cy="677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3707904" y="-91578"/>
            <a:ext cx="2514600" cy="769441"/>
          </a:xfrm>
          <a:prstGeom prst="rect">
            <a:avLst/>
          </a:prstGeom>
          <a:solidFill>
            <a:schemeClr val="bg1"/>
          </a:solidFill>
          <a:effectLst>
            <a:outerShdw blurRad="38100" dist="25400" dir="5400000" algn="t" rotWithShape="0">
              <a:srgbClr val="000000">
                <a:alpha val="50000"/>
              </a:srgbClr>
            </a:outerShdw>
            <a:softEdge rad="317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en-US" sz="44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NACETEM</a:t>
            </a:r>
            <a:r>
              <a:rPr lang="en-US" sz="4400" b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0922" y="628749"/>
            <a:ext cx="5469575" cy="307777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spc="150" dirty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Tw Cen MT"/>
                <a:ea typeface="+mn-ea"/>
                <a:cs typeface="Arial" charset="0"/>
              </a:rPr>
              <a:t>NATIONAL CENTRE FOR TECHNOLOGY MANAGEMENT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7086600" y="6505575"/>
            <a:ext cx="1981200" cy="3079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/>
            <a:r>
              <a:rPr lang="en-US" sz="1400" i="1" dirty="0">
                <a:solidFill>
                  <a:srgbClr val="000000"/>
                </a:solidFill>
                <a:latin typeface="Tw Cen MT" pitchFamily="34" charset="0"/>
              </a:rPr>
              <a:t>© NACETEM 2025</a:t>
            </a:r>
          </a:p>
        </p:txBody>
      </p:sp>
      <p:sp>
        <p:nvSpPr>
          <p:cNvPr id="14" name="TextBox 24"/>
          <p:cNvSpPr txBox="1">
            <a:spLocks noChangeArrowheads="1"/>
          </p:cNvSpPr>
          <p:nvPr/>
        </p:nvSpPr>
        <p:spPr bwMode="auto">
          <a:xfrm>
            <a:off x="755650" y="6500813"/>
            <a:ext cx="5976938" cy="3079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r>
              <a:rPr lang="en-GB" sz="1400" i="1" dirty="0">
                <a:latin typeface="Calibri Light" pitchFamily="34" charset="0"/>
              </a:rPr>
              <a:t>NACETEM…Managing Technology for Sustainable Development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 b="0">
                <a:solidFill>
                  <a:schemeClr val="bg1"/>
                </a:solidFill>
                <a:latin typeface="Calibri Light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  <a:latin typeface="Calibri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Slide Number Placeholder 2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578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899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539552" y="1700808"/>
            <a:ext cx="3979872" cy="48245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788024" y="1700808"/>
            <a:ext cx="3749040" cy="48245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841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38200" y="6172200"/>
            <a:ext cx="5486400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165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2492896"/>
            <a:ext cx="8194104" cy="1800200"/>
          </a:xfrm>
          <a:solidFill>
            <a:schemeClr val="accent2">
              <a:lumMod val="75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493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38200" y="6172200"/>
            <a:ext cx="5486400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165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38200" y="6172200"/>
            <a:ext cx="5486400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77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38200" y="6172200"/>
            <a:ext cx="5486400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96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122238"/>
            <a:ext cx="8229600" cy="60086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838200" y="6172200"/>
            <a:ext cx="5486400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7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719263"/>
            <a:ext cx="8229600" cy="4411662"/>
          </a:xfrm>
        </p:spPr>
        <p:txBody>
          <a:bodyPr/>
          <a:lstStyle/>
          <a:p>
            <a:pPr lvl="0"/>
            <a:r>
              <a:rPr lang="en-US" noProof="0" smtClean="0"/>
              <a:t>Click icon to add table</a:t>
            </a:r>
            <a:endParaRPr lang="en-US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838200" y="6172200"/>
            <a:ext cx="5486400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57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5287" cy="914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3886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3886200" cy="2133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886200"/>
            <a:ext cx="3886200" cy="2133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838200" y="6172200"/>
            <a:ext cx="5486400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60718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5287" cy="914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3886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86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38200" y="6172200"/>
            <a:ext cx="5486400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89319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3249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6648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FD1B1-7862-4BCE-8306-91D0ACB32E52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689829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5C3DA-A1D3-4A1C-9703-FC7E652E640F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0071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4FD8F-F5EB-4CB0-B34C-8F170DB455C3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5516404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B2641-B32A-4319-B4CE-0842B72AE012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904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3EE58-50E8-447D-8B2B-34348D6DE8AC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604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5083-F966-4D33-8BA8-8E7408BEF121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866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827FF-ED73-48FA-9478-CE0F46121E26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5409428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7947A-866D-4E82-ADE7-085FBD529CD8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0203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45F50-6C41-4082-8A24-4FA4E106B045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651600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B1DCB-7ED9-40A1-ACE9-2CA6C88077F3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2531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36335-CE3A-4703-8DEF-758A63B2C140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5284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FD1B1-7862-4BCE-8306-91D0ACB32E52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0098782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5C3DA-A1D3-4A1C-9703-FC7E652E640F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3109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4FD8F-F5EB-4CB0-B34C-8F170DB455C3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8446733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B2641-B32A-4319-B4CE-0842B72AE012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4844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3EE58-50E8-447D-8B2B-34348D6DE8AC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9479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5083-F966-4D33-8BA8-8E7408BEF121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8078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827FF-ED73-48FA-9478-CE0F46121E26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4485946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7947A-866D-4E82-ADE7-085FBD529CD8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0402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45F50-6C41-4082-8A24-4FA4E106B045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152244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B1DCB-7ED9-40A1-ACE9-2CA6C88077F3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21736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36335-CE3A-4703-8DEF-758A63B2C140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663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27" name="Title Placeholder 21"/>
          <p:cNvSpPr>
            <a:spLocks noGrp="1"/>
          </p:cNvSpPr>
          <p:nvPr>
            <p:ph type="title"/>
          </p:nvPr>
        </p:nvSpPr>
        <p:spPr bwMode="auto">
          <a:xfrm>
            <a:off x="250825" y="669925"/>
            <a:ext cx="797877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2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250825" y="1676400"/>
            <a:ext cx="8166100" cy="463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050" y="6324600"/>
            <a:ext cx="457200" cy="457200"/>
          </a:xfrm>
          <a:prstGeom prst="ellipse">
            <a:avLst/>
          </a:prstGeom>
          <a:solidFill>
            <a:schemeClr val="accent2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>
              <a:defRPr sz="1400">
                <a:solidFill>
                  <a:srgbClr val="FFFFFF"/>
                </a:solidFill>
                <a:latin typeface="Tw Cen MT" pitchFamily="34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030" name="Picture 9" descr="NAC_LOGO-2.gif"/>
          <p:cNvPicPr>
            <a:picLocks noChangeAspect="1"/>
          </p:cNvPicPr>
          <p:nvPr/>
        </p:nvPicPr>
        <p:blipFill>
          <a:blip r:embed="rId16"/>
          <a:srcRect/>
          <a:stretch>
            <a:fillRect/>
          </a:stretch>
        </p:blipFill>
        <p:spPr bwMode="auto">
          <a:xfrm>
            <a:off x="8558213" y="6165850"/>
            <a:ext cx="550862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6218461" y="-99392"/>
            <a:ext cx="2514600" cy="769441"/>
          </a:xfrm>
          <a:prstGeom prst="rect">
            <a:avLst/>
          </a:prstGeom>
          <a:solidFill>
            <a:schemeClr val="bg1"/>
          </a:solidFill>
          <a:effectLst>
            <a:outerShdw blurRad="38100" dist="25400" dir="5400000" algn="t" rotWithShape="0">
              <a:srgbClr val="000000">
                <a:alpha val="50000"/>
              </a:srgbClr>
            </a:outerShdw>
            <a:softEdge rad="317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en-US" sz="44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NACETEM</a:t>
            </a:r>
            <a:r>
              <a:rPr lang="en-US" sz="4400" b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 </a:t>
            </a:r>
          </a:p>
        </p:txBody>
      </p:sp>
      <p:sp>
        <p:nvSpPr>
          <p:cNvPr id="1034" name="TextBox 23"/>
          <p:cNvSpPr txBox="1">
            <a:spLocks noChangeArrowheads="1"/>
          </p:cNvSpPr>
          <p:nvPr/>
        </p:nvSpPr>
        <p:spPr bwMode="auto">
          <a:xfrm>
            <a:off x="6751638" y="6562725"/>
            <a:ext cx="19812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/>
            <a:r>
              <a:rPr lang="en-US" sz="1200" i="1" dirty="0">
                <a:solidFill>
                  <a:srgbClr val="000000"/>
                </a:solidFill>
                <a:latin typeface="Tw Cen MT" pitchFamily="34" charset="0"/>
              </a:rPr>
              <a:t>© NACETEM 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8733061" y="0"/>
            <a:ext cx="410939" cy="602128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reflection blurRad="6350" stA="50000" endA="300" endPos="5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5" name="TextBox 14"/>
          <p:cNvSpPr txBox="1"/>
          <p:nvPr/>
        </p:nvSpPr>
        <p:spPr>
          <a:xfrm rot="16200000">
            <a:off x="5923562" y="2809500"/>
            <a:ext cx="5926776" cy="307777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spc="150" dirty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Tw Cen MT"/>
                <a:ea typeface="+mn-ea"/>
                <a:cs typeface="Arial" charset="0"/>
              </a:rPr>
              <a:t>NATIONAL CENTRE FOR TECHNOLOGY MANAGEMENT</a:t>
            </a:r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0" y="620713"/>
            <a:ext cx="8732838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8" name="TextBox 7"/>
          <p:cNvSpPr txBox="1">
            <a:spLocks noChangeArrowheads="1"/>
          </p:cNvSpPr>
          <p:nvPr/>
        </p:nvSpPr>
        <p:spPr bwMode="auto">
          <a:xfrm>
            <a:off x="755650" y="6437313"/>
            <a:ext cx="6337300" cy="3381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r>
              <a:rPr lang="en-GB" sz="1600" i="1">
                <a:latin typeface="Calibri Light" pitchFamily="34" charset="0"/>
              </a:rPr>
              <a:t>NACETEM…Managing Technology for Sustainable Development</a:t>
            </a:r>
          </a:p>
        </p:txBody>
      </p:sp>
    </p:spTree>
    <p:extLst>
      <p:ext uri="{BB962C8B-B14F-4D97-AF65-F5344CB8AC3E}">
        <p14:creationId xmlns:p14="http://schemas.microsoft.com/office/powerpoint/2010/main" val="2576733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kern="1200">
          <a:solidFill>
            <a:schemeClr val="tx2"/>
          </a:solidFill>
          <a:latin typeface="Calibri" pitchFamily="34" charset="0"/>
          <a:ea typeface="ＭＳ Ｐゴシック" charset="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alibri" pitchFamily="34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alibri" pitchFamily="34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alibri" pitchFamily="34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alibri" pitchFamily="34" charset="0"/>
          <a:ea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w Cen MT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w Cen MT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w Cen MT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w Cen MT" pitchFamily="34" charset="0"/>
        </a:defRPr>
      </a:lvl9pPr>
    </p:titleStyle>
    <p:bodyStyle>
      <a:lvl1pPr marL="273050" indent="-273050" algn="l" rtl="0" eaLnBrk="1" fontAlgn="base" hangingPunct="1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600" kern="1200">
          <a:solidFill>
            <a:schemeClr val="tx1"/>
          </a:solidFill>
          <a:latin typeface="Calibri Light" pitchFamily="34" charset="0"/>
          <a:ea typeface="ＭＳ Ｐゴシック" charset="0"/>
          <a:cs typeface="+mn-cs"/>
        </a:defRPr>
      </a:lvl1pPr>
      <a:lvl2pPr marL="547688" indent="-228600" algn="l" rtl="0" eaLnBrk="1" fontAlgn="base" hangingPunct="1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Calibri Light" pitchFamily="34" charset="0"/>
          <a:ea typeface="ＭＳ Ｐゴシック" charset="0"/>
          <a:cs typeface="+mn-cs"/>
        </a:defRPr>
      </a:lvl2pPr>
      <a:lvl3pPr marL="822325" indent="-228600" algn="l" rtl="0" eaLnBrk="1" fontAlgn="base" hangingPunct="1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itchFamily="18" charset="2"/>
        <a:buChar char=""/>
        <a:defRPr sz="2000" kern="1200">
          <a:solidFill>
            <a:schemeClr val="tx1"/>
          </a:solidFill>
          <a:latin typeface="Calibri Light" pitchFamily="34" charset="0"/>
          <a:ea typeface="ＭＳ Ｐゴシック" charset="0"/>
          <a:cs typeface="+mn-cs"/>
        </a:defRPr>
      </a:lvl3pPr>
      <a:lvl4pPr marL="1096963" indent="-228600" algn="l" rtl="0" eaLnBrk="1" fontAlgn="base" hangingPunct="1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itchFamily="18" charset="2"/>
        <a:buChar char=""/>
        <a:defRPr sz="2000" kern="1200">
          <a:solidFill>
            <a:schemeClr val="tx1"/>
          </a:solidFill>
          <a:latin typeface="Calibri Light" pitchFamily="34" charset="0"/>
          <a:ea typeface="ＭＳ Ｐゴシック" charset="0"/>
          <a:cs typeface="+mn-cs"/>
        </a:defRPr>
      </a:lvl4pPr>
      <a:lvl5pPr marL="1371600" indent="-228600" algn="l" rtl="0" eaLnBrk="1" fontAlgn="base" hangingPunct="1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Calibri Light" pitchFamily="34" charset="0"/>
          <a:ea typeface="ＭＳ Ｐゴシック" charset="0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9B0DE4D6-8062-4761-9199-9AEA6147483F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807026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9B0DE4D6-8062-4761-9199-9AEA6147483F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539577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6900" y="3451122"/>
            <a:ext cx="7924800" cy="2639961"/>
          </a:xfrm>
        </p:spPr>
        <p:txBody>
          <a:bodyPr/>
          <a:lstStyle/>
          <a:p>
            <a:r>
              <a:rPr lang="en-GB" dirty="0" smtClean="0"/>
              <a:t>Victor </a:t>
            </a:r>
            <a:r>
              <a:rPr lang="en-GB" dirty="0" smtClean="0"/>
              <a:t>O. Sobanke (PhD</a:t>
            </a:r>
            <a:r>
              <a:rPr lang="en-GB" dirty="0" smtClean="0"/>
              <a:t>)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endParaRPr lang="en-US" sz="2800" b="1" dirty="0" smtClean="0"/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endParaRPr lang="en-US" sz="2800" b="1" dirty="0" smtClean="0"/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n-US" sz="2800" b="1" dirty="0" smtClean="0">
                <a:solidFill>
                  <a:schemeClr val="tx1"/>
                </a:solidFill>
              </a:rPr>
              <a:t>NACETEM </a:t>
            </a:r>
            <a:r>
              <a:rPr lang="en-US" sz="2800" b="1" dirty="0">
                <a:solidFill>
                  <a:schemeClr val="tx1"/>
                </a:solidFill>
              </a:rPr>
              <a:t>Researchers’ Seminar Series</a:t>
            </a:r>
          </a:p>
          <a:p>
            <a:pPr>
              <a:spcBef>
                <a:spcPts val="0"/>
              </a:spcBef>
              <a:defRPr/>
            </a:pPr>
            <a:r>
              <a:rPr lang="en-GB" sz="2800" b="1" dirty="0">
                <a:solidFill>
                  <a:schemeClr val="tx1"/>
                </a:solidFill>
              </a:rPr>
              <a:t>Thursday, 17</a:t>
            </a:r>
            <a:r>
              <a:rPr lang="en-GB" sz="2800" b="1" baseline="30000" dirty="0">
                <a:solidFill>
                  <a:schemeClr val="tx1"/>
                </a:solidFill>
              </a:rPr>
              <a:t>th</a:t>
            </a:r>
            <a:r>
              <a:rPr lang="en-GB" sz="2800" b="1" dirty="0">
                <a:solidFill>
                  <a:schemeClr val="tx1"/>
                </a:solidFill>
              </a:rPr>
              <a:t> </a:t>
            </a:r>
            <a:r>
              <a:rPr lang="en-GB" sz="2800" b="1" dirty="0" smtClean="0">
                <a:solidFill>
                  <a:schemeClr val="tx1"/>
                </a:solidFill>
              </a:rPr>
              <a:t>July </a:t>
            </a:r>
            <a:r>
              <a:rPr lang="en-GB" sz="2800" b="1" dirty="0">
                <a:solidFill>
                  <a:schemeClr val="tx1"/>
                </a:solidFill>
              </a:rPr>
              <a:t>2025</a:t>
            </a:r>
          </a:p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637072"/>
            <a:ext cx="9144000" cy="1328584"/>
          </a:xfrm>
        </p:spPr>
        <p:txBody>
          <a:bodyPr>
            <a:normAutofit fontScale="90000"/>
          </a:bodyPr>
          <a:lstStyle/>
          <a:p>
            <a:r>
              <a:rPr lang="en-US" sz="4000" dirty="0" smtClean="0">
                <a:latin typeface="Arial Rounded MT Bold" panose="020F0704030504030204" pitchFamily="34" charset="0"/>
              </a:rPr>
              <a:t>Digital Transformation in Nigerian Private Universities: </a:t>
            </a:r>
            <a:br>
              <a:rPr lang="en-US" sz="4000" dirty="0" smtClean="0">
                <a:latin typeface="Arial Rounded MT Bold" panose="020F0704030504030204" pitchFamily="34" charset="0"/>
              </a:rPr>
            </a:br>
            <a:r>
              <a:rPr lang="en-US" sz="3400" dirty="0" smtClean="0">
                <a:latin typeface="Arial Rounded MT Bold" panose="020F0704030504030204" pitchFamily="34" charset="0"/>
              </a:rPr>
              <a:t>Adoption of E-Learning Technologies</a:t>
            </a:r>
            <a:endParaRPr sz="3400" dirty="0"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E3CC117-67E5-551A-1BB6-D3FB271B8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93762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Outline 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F7BAE3D-004D-B0F8-BA25-8EAD2F91A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8400"/>
            <a:ext cx="8229600" cy="4525963"/>
          </a:xfrm>
        </p:spPr>
        <p:txBody>
          <a:bodyPr/>
          <a:lstStyle/>
          <a:p>
            <a:r>
              <a:rPr lang="en-US" dirty="0"/>
              <a:t>Background of the study </a:t>
            </a:r>
          </a:p>
          <a:p>
            <a:r>
              <a:rPr lang="en-US" dirty="0"/>
              <a:t>Statement of problem </a:t>
            </a:r>
          </a:p>
          <a:p>
            <a:r>
              <a:rPr lang="en-US" dirty="0"/>
              <a:t>Research methods </a:t>
            </a:r>
          </a:p>
          <a:p>
            <a:r>
              <a:rPr lang="en-US" dirty="0"/>
              <a:t>Results and discussion</a:t>
            </a:r>
          </a:p>
          <a:p>
            <a:r>
              <a:rPr lang="en-US" dirty="0"/>
              <a:t>Conclusions </a:t>
            </a:r>
          </a:p>
          <a:p>
            <a:r>
              <a:rPr lang="en-US" dirty="0"/>
              <a:t>Recommendations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57232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1868"/>
            <a:ext cx="8458200" cy="881062"/>
          </a:xfrm>
        </p:spPr>
        <p:txBody>
          <a:bodyPr>
            <a:normAutofit/>
          </a:bodyPr>
          <a:lstStyle/>
          <a:p>
            <a:pPr algn="l"/>
            <a:r>
              <a:rPr sz="4000" b="1" dirty="0">
                <a:solidFill>
                  <a:schemeClr val="accent1"/>
                </a:solidFill>
              </a:rPr>
              <a:t>Background to the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55544"/>
            <a:ext cx="8458200" cy="5054601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sz="2400" dirty="0" smtClean="0"/>
              <a:t>Traditional </a:t>
            </a:r>
            <a:r>
              <a:rPr sz="2400" dirty="0"/>
              <a:t>learning is constrained by time and space</a:t>
            </a:r>
            <a:r>
              <a:rPr lang="en-US" sz="2400" dirty="0"/>
              <a:t> (</a:t>
            </a:r>
            <a:r>
              <a:rPr lang="en-US" sz="1700" dirty="0"/>
              <a:t>That means students and lecturers must be in the same location, at the same time, for learning to happen. While this method offers structure and face-to-face interaction, it also comes with limitations — for example, when there's bad weather, traffic, or even physical disabilities, learning stops</a:t>
            </a:r>
            <a:r>
              <a:rPr lang="en-US" sz="2400" dirty="0"/>
              <a:t>)</a:t>
            </a:r>
            <a:r>
              <a:rPr sz="2400" dirty="0"/>
              <a:t>.</a:t>
            </a:r>
          </a:p>
          <a:p>
            <a:pPr algn="just"/>
            <a:r>
              <a:rPr sz="2400" dirty="0"/>
              <a:t>E-learning evolved from correspondence courses to MOOCs</a:t>
            </a:r>
            <a:r>
              <a:rPr lang="en-US" sz="2400" dirty="0"/>
              <a:t> (</a:t>
            </a:r>
            <a:r>
              <a:rPr lang="en-US" sz="1700" dirty="0"/>
              <a:t>Over time, it evolved into radio and TV broadcasts, then into full-fledged digital platforms. And eventually, </a:t>
            </a:r>
            <a:r>
              <a:rPr lang="en-US" sz="1700" b="1" dirty="0"/>
              <a:t>Massive Open Online Courses</a:t>
            </a:r>
            <a:r>
              <a:rPr lang="en-US" sz="1700" dirty="0"/>
              <a:t>, or MOOCs, made it possible for anyone, anywhere, to access education from top institutions</a:t>
            </a:r>
            <a:r>
              <a:rPr lang="en-US" sz="2400" dirty="0"/>
              <a:t>)</a:t>
            </a:r>
            <a:r>
              <a:rPr sz="2400" dirty="0"/>
              <a:t>.</a:t>
            </a:r>
          </a:p>
          <a:p>
            <a:pPr algn="just"/>
            <a:r>
              <a:rPr sz="2400" dirty="0"/>
              <a:t>COVID-19 accelerated online learning adoption.</a:t>
            </a:r>
            <a:r>
              <a:rPr lang="en-US" sz="2400" dirty="0"/>
              <a:t> (</a:t>
            </a:r>
            <a:r>
              <a:rPr lang="en-US" sz="1900" dirty="0"/>
              <a:t>Even students and lecturers who had never used e-learning before had to adjust quickly).</a:t>
            </a:r>
            <a:endParaRPr sz="1900" dirty="0"/>
          </a:p>
          <a:p>
            <a:pPr algn="just"/>
            <a:r>
              <a:rPr sz="2400" dirty="0"/>
              <a:t>Private universities in Lagos use platforms like Zoom and </a:t>
            </a:r>
            <a:r>
              <a:rPr sz="2400" dirty="0" smtClean="0"/>
              <a:t>Moodle</a:t>
            </a:r>
            <a:r>
              <a:rPr lang="en-US" sz="2400" dirty="0" smtClean="0"/>
              <a:t> (</a:t>
            </a:r>
            <a:r>
              <a:rPr lang="en-US" sz="1700" dirty="0"/>
              <a:t>this shift was more successful because these institutions already had access to digital tools. Platforms like </a:t>
            </a:r>
            <a:r>
              <a:rPr lang="en-US" sz="1700" b="1" dirty="0"/>
              <a:t>Zoom</a:t>
            </a:r>
            <a:r>
              <a:rPr lang="en-US" sz="1700" dirty="0"/>
              <a:t>, </a:t>
            </a:r>
            <a:r>
              <a:rPr lang="en-US" sz="1700" b="1" dirty="0"/>
              <a:t>Moodle</a:t>
            </a:r>
            <a:r>
              <a:rPr lang="en-US" sz="1700" dirty="0"/>
              <a:t>, and </a:t>
            </a:r>
            <a:r>
              <a:rPr lang="en-US" sz="1700" b="1" dirty="0"/>
              <a:t>Coursera</a:t>
            </a:r>
            <a:r>
              <a:rPr lang="en-US" sz="1700" dirty="0"/>
              <a:t> became part of everyday learning. For example, Covenant University used Moodle extensively for assignments and lectures</a:t>
            </a:r>
            <a:r>
              <a:rPr lang="en-US" sz="2400" dirty="0"/>
              <a:t>)</a:t>
            </a:r>
            <a:r>
              <a:rPr sz="2400" dirty="0"/>
              <a:t>.</a:t>
            </a:r>
          </a:p>
          <a:p>
            <a:pPr algn="just"/>
            <a:r>
              <a:rPr sz="2400" dirty="0"/>
              <a:t>E-learning enhances access, flexibility, and student engagement</a:t>
            </a:r>
            <a:r>
              <a:rPr sz="2400" dirty="0" smtClean="0"/>
              <a:t>.</a:t>
            </a:r>
            <a:r>
              <a:rPr lang="en-US" sz="2400" dirty="0" smtClean="0"/>
              <a:t> (</a:t>
            </a:r>
            <a:r>
              <a:rPr lang="en-US" sz="1700" dirty="0"/>
              <a:t>Students can learn from anywhere, at their own pace. They can rewatch lectures, engage in forums, and access materials 24/7 — something that’s impossible with traditional classrooms</a:t>
            </a:r>
            <a:r>
              <a:rPr lang="en-US" sz="2400" dirty="0"/>
              <a:t>.)</a:t>
            </a: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-20326"/>
            <a:ext cx="8458200" cy="881062"/>
          </a:xfrm>
        </p:spPr>
        <p:txBody>
          <a:bodyPr>
            <a:normAutofit/>
          </a:bodyPr>
          <a:lstStyle/>
          <a:p>
            <a:pPr algn="l"/>
            <a:r>
              <a:rPr sz="4000" b="1" dirty="0">
                <a:solidFill>
                  <a:schemeClr val="accent1"/>
                </a:solidFill>
              </a:rPr>
              <a:t>Statement of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12371"/>
            <a:ext cx="8458200" cy="5072063"/>
          </a:xfrm>
        </p:spPr>
        <p:txBody>
          <a:bodyPr>
            <a:normAutofit/>
          </a:bodyPr>
          <a:lstStyle/>
          <a:p>
            <a:pPr algn="just"/>
            <a:r>
              <a:rPr sz="2400" dirty="0" smtClean="0"/>
              <a:t>Rapid </a:t>
            </a:r>
            <a:r>
              <a:rPr sz="2400" dirty="0"/>
              <a:t>shift to online learning introduced digital literacy </a:t>
            </a:r>
            <a:r>
              <a:rPr sz="2400" dirty="0" smtClean="0"/>
              <a:t>challenges</a:t>
            </a:r>
            <a:r>
              <a:rPr lang="en-US" sz="2400" dirty="0" smtClean="0"/>
              <a:t> (</a:t>
            </a:r>
            <a:r>
              <a:rPr lang="en-US" sz="1600" dirty="0"/>
              <a:t>Students were not prepared for the demands of online learning, which created a learning curve</a:t>
            </a:r>
            <a:r>
              <a:rPr lang="en-US" sz="2400" dirty="0"/>
              <a:t>. </a:t>
            </a:r>
            <a:r>
              <a:rPr lang="en-US" sz="1600" dirty="0"/>
              <a:t>not all students were ready to effectively use the tools available to them</a:t>
            </a:r>
            <a:r>
              <a:rPr lang="en-US" sz="2400" dirty="0"/>
              <a:t>).</a:t>
            </a:r>
            <a:endParaRPr sz="2400" dirty="0"/>
          </a:p>
          <a:p>
            <a:pPr algn="just"/>
            <a:r>
              <a:rPr sz="2400" dirty="0"/>
              <a:t>Limited access to devices and internet; 77% reported connectivity issues</a:t>
            </a:r>
            <a:r>
              <a:rPr sz="2400" dirty="0" smtClean="0"/>
              <a:t>.</a:t>
            </a:r>
            <a:r>
              <a:rPr lang="en-US" sz="2400" dirty="0" smtClean="0"/>
              <a:t> (</a:t>
            </a:r>
            <a:r>
              <a:rPr lang="en-US" sz="1600" dirty="0"/>
              <a:t>The internet and device limitations created barriers that affected the overall learning experience for many students.</a:t>
            </a:r>
            <a:r>
              <a:rPr lang="en-US" sz="2400" dirty="0"/>
              <a:t>)</a:t>
            </a:r>
            <a:endParaRPr sz="2400" dirty="0"/>
          </a:p>
          <a:p>
            <a:pPr algn="just"/>
            <a:r>
              <a:rPr sz="2400" dirty="0"/>
              <a:t>Low engagement and interaction in virtual </a:t>
            </a:r>
            <a:r>
              <a:rPr sz="2400" dirty="0" smtClean="0"/>
              <a:t>classrooms</a:t>
            </a:r>
            <a:r>
              <a:rPr lang="en-US" sz="2400" dirty="0" smtClean="0"/>
              <a:t> (</a:t>
            </a:r>
            <a:r>
              <a:rPr lang="en-US" sz="1600" dirty="0"/>
              <a:t>Traditional classrooms provide an opportunity for face-to-face interaction, where teachers can engage students and keep them motivated. Online platforms, however, often lack that level of engagement</a:t>
            </a:r>
            <a:r>
              <a:rPr lang="en-US" sz="2400" dirty="0"/>
              <a:t>)</a:t>
            </a:r>
            <a:r>
              <a:rPr sz="2400" dirty="0"/>
              <a:t>.</a:t>
            </a:r>
          </a:p>
          <a:p>
            <a:pPr algn="just"/>
            <a:r>
              <a:rPr sz="2400" dirty="0"/>
              <a:t>Gap in literature on impact in Lagos private </a:t>
            </a:r>
            <a:r>
              <a:rPr sz="2400" dirty="0" smtClean="0"/>
              <a:t>universities</a:t>
            </a:r>
            <a:r>
              <a:rPr lang="en-US" sz="2400" dirty="0" smtClean="0"/>
              <a:t> (</a:t>
            </a:r>
            <a:r>
              <a:rPr lang="en-US" sz="1600" dirty="0"/>
              <a:t>There's very little research on how Lagos private university students are experiencing and adopting online learning platforms, which this study aims to address</a:t>
            </a:r>
            <a:r>
              <a:rPr lang="en-US" sz="2400" dirty="0"/>
              <a:t>)</a:t>
            </a:r>
            <a:r>
              <a:rPr sz="24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200" y="-5579"/>
            <a:ext cx="8356600" cy="906462"/>
          </a:xfrm>
        </p:spPr>
        <p:txBody>
          <a:bodyPr>
            <a:normAutofit/>
          </a:bodyPr>
          <a:lstStyle/>
          <a:p>
            <a:pPr algn="l"/>
            <a:r>
              <a:rPr sz="4000" b="1" dirty="0">
                <a:solidFill>
                  <a:schemeClr val="accent1"/>
                </a:solidFill>
              </a:rPr>
              <a:t>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2"/>
            <a:ext cx="8229600" cy="4902200"/>
          </a:xfrm>
        </p:spPr>
        <p:txBody>
          <a:bodyPr>
            <a:normAutofit fontScale="92500" lnSpcReduction="20000"/>
          </a:bodyPr>
          <a:lstStyle/>
          <a:p>
            <a:pPr marL="514350" indent="-514350" algn="just">
              <a:buFont typeface="+mj-lt"/>
              <a:buAutoNum type="romanLcPeriod"/>
            </a:pPr>
            <a:r>
              <a:rPr lang="en-US" sz="2400" dirty="0" smtClean="0"/>
              <a:t>To examine the</a:t>
            </a:r>
            <a:r>
              <a:rPr sz="2400" dirty="0" smtClean="0"/>
              <a:t> </a:t>
            </a:r>
            <a:r>
              <a:rPr sz="2400" dirty="0"/>
              <a:t>relationship between </a:t>
            </a:r>
            <a:r>
              <a:rPr lang="en-US" sz="2400" dirty="0" smtClean="0"/>
              <a:t>perceived </a:t>
            </a:r>
            <a:r>
              <a:rPr sz="2400" dirty="0" smtClean="0"/>
              <a:t>ease </a:t>
            </a:r>
            <a:r>
              <a:rPr sz="2400" dirty="0"/>
              <a:t>of </a:t>
            </a:r>
            <a:r>
              <a:rPr sz="2400" dirty="0" smtClean="0"/>
              <a:t>use</a:t>
            </a:r>
            <a:r>
              <a:rPr lang="en-US" sz="2400" dirty="0" smtClean="0"/>
              <a:t> of adopted e-learning technologies</a:t>
            </a:r>
            <a:r>
              <a:rPr sz="2400" dirty="0" smtClean="0"/>
              <a:t> </a:t>
            </a:r>
            <a:r>
              <a:rPr sz="2400" dirty="0"/>
              <a:t>and perceived </a:t>
            </a:r>
            <a:r>
              <a:rPr sz="2400" dirty="0" smtClean="0"/>
              <a:t>usefulness</a:t>
            </a:r>
            <a:r>
              <a:rPr lang="en-US" sz="2400" dirty="0" smtClean="0"/>
              <a:t> of these technologies;</a:t>
            </a:r>
            <a:endParaRPr sz="2400" dirty="0"/>
          </a:p>
          <a:p>
            <a:pPr marL="514350" indent="-514350" algn="just">
              <a:buFont typeface="+mj-lt"/>
              <a:buAutoNum type="romanLcPeriod"/>
            </a:pPr>
            <a:r>
              <a:rPr lang="en-US" sz="2400" dirty="0" smtClean="0"/>
              <a:t>To e</a:t>
            </a:r>
            <a:r>
              <a:rPr sz="2400" dirty="0" smtClean="0"/>
              <a:t>xamine </a:t>
            </a:r>
            <a:r>
              <a:rPr lang="en-US" sz="2400" dirty="0" smtClean="0"/>
              <a:t>the influence of perceived</a:t>
            </a:r>
            <a:r>
              <a:rPr sz="2400" dirty="0" smtClean="0"/>
              <a:t> </a:t>
            </a:r>
            <a:r>
              <a:rPr sz="2400" dirty="0"/>
              <a:t>ease of </a:t>
            </a:r>
            <a:r>
              <a:rPr sz="2400" dirty="0" smtClean="0"/>
              <a:t>use</a:t>
            </a:r>
            <a:r>
              <a:rPr lang="en-US" sz="2400" dirty="0" smtClean="0"/>
              <a:t> of adopted e-learning technologies</a:t>
            </a:r>
            <a:r>
              <a:rPr sz="2400" dirty="0" smtClean="0"/>
              <a:t> </a:t>
            </a:r>
            <a:r>
              <a:rPr sz="2400" dirty="0"/>
              <a:t>and </a:t>
            </a:r>
            <a:r>
              <a:rPr sz="2400" dirty="0" smtClean="0"/>
              <a:t>student</a:t>
            </a:r>
            <a:r>
              <a:rPr lang="en-US" sz="2400" dirty="0" smtClean="0"/>
              <a:t>s’ </a:t>
            </a:r>
            <a:r>
              <a:rPr sz="2400" dirty="0" smtClean="0"/>
              <a:t>attitude</a:t>
            </a:r>
            <a:r>
              <a:rPr lang="en-US" sz="2400" dirty="0" smtClean="0"/>
              <a:t> towards using e-learning technologies;</a:t>
            </a:r>
          </a:p>
          <a:p>
            <a:pPr marL="514350" indent="-514350" algn="just">
              <a:buFont typeface="+mj-lt"/>
              <a:buAutoNum type="romanLcPeriod"/>
            </a:pPr>
            <a:r>
              <a:rPr lang="en-US" sz="2400" dirty="0"/>
              <a:t>To </a:t>
            </a:r>
            <a:r>
              <a:rPr lang="en-US" sz="2400" dirty="0" smtClean="0"/>
              <a:t>evaluate </a:t>
            </a:r>
            <a:r>
              <a:rPr lang="en-US" sz="2400" dirty="0"/>
              <a:t>the </a:t>
            </a:r>
            <a:r>
              <a:rPr lang="en-US" sz="2400" dirty="0" smtClean="0"/>
              <a:t>contribution </a:t>
            </a:r>
            <a:r>
              <a:rPr lang="en-US" sz="2400" dirty="0"/>
              <a:t>of </a:t>
            </a:r>
            <a:r>
              <a:rPr lang="en-US" sz="2400" dirty="0" smtClean="0"/>
              <a:t>students’ perceived usefulness </a:t>
            </a:r>
            <a:r>
              <a:rPr lang="en-US" sz="2400" dirty="0"/>
              <a:t>of adopted e-learning technologies and students’ attitude towards using e-learning technologies;</a:t>
            </a:r>
          </a:p>
          <a:p>
            <a:pPr marL="514350" indent="-514350" algn="just">
              <a:buFont typeface="+mj-lt"/>
              <a:buAutoNum type="romanLcPeriod"/>
            </a:pPr>
            <a:r>
              <a:rPr lang="en-US" sz="2400" dirty="0" smtClean="0"/>
              <a:t>To evaluate the influence of</a:t>
            </a:r>
            <a:r>
              <a:rPr sz="2400" dirty="0" smtClean="0"/>
              <a:t> </a:t>
            </a:r>
            <a:r>
              <a:rPr sz="2400" dirty="0"/>
              <a:t>perceived </a:t>
            </a:r>
            <a:r>
              <a:rPr sz="2400" dirty="0" smtClean="0"/>
              <a:t>usefulness</a:t>
            </a:r>
            <a:r>
              <a:rPr lang="en-US" sz="2400" dirty="0" smtClean="0"/>
              <a:t> of adopted e-learning technologies</a:t>
            </a:r>
            <a:r>
              <a:rPr sz="2400" dirty="0" smtClean="0"/>
              <a:t> </a:t>
            </a:r>
            <a:r>
              <a:rPr lang="en-US" sz="2400" dirty="0" smtClean="0"/>
              <a:t>on students’</a:t>
            </a:r>
            <a:r>
              <a:rPr sz="2400" dirty="0" smtClean="0"/>
              <a:t> </a:t>
            </a:r>
            <a:r>
              <a:rPr sz="2400" dirty="0"/>
              <a:t>intention to </a:t>
            </a:r>
            <a:r>
              <a:rPr sz="2400" dirty="0" smtClean="0"/>
              <a:t>use</a:t>
            </a:r>
            <a:r>
              <a:rPr lang="en-US" sz="2400" dirty="0" smtClean="0"/>
              <a:t> the e-learning technologies; and</a:t>
            </a:r>
            <a:endParaRPr sz="2400" dirty="0"/>
          </a:p>
          <a:p>
            <a:pPr marL="514350" indent="-514350" algn="just">
              <a:buFont typeface="+mj-lt"/>
              <a:buAutoNum type="romanLcPeriod"/>
            </a:pPr>
            <a:r>
              <a:rPr lang="en-US" sz="2400" dirty="0" smtClean="0"/>
              <a:t>To assess the relationship between students’ </a:t>
            </a:r>
            <a:r>
              <a:rPr sz="2400" dirty="0" smtClean="0"/>
              <a:t>attitude</a:t>
            </a:r>
            <a:r>
              <a:rPr lang="en-US" sz="2400" dirty="0" smtClean="0"/>
              <a:t> towards using e-learning technologies and their </a:t>
            </a:r>
            <a:r>
              <a:rPr sz="2400" dirty="0" smtClean="0"/>
              <a:t>intention </a:t>
            </a:r>
            <a:r>
              <a:rPr sz="2400" dirty="0"/>
              <a:t>to </a:t>
            </a:r>
            <a:r>
              <a:rPr sz="2400" dirty="0" smtClean="0"/>
              <a:t>use</a:t>
            </a:r>
            <a:r>
              <a:rPr lang="en-US" sz="2400" dirty="0" smtClean="0"/>
              <a:t> e-learning technologies</a:t>
            </a:r>
            <a:r>
              <a:rPr sz="2400" dirty="0" smtClean="0"/>
              <a:t>.</a:t>
            </a: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="" xmlns:a16="http://schemas.microsoft.com/office/drawing/2014/main" id="{314736B4-F0C6-1EC6-165C-AB6FC2838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799" y="617767"/>
            <a:ext cx="8267701" cy="639762"/>
          </a:xfrm>
        </p:spPr>
        <p:txBody>
          <a:bodyPr>
            <a:noAutofit/>
          </a:bodyPr>
          <a:lstStyle/>
          <a:p>
            <a:r>
              <a:rPr lang="en-GB" sz="4000" dirty="0" smtClean="0"/>
              <a:t>Methodology</a:t>
            </a:r>
            <a:endParaRPr lang="en-GB" sz="40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41" name="Picture 2" descr="A diagram of a person's attitude&#10;&#10;Description automatically generat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77088"/>
            <a:ext cx="7220418" cy="2726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104900" y="4624535"/>
            <a:ext cx="50292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Figure 1: T</a:t>
            </a:r>
            <a:r>
              <a:rPr kumimoji="0" lang="en-US" altLang="ja-JP" sz="1400" b="1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AM introduced by Fred Davis (Davis 1986)</a:t>
            </a:r>
            <a:endParaRPr kumimoji="0" lang="en-US" altLang="ja-JP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431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="" xmlns:a16="http://schemas.microsoft.com/office/drawing/2014/main" id="{314736B4-F0C6-1EC6-165C-AB6FC2838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3200" y="607885"/>
            <a:ext cx="8369300" cy="639762"/>
          </a:xfrm>
        </p:spPr>
        <p:txBody>
          <a:bodyPr>
            <a:noAutofit/>
          </a:bodyPr>
          <a:lstStyle/>
          <a:p>
            <a:r>
              <a:rPr lang="en-GB" sz="4000" dirty="0" smtClean="0"/>
              <a:t>Methodology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99964" y="1045750"/>
            <a:ext cx="8648700" cy="4732749"/>
          </a:xfrm>
        </p:spPr>
        <p:txBody>
          <a:bodyPr>
            <a:normAutofit/>
          </a:bodyPr>
          <a:lstStyle/>
          <a:p>
            <a:pPr algn="just"/>
            <a:r>
              <a:rPr sz="2400" b="1" dirty="0" smtClean="0"/>
              <a:t>Design</a:t>
            </a:r>
            <a:r>
              <a:rPr sz="2400" b="1" dirty="0"/>
              <a:t>: </a:t>
            </a:r>
            <a:r>
              <a:rPr sz="2400" dirty="0"/>
              <a:t>Quantitative</a:t>
            </a:r>
            <a:r>
              <a:rPr lang="en-US" sz="2400" dirty="0"/>
              <a:t> based research design</a:t>
            </a:r>
            <a:r>
              <a:rPr lang="en-US" dirty="0" smtClean="0"/>
              <a:t>.</a:t>
            </a:r>
          </a:p>
          <a:p>
            <a:pPr algn="just"/>
            <a:r>
              <a:rPr lang="en-US" b="1" dirty="0" smtClean="0"/>
              <a:t>Study area: </a:t>
            </a:r>
            <a:r>
              <a:rPr lang="en-US" dirty="0" smtClean="0"/>
              <a:t>4 </a:t>
            </a:r>
            <a:r>
              <a:rPr lang="en-US" dirty="0"/>
              <a:t>private </a:t>
            </a:r>
            <a:r>
              <a:rPr lang="en-US" dirty="0" smtClean="0"/>
              <a:t>Universities was selected </a:t>
            </a:r>
            <a:r>
              <a:rPr lang="en-US" dirty="0"/>
              <a:t>due to </a:t>
            </a:r>
            <a:r>
              <a:rPr lang="en-US" dirty="0" smtClean="0"/>
              <a:t>convenience of data gathering (Trinity University, Augustine University,</a:t>
            </a:r>
            <a:r>
              <a:rPr lang="en-US" dirty="0"/>
              <a:t> Caleb </a:t>
            </a:r>
            <a:r>
              <a:rPr lang="en-US" dirty="0" smtClean="0"/>
              <a:t>University, and Anchor University)</a:t>
            </a:r>
            <a:endParaRPr lang="en-US" dirty="0"/>
          </a:p>
          <a:p>
            <a:pPr algn="just"/>
            <a:r>
              <a:rPr lang="en-US" b="1" dirty="0" smtClean="0"/>
              <a:t>Population and sample</a:t>
            </a:r>
            <a:r>
              <a:rPr lang="en-US" b="1" dirty="0"/>
              <a:t>: </a:t>
            </a:r>
            <a:r>
              <a:rPr lang="en-US" dirty="0" smtClean="0"/>
              <a:t>400 students at 100 respondents per university across different departments and levels.</a:t>
            </a:r>
            <a:endParaRPr lang="en-US" dirty="0"/>
          </a:p>
          <a:p>
            <a:pPr algn="just"/>
            <a:r>
              <a:rPr lang="en-US" sz="2400" b="1" dirty="0" smtClean="0"/>
              <a:t>Research instrument</a:t>
            </a:r>
            <a:r>
              <a:rPr sz="2400" b="1" dirty="0" smtClean="0"/>
              <a:t>: </a:t>
            </a:r>
            <a:r>
              <a:rPr lang="en-US" dirty="0"/>
              <a:t>P</a:t>
            </a:r>
            <a:r>
              <a:rPr lang="en-US" dirty="0" smtClean="0"/>
              <a:t>rimary </a:t>
            </a:r>
            <a:r>
              <a:rPr lang="en-US" dirty="0"/>
              <a:t>data </a:t>
            </a:r>
            <a:r>
              <a:rPr lang="en-US" dirty="0" smtClean="0"/>
              <a:t>were collected through structured questionnaire deployed using online survey system designed for the purpose.</a:t>
            </a:r>
            <a:r>
              <a:rPr sz="2400" dirty="0" smtClean="0"/>
              <a:t> </a:t>
            </a:r>
            <a:endParaRPr lang="en-US" sz="2400" dirty="0"/>
          </a:p>
          <a:p>
            <a:pPr algn="just"/>
            <a:r>
              <a:rPr sz="2400" b="1" dirty="0" smtClean="0"/>
              <a:t>Analysis</a:t>
            </a:r>
            <a:r>
              <a:rPr sz="2400" b="1" dirty="0"/>
              <a:t>:</a:t>
            </a:r>
            <a:r>
              <a:rPr lang="en-US" sz="2400" b="1" dirty="0"/>
              <a:t> </a:t>
            </a:r>
            <a:r>
              <a:rPr sz="2400" dirty="0" smtClean="0"/>
              <a:t>SPSS </a:t>
            </a:r>
            <a:r>
              <a:rPr sz="2400" dirty="0"/>
              <a:t>&amp; </a:t>
            </a:r>
            <a:r>
              <a:rPr sz="2400" dirty="0" err="1" smtClean="0"/>
              <a:t>SmartPLS</a:t>
            </a:r>
            <a:r>
              <a:rPr sz="2400" dirty="0" smtClean="0"/>
              <a:t>.</a:t>
            </a:r>
            <a:endParaRPr lang="en-US" sz="2400" dirty="0"/>
          </a:p>
          <a:p>
            <a:pPr algn="just"/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900" y="-5577"/>
            <a:ext cx="8470899" cy="842962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 smtClean="0">
                <a:solidFill>
                  <a:schemeClr val="accent1"/>
                </a:solidFill>
              </a:rPr>
              <a:t>Descriptive results</a:t>
            </a:r>
            <a:endParaRPr sz="4000" b="1" dirty="0">
              <a:solidFill>
                <a:schemeClr val="accent1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937299"/>
              </p:ext>
            </p:extLst>
          </p:nvPr>
        </p:nvGraphicFramePr>
        <p:xfrm>
          <a:off x="215901" y="1828798"/>
          <a:ext cx="5016499" cy="3949700"/>
        </p:xfrm>
        <a:graphic>
          <a:graphicData uri="http://schemas.openxmlformats.org/drawingml/2006/table">
            <a:tbl>
              <a:tblPr/>
              <a:tblGrid>
                <a:gridCol w="1790699"/>
                <a:gridCol w="1397000"/>
                <a:gridCol w="1828800"/>
              </a:tblGrid>
              <a:tr h="971550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University</a:t>
                      </a:r>
                      <a:endParaRPr lang="en-US" sz="18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Frequency</a:t>
                      </a:r>
                      <a:endParaRPr lang="en-US" sz="18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Percentage</a:t>
                      </a:r>
                      <a:endParaRPr lang="en-US" sz="18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marL="38100" marR="3810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Anchor University</a:t>
                      </a:r>
                      <a:endParaRPr lang="en-US" sz="20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37</a:t>
                      </a:r>
                      <a:endParaRPr lang="en-US" sz="20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19.5</a:t>
                      </a:r>
                      <a:endParaRPr lang="en-US" sz="20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marL="38100" marR="3810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Augustine University</a:t>
                      </a:r>
                      <a:endParaRPr lang="en-US" sz="20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52</a:t>
                      </a:r>
                      <a:endParaRPr lang="en-US" sz="20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27.4</a:t>
                      </a:r>
                      <a:endParaRPr lang="en-US" sz="20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marL="38100" marR="3810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Caleb University</a:t>
                      </a:r>
                      <a:endParaRPr lang="en-US" sz="20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67</a:t>
                      </a:r>
                      <a:endParaRPr lang="en-US" sz="20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35.3</a:t>
                      </a:r>
                      <a:endParaRPr lang="en-US" sz="20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marL="38100" marR="3810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Trinity University</a:t>
                      </a:r>
                      <a:endParaRPr lang="en-US" sz="20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34</a:t>
                      </a:r>
                      <a:endParaRPr lang="en-US" sz="20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17.9</a:t>
                      </a:r>
                      <a:endParaRPr lang="en-US" sz="20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marL="38100" marR="38100" indent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2000" b="1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190</a:t>
                      </a:r>
                      <a:endParaRPr lang="en-US" sz="2000" b="1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b="1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305964"/>
              </p:ext>
            </p:extLst>
          </p:nvPr>
        </p:nvGraphicFramePr>
        <p:xfrm>
          <a:off x="5537201" y="1828798"/>
          <a:ext cx="3313188" cy="2563502"/>
        </p:xfrm>
        <a:graphic>
          <a:graphicData uri="http://schemas.openxmlformats.org/drawingml/2006/table">
            <a:tbl>
              <a:tblPr/>
              <a:tblGrid>
                <a:gridCol w="1158673"/>
                <a:gridCol w="105620"/>
                <a:gridCol w="1339206"/>
                <a:gridCol w="709689"/>
              </a:tblGrid>
              <a:tr h="1028702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0" dirty="0" smtClean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Gender</a:t>
                      </a:r>
                      <a:endParaRPr lang="en-US" sz="20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0" dirty="0" smtClean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Frequency</a:t>
                      </a:r>
                      <a:endParaRPr lang="en-US" sz="20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0" dirty="0" smtClean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%</a:t>
                      </a:r>
                      <a:endParaRPr lang="en-US" sz="20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600">
                <a:tc gridSpan="2">
                  <a:txBody>
                    <a:bodyPr/>
                    <a:lstStyle/>
                    <a:p>
                      <a:pPr marL="38100" marR="38100" indent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Female</a:t>
                      </a:r>
                      <a:endParaRPr lang="en-US" sz="20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78</a:t>
                      </a:r>
                      <a:endParaRPr lang="en-US" sz="20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41</a:t>
                      </a:r>
                      <a:endParaRPr lang="en-US" sz="20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511600">
                <a:tc gridSpan="2">
                  <a:txBody>
                    <a:bodyPr/>
                    <a:lstStyle/>
                    <a:p>
                      <a:pPr marL="38100" marR="38100" indent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Male</a:t>
                      </a:r>
                      <a:endParaRPr lang="en-US" sz="20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112</a:t>
                      </a:r>
                      <a:endParaRPr lang="en-US" sz="20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59</a:t>
                      </a:r>
                      <a:endParaRPr lang="en-US" sz="20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600">
                <a:tc gridSpan="2">
                  <a:txBody>
                    <a:bodyPr/>
                    <a:lstStyle/>
                    <a:p>
                      <a:pPr marL="38100" marR="38100" indent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20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190</a:t>
                      </a:r>
                      <a:endParaRPr lang="en-US" sz="2000" b="1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b="1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458200" cy="842962"/>
          </a:xfrm>
        </p:spPr>
        <p:txBody>
          <a:bodyPr/>
          <a:lstStyle/>
          <a:p>
            <a:pPr algn="l"/>
            <a:r>
              <a:rPr lang="en-US" b="1" dirty="0" smtClean="0">
                <a:solidFill>
                  <a:schemeClr val="accent1"/>
                </a:solidFill>
              </a:rPr>
              <a:t>Results</a:t>
            </a:r>
            <a:endParaRPr b="1" dirty="0">
              <a:solidFill>
                <a:schemeClr val="accent1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2447452"/>
              </p:ext>
            </p:extLst>
          </p:nvPr>
        </p:nvGraphicFramePr>
        <p:xfrm>
          <a:off x="317501" y="1483202"/>
          <a:ext cx="4114799" cy="3736497"/>
        </p:xfrm>
        <a:graphic>
          <a:graphicData uri="http://schemas.openxmlformats.org/drawingml/2006/table">
            <a:tbl>
              <a:tblPr/>
              <a:tblGrid>
                <a:gridCol w="1686882"/>
                <a:gridCol w="1170819"/>
                <a:gridCol w="1257098"/>
              </a:tblGrid>
              <a:tr h="1079721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Age r</a:t>
                      </a:r>
                      <a:r>
                        <a:rPr lang="en-US" sz="16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ange</a:t>
                      </a:r>
                      <a:endParaRPr lang="en-US" sz="16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Frequency</a:t>
                      </a:r>
                      <a:endParaRPr lang="en-US" sz="16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Percent</a:t>
                      </a:r>
                      <a:r>
                        <a:rPr lang="en-US" sz="16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age</a:t>
                      </a:r>
                      <a:endParaRPr lang="en-US" sz="16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2796">
                <a:tc>
                  <a:txBody>
                    <a:bodyPr/>
                    <a:lstStyle/>
                    <a:p>
                      <a:pPr marL="38100" marR="38100" indent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Below 16</a:t>
                      </a:r>
                      <a:endParaRPr lang="en-US" sz="20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0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20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442796">
                <a:tc>
                  <a:txBody>
                    <a:bodyPr/>
                    <a:lstStyle/>
                    <a:p>
                      <a:pPr marL="38100" marR="38100" indent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16 - 18</a:t>
                      </a:r>
                      <a:endParaRPr lang="en-US" sz="20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54</a:t>
                      </a:r>
                      <a:endParaRPr lang="en-US" sz="20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28.4</a:t>
                      </a:r>
                      <a:endParaRPr lang="en-US" sz="20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2796">
                <a:tc>
                  <a:txBody>
                    <a:bodyPr/>
                    <a:lstStyle/>
                    <a:p>
                      <a:pPr marL="38100" marR="38100" indent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19 - 21</a:t>
                      </a:r>
                      <a:endParaRPr lang="en-US" sz="20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107</a:t>
                      </a:r>
                      <a:endParaRPr lang="en-US" sz="20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56.3</a:t>
                      </a:r>
                      <a:endParaRPr lang="en-US" sz="20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2796">
                <a:tc>
                  <a:txBody>
                    <a:bodyPr/>
                    <a:lstStyle/>
                    <a:p>
                      <a:pPr marL="38100" marR="38100" indent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22 - 25</a:t>
                      </a:r>
                      <a:endParaRPr lang="en-US" sz="20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27</a:t>
                      </a:r>
                      <a:endParaRPr lang="en-US" sz="20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14.2</a:t>
                      </a:r>
                      <a:endParaRPr lang="en-US" sz="20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2796">
                <a:tc>
                  <a:txBody>
                    <a:bodyPr/>
                    <a:lstStyle/>
                    <a:p>
                      <a:pPr marL="38100" marR="38100" indent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Above 25</a:t>
                      </a:r>
                      <a:endParaRPr lang="en-US" sz="20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0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20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2796">
                <a:tc>
                  <a:txBody>
                    <a:bodyPr/>
                    <a:lstStyle/>
                    <a:p>
                      <a:pPr marL="38100" marR="38100" indent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20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190</a:t>
                      </a:r>
                      <a:endParaRPr lang="en-US" sz="20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724588"/>
              </p:ext>
            </p:extLst>
          </p:nvPr>
        </p:nvGraphicFramePr>
        <p:xfrm>
          <a:off x="4762500" y="1483204"/>
          <a:ext cx="4013200" cy="3801314"/>
        </p:xfrm>
        <a:graphic>
          <a:graphicData uri="http://schemas.openxmlformats.org/drawingml/2006/table">
            <a:tbl>
              <a:tblPr/>
              <a:tblGrid>
                <a:gridCol w="1408824"/>
                <a:gridCol w="113134"/>
                <a:gridCol w="1083946"/>
                <a:gridCol w="1407296"/>
              </a:tblGrid>
              <a:tr h="1069496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Academic</a:t>
                      </a:r>
                      <a:r>
                        <a:rPr lang="en-US" sz="16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level</a:t>
                      </a:r>
                      <a:endParaRPr lang="en-US" sz="16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Frequency</a:t>
                      </a:r>
                      <a:endParaRPr lang="en-US" sz="16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Percent</a:t>
                      </a:r>
                      <a:r>
                        <a:rPr lang="en-US" sz="16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age</a:t>
                      </a:r>
                      <a:endParaRPr lang="en-US" sz="16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5303">
                <a:tc gridSpan="2">
                  <a:txBody>
                    <a:bodyPr/>
                    <a:lstStyle/>
                    <a:p>
                      <a:pPr marL="38100" marR="38100" indent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 level</a:t>
                      </a:r>
                      <a:endParaRPr lang="en-US" sz="20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US" sz="20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15.8</a:t>
                      </a:r>
                      <a:endParaRPr lang="en-US" sz="20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455303">
                <a:tc gridSpan="2">
                  <a:txBody>
                    <a:bodyPr/>
                    <a:lstStyle/>
                    <a:p>
                      <a:pPr marL="38100" marR="38100" indent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 level</a:t>
                      </a:r>
                      <a:endParaRPr lang="en-US" sz="20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47</a:t>
                      </a:r>
                      <a:endParaRPr lang="en-US" sz="20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24.7</a:t>
                      </a:r>
                      <a:endParaRPr lang="en-US" sz="20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5303">
                <a:tc gridSpan="2">
                  <a:txBody>
                    <a:bodyPr/>
                    <a:lstStyle/>
                    <a:p>
                      <a:pPr marL="38100" marR="38100" indent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300 level</a:t>
                      </a:r>
                      <a:endParaRPr lang="en-US" sz="20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US" sz="20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26.3</a:t>
                      </a:r>
                      <a:endParaRPr lang="en-US" sz="20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5303">
                <a:tc gridSpan="2">
                  <a:txBody>
                    <a:bodyPr/>
                    <a:lstStyle/>
                    <a:p>
                      <a:pPr marL="38100" marR="38100" indent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400 level</a:t>
                      </a:r>
                      <a:endParaRPr lang="en-US" sz="20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57</a:t>
                      </a:r>
                      <a:endParaRPr lang="en-US" sz="20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30.0</a:t>
                      </a:r>
                      <a:endParaRPr lang="en-US" sz="20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5303">
                <a:tc gridSpan="2">
                  <a:txBody>
                    <a:bodyPr/>
                    <a:lstStyle/>
                    <a:p>
                      <a:pPr marL="38100" marR="38100" indent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500 level</a:t>
                      </a:r>
                      <a:endParaRPr lang="en-US" sz="20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20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3.2</a:t>
                      </a:r>
                      <a:endParaRPr lang="en-US" sz="20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5303">
                <a:tc gridSpan="2">
                  <a:txBody>
                    <a:bodyPr/>
                    <a:lstStyle/>
                    <a:p>
                      <a:pPr marL="38100" marR="38100" indent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20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190</a:t>
                      </a:r>
                      <a:endParaRPr lang="en-US" sz="20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1693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0"/>
            <a:ext cx="8343900" cy="842962"/>
          </a:xfrm>
        </p:spPr>
        <p:txBody>
          <a:bodyPr/>
          <a:lstStyle/>
          <a:p>
            <a:pPr algn="l"/>
            <a:r>
              <a:rPr lang="en-US" b="1" dirty="0" smtClean="0">
                <a:solidFill>
                  <a:schemeClr val="accent1"/>
                </a:solidFill>
              </a:rPr>
              <a:t>Results</a:t>
            </a:r>
            <a:endParaRPr b="1" dirty="0">
              <a:solidFill>
                <a:schemeClr val="accent1"/>
              </a:solidFill>
            </a:endParaRPr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3095749182"/>
              </p:ext>
            </p:extLst>
          </p:nvPr>
        </p:nvGraphicFramePr>
        <p:xfrm>
          <a:off x="457200" y="1524000"/>
          <a:ext cx="7848600" cy="4394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4230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982" y="23921"/>
            <a:ext cx="8509817" cy="842962"/>
          </a:xfrm>
        </p:spPr>
        <p:txBody>
          <a:bodyPr/>
          <a:lstStyle/>
          <a:p>
            <a:pPr algn="l"/>
            <a:r>
              <a:rPr lang="en-US" b="1" dirty="0" smtClean="0">
                <a:solidFill>
                  <a:schemeClr val="accent1"/>
                </a:solidFill>
              </a:rPr>
              <a:t>Results</a:t>
            </a:r>
            <a:endParaRPr b="1" dirty="0">
              <a:solidFill>
                <a:schemeClr val="accent1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437533"/>
              </p:ext>
            </p:extLst>
          </p:nvPr>
        </p:nvGraphicFramePr>
        <p:xfrm>
          <a:off x="176983" y="881637"/>
          <a:ext cx="8790039" cy="4995923"/>
        </p:xfrm>
        <a:graphic>
          <a:graphicData uri="http://schemas.openxmlformats.org/drawingml/2006/table">
            <a:tbl>
              <a:tblPr/>
              <a:tblGrid>
                <a:gridCol w="2650052"/>
                <a:gridCol w="962026"/>
                <a:gridCol w="911393"/>
                <a:gridCol w="1191822"/>
                <a:gridCol w="1012244"/>
                <a:gridCol w="995554"/>
                <a:gridCol w="1066948"/>
              </a:tblGrid>
              <a:tr h="359203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Perceived Usefulness</a:t>
                      </a:r>
                      <a:endParaRPr lang="en-US" sz="15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Disagree</a:t>
                      </a:r>
                      <a:endParaRPr lang="en-US" sz="15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Slightly Agree</a:t>
                      </a:r>
                      <a:endParaRPr lang="en-US" sz="15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Moderately Agree</a:t>
                      </a:r>
                      <a:endParaRPr lang="en-US" sz="1500" kern="120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Agree</a:t>
                      </a:r>
                      <a:endParaRPr lang="en-US" sz="1500" kern="120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Strongly Agree</a:t>
                      </a:r>
                      <a:endParaRPr lang="en-US" sz="15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15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805">
                <a:tc>
                  <a:txBody>
                    <a:bodyPr/>
                    <a:lstStyle/>
                    <a:p>
                      <a:pPr marL="38100" marR="3810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I find the e-learning platform in my school useful in my daily school life </a:t>
                      </a:r>
                      <a:r>
                        <a:rPr lang="en-US" sz="1600" b="1" i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(PU1)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10(5.3)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5(2.6)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27(14.2)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66(34.7)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82(43.2)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190(100)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041143">
                <a:tc>
                  <a:txBody>
                    <a:bodyPr/>
                    <a:lstStyle/>
                    <a:p>
                      <a:pPr marL="38100" marR="3810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Using the e-learning platform in my school improves my productivity in completing coursework </a:t>
                      </a:r>
                      <a:r>
                        <a:rPr lang="en-US" sz="1600" b="1" i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(PU2)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9(4.7)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12(6.3)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27(14.2)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62(32.6)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80(42.1)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190(100)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Using the e-learning platform in my school makes it easier to access school materials </a:t>
                      </a:r>
                      <a:r>
                        <a:rPr lang="en-US" sz="1600" b="1" i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(PU3)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6(3.2)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9(4.7)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26(13.7)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50(26.3)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99(52.1)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190(100)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Using the e-learning platform in my school enhances my learning experience </a:t>
                      </a:r>
                      <a:r>
                        <a:rPr lang="en-US" sz="1600" b="1" i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(PU4)</a:t>
                      </a: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9(4.7)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12(6.3)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24(12.6)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56(29.5)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89(46.8)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190(100)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69849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The e-learning platform enables me to accomplish learning tasks more quickly </a:t>
                      </a:r>
                      <a:r>
                        <a:rPr lang="en-US" sz="1600" b="1" i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(PU5)</a:t>
                      </a: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7(3.7)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13(6.8)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24(12.6)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60(31.6)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86(45.3)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190(100)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16" marR="60616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7996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1726"/>
            <a:ext cx="8801100" cy="609600"/>
          </a:xfrm>
        </p:spPr>
        <p:txBody>
          <a:bodyPr/>
          <a:lstStyle/>
          <a:p>
            <a:pPr algn="l"/>
            <a:r>
              <a:rPr lang="en-US" b="1" dirty="0" smtClean="0">
                <a:solidFill>
                  <a:schemeClr val="accent1"/>
                </a:solidFill>
              </a:rPr>
              <a:t>Results</a:t>
            </a:r>
            <a:endParaRPr b="1" dirty="0">
              <a:solidFill>
                <a:schemeClr val="accent1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716712"/>
              </p:ext>
            </p:extLst>
          </p:nvPr>
        </p:nvGraphicFramePr>
        <p:xfrm>
          <a:off x="342900" y="769250"/>
          <a:ext cx="8451850" cy="5020239"/>
        </p:xfrm>
        <a:graphic>
          <a:graphicData uri="http://schemas.openxmlformats.org/drawingml/2006/table">
            <a:tbl>
              <a:tblPr/>
              <a:tblGrid>
                <a:gridCol w="2623676"/>
                <a:gridCol w="941248"/>
                <a:gridCol w="877500"/>
                <a:gridCol w="1147500"/>
                <a:gridCol w="877500"/>
                <a:gridCol w="965251"/>
                <a:gridCol w="1019175"/>
              </a:tblGrid>
              <a:tr h="525969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Perceived Ease of Use</a:t>
                      </a:r>
                      <a:endParaRPr lang="en-US" sz="15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Disagree</a:t>
                      </a:r>
                      <a:endParaRPr lang="en-US" sz="15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Slightly Agree</a:t>
                      </a:r>
                      <a:endParaRPr lang="en-US" sz="15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Moderately Agree</a:t>
                      </a:r>
                      <a:endParaRPr lang="en-US" sz="15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Agree</a:t>
                      </a:r>
                      <a:endParaRPr lang="en-US" sz="15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Strongly Agree</a:t>
                      </a:r>
                      <a:endParaRPr lang="en-US" sz="15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15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5681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Learning to operate the e-learning platform is easy for me </a:t>
                      </a:r>
                      <a:r>
                        <a:rPr lang="en-US" sz="1600" b="1" i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(PEOU1)</a:t>
                      </a: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3(1.6)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8(4.2)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22(11.6)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73(38.4)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84(44.2)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190(100)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I find the e-learning platform to be flexible and user-friendly </a:t>
                      </a:r>
                      <a:r>
                        <a:rPr lang="en-US" sz="1600" b="1" i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(PEOU2)</a:t>
                      </a: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5(2.6)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5(2.6)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21(11.1)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84(44.2)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75(39.5)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190(100)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Interacting with the platform does not require a lot of mental effort </a:t>
                      </a:r>
                      <a:r>
                        <a:rPr lang="en-US" sz="1600" b="1" i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(PEOU3)</a:t>
                      </a: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5(2.6)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9(4.7)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29(15.3)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72(37.9)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75(39.5)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190(100)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65200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I find it easy to navigate the e-learning platform to do what I want it to do </a:t>
                      </a:r>
                      <a:r>
                        <a:rPr lang="en-US" sz="1600" b="1" i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(PEOU4)</a:t>
                      </a: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3(1.6)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10(5.3)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30(15.8)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67(35.3)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80(42.1)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190(100)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38089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The e-learning platform's interface is clear and understandable </a:t>
                      </a:r>
                      <a:r>
                        <a:rPr lang="en-US" sz="1600" b="1" i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(PEOU5)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4(2.1)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6(3.2)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22(11.6)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71(37.4)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87(45.8)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190(100)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1360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942" y="13386"/>
            <a:ext cx="8821057" cy="842962"/>
          </a:xfrm>
        </p:spPr>
        <p:txBody>
          <a:bodyPr/>
          <a:lstStyle/>
          <a:p>
            <a:pPr algn="l"/>
            <a:r>
              <a:rPr lang="en-US" b="1" dirty="0" smtClean="0">
                <a:solidFill>
                  <a:schemeClr val="accent1"/>
                </a:solidFill>
              </a:rPr>
              <a:t>Results</a:t>
            </a:r>
            <a:endParaRPr b="1" dirty="0">
              <a:solidFill>
                <a:schemeClr val="accent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96847"/>
              </p:ext>
            </p:extLst>
          </p:nvPr>
        </p:nvGraphicFramePr>
        <p:xfrm>
          <a:off x="322943" y="923470"/>
          <a:ext cx="8519887" cy="5025382"/>
        </p:xfrm>
        <a:graphic>
          <a:graphicData uri="http://schemas.openxmlformats.org/drawingml/2006/table">
            <a:tbl>
              <a:tblPr/>
              <a:tblGrid>
                <a:gridCol w="2508381"/>
                <a:gridCol w="980737"/>
                <a:gridCol w="872279"/>
                <a:gridCol w="1199962"/>
                <a:gridCol w="981507"/>
                <a:gridCol w="981507"/>
                <a:gridCol w="123235"/>
                <a:gridCol w="872279"/>
              </a:tblGrid>
              <a:tr h="561568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Attitude Towards Using</a:t>
                      </a:r>
                      <a:endParaRPr lang="en-US" sz="16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Disagree</a:t>
                      </a:r>
                      <a:endParaRPr lang="en-US" sz="16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Slightly Agree</a:t>
                      </a:r>
                      <a:endParaRPr lang="en-US" sz="16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Moderately Agree</a:t>
                      </a:r>
                      <a:endParaRPr lang="en-US" sz="16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Agree</a:t>
                      </a:r>
                      <a:endParaRPr lang="en-US" sz="16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Strongly Agree</a:t>
                      </a:r>
                      <a:endParaRPr lang="en-US" sz="16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16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1762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I have a positive attitude toward using the e-learning platform </a:t>
                      </a:r>
                      <a:r>
                        <a:rPr lang="en-US" sz="1600" b="1" i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(ATU1)</a:t>
                      </a: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3(1.6)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7(3.7)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28(14.7)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78(41.1)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74(38.9)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190(100)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812800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Using the platform is a good practice for aiding my learning experience </a:t>
                      </a:r>
                      <a:r>
                        <a:rPr lang="en-US" sz="1600" b="1" i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(ATU2)</a:t>
                      </a: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5(2.6)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9(4.7)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22(11.6)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79(41.6)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75(39.5)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190(100)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901700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I enjoy using the e-learning platform for my studies </a:t>
                      </a:r>
                      <a:r>
                        <a:rPr lang="en-US" sz="1600" b="1" i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(ATU3)</a:t>
                      </a: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6(3.2)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10(5.3)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29(15.3)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67(35.3)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78(41.1)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190(100)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927100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The thought of using the e-learning platform is appealing to me </a:t>
                      </a:r>
                      <a:r>
                        <a:rPr lang="en-US" sz="1600" b="1" i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(ATU4)</a:t>
                      </a: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7(3.7)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6(3.2)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38(20.0)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65(34.2)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74(38.9)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190(100)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970452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I believe it is worthwhile to use the e-learning platform </a:t>
                      </a:r>
                      <a:r>
                        <a:rPr lang="en-US" sz="1600" b="1" i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(ATU5)</a:t>
                      </a: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4(2.1)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10(5.3)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20(10.5)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71(37.4)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85(44.7)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190(100)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2673" marR="526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5702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8738"/>
            <a:ext cx="8229600" cy="842962"/>
          </a:xfrm>
        </p:spPr>
        <p:txBody>
          <a:bodyPr/>
          <a:lstStyle/>
          <a:p>
            <a:pPr algn="l"/>
            <a:r>
              <a:rPr lang="en-US" b="1" dirty="0" smtClean="0">
                <a:solidFill>
                  <a:schemeClr val="accent1"/>
                </a:solidFill>
              </a:rPr>
              <a:t>Results</a:t>
            </a:r>
            <a:endParaRPr b="1" dirty="0">
              <a:solidFill>
                <a:schemeClr val="accent1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763535"/>
              </p:ext>
            </p:extLst>
          </p:nvPr>
        </p:nvGraphicFramePr>
        <p:xfrm>
          <a:off x="431800" y="927101"/>
          <a:ext cx="8559800" cy="4843370"/>
        </p:xfrm>
        <a:graphic>
          <a:graphicData uri="http://schemas.openxmlformats.org/drawingml/2006/table">
            <a:tbl>
              <a:tblPr/>
              <a:tblGrid>
                <a:gridCol w="2336800"/>
                <a:gridCol w="1009687"/>
                <a:gridCol w="902460"/>
                <a:gridCol w="1262693"/>
                <a:gridCol w="956986"/>
                <a:gridCol w="982505"/>
                <a:gridCol w="1108669"/>
              </a:tblGrid>
              <a:tr h="511606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Behavioural</a:t>
                      </a:r>
                      <a:r>
                        <a:rPr lang="en-US" sz="16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Intent To Use</a:t>
                      </a:r>
                      <a:endParaRPr lang="en-US" sz="16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Disagree</a:t>
                      </a:r>
                      <a:endParaRPr lang="en-US" sz="16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Slightly Agree</a:t>
                      </a:r>
                      <a:endParaRPr lang="en-US" sz="16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Moderately Agree</a:t>
                      </a:r>
                      <a:endParaRPr lang="en-US" sz="16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Agree</a:t>
                      </a:r>
                      <a:endParaRPr lang="en-US" sz="16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Strongly Agree</a:t>
                      </a:r>
                      <a:endParaRPr lang="en-US" sz="16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16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7593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I intend to use the e-learning platform regularly </a:t>
                      </a:r>
                      <a:r>
                        <a:rPr lang="en-US" sz="1600" b="1" i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(BITU1)</a:t>
                      </a: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3(1.6)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13(6.8)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26(13.7)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74(38.9)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74(38.9)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190(100)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814273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I plan to use the e-learning platform for my future coursework </a:t>
                      </a:r>
                      <a:r>
                        <a:rPr lang="en-US" sz="1600" b="1" i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(BITU2)</a:t>
                      </a: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2(1.1)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9(4.7)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21(11.1)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82(43.2)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76(40.0)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190(100)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I intend to log into the e-learning platform more than twice daily </a:t>
                      </a:r>
                      <a:r>
                        <a:rPr lang="en-US" sz="1600" b="1" i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(BITU3)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14(7.4)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24(12.6)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28(14.7)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60(31.6)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64(33.7)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190(100)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I expect my use of the e-learning platform to continue in the future </a:t>
                      </a:r>
                      <a:r>
                        <a:rPr lang="en-US" sz="1600" b="1" i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(BITU4)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6(3.2)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16(8.4)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28(14.7)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57(30.0)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83(43.7)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190(100)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23211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I am committed to integrating the e-learning platform into my studies </a:t>
                      </a:r>
                      <a:r>
                        <a:rPr lang="en-US" sz="1600" b="1" i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(BITU5)</a:t>
                      </a: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5(2.6)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13(6.8)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26(13.7)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66(34.7)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80(42.1)</a:t>
                      </a:r>
                      <a:endParaRPr lang="en-US" sz="1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190(100)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159" marR="5615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1858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FDE4285-D390-C6B2-9EDB-D453B2BD3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350838"/>
            <a:ext cx="8229600" cy="906462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 smtClean="0">
                <a:solidFill>
                  <a:schemeClr val="accent1"/>
                </a:solidFill>
              </a:rPr>
              <a:t>Inferential results </a:t>
            </a:r>
            <a:endParaRPr lang="en-GB" sz="4000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215CFEE-EF97-8379-C682-74F492D2A50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19100" y="1181102"/>
            <a:ext cx="8305800" cy="52387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Measurement </a:t>
            </a:r>
            <a:r>
              <a:rPr lang="en-US" dirty="0" smtClean="0"/>
              <a:t>Model</a:t>
            </a:r>
            <a:endParaRPr lang="en-US" dirty="0"/>
          </a:p>
        </p:txBody>
      </p:sp>
      <p:pic>
        <p:nvPicPr>
          <p:cNvPr id="8" name="Content Placeholder 7" descr="A screenshot of a computer screen&#10;&#10;AI-generated content may be incorrect.">
            <a:extLst>
              <a:ext uri="{FF2B5EF4-FFF2-40B4-BE49-F238E27FC236}">
                <a16:creationId xmlns="" xmlns:a16="http://schemas.microsoft.com/office/drawing/2014/main" id="{5E18543E-899E-4EBE-D283-2144D40032BE}"/>
              </a:ext>
            </a:extLst>
          </p:cNvPr>
          <p:cNvPicPr>
            <a:picLocks noGrp="1" noChangeAspect="1"/>
          </p:cNvPicPr>
          <p:nvPr>
            <p:ph sz="quarter" idx="2"/>
          </p:nvPr>
        </p:nvPicPr>
        <p:blipFill>
          <a:blip r:embed="rId2"/>
          <a:srcRect t="22530" b="21504"/>
          <a:stretch>
            <a:fillRect/>
          </a:stretch>
        </p:blipFill>
        <p:spPr>
          <a:xfrm>
            <a:off x="294358" y="1587501"/>
            <a:ext cx="8227342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126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FDE4285-D390-C6B2-9EDB-D453B2BD3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8138"/>
            <a:ext cx="8229600" cy="906462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 smtClean="0">
                <a:solidFill>
                  <a:schemeClr val="accent1"/>
                </a:solidFill>
              </a:rPr>
              <a:t>Inferential results </a:t>
            </a:r>
            <a:endParaRPr lang="en-GB" sz="4000" b="1" dirty="0">
              <a:solidFill>
                <a:schemeClr val="accent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51F5DD56-06E2-6F22-C321-F646DB7C358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30200" y="1206501"/>
            <a:ext cx="8356600" cy="48894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Structural </a:t>
            </a:r>
            <a:r>
              <a:rPr lang="en-US" dirty="0" smtClean="0"/>
              <a:t>model</a:t>
            </a:r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172898"/>
              </p:ext>
            </p:extLst>
          </p:nvPr>
        </p:nvGraphicFramePr>
        <p:xfrm>
          <a:off x="457200" y="1924050"/>
          <a:ext cx="7988300" cy="3479031"/>
        </p:xfrm>
        <a:graphic>
          <a:graphicData uri="http://schemas.openxmlformats.org/drawingml/2006/table">
            <a:tbl>
              <a:tblPr/>
              <a:tblGrid>
                <a:gridCol w="2184400"/>
                <a:gridCol w="1330452"/>
                <a:gridCol w="1258299"/>
                <a:gridCol w="417902"/>
                <a:gridCol w="1053135"/>
                <a:gridCol w="86964"/>
                <a:gridCol w="1657148"/>
              </a:tblGrid>
              <a:tr h="1095375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Variables</a:t>
                      </a:r>
                      <a:endParaRPr lang="en-US" sz="16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1174" marR="31174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Cronbach’s</a:t>
                      </a:r>
                      <a:r>
                        <a:rPr lang="en-US" sz="16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alpha</a:t>
                      </a:r>
                      <a:endParaRPr lang="en-US" sz="16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1174" marR="31174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Composite reliability (</a:t>
                      </a:r>
                      <a:r>
                        <a:rPr lang="en-US" sz="1600" b="1" kern="1200" dirty="0" err="1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rho_a</a:t>
                      </a:r>
                      <a:r>
                        <a:rPr lang="en-US" sz="1600" b="1" kern="120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en-US" sz="16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1174" marR="31174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Composite reliability (</a:t>
                      </a:r>
                      <a:r>
                        <a:rPr lang="en-US" sz="1600" b="1" kern="1200" dirty="0" err="1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rho_c</a:t>
                      </a:r>
                      <a:r>
                        <a:rPr lang="en-US" sz="1600" b="1" kern="120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en-US" sz="16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1174" marR="31174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Average variance extracted (AVE)</a:t>
                      </a:r>
                      <a:endParaRPr lang="en-US" sz="16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1174" marR="31174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5914">
                <a:tc>
                  <a:txBody>
                    <a:bodyPr/>
                    <a:lstStyle/>
                    <a:p>
                      <a:pPr marL="38100" marR="38100" indent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Attitude Towards Using (ATU)</a:t>
                      </a:r>
                    </a:p>
                  </a:txBody>
                  <a:tcPr marL="31174" marR="31174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0.911</a:t>
                      </a:r>
                    </a:p>
                  </a:txBody>
                  <a:tcPr marL="31174" marR="31174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0.913</a:t>
                      </a:r>
                    </a:p>
                  </a:txBody>
                  <a:tcPr marL="31174" marR="31174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0.934</a:t>
                      </a:r>
                    </a:p>
                  </a:txBody>
                  <a:tcPr marL="31174" marR="31174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0.739</a:t>
                      </a:r>
                    </a:p>
                  </a:txBody>
                  <a:tcPr marL="31174" marR="31174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95914">
                <a:tc>
                  <a:txBody>
                    <a:bodyPr/>
                    <a:lstStyle/>
                    <a:p>
                      <a:pPr marL="38100" marR="38100" indent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Behavioural Intent to Use (BITU)</a:t>
                      </a:r>
                    </a:p>
                  </a:txBody>
                  <a:tcPr marL="31174" marR="3117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0.916</a:t>
                      </a:r>
                    </a:p>
                  </a:txBody>
                  <a:tcPr marL="31174" marR="3117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0.916</a:t>
                      </a:r>
                    </a:p>
                  </a:txBody>
                  <a:tcPr marL="31174" marR="3117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0.937</a:t>
                      </a:r>
                    </a:p>
                  </a:txBody>
                  <a:tcPr marL="31174" marR="3117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0.749</a:t>
                      </a:r>
                    </a:p>
                  </a:txBody>
                  <a:tcPr marL="31174" marR="3117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95914">
                <a:tc>
                  <a:txBody>
                    <a:bodyPr/>
                    <a:lstStyle/>
                    <a:p>
                      <a:pPr marL="38100" marR="38100" indent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Perceived Ease of Use (PEOU)</a:t>
                      </a:r>
                    </a:p>
                  </a:txBody>
                  <a:tcPr marL="31174" marR="3117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0.922</a:t>
                      </a:r>
                    </a:p>
                  </a:txBody>
                  <a:tcPr marL="31174" marR="3117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0.925</a:t>
                      </a:r>
                    </a:p>
                  </a:txBody>
                  <a:tcPr marL="31174" marR="3117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0.941</a:t>
                      </a:r>
                    </a:p>
                  </a:txBody>
                  <a:tcPr marL="31174" marR="3117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0.762</a:t>
                      </a:r>
                    </a:p>
                  </a:txBody>
                  <a:tcPr marL="31174" marR="3117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95914">
                <a:tc>
                  <a:txBody>
                    <a:bodyPr/>
                    <a:lstStyle/>
                    <a:p>
                      <a:pPr marL="38100" marR="38100" indent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Perceived Usefulness (PU)</a:t>
                      </a:r>
                    </a:p>
                  </a:txBody>
                  <a:tcPr marL="31174" marR="3117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0.929</a:t>
                      </a:r>
                    </a:p>
                  </a:txBody>
                  <a:tcPr marL="31174" marR="3117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0.933</a:t>
                      </a:r>
                    </a:p>
                  </a:txBody>
                  <a:tcPr marL="31174" marR="3117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0.946</a:t>
                      </a:r>
                    </a:p>
                  </a:txBody>
                  <a:tcPr marL="31174" marR="3117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0.780</a:t>
                      </a:r>
                    </a:p>
                  </a:txBody>
                  <a:tcPr marL="31174" marR="3117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3062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0" name="Rectangle 79">
            <a:extLst>
              <a:ext uri="{FF2B5EF4-FFF2-40B4-BE49-F238E27FC236}">
                <a16:creationId xmlns="" xmlns:a16="http://schemas.microsoft.com/office/drawing/2014/main" id="{69D47016-023F-44BD-981C-50E7A10A660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228600"/>
            <a:ext cx="6841998" cy="7747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000" dirty="0">
                <a:solidFill>
                  <a:schemeClr val="accent1"/>
                </a:solidFill>
              </a:rPr>
              <a:t>Key Findings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0288388"/>
              </p:ext>
            </p:extLst>
          </p:nvPr>
        </p:nvGraphicFramePr>
        <p:xfrm>
          <a:off x="473202" y="1747684"/>
          <a:ext cx="7741884" cy="4406372"/>
        </p:xfrm>
        <a:graphic>
          <a:graphicData uri="http://schemas.openxmlformats.org/drawingml/2006/table">
            <a:tbl>
              <a:tblPr/>
              <a:tblGrid>
                <a:gridCol w="1529769"/>
                <a:gridCol w="1037896"/>
                <a:gridCol w="802622"/>
                <a:gridCol w="111372"/>
                <a:gridCol w="1002371"/>
                <a:gridCol w="111372"/>
                <a:gridCol w="1288653"/>
                <a:gridCol w="1079264"/>
                <a:gridCol w="778565"/>
              </a:tblGrid>
              <a:tr h="1465187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Path</a:t>
                      </a:r>
                      <a:endParaRPr lang="en-US" sz="16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Original sample (O)</a:t>
                      </a:r>
                      <a:endParaRPr lang="en-US" sz="16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Sample mean (M)</a:t>
                      </a:r>
                      <a:endParaRPr lang="en-US" sz="16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Standard deviation (STDEV)</a:t>
                      </a:r>
                      <a:endParaRPr lang="en-US" sz="16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 statistics (|O/STDEV|)</a:t>
                      </a:r>
                      <a:endParaRPr lang="en-US" sz="16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 values</a:t>
                      </a:r>
                      <a:endParaRPr lang="en-US" sz="16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8237">
                <a:tc>
                  <a:txBody>
                    <a:bodyPr/>
                    <a:lstStyle/>
                    <a:p>
                      <a:pPr marL="38100" marR="38100" indent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PEOU -&gt; PU</a:t>
                      </a: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0.709</a:t>
                      </a: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0.711</a:t>
                      </a: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0.051</a:t>
                      </a: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13.875</a:t>
                      </a: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0.000</a:t>
                      </a: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H1</a:t>
                      </a:r>
                      <a:endParaRPr lang="en-US" sz="1600" b="1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588237">
                <a:tc>
                  <a:txBody>
                    <a:bodyPr/>
                    <a:lstStyle/>
                    <a:p>
                      <a:pPr marL="38100" marR="38100" indent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PEOU -&gt; ATU</a:t>
                      </a: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0.176</a:t>
                      </a: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0.182</a:t>
                      </a: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0.081</a:t>
                      </a: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2.183</a:t>
                      </a: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0.029</a:t>
                      </a: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H2</a:t>
                      </a:r>
                      <a:endParaRPr lang="en-US" sz="1600" b="1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8237">
                <a:tc>
                  <a:txBody>
                    <a:bodyPr/>
                    <a:lstStyle/>
                    <a:p>
                      <a:pPr marL="38100" marR="38100" indent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PU -&gt; ATU</a:t>
                      </a: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0.648</a:t>
                      </a: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0.644</a:t>
                      </a: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0.079</a:t>
                      </a: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8.230</a:t>
                      </a: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0.000</a:t>
                      </a: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H3</a:t>
                      </a:r>
                      <a:endParaRPr lang="en-US" sz="1600" b="1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8237">
                <a:tc>
                  <a:txBody>
                    <a:bodyPr/>
                    <a:lstStyle/>
                    <a:p>
                      <a:pPr marL="38100" marR="38100" indent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PU -&gt; BITU</a:t>
                      </a: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0.196</a:t>
                      </a: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0.193</a:t>
                      </a: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0.107</a:t>
                      </a: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1.839</a:t>
                      </a: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0.066</a:t>
                      </a: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H4</a:t>
                      </a:r>
                      <a:endParaRPr lang="en-US" sz="160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8237">
                <a:tc>
                  <a:txBody>
                    <a:bodyPr/>
                    <a:lstStyle/>
                    <a:p>
                      <a:pPr marL="38100" marR="38100" indent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ATU -&gt; BITU</a:t>
                      </a:r>
                      <a:endParaRPr lang="en-US" sz="16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0.628</a:t>
                      </a: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0.633</a:t>
                      </a: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0.092</a:t>
                      </a: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6.802</a:t>
                      </a: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0.000</a:t>
                      </a: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H5</a:t>
                      </a:r>
                      <a:endParaRPr lang="en-US" sz="1600" b="1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449" marR="5644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825" y="132897"/>
            <a:ext cx="7978775" cy="1006475"/>
          </a:xfrm>
        </p:spPr>
        <p:txBody>
          <a:bodyPr/>
          <a:lstStyle/>
          <a:p>
            <a:r>
              <a:rPr b="1" dirty="0">
                <a:solidFill>
                  <a:schemeClr val="accent1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825" y="1676401"/>
            <a:ext cx="8166100" cy="4434114"/>
          </a:xfrm>
        </p:spPr>
        <p:txBody>
          <a:bodyPr/>
          <a:lstStyle/>
          <a:p>
            <a:r>
              <a:rPr sz="2400" dirty="0" smtClean="0"/>
              <a:t>E-learning </a:t>
            </a:r>
            <a:r>
              <a:rPr sz="2400" dirty="0"/>
              <a:t>is transformative but needs refinement.</a:t>
            </a:r>
          </a:p>
          <a:p>
            <a:r>
              <a:rPr sz="2400" dirty="0"/>
              <a:t>Ease of use and positive attitude drive adoption.</a:t>
            </a:r>
          </a:p>
          <a:p>
            <a:r>
              <a:rPr sz="2400" dirty="0"/>
              <a:t>Institutional and design improvements are crucial for better educational outcomes.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825" y="219985"/>
            <a:ext cx="7978775" cy="1006475"/>
          </a:xfrm>
        </p:spPr>
        <p:txBody>
          <a:bodyPr/>
          <a:lstStyle/>
          <a:p>
            <a:r>
              <a:rPr b="1" dirty="0">
                <a:solidFill>
                  <a:schemeClr val="accent1"/>
                </a:solidFill>
              </a:rP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 smtClean="0"/>
              <a:t>Customize </a:t>
            </a:r>
            <a:r>
              <a:rPr sz="2400" dirty="0"/>
              <a:t>platforms to suit user preferences.</a:t>
            </a:r>
          </a:p>
          <a:p>
            <a:r>
              <a:rPr sz="2400" dirty="0"/>
              <a:t>Invest in infrastructure and institutional support.</a:t>
            </a:r>
            <a:endParaRPr lang="en-US" sz="2400" dirty="0"/>
          </a:p>
          <a:p>
            <a:r>
              <a:rPr lang="en-US" sz="2400" dirty="0"/>
              <a:t>User friendly experience and navigation (</a:t>
            </a:r>
            <a:r>
              <a:rPr lang="en-US" sz="1600" dirty="0"/>
              <a:t>If we want students to adopt these platforms long-term, universities and developers must focus on making platforms </a:t>
            </a:r>
            <a:r>
              <a:rPr lang="en-US" sz="1600" b="1" dirty="0"/>
              <a:t>simple</a:t>
            </a:r>
            <a:r>
              <a:rPr lang="en-US" sz="1600" dirty="0"/>
              <a:t>, </a:t>
            </a:r>
            <a:r>
              <a:rPr lang="en-US" sz="1600" b="1" dirty="0"/>
              <a:t>intuitive</a:t>
            </a:r>
            <a:r>
              <a:rPr lang="en-US" sz="1600" dirty="0"/>
              <a:t>, and </a:t>
            </a:r>
            <a:r>
              <a:rPr lang="en-US" sz="1600" b="1" dirty="0"/>
              <a:t>well-integrated</a:t>
            </a:r>
            <a:r>
              <a:rPr lang="en-US" sz="1600" dirty="0"/>
              <a:t> into students’ academic lives</a:t>
            </a:r>
            <a:r>
              <a:rPr lang="en-US" sz="2400" dirty="0"/>
              <a:t>.)</a:t>
            </a:r>
            <a:endParaRPr sz="2400" dirty="0"/>
          </a:p>
          <a:p>
            <a:r>
              <a:rPr sz="2400" dirty="0"/>
              <a:t>Train educators and students on digital tools.</a:t>
            </a:r>
          </a:p>
          <a:p>
            <a:r>
              <a:rPr sz="2400" dirty="0"/>
              <a:t>Promote inclusive policies and access.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825" y="2063299"/>
            <a:ext cx="8573861" cy="2102301"/>
          </a:xfrm>
        </p:spPr>
        <p:txBody>
          <a:bodyPr/>
          <a:lstStyle/>
          <a:p>
            <a:pPr algn="ctr"/>
            <a:r>
              <a:rPr lang="en-US" sz="8000" b="1" dirty="0" smtClean="0">
                <a:solidFill>
                  <a:schemeClr val="accent1"/>
                </a:solidFill>
              </a:rPr>
              <a:t>Thank you</a:t>
            </a:r>
            <a:endParaRPr sz="80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7054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1_nctm_new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明朝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OLOMU MICHAEL_NACETEM 2025</Template>
  <TotalTime>1893</TotalTime>
  <Words>1687</Words>
  <Application>Microsoft Office PowerPoint</Application>
  <PresentationFormat>On-screen Show (4:3)</PresentationFormat>
  <Paragraphs>373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36" baseType="lpstr">
      <vt:lpstr>ＭＳ Ｐゴシック</vt:lpstr>
      <vt:lpstr>SimSun</vt:lpstr>
      <vt:lpstr>Aptos</vt:lpstr>
      <vt:lpstr>Arial</vt:lpstr>
      <vt:lpstr>Arial Rounded MT Bold</vt:lpstr>
      <vt:lpstr>Calibri</vt:lpstr>
      <vt:lpstr>Calibri Light</vt:lpstr>
      <vt:lpstr>Gill Sans MT</vt:lpstr>
      <vt:lpstr>HGPｺﾞｼｯｸE</vt:lpstr>
      <vt:lpstr>Times New Roman</vt:lpstr>
      <vt:lpstr>Tw Cen MT</vt:lpstr>
      <vt:lpstr>Verdana</vt:lpstr>
      <vt:lpstr>Wingdings 2</vt:lpstr>
      <vt:lpstr>1_nctm_new</vt:lpstr>
      <vt:lpstr>Solstice</vt:lpstr>
      <vt:lpstr>1_Solstice</vt:lpstr>
      <vt:lpstr>Digital Transformation in Nigerian Private Universities:  Adoption of E-Learning Technologies</vt:lpstr>
      <vt:lpstr>Outline </vt:lpstr>
      <vt:lpstr>Background to the Study</vt:lpstr>
      <vt:lpstr>Statement of the Problem</vt:lpstr>
      <vt:lpstr>Research Objectives</vt:lpstr>
      <vt:lpstr>PowerPoint Presentation</vt:lpstr>
      <vt:lpstr>PowerPoint Presentation</vt:lpstr>
      <vt:lpstr>Descriptive results</vt:lpstr>
      <vt:lpstr>Results</vt:lpstr>
      <vt:lpstr>Results</vt:lpstr>
      <vt:lpstr>Results</vt:lpstr>
      <vt:lpstr>Results</vt:lpstr>
      <vt:lpstr>Results</vt:lpstr>
      <vt:lpstr>Results</vt:lpstr>
      <vt:lpstr>Inferential results </vt:lpstr>
      <vt:lpstr>Inferential results </vt:lpstr>
      <vt:lpstr>Key Findings</vt:lpstr>
      <vt:lpstr>Conclusion</vt:lpstr>
      <vt:lpstr>Recommendations</vt:lpstr>
      <vt:lpstr>Thank you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Transformation in Nigerian Private Universities:  Adoption of E-Learning Technologies</dc:title>
  <dc:subject/>
  <dc:creator>Victor Sobanke</dc:creator>
  <cp:keywords/>
  <dc:description>generated using python-pptx</dc:description>
  <cp:lastModifiedBy>Microsoft account</cp:lastModifiedBy>
  <cp:revision>22</cp:revision>
  <dcterms:created xsi:type="dcterms:W3CDTF">2013-01-27T09:14:16Z</dcterms:created>
  <dcterms:modified xsi:type="dcterms:W3CDTF">2025-07-15T12:14:00Z</dcterms:modified>
  <cp:category/>
</cp:coreProperties>
</file>