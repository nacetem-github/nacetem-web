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9" r:id="rId3"/>
    <p:sldId id="268" r:id="rId5"/>
    <p:sldId id="677" r:id="rId6"/>
    <p:sldId id="763" r:id="rId7"/>
    <p:sldId id="765" r:id="rId8"/>
    <p:sldId id="762" r:id="rId9"/>
    <p:sldId id="683" r:id="rId10"/>
    <p:sldId id="745" r:id="rId11"/>
    <p:sldId id="753" r:id="rId12"/>
    <p:sldId id="746" r:id="rId13"/>
    <p:sldId id="704" r:id="rId14"/>
    <p:sldId id="705" r:id="rId15"/>
    <p:sldId id="706" r:id="rId16"/>
    <p:sldId id="754" r:id="rId17"/>
    <p:sldId id="740" r:id="rId18"/>
    <p:sldId id="747" r:id="rId19"/>
    <p:sldId id="744" r:id="rId20"/>
    <p:sldId id="749" r:id="rId21"/>
    <p:sldId id="755" r:id="rId22"/>
    <p:sldId id="756" r:id="rId23"/>
    <p:sldId id="757" r:id="rId24"/>
    <p:sldId id="758" r:id="rId25"/>
    <p:sldId id="759" r:id="rId26"/>
    <p:sldId id="761" r:id="rId27"/>
    <p:sldId id="760" r:id="rId28"/>
    <p:sldId id="72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autoAdjust="0"/>
    <p:restoredTop sz="95329"/>
  </p:normalViewPr>
  <p:slideViewPr>
    <p:cSldViewPr snapToGrid="0" showGuides="1">
      <p:cViewPr varScale="1">
        <p:scale>
          <a:sx n="71" d="100"/>
          <a:sy n="71" d="100"/>
        </p:scale>
        <p:origin x="636" y="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77351D-562D-4FFC-9A20-DEA737D86AE5}"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8DA10E-F6C1-43E1-89D7-EE1AC53A8B3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800000"/>
                </a:highlight>
              </a:rPr>
              <a:t>NACETEM Researchers’ Lecture Series 2024</a:t>
            </a:r>
            <a:endParaRPr lang="en-US" dirty="0">
              <a:highlight>
                <a:srgbClr val="800000"/>
              </a:highlight>
            </a:endParaRPr>
          </a:p>
        </p:txBody>
      </p:sp>
      <p:sp>
        <p:nvSpPr>
          <p:cNvPr id="4" name="Slide Number Placeholder 3"/>
          <p:cNvSpPr>
            <a:spLocks noGrp="1"/>
          </p:cNvSpPr>
          <p:nvPr>
            <p:ph type="sldNum" sz="quarter" idx="5"/>
          </p:nvPr>
        </p:nvSpPr>
        <p:spPr/>
        <p:txBody>
          <a:bodyPr/>
          <a:lstStyle/>
          <a:p>
            <a:fld id="{CD8DA10E-F6C1-43E1-89D7-EE1AC53A8B34}"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solidFill>
                <a:prstClr val="white"/>
              </a:solidFill>
            </a:endParaRPr>
          </a:p>
        </p:txBody>
      </p:sp>
      <p:sp>
        <p:nvSpPr>
          <p:cNvPr id="5" name="Rectangle 4"/>
          <p:cNvSpPr/>
          <p:nvPr/>
        </p:nvSpPr>
        <p:spPr>
          <a:xfrm>
            <a:off x="82550" y="1560514"/>
            <a:ext cx="12026900" cy="152717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anchor="ctr"/>
          <a:lstStyle/>
          <a:p>
            <a:pPr algn="ctr">
              <a:defRPr/>
            </a:pPr>
            <a:endParaRPr lang="en-US" sz="1800">
              <a:solidFill>
                <a:prstClr val="white"/>
              </a:solidFill>
            </a:endParaRPr>
          </a:p>
        </p:txBody>
      </p:sp>
      <p:sp>
        <p:nvSpPr>
          <p:cNvPr id="6" name="Rectangle 5"/>
          <p:cNvSpPr/>
          <p:nvPr/>
        </p:nvSpPr>
        <p:spPr>
          <a:xfrm>
            <a:off x="82549" y="1439863"/>
            <a:ext cx="12026900"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solidFill>
                <a:prstClr val="white"/>
              </a:solidFill>
            </a:endParaRPr>
          </a:p>
        </p:txBody>
      </p:sp>
      <p:sp>
        <p:nvSpPr>
          <p:cNvPr id="7" name="Rectangle 6"/>
          <p:cNvSpPr/>
          <p:nvPr/>
        </p:nvSpPr>
        <p:spPr>
          <a:xfrm>
            <a:off x="1583499" y="3140968"/>
            <a:ext cx="8832981" cy="1853480"/>
          </a:xfrm>
          <a:prstGeom prst="rect">
            <a:avLst/>
          </a:prstGeom>
          <a:solidFill>
            <a:schemeClr val="tx1">
              <a:lumMod val="85000"/>
              <a:lumOff val="15000"/>
            </a:schemeClr>
          </a:solidFill>
          <a:ln w="19050" cap="sq" cmpd="sng" algn="ctr">
            <a:noFill/>
            <a:prstDash val="solid"/>
          </a:ln>
          <a:effectLst>
            <a:outerShdw blurRad="50800" dist="38100" dir="8100000" algn="tr"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solidFill>
                <a:prstClr val="white"/>
              </a:solidFill>
            </a:endParaRPr>
          </a:p>
        </p:txBody>
      </p:sp>
      <p:pic>
        <p:nvPicPr>
          <p:cNvPr id="12" name="Picture 9" descr="NAC_LOGO-2.gif"/>
          <p:cNvPicPr>
            <a:picLocks noChangeAspect="1"/>
          </p:cNvPicPr>
          <p:nvPr/>
        </p:nvPicPr>
        <p:blipFill>
          <a:blip r:embed="rId2" cstate="print"/>
          <a:srcRect/>
          <a:stretch>
            <a:fillRect/>
          </a:stretch>
        </p:blipFill>
        <p:spPr bwMode="auto">
          <a:xfrm>
            <a:off x="4029472" y="10755"/>
            <a:ext cx="914400" cy="677863"/>
          </a:xfrm>
          <a:prstGeom prst="rect">
            <a:avLst/>
          </a:prstGeom>
          <a:noFill/>
          <a:ln w="9525">
            <a:noFill/>
            <a:miter lim="800000"/>
            <a:headEnd/>
            <a:tailEnd/>
          </a:ln>
        </p:spPr>
      </p:pic>
      <p:sp>
        <p:nvSpPr>
          <p:cNvPr id="13" name="TextBox 12"/>
          <p:cNvSpPr txBox="1"/>
          <p:nvPr/>
        </p:nvSpPr>
        <p:spPr>
          <a:xfrm>
            <a:off x="4943872" y="-91578"/>
            <a:ext cx="33528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pPr>
              <a:defRPr/>
            </a:pPr>
            <a:r>
              <a:rPr lang="en-US" sz="4400" b="1" dirty="0">
                <a:solidFill>
                  <a:srgbClr val="C00000"/>
                </a:solidFill>
                <a:effectLst>
                  <a:outerShdw blurRad="38100" dist="38100" dir="2700000" algn="tl">
                    <a:srgbClr val="000000">
                      <a:alpha val="43137"/>
                    </a:srgbClr>
                  </a:outerShdw>
                </a:effectLst>
              </a:rPr>
              <a:t>NACETEM</a:t>
            </a:r>
            <a:r>
              <a:rPr lang="en-US" sz="4400" b="1" dirty="0">
                <a:solidFill>
                  <a:prstClr val="white"/>
                </a:solidFill>
                <a:effectLst>
                  <a:outerShdw blurRad="38100" dist="38100" dir="2700000" algn="tl">
                    <a:srgbClr val="000000">
                      <a:alpha val="43137"/>
                    </a:srgbClr>
                  </a:outerShdw>
                </a:effectLst>
              </a:rPr>
              <a:t> </a:t>
            </a:r>
            <a:endParaRPr lang="en-US" sz="4400" b="1" dirty="0">
              <a:solidFill>
                <a:prstClr val="white"/>
              </a:solidFill>
              <a:effectLst>
                <a:outerShdw blurRad="38100" dist="38100" dir="2700000" algn="tl">
                  <a:srgbClr val="000000">
                    <a:alpha val="43137"/>
                  </a:srgbClr>
                </a:outerShdw>
              </a:effectLst>
            </a:endParaRPr>
          </a:p>
        </p:txBody>
      </p:sp>
      <p:sp>
        <p:nvSpPr>
          <p:cNvPr id="14" name="TextBox 13"/>
          <p:cNvSpPr txBox="1"/>
          <p:nvPr/>
        </p:nvSpPr>
        <p:spPr>
          <a:xfrm>
            <a:off x="2614563" y="628750"/>
            <a:ext cx="7292767"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algn="ctr">
              <a:defRPr/>
            </a:pPr>
            <a:r>
              <a:rPr lang="en-US" sz="1400" b="1" spc="150" dirty="0">
                <a:ln w="11430"/>
                <a:solidFill>
                  <a:srgbClr val="F8F8F8"/>
                </a:solidFill>
                <a:effectLst>
                  <a:outerShdw blurRad="25400" algn="tl" rotWithShape="0">
                    <a:srgbClr val="000000">
                      <a:alpha val="43000"/>
                    </a:srgbClr>
                  </a:outerShdw>
                </a:effectLst>
                <a:latin typeface="Tw Cen MT" panose="020B0602020104020603"/>
                <a:cs typeface="Arial" panose="020B0604020202020204" pitchFamily="34" charset="0"/>
              </a:rPr>
              <a:t>NATIONAL CENTRE FOR TECHNOLOGY MANAGEMENT</a:t>
            </a:r>
            <a:endParaRPr lang="en-US" sz="1400" b="1" spc="150" dirty="0">
              <a:ln w="11430"/>
              <a:solidFill>
                <a:srgbClr val="F8F8F8"/>
              </a:solidFill>
              <a:effectLst>
                <a:outerShdw blurRad="25400" algn="tl" rotWithShape="0">
                  <a:srgbClr val="000000">
                    <a:alpha val="43000"/>
                  </a:srgbClr>
                </a:outerShdw>
              </a:effectLst>
              <a:latin typeface="Tw Cen MT" panose="020B0602020104020603"/>
              <a:cs typeface="Arial" panose="020B0604020202020204" pitchFamily="34" charset="0"/>
            </a:endParaRPr>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b="0">
                <a:solidFill>
                  <a:schemeClr val="bg1"/>
                </a:solidFill>
                <a:latin typeface="Calibri Light" panose="020F030202020403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latin typeface="Calibri" panose="020F0502020204030204" pitchFamily="34" charset="0"/>
              </a:defRPr>
            </a:lvl1pPr>
          </a:lstStyle>
          <a:p>
            <a:r>
              <a:rPr lang="en-US"/>
              <a:t>Click to edit Master title style</a:t>
            </a:r>
            <a:endParaRPr lang="en-US" dirty="0"/>
          </a:p>
        </p:txBody>
      </p:sp>
      <p:sp>
        <p:nvSpPr>
          <p:cNvPr id="19" name="Slide Number Placeholder 28"/>
          <p:cNvSpPr>
            <a:spLocks noGrp="1"/>
          </p:cNvSpPr>
          <p:nvPr>
            <p:ph type="sldNum" sz="quarter" idx="12"/>
          </p:nvPr>
        </p:nvSpPr>
        <p:spPr/>
        <p:txBody>
          <a:bodyPr/>
          <a:lstStyle>
            <a:lvl1pPr>
              <a:defRPr sz="1400">
                <a:solidFill>
                  <a:srgbClr val="FFFFFF"/>
                </a:solidFill>
              </a:defRPr>
            </a:lvl1pPr>
          </a:lstStyle>
          <a:p>
            <a:fld id="{5A7C2BA6-9175-4393-BC16-AD9AEFA91D9A}" type="slidenum">
              <a:rPr lang="en-GB" smtClean="0"/>
            </a:fld>
            <a:endParaRPr lang="en-GB"/>
          </a:p>
        </p:txBody>
      </p:sp>
      <p:sp>
        <p:nvSpPr>
          <p:cNvPr id="11" name="TextBox 10"/>
          <p:cNvSpPr txBox="1"/>
          <p:nvPr/>
        </p:nvSpPr>
        <p:spPr>
          <a:xfrm>
            <a:off x="9467848" y="6505600"/>
            <a:ext cx="2641600" cy="307777"/>
          </a:xfrm>
          <a:prstGeom prst="rect">
            <a:avLst/>
          </a:prstGeom>
          <a:noFill/>
        </p:spPr>
        <p:txBody>
          <a:bodyPr>
            <a:spAutoFit/>
          </a:bodyPr>
          <a:lstStyle/>
          <a:p>
            <a:pPr algn="ctr">
              <a:defRPr/>
            </a:pPr>
            <a:r>
              <a:rPr lang="en-US" sz="1400" i="1" dirty="0">
                <a:solidFill>
                  <a:prstClr val="black"/>
                </a:solidFill>
                <a:latin typeface="Tw Cen MT" panose="020B0602020104020603"/>
                <a:cs typeface="Arial" panose="020B0604020202020204" pitchFamily="34" charset="0"/>
              </a:rPr>
              <a:t>© NACETEM 2022</a:t>
            </a:r>
            <a:endParaRPr lang="en-US" sz="1400" i="1" dirty="0">
              <a:solidFill>
                <a:prstClr val="black"/>
              </a:solidFill>
              <a:latin typeface="Tw Cen MT" panose="020B0602020104020603"/>
              <a:cs typeface="Arial" panose="020B0604020202020204" pitchFamily="34" charset="0"/>
            </a:endParaRPr>
          </a:p>
        </p:txBody>
      </p:sp>
      <p:sp>
        <p:nvSpPr>
          <p:cNvPr id="15" name="TextBox 14"/>
          <p:cNvSpPr txBox="1"/>
          <p:nvPr/>
        </p:nvSpPr>
        <p:spPr>
          <a:xfrm>
            <a:off x="1007435" y="6501115"/>
            <a:ext cx="7968885" cy="307777"/>
          </a:xfrm>
          <a:prstGeom prst="rect">
            <a:avLst/>
          </a:prstGeom>
          <a:noFill/>
        </p:spPr>
        <p:txBody>
          <a:bodyPr wrap="square" rtlCol="0">
            <a:spAutoFit/>
          </a:bodyPr>
          <a:lstStyle/>
          <a:p>
            <a:r>
              <a:rPr lang="en-GB" sz="1400" i="1" dirty="0">
                <a:solidFill>
                  <a:prstClr val="black"/>
                </a:solidFill>
                <a:latin typeface="Calibri Light" panose="020F0302020204030204" pitchFamily="34" charset="0"/>
              </a:rPr>
              <a:t>NACETEM…Managing Technology for Sustainable Development</a:t>
            </a:r>
            <a:endParaRPr lang="en-GB" sz="1400" i="1" dirty="0">
              <a:solidFill>
                <a:prstClr val="black"/>
              </a:solidFill>
              <a:latin typeface="Calibri Light" panose="020F030202020403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8" name="Content Placeholder 7"/>
          <p:cNvSpPr>
            <a:spLocks noGrp="1"/>
          </p:cNvSpPr>
          <p:nvPr>
            <p:ph sz="quarter" idx="1"/>
          </p:nvPr>
        </p:nvSpPr>
        <p:spPr>
          <a:xfrm>
            <a:off x="1219200" y="1700808"/>
            <a:ext cx="10363200" cy="4752528"/>
          </a:xfrm>
        </p:spPr>
        <p:txBody>
          <a:bodyPr/>
          <a:lstStyle>
            <a:lvl1pPr>
              <a:defRPr b="1"/>
            </a:lvl1pPr>
            <a:lvl2pPr>
              <a:defRPr b="1"/>
            </a:lvl2pPr>
            <a:lvl3pPr>
              <a:defRPr b="1"/>
            </a:lvl3pPr>
            <a:lvl4pPr>
              <a:defRPr b="1"/>
            </a:lvl4pPr>
            <a:lvl5pPr>
              <a:defRPr b="1"/>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Slide Number Placeholder 22"/>
          <p:cNvSpPr>
            <a:spLocks noGrp="1"/>
          </p:cNvSpPr>
          <p:nvPr>
            <p:ph type="sldNum" sz="quarter" idx="11"/>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9" name="Content Placeholder 8"/>
          <p:cNvSpPr>
            <a:spLocks noGrp="1"/>
          </p:cNvSpPr>
          <p:nvPr>
            <p:ph sz="quarter" idx="1"/>
          </p:nvPr>
        </p:nvSpPr>
        <p:spPr>
          <a:xfrm>
            <a:off x="719403" y="1700808"/>
            <a:ext cx="5306496" cy="48245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1" name="Content Placeholder 10"/>
          <p:cNvSpPr>
            <a:spLocks noGrp="1"/>
          </p:cNvSpPr>
          <p:nvPr>
            <p:ph sz="quarter" idx="2"/>
          </p:nvPr>
        </p:nvSpPr>
        <p:spPr>
          <a:xfrm>
            <a:off x="6384032" y="1700808"/>
            <a:ext cx="4998720" cy="48245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Slide Number Placeholder 22"/>
          <p:cNvSpPr>
            <a:spLocks noGrp="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11" name="Content Placeholder 10"/>
          <p:cNvSpPr>
            <a:spLocks noGrp="1"/>
          </p:cNvSpPr>
          <p:nvPr>
            <p:ph sz="half" idx="2"/>
          </p:nvPr>
        </p:nvSpPr>
        <p:spPr>
          <a:xfrm>
            <a:off x="1219200" y="2247900"/>
            <a:ext cx="4978400" cy="3886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3" name="Content Placeholder 12"/>
          <p:cNvSpPr>
            <a:spLocks noGrp="1"/>
          </p:cNvSpPr>
          <p:nvPr>
            <p:ph sz="half" idx="4"/>
          </p:nvPr>
        </p:nvSpPr>
        <p:spPr>
          <a:xfrm>
            <a:off x="6604000" y="2247900"/>
            <a:ext cx="4978400" cy="3886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13"/>
          <p:cNvSpPr>
            <a:spLocks noGrp="1"/>
          </p:cNvSpPr>
          <p:nvPr>
            <p:ph type="dt" sz="half" idx="10"/>
          </p:nvPr>
        </p:nvSpPr>
        <p:spPr>
          <a:xfrm>
            <a:off x="8229600" y="6191250"/>
            <a:ext cx="3302000" cy="476250"/>
          </a:xfrm>
          <a:prstGeom prst="rect">
            <a:avLst/>
          </a:prstGeom>
        </p:spPr>
        <p:txBody>
          <a:bodyPr/>
          <a:lstStyle>
            <a:lvl1pPr>
              <a:defRPr/>
            </a:lvl1pPr>
          </a:lstStyle>
          <a:p>
            <a:fld id="{E2428020-E7E2-415E-B88D-D53194348333}" type="datetimeFigureOut">
              <a:rPr lang="en-GB" smtClean="0">
                <a:solidFill>
                  <a:prstClr val="black"/>
                </a:solidFill>
              </a:rPr>
            </a:fld>
            <a:endParaRPr lang="en-GB">
              <a:solidFill>
                <a:prstClr val="black"/>
              </a:solidFill>
            </a:endParaRPr>
          </a:p>
        </p:txBody>
      </p:sp>
      <p:sp>
        <p:nvSpPr>
          <p:cNvPr id="8"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endParaRPr lang="en-GB">
              <a:solidFill>
                <a:prstClr val="black"/>
              </a:solidFill>
            </a:endParaRPr>
          </a:p>
        </p:txBody>
      </p:sp>
      <p:sp>
        <p:nvSpPr>
          <p:cNvPr id="9" name="Slide Number Placeholder 22"/>
          <p:cNvSpPr>
            <a:spLocks noGrp="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19403" y="2492896"/>
            <a:ext cx="10925472" cy="1800200"/>
          </a:xfrm>
          <a:solidFill>
            <a:schemeClr val="accent2">
              <a:lumMod val="75000"/>
            </a:schemeClr>
          </a:solidFill>
          <a:effectLst>
            <a:outerShdw blurRad="50800" dist="38100" dir="8100000" algn="tr" rotWithShape="0">
              <a:prstClr val="black">
                <a:alpha val="40000"/>
              </a:prstClr>
            </a:outerShdw>
          </a:effectLst>
        </p:spPr>
        <p:txBody>
          <a:bodyPr/>
          <a:lstStyle>
            <a:lvl1pPr>
              <a:defRPr>
                <a:solidFill>
                  <a:schemeClr val="bg1"/>
                </a:solidFill>
              </a:defRPr>
            </a:lvl1pPr>
          </a:lstStyle>
          <a:p>
            <a:r>
              <a:rPr lang="en-US"/>
              <a:t>Click to edit Master title style</a:t>
            </a:r>
            <a:endParaRPr lang="en-US"/>
          </a:p>
        </p:txBody>
      </p:sp>
      <p:sp>
        <p:nvSpPr>
          <p:cNvPr id="5" name="Slide Number Placeholder 22"/>
          <p:cNvSpPr>
            <a:spLocks noGrp="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a:xfrm>
            <a:off x="8229600" y="6191250"/>
            <a:ext cx="3302000" cy="476250"/>
          </a:xfrm>
          <a:prstGeom prst="rect">
            <a:avLst/>
          </a:prstGeom>
        </p:spPr>
        <p:txBody>
          <a:bodyPr/>
          <a:lstStyle>
            <a:lvl1pPr>
              <a:defRPr/>
            </a:lvl1pPr>
          </a:lstStyle>
          <a:p>
            <a:fld id="{E2428020-E7E2-415E-B88D-D53194348333}" type="datetimeFigureOut">
              <a:rPr lang="en-GB" smtClean="0">
                <a:solidFill>
                  <a:prstClr val="black"/>
                </a:solidFill>
              </a:rPr>
            </a:fld>
            <a:endParaRPr lang="en-GB">
              <a:solidFill>
                <a:prstClr val="black"/>
              </a:solidFill>
            </a:endParaRPr>
          </a:p>
        </p:txBody>
      </p:sp>
      <p:sp>
        <p:nvSpPr>
          <p:cNvPr id="3"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endParaRPr lang="en-GB">
              <a:solidFill>
                <a:prstClr val="black"/>
              </a:solidFill>
            </a:endParaRPr>
          </a:p>
        </p:txBody>
      </p:sp>
      <p:sp>
        <p:nvSpPr>
          <p:cNvPr id="4" name="Slide Number Placeholder 22"/>
          <p:cNvSpPr>
            <a:spLocks noGrp="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13"/>
          <p:cNvSpPr>
            <a:spLocks noGrp="1"/>
          </p:cNvSpPr>
          <p:nvPr>
            <p:ph type="dt" sz="half" idx="10"/>
          </p:nvPr>
        </p:nvSpPr>
        <p:spPr>
          <a:xfrm>
            <a:off x="8229600" y="6191250"/>
            <a:ext cx="3302000" cy="476250"/>
          </a:xfrm>
          <a:prstGeom prst="rect">
            <a:avLst/>
          </a:prstGeom>
        </p:spPr>
        <p:txBody>
          <a:bodyPr/>
          <a:lstStyle>
            <a:lvl1pPr>
              <a:defRPr/>
            </a:lvl1pPr>
          </a:lstStyle>
          <a:p>
            <a:fld id="{E2428020-E7E2-415E-B88D-D53194348333}" type="datetimeFigureOut">
              <a:rPr lang="en-GB" smtClean="0">
                <a:solidFill>
                  <a:prstClr val="black"/>
                </a:solidFill>
              </a:rPr>
            </a:fld>
            <a:endParaRPr lang="en-GB">
              <a:solidFill>
                <a:prstClr val="black"/>
              </a:solidFill>
            </a:endParaRPr>
          </a:p>
        </p:txBody>
      </p:sp>
      <p:sp>
        <p:nvSpPr>
          <p:cNvPr id="5"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endParaRPr lang="en-GB">
              <a:solidFill>
                <a:prstClr val="black"/>
              </a:solidFill>
            </a:endParaRPr>
          </a:p>
        </p:txBody>
      </p:sp>
      <p:sp>
        <p:nvSpPr>
          <p:cNvPr id="6" name="Slide Number Placeholder 22"/>
          <p:cNvSpPr>
            <a:spLocks noGrp="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219200" y="274641"/>
            <a:ext cx="7416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13"/>
          <p:cNvSpPr>
            <a:spLocks noGrp="1"/>
          </p:cNvSpPr>
          <p:nvPr>
            <p:ph type="dt" sz="half" idx="10"/>
          </p:nvPr>
        </p:nvSpPr>
        <p:spPr>
          <a:xfrm>
            <a:off x="8229600" y="6191250"/>
            <a:ext cx="3302000" cy="476250"/>
          </a:xfrm>
          <a:prstGeom prst="rect">
            <a:avLst/>
          </a:prstGeom>
        </p:spPr>
        <p:txBody>
          <a:bodyPr/>
          <a:lstStyle>
            <a:lvl1pPr>
              <a:defRPr/>
            </a:lvl1pPr>
          </a:lstStyle>
          <a:p>
            <a:fld id="{E2428020-E7E2-415E-B88D-D53194348333}" type="datetimeFigureOut">
              <a:rPr lang="en-GB" smtClean="0">
                <a:solidFill>
                  <a:prstClr val="black"/>
                </a:solidFill>
              </a:rPr>
            </a:fld>
            <a:endParaRPr lang="en-GB">
              <a:solidFill>
                <a:prstClr val="black"/>
              </a:solidFill>
            </a:endParaRPr>
          </a:p>
        </p:txBody>
      </p:sp>
      <p:sp>
        <p:nvSpPr>
          <p:cNvPr id="5"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endParaRPr lang="en-GB">
              <a:solidFill>
                <a:prstClr val="black"/>
              </a:solidFill>
            </a:endParaRPr>
          </a:p>
        </p:txBody>
      </p:sp>
      <p:sp>
        <p:nvSpPr>
          <p:cNvPr id="6" name="Slide Number Placeholder 22"/>
          <p:cNvSpPr>
            <a:spLocks noGrp="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122239"/>
            <a:ext cx="10972800" cy="600868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Rectangle 5"/>
          <p:cNvSpPr>
            <a:spLocks noGrp="1" noChangeArrowheads="1"/>
          </p:cNvSpPr>
          <p:nvPr>
            <p:ph type="dt" sz="half" idx="10"/>
          </p:nvPr>
        </p:nvSpPr>
        <p:spPr>
          <a:xfrm>
            <a:off x="8229600" y="6191250"/>
            <a:ext cx="3302000" cy="476250"/>
          </a:xfrm>
          <a:prstGeom prst="rect">
            <a:avLst/>
          </a:prstGeom>
        </p:spPr>
        <p:txBody>
          <a:bodyPr/>
          <a:lstStyle>
            <a:lvl1pPr>
              <a:defRPr/>
            </a:lvl1pPr>
          </a:lstStyle>
          <a:p>
            <a:fld id="{E2428020-E7E2-415E-B88D-D53194348333}" type="datetimeFigureOut">
              <a:rPr lang="en-GB" smtClean="0">
                <a:solidFill>
                  <a:prstClr val="black"/>
                </a:solidFill>
              </a:rPr>
            </a:fld>
            <a:endParaRPr lang="en-GB">
              <a:solidFill>
                <a:prstClr val="black"/>
              </a:solidFill>
            </a:endParaRPr>
          </a:p>
        </p:txBody>
      </p:sp>
      <p:sp>
        <p:nvSpPr>
          <p:cNvPr id="4" name="Rectangle 6"/>
          <p:cNvSpPr>
            <a:spLocks noGrp="1" noChangeArrowheads="1"/>
          </p:cNvSpPr>
          <p:nvPr>
            <p:ph type="ftr" sz="quarter" idx="11"/>
          </p:nvPr>
        </p:nvSpPr>
        <p:spPr>
          <a:xfrm>
            <a:off x="1117600" y="6172200"/>
            <a:ext cx="7315200" cy="457200"/>
          </a:xfrm>
          <a:prstGeom prst="rect">
            <a:avLst/>
          </a:prstGeom>
        </p:spPr>
        <p:txBody>
          <a:bodyPr/>
          <a:lstStyle>
            <a:lvl1pPr>
              <a:defRPr/>
            </a:lvl1pPr>
          </a:lstStyle>
          <a:p>
            <a:endParaRPr lang="en-GB">
              <a:solidFill>
                <a:prstClr val="black"/>
              </a:solidFill>
            </a:endParaRPr>
          </a:p>
        </p:txBody>
      </p:sp>
      <p:sp>
        <p:nvSpPr>
          <p:cNvPr id="5" name="Rectangle 7"/>
          <p:cNvSpPr>
            <a:spLocks noGrp="1" noChangeArrowheads="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endParaRPr lang="en-US"/>
          </a:p>
        </p:txBody>
      </p:sp>
      <p:sp>
        <p:nvSpPr>
          <p:cNvPr id="3" name="Table Placeholder 2"/>
          <p:cNvSpPr>
            <a:spLocks noGrp="1"/>
          </p:cNvSpPr>
          <p:nvPr>
            <p:ph type="tbl" idx="1" hasCustomPrompt="1"/>
          </p:nvPr>
        </p:nvSpPr>
        <p:spPr>
          <a:xfrm>
            <a:off x="609600" y="1719263"/>
            <a:ext cx="10972800" cy="4411662"/>
          </a:xfrm>
        </p:spPr>
        <p:txBody>
          <a:bodyPr/>
          <a:lstStyle/>
          <a:p>
            <a:pPr lvl="0"/>
            <a:r>
              <a:rPr lang="en-US" noProof="0"/>
              <a:t>Click icon to add table</a:t>
            </a:r>
            <a:endParaRPr lang="en-US" noProof="0"/>
          </a:p>
        </p:txBody>
      </p:sp>
      <p:sp>
        <p:nvSpPr>
          <p:cNvPr id="4" name="Rectangle 5"/>
          <p:cNvSpPr>
            <a:spLocks noGrp="1" noChangeArrowheads="1"/>
          </p:cNvSpPr>
          <p:nvPr>
            <p:ph type="dt" sz="half" idx="10"/>
          </p:nvPr>
        </p:nvSpPr>
        <p:spPr>
          <a:xfrm>
            <a:off x="8229600" y="6191250"/>
            <a:ext cx="3302000" cy="476250"/>
          </a:xfrm>
          <a:prstGeom prst="rect">
            <a:avLst/>
          </a:prstGeom>
        </p:spPr>
        <p:txBody>
          <a:bodyPr/>
          <a:lstStyle>
            <a:lvl1pPr>
              <a:defRPr/>
            </a:lvl1pPr>
          </a:lstStyle>
          <a:p>
            <a:fld id="{E2428020-E7E2-415E-B88D-D53194348333}" type="datetimeFigureOut">
              <a:rPr lang="en-GB" smtClean="0">
                <a:solidFill>
                  <a:prstClr val="black"/>
                </a:solidFill>
              </a:rPr>
            </a:fld>
            <a:endParaRPr lang="en-GB">
              <a:solidFill>
                <a:prstClr val="black"/>
              </a:solidFill>
            </a:endParaRPr>
          </a:p>
        </p:txBody>
      </p:sp>
      <p:sp>
        <p:nvSpPr>
          <p:cNvPr id="5" name="Rectangle 6"/>
          <p:cNvSpPr>
            <a:spLocks noGrp="1" noChangeArrowheads="1"/>
          </p:cNvSpPr>
          <p:nvPr>
            <p:ph type="ftr" sz="quarter" idx="11"/>
          </p:nvPr>
        </p:nvSpPr>
        <p:spPr>
          <a:xfrm>
            <a:off x="1117600" y="6172200"/>
            <a:ext cx="7315200" cy="457200"/>
          </a:xfrm>
          <a:prstGeom prst="rect">
            <a:avLst/>
          </a:prstGeom>
        </p:spPr>
        <p:txBody>
          <a:bodyPr/>
          <a:lstStyle>
            <a:lvl1pPr>
              <a:defRPr/>
            </a:lvl1pPr>
          </a:lstStyle>
          <a:p>
            <a:endParaRPr lang="en-GB">
              <a:solidFill>
                <a:prstClr val="black"/>
              </a:solidFill>
            </a:endParaRPr>
          </a:p>
        </p:txBody>
      </p:sp>
      <p:sp>
        <p:nvSpPr>
          <p:cNvPr id="6" name="Rectangle 7"/>
          <p:cNvSpPr>
            <a:spLocks noGrp="1" noChangeArrowheads="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60352" y="228600"/>
            <a:ext cx="10687049"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812800" y="1600200"/>
            <a:ext cx="5181600" cy="4419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quarter" idx="2"/>
          </p:nvPr>
        </p:nvSpPr>
        <p:spPr>
          <a:xfrm>
            <a:off x="6197600" y="1600200"/>
            <a:ext cx="5181600" cy="2133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Content Placeholder 4"/>
          <p:cNvSpPr>
            <a:spLocks noGrp="1"/>
          </p:cNvSpPr>
          <p:nvPr>
            <p:ph sz="quarter" idx="3"/>
          </p:nvPr>
        </p:nvSpPr>
        <p:spPr>
          <a:xfrm>
            <a:off x="6197600" y="3886200"/>
            <a:ext cx="5181600" cy="2133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Date Placeholder 5"/>
          <p:cNvSpPr>
            <a:spLocks noGrp="1"/>
          </p:cNvSpPr>
          <p:nvPr>
            <p:ph type="dt" sz="half" idx="10"/>
          </p:nvPr>
        </p:nvSpPr>
        <p:spPr>
          <a:xfrm>
            <a:off x="8229600" y="6191250"/>
            <a:ext cx="3302000" cy="476250"/>
          </a:xfrm>
          <a:prstGeom prst="rect">
            <a:avLst/>
          </a:prstGeom>
        </p:spPr>
        <p:txBody>
          <a:bodyPr/>
          <a:lstStyle>
            <a:lvl1pPr fontAlgn="auto">
              <a:spcBef>
                <a:spcPts val="0"/>
              </a:spcBef>
              <a:spcAft>
                <a:spcPts val="0"/>
              </a:spcAft>
              <a:defRPr>
                <a:solidFill>
                  <a:schemeClr val="tx1">
                    <a:tint val="75000"/>
                  </a:schemeClr>
                </a:solidFill>
              </a:defRPr>
            </a:lvl1pPr>
          </a:lstStyle>
          <a:p>
            <a:fld id="{E2428020-E7E2-415E-B88D-D53194348333}" type="datetimeFigureOut">
              <a:rPr lang="en-GB" smtClean="0">
                <a:solidFill>
                  <a:prstClr val="black">
                    <a:tint val="75000"/>
                  </a:prstClr>
                </a:solidFill>
              </a:rPr>
            </a:fld>
            <a:endParaRPr lang="en-GB">
              <a:solidFill>
                <a:prstClr val="black">
                  <a:tint val="75000"/>
                </a:prstClr>
              </a:solidFill>
            </a:endParaRPr>
          </a:p>
        </p:txBody>
      </p:sp>
      <p:sp>
        <p:nvSpPr>
          <p:cNvPr id="7" name="Footer Placeholder 6"/>
          <p:cNvSpPr>
            <a:spLocks noGrp="1"/>
          </p:cNvSpPr>
          <p:nvPr>
            <p:ph type="ftr" sz="quarter" idx="11"/>
          </p:nvPr>
        </p:nvSpPr>
        <p:spPr>
          <a:xfrm>
            <a:off x="1117600" y="6172200"/>
            <a:ext cx="7315200" cy="457200"/>
          </a:xfrm>
          <a:prstGeom prst="rect">
            <a:avLst/>
          </a:prstGeom>
        </p:spPr>
        <p:txBody>
          <a:bodyPr/>
          <a:lstStyle>
            <a:lvl1pPr fontAlgn="auto">
              <a:spcBef>
                <a:spcPts val="0"/>
              </a:spcBef>
              <a:spcAft>
                <a:spcPts val="0"/>
              </a:spcAft>
              <a:defRPr>
                <a:solidFill>
                  <a:schemeClr val="tx1">
                    <a:tint val="75000"/>
                  </a:schemeClr>
                </a:solidFill>
              </a:defRPr>
            </a:lvl1pPr>
          </a:lstStyle>
          <a:p>
            <a:endParaRPr lang="en-GB">
              <a:solidFill>
                <a:prstClr val="black">
                  <a:tint val="75000"/>
                </a:prstClr>
              </a:solidFill>
            </a:endParaRPr>
          </a:p>
        </p:txBody>
      </p:sp>
      <p:sp>
        <p:nvSpPr>
          <p:cNvPr id="8" name="Slide Number Placeholder 7"/>
          <p:cNvSpPr>
            <a:spLocks noGrp="1"/>
          </p:cNvSpPr>
          <p:nvPr>
            <p:ph type="sldNum" sz="quarter" idx="12"/>
          </p:nvPr>
        </p:nvSpPr>
        <p:spPr/>
        <p:txBody>
          <a:bodyPr/>
          <a:lstStyle>
            <a:lvl1pPr fontAlgn="auto">
              <a:spcBef>
                <a:spcPts val="0"/>
              </a:spcBef>
              <a:spcAft>
                <a:spcPts val="0"/>
              </a:spcAft>
              <a:defRPr>
                <a:solidFill>
                  <a:schemeClr val="tx1">
                    <a:tint val="75000"/>
                  </a:schemeClr>
                </a:solidFill>
              </a:defRPr>
            </a:lvl1pPr>
          </a:lstStyle>
          <a:p>
            <a:fld id="{5A7C2BA6-9175-4393-BC16-AD9AEFA91D9A}" type="slidenum">
              <a:rPr lang="en-GB" smtClean="0">
                <a:solidFill>
                  <a:prstClr val="black">
                    <a:tint val="75000"/>
                  </a:prstClr>
                </a:solidFill>
              </a:rPr>
            </a:fld>
            <a:endParaRPr lang="en-GB">
              <a:solidFill>
                <a:prstClr val="black">
                  <a:tint val="75000"/>
                </a:prstClr>
              </a:solidFill>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0352" y="228600"/>
            <a:ext cx="10687049"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812800" y="1600200"/>
            <a:ext cx="5181600" cy="4419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half" idx="2"/>
          </p:nvPr>
        </p:nvSpPr>
        <p:spPr>
          <a:xfrm>
            <a:off x="6197600" y="1600200"/>
            <a:ext cx="5181600" cy="4419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Date Placeholder 4"/>
          <p:cNvSpPr>
            <a:spLocks noGrp="1"/>
          </p:cNvSpPr>
          <p:nvPr>
            <p:ph type="dt" sz="half" idx="10"/>
          </p:nvPr>
        </p:nvSpPr>
        <p:spPr>
          <a:xfrm>
            <a:off x="8229600" y="6191250"/>
            <a:ext cx="3302000" cy="476250"/>
          </a:xfrm>
          <a:prstGeom prst="rect">
            <a:avLst/>
          </a:prstGeom>
        </p:spPr>
        <p:txBody>
          <a:bodyPr/>
          <a:lstStyle>
            <a:lvl1pPr fontAlgn="auto">
              <a:spcBef>
                <a:spcPts val="0"/>
              </a:spcBef>
              <a:spcAft>
                <a:spcPts val="0"/>
              </a:spcAft>
              <a:defRPr>
                <a:solidFill>
                  <a:schemeClr val="tx1">
                    <a:tint val="75000"/>
                  </a:schemeClr>
                </a:solidFill>
              </a:defRPr>
            </a:lvl1pPr>
          </a:lstStyle>
          <a:p>
            <a:fld id="{E2428020-E7E2-415E-B88D-D53194348333}" type="datetimeFigureOut">
              <a:rPr lang="en-GB" smtClean="0">
                <a:solidFill>
                  <a:prstClr val="black">
                    <a:tint val="75000"/>
                  </a:prstClr>
                </a:solidFill>
              </a:rPr>
            </a:fld>
            <a:endParaRPr lang="en-GB">
              <a:solidFill>
                <a:prstClr val="black">
                  <a:tint val="75000"/>
                </a:prstClr>
              </a:solidFill>
            </a:endParaRPr>
          </a:p>
        </p:txBody>
      </p:sp>
      <p:sp>
        <p:nvSpPr>
          <p:cNvPr id="6" name="Footer Placeholder 5"/>
          <p:cNvSpPr>
            <a:spLocks noGrp="1"/>
          </p:cNvSpPr>
          <p:nvPr>
            <p:ph type="ftr" sz="quarter" idx="11"/>
          </p:nvPr>
        </p:nvSpPr>
        <p:spPr>
          <a:xfrm>
            <a:off x="1117600" y="6172200"/>
            <a:ext cx="7315200" cy="457200"/>
          </a:xfrm>
          <a:prstGeom prst="rect">
            <a:avLst/>
          </a:prstGeom>
        </p:spPr>
        <p:txBody>
          <a:bodyPr/>
          <a:lstStyle>
            <a:lvl1pPr fontAlgn="auto">
              <a:spcBef>
                <a:spcPts val="0"/>
              </a:spcBef>
              <a:spcAft>
                <a:spcPts val="0"/>
              </a:spcAft>
              <a:defRPr>
                <a:solidFill>
                  <a:schemeClr val="tx1">
                    <a:tint val="75000"/>
                  </a:schemeClr>
                </a:solidFill>
              </a:defRPr>
            </a:lvl1p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lvl1pPr fontAlgn="auto">
              <a:spcBef>
                <a:spcPts val="0"/>
              </a:spcBef>
              <a:spcAft>
                <a:spcPts val="0"/>
              </a:spcAft>
              <a:defRPr>
                <a:solidFill>
                  <a:schemeClr val="tx1">
                    <a:tint val="75000"/>
                  </a:schemeClr>
                </a:solidFill>
              </a:defRPr>
            </a:lvl1pPr>
          </a:lstStyle>
          <a:p>
            <a:fld id="{5A7C2BA6-9175-4393-BC16-AD9AEFA91D9A}" type="slidenum">
              <a:rPr lang="en-GB" smtClean="0">
                <a:solidFill>
                  <a:prstClr val="black">
                    <a:tint val="75000"/>
                  </a:prstClr>
                </a:solidFill>
              </a:rPr>
            </a:fld>
            <a:endParaRPr lang="en-GB">
              <a:solidFill>
                <a:prstClr val="black">
                  <a:tint val="75000"/>
                </a:prstClr>
              </a:solidFill>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solidFill>
                <a:prstClr val="white"/>
              </a:solidFill>
            </a:endParaRPr>
          </a:p>
        </p:txBody>
      </p:sp>
      <p:sp>
        <p:nvSpPr>
          <p:cNvPr id="3075" name="Title Placeholder 21"/>
          <p:cNvSpPr>
            <a:spLocks noGrp="1"/>
          </p:cNvSpPr>
          <p:nvPr>
            <p:ph type="title"/>
          </p:nvPr>
        </p:nvSpPr>
        <p:spPr bwMode="auto">
          <a:xfrm>
            <a:off x="335360" y="670050"/>
            <a:ext cx="10637440" cy="1006351"/>
          </a:xfrm>
          <a:prstGeom prst="rect">
            <a:avLst/>
          </a:prstGeom>
          <a:noFill/>
          <a:ln w="9525">
            <a:noFill/>
            <a:miter lim="800000"/>
          </a:ln>
        </p:spPr>
        <p:txBody>
          <a:bodyPr vert="horz" wrap="square" lIns="91440" tIns="45720" rIns="91440" bIns="91440" numCol="1" anchor="b" anchorCtr="0" compatLnSpc="1"/>
          <a:lstStyle/>
          <a:p>
            <a:pPr lvl="0"/>
            <a:r>
              <a:rPr lang="en-US"/>
              <a:t>Click to edit Master title style</a:t>
            </a:r>
            <a:endParaRPr lang="en-US" dirty="0"/>
          </a:p>
        </p:txBody>
      </p:sp>
      <p:sp>
        <p:nvSpPr>
          <p:cNvPr id="3076" name="Text Placeholder 12"/>
          <p:cNvSpPr>
            <a:spLocks noGrp="1"/>
          </p:cNvSpPr>
          <p:nvPr>
            <p:ph type="body" idx="1"/>
          </p:nvPr>
        </p:nvSpPr>
        <p:spPr bwMode="auto">
          <a:xfrm>
            <a:off x="335360" y="1676400"/>
            <a:ext cx="10887173" cy="4632920"/>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3" name="Slide Number Placeholder 22"/>
          <p:cNvSpPr>
            <a:spLocks noGrp="1"/>
          </p:cNvSpPr>
          <p:nvPr>
            <p:ph type="sldNum" sz="quarter" idx="4"/>
          </p:nvPr>
        </p:nvSpPr>
        <p:spPr>
          <a:xfrm>
            <a:off x="194733" y="6324600"/>
            <a:ext cx="609600" cy="457200"/>
          </a:xfrm>
          <a:prstGeom prst="ellipse">
            <a:avLst/>
          </a:prstGeom>
          <a:solidFill>
            <a:schemeClr val="accent2"/>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5A7C2BA6-9175-4393-BC16-AD9AEFA91D9A}" type="slidenum">
              <a:rPr lang="en-GB" smtClean="0"/>
            </a:fld>
            <a:endParaRPr lang="en-GB"/>
          </a:p>
        </p:txBody>
      </p:sp>
      <p:pic>
        <p:nvPicPr>
          <p:cNvPr id="3080" name="Picture 9" descr="NAC_LOGO-2.gif"/>
          <p:cNvPicPr>
            <a:picLocks noChangeAspect="1"/>
          </p:cNvPicPr>
          <p:nvPr/>
        </p:nvPicPr>
        <p:blipFill>
          <a:blip r:embed="rId13" cstate="print"/>
          <a:srcRect/>
          <a:stretch>
            <a:fillRect/>
          </a:stretch>
        </p:blipFill>
        <p:spPr bwMode="auto">
          <a:xfrm>
            <a:off x="11410698" y="6165304"/>
            <a:ext cx="733975" cy="544110"/>
          </a:xfrm>
          <a:prstGeom prst="rect">
            <a:avLst/>
          </a:prstGeom>
          <a:noFill/>
          <a:ln w="9525">
            <a:noFill/>
            <a:miter lim="800000"/>
            <a:headEnd/>
            <a:tailEnd/>
          </a:ln>
        </p:spPr>
      </p:pic>
      <p:sp>
        <p:nvSpPr>
          <p:cNvPr id="13" name="TextBox 12"/>
          <p:cNvSpPr txBox="1"/>
          <p:nvPr/>
        </p:nvSpPr>
        <p:spPr>
          <a:xfrm>
            <a:off x="8291281" y="-99392"/>
            <a:ext cx="33528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pPr>
              <a:defRPr/>
            </a:pPr>
            <a:r>
              <a:rPr lang="en-US" sz="4400" b="1" dirty="0">
                <a:solidFill>
                  <a:srgbClr val="C00000"/>
                </a:solidFill>
                <a:effectLst>
                  <a:outerShdw blurRad="38100" dist="38100" dir="2700000" algn="tl">
                    <a:srgbClr val="000000">
                      <a:alpha val="43137"/>
                    </a:srgbClr>
                  </a:outerShdw>
                </a:effectLst>
              </a:rPr>
              <a:t>NACETEM</a:t>
            </a:r>
            <a:r>
              <a:rPr lang="en-US" sz="4400" b="1" dirty="0">
                <a:solidFill>
                  <a:prstClr val="white"/>
                </a:solidFill>
                <a:effectLst>
                  <a:outerShdw blurRad="38100" dist="38100" dir="2700000" algn="tl">
                    <a:srgbClr val="000000">
                      <a:alpha val="43137"/>
                    </a:srgbClr>
                  </a:outerShdw>
                </a:effectLst>
              </a:rPr>
              <a:t> </a:t>
            </a:r>
            <a:endParaRPr lang="en-US" sz="4400" b="1" dirty="0">
              <a:solidFill>
                <a:prstClr val="white"/>
              </a:solidFill>
              <a:effectLst>
                <a:outerShdw blurRad="38100" dist="38100" dir="2700000" algn="tl">
                  <a:srgbClr val="000000">
                    <a:alpha val="43137"/>
                  </a:srgbClr>
                </a:outerShdw>
              </a:effectLst>
            </a:endParaRPr>
          </a:p>
        </p:txBody>
      </p:sp>
      <p:sp>
        <p:nvSpPr>
          <p:cNvPr id="24" name="TextBox 23"/>
          <p:cNvSpPr txBox="1"/>
          <p:nvPr/>
        </p:nvSpPr>
        <p:spPr>
          <a:xfrm>
            <a:off x="9002481" y="6563445"/>
            <a:ext cx="2641600" cy="276225"/>
          </a:xfrm>
          <a:prstGeom prst="rect">
            <a:avLst/>
          </a:prstGeom>
          <a:noFill/>
        </p:spPr>
        <p:txBody>
          <a:bodyPr>
            <a:spAutoFit/>
          </a:bodyPr>
          <a:lstStyle/>
          <a:p>
            <a:pPr algn="ctr">
              <a:defRPr/>
            </a:pPr>
            <a:r>
              <a:rPr lang="en-US" sz="1200" i="1" dirty="0">
                <a:solidFill>
                  <a:prstClr val="black"/>
                </a:solidFill>
                <a:latin typeface="Tw Cen MT" panose="020B0602020104020603"/>
                <a:cs typeface="Arial" panose="020B0604020202020204" pitchFamily="34" charset="0"/>
              </a:rPr>
              <a:t>© NACETEM 2022</a:t>
            </a:r>
            <a:endParaRPr lang="en-US" sz="1200" i="1" dirty="0">
              <a:solidFill>
                <a:prstClr val="black"/>
              </a:solidFill>
              <a:latin typeface="Tw Cen MT" panose="020B0602020104020603"/>
              <a:cs typeface="Arial" panose="020B0604020202020204" pitchFamily="34" charset="0"/>
            </a:endParaRPr>
          </a:p>
        </p:txBody>
      </p:sp>
      <p:sp>
        <p:nvSpPr>
          <p:cNvPr id="4" name="Rectangle 3"/>
          <p:cNvSpPr/>
          <p:nvPr/>
        </p:nvSpPr>
        <p:spPr>
          <a:xfrm>
            <a:off x="11644082" y="0"/>
            <a:ext cx="547919" cy="6021288"/>
          </a:xfrm>
          <a:prstGeom prst="rect">
            <a:avLst/>
          </a:prstGeom>
          <a:solidFill>
            <a:schemeClr val="tx1">
              <a:lumMod val="85000"/>
              <a:lumOff val="15000"/>
            </a:schemeClr>
          </a:solidFill>
          <a:ln>
            <a:noFill/>
          </a:ln>
          <a:effectLst>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prstClr val="white"/>
              </a:solidFill>
            </a:endParaRPr>
          </a:p>
        </p:txBody>
      </p:sp>
      <p:sp>
        <p:nvSpPr>
          <p:cNvPr id="15" name="TextBox 14"/>
          <p:cNvSpPr txBox="1"/>
          <p:nvPr/>
        </p:nvSpPr>
        <p:spPr>
          <a:xfrm rot="16200000">
            <a:off x="8885879" y="2809501"/>
            <a:ext cx="5926776"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algn="just">
              <a:defRPr/>
            </a:pPr>
            <a:r>
              <a:rPr lang="en-US" sz="1400" b="1" spc="150" dirty="0">
                <a:ln w="11430"/>
                <a:solidFill>
                  <a:srgbClr val="F8F8F8"/>
                </a:solidFill>
                <a:effectLst>
                  <a:outerShdw blurRad="25400" algn="tl" rotWithShape="0">
                    <a:srgbClr val="000000">
                      <a:alpha val="43000"/>
                    </a:srgbClr>
                  </a:outerShdw>
                </a:effectLst>
                <a:latin typeface="Tw Cen MT" panose="020B0602020104020603"/>
                <a:cs typeface="Arial" panose="020B0604020202020204" pitchFamily="34" charset="0"/>
              </a:rPr>
              <a:t>NATIONAL CENTRE FOR TECHNOLOGY MANAGEMENT</a:t>
            </a:r>
            <a:endParaRPr lang="en-US" sz="1400" b="1" spc="150" dirty="0">
              <a:ln w="11430"/>
              <a:solidFill>
                <a:srgbClr val="F8F8F8"/>
              </a:solidFill>
              <a:effectLst>
                <a:outerShdw blurRad="25400" algn="tl" rotWithShape="0">
                  <a:srgbClr val="000000">
                    <a:alpha val="43000"/>
                  </a:srgbClr>
                </a:outerShdw>
              </a:effectLst>
              <a:latin typeface="Tw Cen MT" panose="020B0602020104020603"/>
              <a:cs typeface="Arial" panose="020B0604020202020204" pitchFamily="34" charset="0"/>
            </a:endParaRPr>
          </a:p>
        </p:txBody>
      </p:sp>
      <p:cxnSp>
        <p:nvCxnSpPr>
          <p:cNvPr id="6" name="Straight Connector 5"/>
          <p:cNvCxnSpPr/>
          <p:nvPr/>
        </p:nvCxnSpPr>
        <p:spPr>
          <a:xfrm flipH="1">
            <a:off x="1" y="620688"/>
            <a:ext cx="11644080"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007435" y="6437359"/>
            <a:ext cx="8448939" cy="338554"/>
          </a:xfrm>
          <a:prstGeom prst="rect">
            <a:avLst/>
          </a:prstGeom>
          <a:noFill/>
        </p:spPr>
        <p:txBody>
          <a:bodyPr wrap="square" rtlCol="0">
            <a:spAutoFit/>
          </a:bodyPr>
          <a:lstStyle/>
          <a:p>
            <a:r>
              <a:rPr lang="en-GB" sz="1600" i="1" dirty="0">
                <a:solidFill>
                  <a:prstClr val="black"/>
                </a:solidFill>
                <a:latin typeface="Calibri Light" panose="020F0302020204030204" pitchFamily="34" charset="0"/>
              </a:rPr>
              <a:t>NACETEM…Managing Technology for Sustainable Development</a:t>
            </a:r>
            <a:endParaRPr lang="en-GB" sz="1600" i="1" dirty="0">
              <a:solidFill>
                <a:prstClr val="black"/>
              </a:solidFill>
              <a:latin typeface="Calibri Light" panose="020F03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1" fontAlgn="base" hangingPunct="1">
        <a:spcBef>
          <a:spcPct val="0"/>
        </a:spcBef>
        <a:spcAft>
          <a:spcPct val="0"/>
        </a:spcAft>
        <a:defRPr sz="3600" b="1" kern="1200">
          <a:solidFill>
            <a:schemeClr val="tx1">
              <a:lumMod val="75000"/>
              <a:lumOff val="25000"/>
            </a:schemeClr>
          </a:solidFill>
          <a:latin typeface="Calibri" panose="020F0502020204030204" pitchFamily="34" charset="0"/>
          <a:ea typeface="+mj-ea"/>
          <a:cs typeface="+mj-cs"/>
        </a:defRPr>
      </a:lvl1pPr>
      <a:lvl2pPr algn="l" rtl="0" eaLnBrk="1" fontAlgn="base" hangingPunct="1">
        <a:spcBef>
          <a:spcPct val="0"/>
        </a:spcBef>
        <a:spcAft>
          <a:spcPct val="0"/>
        </a:spcAft>
        <a:defRPr sz="4000">
          <a:solidFill>
            <a:schemeClr val="tx2"/>
          </a:solidFill>
          <a:latin typeface="Tw Cen MT" panose="020B0602020104020603" pitchFamily="34" charset="0"/>
        </a:defRPr>
      </a:lvl2pPr>
      <a:lvl3pPr algn="l" rtl="0" eaLnBrk="1" fontAlgn="base" hangingPunct="1">
        <a:spcBef>
          <a:spcPct val="0"/>
        </a:spcBef>
        <a:spcAft>
          <a:spcPct val="0"/>
        </a:spcAft>
        <a:defRPr sz="4000">
          <a:solidFill>
            <a:schemeClr val="tx2"/>
          </a:solidFill>
          <a:latin typeface="Tw Cen MT" panose="020B0602020104020603" pitchFamily="34" charset="0"/>
        </a:defRPr>
      </a:lvl3pPr>
      <a:lvl4pPr algn="l" rtl="0" eaLnBrk="1" fontAlgn="base" hangingPunct="1">
        <a:spcBef>
          <a:spcPct val="0"/>
        </a:spcBef>
        <a:spcAft>
          <a:spcPct val="0"/>
        </a:spcAft>
        <a:defRPr sz="4000">
          <a:solidFill>
            <a:schemeClr val="tx2"/>
          </a:solidFill>
          <a:latin typeface="Tw Cen MT" panose="020B0602020104020603" pitchFamily="34" charset="0"/>
        </a:defRPr>
      </a:lvl4pPr>
      <a:lvl5pPr algn="l" rtl="0" eaLnBrk="1" fontAlgn="base" hangingPunct="1">
        <a:spcBef>
          <a:spcPct val="0"/>
        </a:spcBef>
        <a:spcAft>
          <a:spcPct val="0"/>
        </a:spcAft>
        <a:defRPr sz="4000">
          <a:solidFill>
            <a:schemeClr val="tx2"/>
          </a:solidFill>
          <a:latin typeface="Tw Cen MT" panose="020B0602020104020603" pitchFamily="34" charset="0"/>
        </a:defRPr>
      </a:lvl5pPr>
      <a:lvl6pPr marL="457200" algn="l" rtl="0" eaLnBrk="1" fontAlgn="base" hangingPunct="1">
        <a:spcBef>
          <a:spcPct val="0"/>
        </a:spcBef>
        <a:spcAft>
          <a:spcPct val="0"/>
        </a:spcAft>
        <a:defRPr sz="4000">
          <a:solidFill>
            <a:schemeClr val="tx2"/>
          </a:solidFill>
          <a:latin typeface="Tw Cen MT" panose="020B0602020104020603" pitchFamily="34" charset="0"/>
        </a:defRPr>
      </a:lvl6pPr>
      <a:lvl7pPr marL="914400" algn="l" rtl="0" eaLnBrk="1" fontAlgn="base" hangingPunct="1">
        <a:spcBef>
          <a:spcPct val="0"/>
        </a:spcBef>
        <a:spcAft>
          <a:spcPct val="0"/>
        </a:spcAft>
        <a:defRPr sz="4000">
          <a:solidFill>
            <a:schemeClr val="tx2"/>
          </a:solidFill>
          <a:latin typeface="Tw Cen MT" panose="020B0602020104020603" pitchFamily="34" charset="0"/>
        </a:defRPr>
      </a:lvl7pPr>
      <a:lvl8pPr marL="1371600" algn="l" rtl="0" eaLnBrk="1" fontAlgn="base" hangingPunct="1">
        <a:spcBef>
          <a:spcPct val="0"/>
        </a:spcBef>
        <a:spcAft>
          <a:spcPct val="0"/>
        </a:spcAft>
        <a:defRPr sz="4000">
          <a:solidFill>
            <a:schemeClr val="tx2"/>
          </a:solidFill>
          <a:latin typeface="Tw Cen MT" panose="020B0602020104020603" pitchFamily="34" charset="0"/>
        </a:defRPr>
      </a:lvl8pPr>
      <a:lvl9pPr marL="1828800" algn="l" rtl="0" eaLnBrk="1" fontAlgn="base" hangingPunct="1">
        <a:spcBef>
          <a:spcPct val="0"/>
        </a:spcBef>
        <a:spcAft>
          <a:spcPct val="0"/>
        </a:spcAft>
        <a:defRPr sz="4000">
          <a:solidFill>
            <a:schemeClr val="tx2"/>
          </a:solidFill>
          <a:latin typeface="Tw Cen MT" panose="020B0602020104020603" pitchFamily="34" charset="0"/>
        </a:defRPr>
      </a:lvl9pPr>
    </p:titleStyle>
    <p:body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Calibri Light" panose="020F0302020204030204" pitchFamily="34" charset="0"/>
          <a:ea typeface="+mn-ea"/>
          <a:cs typeface="+mn-cs"/>
        </a:defRPr>
      </a:lvl1pPr>
      <a:lvl2pPr marL="548005" indent="-228600" algn="l" rtl="0" eaLnBrk="1" fontAlgn="base" hangingPunct="1">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Calibri Light" panose="020F0302020204030204" pitchFamily="34" charset="0"/>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Calibri Light" panose="020F0302020204030204" pitchFamily="34" charset="0"/>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Calibri Light" panose="020F0302020204030204" pitchFamily="34" charset="0"/>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Calibri Light" panose="020F0302020204030204" pitchFamily="34" charset="0"/>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jpe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hyperlink" Target="https://en.wikipedia.org/wiki/File:ThreePhaseElectricityMeter.jpg" TargetMode="Externa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6627" y="1466499"/>
            <a:ext cx="12012329" cy="1470025"/>
          </a:xfrm>
        </p:spPr>
        <p:txBody>
          <a:bodyPr/>
          <a:lstStyle/>
          <a:p>
            <a:r>
              <a:rPr lang="en-US" sz="2800" b="1" dirty="0">
                <a:latin typeface="Times New Roman" panose="02020603050405020304" pitchFamily="18" charset="0"/>
                <a:cs typeface="Times New Roman" panose="02020603050405020304" pitchFamily="18" charset="0"/>
              </a:rPr>
              <a:t>Metering as a Tool for Minimizing Non-Technical Losses in Yola Electricity Distribution Company</a:t>
            </a:r>
            <a:endParaRPr lang="en-GB" sz="2800" b="1" dirty="0">
              <a:solidFill>
                <a:srgbClr val="00B05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51708" y="3119718"/>
            <a:ext cx="8842867" cy="3077882"/>
          </a:xfrm>
        </p:spPr>
        <p:txBody>
          <a:bodyPr>
            <a:normAutofit/>
          </a:bodyPr>
          <a:lstStyle/>
          <a:p>
            <a:r>
              <a:rPr lang="en-US" b="1" dirty="0">
                <a:solidFill>
                  <a:srgbClr val="00B050"/>
                </a:solidFill>
                <a:latin typeface="Times New Roman" panose="02020603050405020304" pitchFamily="18" charset="0"/>
                <a:cs typeface="Times New Roman" panose="02020603050405020304" pitchFamily="18" charset="0"/>
              </a:rPr>
              <a:t>Engr. AMOS, Chinda</a:t>
            </a:r>
            <a:endParaRPr lang="en-US" b="1" i="1" dirty="0">
              <a:solidFill>
                <a:srgbClr val="00B050"/>
              </a:solidFill>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National Centre for Technology Management, Nigeria</a:t>
            </a:r>
            <a:endParaRPr lang="en-US" b="1" dirty="0">
              <a:latin typeface="Times New Roman" panose="02020603050405020304" pitchFamily="18" charset="0"/>
              <a:cs typeface="Times New Roman" panose="02020603050405020304" pitchFamily="18" charset="0"/>
            </a:endParaRPr>
          </a:p>
          <a:p>
            <a:r>
              <a:rPr lang="en-US" b="1" dirty="0">
                <a:solidFill>
                  <a:srgbClr val="00B050"/>
                </a:solidFill>
                <a:latin typeface="Times New Roman" panose="02020603050405020304" pitchFamily="18" charset="0"/>
                <a:cs typeface="Times New Roman" panose="02020603050405020304" pitchFamily="18" charset="0"/>
              </a:rPr>
              <a:t>SCIENCE, POLICY AND DEVELOPMENT STUDIES</a:t>
            </a:r>
            <a:endParaRPr lang="en-US" b="1" dirty="0">
              <a:solidFill>
                <a:srgbClr val="00B050"/>
              </a:solidFill>
              <a:latin typeface="Times New Roman" panose="02020603050405020304" pitchFamily="18" charset="0"/>
              <a:cs typeface="Times New Roman" panose="02020603050405020304" pitchFamily="18" charset="0"/>
            </a:endParaRPr>
          </a:p>
          <a:p>
            <a:r>
              <a:rPr lang="en-US" b="1" dirty="0">
                <a:solidFill>
                  <a:srgbClr val="00B050"/>
                </a:solidFill>
                <a:latin typeface="Times New Roman" panose="02020603050405020304" pitchFamily="18" charset="0"/>
                <a:cs typeface="Times New Roman" panose="02020603050405020304" pitchFamily="18" charset="0"/>
              </a:rPr>
              <a:t>NORTH EAST ZONAL OFFICE </a:t>
            </a:r>
            <a:endParaRPr lang="en-US" b="1" dirty="0">
              <a:solidFill>
                <a:srgbClr val="00B050"/>
              </a:solidFill>
              <a:latin typeface="Times New Roman" panose="02020603050405020304" pitchFamily="18" charset="0"/>
              <a:cs typeface="Times New Roman" panose="02020603050405020304" pitchFamily="18" charset="0"/>
            </a:endParaRPr>
          </a:p>
          <a:p>
            <a:endParaRPr lang="en-GB" b="1" dirty="0">
              <a:solidFill>
                <a:schemeClr val="tx1"/>
              </a:solidFill>
            </a:endParaRPr>
          </a:p>
          <a:p>
            <a:r>
              <a:rPr lang="en-GB" sz="3100" b="1" dirty="0">
                <a:solidFill>
                  <a:schemeClr val="tx1"/>
                </a:solidFill>
                <a:latin typeface="Times New Roman" panose="02020603050405020304" pitchFamily="18" charset="0"/>
                <a:cs typeface="Times New Roman" panose="02020603050405020304" pitchFamily="18" charset="0"/>
              </a:rPr>
              <a:t>March, 2025</a:t>
            </a:r>
            <a:endParaRPr lang="en-GB" sz="3100" b="1" dirty="0">
              <a:solidFill>
                <a:schemeClr val="tx1"/>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9584267" y="6197600"/>
            <a:ext cx="2607733" cy="253916"/>
          </a:xfrm>
          <a:prstGeom prst="rect">
            <a:avLst/>
          </a:prstGeom>
          <a:noFill/>
        </p:spPr>
        <p:txBody>
          <a:bodyPr wrap="square" rtlCol="0">
            <a:spAutoFit/>
          </a:bodyPr>
          <a:lstStyle/>
          <a:p>
            <a:r>
              <a:rPr lang="en-US" sz="1050" dirty="0">
                <a:solidFill>
                  <a:schemeClr val="bg1"/>
                </a:solidFill>
                <a:highlight>
                  <a:srgbClr val="800000"/>
                </a:highlight>
              </a:rPr>
              <a:t>NACETEM Researchers’ Lecture Series 2024</a:t>
            </a:r>
            <a:endParaRPr lang="en-US" sz="1050" dirty="0">
              <a:solidFill>
                <a:schemeClr val="bg1"/>
              </a:solidFill>
              <a:highlight>
                <a:srgbClr val="800000"/>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7577"/>
            <a:ext cx="10637440" cy="551329"/>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OUTLINE</a:t>
            </a:r>
            <a:endPar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6689" y="1117600"/>
            <a:ext cx="10363200" cy="5333999"/>
          </a:xfrm>
        </p:spPr>
        <p:txBody>
          <a:bodyPr/>
          <a:lstStyle/>
          <a:p>
            <a:pPr>
              <a:buFont typeface="Wingdings" panose="05000000000000000000" pitchFamily="2" charset="2"/>
              <a:buChar char="q"/>
            </a:pPr>
            <a:endParaRPr lang="en-GB" sz="2000" dirty="0"/>
          </a:p>
          <a:p>
            <a:pPr marL="231775" indent="-231775">
              <a:lnSpc>
                <a:spcPct val="150000"/>
              </a:lnSpc>
              <a:buClr>
                <a:srgbClr val="3D1EF6"/>
              </a:buCl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INTRODUCTION</a:t>
            </a:r>
            <a:endParaRPr lang="en-US" sz="2400" b="1" dirty="0">
              <a:latin typeface="Times New Roman" panose="02020603050405020304" pitchFamily="18" charset="0"/>
              <a:cs typeface="Times New Roman" panose="02020603050405020304" pitchFamily="18" charset="0"/>
            </a:endParaRPr>
          </a:p>
          <a:p>
            <a:pPr marL="231775" indent="-231775">
              <a:lnSpc>
                <a:spcPct val="150000"/>
              </a:lnSpc>
              <a:buClr>
                <a:srgbClr val="3D1EF6"/>
              </a:buCl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STATEMENT OF PROBLEM</a:t>
            </a:r>
            <a:endParaRPr lang="en-US" sz="2400" b="1" dirty="0">
              <a:latin typeface="Times New Roman" panose="02020603050405020304" pitchFamily="18" charset="0"/>
              <a:cs typeface="Times New Roman" panose="02020603050405020304" pitchFamily="18" charset="0"/>
            </a:endParaRPr>
          </a:p>
          <a:p>
            <a:pPr marL="231775" indent="-231775">
              <a:lnSpc>
                <a:spcPct val="150000"/>
              </a:lnSpc>
              <a:buClr>
                <a:srgbClr val="3D1EF6"/>
              </a:buCl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AIM AND OBJECTIVES</a:t>
            </a:r>
            <a:endParaRPr lang="en-US" sz="2400" b="1" dirty="0">
              <a:latin typeface="Times New Roman" panose="02020603050405020304" pitchFamily="18" charset="0"/>
              <a:cs typeface="Times New Roman" panose="02020603050405020304" pitchFamily="18" charset="0"/>
            </a:endParaRPr>
          </a:p>
          <a:p>
            <a:pPr marL="231775" indent="-231775">
              <a:lnSpc>
                <a:spcPct val="150000"/>
              </a:lnSpc>
              <a:buClr>
                <a:srgbClr val="3D1EF6"/>
              </a:buCl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LITERATURE REVIEW</a:t>
            </a:r>
            <a:endParaRPr lang="en-US" sz="2400" b="1" dirty="0">
              <a:latin typeface="Times New Roman" panose="02020603050405020304" pitchFamily="18" charset="0"/>
              <a:cs typeface="Times New Roman" panose="02020603050405020304" pitchFamily="18" charset="0"/>
            </a:endParaRPr>
          </a:p>
          <a:p>
            <a:pPr marL="231775" indent="-231775">
              <a:lnSpc>
                <a:spcPct val="150000"/>
              </a:lnSpc>
              <a:buClr>
                <a:srgbClr val="3D1EF6"/>
              </a:buCl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METHODOLOGY</a:t>
            </a:r>
            <a:endParaRPr lang="en-US" sz="2400" b="1" dirty="0">
              <a:latin typeface="Times New Roman" panose="02020603050405020304" pitchFamily="18" charset="0"/>
              <a:cs typeface="Times New Roman" panose="02020603050405020304" pitchFamily="18" charset="0"/>
            </a:endParaRPr>
          </a:p>
          <a:p>
            <a:pPr marL="231775" indent="-231775">
              <a:lnSpc>
                <a:spcPct val="150000"/>
              </a:lnSpc>
              <a:buClr>
                <a:srgbClr val="3D1EF6"/>
              </a:buCl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RESULTS ANALYSIS AND DISCUSSIONS</a:t>
            </a:r>
            <a:endParaRPr lang="en-US" sz="2400" b="1" dirty="0">
              <a:latin typeface="Times New Roman" panose="02020603050405020304" pitchFamily="18" charset="0"/>
              <a:cs typeface="Times New Roman" panose="02020603050405020304" pitchFamily="18" charset="0"/>
            </a:endParaRPr>
          </a:p>
          <a:p>
            <a:pPr marL="231775" indent="-231775">
              <a:lnSpc>
                <a:spcPct val="150000"/>
              </a:lnSpc>
              <a:buClr>
                <a:srgbClr val="3D1EF6"/>
              </a:buCl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CONCLUSION</a:t>
            </a:r>
            <a:endParaRPr lang="en-US" sz="24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sz="2000" dirty="0"/>
          </a:p>
          <a:p>
            <a:pPr marL="0" indent="0">
              <a:buNone/>
            </a:pPr>
            <a:endParaRPr lang="en-US" sz="1200" dirty="0"/>
          </a:p>
          <a:p>
            <a:endParaRPr lang="en-US" sz="1200" dirty="0"/>
          </a:p>
          <a:p>
            <a:endParaRPr lang="en-US" sz="1800" dirty="0"/>
          </a:p>
          <a:p>
            <a:endParaRPr lang="en-US" sz="1800" dirty="0"/>
          </a:p>
          <a:p>
            <a:endParaRPr lang="en-US" sz="1800" dirty="0"/>
          </a:p>
          <a:p>
            <a:endParaRPr lang="en-US" sz="2000" dirty="0"/>
          </a:p>
          <a:p>
            <a:endParaRPr lang="en-US" sz="2000" dirty="0"/>
          </a:p>
          <a:p>
            <a:endParaRPr lang="en-US" sz="2000" dirty="0"/>
          </a:p>
          <a:p>
            <a:endParaRPr lang="en-US" dirty="0"/>
          </a:p>
          <a:p>
            <a:endParaRPr lang="en-US" dirty="0"/>
          </a:p>
          <a:p>
            <a:endParaRPr lang="en-US" dirty="0"/>
          </a:p>
          <a:p>
            <a:endParaRPr lang="en-US" dirty="0"/>
          </a:p>
          <a:p>
            <a:endParaRPr lang="en-US" dirty="0"/>
          </a:p>
          <a:p>
            <a:endParaRPr lang="en-US" dirty="0"/>
          </a:p>
          <a:p>
            <a:pPr marL="0" indent="0">
              <a:lnSpc>
                <a:spcPct val="150000"/>
              </a:lnSpc>
              <a:buNone/>
            </a:pPr>
            <a:endParaRPr lang="en-US" dirty="0"/>
          </a:p>
          <a:p>
            <a:pPr>
              <a:lnSpc>
                <a:spcPct val="150000"/>
              </a:lnSpc>
            </a:pPr>
            <a:endParaRPr lang="en-US" dirty="0"/>
          </a:p>
          <a:p>
            <a:endParaRPr lang="en-US" dirty="0"/>
          </a:p>
          <a:p>
            <a:pPr marL="0" indent="0">
              <a:buNone/>
            </a:pPr>
            <a:endParaRPr lang="en-US" dirty="0"/>
          </a:p>
          <a:p>
            <a:endParaRPr lang="en-US" dirty="0"/>
          </a:p>
        </p:txBody>
      </p:sp>
      <p:sp>
        <p:nvSpPr>
          <p:cNvPr id="5" name="TextBox 4"/>
          <p:cNvSpPr txBox="1"/>
          <p:nvPr/>
        </p:nvSpPr>
        <p:spPr>
          <a:xfrm>
            <a:off x="7085223" y="6604084"/>
            <a:ext cx="2607733" cy="253916"/>
          </a:xfrm>
          <a:prstGeom prst="rect">
            <a:avLst/>
          </a:prstGeom>
          <a:noFill/>
        </p:spPr>
        <p:txBody>
          <a:bodyPr wrap="square" rtlCol="0">
            <a:spAutoFit/>
          </a:bodyPr>
          <a:lstStyle/>
          <a:p>
            <a:r>
              <a:rPr lang="en-US" sz="1050" dirty="0">
                <a:solidFill>
                  <a:schemeClr val="bg1"/>
                </a:solidFill>
                <a:highlight>
                  <a:srgbClr val="800000"/>
                </a:highlight>
              </a:rPr>
              <a:t>NACETEM Researchers’ Lecture Series 2024</a:t>
            </a:r>
            <a:endParaRPr lang="en-US" sz="1050" dirty="0">
              <a:solidFill>
                <a:schemeClr val="bg1"/>
              </a:solidFill>
              <a:highlight>
                <a:srgbClr val="8000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14338" y="0"/>
            <a:ext cx="4121427" cy="618565"/>
          </a:xfrm>
        </p:spPr>
        <p:txBody>
          <a:bodyPr/>
          <a:lstStyle/>
          <a:p>
            <a:pPr marL="0" indent="0">
              <a:buNone/>
            </a:pPr>
            <a:r>
              <a:rPr lang="en-US" sz="3600"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endParaRPr lang="en-US" sz="3600"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p:cNvSpPr txBox="1"/>
          <p:nvPr/>
        </p:nvSpPr>
        <p:spPr>
          <a:xfrm>
            <a:off x="7085223" y="6604084"/>
            <a:ext cx="2607733" cy="253916"/>
          </a:xfrm>
          <a:prstGeom prst="rect">
            <a:avLst/>
          </a:prstGeom>
          <a:noFill/>
        </p:spPr>
        <p:txBody>
          <a:bodyPr wrap="square" rtlCol="0">
            <a:spAutoFit/>
          </a:bodyPr>
          <a:lstStyle/>
          <a:p>
            <a:r>
              <a:rPr lang="en-US" sz="1050" dirty="0">
                <a:solidFill>
                  <a:schemeClr val="bg1"/>
                </a:solidFill>
                <a:highlight>
                  <a:srgbClr val="800000"/>
                </a:highlight>
              </a:rPr>
              <a:t>NACETEM Researchers’ Lecture Series 2024</a:t>
            </a:r>
            <a:endParaRPr lang="en-US" sz="1050" dirty="0">
              <a:solidFill>
                <a:schemeClr val="bg1"/>
              </a:solidFill>
              <a:highlight>
                <a:srgbClr val="800000"/>
              </a:highlight>
            </a:endParaRPr>
          </a:p>
        </p:txBody>
      </p:sp>
      <p:sp>
        <p:nvSpPr>
          <p:cNvPr id="4" name="TextBox 3"/>
          <p:cNvSpPr txBox="1"/>
          <p:nvPr/>
        </p:nvSpPr>
        <p:spPr>
          <a:xfrm>
            <a:off x="414338" y="814388"/>
            <a:ext cx="11172825" cy="4524315"/>
          </a:xfrm>
          <a:prstGeom prst="rect">
            <a:avLst/>
          </a:prstGeom>
          <a:noFill/>
        </p:spPr>
        <p:txBody>
          <a:bodyPr wrap="square">
            <a:spAutoFit/>
          </a:bodyPr>
          <a:lstStyle/>
          <a:p>
            <a:pPr algn="just">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Electrical Power System and its Application</a:t>
            </a:r>
            <a:endParaRPr lang="en-US" sz="3200" dirty="0">
              <a:latin typeface="Times New Roman" panose="02020603050405020304" pitchFamily="18" charset="0"/>
              <a:cs typeface="Times New Roman" panose="02020603050405020304" pitchFamily="18" charset="0"/>
            </a:endParaRPr>
          </a:p>
          <a:p>
            <a:pPr marL="231775" indent="-231775" algn="just">
              <a:buFont typeface="Wingdings" panose="05000000000000000000" pitchFamily="2" charset="2"/>
              <a:buChar char="Ø"/>
            </a:pPr>
            <a:endParaRPr lang="en-US" sz="3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Functional zones: Generation, Transmission and Distribution</a:t>
            </a:r>
            <a:endParaRPr lang="en-US" sz="3200" dirty="0">
              <a:latin typeface="Times New Roman" panose="02020603050405020304" pitchFamily="18" charset="0"/>
              <a:cs typeface="Times New Roman" panose="02020603050405020304" pitchFamily="18" charset="0"/>
            </a:endParaRPr>
          </a:p>
          <a:p>
            <a:pPr marL="231775" indent="-231775" algn="just">
              <a:buNone/>
            </a:pPr>
            <a:endParaRPr lang="en-US" sz="3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Devices for electricity billing</a:t>
            </a:r>
            <a:endParaRPr lang="en-US" sz="3200" dirty="0">
              <a:latin typeface="Times New Roman" panose="02020603050405020304" pitchFamily="18" charset="0"/>
              <a:cs typeface="Times New Roman" panose="02020603050405020304" pitchFamily="18" charset="0"/>
            </a:endParaRPr>
          </a:p>
          <a:p>
            <a:pPr marL="231775" indent="-231775" algn="just">
              <a:buNone/>
            </a:pPr>
            <a:endParaRPr lang="en-US" sz="3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Energy theft</a:t>
            </a:r>
            <a:endParaRPr lang="en-US" sz="3200" dirty="0">
              <a:latin typeface="Times New Roman" panose="02020603050405020304" pitchFamily="18" charset="0"/>
              <a:cs typeface="Times New Roman" panose="02020603050405020304" pitchFamily="18" charset="0"/>
            </a:endParaRPr>
          </a:p>
          <a:p>
            <a:pPr marL="231775" indent="-231775" algn="just">
              <a:buFont typeface="Wingdings" panose="05000000000000000000" pitchFamily="2" charset="2"/>
              <a:buChar char="Ø"/>
            </a:pPr>
            <a:endParaRPr lang="en-US" sz="3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Losses in Electrical power System</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35280" y="635"/>
            <a:ext cx="10637520" cy="573405"/>
          </a:xfrm>
        </p:spPr>
        <p:txBody>
          <a:bodyPr/>
          <a:p>
            <a:r>
              <a:rPr lang="en-US" dirty="0">
                <a:solidFill>
                  <a:srgbClr val="C00000"/>
                </a:solidFill>
                <a:latin typeface="Times New Roman" panose="02020603050405020304" pitchFamily="18" charset="0"/>
                <a:cs typeface="Times New Roman" panose="02020603050405020304" pitchFamily="18" charset="0"/>
                <a:sym typeface="+mn-ea"/>
              </a:rPr>
              <a:t>Devices for Electricity Billing</a:t>
            </a:r>
            <a:endParaRPr lang="en-US" dirty="0">
              <a:solidFill>
                <a:srgbClr val="C00000"/>
              </a:solidFill>
              <a:latin typeface="Times New Roman" panose="02020603050405020304" pitchFamily="18" charset="0"/>
              <a:cs typeface="Times New Roman" panose="02020603050405020304" pitchFamily="18" charset="0"/>
              <a:sym typeface="+mn-ea"/>
            </a:endParaRPr>
          </a:p>
        </p:txBody>
      </p:sp>
      <p:pic>
        <p:nvPicPr>
          <p:cNvPr id="79" name="Picture 10" descr="https://upload.wikimedia.org/wikipedia/commons/thumb/8/84/ThreePhaseElectricityMeter.jpg/220px-ThreePhaseElectricityMeter.jpg">
            <a:hlinkClick r:id="rId1"/>
          </p:cNvPr>
          <p:cNvPicPr>
            <a:picLocks noChangeAspect="1" noChangeArrowheads="1"/>
          </p:cNvPicPr>
          <p:nvPr/>
        </p:nvPicPr>
        <p:blipFill>
          <a:blip r:embed="rId2"/>
          <a:srcRect/>
          <a:stretch>
            <a:fillRect/>
          </a:stretch>
        </p:blipFill>
        <p:spPr>
          <a:xfrm>
            <a:off x="113665" y="802005"/>
            <a:ext cx="2902585" cy="4199890"/>
          </a:xfrm>
          <a:prstGeom prst="rect">
            <a:avLst/>
          </a:prstGeom>
          <a:noFill/>
          <a:ln w="9525">
            <a:noFill/>
            <a:miter lim="800000"/>
            <a:headEnd/>
            <a:tailEnd/>
          </a:ln>
        </p:spPr>
      </p:pic>
      <p:pic>
        <p:nvPicPr>
          <p:cNvPr id="82" name="Picture 3"/>
          <p:cNvPicPr>
            <a:picLocks noChangeAspect="1" noChangeArrowheads="1"/>
          </p:cNvPicPr>
          <p:nvPr/>
        </p:nvPicPr>
        <p:blipFill>
          <a:blip r:embed="rId3"/>
          <a:srcRect/>
          <a:stretch>
            <a:fillRect/>
          </a:stretch>
        </p:blipFill>
        <p:spPr>
          <a:xfrm>
            <a:off x="6532245" y="574040"/>
            <a:ext cx="4903470" cy="5325110"/>
          </a:xfrm>
          <a:prstGeom prst="rect">
            <a:avLst/>
          </a:prstGeom>
          <a:noFill/>
          <a:ln w="9525">
            <a:noFill/>
            <a:miter lim="800000"/>
            <a:headEnd/>
            <a:tailEnd/>
          </a:ln>
        </p:spPr>
      </p:pic>
      <p:pic>
        <p:nvPicPr>
          <p:cNvPr id="80" name="Picture 1" descr="C:\Documents and Settings\Ishaya Ventures\Desktop\PROJECT PIX\FIG 4.JPG"/>
          <p:cNvPicPr>
            <a:picLocks noChangeAspect="1" noChangeArrowheads="1"/>
          </p:cNvPicPr>
          <p:nvPr/>
        </p:nvPicPr>
        <p:blipFill>
          <a:blip r:embed="rId4"/>
          <a:srcRect/>
          <a:stretch>
            <a:fillRect/>
          </a:stretch>
        </p:blipFill>
        <p:spPr>
          <a:xfrm>
            <a:off x="3221990" y="827405"/>
            <a:ext cx="3105150" cy="4174490"/>
          </a:xfrm>
          <a:prstGeom prst="rect">
            <a:avLst/>
          </a:prstGeom>
          <a:noFill/>
          <a:ln w="9525">
            <a:noFill/>
            <a:miter lim="800000"/>
            <a:headEnd/>
            <a:tailEnd/>
          </a:ln>
        </p:spPr>
      </p:pic>
      <p:sp>
        <p:nvSpPr>
          <p:cNvPr id="4" name="Text Box 3"/>
          <p:cNvSpPr txBox="1"/>
          <p:nvPr/>
        </p:nvSpPr>
        <p:spPr>
          <a:xfrm>
            <a:off x="7660005" y="5960110"/>
            <a:ext cx="2423795" cy="371475"/>
          </a:xfrm>
          <a:prstGeom prst="rect">
            <a:avLst/>
          </a:prstGeom>
        </p:spPr>
        <p:txBody>
          <a:bodyPr wrap="square">
            <a:spAutoFit/>
          </a:bodyPr>
          <a:p>
            <a:pPr defTabSz="266700">
              <a:lnSpc>
                <a:spcPct val="114000"/>
              </a:lnSpc>
              <a:spcAft>
                <a:spcPts val="1000"/>
              </a:spcAft>
            </a:pPr>
            <a:r>
              <a:rPr sz="1600" b="1">
                <a:latin typeface="Times New Roman" panose="02020603050405020304"/>
                <a:ea typeface="Calibri" panose="020F0502020204030204"/>
              </a:rPr>
              <a:t>MD Prepayment Meter</a:t>
            </a:r>
            <a:endParaRPr sz="1600" b="1">
              <a:latin typeface="Times New Roman" panose="02020603050405020304"/>
              <a:ea typeface="Calibri" panose="020F0502020204030204"/>
            </a:endParaRPr>
          </a:p>
        </p:txBody>
      </p:sp>
      <p:sp>
        <p:nvSpPr>
          <p:cNvPr id="5" name="Text Box 4"/>
          <p:cNvSpPr txBox="1"/>
          <p:nvPr/>
        </p:nvSpPr>
        <p:spPr>
          <a:xfrm>
            <a:off x="591185" y="5142230"/>
            <a:ext cx="1711325" cy="371475"/>
          </a:xfrm>
          <a:prstGeom prst="rect">
            <a:avLst/>
          </a:prstGeom>
        </p:spPr>
        <p:txBody>
          <a:bodyPr wrap="square">
            <a:spAutoFit/>
          </a:bodyPr>
          <a:p>
            <a:pPr defTabSz="266700">
              <a:lnSpc>
                <a:spcPct val="114000"/>
              </a:lnSpc>
              <a:spcAft>
                <a:spcPts val="1000"/>
              </a:spcAft>
            </a:pPr>
            <a:r>
              <a:rPr lang="en-US" sz="1600" b="1">
                <a:latin typeface="Times New Roman" panose="02020603050405020304"/>
                <a:ea typeface="Calibri" panose="020F0502020204030204"/>
              </a:rPr>
              <a:t>Analogue</a:t>
            </a:r>
            <a:r>
              <a:rPr sz="1600" b="1">
                <a:latin typeface="Times New Roman" panose="02020603050405020304"/>
                <a:ea typeface="Calibri" panose="020F0502020204030204"/>
              </a:rPr>
              <a:t> Meter</a:t>
            </a:r>
            <a:endParaRPr sz="1600" b="1">
              <a:latin typeface="Times New Roman" panose="02020603050405020304"/>
              <a:ea typeface="Calibri" panose="020F0502020204030204"/>
            </a:endParaRPr>
          </a:p>
        </p:txBody>
      </p:sp>
      <p:sp>
        <p:nvSpPr>
          <p:cNvPr id="6" name="Text Box 5"/>
          <p:cNvSpPr txBox="1"/>
          <p:nvPr/>
        </p:nvSpPr>
        <p:spPr>
          <a:xfrm>
            <a:off x="3556000" y="5114925"/>
            <a:ext cx="2540000" cy="371475"/>
          </a:xfrm>
          <a:prstGeom prst="rect">
            <a:avLst/>
          </a:prstGeom>
        </p:spPr>
        <p:txBody>
          <a:bodyPr wrap="square">
            <a:spAutoFit/>
          </a:bodyPr>
          <a:p>
            <a:pPr defTabSz="266700">
              <a:lnSpc>
                <a:spcPct val="114000"/>
              </a:lnSpc>
              <a:spcAft>
                <a:spcPts val="1000"/>
              </a:spcAft>
            </a:pPr>
            <a:r>
              <a:rPr sz="1600" b="1">
                <a:latin typeface="Times New Roman" panose="02020603050405020304"/>
                <a:ea typeface="Calibri" panose="020F0502020204030204"/>
              </a:rPr>
              <a:t>Pre</a:t>
            </a:r>
            <a:r>
              <a:rPr lang="en-US" sz="1600" b="1">
                <a:latin typeface="Times New Roman" panose="02020603050405020304"/>
                <a:ea typeface="Calibri" panose="020F0502020204030204"/>
              </a:rPr>
              <a:t>-</a:t>
            </a:r>
            <a:r>
              <a:rPr sz="1600" b="1">
                <a:latin typeface="Times New Roman" panose="02020603050405020304"/>
                <a:ea typeface="Calibri" panose="020F0502020204030204"/>
              </a:rPr>
              <a:t>payment Meter</a:t>
            </a:r>
            <a:endParaRPr sz="1600" b="1">
              <a:latin typeface="Times New Roman" panose="02020603050405020304"/>
              <a:ea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35280" y="0"/>
            <a:ext cx="10637520" cy="633095"/>
          </a:xfrm>
        </p:spPr>
        <p:txBody>
          <a:bodyPr/>
          <a:p>
            <a:r>
              <a:rPr lang="en-US" dirty="0">
                <a:solidFill>
                  <a:srgbClr val="C00000"/>
                </a:solidFill>
                <a:latin typeface="Times New Roman" panose="02020603050405020304" pitchFamily="18" charset="0"/>
                <a:cs typeface="Times New Roman" panose="02020603050405020304" pitchFamily="18" charset="0"/>
                <a:sym typeface="+mn-ea"/>
              </a:rPr>
              <a:t>Devices for Electricity Billing</a:t>
            </a:r>
            <a:endParaRPr lang="en-US"/>
          </a:p>
        </p:txBody>
      </p:sp>
      <p:pic>
        <p:nvPicPr>
          <p:cNvPr id="4" name="Picture 2"/>
          <p:cNvPicPr>
            <a:picLocks noChangeAspect="1" noChangeArrowheads="1"/>
          </p:cNvPicPr>
          <p:nvPr/>
        </p:nvPicPr>
        <p:blipFill>
          <a:blip r:embed="rId1"/>
          <a:srcRect/>
          <a:stretch>
            <a:fillRect/>
          </a:stretch>
        </p:blipFill>
        <p:spPr>
          <a:xfrm>
            <a:off x="6694170" y="822325"/>
            <a:ext cx="4942840" cy="4622165"/>
          </a:xfrm>
          <a:prstGeom prst="rect">
            <a:avLst/>
          </a:prstGeom>
          <a:noFill/>
          <a:ln w="9525">
            <a:noFill/>
            <a:miter lim="800000"/>
            <a:headEnd/>
            <a:tailEnd/>
          </a:ln>
        </p:spPr>
      </p:pic>
      <p:pic>
        <p:nvPicPr>
          <p:cNvPr id="7" name="Picture 4"/>
          <p:cNvPicPr>
            <a:picLocks noChangeAspect="1"/>
          </p:cNvPicPr>
          <p:nvPr/>
        </p:nvPicPr>
        <p:blipFill>
          <a:blip r:embed="rId2"/>
          <a:stretch>
            <a:fillRect/>
          </a:stretch>
        </p:blipFill>
        <p:spPr>
          <a:xfrm>
            <a:off x="112395" y="788035"/>
            <a:ext cx="6581775" cy="4655820"/>
          </a:xfrm>
          <a:prstGeom prst="rect">
            <a:avLst/>
          </a:prstGeom>
        </p:spPr>
      </p:pic>
      <p:sp>
        <p:nvSpPr>
          <p:cNvPr id="9" name="Text Box 8"/>
          <p:cNvSpPr txBox="1"/>
          <p:nvPr/>
        </p:nvSpPr>
        <p:spPr>
          <a:xfrm>
            <a:off x="1586230" y="5481320"/>
            <a:ext cx="2517775" cy="356870"/>
          </a:xfrm>
          <a:prstGeom prst="rect">
            <a:avLst/>
          </a:prstGeom>
          <a:noFill/>
        </p:spPr>
        <p:txBody>
          <a:bodyPr wrap="square" rtlCol="0" anchor="t">
            <a:noAutofit/>
          </a:bodyPr>
          <a:p>
            <a:pPr defTabSz="266700">
              <a:lnSpc>
                <a:spcPct val="114000"/>
              </a:lnSpc>
              <a:spcAft>
                <a:spcPts val="1000"/>
              </a:spcAft>
            </a:pPr>
            <a:r>
              <a:rPr lang="en-US" sz="1600" b="1">
                <a:latin typeface="Times New Roman" panose="02020603050405020304"/>
                <a:ea typeface="Calibri" panose="020F0502020204030204"/>
                <a:sym typeface="+mn-ea"/>
              </a:rPr>
              <a:t>Un-</a:t>
            </a:r>
            <a:r>
              <a:rPr sz="1600" b="1">
                <a:latin typeface="Times New Roman" panose="02020603050405020304"/>
                <a:ea typeface="Calibri" panose="020F0502020204030204"/>
                <a:sym typeface="+mn-ea"/>
              </a:rPr>
              <a:t>Meter</a:t>
            </a:r>
            <a:r>
              <a:rPr lang="en-US" sz="1600" b="1">
                <a:latin typeface="Times New Roman" panose="02020603050405020304"/>
                <a:ea typeface="Calibri" panose="020F0502020204030204"/>
                <a:sym typeface="+mn-ea"/>
              </a:rPr>
              <a:t>ed customer bill</a:t>
            </a:r>
            <a:endParaRPr lang="en-US" sz="1600" b="1">
              <a:latin typeface="Times New Roman" panose="02020603050405020304"/>
              <a:ea typeface="Calibri" panose="020F0502020204030204"/>
              <a:sym typeface="+mn-ea"/>
            </a:endParaRPr>
          </a:p>
        </p:txBody>
      </p:sp>
      <p:sp>
        <p:nvSpPr>
          <p:cNvPr id="5" name="Text Box 4"/>
          <p:cNvSpPr txBox="1"/>
          <p:nvPr/>
        </p:nvSpPr>
        <p:spPr>
          <a:xfrm>
            <a:off x="7747635" y="5492750"/>
            <a:ext cx="2918460" cy="371475"/>
          </a:xfrm>
          <a:prstGeom prst="rect">
            <a:avLst/>
          </a:prstGeom>
        </p:spPr>
        <p:txBody>
          <a:bodyPr wrap="square">
            <a:spAutoFit/>
          </a:bodyPr>
          <a:p>
            <a:pPr defTabSz="266700">
              <a:lnSpc>
                <a:spcPct val="114000"/>
              </a:lnSpc>
              <a:spcAft>
                <a:spcPts val="1000"/>
              </a:spcAft>
            </a:pPr>
            <a:r>
              <a:rPr lang="en-US" sz="1600" b="1">
                <a:latin typeface="Times New Roman" panose="02020603050405020304"/>
                <a:ea typeface="Calibri" panose="020F0502020204030204"/>
              </a:rPr>
              <a:t>Boundry </a:t>
            </a:r>
            <a:r>
              <a:rPr sz="1600" b="1">
                <a:latin typeface="Times New Roman" panose="02020603050405020304"/>
                <a:ea typeface="Calibri" panose="020F0502020204030204"/>
              </a:rPr>
              <a:t>Substation Metering</a:t>
            </a:r>
            <a:endParaRPr sz="1600" b="1">
              <a:latin typeface="Times New Roman" panose="02020603050405020304"/>
              <a:ea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35280" y="635"/>
            <a:ext cx="10637520" cy="662940"/>
          </a:xfrm>
        </p:spPr>
        <p:txBody>
          <a:bodyPr/>
          <a:p>
            <a:r>
              <a:rPr lang="en-US">
                <a:solidFill>
                  <a:srgbClr val="FF0000"/>
                </a:solidFill>
                <a:latin typeface="Times New Roman" panose="02020603050405020304" pitchFamily="18" charset="0"/>
                <a:cs typeface="Times New Roman" panose="02020603050405020304" pitchFamily="18" charset="0"/>
              </a:rPr>
              <a:t>Electricity Theft</a:t>
            </a:r>
            <a:endParaRPr lang="en-US">
              <a:solidFill>
                <a:srgbClr val="FF0000"/>
              </a:solidFill>
              <a:latin typeface="Times New Roman" panose="02020603050405020304" pitchFamily="18" charset="0"/>
              <a:cs typeface="Times New Roman" panose="02020603050405020304" pitchFamily="18" charset="0"/>
            </a:endParaRPr>
          </a:p>
        </p:txBody>
      </p:sp>
      <p:pic>
        <p:nvPicPr>
          <p:cNvPr id="4" name="Picture 3" descr="C:\Users\JOEL JOHN\AppData\Local\Microsoft\Windows\Temporary Internet Files\Content.Word\Electricity-poles-800x60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523875" y="802005"/>
            <a:ext cx="5419090" cy="5253990"/>
          </a:xfrm>
          <a:prstGeom prst="rect">
            <a:avLst/>
          </a:prstGeom>
          <a:noFill/>
          <a:ln>
            <a:noFill/>
          </a:ln>
        </p:spPr>
      </p:pic>
      <p:sp>
        <p:nvSpPr>
          <p:cNvPr id="3" name="Text Box 2"/>
          <p:cNvSpPr txBox="1"/>
          <p:nvPr/>
        </p:nvSpPr>
        <p:spPr>
          <a:xfrm>
            <a:off x="6916420" y="664210"/>
            <a:ext cx="4259580" cy="3154680"/>
          </a:xfrm>
          <a:prstGeom prst="rect">
            <a:avLst/>
          </a:prstGeom>
        </p:spPr>
        <p:txBody>
          <a:bodyPr>
            <a:noAutofit/>
          </a:bodyPr>
          <a:p>
            <a:pPr algn="just" defTabSz="266700">
              <a:lnSpc>
                <a:spcPct val="150000"/>
              </a:lnSpc>
              <a:spcBef>
                <a:spcPts val="1200"/>
              </a:spcBef>
              <a:spcAft>
                <a:spcPct val="0"/>
              </a:spcAft>
            </a:pPr>
            <a:endParaRPr sz="1600">
              <a:latin typeface="Times New Roman" panose="02020603050405020304"/>
              <a:ea typeface="Calibri" panose="020F0502020204030204"/>
            </a:endParaRPr>
          </a:p>
          <a:p>
            <a:pPr algn="just" defTabSz="266700">
              <a:lnSpc>
                <a:spcPct val="150000"/>
              </a:lnSpc>
              <a:spcAft>
                <a:spcPct val="0"/>
              </a:spcAft>
            </a:pPr>
            <a:r>
              <a:rPr sz="1600" b="1">
                <a:latin typeface="Times New Roman" panose="02020603050405020304"/>
                <a:ea typeface="Calibri" panose="020F0502020204030204"/>
              </a:rPr>
              <a:t>Type of violation</a:t>
            </a:r>
            <a:r>
              <a:rPr sz="1600">
                <a:latin typeface="Times New Roman" panose="02020603050405020304"/>
                <a:ea typeface="Calibri" panose="020F0502020204030204"/>
              </a:rPr>
              <a:t>				</a:t>
            </a:r>
            <a:endParaRPr sz="1600">
              <a:latin typeface="Times New Roman" panose="02020603050405020304"/>
              <a:ea typeface="Calibri" panose="020F0502020204030204"/>
            </a:endParaRPr>
          </a:p>
          <a:p>
            <a:pPr marL="285750" indent="-285750" defTabSz="266700">
              <a:lnSpc>
                <a:spcPct val="150000"/>
              </a:lnSpc>
              <a:spcAft>
                <a:spcPct val="0"/>
              </a:spcAft>
              <a:buFont typeface="Wingdings" panose="05000000000000000000" charset="0"/>
              <a:buChar char="v"/>
            </a:pPr>
            <a:r>
              <a:rPr sz="1600">
                <a:latin typeface="Times New Roman" panose="02020603050405020304"/>
                <a:ea typeface="Calibri" panose="020F0502020204030204"/>
              </a:rPr>
              <a:t>Direct connection to supply</a:t>
            </a:r>
            <a:endParaRPr sz="1600">
              <a:latin typeface="Times New Roman" panose="02020603050405020304"/>
              <a:ea typeface="Calibri" panose="020F0502020204030204"/>
            </a:endParaRPr>
          </a:p>
          <a:p>
            <a:pPr marL="285750" indent="-285750" algn="just" defTabSz="266700">
              <a:lnSpc>
                <a:spcPct val="150000"/>
              </a:lnSpc>
              <a:spcAft>
                <a:spcPct val="0"/>
              </a:spcAft>
              <a:buFont typeface="Wingdings" panose="05000000000000000000" charset="0"/>
              <a:buChar char="v"/>
            </a:pPr>
            <a:r>
              <a:rPr sz="1600">
                <a:latin typeface="Times New Roman" panose="02020603050405020304"/>
                <a:ea typeface="Calibri" panose="020F0502020204030204"/>
              </a:rPr>
              <a:t>Using alternative neutral</a:t>
            </a:r>
            <a:endParaRPr sz="1600">
              <a:latin typeface="Times New Roman" panose="02020603050405020304"/>
              <a:ea typeface="Calibri" panose="020F0502020204030204"/>
            </a:endParaRPr>
          </a:p>
          <a:p>
            <a:pPr marL="285750" indent="-285750" algn="just" defTabSz="266700">
              <a:lnSpc>
                <a:spcPct val="150000"/>
              </a:lnSpc>
              <a:spcAft>
                <a:spcPct val="0"/>
              </a:spcAft>
              <a:buFont typeface="Wingdings" panose="05000000000000000000" charset="0"/>
              <a:buChar char="v"/>
            </a:pPr>
            <a:r>
              <a:rPr sz="1600">
                <a:latin typeface="Times New Roman" panose="02020603050405020304"/>
                <a:ea typeface="Calibri" panose="020F0502020204030204"/>
              </a:rPr>
              <a:t>Phase to phase connections</a:t>
            </a:r>
            <a:endParaRPr sz="1600">
              <a:latin typeface="Times New Roman" panose="02020603050405020304"/>
              <a:ea typeface="Calibri" panose="020F0502020204030204"/>
            </a:endParaRPr>
          </a:p>
          <a:p>
            <a:pPr marL="285750" indent="-285750" algn="just" defTabSz="266700">
              <a:lnSpc>
                <a:spcPct val="150000"/>
              </a:lnSpc>
              <a:spcAft>
                <a:spcPct val="0"/>
              </a:spcAft>
              <a:buFont typeface="Wingdings" panose="05000000000000000000" charset="0"/>
              <a:buChar char="v"/>
            </a:pPr>
            <a:r>
              <a:rPr sz="1600">
                <a:latin typeface="Times New Roman" panose="02020603050405020304"/>
                <a:ea typeface="Calibri" panose="020F0502020204030204"/>
              </a:rPr>
              <a:t>Meter tampering/breaking of meter seal</a:t>
            </a:r>
            <a:r>
              <a:rPr lang="en-US" sz="1600">
                <a:latin typeface="Times New Roman" panose="02020603050405020304"/>
                <a:ea typeface="Calibri" panose="020F0502020204030204"/>
              </a:rPr>
              <a:t>s</a:t>
            </a:r>
            <a:endParaRPr sz="1600">
              <a:latin typeface="Times New Roman" panose="02020603050405020304"/>
              <a:ea typeface="Calibri" panose="020F0502020204030204"/>
            </a:endParaRPr>
          </a:p>
          <a:p>
            <a:pPr marL="285750" indent="-285750" algn="just" defTabSz="266700">
              <a:lnSpc>
                <a:spcPct val="150000"/>
              </a:lnSpc>
              <a:spcAft>
                <a:spcPct val="0"/>
              </a:spcAft>
              <a:buFont typeface="Wingdings" panose="05000000000000000000" charset="0"/>
              <a:buChar char="v"/>
            </a:pPr>
            <a:r>
              <a:rPr sz="1600">
                <a:latin typeface="Times New Roman" panose="02020603050405020304"/>
                <a:ea typeface="Calibri" panose="020F0502020204030204"/>
              </a:rPr>
              <a:t>Meter by-pass</a:t>
            </a:r>
            <a:endParaRPr sz="1600">
              <a:latin typeface="Times New Roman" panose="02020603050405020304"/>
              <a:ea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8" y="0"/>
            <a:ext cx="10844212" cy="714375"/>
          </a:xfrm>
        </p:spPr>
        <p:txBody>
          <a:bodyPr/>
          <a:lstStyle/>
          <a:p>
            <a:r>
              <a:rPr lang="en-US" sz="3600"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STATEMENT OF PROBLEM</a:t>
            </a:r>
            <a:endParaRPr lang="en-US"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Box 4"/>
          <p:cNvSpPr txBox="1"/>
          <p:nvPr/>
        </p:nvSpPr>
        <p:spPr>
          <a:xfrm>
            <a:off x="7085223" y="6604084"/>
            <a:ext cx="2607733" cy="253916"/>
          </a:xfrm>
          <a:prstGeom prst="rect">
            <a:avLst/>
          </a:prstGeom>
          <a:noFill/>
        </p:spPr>
        <p:txBody>
          <a:bodyPr wrap="square" rtlCol="0">
            <a:spAutoFit/>
          </a:bodyPr>
          <a:lstStyle/>
          <a:p>
            <a:r>
              <a:rPr lang="en-US" sz="1050" dirty="0">
                <a:solidFill>
                  <a:schemeClr val="bg1"/>
                </a:solidFill>
                <a:highlight>
                  <a:srgbClr val="800000"/>
                </a:highlight>
              </a:rPr>
              <a:t>NACETEM Researchers’ Lecture Series 2024</a:t>
            </a:r>
            <a:endParaRPr lang="en-US" sz="1050" dirty="0">
              <a:solidFill>
                <a:schemeClr val="bg1"/>
              </a:solidFill>
              <a:highlight>
                <a:srgbClr val="800000"/>
              </a:highlight>
            </a:endParaRPr>
          </a:p>
        </p:txBody>
      </p:sp>
      <p:sp>
        <p:nvSpPr>
          <p:cNvPr id="8" name="TextBox 7"/>
          <p:cNvSpPr txBox="1"/>
          <p:nvPr/>
        </p:nvSpPr>
        <p:spPr>
          <a:xfrm>
            <a:off x="128588" y="714375"/>
            <a:ext cx="11501436" cy="3538220"/>
          </a:xfrm>
          <a:prstGeom prst="rect">
            <a:avLst/>
          </a:prstGeom>
          <a:noFill/>
        </p:spPr>
        <p:txBody>
          <a:bodyPr wrap="square">
            <a:spAutoFit/>
          </a:bodyPr>
          <a:lstStyle/>
          <a:p>
            <a:pPr marL="285750" indent="-28575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Given the attitude of Nigerians towards Public Property, whatever the quantity of electrical energy is generated, if proper control is not pursued and maintained, there can hardly be a time when She would get out of Her Electrical Energy crisis, hence a deliberate metering policy is required to be put in place both on the grid and at the distribution level where the actual power is dispensed and utilized.</a:t>
            </a:r>
            <a:endParaRPr lang="en-US" sz="28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0"/>
            <a:ext cx="10637440" cy="714375"/>
          </a:xfrm>
        </p:spPr>
        <p:txBody>
          <a:bodyPr/>
          <a:lstStyle/>
          <a:p>
            <a:r>
              <a:rPr lang="en-US" sz="3600" dirty="0">
                <a:solidFill>
                  <a:schemeClr val="accent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AIM AND OBJECTIVES</a:t>
            </a:r>
            <a:endParaRPr lang="en-US" dirty="0">
              <a:solidFill>
                <a:schemeClr val="accent1"/>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335360" y="843677"/>
            <a:ext cx="11137503" cy="5693866"/>
          </a:xfrm>
          <a:prstGeom prst="rect">
            <a:avLst/>
          </a:prstGeom>
          <a:noFill/>
        </p:spPr>
        <p:txBody>
          <a:bodyPr wrap="square">
            <a:spAutoFit/>
          </a:bodyPr>
          <a:lstStyle/>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The aim of this research is to analyze electrical energy consumption pattern of electricity consumers within YEDC network with a view to ascertaining the benefit of metering as a tool for minimizing non-technical losses in electrical energy distribution of  Yola Electricity Distribution Zone (YEDC). </a:t>
            </a:r>
            <a:endParaRPr lang="en-US" sz="2800" dirty="0">
              <a:latin typeface="Times New Roman" panose="02020603050405020304" pitchFamily="18" charset="0"/>
              <a:cs typeface="Times New Roman" panose="02020603050405020304" pitchFamily="18" charset="0"/>
            </a:endParaRPr>
          </a:p>
          <a:p>
            <a:pPr marL="231775" indent="-231775" algn="just">
              <a:buNone/>
            </a:pPr>
            <a:r>
              <a:rPr lang="en-US" sz="2800" i="1" dirty="0">
                <a:solidFill>
                  <a:schemeClr val="accent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Thus the Objectives are:</a:t>
            </a:r>
            <a:endParaRPr lang="en-US" sz="2800" dirty="0">
              <a:solidFill>
                <a:schemeClr val="accent1"/>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To analyze the benefits of metering to the electricity supply chain for the sole purpose of enhancing service delivery.</a:t>
            </a:r>
            <a:endParaRPr 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To ascertain any net improvement in revenue collection when compared with delivered energy and actual revenue collected for such within a sampled billing period.</a:t>
            </a:r>
            <a:endParaRPr 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Suggest ways on how to minimize non-technical losses to enhance reliable/sufficient electrical power supply.</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76" y="127125"/>
            <a:ext cx="10529864" cy="523483"/>
          </a:xfrm>
        </p:spPr>
        <p:txBody>
          <a:bodyPr/>
          <a:lstStyle/>
          <a:p>
            <a:r>
              <a:rPr lang="en-US" sz="3600" dirty="0">
                <a:solidFill>
                  <a:schemeClr val="accent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LITERATURE REVIEW</a:t>
            </a:r>
            <a:endParaRPr lang="en-US" dirty="0">
              <a:solidFill>
                <a:schemeClr val="accent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7085223" y="6604084"/>
            <a:ext cx="2607733" cy="253916"/>
          </a:xfrm>
          <a:prstGeom prst="rect">
            <a:avLst/>
          </a:prstGeom>
          <a:noFill/>
        </p:spPr>
        <p:txBody>
          <a:bodyPr wrap="square" rtlCol="0">
            <a:spAutoFit/>
          </a:bodyPr>
          <a:lstStyle/>
          <a:p>
            <a:r>
              <a:rPr lang="en-US" sz="1050" dirty="0">
                <a:solidFill>
                  <a:schemeClr val="bg1"/>
                </a:solidFill>
                <a:highlight>
                  <a:srgbClr val="800000"/>
                </a:highlight>
              </a:rPr>
              <a:t>NACETEM Researchers’ Lecture Series 2024</a:t>
            </a:r>
            <a:endParaRPr lang="en-US" sz="1050" dirty="0">
              <a:solidFill>
                <a:schemeClr val="bg1"/>
              </a:solidFill>
              <a:highlight>
                <a:srgbClr val="800000"/>
              </a:highlight>
            </a:endParaRPr>
          </a:p>
        </p:txBody>
      </p:sp>
      <p:graphicFrame>
        <p:nvGraphicFramePr>
          <p:cNvPr id="4" name="Table 3"/>
          <p:cNvGraphicFramePr>
            <a:graphicFrameLocks noGrp="1"/>
          </p:cNvGraphicFramePr>
          <p:nvPr/>
        </p:nvGraphicFramePr>
        <p:xfrm>
          <a:off x="334963" y="776412"/>
          <a:ext cx="11195051" cy="5338637"/>
        </p:xfrm>
        <a:graphic>
          <a:graphicData uri="http://schemas.openxmlformats.org/drawingml/2006/table">
            <a:tbl>
              <a:tblPr firstRow="1" bandRow="1">
                <a:tableStyleId>{2D5ABB26-0587-4C30-8999-92F81FD0307C}</a:tableStyleId>
              </a:tblPr>
              <a:tblGrid>
                <a:gridCol w="1883280"/>
                <a:gridCol w="2824919"/>
                <a:gridCol w="2654312"/>
                <a:gridCol w="3832540"/>
              </a:tblGrid>
              <a:tr h="383189">
                <a:tc>
                  <a:txBody>
                    <a:bodyPr/>
                    <a:lstStyle/>
                    <a:p>
                      <a:r>
                        <a:rPr lang="en-US" dirty="0">
                          <a:latin typeface="Times New Roman" panose="02020603050405020304" pitchFamily="18" charset="0"/>
                          <a:cs typeface="Times New Roman" panose="02020603050405020304" pitchFamily="18" charset="0"/>
                        </a:rPr>
                        <a:t>Author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title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source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findings</a:t>
                      </a:r>
                      <a:endParaRPr lang="en-US" dirty="0">
                        <a:latin typeface="Times New Roman" panose="02020603050405020304" pitchFamily="18" charset="0"/>
                        <a:cs typeface="Times New Roman" panose="02020603050405020304" pitchFamily="18" charset="0"/>
                      </a:endParaRPr>
                    </a:p>
                  </a:txBody>
                  <a:tcPr/>
                </a:tc>
              </a:tr>
              <a:tr h="1532757">
                <a:tc>
                  <a:txBody>
                    <a:bodyPr/>
                    <a:lstStyle/>
                    <a:p>
                      <a:r>
                        <a:rPr kumimoji="0" lang="en-US" sz="1800" kern="1200" dirty="0" err="1">
                          <a:solidFill>
                            <a:schemeClr val="tx1"/>
                          </a:solidFill>
                          <a:latin typeface="Times New Roman" panose="02020603050405020304" pitchFamily="18" charset="0"/>
                          <a:ea typeface="+mn-ea"/>
                          <a:cs typeface="Times New Roman" panose="02020603050405020304" pitchFamily="18" charset="0"/>
                        </a:rPr>
                        <a:t>Nizar</a:t>
                      </a:r>
                      <a:r>
                        <a:rPr kumimoji="0" lang="en-US" sz="1800" kern="1200" dirty="0">
                          <a:solidFill>
                            <a:schemeClr val="tx1"/>
                          </a:solidFill>
                          <a:latin typeface="Times New Roman" panose="02020603050405020304" pitchFamily="18" charset="0"/>
                          <a:ea typeface="+mn-ea"/>
                          <a:cs typeface="Times New Roman" panose="02020603050405020304" pitchFamily="18" charset="0"/>
                        </a:rPr>
                        <a:t> et al, 2006</a:t>
                      </a:r>
                      <a:endParaRPr lang="en-US" dirty="0">
                        <a:latin typeface="Times New Roman" panose="02020603050405020304" pitchFamily="18" charset="0"/>
                        <a:cs typeface="Times New Roman" panose="02020603050405020304" pitchFamily="18" charset="0"/>
                      </a:endParaRPr>
                    </a:p>
                  </a:txBody>
                  <a:tcPr/>
                </a:tc>
                <a:tc>
                  <a:txBody>
                    <a:bodyPr/>
                    <a:lstStyle/>
                    <a:p>
                      <a:r>
                        <a:rPr kumimoji="0" lang="en-US" sz="1800" kern="1200" dirty="0">
                          <a:solidFill>
                            <a:schemeClr val="tx1"/>
                          </a:solidFill>
                          <a:latin typeface="Times New Roman" panose="02020603050405020304" pitchFamily="18" charset="0"/>
                          <a:ea typeface="+mn-ea"/>
                          <a:cs typeface="Times New Roman" panose="02020603050405020304" pitchFamily="18" charset="0"/>
                        </a:rPr>
                        <a:t>Load profiling Non-Technical Loss Activities in a power utility</a:t>
                      </a:r>
                      <a:endParaRPr kumimoji="0" lang="en-US" sz="180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kumimoji="0" lang="en-US" sz="1800" kern="1200" dirty="0">
                          <a:solidFill>
                            <a:schemeClr val="tx1"/>
                          </a:solidFill>
                          <a:latin typeface="Times New Roman" panose="02020603050405020304" pitchFamily="18" charset="0"/>
                          <a:ea typeface="+mn-ea"/>
                          <a:cs typeface="Times New Roman" panose="02020603050405020304" pitchFamily="18" charset="0"/>
                        </a:rPr>
                        <a:t>proceedings of the 1</a:t>
                      </a:r>
                      <a:r>
                        <a:rPr kumimoji="0" lang="en-US" sz="1800" kern="1200" baseline="30000" dirty="0">
                          <a:solidFill>
                            <a:schemeClr val="tx1"/>
                          </a:solidFill>
                          <a:latin typeface="Times New Roman" panose="02020603050405020304" pitchFamily="18" charset="0"/>
                          <a:ea typeface="+mn-ea"/>
                          <a:cs typeface="Times New Roman" panose="02020603050405020304" pitchFamily="18" charset="0"/>
                        </a:rPr>
                        <a:t>st</a:t>
                      </a:r>
                      <a:r>
                        <a:rPr kumimoji="0" lang="en-US" sz="1800" kern="1200" dirty="0">
                          <a:solidFill>
                            <a:schemeClr val="tx1"/>
                          </a:solidFill>
                          <a:latin typeface="Times New Roman" panose="02020603050405020304" pitchFamily="18" charset="0"/>
                          <a:ea typeface="+mn-ea"/>
                          <a:cs typeface="Times New Roman" panose="02020603050405020304" pitchFamily="18" charset="0"/>
                        </a:rPr>
                        <a:t> International power and Energy Conference (PECON)</a:t>
                      </a:r>
                      <a:endParaRPr lang="en-US" dirty="0">
                        <a:latin typeface="Times New Roman" panose="02020603050405020304" pitchFamily="18" charset="0"/>
                        <a:cs typeface="Times New Roman" panose="02020603050405020304" pitchFamily="18" charset="0"/>
                      </a:endParaRPr>
                    </a:p>
                  </a:txBody>
                  <a:tcPr/>
                </a:tc>
                <a:tc>
                  <a:txBody>
                    <a:bodyPr/>
                    <a:lstStyle/>
                    <a:p>
                      <a:r>
                        <a:rPr kumimoji="0" lang="en-US" sz="1800" kern="1200" dirty="0">
                          <a:solidFill>
                            <a:schemeClr val="tx1"/>
                          </a:solidFill>
                          <a:latin typeface="Times New Roman" panose="02020603050405020304" pitchFamily="18" charset="0"/>
                          <a:ea typeface="+mn-ea"/>
                          <a:cs typeface="Times New Roman" panose="02020603050405020304" pitchFamily="18" charset="0"/>
                        </a:rPr>
                        <a:t>Describes</a:t>
                      </a:r>
                      <a:r>
                        <a:rPr kumimoji="0" lang="en-US" sz="1800" kern="1200" baseline="0" dirty="0">
                          <a:solidFill>
                            <a:schemeClr val="tx1"/>
                          </a:solidFill>
                          <a:latin typeface="Times New Roman" panose="02020603050405020304" pitchFamily="18" charset="0"/>
                          <a:ea typeface="+mn-ea"/>
                          <a:cs typeface="Times New Roman" panose="02020603050405020304" pitchFamily="18" charset="0"/>
                        </a:rPr>
                        <a:t> </a:t>
                      </a:r>
                      <a:r>
                        <a:rPr kumimoji="0" lang="en-US" sz="1800" kern="1200" dirty="0">
                          <a:solidFill>
                            <a:schemeClr val="tx1"/>
                          </a:solidFill>
                          <a:latin typeface="Times New Roman" panose="02020603050405020304" pitchFamily="18" charset="0"/>
                          <a:ea typeface="+mn-ea"/>
                          <a:cs typeface="Times New Roman" panose="02020603050405020304" pitchFamily="18" charset="0"/>
                        </a:rPr>
                        <a:t>an intelligent system for detection of non-technical losses in </a:t>
                      </a:r>
                      <a:r>
                        <a:rPr kumimoji="0" lang="en-US" sz="1800" kern="1200" dirty="0" err="1">
                          <a:solidFill>
                            <a:schemeClr val="tx1"/>
                          </a:solidFill>
                          <a:latin typeface="Times New Roman" panose="02020603050405020304" pitchFamily="18" charset="0"/>
                          <a:ea typeface="+mn-ea"/>
                          <a:cs typeface="Times New Roman" panose="02020603050405020304" pitchFamily="18" charset="0"/>
                        </a:rPr>
                        <a:t>Tenaga</a:t>
                      </a:r>
                      <a:r>
                        <a:rPr kumimoji="0" lang="en-US" sz="1800" kern="1200" dirty="0">
                          <a:solidFill>
                            <a:schemeClr val="tx1"/>
                          </a:solidFill>
                          <a:latin typeface="Times New Roman" panose="02020603050405020304" pitchFamily="18" charset="0"/>
                          <a:ea typeface="+mn-ea"/>
                          <a:cs typeface="Times New Roman" panose="02020603050405020304" pitchFamily="18" charset="0"/>
                        </a:rPr>
                        <a:t> </a:t>
                      </a:r>
                      <a:r>
                        <a:rPr kumimoji="0" lang="en-US" sz="1800" kern="1200" dirty="0" err="1">
                          <a:solidFill>
                            <a:schemeClr val="tx1"/>
                          </a:solidFill>
                          <a:latin typeface="Times New Roman" panose="02020603050405020304" pitchFamily="18" charset="0"/>
                          <a:ea typeface="+mn-ea"/>
                          <a:cs typeface="Times New Roman" panose="02020603050405020304" pitchFamily="18" charset="0"/>
                        </a:rPr>
                        <a:t>Nasional</a:t>
                      </a:r>
                      <a:r>
                        <a:rPr kumimoji="0" lang="en-US" sz="1800" kern="1200" dirty="0">
                          <a:solidFill>
                            <a:schemeClr val="tx1"/>
                          </a:solidFill>
                          <a:latin typeface="Times New Roman" panose="02020603050405020304" pitchFamily="18" charset="0"/>
                          <a:ea typeface="+mn-ea"/>
                          <a:cs typeface="Times New Roman" panose="02020603050405020304" pitchFamily="18" charset="0"/>
                        </a:rPr>
                        <a:t> </a:t>
                      </a:r>
                      <a:r>
                        <a:rPr kumimoji="0" lang="en-US" sz="1800" kern="1200" dirty="0" err="1">
                          <a:solidFill>
                            <a:schemeClr val="tx1"/>
                          </a:solidFill>
                          <a:latin typeface="Times New Roman" panose="02020603050405020304" pitchFamily="18" charset="0"/>
                          <a:ea typeface="+mn-ea"/>
                          <a:cs typeface="Times New Roman" panose="02020603050405020304" pitchFamily="18" charset="0"/>
                        </a:rPr>
                        <a:t>Berhad</a:t>
                      </a:r>
                      <a:r>
                        <a:rPr kumimoji="0" lang="en-US" sz="1800" kern="1200" dirty="0">
                          <a:solidFill>
                            <a:schemeClr val="tx1"/>
                          </a:solidFill>
                          <a:latin typeface="Times New Roman" panose="02020603050405020304" pitchFamily="18" charset="0"/>
                          <a:ea typeface="+mn-ea"/>
                          <a:cs typeface="Times New Roman" panose="02020603050405020304" pitchFamily="18" charset="0"/>
                        </a:rPr>
                        <a:t> (TNB) Malaysia on low voltage Distribution network</a:t>
                      </a:r>
                      <a:endParaRPr lang="en-US" dirty="0">
                        <a:latin typeface="Times New Roman" panose="02020603050405020304" pitchFamily="18" charset="0"/>
                        <a:cs typeface="Times New Roman" panose="02020603050405020304" pitchFamily="18" charset="0"/>
                      </a:endParaRPr>
                    </a:p>
                  </a:txBody>
                  <a:tcPr/>
                </a:tc>
              </a:tr>
              <a:tr h="1889934">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sz="1800" kern="1200" dirty="0">
                          <a:solidFill>
                            <a:schemeClr val="tx1"/>
                          </a:solidFill>
                          <a:latin typeface="Times New Roman" panose="02020603050405020304" pitchFamily="18" charset="0"/>
                          <a:ea typeface="+mn-ea"/>
                          <a:cs typeface="Times New Roman" panose="02020603050405020304" pitchFamily="18" charset="0"/>
                        </a:rPr>
                        <a:t>Julio, 2012</a:t>
                      </a:r>
                      <a:endParaRPr kumimoji="0" lang="en-US" sz="180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sz="1800" kern="1200" dirty="0">
                          <a:solidFill>
                            <a:schemeClr val="tx1"/>
                          </a:solidFill>
                          <a:latin typeface="Times New Roman" panose="02020603050405020304" pitchFamily="18" charset="0"/>
                          <a:ea typeface="+mn-ea"/>
                          <a:cs typeface="Times New Roman" panose="02020603050405020304" pitchFamily="18" charset="0"/>
                        </a:rPr>
                        <a:t>Improving the Efficiency of Power Distribution Systems through Technical and Non-Technical Losses Reduction</a:t>
                      </a:r>
                      <a:endParaRPr kumimoji="0" lang="en-US" sz="180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sz="1800" kern="1200" dirty="0">
                          <a:solidFill>
                            <a:schemeClr val="tx1"/>
                          </a:solidFill>
                          <a:latin typeface="Times New Roman" panose="02020603050405020304" pitchFamily="18" charset="0"/>
                          <a:ea typeface="+mn-ea"/>
                          <a:cs typeface="Times New Roman" panose="02020603050405020304" pitchFamily="18" charset="0"/>
                        </a:rPr>
                        <a:t>Transmission and Distribution Conference and Exposition</a:t>
                      </a:r>
                      <a:endParaRPr kumimoji="0" lang="en-US" sz="180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sz="1800" kern="1200" dirty="0">
                          <a:solidFill>
                            <a:schemeClr val="tx1"/>
                          </a:solidFill>
                          <a:latin typeface="Times New Roman" panose="02020603050405020304" pitchFamily="18" charset="0"/>
                          <a:ea typeface="+mn-ea"/>
                          <a:cs typeface="Times New Roman" panose="02020603050405020304" pitchFamily="18" charset="0"/>
                        </a:rPr>
                        <a:t>Ascertain all expected losses in the power system using load-flow analysis also by reducing both technical and non-technical losses and</a:t>
                      </a:r>
                      <a:r>
                        <a:rPr kumimoji="0" lang="en-US" sz="1800" kern="1200" baseline="0" dirty="0">
                          <a:solidFill>
                            <a:schemeClr val="tx1"/>
                          </a:solidFill>
                          <a:latin typeface="Times New Roman" panose="02020603050405020304" pitchFamily="18" charset="0"/>
                          <a:ea typeface="+mn-ea"/>
                          <a:cs typeface="Times New Roman" panose="02020603050405020304" pitchFamily="18" charset="0"/>
                        </a:rPr>
                        <a:t> thereby improving the </a:t>
                      </a:r>
                      <a:r>
                        <a:rPr kumimoji="0" lang="en-US" sz="1800" kern="1200" dirty="0">
                          <a:solidFill>
                            <a:schemeClr val="tx1"/>
                          </a:solidFill>
                          <a:latin typeface="Times New Roman" panose="02020603050405020304" pitchFamily="18" charset="0"/>
                          <a:ea typeface="+mn-ea"/>
                          <a:cs typeface="Times New Roman" panose="02020603050405020304" pitchFamily="18" charset="0"/>
                        </a:rPr>
                        <a:t> efficiency</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r>
              <a:tr h="1532757">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sz="1800" kern="1200" dirty="0">
                          <a:solidFill>
                            <a:schemeClr val="tx1"/>
                          </a:solidFill>
                          <a:latin typeface="Times New Roman" panose="02020603050405020304" pitchFamily="18" charset="0"/>
                          <a:ea typeface="+mn-ea"/>
                          <a:cs typeface="Times New Roman" panose="02020603050405020304" pitchFamily="18" charset="0"/>
                        </a:rPr>
                        <a:t>EEA Technical Report. 2013</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sz="1800" kern="1200" dirty="0">
                          <a:solidFill>
                            <a:schemeClr val="tx1"/>
                          </a:solidFill>
                          <a:latin typeface="Times New Roman" panose="02020603050405020304" pitchFamily="18" charset="0"/>
                          <a:ea typeface="+mn-ea"/>
                          <a:cs typeface="Times New Roman" panose="02020603050405020304" pitchFamily="18" charset="0"/>
                        </a:rPr>
                        <a:t>Achieving Energy Efficiency Through </a:t>
                      </a:r>
                      <a:r>
                        <a:rPr kumimoji="0" lang="en-US" sz="1800" kern="1200" dirty="0" err="1">
                          <a:solidFill>
                            <a:schemeClr val="tx1"/>
                          </a:solidFill>
                          <a:latin typeface="Times New Roman" panose="02020603050405020304" pitchFamily="18" charset="0"/>
                          <a:ea typeface="+mn-ea"/>
                          <a:cs typeface="Times New Roman" panose="02020603050405020304" pitchFamily="18" charset="0"/>
                        </a:rPr>
                        <a:t>Behaviour</a:t>
                      </a:r>
                      <a:r>
                        <a:rPr kumimoji="0" lang="en-US" sz="1800" kern="1200" dirty="0">
                          <a:solidFill>
                            <a:schemeClr val="tx1"/>
                          </a:solidFill>
                          <a:latin typeface="Times New Roman" panose="02020603050405020304" pitchFamily="18" charset="0"/>
                          <a:ea typeface="+mn-ea"/>
                          <a:cs typeface="Times New Roman" panose="02020603050405020304" pitchFamily="18" charset="0"/>
                        </a:rPr>
                        <a:t> Change</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https://www.eea.europa.eu</a:t>
                      </a:r>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sz="1800" kern="1200" dirty="0">
                          <a:solidFill>
                            <a:schemeClr val="tx1"/>
                          </a:solidFill>
                          <a:latin typeface="Times New Roman" panose="02020603050405020304" pitchFamily="18" charset="0"/>
                          <a:ea typeface="+mn-ea"/>
                          <a:cs typeface="Times New Roman" panose="02020603050405020304" pitchFamily="18" charset="0"/>
                        </a:rPr>
                        <a:t>Explains how the pricing schemes work and the relative lack of ability for consumers to negotiate with energy suppliers </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1"/>
            <a:ext cx="10637440" cy="700088"/>
          </a:xfrm>
        </p:spPr>
        <p:txBody>
          <a:bodyPr/>
          <a:lstStyle/>
          <a:p>
            <a:r>
              <a:rPr lang="en-US" sz="3600" dirty="0">
                <a:solidFill>
                  <a:schemeClr val="accent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LITERATURE REVIEW </a:t>
            </a:r>
            <a:r>
              <a:rPr lang="en-US" sz="3600" i="1" dirty="0">
                <a:solidFill>
                  <a:schemeClr val="accent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Contd</a:t>
            </a:r>
            <a:r>
              <a:rPr lang="en-US" sz="3600" dirty="0">
                <a:solidFill>
                  <a:schemeClr val="accent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t>
            </a:r>
            <a:endParaRPr lang="en-US" dirty="0">
              <a:solidFill>
                <a:schemeClr val="accent1"/>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nvGraphicFramePr>
        <p:xfrm>
          <a:off x="335360" y="848565"/>
          <a:ext cx="10785358" cy="5508001"/>
        </p:xfrm>
        <a:graphic>
          <a:graphicData uri="http://schemas.openxmlformats.org/drawingml/2006/table">
            <a:tbl>
              <a:tblPr firstRow="1" bandRow="1">
                <a:tableStyleId>{2D5ABB26-0587-4C30-8999-92F81FD0307C}</a:tableStyleId>
              </a:tblPr>
              <a:tblGrid>
                <a:gridCol w="2217550"/>
                <a:gridCol w="2923134"/>
                <a:gridCol w="2822337"/>
                <a:gridCol w="2822337"/>
              </a:tblGrid>
              <a:tr h="482967">
                <a:tc>
                  <a:txBody>
                    <a:bodyPr/>
                    <a:lstStyle/>
                    <a:p>
                      <a:r>
                        <a:rPr lang="en-US" dirty="0">
                          <a:latin typeface="Times New Roman" panose="02020603050405020304" pitchFamily="18" charset="0"/>
                          <a:cs typeface="Times New Roman" panose="02020603050405020304" pitchFamily="18" charset="0"/>
                        </a:rPr>
                        <a:t>Author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Title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Source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Findings</a:t>
                      </a:r>
                      <a:endParaRPr lang="en-US" dirty="0">
                        <a:latin typeface="Times New Roman" panose="02020603050405020304" pitchFamily="18" charset="0"/>
                        <a:cs typeface="Times New Roman" panose="02020603050405020304" pitchFamily="18" charset="0"/>
                      </a:endParaRPr>
                    </a:p>
                  </a:txBody>
                  <a:tcPr/>
                </a:tc>
              </a:tr>
              <a:tr h="1726833">
                <a:tc>
                  <a:txBody>
                    <a:bodyPr/>
                    <a:lstStyle/>
                    <a:p>
                      <a:r>
                        <a:rPr kumimoji="0" lang="en-US" sz="1800" kern="1200" dirty="0" err="1">
                          <a:solidFill>
                            <a:schemeClr val="tx1"/>
                          </a:solidFill>
                          <a:latin typeface="Times New Roman" panose="02020603050405020304" pitchFamily="18" charset="0"/>
                          <a:ea typeface="+mn-ea"/>
                          <a:cs typeface="Times New Roman" panose="02020603050405020304" pitchFamily="18" charset="0"/>
                        </a:rPr>
                        <a:t>Ortech</a:t>
                      </a:r>
                      <a:r>
                        <a:rPr kumimoji="0" lang="en-US" sz="1800" kern="1200" dirty="0">
                          <a:solidFill>
                            <a:schemeClr val="tx1"/>
                          </a:solidFill>
                          <a:latin typeface="Times New Roman" panose="02020603050405020304" pitchFamily="18" charset="0"/>
                          <a:ea typeface="+mn-ea"/>
                          <a:cs typeface="Times New Roman" panose="02020603050405020304" pitchFamily="18" charset="0"/>
                        </a:rPr>
                        <a:t> Management Engineering Training 2014</a:t>
                      </a:r>
                      <a:endParaRPr lang="en-US" dirty="0">
                        <a:latin typeface="Times New Roman" panose="02020603050405020304" pitchFamily="18" charset="0"/>
                        <a:cs typeface="Times New Roman" panose="02020603050405020304" pitchFamily="18" charset="0"/>
                      </a:endParaRPr>
                    </a:p>
                  </a:txBody>
                  <a:tcPr/>
                </a:tc>
                <a:tc>
                  <a:txBody>
                    <a:bodyPr/>
                    <a:lstStyle/>
                    <a:p>
                      <a:r>
                        <a:rPr kumimoji="0" lang="en-US" sz="1800" kern="1200" dirty="0">
                          <a:solidFill>
                            <a:schemeClr val="tx1"/>
                          </a:solidFill>
                          <a:latin typeface="Times New Roman" panose="02020603050405020304" pitchFamily="18" charset="0"/>
                          <a:ea typeface="+mn-ea"/>
                          <a:cs typeface="Times New Roman" panose="02020603050405020304" pitchFamily="18" charset="0"/>
                        </a:rPr>
                        <a:t>Statistical Metering; (An Invaluable Tool for Energy Accountability and Improved Service Delivery)</a:t>
                      </a:r>
                      <a:endParaRPr kumimoji="0" lang="en-US" sz="180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sz="1800" kern="1200" dirty="0">
                          <a:solidFill>
                            <a:schemeClr val="tx1"/>
                          </a:solidFill>
                          <a:latin typeface="Times New Roman" panose="02020603050405020304" pitchFamily="18" charset="0"/>
                          <a:ea typeface="+mn-ea"/>
                          <a:cs typeface="Times New Roman" panose="02020603050405020304" pitchFamily="18" charset="0"/>
                        </a:rPr>
                        <a:t>Paper presented at MYTO 2014 Meter roll out </a:t>
                      </a:r>
                      <a:r>
                        <a:rPr kumimoji="0" lang="en-US" sz="1800" kern="1200" dirty="0" err="1">
                          <a:solidFill>
                            <a:schemeClr val="tx1"/>
                          </a:solidFill>
                          <a:latin typeface="Times New Roman" panose="02020603050405020304" pitchFamily="18" charset="0"/>
                          <a:ea typeface="+mn-ea"/>
                          <a:cs typeface="Times New Roman" panose="02020603050405020304" pitchFamily="18" charset="0"/>
                        </a:rPr>
                        <a:t>programme</a:t>
                      </a:r>
                      <a:r>
                        <a:rPr kumimoji="0" lang="en-US" sz="1800" kern="1200" dirty="0">
                          <a:solidFill>
                            <a:schemeClr val="tx1"/>
                          </a:solidFill>
                          <a:latin typeface="Times New Roman" panose="02020603050405020304" pitchFamily="18" charset="0"/>
                          <a:ea typeface="+mn-ea"/>
                          <a:cs typeface="Times New Roman" panose="02020603050405020304" pitchFamily="18" charset="0"/>
                        </a:rPr>
                        <a:t>.</a:t>
                      </a:r>
                      <a:endParaRPr kumimoji="0" lang="en-US" sz="1800" kern="1200" dirty="0">
                        <a:solidFill>
                          <a:schemeClr val="tx1"/>
                        </a:solidFill>
                        <a:latin typeface="Times New Roman" panose="02020603050405020304" pitchFamily="18" charset="0"/>
                        <a:ea typeface="+mn-ea"/>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Proposed massive</a:t>
                      </a:r>
                      <a:r>
                        <a:rPr lang="en-US" baseline="0" dirty="0">
                          <a:latin typeface="Times New Roman" panose="02020603050405020304" pitchFamily="18" charset="0"/>
                          <a:cs typeface="Times New Roman" panose="02020603050405020304" pitchFamily="18" charset="0"/>
                        </a:rPr>
                        <a:t> deployment of energy meters to eradicate/minimize all NTL related issues.</a:t>
                      </a:r>
                      <a:endParaRPr lang="en-US" dirty="0">
                        <a:latin typeface="Times New Roman" panose="02020603050405020304" pitchFamily="18" charset="0"/>
                        <a:cs typeface="Times New Roman" panose="02020603050405020304" pitchFamily="18" charset="0"/>
                      </a:endParaRPr>
                    </a:p>
                  </a:txBody>
                  <a:tcPr/>
                </a:tc>
              </a:tr>
              <a:tr h="1764154">
                <a:tc>
                  <a:txBody>
                    <a:bodyPr/>
                    <a:lstStyle/>
                    <a:p>
                      <a:r>
                        <a:rPr kumimoji="0" lang="en-US" sz="1800" kern="1200" dirty="0" err="1">
                          <a:solidFill>
                            <a:schemeClr val="tx1"/>
                          </a:solidFill>
                          <a:latin typeface="Times New Roman" panose="02020603050405020304" pitchFamily="18" charset="0"/>
                          <a:ea typeface="+mn-ea"/>
                          <a:cs typeface="Times New Roman" panose="02020603050405020304" pitchFamily="18" charset="0"/>
                        </a:rPr>
                        <a:t>Refou</a:t>
                      </a:r>
                      <a:r>
                        <a:rPr kumimoji="0" lang="en-US" sz="1800" kern="1200" baseline="0" dirty="0">
                          <a:solidFill>
                            <a:schemeClr val="tx1"/>
                          </a:solidFill>
                          <a:latin typeface="Times New Roman" panose="02020603050405020304" pitchFamily="18" charset="0"/>
                          <a:ea typeface="+mn-ea"/>
                          <a:cs typeface="Times New Roman" panose="02020603050405020304" pitchFamily="18" charset="0"/>
                        </a:rPr>
                        <a:t> et al.,</a:t>
                      </a:r>
                      <a:r>
                        <a:rPr kumimoji="0" lang="en-US" sz="1800" kern="1200" dirty="0">
                          <a:solidFill>
                            <a:schemeClr val="tx1"/>
                          </a:solidFill>
                          <a:latin typeface="Times New Roman" panose="02020603050405020304" pitchFamily="18" charset="0"/>
                          <a:ea typeface="+mn-ea"/>
                          <a:cs typeface="Times New Roman" panose="02020603050405020304" pitchFamily="18" charset="0"/>
                        </a:rPr>
                        <a:t> 2015</a:t>
                      </a:r>
                      <a:endParaRPr lang="en-US" dirty="0">
                        <a:latin typeface="Times New Roman" panose="02020603050405020304" pitchFamily="18" charset="0"/>
                        <a:cs typeface="Times New Roman" panose="02020603050405020304" pitchFamily="18" charset="0"/>
                      </a:endParaRPr>
                    </a:p>
                  </a:txBody>
                  <a:tcPr/>
                </a:tc>
                <a:tc>
                  <a:txBody>
                    <a:bodyPr/>
                    <a:lstStyle/>
                    <a:p>
                      <a:r>
                        <a:rPr kumimoji="0" lang="en-US" sz="1800" kern="1200" dirty="0">
                          <a:solidFill>
                            <a:schemeClr val="tx1"/>
                          </a:solidFill>
                          <a:latin typeface="Times New Roman" panose="02020603050405020304" pitchFamily="18" charset="0"/>
                          <a:ea typeface="+mn-ea"/>
                          <a:cs typeface="Times New Roman" panose="02020603050405020304" pitchFamily="18" charset="0"/>
                        </a:rPr>
                        <a:t>Evaluation of Electric Energy Losses in Southern Governorates of Jordan Distribution</a:t>
                      </a:r>
                      <a:r>
                        <a:rPr kumimoji="0" lang="en-US" sz="1800" kern="1200" baseline="0" dirty="0">
                          <a:solidFill>
                            <a:schemeClr val="tx1"/>
                          </a:solidFill>
                          <a:latin typeface="Times New Roman" panose="02020603050405020304" pitchFamily="18" charset="0"/>
                          <a:ea typeface="+mn-ea"/>
                          <a:cs typeface="Times New Roman" panose="02020603050405020304" pitchFamily="18" charset="0"/>
                        </a:rPr>
                        <a:t> Electric System</a:t>
                      </a:r>
                      <a:endParaRPr lang="en-US" dirty="0">
                        <a:latin typeface="Times New Roman" panose="02020603050405020304" pitchFamily="18" charset="0"/>
                        <a:cs typeface="Times New Roman" panose="02020603050405020304" pitchFamily="18" charset="0"/>
                      </a:endParaRPr>
                    </a:p>
                  </a:txBody>
                  <a:tcPr/>
                </a:tc>
                <a:tc>
                  <a:txBody>
                    <a:bodyPr/>
                    <a:lstStyle/>
                    <a:p>
                      <a:r>
                        <a:rPr kumimoji="0" lang="en-US" sz="1800" kern="1200" dirty="0">
                          <a:solidFill>
                            <a:schemeClr val="tx1"/>
                          </a:solidFill>
                          <a:latin typeface="Times New Roman" panose="02020603050405020304" pitchFamily="18" charset="0"/>
                          <a:ea typeface="+mn-ea"/>
                          <a:cs typeface="Times New Roman" panose="02020603050405020304" pitchFamily="18" charset="0"/>
                        </a:rPr>
                        <a:t>International Journal of Energy Engineering</a:t>
                      </a:r>
                      <a:endParaRPr kumimoji="0" lang="en-US" sz="180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kumimoji="0" lang="en-US" sz="1800" kern="1200" dirty="0">
                          <a:solidFill>
                            <a:schemeClr val="tx1"/>
                          </a:solidFill>
                          <a:latin typeface="Times New Roman" panose="02020603050405020304" pitchFamily="18" charset="0"/>
                          <a:ea typeface="+mn-ea"/>
                          <a:cs typeface="Times New Roman" panose="02020603050405020304" pitchFamily="18" charset="0"/>
                        </a:rPr>
                        <a:t>Narrates that large proportion of electrical energy loss is as a result of un</a:t>
                      </a:r>
                      <a:r>
                        <a:rPr kumimoji="0" lang="en-US" sz="1800" kern="1200" baseline="0" dirty="0">
                          <a:solidFill>
                            <a:schemeClr val="tx1"/>
                          </a:solidFill>
                          <a:latin typeface="Times New Roman" panose="02020603050405020304" pitchFamily="18" charset="0"/>
                          <a:ea typeface="+mn-ea"/>
                          <a:cs typeface="Times New Roman" panose="02020603050405020304" pitchFamily="18" charset="0"/>
                        </a:rPr>
                        <a:t> accountable </a:t>
                      </a:r>
                      <a:r>
                        <a:rPr kumimoji="0" lang="en-US" sz="1800" kern="1200" dirty="0">
                          <a:solidFill>
                            <a:schemeClr val="tx1"/>
                          </a:solidFill>
                          <a:latin typeface="Times New Roman" panose="02020603050405020304" pitchFamily="18" charset="0"/>
                          <a:ea typeface="+mn-ea"/>
                          <a:cs typeface="Times New Roman" panose="02020603050405020304" pitchFamily="18" charset="0"/>
                        </a:rPr>
                        <a:t>electrical energy units</a:t>
                      </a:r>
                      <a:endParaRPr lang="en-US" dirty="0">
                        <a:latin typeface="Times New Roman" panose="02020603050405020304" pitchFamily="18" charset="0"/>
                        <a:cs typeface="Times New Roman" panose="02020603050405020304" pitchFamily="18" charset="0"/>
                      </a:endParaRPr>
                    </a:p>
                  </a:txBody>
                  <a:tcPr/>
                </a:tc>
              </a:tr>
              <a:tr h="1534047">
                <a:tc gridSpan="4">
                  <a:txBody>
                    <a:bodyPr/>
                    <a:lstStyle/>
                    <a:p>
                      <a:pPr lvl="0" algn="just"/>
                      <a:r>
                        <a:rPr kumimoji="0" lang="en-US" sz="1800" kern="1200" dirty="0">
                          <a:solidFill>
                            <a:schemeClr val="tx1"/>
                          </a:solidFill>
                          <a:latin typeface="Times New Roman" panose="02020603050405020304" pitchFamily="18" charset="0"/>
                          <a:ea typeface="+mn-ea"/>
                          <a:cs typeface="Times New Roman" panose="02020603050405020304" pitchFamily="18" charset="0"/>
                        </a:rPr>
                        <a:t>From the reviewed literature therefore one can clearly see that use of metering as well as applying modern techniques of electrical energy audit would go a long way in minimizing Non-Technical Losses and thereby enhancing efficiency of electrical energy service delivery within  the YEDC area of franchise</a:t>
                      </a:r>
                      <a:r>
                        <a:rPr kumimoji="0" lang="en-US" sz="1800" kern="1200" dirty="0">
                          <a:solidFill>
                            <a:srgbClr val="FF0000"/>
                          </a:solidFill>
                          <a:latin typeface="Times New Roman" panose="02020603050405020304" pitchFamily="18" charset="0"/>
                          <a:ea typeface="+mn-ea"/>
                          <a:cs typeface="Times New Roman" panose="02020603050405020304" pitchFamily="18" charset="0"/>
                        </a:rPr>
                        <a:t>. </a:t>
                      </a:r>
                      <a:endParaRPr kumimoji="0" lang="en-US" sz="1800" kern="1200" dirty="0">
                        <a:solidFill>
                          <a:srgbClr val="FF0000"/>
                        </a:solidFill>
                        <a:latin typeface="Times New Roman" panose="02020603050405020304" pitchFamily="18" charset="0"/>
                        <a:ea typeface="+mn-ea"/>
                        <a:cs typeface="Times New Roman" panose="02020603050405020304" pitchFamily="18" charset="0"/>
                      </a:endParaRPr>
                    </a:p>
                  </a:txBody>
                  <a:tcPr/>
                </a:tc>
                <a:tc hMerge="1">
                  <a:tcPr/>
                </a:tc>
                <a:tc hMerge="1">
                  <a:tcPr/>
                </a:tc>
                <a:tc hMerge="1">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0"/>
            <a:ext cx="10637440" cy="672353"/>
          </a:xfrm>
        </p:spPr>
        <p:txBody>
          <a:bodyPr/>
          <a:lstStyle/>
          <a:p>
            <a:r>
              <a:rPr lang="en-US" dirty="0">
                <a:solidFill>
                  <a:schemeClr val="accent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METHODOLOGY</a:t>
            </a:r>
            <a:endParaRPr lang="en-US" dirty="0">
              <a:solidFill>
                <a:schemeClr val="accent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7085223" y="6604084"/>
            <a:ext cx="2607733" cy="253916"/>
          </a:xfrm>
          <a:prstGeom prst="rect">
            <a:avLst/>
          </a:prstGeom>
          <a:noFill/>
        </p:spPr>
        <p:txBody>
          <a:bodyPr wrap="square" rtlCol="0">
            <a:spAutoFit/>
          </a:bodyPr>
          <a:lstStyle/>
          <a:p>
            <a:r>
              <a:rPr lang="en-US" sz="1050" dirty="0">
                <a:solidFill>
                  <a:schemeClr val="bg1"/>
                </a:solidFill>
                <a:highlight>
                  <a:srgbClr val="800000"/>
                </a:highlight>
              </a:rPr>
              <a:t>NACETEM Researchers’ Lecture Series 2024</a:t>
            </a:r>
            <a:endParaRPr lang="en-US" sz="1050" dirty="0">
              <a:solidFill>
                <a:schemeClr val="bg1"/>
              </a:solidFill>
              <a:highlight>
                <a:srgbClr val="800000"/>
              </a:highlight>
            </a:endParaRPr>
          </a:p>
        </p:txBody>
      </p:sp>
      <p:sp>
        <p:nvSpPr>
          <p:cNvPr id="11" name="TextBox 10"/>
          <p:cNvSpPr txBox="1"/>
          <p:nvPr/>
        </p:nvSpPr>
        <p:spPr>
          <a:xfrm>
            <a:off x="161365" y="938243"/>
            <a:ext cx="11362764" cy="4893647"/>
          </a:xfrm>
          <a:prstGeom prst="rect">
            <a:avLst/>
          </a:prstGeom>
          <a:noFill/>
        </p:spPr>
        <p:txBody>
          <a:bodyPr wrap="square">
            <a:spAutoFit/>
          </a:bodyPr>
          <a:lstStyle/>
          <a:p>
            <a:pPr marL="341630" indent="-341630" algn="just" eaLnBrk="0" hangingPunct="0">
              <a:buNone/>
            </a:pPr>
            <a:r>
              <a:rPr lang="en-GB" sz="2400" i="1" u="sng" dirty="0">
                <a:solidFill>
                  <a:schemeClr val="accent1"/>
                </a:solidFill>
                <a:latin typeface="Times New Roman" panose="02020603050405020304" pitchFamily="18" charset="0"/>
                <a:cs typeface="Times New Roman" panose="02020603050405020304" pitchFamily="18" charset="0"/>
              </a:rPr>
              <a:t>Methods followed in this research:</a:t>
            </a:r>
            <a:endParaRPr lang="en-GB" sz="2400" i="1" u="sng" dirty="0">
              <a:solidFill>
                <a:schemeClr val="accent1"/>
              </a:solidFill>
              <a:latin typeface="Times New Roman" panose="02020603050405020304" pitchFamily="18" charset="0"/>
              <a:cs typeface="Times New Roman" panose="02020603050405020304" pitchFamily="18" charset="0"/>
            </a:endParaRPr>
          </a:p>
          <a:p>
            <a:pPr marL="341630" indent="-341630" algn="just" eaLnBrk="0" hangingPunct="0">
              <a:buClr>
                <a:srgbClr val="3D1EF6"/>
              </a:buClr>
              <a:buNone/>
            </a:pPr>
            <a:endParaRPr lang="en-GB" sz="2400" i="1" u="sng" dirty="0">
              <a:solidFill>
                <a:srgbClr val="3D1EF6"/>
              </a:solidFill>
              <a:latin typeface="Times New Roman" panose="02020603050405020304" pitchFamily="18" charset="0"/>
              <a:cs typeface="Times New Roman" panose="02020603050405020304" pitchFamily="18" charset="0"/>
            </a:endParaRPr>
          </a:p>
          <a:p>
            <a:pPr marL="342900" indent="-342900" algn="just" eaLnBrk="0" hangingPunct="0">
              <a:buClr>
                <a:schemeClr val="tx1"/>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mathematical formula for the computation of the NTL  problem was derived.</a:t>
            </a:r>
            <a:endParaRPr lang="en-US" sz="2400" dirty="0">
              <a:latin typeface="Times New Roman" panose="02020603050405020304" pitchFamily="18" charset="0"/>
              <a:cs typeface="Times New Roman" panose="02020603050405020304" pitchFamily="18" charset="0"/>
            </a:endParaRPr>
          </a:p>
          <a:p>
            <a:pPr marL="341630" indent="-341630" algn="just" eaLnBrk="0" hangingPunct="0">
              <a:buClr>
                <a:srgbClr val="3D1EF6"/>
              </a:buClr>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lgn="just" eaLnBrk="0" hangingPunct="0">
              <a:buClr>
                <a:schemeClr val="tx1"/>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This calculation requires energy consumption accumulated from the beginning of the billing period and the consumption accumulated up to the end of the billing period. The accumulated consumption at the end of the period is subtracted by the accumulated consumption at the beginning of the period. The result is the total consumption during the time period in kilowatt hours and the portion of the bill for energy consumption is based on this number. </a:t>
            </a:r>
            <a:endParaRPr lang="en-US" sz="2400" dirty="0">
              <a:latin typeface="Times New Roman" panose="02020603050405020304" pitchFamily="18" charset="0"/>
              <a:cs typeface="Times New Roman" panose="02020603050405020304" pitchFamily="18" charset="0"/>
            </a:endParaRPr>
          </a:p>
          <a:p>
            <a:pPr marL="341630" indent="-341630" algn="just" eaLnBrk="0" hangingPunct="0">
              <a:buClr>
                <a:srgbClr val="3D1EF6"/>
              </a:buClr>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lgn="just" eaLnBrk="0" hangingPunct="0">
              <a:buClr>
                <a:schemeClr val="tx1"/>
              </a:buClr>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Results for analysis were obtained using the Excel package and </a:t>
            </a:r>
            <a:r>
              <a:rPr lang="en-US" sz="2400" dirty="0">
                <a:latin typeface="Times New Roman" panose="02020603050405020304" pitchFamily="18" charset="0"/>
                <a:cs typeface="Times New Roman" panose="02020603050405020304" pitchFamily="18" charset="0"/>
              </a:rPr>
              <a:t>solutions of the analyzed data when compared with other techniques has served the purpose of the research.</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548" y="0"/>
            <a:ext cx="10637440" cy="615309"/>
          </a:xfrm>
        </p:spPr>
        <p:txBody>
          <a:bodyPr/>
          <a:lstStyle/>
          <a:p>
            <a:r>
              <a:rPr lang="en-US" sz="3600" dirty="0">
                <a:solidFill>
                  <a:schemeClr val="accent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METHODOLOGY </a:t>
            </a:r>
            <a:r>
              <a:rPr lang="en-US" sz="3600" i="1" dirty="0">
                <a:solidFill>
                  <a:schemeClr val="accent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Contd.</a:t>
            </a:r>
            <a:endParaRPr lang="en-US" dirty="0">
              <a:solidFill>
                <a:schemeClr val="accent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7085223" y="6604084"/>
            <a:ext cx="2607733" cy="253916"/>
          </a:xfrm>
          <a:prstGeom prst="rect">
            <a:avLst/>
          </a:prstGeom>
          <a:noFill/>
        </p:spPr>
        <p:txBody>
          <a:bodyPr wrap="square" rtlCol="0">
            <a:spAutoFit/>
          </a:bodyPr>
          <a:lstStyle/>
          <a:p>
            <a:r>
              <a:rPr lang="en-US" sz="1050" dirty="0">
                <a:solidFill>
                  <a:schemeClr val="bg1"/>
                </a:solidFill>
                <a:highlight>
                  <a:srgbClr val="800000"/>
                </a:highlight>
              </a:rPr>
              <a:t>NACETEM Researchers’ Lecture Series 2024</a:t>
            </a:r>
            <a:endParaRPr lang="en-US" sz="1050" dirty="0">
              <a:solidFill>
                <a:schemeClr val="bg1"/>
              </a:solidFill>
              <a:highlight>
                <a:srgbClr val="800000"/>
              </a:highlight>
            </a:endParaRPr>
          </a:p>
        </p:txBody>
      </p:sp>
      <mc:AlternateContent xmlns:mc="http://schemas.openxmlformats.org/markup-compatibility/2006">
        <mc:Choice xmlns:a14="http://schemas.microsoft.com/office/drawing/2010/main" Requires="a14">
          <p:sp>
            <p:nvSpPr>
              <p:cNvPr id="11" name="TextBox 10"/>
              <p:cNvSpPr txBox="1"/>
              <p:nvPr/>
            </p:nvSpPr>
            <p:spPr>
              <a:xfrm>
                <a:off x="332816" y="658632"/>
                <a:ext cx="10236572" cy="5721053"/>
              </a:xfrm>
              <a:prstGeom prst="rect">
                <a:avLst/>
              </a:prstGeom>
              <a:noFill/>
            </p:spPr>
            <p:txBody>
              <a:bodyPr wrap="square">
                <a:spAutoFit/>
              </a:bodyPr>
              <a:lstStyle/>
              <a:p>
                <a:pPr algn="just">
                  <a:lnSpc>
                    <a:spcPct val="150000"/>
                  </a:lnSpc>
                </a:pPr>
                <a:r>
                  <a:rPr lang="en-US" b="1" dirty="0">
                    <a:latin typeface="Times New Roman" panose="02020603050405020304" pitchFamily="18" charset="0"/>
                    <a:ea typeface="Calibri" panose="020F0502020204030204" pitchFamily="34" charset="0"/>
                    <a:cs typeface="Times New Roman" panose="02020603050405020304" pitchFamily="18" charset="0"/>
                  </a:rPr>
                  <a:t>Energy Losses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a:t>
                </a:r>
                <a:r>
                  <a:rPr lang="en-US"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Loss</a:t>
                </a:r>
                <a:r>
                  <a:rPr lang="en-US" baseline="30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E</a:t>
                </a:r>
                <a:r>
                  <a:rPr lang="en-US"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delivered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a:t>
                </a:r>
                <a:r>
                  <a:rPr lang="en-US"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Sold</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Revenue Loss due to technical losses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a:t>
                </a:r>
                <a:r>
                  <a:rPr lang="en-US"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Com Loss</a:t>
                </a:r>
                <a:r>
                  <a:rPr lang="en-US" baseline="30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U</a:t>
                </a:r>
                <a:r>
                  <a:rPr lang="en-US"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Elect Cost</a:t>
                </a:r>
                <a:r>
                  <a:rPr lang="en-US" baseline="30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X</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dirty="0"/>
                  <a:t>E</a:t>
                </a:r>
                <a:r>
                  <a:rPr lang="en-US" baseline="-25000" dirty="0"/>
                  <a:t>loss</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M </a:t>
                </a:r>
                <a:r>
                  <a:rPr lang="en-US"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Maintenance Cost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Non-technical Loss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a:t>
                </a:r>
                <a:r>
                  <a:rPr lang="en-US"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NTL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a:t>
                </a:r>
                <a:r>
                  <a:rPr lang="en-US"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Com Loss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C </a:t>
                </a:r>
                <a:r>
                  <a:rPr lang="en-US"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Technical Loss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where, U</a:t>
                </a:r>
                <a:r>
                  <a:rPr lang="en-US"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Elect cost</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Unit cost of electricity</a:t>
                </a:r>
                <a:endPar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endPar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buFont typeface="Wingdings" panose="05000000000000000000" pitchFamily="2" charset="2"/>
                  <a:buChar char="v"/>
                </a:pPr>
                <a14:m>
                  <m:oMath xmlns:m="http://schemas.openxmlformats.org/officeDocument/2006/math">
                    <m:r>
                      <a:rPr lang="en-US" i="1" smtClean="0">
                        <a:latin typeface="Cambria Math" panose="02040503050406030204" pitchFamily="18" charset="0"/>
                      </a:rPr>
                      <m:t>𝑃</m:t>
                    </m:r>
                    <m:r>
                      <a:rPr lang="en-US" i="1" smtClean="0">
                        <a:latin typeface="Cambria Math" panose="02040503050406030204" pitchFamily="18" charset="0"/>
                      </a:rPr>
                      <m:t>=</m:t>
                    </m:r>
                  </m:oMath>
                </a14:m>
                <a:r>
                  <a:rPr lang="en-US" dirty="0"/>
                  <a:t>V</a:t>
                </a:r>
                <a:r>
                  <a:rPr lang="en-US" baseline="30000" dirty="0"/>
                  <a:t>2</a:t>
                </a:r>
                <a:r>
                  <a:rPr lang="en-US" dirty="0"/>
                  <a:t>/R,										           </a:t>
                </a:r>
                <a:endParaRPr lang="en-US" dirty="0"/>
              </a:p>
              <a:p>
                <a:pPr>
                  <a:buFont typeface="Wingdings" panose="05000000000000000000" pitchFamily="2" charset="2"/>
                  <a:buChar char="v"/>
                </a:pPr>
                <a:r>
                  <a:rPr lang="en-US" dirty="0"/>
                  <a:t>As V=1R 										           </a:t>
                </a:r>
                <a:endParaRPr lang="en-US" dirty="0"/>
              </a:p>
              <a:p>
                <a:pPr>
                  <a:buFont typeface="Wingdings" panose="05000000000000000000" pitchFamily="2" charset="2"/>
                  <a:buChar char="v"/>
                </a:pPr>
                <a:r>
                  <a:rPr lang="en-US" dirty="0"/>
                  <a:t>Therefore, P=1</a:t>
                </a:r>
                <a:r>
                  <a:rPr lang="en-US" baseline="30000" dirty="0"/>
                  <a:t>2</a:t>
                </a:r>
                <a:r>
                  <a:rPr lang="en-US" dirty="0"/>
                  <a:t>R 	</a:t>
                </a:r>
                <a:endParaRPr lang="en-US" dirty="0"/>
              </a:p>
              <a:p>
                <a:r>
                  <a:rPr lang="en-US" dirty="0"/>
                  <a:t>							          </a:t>
                </a:r>
                <a:endParaRPr lang="en-US" dirty="0"/>
              </a:p>
              <a:p>
                <a:pPr>
                  <a:buFont typeface="Wingdings" panose="05000000000000000000" pitchFamily="2" charset="2"/>
                  <a:buChar char="v"/>
                </a:pPr>
                <a:r>
                  <a:rPr lang="en-US" dirty="0"/>
                  <a:t>Also, P= VICOSθ</a:t>
                </a:r>
                <a:endParaRPr lang="en-US" dirty="0"/>
              </a:p>
              <a:p>
                <a:pPr algn="just">
                  <a:lnSpc>
                    <a:spcPct val="150000"/>
                  </a:lnSpc>
                </a:pPr>
                <a:endPar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11" name="TextBox 10"/>
              <p:cNvSpPr txBox="1">
                <a:spLocks noRot="1" noChangeAspect="1" noMove="1" noResize="1" noEditPoints="1" noAdjustHandles="1" noChangeArrowheads="1" noChangeShapeType="1" noTextEdit="1"/>
              </p:cNvSpPr>
              <p:nvPr/>
            </p:nvSpPr>
            <p:spPr>
              <a:xfrm>
                <a:off x="332816" y="658632"/>
                <a:ext cx="10236572" cy="5721053"/>
              </a:xfrm>
              <a:prstGeom prst="rect">
                <a:avLst/>
              </a:prstGeom>
              <a:blipFill rotWithShape="1">
                <a:blip r:embed="rId1"/>
                <a:stretch>
                  <a:fillRect l="-1" t="-2" r="4" b="8"/>
                </a:stretch>
              </a:blipFill>
            </p:spPr>
            <p:txBody>
              <a:bodyPr/>
              <a:lstStyle/>
              <a:p>
                <a:r>
                  <a:rPr lang="en-US"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1605000" cy="632012"/>
          </a:xfrm>
        </p:spPr>
        <p:txBody>
          <a:bodyPr/>
          <a:lstStyle/>
          <a:p>
            <a:r>
              <a:rPr lang="en-US" sz="1800" dirty="0">
                <a:effectLst/>
                <a:latin typeface="Times New Roman" panose="02020603050405020304" pitchFamily="18" charset="0"/>
                <a:ea typeface="Calibri" panose="020F0502020204030204" pitchFamily="34" charset="0"/>
              </a:rPr>
              <a:t> </a:t>
            </a:r>
            <a:r>
              <a:rPr lang="en-US" sz="3200" dirty="0">
                <a:solidFill>
                  <a:schemeClr val="accent1"/>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rPr>
              <a:t>Incoming and Outgoing Feeders of Substation</a:t>
            </a:r>
            <a:endParaRPr lang="en-US" sz="3200" dirty="0">
              <a:solidFill>
                <a:schemeClr val="accent1"/>
              </a:solidFill>
              <a:effectLst>
                <a:outerShdw blurRad="38100" dist="38100" dir="2700000" algn="tl">
                  <a:srgbClr val="000000">
                    <a:alpha val="43137"/>
                  </a:srgbClr>
                </a:outerShdw>
              </a:effectLst>
            </a:endParaRPr>
          </a:p>
        </p:txBody>
      </p:sp>
      <p:sp>
        <p:nvSpPr>
          <p:cNvPr id="5" name="TextBox 4"/>
          <p:cNvSpPr txBox="1"/>
          <p:nvPr/>
        </p:nvSpPr>
        <p:spPr>
          <a:xfrm>
            <a:off x="7085223" y="6604084"/>
            <a:ext cx="2607733" cy="253916"/>
          </a:xfrm>
          <a:prstGeom prst="rect">
            <a:avLst/>
          </a:prstGeom>
          <a:noFill/>
        </p:spPr>
        <p:txBody>
          <a:bodyPr wrap="square" rtlCol="0">
            <a:spAutoFit/>
          </a:bodyPr>
          <a:lstStyle/>
          <a:p>
            <a:r>
              <a:rPr lang="en-US" sz="1050" dirty="0">
                <a:solidFill>
                  <a:schemeClr val="bg1"/>
                </a:solidFill>
                <a:highlight>
                  <a:srgbClr val="800000"/>
                </a:highlight>
              </a:rPr>
              <a:t>NACETEM Researchers’ Lecture Series 2024</a:t>
            </a:r>
            <a:endParaRPr lang="en-US" sz="1050" dirty="0">
              <a:solidFill>
                <a:schemeClr val="bg1"/>
              </a:solidFill>
              <a:highlight>
                <a:srgbClr val="800000"/>
              </a:highlight>
            </a:endParaRPr>
          </a:p>
        </p:txBody>
      </p:sp>
      <p:pic>
        <p:nvPicPr>
          <p:cNvPr id="10" name="Picture 9"/>
          <p:cNvPicPr>
            <a:picLocks noChangeAspect="1"/>
          </p:cNvPicPr>
          <p:nvPr/>
        </p:nvPicPr>
        <p:blipFill>
          <a:blip r:embed="rId1"/>
          <a:stretch>
            <a:fillRect/>
          </a:stretch>
        </p:blipFill>
        <p:spPr>
          <a:xfrm>
            <a:off x="174812" y="632012"/>
            <a:ext cx="8909085" cy="58225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129" y="1"/>
            <a:ext cx="10878671" cy="632012"/>
          </a:xfrm>
        </p:spPr>
        <p:txBody>
          <a:bodyPr/>
          <a:lstStyle/>
          <a:p>
            <a:r>
              <a:rPr lang="en-US"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Losses of T1 Feeder and T2 Feeder</a:t>
            </a:r>
            <a:endParaRPr lang="en-US"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524435" y="927847"/>
            <a:ext cx="9560859" cy="43971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085223" y="6604084"/>
            <a:ext cx="2607733" cy="253916"/>
          </a:xfrm>
          <a:prstGeom prst="rect">
            <a:avLst/>
          </a:prstGeom>
          <a:noFill/>
        </p:spPr>
        <p:txBody>
          <a:bodyPr wrap="square" rtlCol="0">
            <a:spAutoFit/>
          </a:bodyPr>
          <a:lstStyle/>
          <a:p>
            <a:r>
              <a:rPr lang="en-US" sz="1050" dirty="0">
                <a:solidFill>
                  <a:schemeClr val="bg1"/>
                </a:solidFill>
                <a:highlight>
                  <a:srgbClr val="800000"/>
                </a:highlight>
              </a:rPr>
              <a:t>NACETEM Researchers’ Lecture Series 2024</a:t>
            </a:r>
            <a:endParaRPr lang="en-US" sz="1050" dirty="0">
              <a:solidFill>
                <a:schemeClr val="bg1"/>
              </a:solidFill>
              <a:highlight>
                <a:srgbClr val="800000"/>
              </a:highlight>
            </a:endParaRPr>
          </a:p>
        </p:txBody>
      </p:sp>
      <p:sp>
        <p:nvSpPr>
          <p:cNvPr id="5" name="Title 1"/>
          <p:cNvSpPr txBox="1"/>
          <p:nvPr/>
        </p:nvSpPr>
        <p:spPr bwMode="auto">
          <a:xfrm>
            <a:off x="83712" y="0"/>
            <a:ext cx="11410681" cy="523483"/>
          </a:xfrm>
          <a:prstGeom prst="rect">
            <a:avLst/>
          </a:prstGeom>
          <a:noFill/>
          <a:ln w="9525">
            <a:noFill/>
            <a:miter lim="800000"/>
          </a:ln>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Calibri Light" panose="020F0302020204030204" pitchFamily="34" charset="0"/>
                <a:ea typeface="+mn-ea"/>
                <a:cs typeface="+mn-cs"/>
              </a:defRPr>
            </a:lvl1pPr>
            <a:lvl2pPr marL="548005" indent="-228600" algn="l" rtl="0" eaLnBrk="1" fontAlgn="base" hangingPunct="1">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Calibri Light" panose="020F0302020204030204" pitchFamily="34" charset="0"/>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Calibri Light" panose="020F0302020204030204" pitchFamily="34" charset="0"/>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Calibri Light" panose="020F0302020204030204" pitchFamily="34" charset="0"/>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Calibri Light" panose="020F0302020204030204" pitchFamily="34" charset="0"/>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buNone/>
            </a:pPr>
            <a:r>
              <a:rPr lang="en-US" sz="3600" b="1" dirty="0">
                <a:solidFill>
                  <a:srgbClr val="C00000"/>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rPr>
              <a:t>Customer Population Profile</a:t>
            </a:r>
            <a:r>
              <a:rPr lang="en-US" sz="3600" b="1" dirty="0">
                <a:solidFill>
                  <a:srgbClr val="FF0000"/>
                </a:solidFill>
                <a:latin typeface="Calibri" panose="020F0502020204030204" pitchFamily="34" charset="0"/>
                <a:cs typeface="Calibri" panose="020F0502020204030204" pitchFamily="34" charset="0"/>
              </a:rPr>
              <a:t> </a:t>
            </a:r>
            <a:endParaRPr lang="en-US" sz="3600" b="1" dirty="0">
              <a:solidFill>
                <a:srgbClr val="FF0000"/>
              </a:solidFill>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1"/>
          <a:stretch>
            <a:fillRect/>
          </a:stretch>
        </p:blipFill>
        <p:spPr>
          <a:xfrm>
            <a:off x="497541" y="981635"/>
            <a:ext cx="9195415" cy="477370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619125" y="1686560"/>
            <a:ext cx="9444990" cy="4309110"/>
          </a:xfrm>
          <a:prstGeom prst="rect">
            <a:avLst/>
          </a:prstGeom>
        </p:spPr>
      </p:pic>
      <p:sp>
        <p:nvSpPr>
          <p:cNvPr id="8" name="TextBox 7"/>
          <p:cNvSpPr txBox="1"/>
          <p:nvPr/>
        </p:nvSpPr>
        <p:spPr>
          <a:xfrm>
            <a:off x="376555" y="-95250"/>
            <a:ext cx="6384290" cy="775970"/>
          </a:xfrm>
          <a:prstGeom prst="rect">
            <a:avLst/>
          </a:prstGeom>
          <a:noFill/>
        </p:spPr>
        <p:txBody>
          <a:bodyPr wrap="square">
            <a:noAutofit/>
          </a:bodyPr>
          <a:lstStyle/>
          <a:p>
            <a:pPr marL="0" marR="0" algn="just">
              <a:lnSpc>
                <a:spcPct val="115000"/>
              </a:lnSpc>
              <a:spcAft>
                <a:spcPts val="1000"/>
              </a:spcAft>
            </a:pPr>
            <a:r>
              <a:rPr lang="en-US" sz="3600" b="1" dirty="0">
                <a:solidFill>
                  <a:srgbClr val="C00000"/>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Details of Billed Units</a:t>
            </a:r>
            <a:endParaRPr lang="en-US" sz="3600" b="1" dirty="0">
              <a:solidFill>
                <a:srgbClr val="C00000"/>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 Box 1"/>
          <p:cNvSpPr txBox="1"/>
          <p:nvPr/>
        </p:nvSpPr>
        <p:spPr>
          <a:xfrm>
            <a:off x="376555" y="680720"/>
            <a:ext cx="10865485" cy="769620"/>
          </a:xfrm>
          <a:prstGeom prst="rect">
            <a:avLst/>
          </a:prstGeom>
        </p:spPr>
        <p:txBody>
          <a:bodyPr wrap="square">
            <a:noAutofit/>
          </a:bodyPr>
          <a:p>
            <a:pPr marL="0" indent="0" algn="just" defTabSz="457200">
              <a:lnSpc>
                <a:spcPct val="115000"/>
              </a:lnSpc>
              <a:spcBef>
                <a:spcPct val="0"/>
              </a:spcBef>
              <a:spcAft>
                <a:spcPts val="1000"/>
              </a:spcAft>
            </a:pPr>
            <a:r>
              <a:rPr lang="en-US" b="1">
                <a:latin typeface="Times New Roman" panose="02020603050405020304"/>
                <a:ea typeface="Times New Roman" panose="02020603050405020304"/>
              </a:rPr>
              <a:t>Outgoing Feeders: </a:t>
            </a:r>
            <a:r>
              <a:rPr lang="en-US">
                <a:latin typeface="Times New Roman" panose="02020603050405020304"/>
                <a:ea typeface="Times New Roman" panose="02020603050405020304"/>
              </a:rPr>
              <a:t>There are only three main types of consumers on this feeder. Their total units consumed/billed have been recorded from their monthly billing sheet and the results in the table below were obtained.</a:t>
            </a:r>
            <a:endParaRPr lang="en-US">
              <a:latin typeface="Times New Roman" panose="02020603050405020304"/>
              <a:ea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1023" y="1028343"/>
            <a:ext cx="11497235" cy="4615815"/>
          </a:xfrm>
          <a:prstGeom prst="rect">
            <a:avLst/>
          </a:prstGeom>
          <a:noFill/>
        </p:spPr>
        <p:txBody>
          <a:bodyPr wrap="square">
            <a:spAutoFit/>
          </a:bodyPr>
          <a:lstStyle/>
          <a:p>
            <a:pPr marL="285750" indent="-285750">
              <a:buFont typeface="Wingdings" panose="05000000000000000000" pitchFamily="2" charset="2"/>
              <a:buChar char="v"/>
            </a:pPr>
            <a:r>
              <a:rPr lang="en-US" sz="2450" dirty="0">
                <a:latin typeface="Times New Roman" panose="02020603050405020304" pitchFamily="18" charset="0"/>
                <a:cs typeface="Times New Roman" panose="02020603050405020304" pitchFamily="18" charset="0"/>
              </a:rPr>
              <a:t>Yola (T1) feeder which includes </a:t>
            </a:r>
            <a:r>
              <a:rPr lang="en-US" sz="2450" dirty="0">
                <a:solidFill>
                  <a:srgbClr val="FF0000"/>
                </a:solidFill>
                <a:latin typeface="Times New Roman" panose="02020603050405020304" pitchFamily="18" charset="0"/>
                <a:cs typeface="Times New Roman" panose="02020603050405020304" pitchFamily="18" charset="0"/>
              </a:rPr>
              <a:t>Jimeta</a:t>
            </a:r>
            <a:r>
              <a:rPr lang="en-US" sz="2450" dirty="0">
                <a:latin typeface="Times New Roman" panose="02020603050405020304" pitchFamily="18" charset="0"/>
                <a:cs typeface="Times New Roman" panose="02020603050405020304" pitchFamily="18" charset="0"/>
              </a:rPr>
              <a:t>, </a:t>
            </a:r>
            <a:r>
              <a:rPr lang="en-US" sz="2450" dirty="0">
                <a:solidFill>
                  <a:srgbClr val="FF0000"/>
                </a:solidFill>
                <a:latin typeface="Times New Roman" panose="02020603050405020304" pitchFamily="18" charset="0"/>
                <a:cs typeface="Times New Roman" panose="02020603050405020304" pitchFamily="18" charset="0"/>
              </a:rPr>
              <a:t>Jambutu</a:t>
            </a:r>
            <a:r>
              <a:rPr lang="en-US" sz="2450" dirty="0">
                <a:latin typeface="Times New Roman" panose="02020603050405020304" pitchFamily="18" charset="0"/>
                <a:cs typeface="Times New Roman" panose="02020603050405020304" pitchFamily="18" charset="0"/>
              </a:rPr>
              <a:t> and </a:t>
            </a:r>
            <a:r>
              <a:rPr lang="en-US" sz="2450" dirty="0">
                <a:solidFill>
                  <a:srgbClr val="FF0000"/>
                </a:solidFill>
                <a:latin typeface="Times New Roman" panose="02020603050405020304" pitchFamily="18" charset="0"/>
                <a:cs typeface="Times New Roman" panose="02020603050405020304" pitchFamily="18" charset="0"/>
              </a:rPr>
              <a:t>Yola Town </a:t>
            </a:r>
            <a:r>
              <a:rPr lang="en-US" sz="2450" dirty="0">
                <a:latin typeface="Times New Roman" panose="02020603050405020304" pitchFamily="18" charset="0"/>
                <a:cs typeface="Times New Roman" panose="02020603050405020304" pitchFamily="18" charset="0"/>
              </a:rPr>
              <a:t>is used here as case study for non-technical loss calculation whereas:-</a:t>
            </a:r>
            <a:endParaRPr lang="en-US" sz="245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50" dirty="0">
                <a:latin typeface="Times New Roman" panose="02020603050405020304" pitchFamily="18" charset="0"/>
                <a:cs typeface="Times New Roman" panose="02020603050405020304" pitchFamily="18" charset="0"/>
              </a:rPr>
              <a:t>Total metered customers from table above = </a:t>
            </a:r>
            <a:r>
              <a:rPr lang="en-US" sz="2450" dirty="0">
                <a:solidFill>
                  <a:srgbClr val="FF0000"/>
                </a:solidFill>
                <a:latin typeface="Times New Roman" panose="02020603050405020304" pitchFamily="18" charset="0"/>
                <a:cs typeface="Times New Roman" panose="02020603050405020304" pitchFamily="18" charset="0"/>
              </a:rPr>
              <a:t>13,456  </a:t>
            </a:r>
            <a:endParaRPr lang="en-US" sz="245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50" dirty="0">
                <a:latin typeface="Times New Roman" panose="02020603050405020304" pitchFamily="18" charset="0"/>
                <a:cs typeface="Times New Roman" panose="02020603050405020304" pitchFamily="18" charset="0"/>
              </a:rPr>
              <a:t>Total un-metered customers from the same table = </a:t>
            </a:r>
            <a:r>
              <a:rPr lang="en-US" sz="2450" dirty="0">
                <a:solidFill>
                  <a:srgbClr val="FF0000"/>
                </a:solidFill>
                <a:latin typeface="Times New Roman" panose="02020603050405020304" pitchFamily="18" charset="0"/>
                <a:cs typeface="Times New Roman" panose="02020603050405020304" pitchFamily="18" charset="0"/>
              </a:rPr>
              <a:t>19,780</a:t>
            </a:r>
            <a:endParaRPr lang="en-US" sz="245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50" dirty="0">
                <a:latin typeface="Times New Roman" panose="02020603050405020304" pitchFamily="18" charset="0"/>
                <a:cs typeface="Times New Roman" panose="02020603050405020304" pitchFamily="18" charset="0"/>
              </a:rPr>
              <a:t>Difference between metered and un-metered customers = </a:t>
            </a:r>
            <a:r>
              <a:rPr lang="en-US" sz="2450" dirty="0">
                <a:solidFill>
                  <a:srgbClr val="FF0000"/>
                </a:solidFill>
                <a:latin typeface="Times New Roman" panose="02020603050405020304" pitchFamily="18" charset="0"/>
                <a:cs typeface="Times New Roman" panose="02020603050405020304" pitchFamily="18" charset="0"/>
              </a:rPr>
              <a:t>6324</a:t>
            </a:r>
            <a:endParaRPr lang="en-US" sz="245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50" dirty="0">
                <a:latin typeface="Times New Roman" panose="02020603050405020304" pitchFamily="18" charset="0"/>
                <a:cs typeface="Times New Roman" panose="02020603050405020304" pitchFamily="18" charset="0"/>
              </a:rPr>
              <a:t>Therefore % of metered Customers = 6324/19780 = </a:t>
            </a:r>
            <a:r>
              <a:rPr lang="en-US" sz="2450" dirty="0">
                <a:solidFill>
                  <a:srgbClr val="FF0000"/>
                </a:solidFill>
                <a:latin typeface="Times New Roman" panose="02020603050405020304" pitchFamily="18" charset="0"/>
                <a:cs typeface="Times New Roman" panose="02020603050405020304" pitchFamily="18" charset="0"/>
              </a:rPr>
              <a:t>32%</a:t>
            </a:r>
            <a:endParaRPr lang="en-US" sz="245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50" dirty="0">
                <a:latin typeface="Times New Roman" panose="02020603050405020304" pitchFamily="18" charset="0"/>
                <a:cs typeface="Times New Roman" panose="02020603050405020304" pitchFamily="18" charset="0"/>
              </a:rPr>
              <a:t>Also % of un-metered Customers = 6324/13456 =</a:t>
            </a:r>
            <a:r>
              <a:rPr lang="en-US" sz="2450" dirty="0">
                <a:solidFill>
                  <a:srgbClr val="FF0000"/>
                </a:solidFill>
                <a:latin typeface="Times New Roman" panose="02020603050405020304" pitchFamily="18" charset="0"/>
                <a:cs typeface="Times New Roman" panose="02020603050405020304" pitchFamily="18" charset="0"/>
              </a:rPr>
              <a:t>47%</a:t>
            </a:r>
            <a:endParaRPr lang="en-US" sz="245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50" dirty="0">
                <a:latin typeface="Times New Roman" panose="02020603050405020304" pitchFamily="18" charset="0"/>
                <a:cs typeface="Times New Roman" panose="02020603050405020304" pitchFamily="18" charset="0"/>
              </a:rPr>
              <a:t>Total Mega Watts consumed in Yola for the month of December, 2016 = 13053.5MWh</a:t>
            </a:r>
            <a:endParaRPr lang="en-US" sz="245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50" dirty="0">
                <a:latin typeface="Times New Roman" panose="02020603050405020304" pitchFamily="18" charset="0"/>
                <a:cs typeface="Times New Roman" panose="02020603050405020304" pitchFamily="18" charset="0"/>
              </a:rPr>
              <a:t>Unit Consumed by metered Customers in T1 =32% of 13053.5MWh = </a:t>
            </a:r>
            <a:r>
              <a:rPr lang="en-US" sz="2450" dirty="0">
                <a:solidFill>
                  <a:srgbClr val="FF0000"/>
                </a:solidFill>
                <a:latin typeface="Times New Roman" panose="02020603050405020304" pitchFamily="18" charset="0"/>
                <a:cs typeface="Times New Roman" panose="02020603050405020304" pitchFamily="18" charset="0"/>
              </a:rPr>
              <a:t>4177.12MWh</a:t>
            </a:r>
            <a:endParaRPr lang="en-US" sz="245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50" dirty="0">
                <a:latin typeface="Times New Roman" panose="02020603050405020304" pitchFamily="18" charset="0"/>
                <a:cs typeface="Times New Roman" panose="02020603050405020304" pitchFamily="18" charset="0"/>
              </a:rPr>
              <a:t>Estimated bill of un-metered Customers in T1 = 47% of 13053.5MWh =   </a:t>
            </a:r>
            <a:r>
              <a:rPr lang="en-US" sz="2450" dirty="0">
                <a:solidFill>
                  <a:srgbClr val="FF0000"/>
                </a:solidFill>
                <a:latin typeface="Times New Roman" panose="02020603050405020304" pitchFamily="18" charset="0"/>
                <a:cs typeface="Times New Roman" panose="02020603050405020304" pitchFamily="18" charset="0"/>
              </a:rPr>
              <a:t>6135.15MWh</a:t>
            </a:r>
            <a:endParaRPr lang="en-US" sz="245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50" dirty="0">
                <a:latin typeface="Times New Roman" panose="02020603050405020304" pitchFamily="18" charset="0"/>
                <a:cs typeface="Times New Roman" panose="02020603050405020304" pitchFamily="18" charset="0"/>
              </a:rPr>
              <a:t>Total unit consumed = </a:t>
            </a:r>
            <a:r>
              <a:rPr lang="en-US" sz="2450" dirty="0">
                <a:solidFill>
                  <a:srgbClr val="FF0000"/>
                </a:solidFill>
                <a:latin typeface="Times New Roman" panose="02020603050405020304" pitchFamily="18" charset="0"/>
                <a:cs typeface="Times New Roman" panose="02020603050405020304" pitchFamily="18" charset="0"/>
              </a:rPr>
              <a:t>79%</a:t>
            </a:r>
            <a:r>
              <a:rPr lang="en-US" sz="2450" dirty="0">
                <a:latin typeface="Times New Roman" panose="02020603050405020304" pitchFamily="18" charset="0"/>
                <a:cs typeface="Times New Roman" panose="02020603050405020304" pitchFamily="18" charset="0"/>
              </a:rPr>
              <a:t> of 13053.5 = </a:t>
            </a:r>
            <a:r>
              <a:rPr lang="en-US" sz="2450" dirty="0">
                <a:solidFill>
                  <a:srgbClr val="FF0000"/>
                </a:solidFill>
                <a:latin typeface="Times New Roman" panose="02020603050405020304" pitchFamily="18" charset="0"/>
                <a:cs typeface="Times New Roman" panose="02020603050405020304" pitchFamily="18" charset="0"/>
              </a:rPr>
              <a:t>10312.27MWh</a:t>
            </a:r>
            <a:endParaRPr lang="en-US" sz="245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50" dirty="0">
                <a:latin typeface="Times New Roman" panose="02020603050405020304" pitchFamily="18" charset="0"/>
                <a:cs typeface="Times New Roman" panose="02020603050405020304" pitchFamily="18" charset="0"/>
              </a:rPr>
              <a:t>Non-Technical loss = </a:t>
            </a:r>
            <a:r>
              <a:rPr lang="en-US" sz="2450" dirty="0">
                <a:solidFill>
                  <a:srgbClr val="FF0000"/>
                </a:solidFill>
                <a:latin typeface="Times New Roman" panose="02020603050405020304" pitchFamily="18" charset="0"/>
                <a:cs typeface="Times New Roman" panose="02020603050405020304" pitchFamily="18" charset="0"/>
              </a:rPr>
              <a:t>21%</a:t>
            </a:r>
            <a:r>
              <a:rPr lang="en-US" sz="2450" dirty="0">
                <a:solidFill>
                  <a:srgbClr val="C00000"/>
                </a:solidFill>
                <a:latin typeface="Times New Roman" panose="02020603050405020304" pitchFamily="18" charset="0"/>
                <a:cs typeface="Times New Roman" panose="02020603050405020304" pitchFamily="18" charset="0"/>
              </a:rPr>
              <a:t> </a:t>
            </a:r>
            <a:r>
              <a:rPr lang="en-US" sz="2450" dirty="0">
                <a:latin typeface="Times New Roman" panose="02020603050405020304" pitchFamily="18" charset="0"/>
                <a:cs typeface="Times New Roman" panose="02020603050405020304" pitchFamily="18" charset="0"/>
              </a:rPr>
              <a:t>of 13053.5MWh = </a:t>
            </a:r>
            <a:r>
              <a:rPr lang="en-US" sz="2450" dirty="0">
                <a:solidFill>
                  <a:srgbClr val="FF0000"/>
                </a:solidFill>
                <a:latin typeface="Times New Roman" panose="02020603050405020304" pitchFamily="18" charset="0"/>
                <a:cs typeface="Times New Roman" panose="02020603050405020304" pitchFamily="18" charset="0"/>
              </a:rPr>
              <a:t>2741.24MWh </a:t>
            </a:r>
            <a:endParaRPr lang="en-US" sz="2450" dirty="0">
              <a:solidFill>
                <a:srgbClr val="FF0000"/>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410845" y="-88900"/>
            <a:ext cx="6301740" cy="618490"/>
          </a:xfrm>
          <a:prstGeom prst="rect">
            <a:avLst/>
          </a:prstGeom>
        </p:spPr>
        <p:txBody>
          <a:bodyPr wrap="square">
            <a:noAutofit/>
          </a:bodyPr>
          <a:p>
            <a:pPr defTabSz="266700">
              <a:lnSpc>
                <a:spcPct val="114000"/>
              </a:lnSpc>
              <a:spcAft>
                <a:spcPts val="1000"/>
              </a:spcAft>
            </a:pPr>
            <a:r>
              <a:rPr sz="3600" b="1">
                <a:solidFill>
                  <a:srgbClr val="C00000"/>
                </a:solidFill>
                <a:effectLst>
                  <a:outerShdw blurRad="38100" dist="38100" dir="2700000" algn="tl">
                    <a:srgbClr val="000000">
                      <a:alpha val="43137"/>
                    </a:srgbClr>
                  </a:outerShdw>
                </a:effectLst>
                <a:latin typeface="Times New Roman" panose="02020603050405020304"/>
                <a:ea typeface="Calibri" panose="020F0502020204030204"/>
              </a:rPr>
              <a:t>Detailed Analysis of</a:t>
            </a:r>
            <a:r>
              <a:rPr lang="en-US" sz="3600" b="1">
                <a:solidFill>
                  <a:srgbClr val="C00000"/>
                </a:solidFill>
                <a:effectLst>
                  <a:outerShdw blurRad="38100" dist="38100" dir="2700000" algn="tl">
                    <a:srgbClr val="000000">
                      <a:alpha val="43137"/>
                    </a:srgbClr>
                  </a:outerShdw>
                </a:effectLst>
                <a:latin typeface="Times New Roman" panose="02020603050405020304"/>
                <a:ea typeface="Calibri" panose="020F0502020204030204"/>
              </a:rPr>
              <a:t> T1 Feeder</a:t>
            </a:r>
            <a:endParaRPr lang="en-US" sz="3600" b="1">
              <a:solidFill>
                <a:srgbClr val="C00000"/>
              </a:solidFill>
              <a:effectLst>
                <a:outerShdw blurRad="38100" dist="38100" dir="2700000" algn="tl">
                  <a:srgbClr val="000000">
                    <a:alpha val="43137"/>
                  </a:srgbClr>
                </a:outerShdw>
              </a:effectLst>
              <a:latin typeface="Times New Roman" panose="02020603050405020304"/>
              <a:ea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990" y="0"/>
            <a:ext cx="10637520" cy="711835"/>
          </a:xfrm>
        </p:spPr>
        <p:txBody>
          <a:bodyPr/>
          <a:lstStyle/>
          <a:p>
            <a:r>
              <a:rPr lang="en-US" sz="3200" dirty="0">
                <a:solidFill>
                  <a:srgbClr val="C00000"/>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rPr>
              <a:t>Profile for Commercial and Residential Loads</a:t>
            </a:r>
            <a:endParaRPr lang="en-US" sz="3200" dirty="0">
              <a:solidFill>
                <a:srgbClr val="C00000"/>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endParaRPr>
          </a:p>
        </p:txBody>
      </p:sp>
      <p:pic>
        <p:nvPicPr>
          <p:cNvPr id="6" name="Picture 5"/>
          <p:cNvPicPr>
            <a:picLocks noChangeAspect="1"/>
          </p:cNvPicPr>
          <p:nvPr/>
        </p:nvPicPr>
        <p:blipFill>
          <a:blip r:embed="rId1"/>
          <a:stretch>
            <a:fillRect/>
          </a:stretch>
        </p:blipFill>
        <p:spPr>
          <a:xfrm>
            <a:off x="1181735" y="711835"/>
            <a:ext cx="7270115" cy="57556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 y="0"/>
            <a:ext cx="10637520" cy="625475"/>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rPr>
              <a:t>Load variation over 24 hrs period</a:t>
            </a:r>
            <a:endParaRPr lang="en-US" dirty="0">
              <a:solidFill>
                <a:srgbClr val="C00000"/>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endParaRPr>
          </a:p>
        </p:txBody>
      </p:sp>
      <p:pic>
        <p:nvPicPr>
          <p:cNvPr id="4" name="Picture 3"/>
          <p:cNvPicPr>
            <a:picLocks noChangeAspect="1"/>
          </p:cNvPicPr>
          <p:nvPr/>
        </p:nvPicPr>
        <p:blipFill>
          <a:blip r:embed="rId1"/>
          <a:srcRect/>
          <a:stretch>
            <a:fillRect/>
          </a:stretch>
        </p:blipFill>
        <p:spPr bwMode="auto">
          <a:xfrm>
            <a:off x="977900" y="753110"/>
            <a:ext cx="8773795" cy="566928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0"/>
            <a:ext cx="10637440" cy="618565"/>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rPr>
              <a:t>Variation of power factor over 24 hrs</a:t>
            </a:r>
            <a:endParaRPr lang="en-US" dirty="0">
              <a:solidFill>
                <a:srgbClr val="C00000"/>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endParaRPr>
          </a:p>
        </p:txBody>
      </p:sp>
      <p:pic>
        <p:nvPicPr>
          <p:cNvPr id="4" name="Picture 3"/>
          <p:cNvPicPr>
            <a:picLocks noChangeAspect="1"/>
          </p:cNvPicPr>
          <p:nvPr/>
        </p:nvPicPr>
        <p:blipFill>
          <a:blip r:embed="rId1"/>
          <a:srcRect/>
          <a:stretch>
            <a:fillRect/>
          </a:stretch>
        </p:blipFill>
        <p:spPr bwMode="auto">
          <a:xfrm>
            <a:off x="735330" y="712470"/>
            <a:ext cx="8694420" cy="564769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1"/>
            <a:ext cx="10637440" cy="591670"/>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rPr>
              <a:t>Power Loss Profile</a:t>
            </a:r>
            <a:endParaRPr lang="en-US" dirty="0">
              <a:solidFill>
                <a:srgbClr val="C00000"/>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endParaRPr>
          </a:p>
        </p:txBody>
      </p:sp>
      <p:pic>
        <p:nvPicPr>
          <p:cNvPr id="5" name="Picture 4"/>
          <p:cNvPicPr>
            <a:picLocks noChangeAspect="1"/>
          </p:cNvPicPr>
          <p:nvPr/>
        </p:nvPicPr>
        <p:blipFill>
          <a:blip r:embed="rId1"/>
          <a:stretch>
            <a:fillRect/>
          </a:stretch>
        </p:blipFill>
        <p:spPr>
          <a:xfrm>
            <a:off x="568960" y="699135"/>
            <a:ext cx="7087235" cy="5714365"/>
          </a:xfrm>
          <a:prstGeom prst="rect">
            <a:avLst/>
          </a:prstGeom>
        </p:spPr>
      </p:pic>
      <mc:AlternateContent xmlns:mc="http://schemas.openxmlformats.org/markup-compatibility/2006">
        <mc:Choice xmlns:a14="http://schemas.microsoft.com/office/drawing/2010/main" Requires="a14">
          <p:sp>
            <p:nvSpPr>
              <p:cNvPr id="7" name="TextBox 6"/>
              <p:cNvSpPr txBox="1"/>
              <p:nvPr/>
            </p:nvSpPr>
            <p:spPr>
              <a:xfrm>
                <a:off x="8088183" y="1407102"/>
                <a:ext cx="3348317" cy="1456809"/>
              </a:xfrm>
              <a:prstGeom prst="rect">
                <a:avLst/>
              </a:prstGeom>
              <a:noFill/>
            </p:spPr>
            <p:txBody>
              <a:bodyPr wrap="square">
                <a:spAutoFit/>
              </a:bodyPr>
              <a:lstStyle/>
              <a:p>
                <a:pPr marL="0" marR="0"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Calculation of power loss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 = Load demand X Power factor</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Times New Roman" panose="02020603050405020304" pitchFamily="18" charset="0"/>
                    <a:ea typeface="Calibri" panose="020F0502020204030204" pitchFamily="34" charset="0"/>
                  </a:rPr>
                  <a:t>P = KVA X Cos </a:t>
                </a: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𝜃</m:t>
                    </m:r>
                  </m:oMath>
                </a14:m>
                <a:r>
                  <a:rPr lang="en-US" sz="1800" dirty="0">
                    <a:effectLst/>
                    <a:latin typeface="Times New Roman" panose="02020603050405020304" pitchFamily="18" charset="0"/>
                    <a:ea typeface="Calibri" panose="020F0502020204030204" pitchFamily="34" charset="0"/>
                  </a:rPr>
                  <a:t>	</a:t>
                </a:r>
                <a:endParaRPr lang="en-US" dirty="0"/>
              </a:p>
            </p:txBody>
          </p:sp>
        </mc:Choice>
        <mc:Fallback>
          <p:sp>
            <p:nvSpPr>
              <p:cNvPr id="7" name="TextBox 6"/>
              <p:cNvSpPr txBox="1">
                <a:spLocks noRot="1" noChangeAspect="1" noMove="1" noResize="1" noEditPoints="1" noAdjustHandles="1" noChangeArrowheads="1" noChangeShapeType="1" noTextEdit="1"/>
              </p:cNvSpPr>
              <p:nvPr/>
            </p:nvSpPr>
            <p:spPr>
              <a:xfrm>
                <a:off x="8088183" y="1407102"/>
                <a:ext cx="3348317" cy="1456809"/>
              </a:xfrm>
              <a:prstGeom prst="rect">
                <a:avLst/>
              </a:prstGeom>
              <a:blipFill rotWithShape="1">
                <a:blip r:embed="rId2"/>
                <a:stretch>
                  <a:fillRect l="-6" t="-40" r="4" b="4"/>
                </a:stretch>
              </a:blipFill>
            </p:spPr>
            <p:txBody>
              <a:bodyPr/>
              <a:lstStyle/>
              <a:p>
                <a:r>
                  <a:rPr lang="en-US"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1"/>
            <a:ext cx="10637440" cy="658906"/>
          </a:xfrm>
        </p:spPr>
        <p:txBody>
          <a:bodyPr/>
          <a:lstStyle/>
          <a:p>
            <a:r>
              <a:rPr lang="en-US"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Power Losses </a:t>
            </a:r>
            <a:endParaRPr lang="en-US"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rcRect/>
          <a:stretch>
            <a:fillRect/>
          </a:stretch>
        </p:blipFill>
        <p:spPr bwMode="auto">
          <a:xfrm>
            <a:off x="671276" y="820272"/>
            <a:ext cx="8230416" cy="5244352"/>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706" y="0"/>
            <a:ext cx="10771094" cy="645459"/>
          </a:xfrm>
        </p:spPr>
        <p:txBody>
          <a:bodyPr/>
          <a:lstStyle/>
          <a:p>
            <a:r>
              <a:rPr lang="en-US"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Non-Technical Losses</a:t>
            </a:r>
            <a:endParaRPr lang="en-US"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rcRect/>
          <a:stretch>
            <a:fillRect/>
          </a:stretch>
        </p:blipFill>
        <p:spPr bwMode="auto">
          <a:xfrm>
            <a:off x="767379" y="820271"/>
            <a:ext cx="8659905" cy="545950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1"/>
            <a:ext cx="10637440" cy="605118"/>
          </a:xfrm>
        </p:spPr>
        <p:txBody>
          <a:bodyPr/>
          <a:lstStyle/>
          <a:p>
            <a:r>
              <a:rPr lang="en-US"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Losses Comparison</a:t>
            </a:r>
            <a:endParaRPr lang="en-US"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rcRect/>
          <a:stretch>
            <a:fillRect/>
          </a:stretch>
        </p:blipFill>
        <p:spPr bwMode="auto">
          <a:xfrm>
            <a:off x="963375" y="914400"/>
            <a:ext cx="8022827" cy="5365376"/>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10744200" cy="591671"/>
          </a:xfrm>
        </p:spPr>
        <p:txBody>
          <a:bodyPr/>
          <a:lstStyle/>
          <a:p>
            <a:r>
              <a:rPr lang="en-US"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endParaRPr lang="en-US" dirty="0">
              <a:solidFill>
                <a:schemeClr val="accent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Box 4"/>
          <p:cNvSpPr txBox="1"/>
          <p:nvPr/>
        </p:nvSpPr>
        <p:spPr>
          <a:xfrm>
            <a:off x="335360" y="952999"/>
            <a:ext cx="11000511" cy="3539430"/>
          </a:xfrm>
          <a:prstGeom prst="rect">
            <a:avLst/>
          </a:prstGeom>
          <a:noFill/>
        </p:spPr>
        <p:txBody>
          <a:bodyPr wrap="square">
            <a:spAutoFit/>
          </a:bodyPr>
          <a:lstStyle/>
          <a:p>
            <a:pPr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The comparison between the sampled metered and un-metered consumers have revealed that indeed metering is the only valuable tool required to minimize Non-Technical losses in the dispensation of electrical energy supply. </a:t>
            </a:r>
            <a:endParaRPr lang="en-US" sz="2800" dirty="0">
              <a:latin typeface="Times New Roman" panose="02020603050405020304" pitchFamily="18" charset="0"/>
              <a:cs typeface="Times New Roman" panose="02020603050405020304" pitchFamily="18" charset="0"/>
            </a:endParaRPr>
          </a:p>
          <a:p>
            <a:pPr algn="just">
              <a:buNone/>
            </a:pPr>
            <a:endParaRPr 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The results also indicate that Non-Technical losses have both financial implications on the consumers as well as political stability implications on the general operations of  Yola Electricity Distribution Company. </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award\Pictures\New Picture (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76435" y="1294606"/>
            <a:ext cx="6342063" cy="426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7085223" y="6604084"/>
            <a:ext cx="2607733" cy="253916"/>
          </a:xfrm>
          <a:prstGeom prst="rect">
            <a:avLst/>
          </a:prstGeom>
          <a:noFill/>
        </p:spPr>
        <p:txBody>
          <a:bodyPr wrap="square" rtlCol="0">
            <a:spAutoFit/>
          </a:bodyPr>
          <a:lstStyle/>
          <a:p>
            <a:r>
              <a:rPr lang="en-US" sz="1050" dirty="0">
                <a:solidFill>
                  <a:schemeClr val="bg1"/>
                </a:solidFill>
                <a:highlight>
                  <a:srgbClr val="800000"/>
                </a:highlight>
              </a:rPr>
              <a:t>NACETEM Researchers’ Lecture Series 2024</a:t>
            </a:r>
            <a:endParaRPr lang="en-US" sz="1050" dirty="0">
              <a:solidFill>
                <a:schemeClr val="bg1"/>
              </a:solidFill>
              <a:highlight>
                <a:srgbClr val="800000"/>
              </a:highlight>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nctm2013latest">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8084</Words>
  <Application>WPS Presentation</Application>
  <PresentationFormat>Widescreen</PresentationFormat>
  <Paragraphs>256</Paragraphs>
  <Slides>26</Slides>
  <Notes>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26</vt:i4>
      </vt:variant>
    </vt:vector>
  </HeadingPairs>
  <TitlesOfParts>
    <vt:vector size="42" baseType="lpstr">
      <vt:lpstr>Arial</vt:lpstr>
      <vt:lpstr>SimSun</vt:lpstr>
      <vt:lpstr>Wingdings</vt:lpstr>
      <vt:lpstr>Tw Cen MT</vt:lpstr>
      <vt:lpstr>Calibri Light</vt:lpstr>
      <vt:lpstr>Calibri</vt:lpstr>
      <vt:lpstr>Tw Cen MT</vt:lpstr>
      <vt:lpstr>Wingdings 2</vt:lpstr>
      <vt:lpstr>Times New Roman</vt:lpstr>
      <vt:lpstr>Times New Roman</vt:lpstr>
      <vt:lpstr>Calibri</vt:lpstr>
      <vt:lpstr>Wingdings</vt:lpstr>
      <vt:lpstr>Microsoft YaHei</vt:lpstr>
      <vt:lpstr>Arial Unicode MS</vt:lpstr>
      <vt:lpstr>Cambria Math</vt:lpstr>
      <vt:lpstr>nctm2013latest</vt:lpstr>
      <vt:lpstr>Metering as a Tool for Minimizing Non-Technical Losses in Yola Electricity Distribution Company</vt:lpstr>
      <vt:lpstr>OUTLINE</vt:lpstr>
      <vt:lpstr>PowerPoint 演示文稿</vt:lpstr>
      <vt:lpstr>Devices for Electricity Billing</vt:lpstr>
      <vt:lpstr>Devices for Electricity Billing</vt:lpstr>
      <vt:lpstr>Electricity Theft</vt:lpstr>
      <vt:lpstr>STATEMENT OF PROBLEM</vt:lpstr>
      <vt:lpstr>AIM AND OBJECTIVES</vt:lpstr>
      <vt:lpstr>LITERATURE REVIEW</vt:lpstr>
      <vt:lpstr>LITERATURE REVIEW Contd.</vt:lpstr>
      <vt:lpstr>METHODOLOGY</vt:lpstr>
      <vt:lpstr>METHODOLOGY Contd.</vt:lpstr>
      <vt:lpstr> Incoming and Outgoing Feeders of Substation</vt:lpstr>
      <vt:lpstr>Losses of T1 Feeder and T2 Feeder</vt:lpstr>
      <vt:lpstr>PowerPoint 演示文稿</vt:lpstr>
      <vt:lpstr>PowerPoint 演示文稿</vt:lpstr>
      <vt:lpstr>PowerPoint 演示文稿</vt:lpstr>
      <vt:lpstr>Profile for Commercial and Residential Loads</vt:lpstr>
      <vt:lpstr>Load variation over 24 hrs period</vt:lpstr>
      <vt:lpstr>Variation of power factor over 24 hrs</vt:lpstr>
      <vt:lpstr>Power Loss Profile</vt:lpstr>
      <vt:lpstr>Power Losses </vt:lpstr>
      <vt:lpstr>Non-Technical Losses</vt:lpstr>
      <vt:lpstr>Losses Comparison</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Engr Amos Chinda</cp:lastModifiedBy>
  <cp:revision>732</cp:revision>
  <dcterms:created xsi:type="dcterms:W3CDTF">2021-02-22T04:35:00Z</dcterms:created>
  <dcterms:modified xsi:type="dcterms:W3CDTF">2025-03-16T22:32:12Z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5B212025B47E4BEE9DEA1395621D214A_12</vt:lpwstr>
  </property>
  <property fmtid="{D5CDD505-2E9C-101B-9397-08002B2CF9AE}" pid="3" name="KSOProductBuildVer">
    <vt:lpwstr>1033-12.2.0.20326</vt:lpwstr>
  </property>
</Properties>
</file>