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56" r:id="rId2"/>
    <p:sldId id="281" r:id="rId3"/>
    <p:sldId id="298" r:id="rId4"/>
    <p:sldId id="257" r:id="rId5"/>
    <p:sldId id="319" r:id="rId6"/>
    <p:sldId id="352" r:id="rId7"/>
    <p:sldId id="354" r:id="rId8"/>
    <p:sldId id="287" r:id="rId9"/>
    <p:sldId id="291" r:id="rId10"/>
    <p:sldId id="285" r:id="rId11"/>
    <p:sldId id="265" r:id="rId12"/>
    <p:sldId id="282" r:id="rId13"/>
    <p:sldId id="293" r:id="rId14"/>
    <p:sldId id="344" r:id="rId15"/>
    <p:sldId id="343" r:id="rId16"/>
    <p:sldId id="304" r:id="rId17"/>
    <p:sldId id="327" r:id="rId18"/>
    <p:sldId id="328" r:id="rId19"/>
    <p:sldId id="345" r:id="rId20"/>
    <p:sldId id="324" r:id="rId21"/>
    <p:sldId id="325" r:id="rId22"/>
    <p:sldId id="329" r:id="rId23"/>
    <p:sldId id="318" r:id="rId24"/>
    <p:sldId id="349" r:id="rId25"/>
    <p:sldId id="316" r:id="rId26"/>
    <p:sldId id="321" r:id="rId27"/>
    <p:sldId id="333" r:id="rId28"/>
    <p:sldId id="350" r:id="rId29"/>
    <p:sldId id="331" r:id="rId30"/>
    <p:sldId id="353" r:id="rId31"/>
    <p:sldId id="288" r:id="rId32"/>
    <p:sldId id="332" r:id="rId33"/>
    <p:sldId id="280" r:id="rId34"/>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9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DMIN\Desktop\Result%20of%20the%20sieve%20analysis.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A</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NG"/>
        </a:p>
      </c:txPr>
    </c:title>
    <c:autoTitleDeleted val="0"/>
    <c:plotArea>
      <c:layout/>
      <c:barChart>
        <c:barDir val="col"/>
        <c:grouping val="clustered"/>
        <c:varyColors val="0"/>
        <c:ser>
          <c:idx val="0"/>
          <c:order val="0"/>
          <c:tx>
            <c:strRef>
              <c:f>Sheet1!$G$2</c:f>
              <c:strCache>
                <c:ptCount val="1"/>
                <c:pt idx="0">
                  <c:v>Wet season</c:v>
                </c:pt>
              </c:strCache>
            </c:strRef>
          </c:tx>
          <c:spPr>
            <a:solidFill>
              <a:schemeClr val="accent1"/>
            </a:solidFill>
            <a:ln>
              <a:noFill/>
            </a:ln>
            <a:effectLst/>
          </c:spPr>
          <c:invertIfNegative val="0"/>
          <c:dLbls>
            <c:dLbl>
              <c:idx val="0"/>
              <c:layout>
                <c:manualLayout>
                  <c:x val="-1.3556138430441383E-3"/>
                  <c:y val="2.22138975357677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C1A-4C37-A89B-A5BDA4345996}"/>
                </c:ext>
              </c:extLst>
            </c:dLbl>
            <c:dLbl>
              <c:idx val="1"/>
              <c:layout>
                <c:manualLayout>
                  <c:x val="-7.442202798268252E-3"/>
                  <c:y val="1.166783153580588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3D-404E-982F-229A720303F9}"/>
                </c:ext>
              </c:extLst>
            </c:dLbl>
            <c:dLbl>
              <c:idx val="2"/>
              <c:layout>
                <c:manualLayout>
                  <c:x val="-2.0800832033281331E-2"/>
                  <c:y val="1.310401310401310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C1A-4C37-A89B-A5BDA4345996}"/>
                </c:ext>
              </c:extLst>
            </c:dLbl>
            <c:dLbl>
              <c:idx val="7"/>
              <c:layout>
                <c:manualLayout>
                  <c:x val="-1.9045948796541437E-2"/>
                  <c:y val="-8.391881118577554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C1A-4C37-A89B-A5BDA4345996}"/>
                </c:ext>
              </c:extLst>
            </c:dLbl>
            <c:dLbl>
              <c:idx val="8"/>
              <c:layout>
                <c:manualLayout>
                  <c:x val="-1.2480499219968952E-2"/>
                  <c:y val="3.276003276003276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C1A-4C37-A89B-A5BDA4345996}"/>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N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Sheet1!$F$3:$F$12</c:f>
              <c:strCache>
                <c:ptCount val="10"/>
                <c:pt idx="0">
                  <c:v>S1</c:v>
                </c:pt>
                <c:pt idx="1">
                  <c:v>S2</c:v>
                </c:pt>
                <c:pt idx="2">
                  <c:v>S3</c:v>
                </c:pt>
                <c:pt idx="3">
                  <c:v>S4</c:v>
                </c:pt>
                <c:pt idx="4">
                  <c:v>S5</c:v>
                </c:pt>
                <c:pt idx="5">
                  <c:v>S6</c:v>
                </c:pt>
                <c:pt idx="6">
                  <c:v>S7</c:v>
                </c:pt>
                <c:pt idx="7">
                  <c:v>S8</c:v>
                </c:pt>
                <c:pt idx="8">
                  <c:v>S9</c:v>
                </c:pt>
                <c:pt idx="9">
                  <c:v>S10</c:v>
                </c:pt>
              </c:strCache>
            </c:strRef>
          </c:cat>
          <c:val>
            <c:numRef>
              <c:f>Sheet1!$G$3:$G$12</c:f>
              <c:numCache>
                <c:formatCode>0.00</c:formatCode>
                <c:ptCount val="10"/>
                <c:pt idx="0">
                  <c:v>941</c:v>
                </c:pt>
                <c:pt idx="1">
                  <c:v>129.38</c:v>
                </c:pt>
                <c:pt idx="2">
                  <c:v>190.95</c:v>
                </c:pt>
                <c:pt idx="3">
                  <c:v>509.63</c:v>
                </c:pt>
                <c:pt idx="4">
                  <c:v>129.12</c:v>
                </c:pt>
                <c:pt idx="5">
                  <c:v>368.32</c:v>
                </c:pt>
                <c:pt idx="6">
                  <c:v>203.96</c:v>
                </c:pt>
                <c:pt idx="7">
                  <c:v>59.38</c:v>
                </c:pt>
                <c:pt idx="8">
                  <c:v>79.55</c:v>
                </c:pt>
                <c:pt idx="9">
                  <c:v>462.2</c:v>
                </c:pt>
              </c:numCache>
            </c:numRef>
          </c:val>
          <c:extLst>
            <c:ext xmlns:c16="http://schemas.microsoft.com/office/drawing/2014/chart" uri="{C3380CC4-5D6E-409C-BE32-E72D297353CC}">
              <c16:uniqueId val="{00000004-2C1A-4C37-A89B-A5BDA4345996}"/>
            </c:ext>
          </c:extLst>
        </c:ser>
        <c:ser>
          <c:idx val="1"/>
          <c:order val="1"/>
          <c:tx>
            <c:strRef>
              <c:f>Sheet1!$H$2</c:f>
              <c:strCache>
                <c:ptCount val="1"/>
                <c:pt idx="0">
                  <c:v>Dry season</c:v>
                </c:pt>
              </c:strCache>
            </c:strRef>
          </c:tx>
          <c:spPr>
            <a:solidFill>
              <a:schemeClr val="accent2"/>
            </a:solidFill>
            <a:ln>
              <a:noFill/>
            </a:ln>
            <a:effectLst/>
          </c:spPr>
          <c:invertIfNegative val="0"/>
          <c:dLbls>
            <c:dLbl>
              <c:idx val="1"/>
              <c:layout>
                <c:manualLayout>
                  <c:x val="2.7364842955847617E-2"/>
                  <c:y val="1.130883900252902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C1A-4C37-A89B-A5BDA4345996}"/>
                </c:ext>
              </c:extLst>
            </c:dLbl>
            <c:dLbl>
              <c:idx val="3"/>
              <c:layout>
                <c:manualLayout>
                  <c:x val="1.2480499219968799E-2"/>
                  <c:y val="3.276003276003276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2C1A-4C37-A89B-A5BDA4345996}"/>
                </c:ext>
              </c:extLst>
            </c:dLbl>
            <c:dLbl>
              <c:idx val="4"/>
              <c:layout>
                <c:manualLayout>
                  <c:x val="2.2426773266202949E-2"/>
                  <c:y val="5.833915767902943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C1A-4C37-A89B-A5BDA4345996}"/>
                </c:ext>
              </c:extLst>
            </c:dLbl>
            <c:dLbl>
              <c:idx val="5"/>
              <c:layout>
                <c:manualLayout>
                  <c:x val="2.0346688388588566E-2"/>
                  <c:y val="8.750873651854415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C1A-4C37-A89B-A5BDA4345996}"/>
                </c:ext>
              </c:extLst>
            </c:dLbl>
            <c:dLbl>
              <c:idx val="6"/>
              <c:layout>
                <c:manualLayout>
                  <c:x val="1.4560582423296931E-2"/>
                  <c:y val="6.552006552006552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C1A-4C37-A89B-A5BDA4345996}"/>
                </c:ext>
              </c:extLst>
            </c:dLbl>
            <c:dLbl>
              <c:idx val="7"/>
              <c:layout>
                <c:manualLayout>
                  <c:x val="6.2402496099843996E-3"/>
                  <c:y val="2.293202293202281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C1A-4C37-A89B-A5BDA4345996}"/>
                </c:ext>
              </c:extLst>
            </c:dLbl>
            <c:dLbl>
              <c:idx val="9"/>
              <c:layout>
                <c:manualLayout>
                  <c:x val="3.5702157905771379E-3"/>
                  <c:y val="-5.833915767902943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2C1A-4C37-A89B-A5BDA4345996}"/>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N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Sheet1!$F$3:$F$12</c:f>
              <c:strCache>
                <c:ptCount val="10"/>
                <c:pt idx="0">
                  <c:v>S1</c:v>
                </c:pt>
                <c:pt idx="1">
                  <c:v>S2</c:v>
                </c:pt>
                <c:pt idx="2">
                  <c:v>S3</c:v>
                </c:pt>
                <c:pt idx="3">
                  <c:v>S4</c:v>
                </c:pt>
                <c:pt idx="4">
                  <c:v>S5</c:v>
                </c:pt>
                <c:pt idx="5">
                  <c:v>S6</c:v>
                </c:pt>
                <c:pt idx="6">
                  <c:v>S7</c:v>
                </c:pt>
                <c:pt idx="7">
                  <c:v>S8</c:v>
                </c:pt>
                <c:pt idx="8">
                  <c:v>S9</c:v>
                </c:pt>
                <c:pt idx="9">
                  <c:v>S10</c:v>
                </c:pt>
              </c:strCache>
            </c:strRef>
          </c:cat>
          <c:val>
            <c:numRef>
              <c:f>Sheet1!$H$3:$H$12</c:f>
              <c:numCache>
                <c:formatCode>0.00</c:formatCode>
                <c:ptCount val="10"/>
                <c:pt idx="0">
                  <c:v>1245.77</c:v>
                </c:pt>
                <c:pt idx="1">
                  <c:v>31.16</c:v>
                </c:pt>
                <c:pt idx="2">
                  <c:v>920.41</c:v>
                </c:pt>
                <c:pt idx="3">
                  <c:v>20.97</c:v>
                </c:pt>
                <c:pt idx="4">
                  <c:v>33</c:v>
                </c:pt>
                <c:pt idx="5">
                  <c:v>43.46</c:v>
                </c:pt>
                <c:pt idx="6">
                  <c:v>158.88999999999999</c:v>
                </c:pt>
                <c:pt idx="7">
                  <c:v>72.59</c:v>
                </c:pt>
                <c:pt idx="8">
                  <c:v>141.08000000000001</c:v>
                </c:pt>
                <c:pt idx="9">
                  <c:v>110.07</c:v>
                </c:pt>
              </c:numCache>
            </c:numRef>
          </c:val>
          <c:extLst>
            <c:ext xmlns:c16="http://schemas.microsoft.com/office/drawing/2014/chart" uri="{C3380CC4-5D6E-409C-BE32-E72D297353CC}">
              <c16:uniqueId val="{0000000C-2C1A-4C37-A89B-A5BDA4345996}"/>
            </c:ext>
          </c:extLst>
        </c:ser>
        <c:dLbls>
          <c:showLegendKey val="0"/>
          <c:showVal val="0"/>
          <c:showCatName val="0"/>
          <c:showSerName val="0"/>
          <c:showPercent val="0"/>
          <c:showBubbleSize val="0"/>
        </c:dLbls>
        <c:gapWidth val="219"/>
        <c:overlap val="-27"/>
        <c:axId val="967290144"/>
        <c:axId val="1127072400"/>
      </c:barChart>
      <c:catAx>
        <c:axId val="967290144"/>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Surface Water Samples</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NG"/>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NG"/>
          </a:p>
        </c:txPr>
        <c:crossAx val="1127072400"/>
        <c:crosses val="autoZero"/>
        <c:auto val="1"/>
        <c:lblAlgn val="ctr"/>
        <c:lblOffset val="100"/>
        <c:noMultiLvlLbl val="0"/>
      </c:catAx>
      <c:valAx>
        <c:axId val="11270724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WQI Values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NG"/>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NG"/>
          </a:p>
        </c:txPr>
        <c:crossAx val="9672901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N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NG"/>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B</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NG"/>
        </a:p>
      </c:txPr>
    </c:title>
    <c:autoTitleDeleted val="0"/>
    <c:plotArea>
      <c:layout/>
      <c:barChart>
        <c:barDir val="col"/>
        <c:grouping val="clustered"/>
        <c:varyColors val="0"/>
        <c:ser>
          <c:idx val="0"/>
          <c:order val="0"/>
          <c:tx>
            <c:strRef>
              <c:f>Sheet1!$B$2</c:f>
              <c:strCache>
                <c:ptCount val="1"/>
                <c:pt idx="0">
                  <c:v>Wet season</c:v>
                </c:pt>
              </c:strCache>
            </c:strRef>
          </c:tx>
          <c:spPr>
            <a:solidFill>
              <a:schemeClr val="accent1"/>
            </a:solidFill>
            <a:ln>
              <a:noFill/>
            </a:ln>
            <a:effectLst/>
          </c:spPr>
          <c:invertIfNegative val="0"/>
          <c:dLbls>
            <c:dLbl>
              <c:idx val="0"/>
              <c:layout>
                <c:manualLayout>
                  <c:x val="-2.204805157560034E-17"/>
                  <c:y val="-2.932755834452275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20E-40FC-9D08-3F125CD47C32}"/>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N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Sheet1!$A$3:$A$12</c:f>
              <c:strCache>
                <c:ptCount val="10"/>
                <c:pt idx="0">
                  <c:v>G1</c:v>
                </c:pt>
                <c:pt idx="1">
                  <c:v>G2</c:v>
                </c:pt>
                <c:pt idx="2">
                  <c:v>G3</c:v>
                </c:pt>
                <c:pt idx="3">
                  <c:v>G4</c:v>
                </c:pt>
                <c:pt idx="4">
                  <c:v>G5</c:v>
                </c:pt>
                <c:pt idx="5">
                  <c:v>G6</c:v>
                </c:pt>
                <c:pt idx="6">
                  <c:v>G7</c:v>
                </c:pt>
                <c:pt idx="7">
                  <c:v>G8</c:v>
                </c:pt>
                <c:pt idx="8">
                  <c:v>G9</c:v>
                </c:pt>
                <c:pt idx="9">
                  <c:v>G10</c:v>
                </c:pt>
              </c:strCache>
            </c:strRef>
          </c:cat>
          <c:val>
            <c:numRef>
              <c:f>Sheet1!$B$3:$B$12</c:f>
              <c:numCache>
                <c:formatCode>0.00</c:formatCode>
                <c:ptCount val="10"/>
                <c:pt idx="0">
                  <c:v>35.35</c:v>
                </c:pt>
                <c:pt idx="1">
                  <c:v>45.74</c:v>
                </c:pt>
                <c:pt idx="2">
                  <c:v>46.61</c:v>
                </c:pt>
                <c:pt idx="3">
                  <c:v>30.44</c:v>
                </c:pt>
                <c:pt idx="4">
                  <c:v>61.07</c:v>
                </c:pt>
                <c:pt idx="5">
                  <c:v>26.27</c:v>
                </c:pt>
                <c:pt idx="6">
                  <c:v>44.45</c:v>
                </c:pt>
                <c:pt idx="7">
                  <c:v>136.27000000000001</c:v>
                </c:pt>
                <c:pt idx="8">
                  <c:v>38.9</c:v>
                </c:pt>
                <c:pt idx="9">
                  <c:v>51.31</c:v>
                </c:pt>
              </c:numCache>
            </c:numRef>
          </c:val>
          <c:extLst>
            <c:ext xmlns:c16="http://schemas.microsoft.com/office/drawing/2014/chart" uri="{C3380CC4-5D6E-409C-BE32-E72D297353CC}">
              <c16:uniqueId val="{00000000-687C-4CFE-9AAA-80E35758A80A}"/>
            </c:ext>
          </c:extLst>
        </c:ser>
        <c:ser>
          <c:idx val="1"/>
          <c:order val="1"/>
          <c:tx>
            <c:strRef>
              <c:f>Sheet1!$C$2</c:f>
              <c:strCache>
                <c:ptCount val="1"/>
                <c:pt idx="0">
                  <c:v>Dry season</c:v>
                </c:pt>
              </c:strCache>
            </c:strRef>
          </c:tx>
          <c:spPr>
            <a:solidFill>
              <a:schemeClr val="accent2"/>
            </a:solidFill>
            <a:ln>
              <a:noFill/>
            </a:ln>
            <a:effectLst/>
          </c:spPr>
          <c:invertIfNegative val="0"/>
          <c:dLbls>
            <c:dLbl>
              <c:idx val="0"/>
              <c:layout>
                <c:manualLayout>
                  <c:x val="1.2403048215431827E-2"/>
                  <c:y val="1.521130390324399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87C-4CFE-9AAA-80E35758A80A}"/>
                </c:ext>
              </c:extLst>
            </c:dLbl>
            <c:dLbl>
              <c:idx val="1"/>
              <c:layout>
                <c:manualLayout>
                  <c:x val="1.4470284237726061E-2"/>
                  <c:y val="-3.115264797507788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87C-4CFE-9AAA-80E35758A80A}"/>
                </c:ext>
              </c:extLst>
            </c:dLbl>
            <c:dLbl>
              <c:idx val="2"/>
              <c:layout>
                <c:manualLayout>
                  <c:x val="1.5822697905881224E-2"/>
                  <c:y val="1.173102333780867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87C-4CFE-9AAA-80E35758A80A}"/>
                </c:ext>
              </c:extLst>
            </c:dLbl>
            <c:dLbl>
              <c:idx val="3"/>
              <c:layout>
                <c:manualLayout>
                  <c:x val="2.510571350055198E-2"/>
                  <c:y val="2.932755834452060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87C-4CFE-9AAA-80E35758A80A}"/>
                </c:ext>
              </c:extLst>
            </c:dLbl>
            <c:dLbl>
              <c:idx val="4"/>
              <c:layout>
                <c:manualLayout>
                  <c:x val="1.4470284237726097E-2"/>
                  <c:y val="3.115264797507788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87C-4CFE-9AAA-80E35758A80A}"/>
                </c:ext>
              </c:extLst>
            </c:dLbl>
            <c:dLbl>
              <c:idx val="5"/>
              <c:layout>
                <c:manualLayout>
                  <c:x val="1.9280794034476419E-2"/>
                  <c:y val="1.814405973769605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87C-4CFE-9AAA-80E35758A80A}"/>
                </c:ext>
              </c:extLst>
            </c:dLbl>
            <c:dLbl>
              <c:idx val="6"/>
              <c:layout>
                <c:manualLayout>
                  <c:x val="1.2403100775193722E-2"/>
                  <c:y val="-1.1422505637102049E-1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87C-4CFE-9AAA-80E35758A80A}"/>
                </c:ext>
              </c:extLst>
            </c:dLbl>
            <c:dLbl>
              <c:idx val="7"/>
              <c:layout>
                <c:manualLayout>
                  <c:x val="2.0633237457133642E-2"/>
                  <c:y val="1.173102333780867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87C-4CFE-9AAA-80E35758A80A}"/>
                </c:ext>
              </c:extLst>
            </c:dLbl>
            <c:dLbl>
              <c:idx val="8"/>
              <c:layout>
                <c:manualLayout>
                  <c:x val="1.3079364622420941E-2"/>
                  <c:y val="5.865511668904228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87C-4CFE-9AAA-80E35758A80A}"/>
                </c:ext>
              </c:extLst>
            </c:dLbl>
            <c:dLbl>
              <c:idx val="9"/>
              <c:layout>
                <c:manualLayout>
                  <c:x val="1.4697334677001624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87C-4CFE-9AAA-80E35758A80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N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Sheet1!$A$3:$A$12</c:f>
              <c:strCache>
                <c:ptCount val="10"/>
                <c:pt idx="0">
                  <c:v>G1</c:v>
                </c:pt>
                <c:pt idx="1">
                  <c:v>G2</c:v>
                </c:pt>
                <c:pt idx="2">
                  <c:v>G3</c:v>
                </c:pt>
                <c:pt idx="3">
                  <c:v>G4</c:v>
                </c:pt>
                <c:pt idx="4">
                  <c:v>G5</c:v>
                </c:pt>
                <c:pt idx="5">
                  <c:v>G6</c:v>
                </c:pt>
                <c:pt idx="6">
                  <c:v>G7</c:v>
                </c:pt>
                <c:pt idx="7">
                  <c:v>G8</c:v>
                </c:pt>
                <c:pt idx="8">
                  <c:v>G9</c:v>
                </c:pt>
                <c:pt idx="9">
                  <c:v>G10</c:v>
                </c:pt>
              </c:strCache>
            </c:strRef>
          </c:cat>
          <c:val>
            <c:numRef>
              <c:f>Sheet1!$C$3:$C$12</c:f>
              <c:numCache>
                <c:formatCode>0.00</c:formatCode>
                <c:ptCount val="10"/>
                <c:pt idx="0">
                  <c:v>33.270000000000003</c:v>
                </c:pt>
                <c:pt idx="1">
                  <c:v>29.69</c:v>
                </c:pt>
                <c:pt idx="2">
                  <c:v>25.05</c:v>
                </c:pt>
                <c:pt idx="3">
                  <c:v>21.93</c:v>
                </c:pt>
                <c:pt idx="4">
                  <c:v>41.58</c:v>
                </c:pt>
                <c:pt idx="5">
                  <c:v>24.29</c:v>
                </c:pt>
                <c:pt idx="6">
                  <c:v>16.62</c:v>
                </c:pt>
                <c:pt idx="7">
                  <c:v>24</c:v>
                </c:pt>
                <c:pt idx="8">
                  <c:v>21.09</c:v>
                </c:pt>
                <c:pt idx="9">
                  <c:v>38.08</c:v>
                </c:pt>
              </c:numCache>
            </c:numRef>
          </c:val>
          <c:extLst>
            <c:ext xmlns:c16="http://schemas.microsoft.com/office/drawing/2014/chart" uri="{C3380CC4-5D6E-409C-BE32-E72D297353CC}">
              <c16:uniqueId val="{0000000B-687C-4CFE-9AAA-80E35758A80A}"/>
            </c:ext>
          </c:extLst>
        </c:ser>
        <c:dLbls>
          <c:dLblPos val="outEnd"/>
          <c:showLegendKey val="0"/>
          <c:showVal val="1"/>
          <c:showCatName val="0"/>
          <c:showSerName val="0"/>
          <c:showPercent val="0"/>
          <c:showBubbleSize val="0"/>
        </c:dLbls>
        <c:gapWidth val="219"/>
        <c:overlap val="-27"/>
        <c:axId val="1119302528"/>
        <c:axId val="1127076864"/>
      </c:barChart>
      <c:catAx>
        <c:axId val="1119302528"/>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Groundwater Samples</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NG"/>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NG"/>
          </a:p>
        </c:txPr>
        <c:crossAx val="1127076864"/>
        <c:crosses val="autoZero"/>
        <c:auto val="1"/>
        <c:lblAlgn val="ctr"/>
        <c:lblOffset val="100"/>
        <c:noMultiLvlLbl val="0"/>
      </c:catAx>
      <c:valAx>
        <c:axId val="112707686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WQI Values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NG"/>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NG"/>
          </a:p>
        </c:txPr>
        <c:crossAx val="11193025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N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NG"/>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v>Grain Size Distribution Curve of Osu 1</c:v>
          </c:tx>
          <c:spPr>
            <a:ln w="19050" cap="rnd">
              <a:solidFill>
                <a:schemeClr val="accent1"/>
              </a:solidFill>
              <a:round/>
            </a:ln>
            <a:effectLst/>
          </c:spPr>
          <c:marker>
            <c:symbol val="none"/>
          </c:marker>
          <c:xVal>
            <c:numRef>
              <c:f>Sheet2!$A$3:$A$13</c:f>
              <c:numCache>
                <c:formatCode>General</c:formatCode>
                <c:ptCount val="11"/>
                <c:pt idx="0">
                  <c:v>4</c:v>
                </c:pt>
                <c:pt idx="1">
                  <c:v>2.36</c:v>
                </c:pt>
                <c:pt idx="2">
                  <c:v>1.18</c:v>
                </c:pt>
                <c:pt idx="3">
                  <c:v>0.71</c:v>
                </c:pt>
                <c:pt idx="4">
                  <c:v>0.6</c:v>
                </c:pt>
                <c:pt idx="5">
                  <c:v>0.5</c:v>
                </c:pt>
                <c:pt idx="6">
                  <c:v>0.35499999999999998</c:v>
                </c:pt>
                <c:pt idx="7">
                  <c:v>0.25</c:v>
                </c:pt>
                <c:pt idx="8">
                  <c:v>0.15</c:v>
                </c:pt>
                <c:pt idx="9">
                  <c:v>7.4999999999999997E-2</c:v>
                </c:pt>
                <c:pt idx="10">
                  <c:v>6.3E-2</c:v>
                </c:pt>
              </c:numCache>
            </c:numRef>
          </c:xVal>
          <c:yVal>
            <c:numRef>
              <c:f>Sheet2!$C$3:$C$13</c:f>
              <c:numCache>
                <c:formatCode>General</c:formatCode>
                <c:ptCount val="11"/>
                <c:pt idx="0">
                  <c:v>85.7</c:v>
                </c:pt>
                <c:pt idx="1">
                  <c:v>71.400000000000006</c:v>
                </c:pt>
                <c:pt idx="2">
                  <c:v>57.12</c:v>
                </c:pt>
                <c:pt idx="3">
                  <c:v>48.88</c:v>
                </c:pt>
                <c:pt idx="4">
                  <c:v>46.94</c:v>
                </c:pt>
                <c:pt idx="5">
                  <c:v>44.4</c:v>
                </c:pt>
                <c:pt idx="6">
                  <c:v>37.6</c:v>
                </c:pt>
                <c:pt idx="7">
                  <c:v>26.38</c:v>
                </c:pt>
                <c:pt idx="8">
                  <c:v>13.08</c:v>
                </c:pt>
                <c:pt idx="9">
                  <c:v>5.44</c:v>
                </c:pt>
                <c:pt idx="10">
                  <c:v>3.8</c:v>
                </c:pt>
              </c:numCache>
            </c:numRef>
          </c:yVal>
          <c:smooth val="1"/>
          <c:extLst>
            <c:ext xmlns:c16="http://schemas.microsoft.com/office/drawing/2014/chart" uri="{C3380CC4-5D6E-409C-BE32-E72D297353CC}">
              <c16:uniqueId val="{00000000-E785-4438-9FEA-27F708D8046E}"/>
            </c:ext>
          </c:extLst>
        </c:ser>
        <c:dLbls>
          <c:showLegendKey val="0"/>
          <c:showVal val="0"/>
          <c:showCatName val="0"/>
          <c:showSerName val="0"/>
          <c:showPercent val="0"/>
          <c:showBubbleSize val="0"/>
        </c:dLbls>
        <c:axId val="1173491967"/>
        <c:axId val="1168619231"/>
      </c:scatterChart>
      <c:valAx>
        <c:axId val="1173491967"/>
        <c:scaling>
          <c:logBase val="10"/>
          <c:orientation val="minMax"/>
        </c:scaling>
        <c:delete val="0"/>
        <c:axPos val="b"/>
        <c:majorGridlines>
          <c:spPr>
            <a:ln w="9525" cap="flat" cmpd="sng" algn="ctr">
              <a:solidFill>
                <a:schemeClr val="tx1">
                  <a:lumMod val="15000"/>
                  <a:lumOff val="85000"/>
                </a:schemeClr>
              </a:solidFill>
              <a:round/>
            </a:ln>
            <a:effectLst/>
          </c:spPr>
        </c:majorGridlines>
        <c:minorGridlines>
          <c:spPr>
            <a:ln w="12700"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Sieve Diameter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NG"/>
            </a:p>
          </c:txPr>
        </c:title>
        <c:numFmt formatCode="General" sourceLinked="1"/>
        <c:majorTickMark val="none"/>
        <c:minorTickMark val="none"/>
        <c:tickLblPos val="low"/>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G"/>
          </a:p>
        </c:txPr>
        <c:crossAx val="1168619231"/>
        <c:crosses val="autoZero"/>
        <c:crossBetween val="midCat"/>
      </c:valAx>
      <c:valAx>
        <c:axId val="116861923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Finer Passing</a:t>
                </a:r>
              </a:p>
            </c:rich>
          </c:tx>
          <c:layout>
            <c:manualLayout>
              <c:xMode val="edge"/>
              <c:yMode val="edge"/>
              <c:x val="3.0555555555555555E-2"/>
              <c:y val="0.38499234470691163"/>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NG"/>
            </a:p>
          </c:txPr>
        </c:title>
        <c:numFmt formatCode="General" sourceLinked="1"/>
        <c:majorTickMark val="none"/>
        <c:minorTickMark val="none"/>
        <c:tickLblPos val="low"/>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G"/>
          </a:p>
        </c:txPr>
        <c:crossAx val="1173491967"/>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NG"/>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A001F8-BA15-0F3F-523C-E68A393397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a:extLst>
              <a:ext uri="{FF2B5EF4-FFF2-40B4-BE49-F238E27FC236}">
                <a16:creationId xmlns:a16="http://schemas.microsoft.com/office/drawing/2014/main" id="{21AEF849-53AF-DF59-B326-9702AEC6583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47FB283-761A-45BB-93F3-360B59EFC3E2}" type="datetimeFigureOut">
              <a:rPr lang="en-NG" smtClean="0"/>
              <a:t>12/07/2025</a:t>
            </a:fld>
            <a:endParaRPr lang="en-NG"/>
          </a:p>
        </p:txBody>
      </p:sp>
      <p:sp>
        <p:nvSpPr>
          <p:cNvPr id="4" name="Footer Placeholder 3">
            <a:extLst>
              <a:ext uri="{FF2B5EF4-FFF2-40B4-BE49-F238E27FC236}">
                <a16:creationId xmlns:a16="http://schemas.microsoft.com/office/drawing/2014/main" id="{A2AD8015-8EE6-F2F9-275E-F7351650E22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5" name="Slide Number Placeholder 4">
            <a:extLst>
              <a:ext uri="{FF2B5EF4-FFF2-40B4-BE49-F238E27FC236}">
                <a16:creationId xmlns:a16="http://schemas.microsoft.com/office/drawing/2014/main" id="{9B1D002B-B740-629A-D887-42FB51402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EC7B265-7C04-40CC-B0EA-B3852B9EE46C}" type="slidenum">
              <a:rPr lang="en-NG" smtClean="0"/>
              <a:t>‹#›</a:t>
            </a:fld>
            <a:endParaRPr lang="en-NG"/>
          </a:p>
        </p:txBody>
      </p:sp>
    </p:spTree>
    <p:extLst>
      <p:ext uri="{BB962C8B-B14F-4D97-AF65-F5344CB8AC3E}">
        <p14:creationId xmlns:p14="http://schemas.microsoft.com/office/powerpoint/2010/main" val="28719524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FAC12C-5E9A-4FF9-89CF-891A2146E63C}" type="datetimeFigureOut">
              <a:rPr lang="en-NG" smtClean="0"/>
              <a:t>12/07/2025</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3FDDCC-364E-4A03-A567-0B38CFD5892F}" type="slidenum">
              <a:rPr lang="en-NG" smtClean="0"/>
              <a:t>‹#›</a:t>
            </a:fld>
            <a:endParaRPr lang="en-NG"/>
          </a:p>
        </p:txBody>
      </p:sp>
    </p:spTree>
    <p:extLst>
      <p:ext uri="{BB962C8B-B14F-4D97-AF65-F5344CB8AC3E}">
        <p14:creationId xmlns:p14="http://schemas.microsoft.com/office/powerpoint/2010/main" val="312090078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EDC05-961D-B945-0807-311F4888D6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G"/>
          </a:p>
        </p:txBody>
      </p:sp>
      <p:sp>
        <p:nvSpPr>
          <p:cNvPr id="3" name="Subtitle 2">
            <a:extLst>
              <a:ext uri="{FF2B5EF4-FFF2-40B4-BE49-F238E27FC236}">
                <a16:creationId xmlns:a16="http://schemas.microsoft.com/office/drawing/2014/main" id="{F4CE7A60-447F-E69C-4749-D4D7524292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G"/>
          </a:p>
        </p:txBody>
      </p:sp>
      <p:sp>
        <p:nvSpPr>
          <p:cNvPr id="4" name="Date Placeholder 3">
            <a:extLst>
              <a:ext uri="{FF2B5EF4-FFF2-40B4-BE49-F238E27FC236}">
                <a16:creationId xmlns:a16="http://schemas.microsoft.com/office/drawing/2014/main" id="{1BB435B7-E907-449F-4419-859E5070E76C}"/>
              </a:ext>
            </a:extLst>
          </p:cNvPr>
          <p:cNvSpPr>
            <a:spLocks noGrp="1"/>
          </p:cNvSpPr>
          <p:nvPr>
            <p:ph type="dt" sz="half" idx="10"/>
          </p:nvPr>
        </p:nvSpPr>
        <p:spPr/>
        <p:txBody>
          <a:bodyPr/>
          <a:lstStyle/>
          <a:p>
            <a:fld id="{4C198ADE-7643-4075-8BF7-D940A3C8B963}" type="datetime8">
              <a:rPr lang="en-NG" smtClean="0"/>
              <a:t>12/07/2025 04:22</a:t>
            </a:fld>
            <a:endParaRPr lang="en-NG"/>
          </a:p>
        </p:txBody>
      </p:sp>
      <p:sp>
        <p:nvSpPr>
          <p:cNvPr id="5" name="Footer Placeholder 4">
            <a:extLst>
              <a:ext uri="{FF2B5EF4-FFF2-40B4-BE49-F238E27FC236}">
                <a16:creationId xmlns:a16="http://schemas.microsoft.com/office/drawing/2014/main" id="{D17AC112-F404-EAAD-AE9C-D4F3D96984FA}"/>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FBE2EBC8-608C-7ECB-E7E1-F23623666FE9}"/>
              </a:ext>
            </a:extLst>
          </p:cNvPr>
          <p:cNvSpPr>
            <a:spLocks noGrp="1"/>
          </p:cNvSpPr>
          <p:nvPr>
            <p:ph type="sldNum" sz="quarter" idx="12"/>
          </p:nvPr>
        </p:nvSpPr>
        <p:spPr/>
        <p:txBody>
          <a:bodyPr/>
          <a:lstStyle/>
          <a:p>
            <a:fld id="{E30FEA02-71A2-4209-B909-B13DA9CFC23D}" type="slidenum">
              <a:rPr lang="en-NG" smtClean="0"/>
              <a:t>‹#›</a:t>
            </a:fld>
            <a:endParaRPr lang="en-NG"/>
          </a:p>
        </p:txBody>
      </p:sp>
    </p:spTree>
    <p:extLst>
      <p:ext uri="{BB962C8B-B14F-4D97-AF65-F5344CB8AC3E}">
        <p14:creationId xmlns:p14="http://schemas.microsoft.com/office/powerpoint/2010/main" val="4209787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00B78-55FD-E2B2-2875-7B2773501B56}"/>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13AD848D-7CC6-4392-41FD-38E8D8A195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7386BE39-97BB-8D49-05B1-27041B398A68}"/>
              </a:ext>
            </a:extLst>
          </p:cNvPr>
          <p:cNvSpPr>
            <a:spLocks noGrp="1"/>
          </p:cNvSpPr>
          <p:nvPr>
            <p:ph type="dt" sz="half" idx="10"/>
          </p:nvPr>
        </p:nvSpPr>
        <p:spPr/>
        <p:txBody>
          <a:bodyPr/>
          <a:lstStyle/>
          <a:p>
            <a:fld id="{E74CCDBC-61D2-4745-ABC9-38FC42DCF505}" type="datetime8">
              <a:rPr lang="en-NG" smtClean="0"/>
              <a:t>12/07/2025 04:22</a:t>
            </a:fld>
            <a:endParaRPr lang="en-NG"/>
          </a:p>
        </p:txBody>
      </p:sp>
      <p:sp>
        <p:nvSpPr>
          <p:cNvPr id="5" name="Footer Placeholder 4">
            <a:extLst>
              <a:ext uri="{FF2B5EF4-FFF2-40B4-BE49-F238E27FC236}">
                <a16:creationId xmlns:a16="http://schemas.microsoft.com/office/drawing/2014/main" id="{89986F32-519E-86A0-6491-F64E7A4E1C31}"/>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635FB924-DB6D-D87A-14D2-377B39F2B422}"/>
              </a:ext>
            </a:extLst>
          </p:cNvPr>
          <p:cNvSpPr>
            <a:spLocks noGrp="1"/>
          </p:cNvSpPr>
          <p:nvPr>
            <p:ph type="sldNum" sz="quarter" idx="12"/>
          </p:nvPr>
        </p:nvSpPr>
        <p:spPr/>
        <p:txBody>
          <a:bodyPr/>
          <a:lstStyle/>
          <a:p>
            <a:fld id="{E30FEA02-71A2-4209-B909-B13DA9CFC23D}" type="slidenum">
              <a:rPr lang="en-NG" smtClean="0"/>
              <a:t>‹#›</a:t>
            </a:fld>
            <a:endParaRPr lang="en-NG"/>
          </a:p>
        </p:txBody>
      </p:sp>
    </p:spTree>
    <p:extLst>
      <p:ext uri="{BB962C8B-B14F-4D97-AF65-F5344CB8AC3E}">
        <p14:creationId xmlns:p14="http://schemas.microsoft.com/office/powerpoint/2010/main" val="3091270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ED3C-8021-D5A9-0B1E-816AF89F76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G"/>
          </a:p>
        </p:txBody>
      </p:sp>
      <p:sp>
        <p:nvSpPr>
          <p:cNvPr id="3" name="Text Placeholder 2">
            <a:extLst>
              <a:ext uri="{FF2B5EF4-FFF2-40B4-BE49-F238E27FC236}">
                <a16:creationId xmlns:a16="http://schemas.microsoft.com/office/drawing/2014/main" id="{1E7A991C-3E89-477C-C225-4DDED43076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F6FB93-E796-7EBB-939E-70155DA1A006}"/>
              </a:ext>
            </a:extLst>
          </p:cNvPr>
          <p:cNvSpPr>
            <a:spLocks noGrp="1"/>
          </p:cNvSpPr>
          <p:nvPr>
            <p:ph type="dt" sz="half" idx="10"/>
          </p:nvPr>
        </p:nvSpPr>
        <p:spPr/>
        <p:txBody>
          <a:bodyPr/>
          <a:lstStyle/>
          <a:p>
            <a:fld id="{6ADF9BD2-B251-41CC-B9FA-7DD5D6448A65}" type="datetime8">
              <a:rPr lang="en-NG" smtClean="0"/>
              <a:t>12/07/2025 04:22</a:t>
            </a:fld>
            <a:endParaRPr lang="en-NG"/>
          </a:p>
        </p:txBody>
      </p:sp>
      <p:sp>
        <p:nvSpPr>
          <p:cNvPr id="5" name="Footer Placeholder 4">
            <a:extLst>
              <a:ext uri="{FF2B5EF4-FFF2-40B4-BE49-F238E27FC236}">
                <a16:creationId xmlns:a16="http://schemas.microsoft.com/office/drawing/2014/main" id="{4C42B488-48AE-AEA5-EE2B-BF8008D6F36B}"/>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98C31789-3C9B-D7DA-964C-801B47960858}"/>
              </a:ext>
            </a:extLst>
          </p:cNvPr>
          <p:cNvSpPr>
            <a:spLocks noGrp="1"/>
          </p:cNvSpPr>
          <p:nvPr>
            <p:ph type="sldNum" sz="quarter" idx="12"/>
          </p:nvPr>
        </p:nvSpPr>
        <p:spPr/>
        <p:txBody>
          <a:bodyPr/>
          <a:lstStyle/>
          <a:p>
            <a:fld id="{E30FEA02-71A2-4209-B909-B13DA9CFC23D}" type="slidenum">
              <a:rPr lang="en-NG" smtClean="0"/>
              <a:t>‹#›</a:t>
            </a:fld>
            <a:endParaRPr lang="en-NG"/>
          </a:p>
        </p:txBody>
      </p:sp>
    </p:spTree>
    <p:extLst>
      <p:ext uri="{BB962C8B-B14F-4D97-AF65-F5344CB8AC3E}">
        <p14:creationId xmlns:p14="http://schemas.microsoft.com/office/powerpoint/2010/main" val="1201248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2E1AD-7F8A-019A-D456-023EB5ECA7C1}"/>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55EBB47E-6810-0504-09E9-D54A0B34FE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Content Placeholder 3">
            <a:extLst>
              <a:ext uri="{FF2B5EF4-FFF2-40B4-BE49-F238E27FC236}">
                <a16:creationId xmlns:a16="http://schemas.microsoft.com/office/drawing/2014/main" id="{6A197BA3-9DC4-7011-4374-DF52A73A9C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Date Placeholder 4">
            <a:extLst>
              <a:ext uri="{FF2B5EF4-FFF2-40B4-BE49-F238E27FC236}">
                <a16:creationId xmlns:a16="http://schemas.microsoft.com/office/drawing/2014/main" id="{C0E66E00-44A8-86F1-D2C1-F6F04F6771A6}"/>
              </a:ext>
            </a:extLst>
          </p:cNvPr>
          <p:cNvSpPr>
            <a:spLocks noGrp="1"/>
          </p:cNvSpPr>
          <p:nvPr>
            <p:ph type="dt" sz="half" idx="10"/>
          </p:nvPr>
        </p:nvSpPr>
        <p:spPr/>
        <p:txBody>
          <a:bodyPr/>
          <a:lstStyle/>
          <a:p>
            <a:fld id="{F08E6BAF-DB1D-4E69-AE52-B2A406004019}" type="datetime8">
              <a:rPr lang="en-NG" smtClean="0"/>
              <a:t>12/07/2025 04:22</a:t>
            </a:fld>
            <a:endParaRPr lang="en-NG"/>
          </a:p>
        </p:txBody>
      </p:sp>
      <p:sp>
        <p:nvSpPr>
          <p:cNvPr id="6" name="Footer Placeholder 5">
            <a:extLst>
              <a:ext uri="{FF2B5EF4-FFF2-40B4-BE49-F238E27FC236}">
                <a16:creationId xmlns:a16="http://schemas.microsoft.com/office/drawing/2014/main" id="{C575316D-861C-4A5C-C7A0-A1080A6223C9}"/>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5A8F1843-636B-D80A-52B8-9339E9D4B1EE}"/>
              </a:ext>
            </a:extLst>
          </p:cNvPr>
          <p:cNvSpPr>
            <a:spLocks noGrp="1"/>
          </p:cNvSpPr>
          <p:nvPr>
            <p:ph type="sldNum" sz="quarter" idx="12"/>
          </p:nvPr>
        </p:nvSpPr>
        <p:spPr/>
        <p:txBody>
          <a:bodyPr/>
          <a:lstStyle/>
          <a:p>
            <a:fld id="{E30FEA02-71A2-4209-B909-B13DA9CFC23D}" type="slidenum">
              <a:rPr lang="en-NG" smtClean="0"/>
              <a:t>‹#›</a:t>
            </a:fld>
            <a:endParaRPr lang="en-NG"/>
          </a:p>
        </p:txBody>
      </p:sp>
    </p:spTree>
    <p:extLst>
      <p:ext uri="{BB962C8B-B14F-4D97-AF65-F5344CB8AC3E}">
        <p14:creationId xmlns:p14="http://schemas.microsoft.com/office/powerpoint/2010/main" val="1560644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9DA75-86E0-2C11-97ED-B12BD88B6A65}"/>
              </a:ext>
            </a:extLst>
          </p:cNvPr>
          <p:cNvSpPr>
            <a:spLocks noGrp="1"/>
          </p:cNvSpPr>
          <p:nvPr>
            <p:ph type="title"/>
          </p:nvPr>
        </p:nvSpPr>
        <p:spPr>
          <a:xfrm>
            <a:off x="839788" y="365125"/>
            <a:ext cx="10515600" cy="1325563"/>
          </a:xfrm>
        </p:spPr>
        <p:txBody>
          <a:bodyPr/>
          <a:lstStyle/>
          <a:p>
            <a:r>
              <a:rPr lang="en-US"/>
              <a:t>Click to edit Master title style</a:t>
            </a:r>
            <a:endParaRPr lang="en-NG"/>
          </a:p>
        </p:txBody>
      </p:sp>
      <p:sp>
        <p:nvSpPr>
          <p:cNvPr id="3" name="Text Placeholder 2">
            <a:extLst>
              <a:ext uri="{FF2B5EF4-FFF2-40B4-BE49-F238E27FC236}">
                <a16:creationId xmlns:a16="http://schemas.microsoft.com/office/drawing/2014/main" id="{C2535326-B0BC-7128-87FF-B5AF9E921C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DFF716-7446-DB1C-231D-EC92E6C0D2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Text Placeholder 4">
            <a:extLst>
              <a:ext uri="{FF2B5EF4-FFF2-40B4-BE49-F238E27FC236}">
                <a16:creationId xmlns:a16="http://schemas.microsoft.com/office/drawing/2014/main" id="{BEF889B0-8D0B-AE34-6675-71D0284086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BB8C99-ADF7-F19F-E8F2-54FE34EAEA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7" name="Date Placeholder 6">
            <a:extLst>
              <a:ext uri="{FF2B5EF4-FFF2-40B4-BE49-F238E27FC236}">
                <a16:creationId xmlns:a16="http://schemas.microsoft.com/office/drawing/2014/main" id="{BFF02013-1A66-AF15-8D6F-23A5524A8193}"/>
              </a:ext>
            </a:extLst>
          </p:cNvPr>
          <p:cNvSpPr>
            <a:spLocks noGrp="1"/>
          </p:cNvSpPr>
          <p:nvPr>
            <p:ph type="dt" sz="half" idx="10"/>
          </p:nvPr>
        </p:nvSpPr>
        <p:spPr/>
        <p:txBody>
          <a:bodyPr/>
          <a:lstStyle/>
          <a:p>
            <a:fld id="{6F0D1095-1800-4A23-B1DF-BAB07FDB691B}" type="datetime8">
              <a:rPr lang="en-NG" smtClean="0"/>
              <a:t>12/07/2025 04:22</a:t>
            </a:fld>
            <a:endParaRPr lang="en-NG"/>
          </a:p>
        </p:txBody>
      </p:sp>
      <p:sp>
        <p:nvSpPr>
          <p:cNvPr id="8" name="Footer Placeholder 7">
            <a:extLst>
              <a:ext uri="{FF2B5EF4-FFF2-40B4-BE49-F238E27FC236}">
                <a16:creationId xmlns:a16="http://schemas.microsoft.com/office/drawing/2014/main" id="{061CE92D-2E92-3EF3-EABE-2E5177AB3865}"/>
              </a:ext>
            </a:extLst>
          </p:cNvPr>
          <p:cNvSpPr>
            <a:spLocks noGrp="1"/>
          </p:cNvSpPr>
          <p:nvPr>
            <p:ph type="ftr" sz="quarter" idx="11"/>
          </p:nvPr>
        </p:nvSpPr>
        <p:spPr/>
        <p:txBody>
          <a:bodyPr/>
          <a:lstStyle/>
          <a:p>
            <a:endParaRPr lang="en-NG"/>
          </a:p>
        </p:txBody>
      </p:sp>
      <p:sp>
        <p:nvSpPr>
          <p:cNvPr id="9" name="Slide Number Placeholder 8">
            <a:extLst>
              <a:ext uri="{FF2B5EF4-FFF2-40B4-BE49-F238E27FC236}">
                <a16:creationId xmlns:a16="http://schemas.microsoft.com/office/drawing/2014/main" id="{4E553343-030D-84F0-F662-6C39366B7207}"/>
              </a:ext>
            </a:extLst>
          </p:cNvPr>
          <p:cNvSpPr>
            <a:spLocks noGrp="1"/>
          </p:cNvSpPr>
          <p:nvPr>
            <p:ph type="sldNum" sz="quarter" idx="12"/>
          </p:nvPr>
        </p:nvSpPr>
        <p:spPr/>
        <p:txBody>
          <a:bodyPr/>
          <a:lstStyle/>
          <a:p>
            <a:fld id="{E30FEA02-71A2-4209-B909-B13DA9CFC23D}" type="slidenum">
              <a:rPr lang="en-NG" smtClean="0"/>
              <a:t>‹#›</a:t>
            </a:fld>
            <a:endParaRPr lang="en-NG"/>
          </a:p>
        </p:txBody>
      </p:sp>
    </p:spTree>
    <p:extLst>
      <p:ext uri="{BB962C8B-B14F-4D97-AF65-F5344CB8AC3E}">
        <p14:creationId xmlns:p14="http://schemas.microsoft.com/office/powerpoint/2010/main" val="2715804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17351-8EAB-D32D-869C-B1E1A8753652}"/>
              </a:ext>
            </a:extLst>
          </p:cNvPr>
          <p:cNvSpPr>
            <a:spLocks noGrp="1"/>
          </p:cNvSpPr>
          <p:nvPr>
            <p:ph type="title"/>
          </p:nvPr>
        </p:nvSpPr>
        <p:spPr/>
        <p:txBody>
          <a:bodyPr/>
          <a:lstStyle/>
          <a:p>
            <a:r>
              <a:rPr lang="en-US"/>
              <a:t>Click to edit Master title style</a:t>
            </a:r>
            <a:endParaRPr lang="en-NG"/>
          </a:p>
        </p:txBody>
      </p:sp>
      <p:sp>
        <p:nvSpPr>
          <p:cNvPr id="3" name="Date Placeholder 2">
            <a:extLst>
              <a:ext uri="{FF2B5EF4-FFF2-40B4-BE49-F238E27FC236}">
                <a16:creationId xmlns:a16="http://schemas.microsoft.com/office/drawing/2014/main" id="{E938656D-99B1-313C-2F70-FB23D41C49A2}"/>
              </a:ext>
            </a:extLst>
          </p:cNvPr>
          <p:cNvSpPr>
            <a:spLocks noGrp="1"/>
          </p:cNvSpPr>
          <p:nvPr>
            <p:ph type="dt" sz="half" idx="10"/>
          </p:nvPr>
        </p:nvSpPr>
        <p:spPr/>
        <p:txBody>
          <a:bodyPr/>
          <a:lstStyle/>
          <a:p>
            <a:fld id="{9DE6F89E-F465-4E85-976F-62D73D249044}" type="datetime8">
              <a:rPr lang="en-NG" smtClean="0"/>
              <a:t>12/07/2025 04:22</a:t>
            </a:fld>
            <a:endParaRPr lang="en-NG"/>
          </a:p>
        </p:txBody>
      </p:sp>
      <p:sp>
        <p:nvSpPr>
          <p:cNvPr id="4" name="Footer Placeholder 3">
            <a:extLst>
              <a:ext uri="{FF2B5EF4-FFF2-40B4-BE49-F238E27FC236}">
                <a16:creationId xmlns:a16="http://schemas.microsoft.com/office/drawing/2014/main" id="{A336442F-2E8C-D79E-129C-4ADEB54C715B}"/>
              </a:ext>
            </a:extLst>
          </p:cNvPr>
          <p:cNvSpPr>
            <a:spLocks noGrp="1"/>
          </p:cNvSpPr>
          <p:nvPr>
            <p:ph type="ftr" sz="quarter" idx="11"/>
          </p:nvPr>
        </p:nvSpPr>
        <p:spPr/>
        <p:txBody>
          <a:bodyPr/>
          <a:lstStyle/>
          <a:p>
            <a:endParaRPr lang="en-NG"/>
          </a:p>
        </p:txBody>
      </p:sp>
      <p:sp>
        <p:nvSpPr>
          <p:cNvPr id="5" name="Slide Number Placeholder 4">
            <a:extLst>
              <a:ext uri="{FF2B5EF4-FFF2-40B4-BE49-F238E27FC236}">
                <a16:creationId xmlns:a16="http://schemas.microsoft.com/office/drawing/2014/main" id="{AD802251-0C5A-C14A-AE92-6F20619FE4A9}"/>
              </a:ext>
            </a:extLst>
          </p:cNvPr>
          <p:cNvSpPr>
            <a:spLocks noGrp="1"/>
          </p:cNvSpPr>
          <p:nvPr>
            <p:ph type="sldNum" sz="quarter" idx="12"/>
          </p:nvPr>
        </p:nvSpPr>
        <p:spPr/>
        <p:txBody>
          <a:bodyPr/>
          <a:lstStyle/>
          <a:p>
            <a:fld id="{E30FEA02-71A2-4209-B909-B13DA9CFC23D}" type="slidenum">
              <a:rPr lang="en-NG" smtClean="0"/>
              <a:t>‹#›</a:t>
            </a:fld>
            <a:endParaRPr lang="en-NG"/>
          </a:p>
        </p:txBody>
      </p:sp>
    </p:spTree>
    <p:extLst>
      <p:ext uri="{BB962C8B-B14F-4D97-AF65-F5344CB8AC3E}">
        <p14:creationId xmlns:p14="http://schemas.microsoft.com/office/powerpoint/2010/main" val="3626189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8E208C-3482-E525-501C-C40309976C51}"/>
              </a:ext>
            </a:extLst>
          </p:cNvPr>
          <p:cNvSpPr>
            <a:spLocks noGrp="1"/>
          </p:cNvSpPr>
          <p:nvPr>
            <p:ph type="dt" sz="half" idx="10"/>
          </p:nvPr>
        </p:nvSpPr>
        <p:spPr/>
        <p:txBody>
          <a:bodyPr/>
          <a:lstStyle/>
          <a:p>
            <a:fld id="{F5676D2C-4986-424C-AFC6-59D568A6E00C}" type="datetime8">
              <a:rPr lang="en-NG" smtClean="0"/>
              <a:t>12/07/2025 04:22</a:t>
            </a:fld>
            <a:endParaRPr lang="en-NG"/>
          </a:p>
        </p:txBody>
      </p:sp>
      <p:sp>
        <p:nvSpPr>
          <p:cNvPr id="3" name="Footer Placeholder 2">
            <a:extLst>
              <a:ext uri="{FF2B5EF4-FFF2-40B4-BE49-F238E27FC236}">
                <a16:creationId xmlns:a16="http://schemas.microsoft.com/office/drawing/2014/main" id="{D5BBA042-3460-CBC0-7371-DA541A63CCDB}"/>
              </a:ext>
            </a:extLst>
          </p:cNvPr>
          <p:cNvSpPr>
            <a:spLocks noGrp="1"/>
          </p:cNvSpPr>
          <p:nvPr>
            <p:ph type="ftr" sz="quarter" idx="11"/>
          </p:nvPr>
        </p:nvSpPr>
        <p:spPr/>
        <p:txBody>
          <a:bodyPr/>
          <a:lstStyle/>
          <a:p>
            <a:endParaRPr lang="en-NG"/>
          </a:p>
        </p:txBody>
      </p:sp>
      <p:sp>
        <p:nvSpPr>
          <p:cNvPr id="4" name="Slide Number Placeholder 3">
            <a:extLst>
              <a:ext uri="{FF2B5EF4-FFF2-40B4-BE49-F238E27FC236}">
                <a16:creationId xmlns:a16="http://schemas.microsoft.com/office/drawing/2014/main" id="{423100D7-ECA4-DF0C-CE56-198FE8A1E810}"/>
              </a:ext>
            </a:extLst>
          </p:cNvPr>
          <p:cNvSpPr>
            <a:spLocks noGrp="1"/>
          </p:cNvSpPr>
          <p:nvPr>
            <p:ph type="sldNum" sz="quarter" idx="12"/>
          </p:nvPr>
        </p:nvSpPr>
        <p:spPr/>
        <p:txBody>
          <a:bodyPr/>
          <a:lstStyle/>
          <a:p>
            <a:fld id="{E30FEA02-71A2-4209-B909-B13DA9CFC23D}" type="slidenum">
              <a:rPr lang="en-NG" smtClean="0"/>
              <a:t>‹#›</a:t>
            </a:fld>
            <a:endParaRPr lang="en-NG"/>
          </a:p>
        </p:txBody>
      </p:sp>
    </p:spTree>
    <p:extLst>
      <p:ext uri="{BB962C8B-B14F-4D97-AF65-F5344CB8AC3E}">
        <p14:creationId xmlns:p14="http://schemas.microsoft.com/office/powerpoint/2010/main" val="384842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24E88-F517-6F4A-7F8C-7E32FF7A40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Content Placeholder 2">
            <a:extLst>
              <a:ext uri="{FF2B5EF4-FFF2-40B4-BE49-F238E27FC236}">
                <a16:creationId xmlns:a16="http://schemas.microsoft.com/office/drawing/2014/main" id="{2B8DCEE6-BAA7-CB91-1668-BC3F3A83AC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Text Placeholder 3">
            <a:extLst>
              <a:ext uri="{FF2B5EF4-FFF2-40B4-BE49-F238E27FC236}">
                <a16:creationId xmlns:a16="http://schemas.microsoft.com/office/drawing/2014/main" id="{18A96C12-3D8D-4952-048F-63AA7F9A52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D2205-01D9-BA25-558A-A6B3EF461EC1}"/>
              </a:ext>
            </a:extLst>
          </p:cNvPr>
          <p:cNvSpPr>
            <a:spLocks noGrp="1"/>
          </p:cNvSpPr>
          <p:nvPr>
            <p:ph type="dt" sz="half" idx="10"/>
          </p:nvPr>
        </p:nvSpPr>
        <p:spPr/>
        <p:txBody>
          <a:bodyPr/>
          <a:lstStyle/>
          <a:p>
            <a:fld id="{DBD41E0B-A616-40DC-B563-56577C8EAD2D}" type="datetime8">
              <a:rPr lang="en-NG" smtClean="0"/>
              <a:t>12/07/2025 04:22</a:t>
            </a:fld>
            <a:endParaRPr lang="en-NG"/>
          </a:p>
        </p:txBody>
      </p:sp>
      <p:sp>
        <p:nvSpPr>
          <p:cNvPr id="6" name="Footer Placeholder 5">
            <a:extLst>
              <a:ext uri="{FF2B5EF4-FFF2-40B4-BE49-F238E27FC236}">
                <a16:creationId xmlns:a16="http://schemas.microsoft.com/office/drawing/2014/main" id="{450EBEA9-A732-4F46-9C27-A1A239C11CD1}"/>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4744EEF0-668B-3207-393E-33904C166285}"/>
              </a:ext>
            </a:extLst>
          </p:cNvPr>
          <p:cNvSpPr>
            <a:spLocks noGrp="1"/>
          </p:cNvSpPr>
          <p:nvPr>
            <p:ph type="sldNum" sz="quarter" idx="12"/>
          </p:nvPr>
        </p:nvSpPr>
        <p:spPr/>
        <p:txBody>
          <a:bodyPr/>
          <a:lstStyle/>
          <a:p>
            <a:fld id="{E30FEA02-71A2-4209-B909-B13DA9CFC23D}" type="slidenum">
              <a:rPr lang="en-NG" smtClean="0"/>
              <a:t>‹#›</a:t>
            </a:fld>
            <a:endParaRPr lang="en-NG"/>
          </a:p>
        </p:txBody>
      </p:sp>
    </p:spTree>
    <p:extLst>
      <p:ext uri="{BB962C8B-B14F-4D97-AF65-F5344CB8AC3E}">
        <p14:creationId xmlns:p14="http://schemas.microsoft.com/office/powerpoint/2010/main" val="2436574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DC679-8AE1-1D42-3A35-27EF2BC17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Picture Placeholder 2">
            <a:extLst>
              <a:ext uri="{FF2B5EF4-FFF2-40B4-BE49-F238E27FC236}">
                <a16:creationId xmlns:a16="http://schemas.microsoft.com/office/drawing/2014/main" id="{FFD09849-EFAD-FE8D-C2AE-CDCEF738A0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G"/>
          </a:p>
        </p:txBody>
      </p:sp>
      <p:sp>
        <p:nvSpPr>
          <p:cNvPr id="4" name="Text Placeholder 3">
            <a:extLst>
              <a:ext uri="{FF2B5EF4-FFF2-40B4-BE49-F238E27FC236}">
                <a16:creationId xmlns:a16="http://schemas.microsoft.com/office/drawing/2014/main" id="{8D81B23F-8E6B-E30A-345B-1681236F3A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AD0847-8F1A-D78E-D82D-81A9E7585C6C}"/>
              </a:ext>
            </a:extLst>
          </p:cNvPr>
          <p:cNvSpPr>
            <a:spLocks noGrp="1"/>
          </p:cNvSpPr>
          <p:nvPr>
            <p:ph type="dt" sz="half" idx="10"/>
          </p:nvPr>
        </p:nvSpPr>
        <p:spPr/>
        <p:txBody>
          <a:bodyPr/>
          <a:lstStyle/>
          <a:p>
            <a:fld id="{038245F0-BD70-4000-9ECB-48A11AA583B1}" type="datetime8">
              <a:rPr lang="en-NG" smtClean="0"/>
              <a:t>12/07/2025 04:22</a:t>
            </a:fld>
            <a:endParaRPr lang="en-NG"/>
          </a:p>
        </p:txBody>
      </p:sp>
      <p:sp>
        <p:nvSpPr>
          <p:cNvPr id="6" name="Footer Placeholder 5">
            <a:extLst>
              <a:ext uri="{FF2B5EF4-FFF2-40B4-BE49-F238E27FC236}">
                <a16:creationId xmlns:a16="http://schemas.microsoft.com/office/drawing/2014/main" id="{30D31557-D779-6851-01DA-9832E2A49926}"/>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A7C40761-38C1-E94B-012E-C53BCD1EC036}"/>
              </a:ext>
            </a:extLst>
          </p:cNvPr>
          <p:cNvSpPr>
            <a:spLocks noGrp="1"/>
          </p:cNvSpPr>
          <p:nvPr>
            <p:ph type="sldNum" sz="quarter" idx="12"/>
          </p:nvPr>
        </p:nvSpPr>
        <p:spPr/>
        <p:txBody>
          <a:bodyPr/>
          <a:lstStyle/>
          <a:p>
            <a:fld id="{E30FEA02-71A2-4209-B909-B13DA9CFC23D}" type="slidenum">
              <a:rPr lang="en-NG" smtClean="0"/>
              <a:t>‹#›</a:t>
            </a:fld>
            <a:endParaRPr lang="en-NG"/>
          </a:p>
        </p:txBody>
      </p:sp>
    </p:spTree>
    <p:extLst>
      <p:ext uri="{BB962C8B-B14F-4D97-AF65-F5344CB8AC3E}">
        <p14:creationId xmlns:p14="http://schemas.microsoft.com/office/powerpoint/2010/main" val="4267210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89D06-60D2-812B-0011-CC6EFF81289B}"/>
              </a:ext>
            </a:extLst>
          </p:cNvPr>
          <p:cNvSpPr>
            <a:spLocks noGrp="1"/>
          </p:cNvSpPr>
          <p:nvPr>
            <p:ph type="title"/>
          </p:nvPr>
        </p:nvSpPr>
        <p:spPr/>
        <p:txBody>
          <a:bodyPr/>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8F2F5829-0F75-FDB9-C7FA-77969F51AA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BC6B35AB-6F40-E034-18A9-5DFCCC907D51}"/>
              </a:ext>
            </a:extLst>
          </p:cNvPr>
          <p:cNvSpPr>
            <a:spLocks noGrp="1"/>
          </p:cNvSpPr>
          <p:nvPr>
            <p:ph type="dt" sz="half" idx="10"/>
          </p:nvPr>
        </p:nvSpPr>
        <p:spPr/>
        <p:txBody>
          <a:bodyPr/>
          <a:lstStyle/>
          <a:p>
            <a:fld id="{11B15F85-D4B1-4B30-BACE-8D0D45C9FA48}" type="datetime8">
              <a:rPr lang="en-NG" smtClean="0"/>
              <a:t>12/07/2025 04:22</a:t>
            </a:fld>
            <a:endParaRPr lang="en-NG"/>
          </a:p>
        </p:txBody>
      </p:sp>
      <p:sp>
        <p:nvSpPr>
          <p:cNvPr id="5" name="Footer Placeholder 4">
            <a:extLst>
              <a:ext uri="{FF2B5EF4-FFF2-40B4-BE49-F238E27FC236}">
                <a16:creationId xmlns:a16="http://schemas.microsoft.com/office/drawing/2014/main" id="{6B51D0F1-FB08-BA04-375C-B1E3788C287F}"/>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CE561C31-1948-F0B3-C450-D6DA71072EFE}"/>
              </a:ext>
            </a:extLst>
          </p:cNvPr>
          <p:cNvSpPr>
            <a:spLocks noGrp="1"/>
          </p:cNvSpPr>
          <p:nvPr>
            <p:ph type="sldNum" sz="quarter" idx="12"/>
          </p:nvPr>
        </p:nvSpPr>
        <p:spPr/>
        <p:txBody>
          <a:bodyPr/>
          <a:lstStyle/>
          <a:p>
            <a:fld id="{E30FEA02-71A2-4209-B909-B13DA9CFC23D}" type="slidenum">
              <a:rPr lang="en-NG" smtClean="0"/>
              <a:t>‹#›</a:t>
            </a:fld>
            <a:endParaRPr lang="en-NG"/>
          </a:p>
        </p:txBody>
      </p:sp>
    </p:spTree>
    <p:extLst>
      <p:ext uri="{BB962C8B-B14F-4D97-AF65-F5344CB8AC3E}">
        <p14:creationId xmlns:p14="http://schemas.microsoft.com/office/powerpoint/2010/main" val="614660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F7EFC9-4FA1-9053-8034-205A47E097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A658E0C3-1F18-E81F-131B-331BD00A0C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9C283BF2-EBE5-5430-EFBF-409792994570}"/>
              </a:ext>
            </a:extLst>
          </p:cNvPr>
          <p:cNvSpPr>
            <a:spLocks noGrp="1"/>
          </p:cNvSpPr>
          <p:nvPr>
            <p:ph type="dt" sz="half" idx="10"/>
          </p:nvPr>
        </p:nvSpPr>
        <p:spPr/>
        <p:txBody>
          <a:bodyPr/>
          <a:lstStyle/>
          <a:p>
            <a:fld id="{BD820CDA-BDA8-4336-BE27-607BD0F407C9}" type="datetime8">
              <a:rPr lang="en-NG" smtClean="0"/>
              <a:t>12/07/2025 04:22</a:t>
            </a:fld>
            <a:endParaRPr lang="en-NG"/>
          </a:p>
        </p:txBody>
      </p:sp>
      <p:sp>
        <p:nvSpPr>
          <p:cNvPr id="5" name="Footer Placeholder 4">
            <a:extLst>
              <a:ext uri="{FF2B5EF4-FFF2-40B4-BE49-F238E27FC236}">
                <a16:creationId xmlns:a16="http://schemas.microsoft.com/office/drawing/2014/main" id="{87F9D12B-4FCA-5B79-66CF-E4530703EAF7}"/>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791B85D7-2383-F712-BB50-E6D902B114FF}"/>
              </a:ext>
            </a:extLst>
          </p:cNvPr>
          <p:cNvSpPr>
            <a:spLocks noGrp="1"/>
          </p:cNvSpPr>
          <p:nvPr>
            <p:ph type="sldNum" sz="quarter" idx="12"/>
          </p:nvPr>
        </p:nvSpPr>
        <p:spPr/>
        <p:txBody>
          <a:bodyPr/>
          <a:lstStyle/>
          <a:p>
            <a:fld id="{E30FEA02-71A2-4209-B909-B13DA9CFC23D}" type="slidenum">
              <a:rPr lang="en-NG" smtClean="0"/>
              <a:t>‹#›</a:t>
            </a:fld>
            <a:endParaRPr lang="en-NG"/>
          </a:p>
        </p:txBody>
      </p:sp>
    </p:spTree>
    <p:extLst>
      <p:ext uri="{BB962C8B-B14F-4D97-AF65-F5344CB8AC3E}">
        <p14:creationId xmlns:p14="http://schemas.microsoft.com/office/powerpoint/2010/main" val="3616326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7152C4-8FFC-CC80-C419-F24DCE727C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G"/>
          </a:p>
        </p:txBody>
      </p:sp>
      <p:sp>
        <p:nvSpPr>
          <p:cNvPr id="3" name="Text Placeholder 2">
            <a:extLst>
              <a:ext uri="{FF2B5EF4-FFF2-40B4-BE49-F238E27FC236}">
                <a16:creationId xmlns:a16="http://schemas.microsoft.com/office/drawing/2014/main" id="{37AD6311-45F5-3D32-969A-84A90D10AD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33E8FBE1-7D66-F6BB-EE55-F4E008A008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624F16-CFDE-4984-83BB-EB9A897F3012}" type="datetime8">
              <a:rPr lang="en-NG" smtClean="0"/>
              <a:t>12/07/2025 04:22</a:t>
            </a:fld>
            <a:endParaRPr lang="en-NG"/>
          </a:p>
        </p:txBody>
      </p:sp>
      <p:sp>
        <p:nvSpPr>
          <p:cNvPr id="5" name="Footer Placeholder 4">
            <a:extLst>
              <a:ext uri="{FF2B5EF4-FFF2-40B4-BE49-F238E27FC236}">
                <a16:creationId xmlns:a16="http://schemas.microsoft.com/office/drawing/2014/main" id="{A4BE3992-2D89-9D74-919D-841FC43730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G"/>
          </a:p>
        </p:txBody>
      </p:sp>
      <p:sp>
        <p:nvSpPr>
          <p:cNvPr id="6" name="Slide Number Placeholder 5">
            <a:extLst>
              <a:ext uri="{FF2B5EF4-FFF2-40B4-BE49-F238E27FC236}">
                <a16:creationId xmlns:a16="http://schemas.microsoft.com/office/drawing/2014/main" id="{F0BEB823-D270-3EB0-8A18-9C6C5C8138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0FEA02-71A2-4209-B909-B13DA9CFC23D}" type="slidenum">
              <a:rPr lang="en-NG" smtClean="0"/>
              <a:t>‹#›</a:t>
            </a:fld>
            <a:endParaRPr lang="en-NG"/>
          </a:p>
        </p:txBody>
      </p:sp>
    </p:spTree>
    <p:extLst>
      <p:ext uri="{BB962C8B-B14F-4D97-AF65-F5344CB8AC3E}">
        <p14:creationId xmlns:p14="http://schemas.microsoft.com/office/powerpoint/2010/main" val="25282589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012875" y="353646"/>
            <a:ext cx="10803985" cy="2133278"/>
          </a:xfrm>
        </p:spPr>
        <p:txBody>
          <a:bodyPr>
            <a:noAutofit/>
          </a:bodyPr>
          <a:lstStyle/>
          <a:p>
            <a:pPr algn="just">
              <a:lnSpc>
                <a:spcPct val="200000"/>
              </a:lnSpc>
              <a:spcAft>
                <a:spcPts val="1000"/>
              </a:spcAft>
            </a:pPr>
            <a:r>
              <a:rPr lang="en-GB" sz="2400" b="1" dirty="0">
                <a:effectLst/>
                <a:latin typeface="Arial Rounded MT Bold" panose="020F0704030504030204" pitchFamily="34" charset="0"/>
                <a:ea typeface="Calibri" panose="020F0502020204030204" pitchFamily="34" charset="0"/>
                <a:cs typeface="Times New Roman" panose="02020603050405020304" pitchFamily="18" charset="0"/>
              </a:rPr>
              <a:t>ASSESSMENT OF THE SURFACE WATER AND GROUNDWATER INTERACTION WITHIN THE OPA DRAINAGE BASIN, SOUTH-WESTERN NIGERIA</a:t>
            </a:r>
            <a:endParaRPr lang="en-NG" sz="2400" dirty="0">
              <a:effectLst/>
              <a:latin typeface="Arial Rounded MT Bold" panose="020F0704030504030204" pitchFamily="34" charset="0"/>
              <a:ea typeface="Calibri" panose="020F0502020204030204" pitchFamily="34" charset="0"/>
              <a:cs typeface="Times New Roman" panose="02020603050405020304" pitchFamily="18" charset="0"/>
            </a:endParaRPr>
          </a:p>
        </p:txBody>
      </p:sp>
      <p:sp>
        <p:nvSpPr>
          <p:cNvPr id="3" name="Subtitle 2">
            <a:extLst>
              <a:ext uri="{FF2B5EF4-FFF2-40B4-BE49-F238E27FC236}">
                <a16:creationId xmlns:a16="http://schemas.microsoft.com/office/drawing/2014/main" id="{0AC242FE-F4A4-5E2E-BE2C-48294B72D325}"/>
              </a:ext>
            </a:extLst>
          </p:cNvPr>
          <p:cNvSpPr>
            <a:spLocks noGrp="1"/>
          </p:cNvSpPr>
          <p:nvPr>
            <p:ph type="subTitle" idx="1"/>
          </p:nvPr>
        </p:nvSpPr>
        <p:spPr>
          <a:xfrm>
            <a:off x="1012875" y="2799473"/>
            <a:ext cx="10972798" cy="3868610"/>
          </a:xfrm>
        </p:spPr>
        <p:txBody>
          <a:bodyPr/>
          <a:lstStyle/>
          <a:p>
            <a:pPr>
              <a:lnSpc>
                <a:spcPct val="100000"/>
              </a:lnSpc>
            </a:pPr>
            <a:endParaRPr lang="en-GB" sz="2400" b="1" dirty="0">
              <a:effectLst/>
              <a:latin typeface="Arial Rounded MT Bold" panose="020F0704030504030204" pitchFamily="34" charset="0"/>
              <a:ea typeface="Calibri" panose="020F0502020204030204" pitchFamily="34" charset="0"/>
              <a:cs typeface="Times New Roman" panose="02020603050405020304" pitchFamily="18" charset="0"/>
            </a:endParaRPr>
          </a:p>
          <a:p>
            <a:pPr>
              <a:lnSpc>
                <a:spcPct val="100000"/>
              </a:lnSpc>
            </a:pPr>
            <a:r>
              <a:rPr lang="en-US" altLang="en-US" sz="2400" b="1" dirty="0">
                <a:latin typeface="Arial Rounded MT Bold" panose="020F0704030504030204" pitchFamily="34" charset="0"/>
                <a:cs typeface="Times New Roman" panose="02020603050405020304" pitchFamily="18" charset="0"/>
              </a:rPr>
              <a:t>By</a:t>
            </a:r>
          </a:p>
          <a:p>
            <a:pPr>
              <a:lnSpc>
                <a:spcPct val="100000"/>
              </a:lnSpc>
            </a:pPr>
            <a:endParaRPr lang="en-GB" sz="2400" b="1" dirty="0">
              <a:latin typeface="Arial Rounded MT Bold" panose="020F0704030504030204" pitchFamily="34" charset="0"/>
              <a:cs typeface="Times New Roman" panose="02020603050405020304" pitchFamily="18" charset="0"/>
            </a:endParaRPr>
          </a:p>
          <a:p>
            <a:pPr>
              <a:lnSpc>
                <a:spcPct val="100000"/>
              </a:lnSpc>
            </a:pPr>
            <a:r>
              <a:rPr lang="en-GB" sz="2400" b="1" dirty="0">
                <a:latin typeface="Arial Rounded MT Bold" panose="020F0704030504030204" pitchFamily="34" charset="0"/>
                <a:cs typeface="Times New Roman" panose="02020603050405020304" pitchFamily="18" charset="0"/>
              </a:rPr>
              <a:t>OKPURU Ogbonna Aguta</a:t>
            </a:r>
          </a:p>
          <a:p>
            <a:pPr>
              <a:lnSpc>
                <a:spcPct val="100000"/>
              </a:lnSpc>
            </a:pPr>
            <a:endParaRPr lang="en-GB" sz="2400" b="1" dirty="0">
              <a:latin typeface="Arial Rounded MT Bold" panose="020F0704030504030204" pitchFamily="34" charset="0"/>
              <a:cs typeface="Times New Roman" panose="02020603050405020304" pitchFamily="18" charset="0"/>
            </a:endParaRPr>
          </a:p>
          <a:p>
            <a:pPr>
              <a:lnSpc>
                <a:spcPct val="100000"/>
              </a:lnSpc>
            </a:pPr>
            <a:endParaRPr lang="en-US" altLang="en-US" sz="2400" b="1" dirty="0">
              <a:solidFill>
                <a:srgbClr val="FF0000"/>
              </a:solidFill>
              <a:latin typeface="Arial Rounded MT Bold" panose="020F0704030504030204" pitchFamily="34" charset="0"/>
              <a:cs typeface="Times New Roman" panose="02020603050405020304" pitchFamily="18" charset="0"/>
            </a:endParaRPr>
          </a:p>
          <a:p>
            <a:pPr>
              <a:lnSpc>
                <a:spcPct val="100000"/>
              </a:lnSpc>
            </a:pPr>
            <a:r>
              <a:rPr lang="en-US" altLang="en-US" b="1" dirty="0">
                <a:latin typeface="Arial Rounded MT Bold" panose="020F0704030504030204" pitchFamily="34" charset="0"/>
                <a:cs typeface="Times New Roman" panose="02020603050405020304" pitchFamily="18" charset="0"/>
                <a:sym typeface="Helvetica" pitchFamily="2" charset="0"/>
              </a:rPr>
              <a:t>July</a:t>
            </a:r>
            <a:r>
              <a:rPr lang="en-US" altLang="en-US" sz="2400" b="1" i="1" dirty="0">
                <a:latin typeface="Arial Rounded MT Bold" panose="020F0704030504030204" pitchFamily="34" charset="0"/>
                <a:cs typeface="Times New Roman" panose="02020603050405020304" pitchFamily="18" charset="0"/>
                <a:sym typeface="Helvetica" pitchFamily="2" charset="0"/>
              </a:rPr>
              <a:t>, </a:t>
            </a:r>
            <a:r>
              <a:rPr lang="en-US" altLang="en-US" sz="2400" b="1" dirty="0">
                <a:latin typeface="Arial Rounded MT Bold" panose="020F0704030504030204" pitchFamily="34" charset="0"/>
                <a:cs typeface="Times New Roman" panose="02020603050405020304" pitchFamily="18" charset="0"/>
                <a:sym typeface="Helvetica" pitchFamily="2" charset="0"/>
              </a:rPr>
              <a:t>2025</a:t>
            </a:r>
            <a:endParaRPr lang="en-US" altLang="en-US" sz="2400" b="1" dirty="0">
              <a:latin typeface="Arial Rounded MT Bold" panose="020F0704030504030204" pitchFamily="34" charset="0"/>
              <a:cs typeface="Times New Roman" panose="02020603050405020304" pitchFamily="18" charset="0"/>
            </a:endParaRPr>
          </a:p>
          <a:p>
            <a:endParaRPr lang="en-NG" dirty="0"/>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0" y="2486929"/>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3EEC49DC-365D-B9C6-F9D3-06C6970B8473}"/>
              </a:ext>
            </a:extLst>
          </p:cNvPr>
          <p:cNvSpPr>
            <a:spLocks noGrp="1"/>
          </p:cNvSpPr>
          <p:nvPr>
            <p:ph type="sldNum" sz="quarter" idx="12"/>
          </p:nvPr>
        </p:nvSpPr>
        <p:spPr/>
        <p:txBody>
          <a:bodyPr/>
          <a:lstStyle/>
          <a:p>
            <a:fld id="{E30FEA02-71A2-4209-B909-B13DA9CFC23D}" type="slidenum">
              <a:rPr lang="en-NG" smtClean="0"/>
              <a:t>1</a:t>
            </a:fld>
            <a:endParaRPr lang="en-NG"/>
          </a:p>
        </p:txBody>
      </p:sp>
    </p:spTree>
    <p:extLst>
      <p:ext uri="{BB962C8B-B14F-4D97-AF65-F5344CB8AC3E}">
        <p14:creationId xmlns:p14="http://schemas.microsoft.com/office/powerpoint/2010/main" val="1204288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228578" y="353646"/>
            <a:ext cx="9144000" cy="1137519"/>
          </a:xfrm>
        </p:spPr>
        <p:txBody>
          <a:bodyPr>
            <a:noAutofit/>
          </a:bodyPr>
          <a:lstStyle/>
          <a:p>
            <a:r>
              <a:rPr lang="en-US" sz="3200" b="1" dirty="0">
                <a:latin typeface="Arial Rounded MT Bold" panose="020F0704030504030204" pitchFamily="34" charset="0"/>
                <a:cs typeface="Times New Roman" panose="02020603050405020304" pitchFamily="18" charset="0"/>
              </a:rPr>
              <a:t>Outline</a:t>
            </a:r>
            <a:br>
              <a:rPr lang="en-GB" sz="3200" b="1" dirty="0">
                <a:solidFill>
                  <a:srgbClr val="00B0F0"/>
                </a:solidFill>
                <a:latin typeface="Times New Roman" panose="02020603050405020304" pitchFamily="18" charset="0"/>
                <a:cs typeface="Times New Roman" panose="02020603050405020304" pitchFamily="18" charset="0"/>
              </a:rPr>
            </a:br>
            <a:endParaRPr lang="en-NG" sz="3200" dirty="0">
              <a:solidFill>
                <a:srgbClr val="00B0F0"/>
              </a:solidFill>
            </a:endParaRPr>
          </a:p>
        </p:txBody>
      </p:sp>
      <p:sp>
        <p:nvSpPr>
          <p:cNvPr id="3" name="Subtitle 2">
            <a:extLst>
              <a:ext uri="{FF2B5EF4-FFF2-40B4-BE49-F238E27FC236}">
                <a16:creationId xmlns:a16="http://schemas.microsoft.com/office/drawing/2014/main" id="{0AC242FE-F4A4-5E2E-BE2C-48294B72D325}"/>
              </a:ext>
            </a:extLst>
          </p:cNvPr>
          <p:cNvSpPr>
            <a:spLocks noGrp="1"/>
          </p:cNvSpPr>
          <p:nvPr>
            <p:ph type="subTitle" idx="1"/>
          </p:nvPr>
        </p:nvSpPr>
        <p:spPr>
          <a:xfrm>
            <a:off x="1012875" y="1491175"/>
            <a:ext cx="10972798" cy="5176907"/>
          </a:xfrm>
        </p:spPr>
        <p:txBody>
          <a:bodyPr>
            <a:normAutofit fontScale="85000" lnSpcReduction="20000"/>
          </a:bodyPr>
          <a:lstStyle/>
          <a:p>
            <a:pPr marL="342900" indent="-342900" algn="l">
              <a:buFont typeface="Wingdings" panose="05000000000000000000" pitchFamily="2" charset="2"/>
              <a:buChar char="v"/>
            </a:pPr>
            <a:endParaRPr lang="en-US" sz="2400" b="1" dirty="0">
              <a:solidFill>
                <a:srgbClr val="0070C0"/>
              </a:solidFill>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pitchFamily="2" charset="2"/>
              <a:buChar char="v"/>
            </a:pPr>
            <a:r>
              <a:rPr lang="en-US" sz="2400" b="1" dirty="0">
                <a:latin typeface="Arial Rounded MT Bold" panose="020F0704030504030204" pitchFamily="34" charset="0"/>
                <a:cs typeface="Times New Roman" panose="02020603050405020304" pitchFamily="18" charset="0"/>
              </a:rPr>
              <a:t>Introduction</a:t>
            </a:r>
            <a:r>
              <a:rPr lang="en-GB" sz="2400" dirty="0">
                <a:effectLst/>
                <a:latin typeface="Arial Rounded MT Bold" panose="020F0704030504030204" pitchFamily="34" charset="0"/>
                <a:ea typeface="Calibri" panose="020F0502020204030204" pitchFamily="34" charset="0"/>
                <a:cs typeface="Times New Roman" panose="02020603050405020304" pitchFamily="18" charset="0"/>
              </a:rPr>
              <a:t>	</a:t>
            </a:r>
            <a:endParaRPr lang="en-US" sz="2400" dirty="0">
              <a:latin typeface="Arial Rounded MT Bold" panose="020F0704030504030204" pitchFamily="34" charset="0"/>
              <a:cs typeface="Times New Roman" panose="02020603050405020304" pitchFamily="18" charset="0"/>
            </a:endParaRPr>
          </a:p>
          <a:p>
            <a:pPr marL="342900" indent="-342900" algn="l">
              <a:lnSpc>
                <a:spcPct val="150000"/>
              </a:lnSpc>
              <a:buFont typeface="Wingdings" panose="05000000000000000000" pitchFamily="2" charset="2"/>
              <a:buChar char="v"/>
            </a:pPr>
            <a:r>
              <a:rPr lang="en-US" sz="2400" b="1" dirty="0">
                <a:latin typeface="Arial Rounded MT Bold" panose="020F0704030504030204" pitchFamily="34" charset="0"/>
                <a:cs typeface="Times New Roman" panose="02020603050405020304" pitchFamily="18" charset="0"/>
              </a:rPr>
              <a:t>Literature Review</a:t>
            </a:r>
          </a:p>
          <a:p>
            <a:pPr marL="342900" indent="-342900" algn="l">
              <a:lnSpc>
                <a:spcPct val="150000"/>
              </a:lnSpc>
              <a:buFont typeface="Wingdings" panose="05000000000000000000" pitchFamily="2" charset="2"/>
              <a:buChar char="v"/>
            </a:pPr>
            <a:r>
              <a:rPr lang="en-US" b="1" dirty="0">
                <a:latin typeface="Arial Rounded MT Bold" panose="020F0704030504030204" pitchFamily="34" charset="0"/>
                <a:cs typeface="Times New Roman" panose="02020603050405020304" pitchFamily="18" charset="0"/>
              </a:rPr>
              <a:t>Location and Geology of the Study Area</a:t>
            </a:r>
          </a:p>
          <a:p>
            <a:pPr marL="342900" indent="-342900" algn="l">
              <a:lnSpc>
                <a:spcPct val="150000"/>
              </a:lnSpc>
              <a:buFont typeface="Wingdings" panose="05000000000000000000" pitchFamily="2" charset="2"/>
              <a:buChar char="v"/>
            </a:pPr>
            <a:r>
              <a:rPr lang="en-US" sz="2400" b="1" dirty="0">
                <a:latin typeface="Arial Rounded MT Bold" panose="020F0704030504030204" pitchFamily="34" charset="0"/>
                <a:cs typeface="Times New Roman" panose="02020603050405020304" pitchFamily="18" charset="0"/>
              </a:rPr>
              <a:t>Research Statement</a:t>
            </a:r>
          </a:p>
          <a:p>
            <a:pPr marL="342900" indent="-342900" algn="l">
              <a:lnSpc>
                <a:spcPct val="150000"/>
              </a:lnSpc>
              <a:buFont typeface="Wingdings" panose="05000000000000000000" pitchFamily="2" charset="2"/>
              <a:buChar char="v"/>
            </a:pPr>
            <a:r>
              <a:rPr lang="en-US" b="1" dirty="0">
                <a:latin typeface="Arial Rounded MT Bold" panose="020F0704030504030204" pitchFamily="34" charset="0"/>
                <a:cs typeface="Times New Roman" panose="02020603050405020304" pitchFamily="18" charset="0"/>
              </a:rPr>
              <a:t>Aim and Objectives</a:t>
            </a:r>
          </a:p>
          <a:p>
            <a:pPr marL="342900" indent="-342900" algn="l">
              <a:lnSpc>
                <a:spcPct val="150000"/>
              </a:lnSpc>
              <a:buFont typeface="Wingdings" panose="05000000000000000000" pitchFamily="2" charset="2"/>
              <a:buChar char="v"/>
            </a:pPr>
            <a:r>
              <a:rPr lang="en-US" sz="2400" b="1" dirty="0">
                <a:latin typeface="Arial Rounded MT Bold" panose="020F0704030504030204" pitchFamily="34" charset="0"/>
                <a:cs typeface="Times New Roman" panose="02020603050405020304" pitchFamily="18" charset="0"/>
              </a:rPr>
              <a:t>Methodology</a:t>
            </a:r>
          </a:p>
          <a:p>
            <a:pPr marL="342900" indent="-342900" algn="l">
              <a:lnSpc>
                <a:spcPct val="150000"/>
              </a:lnSpc>
              <a:buFont typeface="Wingdings" panose="05000000000000000000" pitchFamily="2" charset="2"/>
              <a:buChar char="v"/>
            </a:pPr>
            <a:r>
              <a:rPr lang="en-US" sz="2400" b="1" dirty="0">
                <a:latin typeface="Arial Rounded MT Bold" panose="020F0704030504030204" pitchFamily="34" charset="0"/>
                <a:cs typeface="Times New Roman" panose="02020603050405020304" pitchFamily="18" charset="0"/>
              </a:rPr>
              <a:t>Results and Discussion</a:t>
            </a:r>
          </a:p>
          <a:p>
            <a:pPr marL="342900" indent="-342900" algn="l">
              <a:lnSpc>
                <a:spcPct val="150000"/>
              </a:lnSpc>
              <a:buFont typeface="Wingdings" panose="05000000000000000000" pitchFamily="2" charset="2"/>
              <a:buChar char="v"/>
            </a:pPr>
            <a:r>
              <a:rPr lang="en-US" sz="2400" b="1" dirty="0">
                <a:latin typeface="Arial Rounded MT Bold" panose="020F0704030504030204" pitchFamily="34" charset="0"/>
                <a:cs typeface="Times New Roman" panose="02020603050405020304" pitchFamily="18" charset="0"/>
              </a:rPr>
              <a:t>Conclusion</a:t>
            </a:r>
          </a:p>
          <a:p>
            <a:pPr marL="342900" indent="-342900" algn="l">
              <a:lnSpc>
                <a:spcPct val="150000"/>
              </a:lnSpc>
              <a:buFont typeface="Wingdings" panose="05000000000000000000" pitchFamily="2" charset="2"/>
              <a:buChar char="v"/>
            </a:pPr>
            <a:r>
              <a:rPr lang="en-US" sz="2400" b="1" dirty="0">
                <a:latin typeface="Arial Rounded MT Bold" panose="020F0704030504030204" pitchFamily="34" charset="0"/>
                <a:cs typeface="Times New Roman" panose="02020603050405020304" pitchFamily="18" charset="0"/>
              </a:rPr>
              <a:t>References</a:t>
            </a:r>
            <a:endParaRPr lang="en-GB" sz="2400" dirty="0">
              <a:latin typeface="Arial Rounded MT Bold" panose="020F0704030504030204" pitchFamily="34" charset="0"/>
              <a:cs typeface="Times New Roman" panose="02020603050405020304" pitchFamily="18" charset="0"/>
            </a:endParaRPr>
          </a:p>
          <a:p>
            <a:endParaRPr lang="en-NG" dirty="0"/>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0E134CD1-7478-7299-ADE6-19B9F48EF414}"/>
              </a:ext>
            </a:extLst>
          </p:cNvPr>
          <p:cNvSpPr>
            <a:spLocks noGrp="1"/>
          </p:cNvSpPr>
          <p:nvPr>
            <p:ph type="sldNum" sz="quarter" idx="12"/>
          </p:nvPr>
        </p:nvSpPr>
        <p:spPr/>
        <p:txBody>
          <a:bodyPr/>
          <a:lstStyle/>
          <a:p>
            <a:fld id="{E30FEA02-71A2-4209-B909-B13DA9CFC23D}" type="slidenum">
              <a:rPr lang="en-NG" smtClean="0"/>
              <a:t>2</a:t>
            </a:fld>
            <a:endParaRPr lang="en-NG"/>
          </a:p>
        </p:txBody>
      </p:sp>
    </p:spTree>
    <p:extLst>
      <p:ext uri="{BB962C8B-B14F-4D97-AF65-F5344CB8AC3E}">
        <p14:creationId xmlns:p14="http://schemas.microsoft.com/office/powerpoint/2010/main" val="3987610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228578" y="353647"/>
            <a:ext cx="9144000" cy="616172"/>
          </a:xfrm>
        </p:spPr>
        <p:txBody>
          <a:bodyPr>
            <a:noAutofit/>
          </a:bodyPr>
          <a:lstStyle/>
          <a:p>
            <a:r>
              <a:rPr lang="en-GB" sz="3200" b="1" dirty="0">
                <a:effectLst/>
                <a:latin typeface="Arial Rounded MT Bold" panose="020F0704030504030204" pitchFamily="34" charset="0"/>
                <a:ea typeface="Calibri" panose="020F0502020204030204" pitchFamily="34" charset="0"/>
              </a:rPr>
              <a:t>Introduction</a:t>
            </a: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0AC242FE-F4A4-5E2E-BE2C-48294B72D325}"/>
              </a:ext>
            </a:extLst>
          </p:cNvPr>
          <p:cNvSpPr>
            <a:spLocks noGrp="1"/>
          </p:cNvSpPr>
          <p:nvPr>
            <p:ph type="subTitle" idx="1"/>
          </p:nvPr>
        </p:nvSpPr>
        <p:spPr>
          <a:xfrm>
            <a:off x="846618" y="1190332"/>
            <a:ext cx="10529455" cy="4244462"/>
          </a:xfrm>
        </p:spPr>
        <p:txBody>
          <a:bodyPr>
            <a:normAutofit/>
          </a:bodyPr>
          <a:lstStyle/>
          <a:p>
            <a:pPr algn="just"/>
            <a:r>
              <a:rPr lang="en-US" sz="2800" b="1" dirty="0">
                <a:latin typeface="Arial Rounded MT Bold" panose="020F0704030504030204" pitchFamily="34" charset="0"/>
              </a:rPr>
              <a:t>Where is water found?</a:t>
            </a:r>
            <a:endParaRPr lang="en-NG" sz="2800" b="1" dirty="0">
              <a:latin typeface="Arial Rounded MT Bold" panose="020F0704030504030204" pitchFamily="34" charset="0"/>
            </a:endParaRPr>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5" name="Title 1">
            <a:extLst>
              <a:ext uri="{FF2B5EF4-FFF2-40B4-BE49-F238E27FC236}">
                <a16:creationId xmlns:a16="http://schemas.microsoft.com/office/drawing/2014/main" id="{BA5F63A8-534D-D7AB-71B2-57F8AA459AE4}"/>
              </a:ext>
            </a:extLst>
          </p:cNvPr>
          <p:cNvSpPr txBox="1">
            <a:spLocks/>
          </p:cNvSpPr>
          <p:nvPr/>
        </p:nvSpPr>
        <p:spPr>
          <a:xfrm>
            <a:off x="1380978" y="5807852"/>
            <a:ext cx="9144000" cy="61617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NG" sz="3200" dirty="0">
              <a:latin typeface="Arial Rounded MT Bold" panose="020F0704030504030204" pitchFamily="34" charset="0"/>
            </a:endParaRPr>
          </a:p>
        </p:txBody>
      </p:sp>
      <p:sp>
        <p:nvSpPr>
          <p:cNvPr id="12" name="Title 1">
            <a:extLst>
              <a:ext uri="{FF2B5EF4-FFF2-40B4-BE49-F238E27FC236}">
                <a16:creationId xmlns:a16="http://schemas.microsoft.com/office/drawing/2014/main" id="{43C33082-D128-72F2-8686-117813106F2D}"/>
              </a:ext>
            </a:extLst>
          </p:cNvPr>
          <p:cNvSpPr txBox="1">
            <a:spLocks/>
          </p:cNvSpPr>
          <p:nvPr/>
        </p:nvSpPr>
        <p:spPr>
          <a:xfrm>
            <a:off x="1539345" y="6258348"/>
            <a:ext cx="9144000" cy="61617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800" dirty="0">
                <a:effectLst/>
                <a:latin typeface="Times New Roman" panose="02020603050405020304" pitchFamily="18" charset="0"/>
                <a:ea typeface="Calibri" panose="020F0502020204030204" pitchFamily="34" charset="0"/>
                <a:cs typeface="Times New Roman" panose="02020603050405020304" pitchFamily="18" charset="0"/>
              </a:rPr>
              <a:t>Figure 1: Hydrologic Cycle (Source: </a:t>
            </a:r>
            <a:r>
              <a:rPr lang="en-GB" sz="1800" dirty="0">
                <a:solidFill>
                  <a:srgbClr val="171717"/>
                </a:solidFill>
                <a:effectLst/>
                <a:latin typeface="Times New Roman" panose="02020603050405020304" pitchFamily="18" charset="0"/>
                <a:ea typeface="Calibri" panose="020F0502020204030204" pitchFamily="34" charset="0"/>
                <a:cs typeface="Times New Roman" panose="02020603050405020304" pitchFamily="18" charset="0"/>
              </a:rPr>
              <a:t>USGS, 2019</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NG"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NG" sz="3200" dirty="0">
              <a:latin typeface="Arial Rounded MT Bold" panose="020F0704030504030204" pitchFamily="34" charset="0"/>
            </a:endParaRPr>
          </a:p>
        </p:txBody>
      </p:sp>
      <p:sp>
        <p:nvSpPr>
          <p:cNvPr id="6" name="Slide Number Placeholder 5">
            <a:extLst>
              <a:ext uri="{FF2B5EF4-FFF2-40B4-BE49-F238E27FC236}">
                <a16:creationId xmlns:a16="http://schemas.microsoft.com/office/drawing/2014/main" id="{4B2E3CFA-6BB1-2FF8-9159-1D24973B4C68}"/>
              </a:ext>
            </a:extLst>
          </p:cNvPr>
          <p:cNvSpPr>
            <a:spLocks noGrp="1"/>
          </p:cNvSpPr>
          <p:nvPr>
            <p:ph type="sldNum" sz="quarter" idx="12"/>
          </p:nvPr>
        </p:nvSpPr>
        <p:spPr/>
        <p:txBody>
          <a:bodyPr/>
          <a:lstStyle/>
          <a:p>
            <a:fld id="{E30FEA02-71A2-4209-B909-B13DA9CFC23D}" type="slidenum">
              <a:rPr lang="en-NG" smtClean="0"/>
              <a:t>3</a:t>
            </a:fld>
            <a:endParaRPr lang="en-NG"/>
          </a:p>
        </p:txBody>
      </p:sp>
      <p:pic>
        <p:nvPicPr>
          <p:cNvPr id="8" name="Picture 7" descr="A diagram of the water cycle provided by USGS">
            <a:extLst>
              <a:ext uri="{FF2B5EF4-FFF2-40B4-BE49-F238E27FC236}">
                <a16:creationId xmlns:a16="http://schemas.microsoft.com/office/drawing/2014/main" id="{D6A530B8-085B-C30F-9FC6-7897A47C890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01069" y="1716435"/>
            <a:ext cx="8503818" cy="4244462"/>
          </a:xfrm>
          <a:prstGeom prst="rect">
            <a:avLst/>
          </a:prstGeom>
          <a:noFill/>
          <a:ln>
            <a:noFill/>
          </a:ln>
        </p:spPr>
      </p:pic>
    </p:spTree>
    <p:extLst>
      <p:ext uri="{BB962C8B-B14F-4D97-AF65-F5344CB8AC3E}">
        <p14:creationId xmlns:p14="http://schemas.microsoft.com/office/powerpoint/2010/main" val="143445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228578" y="353647"/>
            <a:ext cx="9144000" cy="616172"/>
          </a:xfrm>
        </p:spPr>
        <p:txBody>
          <a:bodyPr>
            <a:noAutofit/>
          </a:bodyPr>
          <a:lstStyle/>
          <a:p>
            <a:r>
              <a:rPr lang="en-GB" sz="3200" b="1" dirty="0">
                <a:effectLst/>
                <a:latin typeface="Arial Rounded MT Bold" panose="020F0704030504030204" pitchFamily="34" charset="0"/>
                <a:ea typeface="Calibri" panose="020F0502020204030204" pitchFamily="34" charset="0"/>
              </a:rPr>
              <a:t>Introduction</a:t>
            </a:r>
            <a:r>
              <a:rPr lang="en-US" sz="3200" dirty="0">
                <a:latin typeface="Arial Rounded MT Bold" panose="020F0704030504030204" pitchFamily="34" charset="0"/>
                <a:cs typeface="Times New Roman" panose="02020603050405020304" pitchFamily="18" charset="0"/>
              </a:rPr>
              <a:t> cont’d</a:t>
            </a: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0AC242FE-F4A4-5E2E-BE2C-48294B72D325}"/>
              </a:ext>
            </a:extLst>
          </p:cNvPr>
          <p:cNvSpPr>
            <a:spLocks noGrp="1"/>
          </p:cNvSpPr>
          <p:nvPr>
            <p:ph type="subTitle" idx="1"/>
          </p:nvPr>
        </p:nvSpPr>
        <p:spPr>
          <a:xfrm>
            <a:off x="2969559" y="2429829"/>
            <a:ext cx="6252882" cy="3845576"/>
          </a:xfrm>
        </p:spPr>
        <p:txBody>
          <a:bodyPr>
            <a:normAutofit/>
          </a:bodyPr>
          <a:lstStyle/>
          <a:p>
            <a:pPr algn="just"/>
            <a:endParaRPr lang="en-GB" sz="1800" dirty="0">
              <a:latin typeface="Arial Rounded MT Bold" panose="020F0704030504030204" pitchFamily="34" charset="0"/>
              <a:ea typeface="Calibri" panose="020F0502020204030204" pitchFamily="34" charset="0"/>
            </a:endParaRPr>
          </a:p>
          <a:p>
            <a:pPr algn="just"/>
            <a:r>
              <a:rPr lang="en-GB" sz="1800" dirty="0">
                <a:effectLst/>
                <a:latin typeface="Arial Rounded MT Bold" panose="020F0704030504030204" pitchFamily="34" charset="0"/>
                <a:ea typeface="Calibri" panose="020F0502020204030204" pitchFamily="34" charset="0"/>
              </a:rPr>
              <a:t> </a:t>
            </a:r>
          </a:p>
          <a:p>
            <a:pPr algn="just"/>
            <a:endParaRPr lang="en-US" sz="1800" dirty="0"/>
          </a:p>
          <a:p>
            <a:pPr algn="just"/>
            <a:endParaRPr lang="en-NG" sz="1800" dirty="0"/>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5" name="Title 1">
            <a:extLst>
              <a:ext uri="{FF2B5EF4-FFF2-40B4-BE49-F238E27FC236}">
                <a16:creationId xmlns:a16="http://schemas.microsoft.com/office/drawing/2014/main" id="{BA5F63A8-534D-D7AB-71B2-57F8AA459AE4}"/>
              </a:ext>
            </a:extLst>
          </p:cNvPr>
          <p:cNvSpPr txBox="1">
            <a:spLocks/>
          </p:cNvSpPr>
          <p:nvPr/>
        </p:nvSpPr>
        <p:spPr>
          <a:xfrm>
            <a:off x="1380978" y="5807852"/>
            <a:ext cx="9144000" cy="61617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NG" sz="3200" dirty="0">
              <a:latin typeface="Arial Rounded MT Bold" panose="020F0704030504030204" pitchFamily="34" charset="0"/>
            </a:endParaRPr>
          </a:p>
        </p:txBody>
      </p:sp>
      <p:sp>
        <p:nvSpPr>
          <p:cNvPr id="4" name="Slide Number Placeholder 3">
            <a:extLst>
              <a:ext uri="{FF2B5EF4-FFF2-40B4-BE49-F238E27FC236}">
                <a16:creationId xmlns:a16="http://schemas.microsoft.com/office/drawing/2014/main" id="{5EF75A9D-3675-5732-56C6-018E27810A74}"/>
              </a:ext>
            </a:extLst>
          </p:cNvPr>
          <p:cNvSpPr>
            <a:spLocks noGrp="1"/>
          </p:cNvSpPr>
          <p:nvPr>
            <p:ph type="sldNum" sz="quarter" idx="12"/>
          </p:nvPr>
        </p:nvSpPr>
        <p:spPr/>
        <p:txBody>
          <a:bodyPr/>
          <a:lstStyle/>
          <a:p>
            <a:fld id="{E30FEA02-71A2-4209-B909-B13DA9CFC23D}" type="slidenum">
              <a:rPr lang="en-NG" smtClean="0"/>
              <a:t>4</a:t>
            </a:fld>
            <a:endParaRPr lang="en-NG"/>
          </a:p>
        </p:txBody>
      </p:sp>
      <p:pic>
        <p:nvPicPr>
          <p:cNvPr id="1028" name="Picture 4" descr="Water 13 02660 g001 550">
            <a:extLst>
              <a:ext uri="{FF2B5EF4-FFF2-40B4-BE49-F238E27FC236}">
                <a16:creationId xmlns:a16="http://schemas.microsoft.com/office/drawing/2014/main" id="{28B44B61-34E4-673A-5576-661A61A545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8300" y="1664483"/>
            <a:ext cx="7204556" cy="451458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236FBD8-CD21-D477-23E3-00FFA7F0AC2E}"/>
              </a:ext>
            </a:extLst>
          </p:cNvPr>
          <p:cNvSpPr txBox="1"/>
          <p:nvPr/>
        </p:nvSpPr>
        <p:spPr>
          <a:xfrm>
            <a:off x="1503830" y="6090739"/>
            <a:ext cx="9849970" cy="369332"/>
          </a:xfrm>
          <a:prstGeom prst="rect">
            <a:avLst/>
          </a:prstGeom>
          <a:noFill/>
        </p:spPr>
        <p:txBody>
          <a:bodyPr wrap="square">
            <a:spAutoFit/>
          </a:bodyPr>
          <a:lstStyle/>
          <a:p>
            <a:r>
              <a:rPr lang="en-US" b="0" i="0" dirty="0">
                <a:solidFill>
                  <a:srgbClr val="222222"/>
                </a:solidFill>
                <a:effectLst/>
                <a:latin typeface="Arial" panose="020B0604020202020204" pitchFamily="34" charset="0"/>
              </a:rPr>
              <a:t> Figure 2: Water </a:t>
            </a:r>
            <a:r>
              <a:rPr lang="en-US" dirty="0">
                <a:solidFill>
                  <a:srgbClr val="222222"/>
                </a:solidFill>
                <a:latin typeface="Arial" panose="020B0604020202020204" pitchFamily="34" charset="0"/>
              </a:rPr>
              <a:t>C</a:t>
            </a:r>
            <a:r>
              <a:rPr lang="en-US" b="0" i="0" dirty="0">
                <a:solidFill>
                  <a:srgbClr val="222222"/>
                </a:solidFill>
                <a:effectLst/>
                <a:latin typeface="Arial" panose="020B0604020202020204" pitchFamily="34" charset="0"/>
              </a:rPr>
              <a:t>ontamination due to </a:t>
            </a:r>
            <a:r>
              <a:rPr lang="en-US" dirty="0">
                <a:solidFill>
                  <a:srgbClr val="222222"/>
                </a:solidFill>
                <a:latin typeface="Arial" panose="020B0604020202020204" pitchFamily="34" charset="0"/>
              </a:rPr>
              <a:t>N</a:t>
            </a:r>
            <a:r>
              <a:rPr lang="en-US" b="0" i="0" dirty="0">
                <a:solidFill>
                  <a:srgbClr val="222222"/>
                </a:solidFill>
                <a:effectLst/>
                <a:latin typeface="Arial" panose="020B0604020202020204" pitchFamily="34" charset="0"/>
              </a:rPr>
              <a:t>atural and </a:t>
            </a:r>
            <a:r>
              <a:rPr lang="en-US" dirty="0">
                <a:solidFill>
                  <a:srgbClr val="222222"/>
                </a:solidFill>
                <a:latin typeface="Arial" panose="020B0604020202020204" pitchFamily="34" charset="0"/>
              </a:rPr>
              <a:t>A</a:t>
            </a:r>
            <a:r>
              <a:rPr lang="en-US" b="0" i="0" dirty="0">
                <a:solidFill>
                  <a:srgbClr val="222222"/>
                </a:solidFill>
                <a:effectLst/>
                <a:latin typeface="Arial" panose="020B0604020202020204" pitchFamily="34" charset="0"/>
              </a:rPr>
              <a:t>nthropogenic sources (</a:t>
            </a:r>
            <a:r>
              <a:rPr lang="en-US" sz="1800" b="0" i="0" dirty="0" err="1">
                <a:solidFill>
                  <a:srgbClr val="222222"/>
                </a:solidFill>
                <a:effectLst/>
                <a:latin typeface="helvetica neue"/>
              </a:rPr>
              <a:t>Akhta</a:t>
            </a:r>
            <a:r>
              <a:rPr lang="en-US" sz="1800" b="0" i="0" dirty="0">
                <a:solidFill>
                  <a:srgbClr val="222222"/>
                </a:solidFill>
                <a:effectLst/>
                <a:latin typeface="helvetica neue"/>
              </a:rPr>
              <a:t> </a:t>
            </a:r>
            <a:r>
              <a:rPr lang="en-US" sz="1800" b="0" i="1" dirty="0">
                <a:solidFill>
                  <a:srgbClr val="222222"/>
                </a:solidFill>
                <a:effectLst/>
                <a:latin typeface="helvetica neue"/>
              </a:rPr>
              <a:t>et al </a:t>
            </a:r>
            <a:r>
              <a:rPr lang="en-US" sz="1800" b="0" i="0" dirty="0">
                <a:solidFill>
                  <a:srgbClr val="222222"/>
                </a:solidFill>
                <a:effectLst/>
                <a:latin typeface="helvetica neue"/>
              </a:rPr>
              <a:t>2021</a:t>
            </a:r>
            <a:r>
              <a:rPr lang="en-US" b="0" i="0" dirty="0">
                <a:solidFill>
                  <a:srgbClr val="222222"/>
                </a:solidFill>
                <a:effectLst/>
                <a:latin typeface="Arial" panose="020B0604020202020204" pitchFamily="34" charset="0"/>
              </a:rPr>
              <a:t>)</a:t>
            </a:r>
            <a:endParaRPr lang="en-NG" dirty="0"/>
          </a:p>
        </p:txBody>
      </p:sp>
      <p:sp>
        <p:nvSpPr>
          <p:cNvPr id="6" name="TextBox 5">
            <a:extLst>
              <a:ext uri="{FF2B5EF4-FFF2-40B4-BE49-F238E27FC236}">
                <a16:creationId xmlns:a16="http://schemas.microsoft.com/office/drawing/2014/main" id="{296C235A-7784-0E9C-1988-405434C1002E}"/>
              </a:ext>
            </a:extLst>
          </p:cNvPr>
          <p:cNvSpPr txBox="1"/>
          <p:nvPr/>
        </p:nvSpPr>
        <p:spPr>
          <a:xfrm>
            <a:off x="953038" y="1211945"/>
            <a:ext cx="10687632" cy="523220"/>
          </a:xfrm>
          <a:prstGeom prst="rect">
            <a:avLst/>
          </a:prstGeom>
          <a:noFill/>
        </p:spPr>
        <p:txBody>
          <a:bodyPr wrap="square">
            <a:spAutoFit/>
          </a:bodyPr>
          <a:lstStyle/>
          <a:p>
            <a:r>
              <a:rPr lang="en-US" b="0" i="0" dirty="0">
                <a:solidFill>
                  <a:srgbClr val="222222"/>
                </a:solidFill>
                <a:effectLst/>
                <a:latin typeface="Arial" panose="020B0604020202020204" pitchFamily="34" charset="0"/>
              </a:rPr>
              <a:t> </a:t>
            </a:r>
            <a:r>
              <a:rPr lang="en-US" sz="2800" b="0" i="0" dirty="0">
                <a:solidFill>
                  <a:srgbClr val="222222"/>
                </a:solidFill>
                <a:effectLst/>
                <a:latin typeface="Arial Rounded MT Bold" panose="020F0704030504030204" pitchFamily="34" charset="0"/>
              </a:rPr>
              <a:t>S</a:t>
            </a:r>
            <a:r>
              <a:rPr lang="en-US" sz="2800" dirty="0">
                <a:solidFill>
                  <a:srgbClr val="222222"/>
                </a:solidFill>
                <a:latin typeface="Arial Rounded MT Bold" panose="020F0704030504030204" pitchFamily="34" charset="0"/>
              </a:rPr>
              <a:t>ources of </a:t>
            </a:r>
            <a:r>
              <a:rPr lang="en-US" sz="2800" b="0" i="0" dirty="0">
                <a:solidFill>
                  <a:srgbClr val="222222"/>
                </a:solidFill>
                <a:effectLst/>
                <a:latin typeface="Arial Rounded MT Bold" panose="020F0704030504030204" pitchFamily="34" charset="0"/>
              </a:rPr>
              <a:t>water contamination</a:t>
            </a:r>
            <a:endParaRPr lang="en-NG" sz="2800" dirty="0">
              <a:latin typeface="Arial Rounded MT Bold" panose="020F0704030504030204" pitchFamily="34" charset="0"/>
            </a:endParaRPr>
          </a:p>
        </p:txBody>
      </p:sp>
    </p:spTree>
    <p:extLst>
      <p:ext uri="{BB962C8B-B14F-4D97-AF65-F5344CB8AC3E}">
        <p14:creationId xmlns:p14="http://schemas.microsoft.com/office/powerpoint/2010/main" val="3182689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681BE-7C79-425A-5A11-1F3053FA9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0253C7-DCF4-5AF2-D161-CF7671271FFD}"/>
              </a:ext>
            </a:extLst>
          </p:cNvPr>
          <p:cNvSpPr>
            <a:spLocks noGrp="1"/>
          </p:cNvSpPr>
          <p:nvPr>
            <p:ph type="ctrTitle"/>
          </p:nvPr>
        </p:nvSpPr>
        <p:spPr>
          <a:xfrm>
            <a:off x="1228578" y="353647"/>
            <a:ext cx="9144000" cy="616172"/>
          </a:xfrm>
        </p:spPr>
        <p:txBody>
          <a:bodyPr>
            <a:noAutofit/>
          </a:bodyPr>
          <a:lstStyle/>
          <a:p>
            <a:r>
              <a:rPr lang="en-GB" sz="3200" b="1" dirty="0">
                <a:effectLst/>
                <a:latin typeface="Arial Rounded MT Bold" panose="020F0704030504030204" pitchFamily="34" charset="0"/>
                <a:ea typeface="Calibri" panose="020F0502020204030204" pitchFamily="34" charset="0"/>
              </a:rPr>
              <a:t>Introduction</a:t>
            </a:r>
            <a:r>
              <a:rPr lang="en-US" sz="3200" dirty="0">
                <a:latin typeface="Arial Rounded MT Bold" panose="020F0704030504030204" pitchFamily="34" charset="0"/>
                <a:cs typeface="Times New Roman" panose="02020603050405020304" pitchFamily="18" charset="0"/>
              </a:rPr>
              <a:t> cont’d</a:t>
            </a: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CE320A6C-A15D-EA7C-5A8B-4886EE0C9B24}"/>
              </a:ext>
            </a:extLst>
          </p:cNvPr>
          <p:cNvSpPr>
            <a:spLocks noGrp="1"/>
          </p:cNvSpPr>
          <p:nvPr>
            <p:ph type="subTitle" idx="1"/>
          </p:nvPr>
        </p:nvSpPr>
        <p:spPr>
          <a:xfrm>
            <a:off x="1631855" y="1992665"/>
            <a:ext cx="8512267" cy="3742972"/>
          </a:xfrm>
        </p:spPr>
        <p:txBody>
          <a:bodyPr>
            <a:normAutofit/>
          </a:bodyPr>
          <a:lstStyle/>
          <a:p>
            <a:pPr algn="just"/>
            <a:endParaRPr lang="en-GB" sz="1800" dirty="0">
              <a:latin typeface="Arial Rounded MT Bold" panose="020F0704030504030204" pitchFamily="34" charset="0"/>
              <a:ea typeface="Calibri" panose="020F0502020204030204" pitchFamily="34" charset="0"/>
            </a:endParaRPr>
          </a:p>
          <a:p>
            <a:pPr algn="just"/>
            <a:r>
              <a:rPr lang="en-GB" sz="1800" dirty="0">
                <a:effectLst/>
                <a:latin typeface="Arial Rounded MT Bold" panose="020F0704030504030204" pitchFamily="34" charset="0"/>
                <a:ea typeface="Calibri" panose="020F0502020204030204" pitchFamily="34" charset="0"/>
              </a:rPr>
              <a:t> </a:t>
            </a:r>
          </a:p>
          <a:p>
            <a:pPr algn="just"/>
            <a:endParaRPr lang="en-US" sz="1800" dirty="0"/>
          </a:p>
          <a:p>
            <a:pPr algn="just"/>
            <a:endParaRPr lang="en-NG" sz="1800" dirty="0"/>
          </a:p>
        </p:txBody>
      </p:sp>
      <p:cxnSp>
        <p:nvCxnSpPr>
          <p:cNvPr id="7" name="Straight Connector 6">
            <a:extLst>
              <a:ext uri="{FF2B5EF4-FFF2-40B4-BE49-F238E27FC236}">
                <a16:creationId xmlns:a16="http://schemas.microsoft.com/office/drawing/2014/main" id="{15A85BB1-AE13-D20A-2AEE-72FB4C380EB7}"/>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8716AEB5-9A69-24F0-5428-CA31EF3BE879}"/>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5" name="Title 1">
            <a:extLst>
              <a:ext uri="{FF2B5EF4-FFF2-40B4-BE49-F238E27FC236}">
                <a16:creationId xmlns:a16="http://schemas.microsoft.com/office/drawing/2014/main" id="{AF37B276-141F-1660-0F6B-0050C8630175}"/>
              </a:ext>
            </a:extLst>
          </p:cNvPr>
          <p:cNvSpPr txBox="1">
            <a:spLocks/>
          </p:cNvSpPr>
          <p:nvPr/>
        </p:nvSpPr>
        <p:spPr>
          <a:xfrm>
            <a:off x="1380978" y="5807852"/>
            <a:ext cx="9144000" cy="61617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NG" sz="3200" dirty="0">
              <a:latin typeface="Arial Rounded MT Bold" panose="020F0704030504030204" pitchFamily="34" charset="0"/>
            </a:endParaRPr>
          </a:p>
        </p:txBody>
      </p:sp>
      <p:sp>
        <p:nvSpPr>
          <p:cNvPr id="4" name="Slide Number Placeholder 3">
            <a:extLst>
              <a:ext uri="{FF2B5EF4-FFF2-40B4-BE49-F238E27FC236}">
                <a16:creationId xmlns:a16="http://schemas.microsoft.com/office/drawing/2014/main" id="{92E459E4-A730-F719-97EB-73F9FBFD78D1}"/>
              </a:ext>
            </a:extLst>
          </p:cNvPr>
          <p:cNvSpPr>
            <a:spLocks noGrp="1"/>
          </p:cNvSpPr>
          <p:nvPr>
            <p:ph type="sldNum" sz="quarter" idx="12"/>
          </p:nvPr>
        </p:nvSpPr>
        <p:spPr/>
        <p:txBody>
          <a:bodyPr/>
          <a:lstStyle/>
          <a:p>
            <a:fld id="{E30FEA02-71A2-4209-B909-B13DA9CFC23D}" type="slidenum">
              <a:rPr lang="en-NG" smtClean="0"/>
              <a:t>5</a:t>
            </a:fld>
            <a:endParaRPr lang="en-NG"/>
          </a:p>
        </p:txBody>
      </p:sp>
      <p:sp>
        <p:nvSpPr>
          <p:cNvPr id="8" name="TextBox 7">
            <a:extLst>
              <a:ext uri="{FF2B5EF4-FFF2-40B4-BE49-F238E27FC236}">
                <a16:creationId xmlns:a16="http://schemas.microsoft.com/office/drawing/2014/main" id="{8B1256F2-AAB9-B3E6-252C-2CDE497E9B7D}"/>
              </a:ext>
            </a:extLst>
          </p:cNvPr>
          <p:cNvSpPr txBox="1"/>
          <p:nvPr/>
        </p:nvSpPr>
        <p:spPr>
          <a:xfrm>
            <a:off x="1503830" y="6090739"/>
            <a:ext cx="9849970" cy="369332"/>
          </a:xfrm>
          <a:prstGeom prst="rect">
            <a:avLst/>
          </a:prstGeom>
          <a:noFill/>
        </p:spPr>
        <p:txBody>
          <a:bodyPr wrap="square">
            <a:spAutoFit/>
          </a:bodyPr>
          <a:lstStyle/>
          <a:p>
            <a:r>
              <a:rPr lang="en-US" b="0" i="0" dirty="0">
                <a:solidFill>
                  <a:srgbClr val="222222"/>
                </a:solidFill>
                <a:effectLst/>
                <a:latin typeface="Arial" panose="020B0604020202020204" pitchFamily="34" charset="0"/>
              </a:rPr>
              <a:t> Figure 3: </a:t>
            </a:r>
            <a:r>
              <a:rPr lang="en-US" b="0" i="0" dirty="0">
                <a:solidFill>
                  <a:srgbClr val="111111"/>
                </a:solidFill>
                <a:effectLst/>
                <a:latin typeface="Roboto" panose="02000000000000000000" pitchFamily="2" charset="0"/>
              </a:rPr>
              <a:t>Impacts of Heavy Metals Toxicity on Human Health </a:t>
            </a:r>
            <a:r>
              <a:rPr lang="en-US" b="0" i="0" dirty="0">
                <a:solidFill>
                  <a:srgbClr val="222222"/>
                </a:solidFill>
                <a:effectLst/>
                <a:latin typeface="Arial" panose="020B0604020202020204" pitchFamily="34" charset="0"/>
              </a:rPr>
              <a:t>(</a:t>
            </a:r>
            <a:r>
              <a:rPr lang="en-US" sz="1800" b="0" i="0" dirty="0">
                <a:solidFill>
                  <a:srgbClr val="222222"/>
                </a:solidFill>
                <a:effectLst/>
                <a:latin typeface="helvetica neue"/>
              </a:rPr>
              <a:t>Hama </a:t>
            </a:r>
            <a:r>
              <a:rPr lang="en-US" sz="1800" b="0" i="1" dirty="0">
                <a:solidFill>
                  <a:srgbClr val="222222"/>
                </a:solidFill>
                <a:effectLst/>
                <a:latin typeface="helvetica neue"/>
              </a:rPr>
              <a:t>et al </a:t>
            </a:r>
            <a:r>
              <a:rPr lang="en-US" sz="1800" b="0" i="0" dirty="0">
                <a:solidFill>
                  <a:srgbClr val="222222"/>
                </a:solidFill>
                <a:effectLst/>
                <a:latin typeface="helvetica neue"/>
              </a:rPr>
              <a:t>2023</a:t>
            </a:r>
            <a:r>
              <a:rPr lang="en-US" b="0" i="0" dirty="0">
                <a:solidFill>
                  <a:srgbClr val="222222"/>
                </a:solidFill>
                <a:effectLst/>
                <a:latin typeface="Arial" panose="020B0604020202020204" pitchFamily="34" charset="0"/>
              </a:rPr>
              <a:t>)</a:t>
            </a:r>
            <a:endParaRPr lang="en-NG" dirty="0"/>
          </a:p>
        </p:txBody>
      </p:sp>
      <p:pic>
        <p:nvPicPr>
          <p:cNvPr id="2050" name="Picture 2" descr="Impacts of heavy metals toxicity on human health">
            <a:extLst>
              <a:ext uri="{FF2B5EF4-FFF2-40B4-BE49-F238E27FC236}">
                <a16:creationId xmlns:a16="http://schemas.microsoft.com/office/drawing/2014/main" id="{D0E021AE-4A21-197C-7D9A-282032F55C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72" y="1558344"/>
            <a:ext cx="8096250" cy="424950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036EF7B-04F6-487E-4E27-12A0D9E2629F}"/>
              </a:ext>
            </a:extLst>
          </p:cNvPr>
          <p:cNvSpPr txBox="1"/>
          <p:nvPr/>
        </p:nvSpPr>
        <p:spPr>
          <a:xfrm>
            <a:off x="1102662" y="1161668"/>
            <a:ext cx="10484221" cy="523220"/>
          </a:xfrm>
          <a:prstGeom prst="rect">
            <a:avLst/>
          </a:prstGeom>
          <a:noFill/>
        </p:spPr>
        <p:txBody>
          <a:bodyPr wrap="square">
            <a:spAutoFit/>
          </a:bodyPr>
          <a:lstStyle/>
          <a:p>
            <a:r>
              <a:rPr lang="en-US" sz="2800" dirty="0">
                <a:solidFill>
                  <a:srgbClr val="222222"/>
                </a:solidFill>
                <a:latin typeface="Arial Rounded MT Bold" panose="020F0704030504030204" pitchFamily="34" charset="0"/>
              </a:rPr>
              <a:t>Effect of</a:t>
            </a:r>
            <a:r>
              <a:rPr lang="en-US" sz="2800" b="0" i="0" dirty="0">
                <a:solidFill>
                  <a:srgbClr val="222222"/>
                </a:solidFill>
                <a:effectLst/>
                <a:latin typeface="Arial Rounded MT Bold" panose="020F0704030504030204" pitchFamily="34" charset="0"/>
              </a:rPr>
              <a:t> heavy metals in water on human health</a:t>
            </a:r>
            <a:endParaRPr lang="en-NG" sz="2800" dirty="0">
              <a:latin typeface="Arial Rounded MT Bold" panose="020F0704030504030204" pitchFamily="34" charset="0"/>
            </a:endParaRPr>
          </a:p>
        </p:txBody>
      </p:sp>
    </p:spTree>
    <p:extLst>
      <p:ext uri="{BB962C8B-B14F-4D97-AF65-F5344CB8AC3E}">
        <p14:creationId xmlns:p14="http://schemas.microsoft.com/office/powerpoint/2010/main" val="2524133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228578" y="353647"/>
            <a:ext cx="9144000" cy="616172"/>
          </a:xfrm>
        </p:spPr>
        <p:txBody>
          <a:bodyPr>
            <a:noAutofit/>
          </a:bodyPr>
          <a:lstStyle/>
          <a:p>
            <a:r>
              <a:rPr lang="en-GB" sz="3200" b="1" dirty="0">
                <a:latin typeface="Arial Rounded MT Bold" panose="020F0704030504030204" pitchFamily="34" charset="0"/>
                <a:ea typeface="Calibri" panose="020F0502020204030204" pitchFamily="34" charset="0"/>
              </a:rPr>
              <a:t>Introduction</a:t>
            </a:r>
            <a:r>
              <a:rPr lang="en-US" sz="3200" dirty="0">
                <a:latin typeface="Arial Rounded MT Bold" panose="020F0704030504030204" pitchFamily="34" charset="0"/>
                <a:cs typeface="Times New Roman" panose="02020603050405020304" pitchFamily="18" charset="0"/>
              </a:rPr>
              <a:t> cont’d</a:t>
            </a: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0AC242FE-F4A4-5E2E-BE2C-48294B72D325}"/>
              </a:ext>
            </a:extLst>
          </p:cNvPr>
          <p:cNvSpPr>
            <a:spLocks noGrp="1"/>
          </p:cNvSpPr>
          <p:nvPr>
            <p:ph type="subTitle" idx="1"/>
          </p:nvPr>
        </p:nvSpPr>
        <p:spPr>
          <a:xfrm>
            <a:off x="669497" y="1266900"/>
            <a:ext cx="10853006" cy="4219500"/>
          </a:xfrm>
          <a:solidFill>
            <a:schemeClr val="bg1"/>
          </a:solidFill>
        </p:spPr>
        <p:txBody>
          <a:bodyPr>
            <a:normAutofit/>
          </a:bodyPr>
          <a:lstStyle/>
          <a:p>
            <a:pPr algn="just"/>
            <a:r>
              <a:rPr lang="en-US" b="0" i="0" dirty="0">
                <a:solidFill>
                  <a:schemeClr val="bg1"/>
                </a:solidFill>
                <a:effectLst/>
                <a:latin typeface="-apple-system"/>
              </a:rPr>
              <a:t>q</a:t>
            </a:r>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40E3BF8E-7F21-FD48-6E4E-EB317B712287}"/>
              </a:ext>
            </a:extLst>
          </p:cNvPr>
          <p:cNvSpPr>
            <a:spLocks noGrp="1"/>
          </p:cNvSpPr>
          <p:nvPr>
            <p:ph type="sldNum" sz="quarter" idx="12"/>
          </p:nvPr>
        </p:nvSpPr>
        <p:spPr/>
        <p:txBody>
          <a:bodyPr/>
          <a:lstStyle/>
          <a:p>
            <a:fld id="{E30FEA02-71A2-4209-B909-B13DA9CFC23D}" type="slidenum">
              <a:rPr lang="en-NG" smtClean="0"/>
              <a:t>6</a:t>
            </a:fld>
            <a:endParaRPr lang="en-NG" dirty="0"/>
          </a:p>
        </p:txBody>
      </p:sp>
      <p:sp>
        <p:nvSpPr>
          <p:cNvPr id="20" name="Title 1">
            <a:extLst>
              <a:ext uri="{FF2B5EF4-FFF2-40B4-BE49-F238E27FC236}">
                <a16:creationId xmlns:a16="http://schemas.microsoft.com/office/drawing/2014/main" id="{673D1678-25EC-7B47-F1CE-1249426A9C5C}"/>
              </a:ext>
            </a:extLst>
          </p:cNvPr>
          <p:cNvSpPr txBox="1">
            <a:spLocks/>
          </p:cNvSpPr>
          <p:nvPr/>
        </p:nvSpPr>
        <p:spPr>
          <a:xfrm>
            <a:off x="1117430" y="1082380"/>
            <a:ext cx="2836985" cy="61617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a:latin typeface="Arial Rounded MT Bold" panose="020F0704030504030204" pitchFamily="34" charset="0"/>
                <a:cs typeface="Times New Roman" panose="02020603050405020304" pitchFamily="18" charset="0"/>
              </a:rPr>
              <a:t>SDG 6 and targets</a:t>
            </a:r>
            <a:endParaRPr lang="en-NG" sz="32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427D3492-A50C-A066-6E7B-F9E9BD035522}"/>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1228578" y="1811113"/>
            <a:ext cx="10236368" cy="4661266"/>
          </a:xfrm>
          <a:prstGeom prst="rect">
            <a:avLst/>
          </a:prstGeom>
          <a:blipFill>
            <a:blip r:embed="rId4"/>
            <a:tile tx="0" ty="0" sx="100000" sy="100000" flip="none" algn="tl"/>
          </a:blipFill>
        </p:spPr>
      </p:pic>
    </p:spTree>
    <p:extLst>
      <p:ext uri="{BB962C8B-B14F-4D97-AF65-F5344CB8AC3E}">
        <p14:creationId xmlns:p14="http://schemas.microsoft.com/office/powerpoint/2010/main" val="3098235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9182F-CBAB-2104-9BD1-80AD901FC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EA6587-3269-EF28-A6E7-C1A8630D6D7D}"/>
              </a:ext>
            </a:extLst>
          </p:cNvPr>
          <p:cNvSpPr>
            <a:spLocks noGrp="1"/>
          </p:cNvSpPr>
          <p:nvPr>
            <p:ph type="ctrTitle"/>
          </p:nvPr>
        </p:nvSpPr>
        <p:spPr>
          <a:xfrm>
            <a:off x="1228578" y="353647"/>
            <a:ext cx="9144000" cy="616172"/>
          </a:xfrm>
        </p:spPr>
        <p:txBody>
          <a:bodyPr>
            <a:noAutofit/>
          </a:bodyPr>
          <a:lstStyle/>
          <a:p>
            <a:r>
              <a:rPr lang="en-US" sz="3200" b="1" dirty="0">
                <a:effectLst/>
                <a:latin typeface="Arial Rounded MT Bold" panose="020F0704030504030204" pitchFamily="34" charset="0"/>
                <a:ea typeface="Calibri" panose="020F0502020204030204" pitchFamily="34" charset="0"/>
              </a:rPr>
              <a:t>Literature Review</a:t>
            </a:r>
            <a:r>
              <a:rPr lang="en-US" sz="3200" dirty="0">
                <a:latin typeface="Arial Rounded MT Bold" panose="020F0704030504030204" pitchFamily="34" charset="0"/>
                <a:cs typeface="Times New Roman" panose="02020603050405020304" pitchFamily="18" charset="0"/>
              </a:rPr>
              <a:t> </a:t>
            </a: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6BCC0FFF-6CED-B3E9-8AEF-52FE1E42A2C3}"/>
              </a:ext>
            </a:extLst>
          </p:cNvPr>
          <p:cNvSpPr>
            <a:spLocks noGrp="1"/>
          </p:cNvSpPr>
          <p:nvPr>
            <p:ph type="subTitle" idx="1"/>
          </p:nvPr>
        </p:nvSpPr>
        <p:spPr>
          <a:xfrm>
            <a:off x="815927" y="1274908"/>
            <a:ext cx="10853006" cy="5446567"/>
          </a:xfrm>
          <a:solidFill>
            <a:schemeClr val="bg1"/>
          </a:solidFill>
        </p:spPr>
        <p:txBody>
          <a:bodyPr>
            <a:normAutofit/>
          </a:bodyPr>
          <a:lstStyle/>
          <a:p>
            <a:pPr algn="just"/>
            <a:r>
              <a:rPr lang="en-US" b="0" i="0" dirty="0">
                <a:solidFill>
                  <a:schemeClr val="bg1"/>
                </a:solidFill>
                <a:effectLst/>
                <a:latin typeface="-apple-system"/>
              </a:rPr>
              <a:t>q</a:t>
            </a:r>
          </a:p>
        </p:txBody>
      </p:sp>
      <p:cxnSp>
        <p:nvCxnSpPr>
          <p:cNvPr id="7" name="Straight Connector 6">
            <a:extLst>
              <a:ext uri="{FF2B5EF4-FFF2-40B4-BE49-F238E27FC236}">
                <a16:creationId xmlns:a16="http://schemas.microsoft.com/office/drawing/2014/main" id="{8B0B60B7-EE27-9399-AB3D-2E84354BC2D7}"/>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7FE4EC5C-C8E5-3287-EEDA-CFBFA33AAD95}"/>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A86706D3-78C8-5F2E-01EE-21F5A08ACC62}"/>
              </a:ext>
            </a:extLst>
          </p:cNvPr>
          <p:cNvSpPr>
            <a:spLocks noGrp="1"/>
          </p:cNvSpPr>
          <p:nvPr>
            <p:ph type="sldNum" sz="quarter" idx="12"/>
          </p:nvPr>
        </p:nvSpPr>
        <p:spPr/>
        <p:txBody>
          <a:bodyPr/>
          <a:lstStyle/>
          <a:p>
            <a:fld id="{E30FEA02-71A2-4209-B909-B13DA9CFC23D}" type="slidenum">
              <a:rPr lang="en-NG" smtClean="0"/>
              <a:t>7</a:t>
            </a:fld>
            <a:endParaRPr lang="en-NG" dirty="0"/>
          </a:p>
        </p:txBody>
      </p:sp>
      <p:sp>
        <p:nvSpPr>
          <p:cNvPr id="13" name="Scroll: Vertical 12">
            <a:extLst>
              <a:ext uri="{FF2B5EF4-FFF2-40B4-BE49-F238E27FC236}">
                <a16:creationId xmlns:a16="http://schemas.microsoft.com/office/drawing/2014/main" id="{06494EDA-7C2A-4DED-95D1-3B776AB9BF10}"/>
              </a:ext>
            </a:extLst>
          </p:cNvPr>
          <p:cNvSpPr/>
          <p:nvPr/>
        </p:nvSpPr>
        <p:spPr>
          <a:xfrm>
            <a:off x="1228577" y="2010990"/>
            <a:ext cx="2604873" cy="3174995"/>
          </a:xfrm>
          <a:prstGeom prst="verticalScroll">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1"/>
                </a:solidFill>
                <a:effectLst/>
                <a:latin typeface="Arial Rounded MT Bold" panose="020F0704030504030204" pitchFamily="34" charset="0"/>
                <a:ea typeface="Calibri" panose="020F0502020204030204" pitchFamily="34" charset="0"/>
                <a:cs typeface="Times New Roman" panose="02020603050405020304" pitchFamily="18" charset="0"/>
              </a:rPr>
              <a:t>Investigated the effect of Oja-Tun market effluent on the chemical quality of </a:t>
            </a:r>
            <a:r>
              <a:rPr lang="en-GB" sz="1800" dirty="0" err="1">
                <a:solidFill>
                  <a:schemeClr val="tx1"/>
                </a:solidFill>
                <a:effectLst/>
                <a:latin typeface="Arial Rounded MT Bold" panose="020F0704030504030204" pitchFamily="34" charset="0"/>
                <a:ea typeface="Calibri" panose="020F0502020204030204" pitchFamily="34" charset="0"/>
                <a:cs typeface="Times New Roman" panose="02020603050405020304" pitchFamily="18" charset="0"/>
              </a:rPr>
              <a:t>Opa</a:t>
            </a:r>
            <a:r>
              <a:rPr lang="en-GB" sz="1800" dirty="0">
                <a:solidFill>
                  <a:schemeClr val="tx1"/>
                </a:solidFill>
                <a:effectLst/>
                <a:latin typeface="Arial Rounded MT Bold" panose="020F0704030504030204" pitchFamily="34" charset="0"/>
                <a:ea typeface="Calibri" panose="020F0502020204030204" pitchFamily="34" charset="0"/>
                <a:cs typeface="Times New Roman" panose="02020603050405020304" pitchFamily="18" charset="0"/>
              </a:rPr>
              <a:t> Reservoir.</a:t>
            </a:r>
            <a:endParaRPr lang="en-NG" dirty="0">
              <a:solidFill>
                <a:schemeClr val="tx1"/>
              </a:solidFill>
              <a:latin typeface="Arial Rounded MT Bold" panose="020F0704030504030204" pitchFamily="34" charset="0"/>
            </a:endParaRPr>
          </a:p>
        </p:txBody>
      </p:sp>
      <p:sp>
        <p:nvSpPr>
          <p:cNvPr id="17" name="Scroll: Vertical 16">
            <a:extLst>
              <a:ext uri="{FF2B5EF4-FFF2-40B4-BE49-F238E27FC236}">
                <a16:creationId xmlns:a16="http://schemas.microsoft.com/office/drawing/2014/main" id="{6BECD57E-D3C3-1912-BC4D-01916FE1BBDF}"/>
              </a:ext>
            </a:extLst>
          </p:cNvPr>
          <p:cNvSpPr/>
          <p:nvPr/>
        </p:nvSpPr>
        <p:spPr>
          <a:xfrm>
            <a:off x="3652912" y="2027245"/>
            <a:ext cx="2836986" cy="3174995"/>
          </a:xfrm>
          <a:prstGeom prst="verticalScroll">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GB" dirty="0">
                <a:latin typeface="Arial Rounded MT Bold" panose="020F0704030504030204" pitchFamily="34" charset="0"/>
                <a:ea typeface="Calibri" panose="020F0502020204030204" pitchFamily="34" charset="0"/>
                <a:cs typeface="Times New Roman" panose="02020603050405020304" pitchFamily="18" charset="0"/>
              </a:rPr>
              <a:t>A</a:t>
            </a: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ssessed the effect of discharges from re-channelled rivers and municipal runoff on the water quality of </a:t>
            </a:r>
            <a:r>
              <a:rPr lang="en-GB" sz="1800" dirty="0" err="1">
                <a:effectLst/>
                <a:latin typeface="Arial Rounded MT Bold" panose="020F0704030504030204" pitchFamily="34" charset="0"/>
                <a:ea typeface="Calibri" panose="020F0502020204030204" pitchFamily="34" charset="0"/>
                <a:cs typeface="Times New Roman" panose="02020603050405020304" pitchFamily="18" charset="0"/>
              </a:rPr>
              <a:t>Opa</a:t>
            </a: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 reservoir</a:t>
            </a:r>
            <a:r>
              <a:rPr lang="en-GB" sz="1800" b="1" dirty="0">
                <a:effectLst/>
                <a:latin typeface="Arial Rounded MT Bold" panose="020F0704030504030204" pitchFamily="34" charset="0"/>
                <a:ea typeface="Calibri" panose="020F0502020204030204" pitchFamily="34" charset="0"/>
                <a:cs typeface="Times New Roman" panose="02020603050405020304" pitchFamily="18" charset="0"/>
              </a:rPr>
              <a:t>.</a:t>
            </a:r>
            <a:endParaRPr lang="en-NG" dirty="0">
              <a:latin typeface="Arial Rounded MT Bold" panose="020F0704030504030204" pitchFamily="34" charset="0"/>
            </a:endParaRPr>
          </a:p>
        </p:txBody>
      </p:sp>
      <p:sp>
        <p:nvSpPr>
          <p:cNvPr id="18" name="Scroll: Vertical 17">
            <a:extLst>
              <a:ext uri="{FF2B5EF4-FFF2-40B4-BE49-F238E27FC236}">
                <a16:creationId xmlns:a16="http://schemas.microsoft.com/office/drawing/2014/main" id="{07CC0CD4-24D9-3136-2B32-DB90630B7262}"/>
              </a:ext>
            </a:extLst>
          </p:cNvPr>
          <p:cNvSpPr/>
          <p:nvPr/>
        </p:nvSpPr>
        <p:spPr>
          <a:xfrm>
            <a:off x="6379593" y="2033768"/>
            <a:ext cx="2743199" cy="3174995"/>
          </a:xfrm>
          <a:prstGeom prst="verticalScroll">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GB" sz="1800" dirty="0">
                <a:solidFill>
                  <a:schemeClr val="tx1"/>
                </a:solidFill>
                <a:effectLst/>
                <a:latin typeface="Arial Rounded MT Bold" panose="020F0704030504030204" pitchFamily="34" charset="0"/>
                <a:ea typeface="Calibri" panose="020F0502020204030204" pitchFamily="34" charset="0"/>
                <a:cs typeface="Times New Roman" panose="02020603050405020304" pitchFamily="18" charset="0"/>
              </a:rPr>
              <a:t>Investigated</a:t>
            </a:r>
            <a:r>
              <a:rPr lang="en-GB" dirty="0">
                <a:solidFill>
                  <a:schemeClr val="tx1"/>
                </a:solidFill>
                <a:latin typeface="Arial Rounded MT Bold" panose="020F0704030504030204" pitchFamily="34" charset="0"/>
                <a:ea typeface="Calibri" panose="020F0502020204030204" pitchFamily="34" charset="0"/>
                <a:cs typeface="Times New Roman" panose="02020603050405020304" pitchFamily="18" charset="0"/>
              </a:rPr>
              <a:t> the</a:t>
            </a:r>
            <a:r>
              <a:rPr lang="en-GB" sz="1800" dirty="0">
                <a:solidFill>
                  <a:schemeClr val="tx1"/>
                </a:solidFill>
                <a:effectLst/>
                <a:latin typeface="Arial Rounded MT Bold" panose="020F0704030504030204" pitchFamily="34" charset="0"/>
                <a:ea typeface="Calibri" panose="020F0502020204030204" pitchFamily="34" charset="0"/>
                <a:cs typeface="Times New Roman" panose="02020603050405020304" pitchFamily="18" charset="0"/>
              </a:rPr>
              <a:t> </a:t>
            </a:r>
            <a:r>
              <a:rPr lang="en-GB" sz="1800" dirty="0">
                <a:solidFill>
                  <a:schemeClr val="tx1"/>
                </a:solidFill>
                <a:effectLst/>
                <a:latin typeface="Arial Rounded MT Bold" panose="020F0704030504030204" pitchFamily="34" charset="0"/>
                <a:ea typeface="Times New Roman" panose="02020603050405020304" pitchFamily="18" charset="0"/>
              </a:rPr>
              <a:t>Chemical Quality of Groundwater in Obafemi Awolowo University Campus</a:t>
            </a:r>
            <a:endParaRPr lang="en-NG" dirty="0">
              <a:solidFill>
                <a:schemeClr val="tx1"/>
              </a:solidFill>
              <a:latin typeface="Arial Rounded MT Bold" panose="020F0704030504030204" pitchFamily="34" charset="0"/>
            </a:endParaRPr>
          </a:p>
        </p:txBody>
      </p:sp>
      <p:sp>
        <p:nvSpPr>
          <p:cNvPr id="19" name="Scroll: Vertical 18">
            <a:extLst>
              <a:ext uri="{FF2B5EF4-FFF2-40B4-BE49-F238E27FC236}">
                <a16:creationId xmlns:a16="http://schemas.microsoft.com/office/drawing/2014/main" id="{A178ECE5-F631-DD63-7DBD-C66B7605E474}"/>
              </a:ext>
            </a:extLst>
          </p:cNvPr>
          <p:cNvSpPr/>
          <p:nvPr/>
        </p:nvSpPr>
        <p:spPr>
          <a:xfrm>
            <a:off x="9106276" y="2043087"/>
            <a:ext cx="2699821" cy="3174995"/>
          </a:xfrm>
          <a:prstGeom prst="verticalScroll">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Rounded MT Bold" panose="020F0704030504030204" pitchFamily="34" charset="0"/>
                <a:ea typeface="Calibri" panose="020F0502020204030204" pitchFamily="34" charset="0"/>
                <a:cs typeface="Times New Roman" panose="02020603050405020304" pitchFamily="18" charset="0"/>
              </a:rPr>
              <a:t>E</a:t>
            </a:r>
            <a:r>
              <a:rPr lang="en-GB" sz="1800" dirty="0">
                <a:solidFill>
                  <a:schemeClr val="tx1"/>
                </a:solidFill>
                <a:effectLst/>
                <a:latin typeface="Arial Rounded MT Bold" panose="020F0704030504030204" pitchFamily="34" charset="0"/>
                <a:ea typeface="Calibri" panose="020F0502020204030204" pitchFamily="34" charset="0"/>
                <a:cs typeface="Times New Roman" panose="02020603050405020304" pitchFamily="18" charset="0"/>
              </a:rPr>
              <a:t>xamined the suitability of </a:t>
            </a:r>
            <a:r>
              <a:rPr lang="en-GB" sz="1800" dirty="0" err="1">
                <a:solidFill>
                  <a:schemeClr val="tx1"/>
                </a:solidFill>
                <a:effectLst/>
                <a:latin typeface="Arial Rounded MT Bold" panose="020F0704030504030204" pitchFamily="34" charset="0"/>
                <a:ea typeface="Calibri" panose="020F0502020204030204" pitchFamily="34" charset="0"/>
                <a:cs typeface="Times New Roman" panose="02020603050405020304" pitchFamily="18" charset="0"/>
              </a:rPr>
              <a:t>Opa</a:t>
            </a:r>
            <a:r>
              <a:rPr lang="en-GB" sz="1800" dirty="0">
                <a:solidFill>
                  <a:schemeClr val="tx1"/>
                </a:solidFill>
                <a:effectLst/>
                <a:latin typeface="Arial Rounded MT Bold" panose="020F0704030504030204" pitchFamily="34" charset="0"/>
                <a:ea typeface="Calibri" panose="020F0502020204030204" pitchFamily="34" charset="0"/>
                <a:cs typeface="Times New Roman" panose="02020603050405020304" pitchFamily="18" charset="0"/>
              </a:rPr>
              <a:t> reservoir water for drinking and irrigation purposes.</a:t>
            </a:r>
            <a:endParaRPr lang="en-NG" dirty="0">
              <a:solidFill>
                <a:schemeClr val="tx1"/>
              </a:solidFill>
              <a:latin typeface="Arial Rounded MT Bold" panose="020F0704030504030204" pitchFamily="34" charset="0"/>
            </a:endParaRPr>
          </a:p>
        </p:txBody>
      </p:sp>
      <p:sp>
        <p:nvSpPr>
          <p:cNvPr id="12" name="Title 1">
            <a:extLst>
              <a:ext uri="{FF2B5EF4-FFF2-40B4-BE49-F238E27FC236}">
                <a16:creationId xmlns:a16="http://schemas.microsoft.com/office/drawing/2014/main" id="{9F216169-0721-D8A3-D6E5-A5949ADE1E55}"/>
              </a:ext>
            </a:extLst>
          </p:cNvPr>
          <p:cNvSpPr txBox="1">
            <a:spLocks/>
          </p:cNvSpPr>
          <p:nvPr/>
        </p:nvSpPr>
        <p:spPr>
          <a:xfrm>
            <a:off x="1095795" y="5463526"/>
            <a:ext cx="2604871" cy="35803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800" i="0" u="none" strike="noStrike" baseline="0" dirty="0">
                <a:solidFill>
                  <a:srgbClr val="000000"/>
                </a:solidFill>
                <a:latin typeface="Arial Rounded MT Bold" panose="020F0704030504030204" pitchFamily="34" charset="0"/>
              </a:rPr>
              <a:t>(</a:t>
            </a:r>
            <a:r>
              <a:rPr lang="en-GB" sz="1800" dirty="0" err="1">
                <a:effectLst/>
                <a:latin typeface="Arial Rounded MT Bold" panose="020F0704030504030204" pitchFamily="34" charset="0"/>
                <a:ea typeface="Calibri" panose="020F0502020204030204" pitchFamily="34" charset="0"/>
                <a:cs typeface="Times New Roman" panose="02020603050405020304" pitchFamily="18" charset="0"/>
              </a:rPr>
              <a:t>Eludoyin</a:t>
            </a: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GB" sz="1800" i="1" dirty="0">
                <a:effectLst/>
                <a:latin typeface="Arial Rounded MT Bold" panose="020F0704030504030204" pitchFamily="34" charset="0"/>
                <a:ea typeface="Calibri" panose="020F0502020204030204" pitchFamily="34" charset="0"/>
                <a:cs typeface="Times New Roman" panose="02020603050405020304" pitchFamily="18" charset="0"/>
              </a:rPr>
              <a:t>et al,</a:t>
            </a: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 2004</a:t>
            </a:r>
            <a:r>
              <a:rPr lang="en-US" sz="1800" i="0" u="none" strike="noStrike" baseline="0" dirty="0">
                <a:solidFill>
                  <a:srgbClr val="000000"/>
                </a:solidFill>
                <a:latin typeface="Arial Rounded MT Bold" panose="020F0704030504030204" pitchFamily="34" charset="0"/>
              </a:rPr>
              <a:t>)</a:t>
            </a:r>
            <a:endParaRPr lang="en-NG" sz="1800" dirty="0">
              <a:latin typeface="Arial Rounded MT Bold" panose="020F0704030504030204" pitchFamily="34" charset="0"/>
            </a:endParaRPr>
          </a:p>
        </p:txBody>
      </p:sp>
      <p:sp>
        <p:nvSpPr>
          <p:cNvPr id="20" name="Title 1">
            <a:extLst>
              <a:ext uri="{FF2B5EF4-FFF2-40B4-BE49-F238E27FC236}">
                <a16:creationId xmlns:a16="http://schemas.microsoft.com/office/drawing/2014/main" id="{FAE552AD-BB48-6315-2179-65718B2FF639}"/>
              </a:ext>
            </a:extLst>
          </p:cNvPr>
          <p:cNvSpPr txBox="1">
            <a:spLocks/>
          </p:cNvSpPr>
          <p:nvPr/>
        </p:nvSpPr>
        <p:spPr>
          <a:xfrm>
            <a:off x="3539608" y="5154996"/>
            <a:ext cx="2836985" cy="61617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800" dirty="0">
                <a:effectLst/>
                <a:latin typeface="Arial Rounded MT Bold" panose="020F0704030504030204" pitchFamily="34" charset="0"/>
                <a:ea typeface="Calibri" panose="020F0502020204030204" pitchFamily="34" charset="0"/>
                <a:cs typeface="Times New Roman" panose="02020603050405020304" pitchFamily="18" charset="0"/>
              </a:rPr>
              <a:t>(</a:t>
            </a:r>
            <a:r>
              <a:rPr lang="en-GB" sz="1800" dirty="0">
                <a:effectLst/>
                <a:latin typeface="Arial Rounded MT Bold" panose="020F0704030504030204" pitchFamily="34" charset="0"/>
                <a:ea typeface="Times New Roman" panose="02020603050405020304" pitchFamily="18" charset="0"/>
              </a:rPr>
              <a:t>Adedeji</a:t>
            </a: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GB" sz="1800" i="1" dirty="0">
                <a:effectLst/>
                <a:latin typeface="Arial Rounded MT Bold" panose="020F0704030504030204" pitchFamily="34" charset="0"/>
                <a:ea typeface="Calibri" panose="020F0502020204030204" pitchFamily="34" charset="0"/>
                <a:cs typeface="Times New Roman" panose="02020603050405020304" pitchFamily="18" charset="0"/>
              </a:rPr>
              <a:t>et al,</a:t>
            </a: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 2017</a:t>
            </a:r>
            <a:r>
              <a:rPr lang="en-GB" sz="1800" dirty="0">
                <a:effectLst/>
                <a:latin typeface="Arial Rounded MT Bold" panose="020F0704030504030204" pitchFamily="34" charset="0"/>
                <a:ea typeface="Calibri" panose="020F0502020204030204" pitchFamily="34" charset="0"/>
              </a:rPr>
              <a:t>)</a:t>
            </a:r>
            <a:endParaRPr lang="en-NG" sz="3200" dirty="0">
              <a:latin typeface="Arial Rounded MT Bold" panose="020F0704030504030204" pitchFamily="34" charset="0"/>
            </a:endParaRPr>
          </a:p>
        </p:txBody>
      </p:sp>
      <p:sp>
        <p:nvSpPr>
          <p:cNvPr id="21" name="Title 1">
            <a:extLst>
              <a:ext uri="{FF2B5EF4-FFF2-40B4-BE49-F238E27FC236}">
                <a16:creationId xmlns:a16="http://schemas.microsoft.com/office/drawing/2014/main" id="{55892E75-3919-F70E-0948-01F3874F8B9C}"/>
              </a:ext>
            </a:extLst>
          </p:cNvPr>
          <p:cNvSpPr txBox="1">
            <a:spLocks/>
          </p:cNvSpPr>
          <p:nvPr/>
        </p:nvSpPr>
        <p:spPr>
          <a:xfrm>
            <a:off x="6404980" y="5139071"/>
            <a:ext cx="2836985" cy="61617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800" dirty="0">
                <a:effectLst/>
                <a:latin typeface="Arial Rounded MT Bold" panose="020F0704030504030204" pitchFamily="34" charset="0"/>
                <a:ea typeface="Calibri" panose="020F0502020204030204" pitchFamily="34" charset="0"/>
              </a:rPr>
              <a:t>(</a:t>
            </a:r>
            <a:r>
              <a:rPr lang="en-GB" sz="1800" dirty="0" err="1">
                <a:effectLst/>
                <a:latin typeface="Arial Rounded MT Bold" panose="020F0704030504030204" pitchFamily="34" charset="0"/>
                <a:ea typeface="Calibri" panose="020F0502020204030204" pitchFamily="34" charset="0"/>
                <a:cs typeface="Times New Roman" panose="02020603050405020304" pitchFamily="18" charset="0"/>
              </a:rPr>
              <a:t>Konwea</a:t>
            </a: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GB" sz="1800" i="1" dirty="0">
                <a:effectLst/>
                <a:latin typeface="Arial Rounded MT Bold" panose="020F0704030504030204" pitchFamily="34" charset="0"/>
                <a:ea typeface="Calibri" panose="020F0502020204030204" pitchFamily="34" charset="0"/>
                <a:cs typeface="Times New Roman" panose="02020603050405020304" pitchFamily="18" charset="0"/>
              </a:rPr>
              <a:t>et al,</a:t>
            </a: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 2022</a:t>
            </a:r>
            <a:r>
              <a:rPr lang="en-GB" sz="1800" dirty="0">
                <a:effectLst/>
                <a:latin typeface="Arial Rounded MT Bold" panose="020F0704030504030204" pitchFamily="34" charset="0"/>
                <a:ea typeface="Calibri" panose="020F0502020204030204" pitchFamily="34" charset="0"/>
              </a:rPr>
              <a:t>)</a:t>
            </a:r>
            <a:endParaRPr lang="en-NG" sz="1800" dirty="0">
              <a:latin typeface="Arial Rounded MT Bold" panose="020F0704030504030204" pitchFamily="34" charset="0"/>
            </a:endParaRPr>
          </a:p>
        </p:txBody>
      </p:sp>
      <p:sp>
        <p:nvSpPr>
          <p:cNvPr id="22" name="Title 1">
            <a:extLst>
              <a:ext uri="{FF2B5EF4-FFF2-40B4-BE49-F238E27FC236}">
                <a16:creationId xmlns:a16="http://schemas.microsoft.com/office/drawing/2014/main" id="{5466043C-1287-1D31-CEC8-A9161E73A234}"/>
              </a:ext>
            </a:extLst>
          </p:cNvPr>
          <p:cNvSpPr txBox="1">
            <a:spLocks/>
          </p:cNvSpPr>
          <p:nvPr/>
        </p:nvSpPr>
        <p:spPr>
          <a:xfrm>
            <a:off x="8987103" y="5092835"/>
            <a:ext cx="2836985" cy="61617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800" i="0" dirty="0">
                <a:solidFill>
                  <a:srgbClr val="333333"/>
                </a:solidFill>
                <a:effectLst/>
                <a:latin typeface="Arial Rounded MT Bold" panose="020F0704030504030204" pitchFamily="34" charset="0"/>
              </a:rPr>
              <a:t>(</a:t>
            </a:r>
            <a:r>
              <a:rPr lang="en-GB" sz="1800" dirty="0" err="1">
                <a:effectLst/>
                <a:latin typeface="Arial Rounded MT Bold" panose="020F0704030504030204" pitchFamily="34" charset="0"/>
                <a:ea typeface="Calibri" panose="020F0502020204030204" pitchFamily="34" charset="0"/>
                <a:cs typeface="Times New Roman" panose="02020603050405020304" pitchFamily="18" charset="0"/>
              </a:rPr>
              <a:t>Oyewusi</a:t>
            </a: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GB" sz="1800" i="1" dirty="0">
                <a:effectLst/>
                <a:latin typeface="Arial Rounded MT Bold" panose="020F0704030504030204" pitchFamily="34" charset="0"/>
                <a:ea typeface="Calibri" panose="020F0502020204030204" pitchFamily="34" charset="0"/>
                <a:cs typeface="Times New Roman" panose="02020603050405020304" pitchFamily="18" charset="0"/>
              </a:rPr>
              <a:t>et al,</a:t>
            </a: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 2021</a:t>
            </a:r>
            <a:r>
              <a:rPr lang="en-NG" sz="1800" dirty="0">
                <a:effectLst/>
                <a:latin typeface="Arial Rounded MT Bold" panose="020F0704030504030204" pitchFamily="34" charset="0"/>
                <a:ea typeface="Calibri" panose="020F0502020204030204" pitchFamily="34" charset="0"/>
                <a:cs typeface="Times New Roman" panose="02020603050405020304" pitchFamily="18" charset="0"/>
              </a:rPr>
              <a:t>)</a:t>
            </a:r>
            <a:endParaRPr lang="en-NG" sz="1800" dirty="0">
              <a:latin typeface="Arial Rounded MT Bold" panose="020F0704030504030204" pitchFamily="34" charset="0"/>
            </a:endParaRPr>
          </a:p>
        </p:txBody>
      </p:sp>
    </p:spTree>
    <p:extLst>
      <p:ext uri="{BB962C8B-B14F-4D97-AF65-F5344CB8AC3E}">
        <p14:creationId xmlns:p14="http://schemas.microsoft.com/office/powerpoint/2010/main" val="4200937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228578" y="353647"/>
            <a:ext cx="9144000" cy="616172"/>
          </a:xfrm>
        </p:spPr>
        <p:txBody>
          <a:bodyPr>
            <a:noAutofit/>
          </a:bodyPr>
          <a:lstStyle/>
          <a:p>
            <a:r>
              <a:rPr lang="en-US" sz="3200" b="1" dirty="0">
                <a:latin typeface="Arial Rounded MT Bold" panose="020F0704030504030204" pitchFamily="34" charset="0"/>
              </a:rPr>
              <a:t>Location of the Study Area </a:t>
            </a: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0AC242FE-F4A4-5E2E-BE2C-48294B72D325}"/>
              </a:ext>
            </a:extLst>
          </p:cNvPr>
          <p:cNvSpPr>
            <a:spLocks noGrp="1"/>
          </p:cNvSpPr>
          <p:nvPr>
            <p:ph type="subTitle" idx="1"/>
          </p:nvPr>
        </p:nvSpPr>
        <p:spPr>
          <a:xfrm>
            <a:off x="1385455" y="1491175"/>
            <a:ext cx="10238508" cy="5176907"/>
          </a:xfrm>
        </p:spPr>
        <p:txBody>
          <a:bodyPr/>
          <a:lstStyle/>
          <a:p>
            <a:pPr algn="just"/>
            <a:endParaRPr lang="en-NG" dirty="0"/>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8" name="Title 1">
            <a:extLst>
              <a:ext uri="{FF2B5EF4-FFF2-40B4-BE49-F238E27FC236}">
                <a16:creationId xmlns:a16="http://schemas.microsoft.com/office/drawing/2014/main" id="{71B9F1CF-E0C4-69DD-8F43-D3F008E291C4}"/>
              </a:ext>
            </a:extLst>
          </p:cNvPr>
          <p:cNvSpPr txBox="1">
            <a:spLocks/>
          </p:cNvSpPr>
          <p:nvPr/>
        </p:nvSpPr>
        <p:spPr>
          <a:xfrm>
            <a:off x="4994387" y="5591696"/>
            <a:ext cx="5889500" cy="12024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lnSpc>
                <a:spcPct val="100000"/>
              </a:lnSpc>
            </a:pP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200" dirty="0">
                <a:effectLst/>
                <a:latin typeface="Arial Rounded MT Bold" panose="020F0704030504030204" pitchFamily="34" charset="0"/>
                <a:ea typeface="Calibri" panose="020F0502020204030204" pitchFamily="34" charset="0"/>
                <a:cs typeface="Times New Roman" panose="02020603050405020304" pitchFamily="18" charset="0"/>
              </a:rPr>
              <a:t>Figure 4A Map of Nigeria (Google.com/Nigeria map, 2015)</a:t>
            </a:r>
            <a:endParaRPr lang="en-NG" sz="1200" dirty="0">
              <a:effectLst/>
              <a:latin typeface="Arial Rounded MT Bold" panose="020F0704030504030204" pitchFamily="34" charset="0"/>
              <a:ea typeface="Calibri" panose="020F0502020204030204" pitchFamily="34" charset="0"/>
              <a:cs typeface="Times New Roman" panose="02020603050405020304" pitchFamily="18" charset="0"/>
            </a:endParaRPr>
          </a:p>
          <a:p>
            <a:pPr indent="457200" algn="just">
              <a:lnSpc>
                <a:spcPct val="100000"/>
              </a:lnSpc>
            </a:pPr>
            <a:r>
              <a:rPr lang="en-GB" sz="1200" dirty="0">
                <a:effectLst/>
                <a:latin typeface="Arial Rounded MT Bold" panose="020F0704030504030204" pitchFamily="34" charset="0"/>
                <a:ea typeface="Calibri" panose="020F0502020204030204" pitchFamily="34" charset="0"/>
                <a:cs typeface="Times New Roman" panose="02020603050405020304" pitchFamily="18" charset="0"/>
              </a:rPr>
              <a:t>   	    4B Map of Osun State (Osunstate.gov.ng/geography/</a:t>
            </a:r>
            <a:r>
              <a:rPr lang="en-GB" sz="1200" dirty="0" err="1">
                <a:effectLst/>
                <a:latin typeface="Arial Rounded MT Bold" panose="020F0704030504030204" pitchFamily="34" charset="0"/>
                <a:ea typeface="Calibri" panose="020F0502020204030204" pitchFamily="34" charset="0"/>
                <a:cs typeface="Times New Roman" panose="02020603050405020304" pitchFamily="18" charset="0"/>
              </a:rPr>
              <a:t>htm</a:t>
            </a:r>
            <a:r>
              <a:rPr lang="en-GB" sz="1200" dirty="0">
                <a:effectLst/>
                <a:latin typeface="Arial Rounded MT Bold" panose="020F0704030504030204" pitchFamily="34" charset="0"/>
                <a:ea typeface="Calibri" panose="020F0502020204030204" pitchFamily="34" charset="0"/>
                <a:cs typeface="Times New Roman" panose="02020603050405020304" pitchFamily="18" charset="0"/>
              </a:rPr>
              <a:t>, 2011)</a:t>
            </a:r>
            <a:endParaRPr lang="en-NG" sz="1200" dirty="0">
              <a:effectLst/>
              <a:latin typeface="Arial Rounded MT Bold" panose="020F0704030504030204" pitchFamily="34" charset="0"/>
              <a:ea typeface="Calibri" panose="020F0502020204030204" pitchFamily="34" charset="0"/>
              <a:cs typeface="Times New Roman" panose="02020603050405020304" pitchFamily="18" charset="0"/>
            </a:endParaRPr>
          </a:p>
          <a:p>
            <a:pPr indent="457200" algn="just">
              <a:lnSpc>
                <a:spcPct val="100000"/>
              </a:lnSpc>
            </a:pPr>
            <a:r>
              <a:rPr lang="en-GB" sz="1200" dirty="0">
                <a:effectLst/>
                <a:latin typeface="Arial Rounded MT Bold" panose="020F0704030504030204" pitchFamily="34" charset="0"/>
                <a:ea typeface="Calibri" panose="020F0502020204030204" pitchFamily="34" charset="0"/>
                <a:cs typeface="Times New Roman" panose="02020603050405020304" pitchFamily="18" charset="0"/>
              </a:rPr>
              <a:t>   	    4C Study Area (Modified from Google map)</a:t>
            </a:r>
            <a:endParaRPr lang="en-NG" sz="1200" dirty="0">
              <a:effectLst/>
              <a:latin typeface="Arial Rounded MT Bold" panose="020F0704030504030204" pitchFamily="34" charset="0"/>
              <a:ea typeface="Calibri" panose="020F0502020204030204" pitchFamily="34" charset="0"/>
              <a:cs typeface="Times New Roman" panose="02020603050405020304" pitchFamily="18" charset="0"/>
            </a:endParaRPr>
          </a:p>
          <a:p>
            <a:pPr indent="457200" algn="just">
              <a:lnSpc>
                <a:spcPct val="115000"/>
              </a:lnSpc>
              <a:spcAft>
                <a:spcPts val="1000"/>
              </a:spcAft>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NG"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Slide Number Placeholder 10">
            <a:extLst>
              <a:ext uri="{FF2B5EF4-FFF2-40B4-BE49-F238E27FC236}">
                <a16:creationId xmlns:a16="http://schemas.microsoft.com/office/drawing/2014/main" id="{1E82D7A8-E66A-E9DE-53A0-9B53AB6EF7B6}"/>
              </a:ext>
            </a:extLst>
          </p:cNvPr>
          <p:cNvSpPr>
            <a:spLocks noGrp="1"/>
          </p:cNvSpPr>
          <p:nvPr>
            <p:ph type="sldNum" sz="quarter" idx="12"/>
          </p:nvPr>
        </p:nvSpPr>
        <p:spPr/>
        <p:txBody>
          <a:bodyPr/>
          <a:lstStyle/>
          <a:p>
            <a:fld id="{E30FEA02-71A2-4209-B909-B13DA9CFC23D}" type="slidenum">
              <a:rPr lang="en-NG" smtClean="0"/>
              <a:t>8</a:t>
            </a:fld>
            <a:endParaRPr lang="en-NG" dirty="0"/>
          </a:p>
        </p:txBody>
      </p:sp>
      <p:pic>
        <p:nvPicPr>
          <p:cNvPr id="6" name="Picture 5">
            <a:extLst>
              <a:ext uri="{FF2B5EF4-FFF2-40B4-BE49-F238E27FC236}">
                <a16:creationId xmlns:a16="http://schemas.microsoft.com/office/drawing/2014/main" id="{3B096BA4-E652-4320-FF96-A2ECB6CB3F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5455" y="1365161"/>
            <a:ext cx="9587418" cy="4469834"/>
          </a:xfrm>
          <a:prstGeom prst="rect">
            <a:avLst/>
          </a:prstGeom>
        </p:spPr>
      </p:pic>
    </p:spTree>
    <p:extLst>
      <p:ext uri="{BB962C8B-B14F-4D97-AF65-F5344CB8AC3E}">
        <p14:creationId xmlns:p14="http://schemas.microsoft.com/office/powerpoint/2010/main" val="2493158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228578" y="353647"/>
            <a:ext cx="9144000" cy="616172"/>
          </a:xfrm>
        </p:spPr>
        <p:txBody>
          <a:bodyPr>
            <a:noAutofit/>
          </a:bodyPr>
          <a:lstStyle/>
          <a:p>
            <a:r>
              <a:rPr lang="en-US" sz="3200" b="1" dirty="0">
                <a:latin typeface="Arial Rounded MT Bold" panose="020F0704030504030204" pitchFamily="34" charset="0"/>
              </a:rPr>
              <a:t>Geology of the Study Area</a:t>
            </a:r>
            <a:endParaRPr lang="en-NG" sz="3200" dirty="0">
              <a:latin typeface="Arial Rounded MT Bold" panose="020F0704030504030204" pitchFamily="34" charset="0"/>
            </a:endParaRPr>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8" name="Subtitle 7">
            <a:extLst>
              <a:ext uri="{FF2B5EF4-FFF2-40B4-BE49-F238E27FC236}">
                <a16:creationId xmlns:a16="http://schemas.microsoft.com/office/drawing/2014/main" id="{4876EB7D-CE3C-CC68-4096-439BDD40BB93}"/>
              </a:ext>
            </a:extLst>
          </p:cNvPr>
          <p:cNvSpPr>
            <a:spLocks noGrp="1"/>
          </p:cNvSpPr>
          <p:nvPr>
            <p:ph type="subTitle" idx="1"/>
          </p:nvPr>
        </p:nvSpPr>
        <p:spPr>
          <a:xfrm>
            <a:off x="1524000" y="1130438"/>
            <a:ext cx="9144000" cy="4840872"/>
          </a:xfrm>
        </p:spPr>
        <p:txBody>
          <a:bodyPr>
            <a:normAutofit fontScale="25000" lnSpcReduction="20000"/>
          </a:bodyPr>
          <a:lstStyle/>
          <a:p>
            <a:endParaRPr lang="en-GB" sz="1800" dirty="0">
              <a:effectLst/>
              <a:latin typeface="Times New Roman" panose="02020603050405020304" pitchFamily="18" charset="0"/>
              <a:ea typeface="Calibri" panose="020F0502020204030204" pitchFamily="34" charset="0"/>
            </a:endParaRPr>
          </a:p>
          <a:p>
            <a:endParaRPr lang="en-GB" sz="1800" dirty="0">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endParaRPr lang="en-GB" sz="1800" dirty="0">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endParaRPr lang="en-GB" sz="1800" dirty="0">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endParaRPr lang="en-GB" sz="1800" dirty="0">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endParaRPr lang="en-GB" sz="1800" dirty="0">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endParaRPr lang="en-GB" sz="1800" dirty="0">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endParaRPr lang="en-GB" sz="1800" dirty="0">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endParaRPr lang="en-GB" sz="1800" dirty="0">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endParaRPr lang="en-GB" sz="1800" dirty="0">
              <a:latin typeface="Times New Roman" panose="02020603050405020304" pitchFamily="18" charset="0"/>
              <a:ea typeface="Calibri" panose="020F0502020204030204" pitchFamily="34" charset="0"/>
            </a:endParaRPr>
          </a:p>
          <a:p>
            <a:endParaRPr lang="en-GB" sz="1800" dirty="0">
              <a:effectLst/>
              <a:latin typeface="Times New Roman" panose="02020603050405020304" pitchFamily="18" charset="0"/>
              <a:ea typeface="Calibri" panose="020F0502020204030204" pitchFamily="34" charset="0"/>
            </a:endParaRPr>
          </a:p>
          <a:p>
            <a:pPr algn="just"/>
            <a:endParaRPr lang="en-GB" sz="4800" dirty="0">
              <a:effectLst/>
              <a:latin typeface="Arial Rounded MT Bold" panose="020F0704030504030204" pitchFamily="34" charset="0"/>
              <a:ea typeface="Calibri" panose="020F0502020204030204" pitchFamily="34" charset="0"/>
            </a:endParaRPr>
          </a:p>
          <a:p>
            <a:pPr algn="just"/>
            <a:r>
              <a:rPr lang="en-GB" sz="4800" dirty="0">
                <a:effectLst/>
                <a:latin typeface="Arial Rounded MT Bold" panose="020F0704030504030204" pitchFamily="34" charset="0"/>
                <a:ea typeface="Calibri" panose="020F0502020204030204" pitchFamily="34" charset="0"/>
              </a:rPr>
              <a:t>	Figure 5: Geological Map of the Study Area. (Modified from GSN, 1965 using ARCGIS)</a:t>
            </a:r>
            <a:r>
              <a:rPr lang="en-GB" sz="4800" dirty="0">
                <a:effectLst/>
                <a:latin typeface="Times New Roman" panose="02020603050405020304" pitchFamily="18" charset="0"/>
                <a:ea typeface="Calibri" panose="020F0502020204030204" pitchFamily="34" charset="0"/>
              </a:rPr>
              <a:t>)</a:t>
            </a:r>
            <a:endParaRPr lang="en-NG" sz="4800" dirty="0"/>
          </a:p>
        </p:txBody>
      </p:sp>
      <p:pic>
        <p:nvPicPr>
          <p:cNvPr id="5" name="Picture 4">
            <a:extLst>
              <a:ext uri="{FF2B5EF4-FFF2-40B4-BE49-F238E27FC236}">
                <a16:creationId xmlns:a16="http://schemas.microsoft.com/office/drawing/2014/main" id="{35EC9E3C-1B47-A12B-33ED-42595CCE3E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7345" y="1507404"/>
            <a:ext cx="7689274" cy="4353069"/>
          </a:xfrm>
          <a:prstGeom prst="rect">
            <a:avLst/>
          </a:prstGeom>
        </p:spPr>
      </p:pic>
      <p:sp>
        <p:nvSpPr>
          <p:cNvPr id="3" name="Slide Number Placeholder 10">
            <a:extLst>
              <a:ext uri="{FF2B5EF4-FFF2-40B4-BE49-F238E27FC236}">
                <a16:creationId xmlns:a16="http://schemas.microsoft.com/office/drawing/2014/main" id="{DD2573B7-875D-FAF6-C824-CA8A05D1F619}"/>
              </a:ext>
            </a:extLst>
          </p:cNvPr>
          <p:cNvSpPr>
            <a:spLocks noGrp="1"/>
          </p:cNvSpPr>
          <p:nvPr>
            <p:ph type="sldNum" sz="quarter" idx="12"/>
          </p:nvPr>
        </p:nvSpPr>
        <p:spPr>
          <a:xfrm>
            <a:off x="8610600" y="6356350"/>
            <a:ext cx="2743200" cy="365125"/>
          </a:xfrm>
        </p:spPr>
        <p:txBody>
          <a:bodyPr/>
          <a:lstStyle/>
          <a:p>
            <a:fld id="{E30FEA02-71A2-4209-B909-B13DA9CFC23D}" type="slidenum">
              <a:rPr lang="en-NG" smtClean="0"/>
              <a:t>9</a:t>
            </a:fld>
            <a:endParaRPr lang="en-NG" dirty="0"/>
          </a:p>
        </p:txBody>
      </p:sp>
    </p:spTree>
    <p:extLst>
      <p:ext uri="{BB962C8B-B14F-4D97-AF65-F5344CB8AC3E}">
        <p14:creationId xmlns:p14="http://schemas.microsoft.com/office/powerpoint/2010/main" val="3708339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228578" y="353646"/>
            <a:ext cx="9144000" cy="1137519"/>
          </a:xfrm>
        </p:spPr>
        <p:txBody>
          <a:bodyPr>
            <a:noAutofit/>
          </a:bodyPr>
          <a:lstStyle/>
          <a:p>
            <a:r>
              <a:rPr lang="en-GB" sz="3200" b="1" dirty="0">
                <a:effectLst/>
                <a:latin typeface="Arial Rounded MT Bold" panose="020F0704030504030204" pitchFamily="34" charset="0"/>
                <a:ea typeface="Calibri" panose="020F0502020204030204" pitchFamily="34" charset="0"/>
              </a:rPr>
              <a:t>Research Statement</a:t>
            </a:r>
            <a:br>
              <a:rPr lang="en-GB" sz="3200" b="1" dirty="0">
                <a:latin typeface="Times New Roman" panose="02020603050405020304" pitchFamily="18" charset="0"/>
                <a:cs typeface="Times New Roman" panose="02020603050405020304" pitchFamily="18" charset="0"/>
              </a:rPr>
            </a:br>
            <a:endParaRPr lang="en-NG" sz="3200" dirty="0"/>
          </a:p>
        </p:txBody>
      </p:sp>
      <p:sp>
        <p:nvSpPr>
          <p:cNvPr id="3" name="Subtitle 2">
            <a:extLst>
              <a:ext uri="{FF2B5EF4-FFF2-40B4-BE49-F238E27FC236}">
                <a16:creationId xmlns:a16="http://schemas.microsoft.com/office/drawing/2014/main" id="{0AC242FE-F4A4-5E2E-BE2C-48294B72D325}"/>
              </a:ext>
            </a:extLst>
          </p:cNvPr>
          <p:cNvSpPr>
            <a:spLocks noGrp="1"/>
          </p:cNvSpPr>
          <p:nvPr>
            <p:ph type="subTitle" idx="1"/>
          </p:nvPr>
        </p:nvSpPr>
        <p:spPr>
          <a:xfrm>
            <a:off x="1081740" y="1290391"/>
            <a:ext cx="10238508" cy="5050296"/>
          </a:xfrm>
        </p:spPr>
        <p:txBody>
          <a:bodyPr>
            <a:noAutofit/>
          </a:bodyPr>
          <a:lstStyle/>
          <a:p>
            <a:pPr algn="just">
              <a:lnSpc>
                <a:spcPct val="200000"/>
              </a:lnSpc>
            </a:pPr>
            <a:r>
              <a:rPr lang="en-US" sz="1800" kern="0" dirty="0">
                <a:effectLst/>
                <a:latin typeface="Arial Rounded MT Bold" panose="020F0704030504030204" pitchFamily="34" charset="0"/>
                <a:ea typeface="Calibri" panose="020F0502020204030204" pitchFamily="34" charset="0"/>
              </a:rPr>
              <a:t>Surface water within </a:t>
            </a:r>
            <a:r>
              <a:rPr lang="en-US" sz="1800" kern="0" dirty="0" err="1">
                <a:effectLst/>
                <a:latin typeface="Arial Rounded MT Bold" panose="020F0704030504030204" pitchFamily="34" charset="0"/>
                <a:ea typeface="Calibri" panose="020F0502020204030204" pitchFamily="34" charset="0"/>
              </a:rPr>
              <a:t>Opa</a:t>
            </a:r>
            <a:r>
              <a:rPr lang="en-US" sz="1800" kern="0" dirty="0">
                <a:effectLst/>
                <a:latin typeface="Arial Rounded MT Bold" panose="020F0704030504030204" pitchFamily="34" charset="0"/>
                <a:ea typeface="Calibri" panose="020F0502020204030204" pitchFamily="34" charset="0"/>
              </a:rPr>
              <a:t> drainage basin ha</a:t>
            </a:r>
            <a:r>
              <a:rPr lang="en-GB" sz="1800" kern="0" dirty="0">
                <a:latin typeface="Arial Rounded MT Bold" panose="020F0704030504030204" pitchFamily="34" charset="0"/>
                <a:ea typeface="Calibri" panose="020F0502020204030204" pitchFamily="34" charset="0"/>
              </a:rPr>
              <a:t>s been the</a:t>
            </a:r>
            <a:r>
              <a:rPr lang="en-GB" sz="1800" kern="0" dirty="0">
                <a:effectLst/>
                <a:latin typeface="Arial Rounded MT Bold" panose="020F0704030504030204" pitchFamily="34" charset="0"/>
                <a:ea typeface="Calibri" panose="020F0502020204030204" pitchFamily="34" charset="0"/>
              </a:rPr>
              <a:t> major source of water in Ile-Ife and its environs. Mining</a:t>
            </a:r>
            <a:r>
              <a:rPr lang="en-US" sz="1800" kern="0" dirty="0">
                <a:latin typeface="Arial Rounded MT Bold" panose="020F0704030504030204" pitchFamily="34" charset="0"/>
                <a:ea typeface="Calibri" panose="020F0502020204030204" pitchFamily="34" charset="0"/>
              </a:rPr>
              <a:t> </a:t>
            </a:r>
            <a:r>
              <a:rPr lang="en-US" sz="1800" kern="0" dirty="0">
                <a:effectLst/>
                <a:latin typeface="Arial Rounded MT Bold" panose="020F0704030504030204" pitchFamily="34" charset="0"/>
                <a:ea typeface="Calibri" panose="020F0502020204030204" pitchFamily="34" charset="0"/>
              </a:rPr>
              <a:t>activities has led to the contamination of the surface water. Consumption of contaminated water is detrimental to human health. In recent times, the reliance on groundwater has increased due to the surface water contamination. Prevailing hydrogeological settings can cause the migration of contaminants from surface water to groundwater, hence this study.</a:t>
            </a:r>
            <a:endParaRPr lang="en-GB" dirty="0">
              <a:effectLst/>
              <a:latin typeface="Arial Rounded MT Bold" panose="020F0704030504030204" pitchFamily="34" charset="0"/>
              <a:ea typeface="Calibri" panose="020F0502020204030204" pitchFamily="34" charset="0"/>
            </a:endParaRPr>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238734C8-D9D9-72F3-1B55-1DA41DD2830D}"/>
              </a:ext>
            </a:extLst>
          </p:cNvPr>
          <p:cNvSpPr>
            <a:spLocks noGrp="1"/>
          </p:cNvSpPr>
          <p:nvPr>
            <p:ph type="sldNum" sz="quarter" idx="12"/>
          </p:nvPr>
        </p:nvSpPr>
        <p:spPr/>
        <p:txBody>
          <a:bodyPr/>
          <a:lstStyle/>
          <a:p>
            <a:fld id="{E30FEA02-71A2-4209-B909-B13DA9CFC23D}" type="slidenum">
              <a:rPr lang="en-NG" smtClean="0"/>
              <a:t>10</a:t>
            </a:fld>
            <a:endParaRPr lang="en-NG" dirty="0"/>
          </a:p>
        </p:txBody>
      </p:sp>
    </p:spTree>
    <p:extLst>
      <p:ext uri="{BB962C8B-B14F-4D97-AF65-F5344CB8AC3E}">
        <p14:creationId xmlns:p14="http://schemas.microsoft.com/office/powerpoint/2010/main" val="3045183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228578" y="353646"/>
            <a:ext cx="9144000" cy="1137519"/>
          </a:xfrm>
        </p:spPr>
        <p:txBody>
          <a:bodyPr>
            <a:noAutofit/>
          </a:bodyPr>
          <a:lstStyle/>
          <a:p>
            <a:r>
              <a:rPr lang="en-GB" sz="3200" b="1" dirty="0">
                <a:effectLst/>
                <a:latin typeface="Arial Rounded MT Bold" panose="020F0704030504030204" pitchFamily="34" charset="0"/>
                <a:ea typeface="Calibri" panose="020F0502020204030204" pitchFamily="34" charset="0"/>
                <a:cs typeface="Times New Roman" panose="02020603050405020304" pitchFamily="18" charset="0"/>
              </a:rPr>
              <a:t>Aim and Objectives</a:t>
            </a:r>
            <a:br>
              <a:rPr lang="en-GB"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0AC242FE-F4A4-5E2E-BE2C-48294B72D325}"/>
              </a:ext>
            </a:extLst>
          </p:cNvPr>
          <p:cNvSpPr>
            <a:spLocks noGrp="1"/>
          </p:cNvSpPr>
          <p:nvPr>
            <p:ph type="subTitle" idx="1"/>
          </p:nvPr>
        </p:nvSpPr>
        <p:spPr>
          <a:xfrm>
            <a:off x="1496292" y="1491175"/>
            <a:ext cx="10293926" cy="5131297"/>
          </a:xfrm>
        </p:spPr>
        <p:txBody>
          <a:bodyPr>
            <a:normAutofit fontScale="70000" lnSpcReduction="20000"/>
          </a:bodyPr>
          <a:lstStyle/>
          <a:p>
            <a:endParaRPr lang="en-GB" b="1" dirty="0">
              <a:latin typeface="Arial Rounded MT Bold" panose="020F0704030504030204" pitchFamily="34" charset="0"/>
              <a:ea typeface="Times New Roman" panose="02020603050405020304" pitchFamily="18" charset="0"/>
            </a:endParaRPr>
          </a:p>
          <a:p>
            <a:pPr algn="just">
              <a:lnSpc>
                <a:spcPct val="120000"/>
              </a:lnSpc>
            </a:pPr>
            <a:r>
              <a:rPr lang="en-GB" sz="2600" dirty="0">
                <a:effectLst/>
                <a:latin typeface="Arial Rounded MT Bold" panose="020F0704030504030204" pitchFamily="34" charset="0"/>
                <a:ea typeface="Times New Roman" panose="02020603050405020304" pitchFamily="18" charset="0"/>
              </a:rPr>
              <a:t>The aim of this study is to</a:t>
            </a:r>
            <a:r>
              <a:rPr lang="en-GB" sz="2600" dirty="0">
                <a:latin typeface="Arial Rounded MT Bold" panose="020F0704030504030204" pitchFamily="34" charset="0"/>
                <a:ea typeface="Times New Roman" panose="02020603050405020304" pitchFamily="18" charset="0"/>
              </a:rPr>
              <a:t> </a:t>
            </a:r>
            <a:r>
              <a:rPr lang="en-GB" sz="2600" dirty="0">
                <a:effectLst/>
                <a:latin typeface="Arial Rounded MT Bold" panose="020F0704030504030204" pitchFamily="34" charset="0"/>
                <a:ea typeface="Calibri" panose="020F0502020204030204" pitchFamily="34" charset="0"/>
                <a:cs typeface="Times New Roman" panose="02020603050405020304" pitchFamily="18" charset="0"/>
              </a:rPr>
              <a:t>assess the degree of interaction of the surface and groundwater within the </a:t>
            </a:r>
            <a:r>
              <a:rPr lang="en-GB" sz="2600" dirty="0" err="1">
                <a:effectLst/>
                <a:latin typeface="Arial Rounded MT Bold" panose="020F0704030504030204" pitchFamily="34" charset="0"/>
                <a:ea typeface="Calibri" panose="020F0502020204030204" pitchFamily="34" charset="0"/>
                <a:cs typeface="Times New Roman" panose="02020603050405020304" pitchFamily="18" charset="0"/>
              </a:rPr>
              <a:t>Opa</a:t>
            </a:r>
            <a:r>
              <a:rPr lang="en-GB" sz="2600" dirty="0">
                <a:effectLst/>
                <a:latin typeface="Arial Rounded MT Bold" panose="020F0704030504030204" pitchFamily="34" charset="0"/>
                <a:ea typeface="Calibri" panose="020F0502020204030204" pitchFamily="34" charset="0"/>
                <a:cs typeface="Times New Roman" panose="02020603050405020304" pitchFamily="18" charset="0"/>
              </a:rPr>
              <a:t> drainage basin, South-Western Nigeria</a:t>
            </a:r>
            <a:r>
              <a:rPr lang="en-GB" sz="2600" dirty="0">
                <a:effectLst/>
                <a:latin typeface="Arial Rounded MT Bold" panose="020F0704030504030204" pitchFamily="34" charset="0"/>
                <a:ea typeface="Times New Roman" panose="02020603050405020304" pitchFamily="18" charset="0"/>
              </a:rPr>
              <a:t>. </a:t>
            </a:r>
          </a:p>
          <a:p>
            <a:pPr algn="just">
              <a:lnSpc>
                <a:spcPct val="200000"/>
              </a:lnSpc>
            </a:pPr>
            <a:r>
              <a:rPr lang="en-GB" sz="2600" dirty="0">
                <a:effectLst/>
                <a:latin typeface="Arial Rounded MT Bold" panose="020F0704030504030204" pitchFamily="34" charset="0"/>
                <a:ea typeface="Times New Roman" panose="02020603050405020304" pitchFamily="18" charset="0"/>
              </a:rPr>
              <a:t>The objectives of this study are to determine the:</a:t>
            </a:r>
            <a:endParaRPr lang="en-NG" sz="2600" dirty="0">
              <a:effectLst/>
              <a:latin typeface="Arial Rounded MT Bold" panose="020F0704030504030204" pitchFamily="34" charset="0"/>
              <a:ea typeface="Times New Roman" panose="02020603050405020304" pitchFamily="18" charset="0"/>
            </a:endParaRPr>
          </a:p>
          <a:p>
            <a:pPr marL="342900" lvl="0" indent="-342900" algn="just">
              <a:lnSpc>
                <a:spcPct val="200000"/>
              </a:lnSpc>
              <a:spcAft>
                <a:spcPts val="1000"/>
              </a:spcAft>
              <a:buFont typeface="+mj-lt"/>
              <a:buAutoNum type="romanLcPeriod"/>
              <a:tabLst>
                <a:tab pos="457200" algn="l"/>
              </a:tabLst>
            </a:pPr>
            <a:r>
              <a:rPr lang="en-GB" sz="2600" dirty="0">
                <a:effectLst/>
                <a:latin typeface="Arial Rounded MT Bold" panose="020F0704030504030204" pitchFamily="34" charset="0"/>
                <a:ea typeface="Calibri" panose="020F0502020204030204" pitchFamily="34" charset="0"/>
                <a:cs typeface="Times New Roman" panose="02020603050405020304" pitchFamily="18" charset="0"/>
              </a:rPr>
              <a:t>Seasonal variation in the surface water and groundwater chemistry and the sources of the different chemical groups influencing the surface water and groundwater chemistry;</a:t>
            </a:r>
            <a:endParaRPr lang="en-NG" sz="26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lvl="0" indent="-342900" algn="just">
              <a:lnSpc>
                <a:spcPct val="200000"/>
              </a:lnSpc>
              <a:spcAft>
                <a:spcPts val="1000"/>
              </a:spcAft>
              <a:buFont typeface="+mj-lt"/>
              <a:buAutoNum type="romanLcPeriod"/>
              <a:tabLst>
                <a:tab pos="457200" algn="l"/>
              </a:tabLst>
            </a:pPr>
            <a:r>
              <a:rPr lang="en-GB" sz="2600" dirty="0">
                <a:effectLst/>
                <a:latin typeface="Arial Rounded MT Bold" panose="020F0704030504030204" pitchFamily="34" charset="0"/>
                <a:ea typeface="Calibri" panose="020F0502020204030204" pitchFamily="34" charset="0"/>
                <a:cs typeface="Times New Roman" panose="02020603050405020304" pitchFamily="18" charset="0"/>
              </a:rPr>
              <a:t>Degree of interaction between the surface water and groundwater; and</a:t>
            </a:r>
            <a:endParaRPr lang="en-NG" sz="26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lvl="0" indent="-342900" algn="just">
              <a:lnSpc>
                <a:spcPct val="200000"/>
              </a:lnSpc>
              <a:spcAft>
                <a:spcPts val="1000"/>
              </a:spcAft>
              <a:buFont typeface="+mj-lt"/>
              <a:buAutoNum type="romanLcPeriod"/>
              <a:tabLst>
                <a:tab pos="457200" algn="l"/>
              </a:tabLst>
            </a:pPr>
            <a:r>
              <a:rPr lang="en-GB" sz="2600" dirty="0">
                <a:effectLst/>
                <a:latin typeface="Arial Rounded MT Bold" panose="020F0704030504030204" pitchFamily="34" charset="0"/>
                <a:ea typeface="Calibri" panose="020F0502020204030204" pitchFamily="34" charset="0"/>
                <a:cs typeface="Times New Roman" panose="02020603050405020304" pitchFamily="18" charset="0"/>
              </a:rPr>
              <a:t>Contamination level as well as the surface water and groundwater quality within the </a:t>
            </a:r>
            <a:r>
              <a:rPr lang="en-GB" sz="2600" dirty="0" err="1">
                <a:effectLst/>
                <a:latin typeface="Arial Rounded MT Bold" panose="020F0704030504030204" pitchFamily="34" charset="0"/>
                <a:ea typeface="Calibri" panose="020F0502020204030204" pitchFamily="34" charset="0"/>
                <a:cs typeface="Times New Roman" panose="02020603050405020304" pitchFamily="18" charset="0"/>
              </a:rPr>
              <a:t>Opa</a:t>
            </a:r>
            <a:r>
              <a:rPr lang="en-GB" sz="2600" dirty="0">
                <a:effectLst/>
                <a:latin typeface="Arial Rounded MT Bold" panose="020F0704030504030204" pitchFamily="34" charset="0"/>
                <a:ea typeface="Calibri" panose="020F0502020204030204" pitchFamily="34" charset="0"/>
                <a:cs typeface="Times New Roman" panose="02020603050405020304" pitchFamily="18" charset="0"/>
              </a:rPr>
              <a:t> drainage basin.</a:t>
            </a:r>
            <a:endParaRPr lang="en-NG" sz="26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514350" lvl="0" indent="-514350" algn="just">
              <a:lnSpc>
                <a:spcPct val="120000"/>
              </a:lnSpc>
              <a:buSzPts val="1200"/>
              <a:buFont typeface="+mj-lt"/>
              <a:buAutoNum type="romanLcPeriod"/>
            </a:pPr>
            <a:endParaRPr lang="en-NG" sz="2900" u="none" strike="noStrike" dirty="0">
              <a:effectLst/>
              <a:latin typeface="Arial Rounded MT Bold" panose="020F0704030504030204" pitchFamily="34" charset="0"/>
              <a:ea typeface="Times New Roman" panose="02020603050405020304" pitchFamily="18" charset="0"/>
              <a:cs typeface="Times New Roman" panose="02020603050405020304" pitchFamily="18" charset="0"/>
            </a:endParaRPr>
          </a:p>
          <a:p>
            <a:pPr algn="just">
              <a:lnSpc>
                <a:spcPct val="120000"/>
              </a:lnSpc>
            </a:pPr>
            <a:endParaRPr lang="en-GB" sz="2900" dirty="0">
              <a:effectLst/>
              <a:latin typeface="Arial Rounded MT Bold" panose="020F0704030504030204" pitchFamily="34" charset="0"/>
              <a:ea typeface="Times New Roman" panose="02020603050405020304" pitchFamily="18" charset="0"/>
            </a:endParaRPr>
          </a:p>
          <a:p>
            <a:endParaRPr lang="en-NG" dirty="0"/>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61947830-884C-3C5B-C3DA-9F29A06BCA06}"/>
              </a:ext>
            </a:extLst>
          </p:cNvPr>
          <p:cNvSpPr>
            <a:spLocks noGrp="1"/>
          </p:cNvSpPr>
          <p:nvPr>
            <p:ph type="sldNum" sz="quarter" idx="12"/>
          </p:nvPr>
        </p:nvSpPr>
        <p:spPr/>
        <p:txBody>
          <a:bodyPr/>
          <a:lstStyle/>
          <a:p>
            <a:fld id="{E30FEA02-71A2-4209-B909-B13DA9CFC23D}" type="slidenum">
              <a:rPr lang="en-NG" smtClean="0"/>
              <a:t>11</a:t>
            </a:fld>
            <a:endParaRPr lang="en-NG"/>
          </a:p>
        </p:txBody>
      </p:sp>
    </p:spTree>
    <p:extLst>
      <p:ext uri="{BB962C8B-B14F-4D97-AF65-F5344CB8AC3E}">
        <p14:creationId xmlns:p14="http://schemas.microsoft.com/office/powerpoint/2010/main" val="4044837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369866" y="35415"/>
            <a:ext cx="9144000" cy="1146512"/>
          </a:xfrm>
        </p:spPr>
        <p:txBody>
          <a:bodyPr>
            <a:noAutofit/>
          </a:bodyPr>
          <a:lstStyle/>
          <a:p>
            <a:r>
              <a:rPr lang="en-GB" sz="3200" b="1" dirty="0">
                <a:effectLst/>
                <a:latin typeface="Arial Rounded MT Bold" panose="020F0704030504030204" pitchFamily="34" charset="0"/>
                <a:ea typeface="Calibri" panose="020F0502020204030204" pitchFamily="34" charset="0"/>
                <a:cs typeface="Times New Roman" panose="02020603050405020304" pitchFamily="18" charset="0"/>
              </a:rPr>
              <a:t>Research Methodology</a:t>
            </a:r>
            <a:r>
              <a:rPr lang="en-US" sz="3200" dirty="0">
                <a:latin typeface="Arial Rounded MT Bold" panose="020F0704030504030204" pitchFamily="34" charset="0"/>
                <a:cs typeface="Times New Roman" panose="02020603050405020304" pitchFamily="18" charset="0"/>
              </a:rPr>
              <a:t> </a:t>
            </a:r>
            <a:r>
              <a:rPr lang="en-US" sz="3200" b="1" dirty="0">
                <a:latin typeface="Arial Rounded MT Bold" panose="020F0704030504030204" pitchFamily="34" charset="0"/>
                <a:ea typeface="Calibri" panose="020F0502020204030204" pitchFamily="34" charset="0"/>
                <a:cs typeface="Times New Roman" panose="02020603050405020304" pitchFamily="18" charset="0"/>
              </a:rPr>
              <a:t> </a:t>
            </a:r>
            <a:br>
              <a:rPr lang="en-GB"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0AC242FE-F4A4-5E2E-BE2C-48294B72D325}"/>
              </a:ext>
            </a:extLst>
          </p:cNvPr>
          <p:cNvSpPr>
            <a:spLocks noGrp="1"/>
          </p:cNvSpPr>
          <p:nvPr>
            <p:ph type="subTitle" idx="1"/>
          </p:nvPr>
        </p:nvSpPr>
        <p:spPr>
          <a:xfrm>
            <a:off x="706582" y="1122364"/>
            <a:ext cx="10972798" cy="5866214"/>
          </a:xfrm>
        </p:spPr>
        <p:txBody>
          <a:bodyPr>
            <a:normAutofit/>
          </a:bodyPr>
          <a:lstStyle/>
          <a:p>
            <a:endParaRPr lang="en-NG"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NG" dirty="0"/>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130" name="Title 1">
            <a:extLst>
              <a:ext uri="{FF2B5EF4-FFF2-40B4-BE49-F238E27FC236}">
                <a16:creationId xmlns:a16="http://schemas.microsoft.com/office/drawing/2014/main" id="{2A400087-7222-B4A7-7CD9-006534B9D7DE}"/>
              </a:ext>
            </a:extLst>
          </p:cNvPr>
          <p:cNvSpPr txBox="1">
            <a:spLocks/>
          </p:cNvSpPr>
          <p:nvPr/>
        </p:nvSpPr>
        <p:spPr>
          <a:xfrm rot="10800000" flipV="1">
            <a:off x="1023790" y="6147307"/>
            <a:ext cx="10543589" cy="129157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200" dirty="0">
                <a:effectLst/>
                <a:latin typeface="Arial Rounded MT Bold" panose="020F0704030504030204" pitchFamily="34" charset="0"/>
                <a:ea typeface="Calibri" panose="020F0502020204030204" pitchFamily="34" charset="0"/>
                <a:cs typeface="Times New Roman" panose="02020603050405020304" pitchFamily="18" charset="0"/>
              </a:rPr>
              <a:t>Figure 6: </a:t>
            </a:r>
            <a:r>
              <a:rPr lang="en-GB" sz="1200" dirty="0">
                <a:latin typeface="Arial Rounded MT Bold" panose="020F0704030504030204" pitchFamily="34" charset="0"/>
                <a:ea typeface="Calibri" panose="020F0502020204030204" pitchFamily="34" charset="0"/>
                <a:cs typeface="Times New Roman" panose="02020603050405020304" pitchFamily="18" charset="0"/>
              </a:rPr>
              <a:t>Work F</a:t>
            </a:r>
            <a:r>
              <a:rPr lang="en-GB" sz="1200" dirty="0">
                <a:effectLst/>
                <a:latin typeface="Arial Rounded MT Bold" panose="020F0704030504030204" pitchFamily="34" charset="0"/>
                <a:ea typeface="Calibri" panose="020F0502020204030204" pitchFamily="34" charset="0"/>
                <a:cs typeface="Times New Roman" panose="02020603050405020304" pitchFamily="18" charset="0"/>
              </a:rPr>
              <a:t>low Diagram </a:t>
            </a:r>
            <a:r>
              <a:rPr lang="en-GB" sz="1200" b="1" dirty="0">
                <a:effectLst/>
                <a:latin typeface="Arial Rounded MT Bold" panose="020F0704030504030204" pitchFamily="34" charset="0"/>
                <a:ea typeface="Calibri" panose="020F0502020204030204" pitchFamily="34" charset="0"/>
                <a:cs typeface="Times New Roman" panose="02020603050405020304" pitchFamily="18" charset="0"/>
              </a:rPr>
              <a:t> </a:t>
            </a:r>
            <a:endParaRPr lang="en-NG" sz="1200" dirty="0">
              <a:effectLst/>
              <a:latin typeface="Arial Rounded MT Bold" panose="020F0704030504030204" pitchFamily="34" charset="0"/>
              <a:ea typeface="Calibri" panose="020F0502020204030204" pitchFamily="34" charset="0"/>
              <a:cs typeface="Times New Roman" panose="02020603050405020304" pitchFamily="18" charset="0"/>
            </a:endParaRPr>
          </a:p>
          <a:p>
            <a:r>
              <a:rPr lang="en-US" sz="3200" b="1" dirty="0">
                <a:latin typeface="Times New Roman" panose="02020603050405020304" pitchFamily="18" charset="0"/>
                <a:ea typeface="Calibri" panose="020F0502020204030204" pitchFamily="34" charset="0"/>
                <a:cs typeface="Times New Roman" panose="02020603050405020304" pitchFamily="18" charset="0"/>
              </a:rPr>
              <a:t> </a:t>
            </a:r>
            <a:br>
              <a:rPr lang="en-GB" sz="3200" b="1" dirty="0">
                <a:latin typeface="Times New Roman" panose="02020603050405020304" pitchFamily="18" charset="0"/>
                <a:cs typeface="Times New Roman" panose="02020603050405020304" pitchFamily="18" charset="0"/>
              </a:rPr>
            </a:br>
            <a:endParaRPr lang="en-NG" sz="3200" dirty="0"/>
          </a:p>
        </p:txBody>
      </p:sp>
      <p:sp>
        <p:nvSpPr>
          <p:cNvPr id="131" name="Slide Number Placeholder 130">
            <a:extLst>
              <a:ext uri="{FF2B5EF4-FFF2-40B4-BE49-F238E27FC236}">
                <a16:creationId xmlns:a16="http://schemas.microsoft.com/office/drawing/2014/main" id="{E072092E-9700-07AC-7601-020B972A7E68}"/>
              </a:ext>
            </a:extLst>
          </p:cNvPr>
          <p:cNvSpPr>
            <a:spLocks noGrp="1"/>
          </p:cNvSpPr>
          <p:nvPr>
            <p:ph type="sldNum" sz="quarter" idx="12"/>
          </p:nvPr>
        </p:nvSpPr>
        <p:spPr>
          <a:xfrm>
            <a:off x="8632873" y="6376342"/>
            <a:ext cx="2743200" cy="365125"/>
          </a:xfrm>
        </p:spPr>
        <p:txBody>
          <a:bodyPr/>
          <a:lstStyle/>
          <a:p>
            <a:fld id="{E30FEA02-71A2-4209-B909-B13DA9CFC23D}" type="slidenum">
              <a:rPr lang="en-NG" smtClean="0"/>
              <a:t>12</a:t>
            </a:fld>
            <a:endParaRPr lang="en-NG" dirty="0"/>
          </a:p>
        </p:txBody>
      </p:sp>
      <p:sp>
        <p:nvSpPr>
          <p:cNvPr id="98" name="Rectangle: Rounded Corners 97">
            <a:extLst>
              <a:ext uri="{FF2B5EF4-FFF2-40B4-BE49-F238E27FC236}">
                <a16:creationId xmlns:a16="http://schemas.microsoft.com/office/drawing/2014/main" id="{DA333AB8-D096-C9C1-8BA0-897E11EEB3FB}"/>
              </a:ext>
            </a:extLst>
          </p:cNvPr>
          <p:cNvSpPr>
            <a:spLocks/>
          </p:cNvSpPr>
          <p:nvPr/>
        </p:nvSpPr>
        <p:spPr>
          <a:xfrm>
            <a:off x="5606601" y="1300080"/>
            <a:ext cx="184785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dirty="0">
                <a:effectLst/>
                <a:latin typeface="Arial Rounded MT Bold" panose="020F0704030504030204" pitchFamily="34" charset="0"/>
                <a:ea typeface="Calibri" panose="020F0502020204030204" pitchFamily="34" charset="0"/>
                <a:cs typeface="Times New Roman" panose="02020603050405020304" pitchFamily="18" charset="0"/>
              </a:rPr>
              <a:t>Desk Work</a:t>
            </a:r>
            <a:endParaRPr lang="en-NG" sz="1100" dirty="0">
              <a:effectLst/>
              <a:latin typeface="Arial Rounded MT Bold" panose="020F0704030504030204" pitchFamily="34" charset="0"/>
              <a:ea typeface="Calibri" panose="020F0502020204030204" pitchFamily="34" charset="0"/>
              <a:cs typeface="Times New Roman" panose="02020603050405020304" pitchFamily="18" charset="0"/>
            </a:endParaRPr>
          </a:p>
        </p:txBody>
      </p:sp>
      <p:sp>
        <p:nvSpPr>
          <p:cNvPr id="101" name="Rectangle: Rounded Corners 100">
            <a:extLst>
              <a:ext uri="{FF2B5EF4-FFF2-40B4-BE49-F238E27FC236}">
                <a16:creationId xmlns:a16="http://schemas.microsoft.com/office/drawing/2014/main" id="{E424E9DD-08D2-9C5D-2A4F-0BCB20F70183}"/>
              </a:ext>
            </a:extLst>
          </p:cNvPr>
          <p:cNvSpPr>
            <a:spLocks/>
          </p:cNvSpPr>
          <p:nvPr/>
        </p:nvSpPr>
        <p:spPr>
          <a:xfrm>
            <a:off x="5611356" y="1770619"/>
            <a:ext cx="184785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Reconnaissance Survey</a:t>
            </a:r>
            <a:endParaRPr lang="en-NG"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2" name="Rectangle: Rounded Corners 101">
            <a:extLst>
              <a:ext uri="{FF2B5EF4-FFF2-40B4-BE49-F238E27FC236}">
                <a16:creationId xmlns:a16="http://schemas.microsoft.com/office/drawing/2014/main" id="{C0B22988-C3A2-6C20-C9BD-E3BCDB67E3A4}"/>
              </a:ext>
            </a:extLst>
          </p:cNvPr>
          <p:cNvSpPr>
            <a:spLocks/>
          </p:cNvSpPr>
          <p:nvPr/>
        </p:nvSpPr>
        <p:spPr>
          <a:xfrm>
            <a:off x="5386251" y="2248587"/>
            <a:ext cx="2352542" cy="336782"/>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Hydrogeological Investigation</a:t>
            </a:r>
            <a:endParaRPr lang="en-NG"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4" name="Rectangle: Rounded Corners 103">
            <a:extLst>
              <a:ext uri="{FF2B5EF4-FFF2-40B4-BE49-F238E27FC236}">
                <a16:creationId xmlns:a16="http://schemas.microsoft.com/office/drawing/2014/main" id="{B89340D8-76A4-2FA0-1296-54020D0E0652}"/>
              </a:ext>
            </a:extLst>
          </p:cNvPr>
          <p:cNvSpPr>
            <a:spLocks/>
          </p:cNvSpPr>
          <p:nvPr/>
        </p:nvSpPr>
        <p:spPr>
          <a:xfrm>
            <a:off x="2051120" y="2916420"/>
            <a:ext cx="212138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Water Quality Assessment</a:t>
            </a:r>
            <a:endParaRPr lang="en-NG"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5" name="Rectangle: Rounded Corners 104">
            <a:extLst>
              <a:ext uri="{FF2B5EF4-FFF2-40B4-BE49-F238E27FC236}">
                <a16:creationId xmlns:a16="http://schemas.microsoft.com/office/drawing/2014/main" id="{B1F800C0-8525-AD92-CFB9-C5D38763FA7E}"/>
              </a:ext>
            </a:extLst>
          </p:cNvPr>
          <p:cNvSpPr>
            <a:spLocks/>
          </p:cNvSpPr>
          <p:nvPr/>
        </p:nvSpPr>
        <p:spPr>
          <a:xfrm>
            <a:off x="9766752" y="2821910"/>
            <a:ext cx="184785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Soil Investigation</a:t>
            </a:r>
            <a:endParaRPr lang="en-NG"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7" name="Rectangle: Rounded Corners 106">
            <a:extLst>
              <a:ext uri="{FF2B5EF4-FFF2-40B4-BE49-F238E27FC236}">
                <a16:creationId xmlns:a16="http://schemas.microsoft.com/office/drawing/2014/main" id="{D1CA2D30-39BB-B78B-D806-83E2D3F51B21}"/>
              </a:ext>
            </a:extLst>
          </p:cNvPr>
          <p:cNvSpPr>
            <a:spLocks/>
          </p:cNvSpPr>
          <p:nvPr/>
        </p:nvSpPr>
        <p:spPr>
          <a:xfrm>
            <a:off x="9778151" y="4160852"/>
            <a:ext cx="184785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Hydraulic Conductivity</a:t>
            </a:r>
            <a:endParaRPr lang="en-NG"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8" name="Rectangle: Rounded Corners 107">
            <a:extLst>
              <a:ext uri="{FF2B5EF4-FFF2-40B4-BE49-F238E27FC236}">
                <a16:creationId xmlns:a16="http://schemas.microsoft.com/office/drawing/2014/main" id="{90290CCF-C633-F52A-FB3F-B129A3C9418B}"/>
              </a:ext>
            </a:extLst>
          </p:cNvPr>
          <p:cNvSpPr>
            <a:spLocks/>
          </p:cNvSpPr>
          <p:nvPr/>
        </p:nvSpPr>
        <p:spPr>
          <a:xfrm>
            <a:off x="9778151" y="3734989"/>
            <a:ext cx="184785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Grain Size Analysis</a:t>
            </a:r>
            <a:endParaRPr lang="en-NG"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9" name="Rectangle: Rounded Corners 108">
            <a:extLst>
              <a:ext uri="{FF2B5EF4-FFF2-40B4-BE49-F238E27FC236}">
                <a16:creationId xmlns:a16="http://schemas.microsoft.com/office/drawing/2014/main" id="{42546162-F568-EA98-9EAE-2F7AA8CD1A20}"/>
              </a:ext>
            </a:extLst>
          </p:cNvPr>
          <p:cNvSpPr>
            <a:spLocks/>
          </p:cNvSpPr>
          <p:nvPr/>
        </p:nvSpPr>
        <p:spPr>
          <a:xfrm>
            <a:off x="9766752" y="3319537"/>
            <a:ext cx="184785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Soil Sampling</a:t>
            </a:r>
            <a:endParaRPr lang="en-NG"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1" name="Rectangle: Rounded Corners 110">
            <a:extLst>
              <a:ext uri="{FF2B5EF4-FFF2-40B4-BE49-F238E27FC236}">
                <a16:creationId xmlns:a16="http://schemas.microsoft.com/office/drawing/2014/main" id="{E9D513F9-09B6-FC7B-3ED6-38ECF102F838}"/>
              </a:ext>
            </a:extLst>
          </p:cNvPr>
          <p:cNvSpPr>
            <a:spLocks/>
          </p:cNvSpPr>
          <p:nvPr/>
        </p:nvSpPr>
        <p:spPr>
          <a:xfrm>
            <a:off x="5323729" y="5845283"/>
            <a:ext cx="184785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SW-GW Interaction</a:t>
            </a:r>
            <a:endParaRPr lang="en-NG"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3" name="Rectangle: Rounded Corners 112">
            <a:extLst>
              <a:ext uri="{FF2B5EF4-FFF2-40B4-BE49-F238E27FC236}">
                <a16:creationId xmlns:a16="http://schemas.microsoft.com/office/drawing/2014/main" id="{FC668420-3E6A-2E60-1B25-6E950F25C4D0}"/>
              </a:ext>
            </a:extLst>
          </p:cNvPr>
          <p:cNvSpPr>
            <a:spLocks/>
          </p:cNvSpPr>
          <p:nvPr/>
        </p:nvSpPr>
        <p:spPr>
          <a:xfrm>
            <a:off x="8967134" y="4858849"/>
            <a:ext cx="184785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Water Quality</a:t>
            </a:r>
            <a:endParaRPr lang="en-NG"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5" name="Rectangle: Rounded Corners 114">
            <a:extLst>
              <a:ext uri="{FF2B5EF4-FFF2-40B4-BE49-F238E27FC236}">
                <a16:creationId xmlns:a16="http://schemas.microsoft.com/office/drawing/2014/main" id="{1E7604BA-E26A-EA9B-D333-F41634A5D7B7}"/>
              </a:ext>
            </a:extLst>
          </p:cNvPr>
          <p:cNvSpPr>
            <a:spLocks/>
          </p:cNvSpPr>
          <p:nvPr/>
        </p:nvSpPr>
        <p:spPr>
          <a:xfrm>
            <a:off x="6941598" y="4851625"/>
            <a:ext cx="184785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Seasonal Variation</a:t>
            </a:r>
            <a:endParaRPr lang="en-NG"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8" name="Rectangle: Rounded Corners 117">
            <a:extLst>
              <a:ext uri="{FF2B5EF4-FFF2-40B4-BE49-F238E27FC236}">
                <a16:creationId xmlns:a16="http://schemas.microsoft.com/office/drawing/2014/main" id="{549500DB-1BD7-E90B-46A1-606FB7BA2D38}"/>
              </a:ext>
            </a:extLst>
          </p:cNvPr>
          <p:cNvSpPr>
            <a:spLocks/>
          </p:cNvSpPr>
          <p:nvPr/>
        </p:nvSpPr>
        <p:spPr>
          <a:xfrm>
            <a:off x="4929703" y="4851626"/>
            <a:ext cx="184785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Contaminants Grouping</a:t>
            </a:r>
            <a:endParaRPr lang="en-NG"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9" name="Rectangle: Rounded Corners 118">
            <a:extLst>
              <a:ext uri="{FF2B5EF4-FFF2-40B4-BE49-F238E27FC236}">
                <a16:creationId xmlns:a16="http://schemas.microsoft.com/office/drawing/2014/main" id="{CBF0B2F2-966E-A9DF-3144-D61994B2D10B}"/>
              </a:ext>
            </a:extLst>
          </p:cNvPr>
          <p:cNvSpPr>
            <a:spLocks/>
          </p:cNvSpPr>
          <p:nvPr/>
        </p:nvSpPr>
        <p:spPr>
          <a:xfrm>
            <a:off x="2905435" y="4852267"/>
            <a:ext cx="184785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Contamination Level</a:t>
            </a:r>
            <a:endParaRPr lang="en-NG"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0" name="Rectangle: Rounded Corners 119">
            <a:extLst>
              <a:ext uri="{FF2B5EF4-FFF2-40B4-BE49-F238E27FC236}">
                <a16:creationId xmlns:a16="http://schemas.microsoft.com/office/drawing/2014/main" id="{7AE08FFA-7ECA-B5E7-FEE6-260555F3179D}"/>
              </a:ext>
            </a:extLst>
          </p:cNvPr>
          <p:cNvSpPr>
            <a:spLocks/>
          </p:cNvSpPr>
          <p:nvPr/>
        </p:nvSpPr>
        <p:spPr>
          <a:xfrm>
            <a:off x="938528" y="4834333"/>
            <a:ext cx="184785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Source Identification</a:t>
            </a:r>
            <a:endParaRPr lang="en-NG"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1" name="Rectangle: Rounded Corners 120">
            <a:extLst>
              <a:ext uri="{FF2B5EF4-FFF2-40B4-BE49-F238E27FC236}">
                <a16:creationId xmlns:a16="http://schemas.microsoft.com/office/drawing/2014/main" id="{60CC6CBD-CC11-6618-BD1A-1317B31F5C37}"/>
              </a:ext>
            </a:extLst>
          </p:cNvPr>
          <p:cNvSpPr>
            <a:spLocks/>
          </p:cNvSpPr>
          <p:nvPr/>
        </p:nvSpPr>
        <p:spPr>
          <a:xfrm>
            <a:off x="2287339" y="4074838"/>
            <a:ext cx="184785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Statistical Analysis</a:t>
            </a:r>
            <a:endParaRPr lang="en-NG"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3" name="Rectangle: Rounded Corners 122">
            <a:extLst>
              <a:ext uri="{FF2B5EF4-FFF2-40B4-BE49-F238E27FC236}">
                <a16:creationId xmlns:a16="http://schemas.microsoft.com/office/drawing/2014/main" id="{4A17F673-D976-332C-C484-B9279500E4DA}"/>
              </a:ext>
            </a:extLst>
          </p:cNvPr>
          <p:cNvSpPr>
            <a:spLocks/>
          </p:cNvSpPr>
          <p:nvPr/>
        </p:nvSpPr>
        <p:spPr>
          <a:xfrm>
            <a:off x="3668740" y="3487459"/>
            <a:ext cx="184785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Chemical Parameters</a:t>
            </a:r>
            <a:endParaRPr lang="en-NG"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4" name="Rectangle: Rounded Corners 123">
            <a:extLst>
              <a:ext uri="{FF2B5EF4-FFF2-40B4-BE49-F238E27FC236}">
                <a16:creationId xmlns:a16="http://schemas.microsoft.com/office/drawing/2014/main" id="{368E64A8-89A1-80D6-887A-30B69FA3B846}"/>
              </a:ext>
            </a:extLst>
          </p:cNvPr>
          <p:cNvSpPr>
            <a:spLocks/>
          </p:cNvSpPr>
          <p:nvPr/>
        </p:nvSpPr>
        <p:spPr>
          <a:xfrm>
            <a:off x="1027454" y="3483006"/>
            <a:ext cx="1847850" cy="295275"/>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Physical Parameters</a:t>
            </a:r>
            <a:endParaRPr lang="en-NG"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26" name="Straight Arrow Connector 125">
            <a:extLst>
              <a:ext uri="{FF2B5EF4-FFF2-40B4-BE49-F238E27FC236}">
                <a16:creationId xmlns:a16="http://schemas.microsoft.com/office/drawing/2014/main" id="{BE1BF41B-6014-C729-FA92-181DD9C9308B}"/>
              </a:ext>
            </a:extLst>
          </p:cNvPr>
          <p:cNvCxnSpPr>
            <a:cxnSpLocks/>
            <a:stCxn id="98" idx="2"/>
            <a:endCxn id="101" idx="0"/>
          </p:cNvCxnSpPr>
          <p:nvPr/>
        </p:nvCxnSpPr>
        <p:spPr>
          <a:xfrm>
            <a:off x="6530526" y="1595355"/>
            <a:ext cx="4755" cy="1752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4FAD7745-0C5B-EB84-C016-00E25BFF412F}"/>
              </a:ext>
            </a:extLst>
          </p:cNvPr>
          <p:cNvCxnSpPr>
            <a:cxnSpLocks/>
          </p:cNvCxnSpPr>
          <p:nvPr/>
        </p:nvCxnSpPr>
        <p:spPr>
          <a:xfrm>
            <a:off x="6530526" y="2059176"/>
            <a:ext cx="0" cy="189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3AB7D2AB-1095-944A-CA11-85FFE63E5588}"/>
              </a:ext>
            </a:extLst>
          </p:cNvPr>
          <p:cNvCxnSpPr>
            <a:cxnSpLocks/>
          </p:cNvCxnSpPr>
          <p:nvPr/>
        </p:nvCxnSpPr>
        <p:spPr>
          <a:xfrm flipV="1">
            <a:off x="3184802" y="2652882"/>
            <a:ext cx="73691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88E361DB-ACFA-B2DE-DABA-102A04A89364}"/>
              </a:ext>
            </a:extLst>
          </p:cNvPr>
          <p:cNvCxnSpPr>
            <a:cxnSpLocks/>
          </p:cNvCxnSpPr>
          <p:nvPr/>
        </p:nvCxnSpPr>
        <p:spPr>
          <a:xfrm>
            <a:off x="10553929" y="2632499"/>
            <a:ext cx="0" cy="189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2FC37C5B-9178-9357-D7E8-14A3BA118E5C}"/>
              </a:ext>
            </a:extLst>
          </p:cNvPr>
          <p:cNvCxnSpPr>
            <a:cxnSpLocks/>
          </p:cNvCxnSpPr>
          <p:nvPr/>
        </p:nvCxnSpPr>
        <p:spPr>
          <a:xfrm>
            <a:off x="2310595" y="3211695"/>
            <a:ext cx="0" cy="2258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6F078B4A-F01C-2A97-29E5-E40A3C0DA501}"/>
              </a:ext>
            </a:extLst>
          </p:cNvPr>
          <p:cNvCxnSpPr>
            <a:cxnSpLocks/>
          </p:cNvCxnSpPr>
          <p:nvPr/>
        </p:nvCxnSpPr>
        <p:spPr>
          <a:xfrm>
            <a:off x="3189406" y="2652882"/>
            <a:ext cx="0" cy="2188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E3DF471B-1478-D0FD-BA0D-8F7573C213C8}"/>
              </a:ext>
            </a:extLst>
          </p:cNvPr>
          <p:cNvCxnSpPr>
            <a:cxnSpLocks/>
          </p:cNvCxnSpPr>
          <p:nvPr/>
        </p:nvCxnSpPr>
        <p:spPr>
          <a:xfrm>
            <a:off x="10702076" y="3980132"/>
            <a:ext cx="0" cy="189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CD041E5E-A011-CED1-28EA-6B7011FE285E}"/>
              </a:ext>
            </a:extLst>
          </p:cNvPr>
          <p:cNvCxnSpPr>
            <a:cxnSpLocks/>
          </p:cNvCxnSpPr>
          <p:nvPr/>
        </p:nvCxnSpPr>
        <p:spPr>
          <a:xfrm>
            <a:off x="10702076" y="3588870"/>
            <a:ext cx="0" cy="189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BDD30EA3-881B-72A4-96A0-AC3FBA2C99E8}"/>
              </a:ext>
            </a:extLst>
          </p:cNvPr>
          <p:cNvCxnSpPr>
            <a:cxnSpLocks/>
          </p:cNvCxnSpPr>
          <p:nvPr/>
        </p:nvCxnSpPr>
        <p:spPr>
          <a:xfrm>
            <a:off x="10702076" y="3153442"/>
            <a:ext cx="0" cy="189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1173AF23-A7EF-493D-1D31-E696579D8A09}"/>
              </a:ext>
            </a:extLst>
          </p:cNvPr>
          <p:cNvCxnSpPr>
            <a:cxnSpLocks/>
          </p:cNvCxnSpPr>
          <p:nvPr/>
        </p:nvCxnSpPr>
        <p:spPr>
          <a:xfrm>
            <a:off x="3996855" y="3778281"/>
            <a:ext cx="0" cy="2587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54F4FA30-37FF-C3C3-A216-C9DD6D7793C3}"/>
              </a:ext>
            </a:extLst>
          </p:cNvPr>
          <p:cNvCxnSpPr>
            <a:cxnSpLocks/>
          </p:cNvCxnSpPr>
          <p:nvPr/>
        </p:nvCxnSpPr>
        <p:spPr>
          <a:xfrm>
            <a:off x="2455627" y="3778281"/>
            <a:ext cx="0" cy="2519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B98A0D7A-2770-404E-B587-BD069EB814D1}"/>
              </a:ext>
            </a:extLst>
          </p:cNvPr>
          <p:cNvCxnSpPr>
            <a:cxnSpLocks/>
          </p:cNvCxnSpPr>
          <p:nvPr/>
        </p:nvCxnSpPr>
        <p:spPr>
          <a:xfrm>
            <a:off x="3996855" y="3211695"/>
            <a:ext cx="0" cy="189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E3D460C2-B7CF-A10B-BB4E-309BFD7614B7}"/>
              </a:ext>
            </a:extLst>
          </p:cNvPr>
          <p:cNvCxnSpPr>
            <a:cxnSpLocks/>
          </p:cNvCxnSpPr>
          <p:nvPr/>
        </p:nvCxnSpPr>
        <p:spPr>
          <a:xfrm>
            <a:off x="6530526" y="2492876"/>
            <a:ext cx="0" cy="189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607F63B3-9C69-C323-C733-8CFF51AC3FC4}"/>
              </a:ext>
            </a:extLst>
          </p:cNvPr>
          <p:cNvCxnSpPr>
            <a:cxnSpLocks/>
          </p:cNvCxnSpPr>
          <p:nvPr/>
        </p:nvCxnSpPr>
        <p:spPr>
          <a:xfrm>
            <a:off x="1604489" y="4662215"/>
            <a:ext cx="8162263"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F16F1F6C-561C-44AB-4006-FD249E43BB18}"/>
              </a:ext>
            </a:extLst>
          </p:cNvPr>
          <p:cNvCxnSpPr>
            <a:cxnSpLocks/>
          </p:cNvCxnSpPr>
          <p:nvPr/>
        </p:nvCxnSpPr>
        <p:spPr>
          <a:xfrm>
            <a:off x="1604489" y="4662217"/>
            <a:ext cx="0" cy="189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914340CF-2E9D-FD8A-4A63-987773847AB2}"/>
              </a:ext>
            </a:extLst>
          </p:cNvPr>
          <p:cNvCxnSpPr>
            <a:cxnSpLocks/>
          </p:cNvCxnSpPr>
          <p:nvPr/>
        </p:nvCxnSpPr>
        <p:spPr>
          <a:xfrm>
            <a:off x="3712123" y="4662216"/>
            <a:ext cx="0" cy="189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Straight Arrow Connector 166">
            <a:extLst>
              <a:ext uri="{FF2B5EF4-FFF2-40B4-BE49-F238E27FC236}">
                <a16:creationId xmlns:a16="http://schemas.microsoft.com/office/drawing/2014/main" id="{168CFC50-B633-3F90-F5E1-3B9DF4C085FB}"/>
              </a:ext>
            </a:extLst>
          </p:cNvPr>
          <p:cNvCxnSpPr>
            <a:cxnSpLocks/>
          </p:cNvCxnSpPr>
          <p:nvPr/>
        </p:nvCxnSpPr>
        <p:spPr>
          <a:xfrm>
            <a:off x="5941866" y="4662215"/>
            <a:ext cx="0" cy="189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7199D4B3-2A6C-EA2F-8C55-FE3186087A2B}"/>
              </a:ext>
            </a:extLst>
          </p:cNvPr>
          <p:cNvCxnSpPr>
            <a:cxnSpLocks/>
          </p:cNvCxnSpPr>
          <p:nvPr/>
        </p:nvCxnSpPr>
        <p:spPr>
          <a:xfrm>
            <a:off x="7768491" y="4639935"/>
            <a:ext cx="0" cy="189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02296728-F7B3-664C-CE3E-37520701D17C}"/>
              </a:ext>
            </a:extLst>
          </p:cNvPr>
          <p:cNvCxnSpPr>
            <a:cxnSpLocks/>
          </p:cNvCxnSpPr>
          <p:nvPr/>
        </p:nvCxnSpPr>
        <p:spPr>
          <a:xfrm flipH="1">
            <a:off x="9766752" y="4662215"/>
            <a:ext cx="11399" cy="2228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Straight Arrow Connector 172">
            <a:extLst>
              <a:ext uri="{FF2B5EF4-FFF2-40B4-BE49-F238E27FC236}">
                <a16:creationId xmlns:a16="http://schemas.microsoft.com/office/drawing/2014/main" id="{7BCD4FD9-B3A6-CA7A-CDB9-3458E6547DF1}"/>
              </a:ext>
            </a:extLst>
          </p:cNvPr>
          <p:cNvCxnSpPr>
            <a:cxnSpLocks/>
          </p:cNvCxnSpPr>
          <p:nvPr/>
        </p:nvCxnSpPr>
        <p:spPr>
          <a:xfrm>
            <a:off x="3157439" y="4400123"/>
            <a:ext cx="0" cy="189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7DC08286-1081-F8E1-EF5F-5F30F65E2A5E}"/>
              </a:ext>
            </a:extLst>
          </p:cNvPr>
          <p:cNvCxnSpPr>
            <a:cxnSpLocks/>
          </p:cNvCxnSpPr>
          <p:nvPr/>
        </p:nvCxnSpPr>
        <p:spPr>
          <a:xfrm>
            <a:off x="1629184" y="5462390"/>
            <a:ext cx="814896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9F3C7C78-CEBF-FE73-3081-0D59F67AE0BD}"/>
              </a:ext>
            </a:extLst>
          </p:cNvPr>
          <p:cNvCxnSpPr>
            <a:cxnSpLocks/>
          </p:cNvCxnSpPr>
          <p:nvPr/>
        </p:nvCxnSpPr>
        <p:spPr>
          <a:xfrm>
            <a:off x="1629184" y="5154124"/>
            <a:ext cx="0" cy="294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E91CEB64-C5C3-728C-0B72-36D20E618931}"/>
              </a:ext>
            </a:extLst>
          </p:cNvPr>
          <p:cNvCxnSpPr>
            <a:cxnSpLocks/>
          </p:cNvCxnSpPr>
          <p:nvPr/>
        </p:nvCxnSpPr>
        <p:spPr>
          <a:xfrm>
            <a:off x="3668740" y="5129608"/>
            <a:ext cx="0" cy="294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640FC310-02AB-0260-FD82-1301E7090D11}"/>
              </a:ext>
            </a:extLst>
          </p:cNvPr>
          <p:cNvCxnSpPr>
            <a:cxnSpLocks/>
          </p:cNvCxnSpPr>
          <p:nvPr/>
        </p:nvCxnSpPr>
        <p:spPr>
          <a:xfrm>
            <a:off x="5962644" y="5164746"/>
            <a:ext cx="0" cy="294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F1709009-FA90-E4E4-FCB2-6063A83CB48F}"/>
              </a:ext>
            </a:extLst>
          </p:cNvPr>
          <p:cNvCxnSpPr>
            <a:cxnSpLocks/>
          </p:cNvCxnSpPr>
          <p:nvPr/>
        </p:nvCxnSpPr>
        <p:spPr>
          <a:xfrm>
            <a:off x="7815060" y="5164746"/>
            <a:ext cx="0" cy="294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CADA668D-C4C4-E97A-CD47-3641E631AB7B}"/>
              </a:ext>
            </a:extLst>
          </p:cNvPr>
          <p:cNvCxnSpPr>
            <a:cxnSpLocks/>
          </p:cNvCxnSpPr>
          <p:nvPr/>
        </p:nvCxnSpPr>
        <p:spPr>
          <a:xfrm>
            <a:off x="9796908" y="5154124"/>
            <a:ext cx="0" cy="294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CBD3A77A-5550-5A41-F078-454B0E887EFA}"/>
              </a:ext>
            </a:extLst>
          </p:cNvPr>
          <p:cNvCxnSpPr>
            <a:cxnSpLocks/>
            <a:endCxn id="111" idx="0"/>
          </p:cNvCxnSpPr>
          <p:nvPr/>
        </p:nvCxnSpPr>
        <p:spPr>
          <a:xfrm>
            <a:off x="6247654" y="5458923"/>
            <a:ext cx="0" cy="3863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5A195274-C817-DA44-3799-5CDA89534A0C}"/>
              </a:ext>
            </a:extLst>
          </p:cNvPr>
          <p:cNvCxnSpPr>
            <a:cxnSpLocks/>
          </p:cNvCxnSpPr>
          <p:nvPr/>
        </p:nvCxnSpPr>
        <p:spPr>
          <a:xfrm>
            <a:off x="10949354" y="4456127"/>
            <a:ext cx="0" cy="15367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B66638AF-4E71-4A9E-9609-78EB13E00C21}"/>
              </a:ext>
            </a:extLst>
          </p:cNvPr>
          <p:cNvCxnSpPr>
            <a:cxnSpLocks/>
            <a:endCxn id="111" idx="3"/>
          </p:cNvCxnSpPr>
          <p:nvPr/>
        </p:nvCxnSpPr>
        <p:spPr>
          <a:xfrm flipH="1">
            <a:off x="7171579" y="5992920"/>
            <a:ext cx="3795292"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782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816054" y="136525"/>
            <a:ext cx="9144000" cy="1146512"/>
          </a:xfrm>
        </p:spPr>
        <p:txBody>
          <a:bodyPr>
            <a:noAutofit/>
          </a:bodyPr>
          <a:lstStyle/>
          <a:p>
            <a:r>
              <a:rPr lang="en-US" sz="3200" b="1" dirty="0">
                <a:latin typeface="Arial Rounded MT Bold" panose="020F0704030504030204" pitchFamily="34" charset="0"/>
                <a:cs typeface="Times New Roman" panose="02020603050405020304" pitchFamily="18" charset="0"/>
              </a:rPr>
              <a:t>Distribution of Water Samples</a:t>
            </a:r>
            <a:br>
              <a:rPr lang="en-US"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0AC242FE-F4A4-5E2E-BE2C-48294B72D325}"/>
              </a:ext>
            </a:extLst>
          </p:cNvPr>
          <p:cNvSpPr>
            <a:spLocks noGrp="1"/>
          </p:cNvSpPr>
          <p:nvPr>
            <p:ph type="subTitle" idx="1"/>
          </p:nvPr>
        </p:nvSpPr>
        <p:spPr>
          <a:xfrm>
            <a:off x="1012875" y="1122363"/>
            <a:ext cx="10363198" cy="5545719"/>
          </a:xfrm>
        </p:spPr>
        <p:txBody>
          <a:bodyPr>
            <a:normAutofit/>
          </a:bodyPr>
          <a:lstStyle/>
          <a:p>
            <a:pPr algn="ctr">
              <a:lnSpc>
                <a:spcPct val="200000"/>
              </a:lnSpc>
            </a:pPr>
            <a:endParaRPr lang="en-GB" sz="1800" dirty="0">
              <a:effectLst/>
              <a:latin typeface="Times New Roman" panose="02020603050405020304" pitchFamily="18" charset="0"/>
              <a:ea typeface="Times New Roman" panose="02020603050405020304" pitchFamily="18" charset="0"/>
            </a:endParaRPr>
          </a:p>
          <a:p>
            <a:pPr algn="ctr">
              <a:lnSpc>
                <a:spcPct val="200000"/>
              </a:lnSpc>
            </a:pPr>
            <a:endParaRPr lang="en-GB" sz="1800" dirty="0">
              <a:effectLst/>
              <a:latin typeface="Times New Roman" panose="02020603050405020304" pitchFamily="18" charset="0"/>
              <a:ea typeface="Times New Roman" panose="02020603050405020304" pitchFamily="18" charset="0"/>
            </a:endParaRPr>
          </a:p>
          <a:p>
            <a:pPr algn="ctr">
              <a:lnSpc>
                <a:spcPct val="200000"/>
              </a:lnSpc>
            </a:pPr>
            <a:endParaRPr lang="en-GB" sz="1800" dirty="0">
              <a:effectLst/>
              <a:latin typeface="Times New Roman" panose="02020603050405020304" pitchFamily="18" charset="0"/>
              <a:ea typeface="Times New Roman" panose="02020603050405020304" pitchFamily="18" charset="0"/>
            </a:endParaRPr>
          </a:p>
          <a:p>
            <a:pPr algn="ctr">
              <a:lnSpc>
                <a:spcPct val="200000"/>
              </a:lnSpc>
            </a:pPr>
            <a:endParaRPr lang="en-GB" sz="1800" dirty="0">
              <a:effectLst/>
              <a:latin typeface="Times New Roman" panose="02020603050405020304" pitchFamily="18" charset="0"/>
              <a:ea typeface="Times New Roman" panose="02020603050405020304" pitchFamily="18" charset="0"/>
            </a:endParaRPr>
          </a:p>
          <a:p>
            <a:pPr algn="ctr">
              <a:lnSpc>
                <a:spcPct val="200000"/>
              </a:lnSpc>
            </a:pPr>
            <a:endParaRPr lang="en-NG" sz="1800" dirty="0">
              <a:effectLst/>
              <a:latin typeface="Times New Roman" panose="02020603050405020304" pitchFamily="18"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851A9375-6DF6-6866-C175-13DBA31B7A39}"/>
              </a:ext>
            </a:extLst>
          </p:cNvPr>
          <p:cNvSpPr>
            <a:spLocks noGrp="1"/>
          </p:cNvSpPr>
          <p:nvPr>
            <p:ph type="sldNum" sz="quarter" idx="12"/>
          </p:nvPr>
        </p:nvSpPr>
        <p:spPr/>
        <p:txBody>
          <a:bodyPr/>
          <a:lstStyle/>
          <a:p>
            <a:fld id="{E30FEA02-71A2-4209-B909-B13DA9CFC23D}" type="slidenum">
              <a:rPr lang="en-NG" smtClean="0"/>
              <a:t>13</a:t>
            </a:fld>
            <a:endParaRPr lang="en-NG"/>
          </a:p>
        </p:txBody>
      </p:sp>
      <p:pic>
        <p:nvPicPr>
          <p:cNvPr id="9" name="Picture 8">
            <a:extLst>
              <a:ext uri="{FF2B5EF4-FFF2-40B4-BE49-F238E27FC236}">
                <a16:creationId xmlns:a16="http://schemas.microsoft.com/office/drawing/2014/main" id="{1C3A7DCD-05AF-7C0C-0419-F75A11E590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9691" y="1378042"/>
            <a:ext cx="8350346" cy="4559119"/>
          </a:xfrm>
          <a:prstGeom prst="rect">
            <a:avLst/>
          </a:prstGeom>
        </p:spPr>
      </p:pic>
      <p:sp>
        <p:nvSpPr>
          <p:cNvPr id="5" name="Title 1">
            <a:extLst>
              <a:ext uri="{FF2B5EF4-FFF2-40B4-BE49-F238E27FC236}">
                <a16:creationId xmlns:a16="http://schemas.microsoft.com/office/drawing/2014/main" id="{A592E5AC-EDB5-2447-57C4-AC6147F63920}"/>
              </a:ext>
            </a:extLst>
          </p:cNvPr>
          <p:cNvSpPr txBox="1">
            <a:spLocks/>
          </p:cNvSpPr>
          <p:nvPr/>
        </p:nvSpPr>
        <p:spPr>
          <a:xfrm rot="10800000" flipV="1">
            <a:off x="416465" y="5178535"/>
            <a:ext cx="10543589" cy="129561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200" dirty="0">
                <a:effectLst/>
                <a:latin typeface="Arial Rounded MT Bold" panose="020F0704030504030204" pitchFamily="34" charset="0"/>
                <a:ea typeface="Calibri" panose="020F0502020204030204" pitchFamily="34" charset="0"/>
                <a:cs typeface="Times New Roman" panose="02020603050405020304" pitchFamily="18" charset="0"/>
              </a:rPr>
              <a:t>Figure 7: </a:t>
            </a:r>
            <a:r>
              <a:rPr lang="en-GB" sz="1200" dirty="0">
                <a:latin typeface="Arial Rounded MT Bold" panose="020F0704030504030204" pitchFamily="34" charset="0"/>
                <a:ea typeface="Calibri" panose="020F0502020204030204" pitchFamily="34" charset="0"/>
                <a:cs typeface="Times New Roman" panose="02020603050405020304" pitchFamily="18" charset="0"/>
              </a:rPr>
              <a:t>Water Sampling Locations</a:t>
            </a:r>
            <a:r>
              <a:rPr lang="en-GB" sz="1200" dirty="0">
                <a:effectLst/>
                <a:latin typeface="Arial Rounded MT Bold" panose="020F0704030504030204" pitchFamily="34" charset="0"/>
                <a:ea typeface="Calibri" panose="020F0502020204030204" pitchFamily="34" charset="0"/>
              </a:rPr>
              <a:t> (Modified from GSN, 1965 using ARCGIS)</a:t>
            </a:r>
            <a:br>
              <a:rPr lang="en-GB" sz="1200" b="1" dirty="0">
                <a:latin typeface="Arial Rounded MT Bold" panose="020F0704030504030204" pitchFamily="34" charset="0"/>
                <a:cs typeface="Times New Roman" panose="02020603050405020304" pitchFamily="18" charset="0"/>
              </a:rPr>
            </a:br>
            <a:endParaRPr lang="en-NG" sz="1200" dirty="0">
              <a:latin typeface="Arial Rounded MT Bold" panose="020F0704030504030204" pitchFamily="34" charset="0"/>
            </a:endParaRPr>
          </a:p>
        </p:txBody>
      </p:sp>
    </p:spTree>
    <p:extLst>
      <p:ext uri="{BB962C8B-B14F-4D97-AF65-F5344CB8AC3E}">
        <p14:creationId xmlns:p14="http://schemas.microsoft.com/office/powerpoint/2010/main" val="1811122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931964" y="189918"/>
            <a:ext cx="9144000" cy="1146512"/>
          </a:xfrm>
        </p:spPr>
        <p:txBody>
          <a:bodyPr>
            <a:noAutofit/>
          </a:bodyPr>
          <a:lstStyle/>
          <a:p>
            <a:r>
              <a:rPr lang="en-US" sz="3200" b="1" dirty="0">
                <a:latin typeface="Arial Rounded MT Bold" panose="020F0704030504030204" pitchFamily="34" charset="0"/>
                <a:cs typeface="Times New Roman" panose="02020603050405020304" pitchFamily="18" charset="0"/>
              </a:rPr>
              <a:t>Distribution of Soil  Samples</a:t>
            </a:r>
            <a:br>
              <a:rPr lang="en-US"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0AC242FE-F4A4-5E2E-BE2C-48294B72D325}"/>
              </a:ext>
            </a:extLst>
          </p:cNvPr>
          <p:cNvSpPr>
            <a:spLocks noGrp="1"/>
          </p:cNvSpPr>
          <p:nvPr>
            <p:ph type="subTitle" idx="1"/>
          </p:nvPr>
        </p:nvSpPr>
        <p:spPr>
          <a:xfrm>
            <a:off x="1012875" y="1122363"/>
            <a:ext cx="10363198" cy="5545719"/>
          </a:xfrm>
        </p:spPr>
        <p:txBody>
          <a:bodyPr>
            <a:normAutofit/>
          </a:bodyPr>
          <a:lstStyle/>
          <a:p>
            <a:pPr algn="ctr">
              <a:lnSpc>
                <a:spcPct val="200000"/>
              </a:lnSpc>
            </a:pPr>
            <a:endParaRPr lang="en-GB" sz="1800" dirty="0">
              <a:effectLst/>
              <a:latin typeface="Times New Roman" panose="02020603050405020304" pitchFamily="18" charset="0"/>
              <a:ea typeface="Times New Roman" panose="02020603050405020304" pitchFamily="18" charset="0"/>
            </a:endParaRPr>
          </a:p>
          <a:p>
            <a:pPr algn="ctr">
              <a:lnSpc>
                <a:spcPct val="200000"/>
              </a:lnSpc>
            </a:pPr>
            <a:endParaRPr lang="en-GB" sz="1800" dirty="0">
              <a:effectLst/>
              <a:latin typeface="Times New Roman" panose="02020603050405020304" pitchFamily="18" charset="0"/>
              <a:ea typeface="Times New Roman" panose="02020603050405020304" pitchFamily="18" charset="0"/>
            </a:endParaRPr>
          </a:p>
          <a:p>
            <a:pPr algn="ctr">
              <a:lnSpc>
                <a:spcPct val="200000"/>
              </a:lnSpc>
            </a:pPr>
            <a:endParaRPr lang="en-GB" sz="1800" dirty="0">
              <a:effectLst/>
              <a:latin typeface="Times New Roman" panose="02020603050405020304" pitchFamily="18" charset="0"/>
              <a:ea typeface="Times New Roman" panose="02020603050405020304" pitchFamily="18" charset="0"/>
            </a:endParaRPr>
          </a:p>
          <a:p>
            <a:pPr algn="ctr">
              <a:lnSpc>
                <a:spcPct val="200000"/>
              </a:lnSpc>
            </a:pPr>
            <a:endParaRPr lang="en-GB" sz="1800" dirty="0">
              <a:effectLst/>
              <a:latin typeface="Times New Roman" panose="02020603050405020304" pitchFamily="18" charset="0"/>
              <a:ea typeface="Times New Roman" panose="02020603050405020304" pitchFamily="18" charset="0"/>
            </a:endParaRPr>
          </a:p>
          <a:p>
            <a:pPr algn="ctr">
              <a:lnSpc>
                <a:spcPct val="200000"/>
              </a:lnSpc>
            </a:pPr>
            <a:endParaRPr lang="en-NG" sz="1800" dirty="0">
              <a:effectLst/>
              <a:latin typeface="Times New Roman" panose="02020603050405020304" pitchFamily="18"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851A9375-6DF6-6866-C175-13DBA31B7A39}"/>
              </a:ext>
            </a:extLst>
          </p:cNvPr>
          <p:cNvSpPr>
            <a:spLocks noGrp="1"/>
          </p:cNvSpPr>
          <p:nvPr>
            <p:ph type="sldNum" sz="quarter" idx="12"/>
          </p:nvPr>
        </p:nvSpPr>
        <p:spPr/>
        <p:txBody>
          <a:bodyPr/>
          <a:lstStyle/>
          <a:p>
            <a:fld id="{E30FEA02-71A2-4209-B909-B13DA9CFC23D}" type="slidenum">
              <a:rPr lang="en-NG" smtClean="0"/>
              <a:t>14</a:t>
            </a:fld>
            <a:endParaRPr lang="en-NG" dirty="0"/>
          </a:p>
        </p:txBody>
      </p:sp>
      <p:pic>
        <p:nvPicPr>
          <p:cNvPr id="6" name="Picture 5">
            <a:extLst>
              <a:ext uri="{FF2B5EF4-FFF2-40B4-BE49-F238E27FC236}">
                <a16:creationId xmlns:a16="http://schemas.microsoft.com/office/drawing/2014/main" id="{56C1E037-5AFA-8D40-AAAA-EA4F1CEA8C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3708" y="1307738"/>
            <a:ext cx="7703127" cy="4064723"/>
          </a:xfrm>
          <a:prstGeom prst="rect">
            <a:avLst/>
          </a:prstGeom>
        </p:spPr>
      </p:pic>
      <p:sp>
        <p:nvSpPr>
          <p:cNvPr id="5" name="Title 1">
            <a:extLst>
              <a:ext uri="{FF2B5EF4-FFF2-40B4-BE49-F238E27FC236}">
                <a16:creationId xmlns:a16="http://schemas.microsoft.com/office/drawing/2014/main" id="{DAEA13C2-0352-ADD8-8032-2131BE8B2D9D}"/>
              </a:ext>
            </a:extLst>
          </p:cNvPr>
          <p:cNvSpPr txBox="1">
            <a:spLocks/>
          </p:cNvSpPr>
          <p:nvPr/>
        </p:nvSpPr>
        <p:spPr>
          <a:xfrm rot="10800000" flipV="1">
            <a:off x="635536" y="5494088"/>
            <a:ext cx="10543589" cy="29527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200" dirty="0">
                <a:effectLst/>
                <a:latin typeface="Arial Rounded MT Bold" panose="020F0704030504030204" pitchFamily="34" charset="0"/>
                <a:ea typeface="Calibri" panose="020F0502020204030204" pitchFamily="34" charset="0"/>
                <a:cs typeface="Times New Roman" panose="02020603050405020304" pitchFamily="18" charset="0"/>
              </a:rPr>
              <a:t>Figure 8: </a:t>
            </a:r>
            <a:r>
              <a:rPr lang="en-GB" sz="1200" dirty="0">
                <a:latin typeface="Arial Rounded MT Bold" panose="020F0704030504030204" pitchFamily="34" charset="0"/>
                <a:ea typeface="Calibri" panose="020F0502020204030204" pitchFamily="34" charset="0"/>
                <a:cs typeface="Times New Roman" panose="02020603050405020304" pitchFamily="18" charset="0"/>
              </a:rPr>
              <a:t>Soil Sampling Locations</a:t>
            </a:r>
            <a:r>
              <a:rPr lang="en-GB" sz="1200" dirty="0">
                <a:effectLst/>
                <a:latin typeface="Arial Rounded MT Bold" panose="020F0704030504030204" pitchFamily="34" charset="0"/>
                <a:ea typeface="Calibri" panose="020F0502020204030204" pitchFamily="34" charset="0"/>
              </a:rPr>
              <a:t> (Modified from GSN, 1965 using ARCGIS)</a:t>
            </a:r>
            <a:endParaRPr lang="en-NG" sz="1200" dirty="0">
              <a:latin typeface="Arial Rounded MT Bold" panose="020F0704030504030204" pitchFamily="34" charset="0"/>
            </a:endParaRPr>
          </a:p>
        </p:txBody>
      </p:sp>
    </p:spTree>
    <p:extLst>
      <p:ext uri="{BB962C8B-B14F-4D97-AF65-F5344CB8AC3E}">
        <p14:creationId xmlns:p14="http://schemas.microsoft.com/office/powerpoint/2010/main" val="927447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805355" y="189917"/>
            <a:ext cx="9144000" cy="1146512"/>
          </a:xfrm>
        </p:spPr>
        <p:txBody>
          <a:bodyPr>
            <a:noAutofit/>
          </a:bodyPr>
          <a:lstStyle/>
          <a:p>
            <a:r>
              <a:rPr lang="en-US" sz="3200" b="1" dirty="0">
                <a:latin typeface="Arial Rounded MT Bold" panose="020F0704030504030204" pitchFamily="34" charset="0"/>
                <a:cs typeface="Times New Roman" panose="02020603050405020304" pitchFamily="18" charset="0"/>
              </a:rPr>
              <a:t>Results and Discussions</a:t>
            </a:r>
            <a:br>
              <a:rPr lang="en-US"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0AC242FE-F4A4-5E2E-BE2C-48294B72D325}"/>
              </a:ext>
            </a:extLst>
          </p:cNvPr>
          <p:cNvSpPr>
            <a:spLocks noGrp="1"/>
          </p:cNvSpPr>
          <p:nvPr>
            <p:ph type="subTitle" idx="1"/>
          </p:nvPr>
        </p:nvSpPr>
        <p:spPr>
          <a:xfrm>
            <a:off x="1012875" y="1122363"/>
            <a:ext cx="10363198" cy="5545719"/>
          </a:xfrm>
        </p:spPr>
        <p:txBody>
          <a:bodyPr>
            <a:normAutofit/>
          </a:bodyPr>
          <a:lstStyle/>
          <a:p>
            <a:pPr algn="ctr">
              <a:lnSpc>
                <a:spcPct val="200000"/>
              </a:lnSpc>
            </a:pPr>
            <a:r>
              <a:rPr lang="en-GB" sz="1800" dirty="0">
                <a:effectLst/>
                <a:latin typeface="Times New Roman" panose="02020603050405020304" pitchFamily="18" charset="0"/>
                <a:ea typeface="Times New Roman" panose="02020603050405020304" pitchFamily="18" charset="0"/>
              </a:rPr>
              <a:t>Table 1: Physicochemical Parameters of Surface Water (Wet and Dry Seasons)</a:t>
            </a:r>
          </a:p>
          <a:p>
            <a:pPr algn="ctr">
              <a:lnSpc>
                <a:spcPct val="200000"/>
              </a:lnSpc>
            </a:pPr>
            <a:endParaRPr lang="en-GB" sz="1800" dirty="0">
              <a:effectLst/>
              <a:latin typeface="Times New Roman" panose="02020603050405020304" pitchFamily="18" charset="0"/>
              <a:ea typeface="Times New Roman" panose="02020603050405020304" pitchFamily="18" charset="0"/>
            </a:endParaRPr>
          </a:p>
          <a:p>
            <a:pPr algn="ctr">
              <a:lnSpc>
                <a:spcPct val="200000"/>
              </a:lnSpc>
            </a:pPr>
            <a:endParaRPr lang="en-GB" sz="1800" dirty="0">
              <a:effectLst/>
              <a:latin typeface="Times New Roman" panose="02020603050405020304" pitchFamily="18" charset="0"/>
              <a:ea typeface="Times New Roman" panose="02020603050405020304" pitchFamily="18" charset="0"/>
            </a:endParaRPr>
          </a:p>
          <a:p>
            <a:pPr algn="ctr">
              <a:lnSpc>
                <a:spcPct val="200000"/>
              </a:lnSpc>
            </a:pPr>
            <a:endParaRPr lang="en-GB" sz="1800" dirty="0">
              <a:effectLst/>
              <a:latin typeface="Times New Roman" panose="02020603050405020304" pitchFamily="18" charset="0"/>
              <a:ea typeface="Times New Roman" panose="02020603050405020304" pitchFamily="18" charset="0"/>
            </a:endParaRPr>
          </a:p>
          <a:p>
            <a:pPr algn="ctr">
              <a:lnSpc>
                <a:spcPct val="200000"/>
              </a:lnSpc>
            </a:pPr>
            <a:endParaRPr lang="en-GB" sz="1800" dirty="0">
              <a:effectLst/>
              <a:latin typeface="Times New Roman" panose="02020603050405020304" pitchFamily="18" charset="0"/>
              <a:ea typeface="Times New Roman" panose="02020603050405020304" pitchFamily="18" charset="0"/>
            </a:endParaRPr>
          </a:p>
          <a:p>
            <a:pPr algn="ctr">
              <a:lnSpc>
                <a:spcPct val="200000"/>
              </a:lnSpc>
            </a:pPr>
            <a:endParaRPr lang="en-NG" sz="1800" dirty="0">
              <a:effectLst/>
              <a:latin typeface="Times New Roman" panose="02020603050405020304" pitchFamily="18"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851A9375-6DF6-6866-C175-13DBA31B7A39}"/>
              </a:ext>
            </a:extLst>
          </p:cNvPr>
          <p:cNvSpPr>
            <a:spLocks noGrp="1"/>
          </p:cNvSpPr>
          <p:nvPr>
            <p:ph type="sldNum" sz="quarter" idx="12"/>
          </p:nvPr>
        </p:nvSpPr>
        <p:spPr/>
        <p:txBody>
          <a:bodyPr/>
          <a:lstStyle/>
          <a:p>
            <a:fld id="{E30FEA02-71A2-4209-B909-B13DA9CFC23D}" type="slidenum">
              <a:rPr lang="en-NG" smtClean="0"/>
              <a:t>15</a:t>
            </a:fld>
            <a:endParaRPr lang="en-NG"/>
          </a:p>
        </p:txBody>
      </p:sp>
      <p:graphicFrame>
        <p:nvGraphicFramePr>
          <p:cNvPr id="5" name="Table 4">
            <a:extLst>
              <a:ext uri="{FF2B5EF4-FFF2-40B4-BE49-F238E27FC236}">
                <a16:creationId xmlns:a16="http://schemas.microsoft.com/office/drawing/2014/main" id="{FB409B8C-0C21-2B5C-AA44-71BCAA5EFA4F}"/>
              </a:ext>
            </a:extLst>
          </p:cNvPr>
          <p:cNvGraphicFramePr>
            <a:graphicFrameLocks noGrp="1"/>
          </p:cNvGraphicFramePr>
          <p:nvPr>
            <p:extLst>
              <p:ext uri="{D42A27DB-BD31-4B8C-83A1-F6EECF244321}">
                <p14:modId xmlns:p14="http://schemas.microsoft.com/office/powerpoint/2010/main" val="2904333895"/>
              </p:ext>
            </p:extLst>
          </p:nvPr>
        </p:nvGraphicFramePr>
        <p:xfrm>
          <a:off x="1805355" y="1734011"/>
          <a:ext cx="9144000" cy="4722188"/>
        </p:xfrm>
        <a:graphic>
          <a:graphicData uri="http://schemas.openxmlformats.org/drawingml/2006/table">
            <a:tbl>
              <a:tblPr firstRow="1" firstCol="1" bandRow="1"/>
              <a:tblGrid>
                <a:gridCol w="869994">
                  <a:extLst>
                    <a:ext uri="{9D8B030D-6E8A-4147-A177-3AD203B41FA5}">
                      <a16:colId xmlns:a16="http://schemas.microsoft.com/office/drawing/2014/main" val="141512218"/>
                    </a:ext>
                  </a:extLst>
                </a:gridCol>
                <a:gridCol w="906244">
                  <a:extLst>
                    <a:ext uri="{9D8B030D-6E8A-4147-A177-3AD203B41FA5}">
                      <a16:colId xmlns:a16="http://schemas.microsoft.com/office/drawing/2014/main" val="2690342351"/>
                    </a:ext>
                  </a:extLst>
                </a:gridCol>
                <a:gridCol w="910774">
                  <a:extLst>
                    <a:ext uri="{9D8B030D-6E8A-4147-A177-3AD203B41FA5}">
                      <a16:colId xmlns:a16="http://schemas.microsoft.com/office/drawing/2014/main" val="2129301569"/>
                    </a:ext>
                  </a:extLst>
                </a:gridCol>
                <a:gridCol w="910774">
                  <a:extLst>
                    <a:ext uri="{9D8B030D-6E8A-4147-A177-3AD203B41FA5}">
                      <a16:colId xmlns:a16="http://schemas.microsoft.com/office/drawing/2014/main" val="914151601"/>
                    </a:ext>
                  </a:extLst>
                </a:gridCol>
                <a:gridCol w="869994">
                  <a:extLst>
                    <a:ext uri="{9D8B030D-6E8A-4147-A177-3AD203B41FA5}">
                      <a16:colId xmlns:a16="http://schemas.microsoft.com/office/drawing/2014/main" val="3105074876"/>
                    </a:ext>
                  </a:extLst>
                </a:gridCol>
                <a:gridCol w="1033119">
                  <a:extLst>
                    <a:ext uri="{9D8B030D-6E8A-4147-A177-3AD203B41FA5}">
                      <a16:colId xmlns:a16="http://schemas.microsoft.com/office/drawing/2014/main" val="1256736448"/>
                    </a:ext>
                  </a:extLst>
                </a:gridCol>
                <a:gridCol w="1033119">
                  <a:extLst>
                    <a:ext uri="{9D8B030D-6E8A-4147-A177-3AD203B41FA5}">
                      <a16:colId xmlns:a16="http://schemas.microsoft.com/office/drawing/2014/main" val="4171536830"/>
                    </a:ext>
                  </a:extLst>
                </a:gridCol>
                <a:gridCol w="869994">
                  <a:extLst>
                    <a:ext uri="{9D8B030D-6E8A-4147-A177-3AD203B41FA5}">
                      <a16:colId xmlns:a16="http://schemas.microsoft.com/office/drawing/2014/main" val="3006962513"/>
                    </a:ext>
                  </a:extLst>
                </a:gridCol>
                <a:gridCol w="869994">
                  <a:extLst>
                    <a:ext uri="{9D8B030D-6E8A-4147-A177-3AD203B41FA5}">
                      <a16:colId xmlns:a16="http://schemas.microsoft.com/office/drawing/2014/main" val="1163744561"/>
                    </a:ext>
                  </a:extLst>
                </a:gridCol>
                <a:gridCol w="869994">
                  <a:extLst>
                    <a:ext uri="{9D8B030D-6E8A-4147-A177-3AD203B41FA5}">
                      <a16:colId xmlns:a16="http://schemas.microsoft.com/office/drawing/2014/main" val="3140877424"/>
                    </a:ext>
                  </a:extLst>
                </a:gridCol>
              </a:tblGrid>
              <a:tr h="149691">
                <a:tc rowSpan="2">
                  <a:txBody>
                    <a:bodyPr/>
                    <a:lstStyle/>
                    <a:p>
                      <a:pPr algn="l" rtl="0" fontAlgn="ctr"/>
                      <a:r>
                        <a:rPr lang="en-US" sz="1000" b="1" i="0" u="none" strike="noStrike">
                          <a:solidFill>
                            <a:srgbClr val="000000"/>
                          </a:solidFill>
                          <a:effectLst/>
                          <a:latin typeface="Arial Rounded MT Bold" panose="020F0704030504030204" pitchFamily="34" charset="0"/>
                        </a:rPr>
                        <a:t>Parameters</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l" fontAlgn="ctr"/>
                      <a:r>
                        <a:rPr lang="en-US" sz="1000" b="1" i="0" u="none" strike="noStrike" dirty="0">
                          <a:solidFill>
                            <a:srgbClr val="000000"/>
                          </a:solidFill>
                          <a:effectLst/>
                          <a:latin typeface="Arial Rounded MT Bold" panose="020F0704030504030204" pitchFamily="34" charset="0"/>
                        </a:rPr>
                        <a:t>Surface Water for Wet Season</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NG"/>
                    </a:p>
                  </a:txBody>
                  <a:tcPr/>
                </a:tc>
                <a:tc hMerge="1">
                  <a:txBody>
                    <a:bodyPr/>
                    <a:lstStyle/>
                    <a:p>
                      <a:endParaRPr lang="en-NG"/>
                    </a:p>
                  </a:txBody>
                  <a:tcPr/>
                </a:tc>
                <a:tc gridSpan="3">
                  <a:txBody>
                    <a:bodyPr/>
                    <a:lstStyle/>
                    <a:p>
                      <a:pPr algn="l" fontAlgn="ctr"/>
                      <a:r>
                        <a:rPr lang="en-US" sz="1000" b="1" i="0" u="none" strike="noStrike" dirty="0">
                          <a:solidFill>
                            <a:srgbClr val="000000"/>
                          </a:solidFill>
                          <a:effectLst/>
                          <a:latin typeface="Arial Rounded MT Bold" panose="020F0704030504030204" pitchFamily="34" charset="0"/>
                        </a:rPr>
                        <a:t>Surface Water for Dry Season</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NG"/>
                    </a:p>
                  </a:txBody>
                  <a:tcPr/>
                </a:tc>
                <a:tc hMerge="1">
                  <a:txBody>
                    <a:bodyPr/>
                    <a:lstStyle/>
                    <a:p>
                      <a:endParaRPr lang="en-NG"/>
                    </a:p>
                  </a:txBody>
                  <a:tcPr/>
                </a:tc>
                <a:tc rowSpan="2">
                  <a:txBody>
                    <a:bodyPr/>
                    <a:lstStyle/>
                    <a:p>
                      <a:pPr algn="ctr" fontAlgn="ctr"/>
                      <a:r>
                        <a:rPr lang="en-US" sz="1000" b="1" i="0" u="none" strike="noStrike">
                          <a:solidFill>
                            <a:srgbClr val="000000"/>
                          </a:solidFill>
                          <a:effectLst/>
                          <a:latin typeface="Arial Rounded MT Bold" panose="020F0704030504030204" pitchFamily="34" charset="0"/>
                        </a:rPr>
                        <a:t>Control Sample</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rtl="0" fontAlgn="ctr"/>
                      <a:r>
                        <a:rPr lang="en-US" sz="1000" b="1" i="0" u="none" strike="noStrike">
                          <a:solidFill>
                            <a:srgbClr val="000000"/>
                          </a:solidFill>
                          <a:effectLst/>
                          <a:latin typeface="Arial Rounded MT Bold" panose="020F0704030504030204" pitchFamily="34" charset="0"/>
                        </a:rPr>
                        <a:t>NSDWQ, 2015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rtl="0" fontAlgn="ctr"/>
                      <a:r>
                        <a:rPr lang="en-US" sz="1000" b="1" i="0" u="none" strike="noStrike">
                          <a:solidFill>
                            <a:srgbClr val="000000"/>
                          </a:solidFill>
                          <a:effectLst/>
                          <a:latin typeface="Arial Rounded MT Bold" panose="020F0704030504030204" pitchFamily="34" charset="0"/>
                        </a:rPr>
                        <a:t>WHO, 2017</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04612822"/>
                  </a:ext>
                </a:extLst>
              </a:tr>
              <a:tr h="184094">
                <a:tc vMerge="1">
                  <a:txBody>
                    <a:bodyPr/>
                    <a:lstStyle/>
                    <a:p>
                      <a:endParaRPr lang="en-NG"/>
                    </a:p>
                  </a:txBody>
                  <a:tcPr/>
                </a:tc>
                <a:tc>
                  <a:txBody>
                    <a:bodyPr/>
                    <a:lstStyle/>
                    <a:p>
                      <a:pPr algn="ctr" rtl="0" fontAlgn="ctr"/>
                      <a:r>
                        <a:rPr lang="en-US" sz="1000" b="1" i="0" u="none" strike="noStrike">
                          <a:solidFill>
                            <a:srgbClr val="000000"/>
                          </a:solidFill>
                          <a:effectLst/>
                          <a:latin typeface="Arial Rounded MT Bold" panose="020F0704030504030204" pitchFamily="34" charset="0"/>
                        </a:rPr>
                        <a:t>Range</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000" b="1" i="0" u="none" strike="noStrike">
                          <a:solidFill>
                            <a:srgbClr val="000000"/>
                          </a:solidFill>
                          <a:effectLst/>
                          <a:latin typeface="Arial Rounded MT Bold" panose="020F0704030504030204" pitchFamily="34" charset="0"/>
                        </a:rPr>
                        <a:t>Mean</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000" b="1" i="0" u="none" strike="noStrike">
                          <a:solidFill>
                            <a:srgbClr val="000000"/>
                          </a:solidFill>
                          <a:effectLst/>
                          <a:latin typeface="Arial Rounded MT Bold" panose="020F0704030504030204" pitchFamily="34" charset="0"/>
                        </a:rPr>
                        <a:t>Std. Deviation</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000" b="1" i="0" u="none" strike="noStrike">
                          <a:solidFill>
                            <a:srgbClr val="000000"/>
                          </a:solidFill>
                          <a:effectLst/>
                          <a:latin typeface="Arial Rounded MT Bold" panose="020F0704030504030204" pitchFamily="34" charset="0"/>
                        </a:rPr>
                        <a:t>Range</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000" b="1" i="0" u="none" strike="noStrike">
                          <a:solidFill>
                            <a:srgbClr val="000000"/>
                          </a:solidFill>
                          <a:effectLst/>
                          <a:latin typeface="Arial Rounded MT Bold" panose="020F0704030504030204" pitchFamily="34" charset="0"/>
                        </a:rPr>
                        <a:t>Mean</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000" b="1" i="0" u="none" strike="noStrike">
                          <a:solidFill>
                            <a:srgbClr val="000000"/>
                          </a:solidFill>
                          <a:effectLst/>
                          <a:latin typeface="Arial Rounded MT Bold" panose="020F0704030504030204" pitchFamily="34" charset="0"/>
                        </a:rPr>
                        <a:t>Std. Deviation</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NG"/>
                    </a:p>
                  </a:txBody>
                  <a:tcPr/>
                </a:tc>
                <a:tc vMerge="1">
                  <a:txBody>
                    <a:bodyPr/>
                    <a:lstStyle/>
                    <a:p>
                      <a:endParaRPr lang="en-NG"/>
                    </a:p>
                  </a:txBody>
                  <a:tcPr/>
                </a:tc>
                <a:tc vMerge="1">
                  <a:txBody>
                    <a:bodyPr/>
                    <a:lstStyle/>
                    <a:p>
                      <a:endParaRPr lang="en-NG"/>
                    </a:p>
                  </a:txBody>
                  <a:tcPr/>
                </a:tc>
                <a:extLst>
                  <a:ext uri="{0D108BD9-81ED-4DB2-BD59-A6C34878D82A}">
                    <a16:rowId xmlns:a16="http://schemas.microsoft.com/office/drawing/2014/main" val="1664267422"/>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Turb</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12.50-236.50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124.50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158.39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4.00-305.00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154.50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212.84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4.00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0259427"/>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pH</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7.00-10.50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8.75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2.47</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7.00-11.00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9.00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2.83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 8.70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6.5-8.5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6.5-8.5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6026705"/>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EC</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0.09-0.24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0.17</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0.10-0.23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0.17</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0645773"/>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TDS</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80.00-185.00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132.50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74.25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91.00-168.00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129.50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54.45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 009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500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500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7320105"/>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T</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23.10-27.10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25.10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2.83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25.40-30.40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27.90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3.54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 23.10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Arial Rounded MT Bold" panose="020F0704030504030204" pitchFamily="34" charset="0"/>
                        </a:rPr>
                        <a:t>Ambient</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Arial Rounded MT Bold" panose="020F0704030504030204" pitchFamily="34" charset="0"/>
                        </a:rPr>
                        <a:t>Ambient</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379605"/>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DO</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9.30-14.10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11.70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3.39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5.20-6.80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6.00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1.13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11.29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70471721"/>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BOD</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2.60-10.20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6.40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5.37</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0.30-3.95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2.13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2.58</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3.02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6379983"/>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Coliform</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0-10972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5486</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7758</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94-&gt;1110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9775332"/>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Na</a:t>
                      </a:r>
                      <a:r>
                        <a:rPr lang="en-US" sz="1000" b="0" i="0" u="none" strike="noStrike" baseline="30000">
                          <a:solidFill>
                            <a:srgbClr val="000000"/>
                          </a:solidFill>
                          <a:effectLst/>
                          <a:latin typeface="Arial Rounded MT Bold" panose="020F0704030504030204" pitchFamily="34" charset="0"/>
                        </a:rPr>
                        <a:t>+</a:t>
                      </a:r>
                      <a:endParaRPr lang="en-US" sz="1000" b="0" i="0" u="none" strike="noStrike">
                        <a:solidFill>
                          <a:srgbClr val="000000"/>
                        </a:solidFill>
                        <a:effectLst/>
                        <a:latin typeface="Arial Rounded MT Bold" panose="020F0704030504030204" pitchFamily="34" charset="0"/>
                      </a:endParaRP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0.00-0.35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0.18</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0.25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5.95-16.90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11.43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7.74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0.01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24867565"/>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K</a:t>
                      </a:r>
                      <a:r>
                        <a:rPr lang="en-US" sz="1000" b="0" i="0" u="none" strike="noStrike" baseline="30000">
                          <a:solidFill>
                            <a:srgbClr val="000000"/>
                          </a:solidFill>
                          <a:effectLst/>
                          <a:latin typeface="Arial Rounded MT Bold" panose="020F0704030504030204" pitchFamily="34" charset="0"/>
                        </a:rPr>
                        <a:t>+</a:t>
                      </a:r>
                      <a:endParaRPr lang="en-US" sz="1000" b="0" i="0" u="none" strike="noStrike">
                        <a:solidFill>
                          <a:srgbClr val="000000"/>
                        </a:solidFill>
                        <a:effectLst/>
                        <a:latin typeface="Arial Rounded MT Bold" panose="020F0704030504030204" pitchFamily="34" charset="0"/>
                      </a:endParaRP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4.74-10.04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7.39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3.75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2.38-25.22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13.80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16.15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0.50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4841308"/>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Mg</a:t>
                      </a:r>
                      <a:r>
                        <a:rPr lang="en-US" sz="1000" b="0" i="0" u="none" strike="noStrike" baseline="30000">
                          <a:solidFill>
                            <a:srgbClr val="000000"/>
                          </a:solidFill>
                          <a:effectLst/>
                          <a:latin typeface="Arial Rounded MT Bold" panose="020F0704030504030204" pitchFamily="34" charset="0"/>
                        </a:rPr>
                        <a:t>2+</a:t>
                      </a:r>
                      <a:endParaRPr lang="en-US" sz="1000" b="0" i="0" u="none" strike="noStrike">
                        <a:solidFill>
                          <a:srgbClr val="000000"/>
                        </a:solidFill>
                        <a:effectLst/>
                        <a:latin typeface="Arial Rounded MT Bold" panose="020F0704030504030204" pitchFamily="34" charset="0"/>
                      </a:endParaRP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11.21-21.94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16.58</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7.59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9.74-14.73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12.24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3.53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1.09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150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3800051"/>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Ca</a:t>
                      </a:r>
                      <a:r>
                        <a:rPr lang="en-US" sz="1000" b="0" i="0" u="none" strike="noStrike" baseline="30000">
                          <a:solidFill>
                            <a:srgbClr val="000000"/>
                          </a:solidFill>
                          <a:effectLst/>
                          <a:latin typeface="Arial Rounded MT Bold" panose="020F0704030504030204" pitchFamily="34" charset="0"/>
                        </a:rPr>
                        <a:t>2+</a:t>
                      </a:r>
                      <a:endParaRPr lang="en-US" sz="1000" b="0" i="0" u="none" strike="noStrike">
                        <a:solidFill>
                          <a:srgbClr val="000000"/>
                        </a:solidFill>
                        <a:effectLst/>
                        <a:latin typeface="Arial Rounded MT Bold" panose="020F0704030504030204" pitchFamily="34" charset="0"/>
                      </a:endParaRP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0.17-0.22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0.20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0.05-0.09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0.07</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8.40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0502662"/>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Fe</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1.43-32.95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17.19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22.29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0.14-45.65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22.90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32.18</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0.52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4140452"/>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Cd</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0.01-0.04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0.00-0.01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2286031"/>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Co</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0.00-0.04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0.09-0.21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0.08</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22056670"/>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Cr</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0.05-0.25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1558619"/>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Cu</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0.02-0.05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0.00-0.04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9545946"/>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Mn</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0.23-0.44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0.34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0.00-0.17</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0.02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3591433"/>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Ni</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0.00-0.05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0.07</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8564372"/>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Pb</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0.20-0.35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0.28</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0.03-0.09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0.06</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0.01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807980"/>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Zn</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0.26-0.42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0.34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0.04-0.15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0.10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0.08</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0.34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3091012"/>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As</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0.01-0.01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0.01-0.01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6727505"/>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Cl</a:t>
                      </a:r>
                      <a:r>
                        <a:rPr lang="en-US" sz="1000" b="0" i="0" u="none" strike="noStrike" baseline="30000">
                          <a:solidFill>
                            <a:srgbClr val="000000"/>
                          </a:solidFill>
                          <a:effectLst/>
                          <a:latin typeface="Arial Rounded MT Bold" panose="020F0704030504030204" pitchFamily="34" charset="0"/>
                        </a:rPr>
                        <a:t>-</a:t>
                      </a:r>
                      <a:endParaRPr lang="en-US" sz="1000" b="0" i="0" u="none" strike="noStrike">
                        <a:solidFill>
                          <a:srgbClr val="000000"/>
                        </a:solidFill>
                        <a:effectLst/>
                        <a:latin typeface="Arial Rounded MT Bold" panose="020F0704030504030204" pitchFamily="34" charset="0"/>
                      </a:endParaRP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27.91-39.36</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33.64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8.10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41.52-74.81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58.17</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23.54</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5.11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250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250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2449122"/>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SO</a:t>
                      </a:r>
                      <a:r>
                        <a:rPr lang="en-US" sz="1000" b="0" i="0" u="none" strike="noStrike" baseline="-25000">
                          <a:solidFill>
                            <a:srgbClr val="000000"/>
                          </a:solidFill>
                          <a:effectLst/>
                          <a:latin typeface="Arial Rounded MT Bold" panose="020F0704030504030204" pitchFamily="34" charset="0"/>
                        </a:rPr>
                        <a:t>4</a:t>
                      </a:r>
                      <a:r>
                        <a:rPr lang="en-US" sz="1000" b="0" i="0" u="none" strike="noStrike" baseline="30000">
                          <a:solidFill>
                            <a:srgbClr val="000000"/>
                          </a:solidFill>
                          <a:effectLst/>
                          <a:latin typeface="Arial Rounded MT Bold" panose="020F0704030504030204" pitchFamily="34" charset="0"/>
                        </a:rPr>
                        <a:t>2-</a:t>
                      </a:r>
                      <a:endParaRPr lang="en-US" sz="1000" b="0" i="0" u="none" strike="noStrike">
                        <a:solidFill>
                          <a:srgbClr val="000000"/>
                        </a:solidFill>
                        <a:effectLst/>
                        <a:latin typeface="Arial Rounded MT Bold" panose="020F0704030504030204" pitchFamily="34" charset="0"/>
                      </a:endParaRP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2.41-3.97</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3.19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1.10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4.71-12.60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8.66</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5.58</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1.31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400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9664384"/>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NO</a:t>
                      </a:r>
                      <a:r>
                        <a:rPr lang="en-US" sz="1000" b="0" i="0" u="none" strike="noStrike" baseline="-25000">
                          <a:solidFill>
                            <a:srgbClr val="000000"/>
                          </a:solidFill>
                          <a:effectLst/>
                          <a:latin typeface="Arial Rounded MT Bold" panose="020F0704030504030204" pitchFamily="34" charset="0"/>
                        </a:rPr>
                        <a:t>3</a:t>
                      </a:r>
                      <a:r>
                        <a:rPr lang="en-US" sz="1000" b="0" i="0" u="none" strike="noStrike" baseline="30000">
                          <a:solidFill>
                            <a:srgbClr val="000000"/>
                          </a:solidFill>
                          <a:effectLst/>
                          <a:latin typeface="Arial Rounded MT Bold" panose="020F0704030504030204" pitchFamily="34" charset="0"/>
                        </a:rPr>
                        <a:t>-</a:t>
                      </a:r>
                      <a:endParaRPr lang="en-US" sz="1000" b="0" i="0" u="none" strike="noStrike">
                        <a:solidFill>
                          <a:srgbClr val="000000"/>
                        </a:solidFill>
                        <a:effectLst/>
                        <a:latin typeface="Arial Rounded MT Bold" panose="020F0704030504030204" pitchFamily="34" charset="0"/>
                      </a:endParaRP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29.50-59.90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44.70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21.50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0.07-0.79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0.43</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0.51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0.01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50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50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21604095"/>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HCO</a:t>
                      </a:r>
                      <a:r>
                        <a:rPr lang="en-US" sz="1000" b="0" i="0" u="none" strike="noStrike" baseline="-25000">
                          <a:solidFill>
                            <a:srgbClr val="000000"/>
                          </a:solidFill>
                          <a:effectLst/>
                          <a:latin typeface="Arial Rounded MT Bold" panose="020F0704030504030204" pitchFamily="34" charset="0"/>
                        </a:rPr>
                        <a:t>3</a:t>
                      </a:r>
                      <a:r>
                        <a:rPr lang="en-US" sz="1000" b="0" i="0" u="none" strike="noStrike" baseline="30000">
                          <a:solidFill>
                            <a:srgbClr val="000000"/>
                          </a:solidFill>
                          <a:effectLst/>
                          <a:latin typeface="Arial Rounded MT Bold" panose="020F0704030504030204" pitchFamily="34" charset="0"/>
                        </a:rPr>
                        <a:t>-</a:t>
                      </a:r>
                      <a:endParaRPr lang="en-US" sz="1000" b="0" i="0" u="none" strike="noStrike">
                        <a:solidFill>
                          <a:srgbClr val="000000"/>
                        </a:solidFill>
                        <a:effectLst/>
                        <a:latin typeface="Arial Rounded MT Bold" panose="020F0704030504030204" pitchFamily="34" charset="0"/>
                      </a:endParaRP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3.00-13.50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8.25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7.42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1.50-6.00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3.75</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3.18</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10.00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7887761"/>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CO</a:t>
                      </a:r>
                      <a:r>
                        <a:rPr lang="en-US" sz="1000" b="0" i="0" u="none" strike="noStrike" baseline="-25000">
                          <a:solidFill>
                            <a:srgbClr val="000000"/>
                          </a:solidFill>
                          <a:effectLst/>
                          <a:latin typeface="Arial Rounded MT Bold" panose="020F0704030504030204" pitchFamily="34" charset="0"/>
                        </a:rPr>
                        <a:t>3</a:t>
                      </a:r>
                      <a:r>
                        <a:rPr lang="en-US" sz="1000" b="0" i="0" u="none" strike="noStrike" baseline="30000">
                          <a:solidFill>
                            <a:srgbClr val="000000"/>
                          </a:solidFill>
                          <a:effectLst/>
                          <a:latin typeface="Arial Rounded MT Bold" panose="020F0704030504030204" pitchFamily="34" charset="0"/>
                        </a:rPr>
                        <a:t>2-</a:t>
                      </a:r>
                      <a:endParaRPr lang="en-US" sz="1000" b="0" i="0" u="none" strike="noStrike">
                        <a:solidFill>
                          <a:srgbClr val="000000"/>
                        </a:solidFill>
                        <a:effectLst/>
                        <a:latin typeface="Arial Rounded MT Bold" panose="020F0704030504030204" pitchFamily="34" charset="0"/>
                      </a:endParaRP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0.00</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ND</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9272171"/>
                  </a:ext>
                </a:extLst>
              </a:tr>
              <a:tr h="149691">
                <a:tc>
                  <a:txBody>
                    <a:bodyPr/>
                    <a:lstStyle/>
                    <a:p>
                      <a:pPr algn="l" rtl="0" fontAlgn="ctr"/>
                      <a:r>
                        <a:rPr lang="en-US" sz="1000" b="0" i="0" u="none" strike="noStrike">
                          <a:solidFill>
                            <a:srgbClr val="000000"/>
                          </a:solidFill>
                          <a:effectLst/>
                          <a:latin typeface="Arial Rounded MT Bold" panose="020F0704030504030204" pitchFamily="34" charset="0"/>
                        </a:rPr>
                        <a:t>PO</a:t>
                      </a:r>
                      <a:r>
                        <a:rPr lang="en-US" sz="1000" b="0" i="0" u="none" strike="noStrike" baseline="-25000">
                          <a:solidFill>
                            <a:srgbClr val="000000"/>
                          </a:solidFill>
                          <a:effectLst/>
                          <a:latin typeface="Arial Rounded MT Bold" panose="020F0704030504030204" pitchFamily="34" charset="0"/>
                        </a:rPr>
                        <a:t>4</a:t>
                      </a:r>
                      <a:r>
                        <a:rPr lang="en-US" sz="1000" b="0" i="0" u="none" strike="noStrike" baseline="30000">
                          <a:solidFill>
                            <a:srgbClr val="000000"/>
                          </a:solidFill>
                          <a:effectLst/>
                          <a:latin typeface="Arial Rounded MT Bold" panose="020F0704030504030204" pitchFamily="34" charset="0"/>
                        </a:rPr>
                        <a:t>3-</a:t>
                      </a:r>
                      <a:endParaRPr lang="en-US" sz="1000" b="0" i="0" u="none" strike="noStrike">
                        <a:solidFill>
                          <a:srgbClr val="000000"/>
                        </a:solidFill>
                        <a:effectLst/>
                        <a:latin typeface="Arial Rounded MT Bold" panose="020F0704030504030204" pitchFamily="34" charset="0"/>
                      </a:endParaRP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1.55-3.49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dirty="0">
                          <a:solidFill>
                            <a:srgbClr val="000000"/>
                          </a:solidFill>
                          <a:effectLst/>
                          <a:latin typeface="Arial Rounded MT Bold" panose="020F0704030504030204" pitchFamily="34" charset="0"/>
                        </a:rPr>
                        <a:t>2.52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1.37</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1.42-3.29</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2.36</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1.32</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rPr>
                        <a:t>0.21</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000" b="0" i="0" u="none" strike="noStrike" dirty="0">
                          <a:solidFill>
                            <a:srgbClr val="000000"/>
                          </a:solidFill>
                          <a:effectLst/>
                          <a:latin typeface="Arial Rounded MT Bold" panose="020F0704030504030204" pitchFamily="34" charset="0"/>
                        </a:rPr>
                        <a:t> </a:t>
                      </a:r>
                    </a:p>
                  </a:txBody>
                  <a:tcPr marL="4086" marR="4086" marT="40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877952"/>
                  </a:ext>
                </a:extLst>
              </a:tr>
            </a:tbl>
          </a:graphicData>
        </a:graphic>
      </p:graphicFrame>
    </p:spTree>
    <p:extLst>
      <p:ext uri="{BB962C8B-B14F-4D97-AF65-F5344CB8AC3E}">
        <p14:creationId xmlns:p14="http://schemas.microsoft.com/office/powerpoint/2010/main" val="2240454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D1083-35D9-4C06-A29B-C2B97C3FC7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9E63AB-7898-C3FD-EDC0-5839706F5D0B}"/>
              </a:ext>
            </a:extLst>
          </p:cNvPr>
          <p:cNvSpPr>
            <a:spLocks noGrp="1"/>
          </p:cNvSpPr>
          <p:nvPr>
            <p:ph type="ctrTitle"/>
          </p:nvPr>
        </p:nvSpPr>
        <p:spPr>
          <a:xfrm>
            <a:off x="1805354" y="189918"/>
            <a:ext cx="9144000" cy="1146512"/>
          </a:xfrm>
        </p:spPr>
        <p:txBody>
          <a:bodyPr>
            <a:noAutofit/>
          </a:bodyPr>
          <a:lstStyle/>
          <a:p>
            <a:r>
              <a:rPr lang="en-US" sz="3200" b="1" dirty="0">
                <a:latin typeface="Arial Rounded MT Bold" panose="020F0704030504030204" pitchFamily="34" charset="0"/>
                <a:cs typeface="Times New Roman" panose="02020603050405020304" pitchFamily="18" charset="0"/>
              </a:rPr>
              <a:t>Results and Discussions</a:t>
            </a:r>
            <a:br>
              <a:rPr lang="en-US"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64520951-4030-08E8-B594-37CA1437BF99}"/>
              </a:ext>
            </a:extLst>
          </p:cNvPr>
          <p:cNvSpPr>
            <a:spLocks noGrp="1"/>
          </p:cNvSpPr>
          <p:nvPr>
            <p:ph type="subTitle" idx="1"/>
          </p:nvPr>
        </p:nvSpPr>
        <p:spPr>
          <a:xfrm>
            <a:off x="1012875" y="1122363"/>
            <a:ext cx="10363198" cy="5545719"/>
          </a:xfrm>
        </p:spPr>
        <p:txBody>
          <a:bodyPr>
            <a:normAutofit/>
          </a:bodyPr>
          <a:lstStyle/>
          <a:p>
            <a:pPr algn="ctr">
              <a:lnSpc>
                <a:spcPct val="200000"/>
              </a:lnSpc>
            </a:pPr>
            <a:r>
              <a:rPr lang="en-GB" sz="1800" dirty="0">
                <a:effectLst/>
                <a:latin typeface="Times New Roman" panose="02020603050405020304" pitchFamily="18" charset="0"/>
                <a:ea typeface="Times New Roman" panose="02020603050405020304" pitchFamily="18" charset="0"/>
              </a:rPr>
              <a:t>Table 2: Physicochemical Parameters of Groundwater (Wet and Dry Seasons)</a:t>
            </a:r>
          </a:p>
          <a:p>
            <a:pPr algn="ctr">
              <a:lnSpc>
                <a:spcPct val="200000"/>
              </a:lnSpc>
            </a:pPr>
            <a:endParaRPr lang="en-NG" sz="1800" dirty="0">
              <a:effectLst/>
              <a:latin typeface="Times New Roman" panose="02020603050405020304" pitchFamily="18"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3093D91A-AE7C-25B9-F2B3-25F0101B60FC}"/>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ECCFB907-9D64-79DB-A075-096A8AE6186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183349A9-55E3-2850-F214-E969008BA1E3}"/>
              </a:ext>
            </a:extLst>
          </p:cNvPr>
          <p:cNvSpPr>
            <a:spLocks noGrp="1"/>
          </p:cNvSpPr>
          <p:nvPr>
            <p:ph type="sldNum" sz="quarter" idx="12"/>
          </p:nvPr>
        </p:nvSpPr>
        <p:spPr/>
        <p:txBody>
          <a:bodyPr/>
          <a:lstStyle/>
          <a:p>
            <a:fld id="{E30FEA02-71A2-4209-B909-B13DA9CFC23D}" type="slidenum">
              <a:rPr lang="en-NG" smtClean="0"/>
              <a:t>16</a:t>
            </a:fld>
            <a:endParaRPr lang="en-NG"/>
          </a:p>
        </p:txBody>
      </p:sp>
      <p:graphicFrame>
        <p:nvGraphicFramePr>
          <p:cNvPr id="6" name="Table 5">
            <a:extLst>
              <a:ext uri="{FF2B5EF4-FFF2-40B4-BE49-F238E27FC236}">
                <a16:creationId xmlns:a16="http://schemas.microsoft.com/office/drawing/2014/main" id="{E7877BDF-DB98-C5F9-7A79-F18418FAECE5}"/>
              </a:ext>
            </a:extLst>
          </p:cNvPr>
          <p:cNvGraphicFramePr>
            <a:graphicFrameLocks noGrp="1"/>
          </p:cNvGraphicFramePr>
          <p:nvPr>
            <p:extLst>
              <p:ext uri="{D42A27DB-BD31-4B8C-83A1-F6EECF244321}">
                <p14:modId xmlns:p14="http://schemas.microsoft.com/office/powerpoint/2010/main" val="1052985295"/>
              </p:ext>
            </p:extLst>
          </p:nvPr>
        </p:nvGraphicFramePr>
        <p:xfrm>
          <a:off x="1524000" y="1733533"/>
          <a:ext cx="9144000" cy="4537445"/>
        </p:xfrm>
        <a:graphic>
          <a:graphicData uri="http://schemas.openxmlformats.org/drawingml/2006/table">
            <a:tbl>
              <a:tblPr firstRow="1" firstCol="1" bandRow="1"/>
              <a:tblGrid>
                <a:gridCol w="1016000">
                  <a:extLst>
                    <a:ext uri="{9D8B030D-6E8A-4147-A177-3AD203B41FA5}">
                      <a16:colId xmlns:a16="http://schemas.microsoft.com/office/drawing/2014/main" val="479531034"/>
                    </a:ext>
                  </a:extLst>
                </a:gridCol>
                <a:gridCol w="1016000">
                  <a:extLst>
                    <a:ext uri="{9D8B030D-6E8A-4147-A177-3AD203B41FA5}">
                      <a16:colId xmlns:a16="http://schemas.microsoft.com/office/drawing/2014/main" val="1938068049"/>
                    </a:ext>
                  </a:extLst>
                </a:gridCol>
                <a:gridCol w="1016000">
                  <a:extLst>
                    <a:ext uri="{9D8B030D-6E8A-4147-A177-3AD203B41FA5}">
                      <a16:colId xmlns:a16="http://schemas.microsoft.com/office/drawing/2014/main" val="512869456"/>
                    </a:ext>
                  </a:extLst>
                </a:gridCol>
                <a:gridCol w="1016000">
                  <a:extLst>
                    <a:ext uri="{9D8B030D-6E8A-4147-A177-3AD203B41FA5}">
                      <a16:colId xmlns:a16="http://schemas.microsoft.com/office/drawing/2014/main" val="3144482890"/>
                    </a:ext>
                  </a:extLst>
                </a:gridCol>
                <a:gridCol w="1016000">
                  <a:extLst>
                    <a:ext uri="{9D8B030D-6E8A-4147-A177-3AD203B41FA5}">
                      <a16:colId xmlns:a16="http://schemas.microsoft.com/office/drawing/2014/main" val="3226486906"/>
                    </a:ext>
                  </a:extLst>
                </a:gridCol>
                <a:gridCol w="1016000">
                  <a:extLst>
                    <a:ext uri="{9D8B030D-6E8A-4147-A177-3AD203B41FA5}">
                      <a16:colId xmlns:a16="http://schemas.microsoft.com/office/drawing/2014/main" val="633395260"/>
                    </a:ext>
                  </a:extLst>
                </a:gridCol>
                <a:gridCol w="1016000">
                  <a:extLst>
                    <a:ext uri="{9D8B030D-6E8A-4147-A177-3AD203B41FA5}">
                      <a16:colId xmlns:a16="http://schemas.microsoft.com/office/drawing/2014/main" val="2935524847"/>
                    </a:ext>
                  </a:extLst>
                </a:gridCol>
                <a:gridCol w="1016000">
                  <a:extLst>
                    <a:ext uri="{9D8B030D-6E8A-4147-A177-3AD203B41FA5}">
                      <a16:colId xmlns:a16="http://schemas.microsoft.com/office/drawing/2014/main" val="1816416576"/>
                    </a:ext>
                  </a:extLst>
                </a:gridCol>
                <a:gridCol w="1016000">
                  <a:extLst>
                    <a:ext uri="{9D8B030D-6E8A-4147-A177-3AD203B41FA5}">
                      <a16:colId xmlns:a16="http://schemas.microsoft.com/office/drawing/2014/main" val="3730103045"/>
                    </a:ext>
                  </a:extLst>
                </a:gridCol>
              </a:tblGrid>
              <a:tr h="140121">
                <a:tc rowSpan="2">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Parameters</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Groundwater for Wet Season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NG"/>
                    </a:p>
                  </a:txBody>
                  <a:tcPr/>
                </a:tc>
                <a:tc hMerge="1">
                  <a:txBody>
                    <a:bodyPr/>
                    <a:lstStyle/>
                    <a:p>
                      <a:endParaRPr lang="en-NG"/>
                    </a:p>
                  </a:txBody>
                  <a:tcPr/>
                </a:tc>
                <a:tc gridSpan="3">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Groundwater for Dry Season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NG"/>
                    </a:p>
                  </a:txBody>
                  <a:tcPr/>
                </a:tc>
                <a:tc hMerge="1">
                  <a:txBody>
                    <a:bodyPr/>
                    <a:lstStyle/>
                    <a:p>
                      <a:endParaRPr lang="en-NG"/>
                    </a:p>
                  </a:txBody>
                  <a:tcPr/>
                </a:tc>
                <a:tc rowSpan="2">
                  <a:txBody>
                    <a:bodyPr/>
                    <a:lstStyle/>
                    <a:p>
                      <a:pPr>
                        <a:lnSpc>
                          <a:spcPct val="107000"/>
                        </a:lnSpc>
                        <a:spcAft>
                          <a:spcPts val="800"/>
                        </a:spcAft>
                      </a:pPr>
                      <a:r>
                        <a:rPr lang="en-GB" sz="1000" b="1"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NSDWQ, 2015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nSpc>
                          <a:spcPct val="107000"/>
                        </a:lnSpc>
                        <a:spcAft>
                          <a:spcPts val="800"/>
                        </a:spcAft>
                      </a:pPr>
                      <a:r>
                        <a:rPr lang="en-GB" sz="1000" b="1"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WHO, 2017</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81954267"/>
                  </a:ext>
                </a:extLst>
              </a:tr>
              <a:tr h="140121">
                <a:tc vMerge="1">
                  <a:txBody>
                    <a:bodyPr/>
                    <a:lstStyle/>
                    <a:p>
                      <a:endParaRPr lang="en-NG"/>
                    </a:p>
                  </a:txBody>
                  <a:tcPr/>
                </a:tc>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Range</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Mean</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Std. Deviation</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Range</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Mean</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Std. Deviation</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NG"/>
                    </a:p>
                  </a:txBody>
                  <a:tcPr/>
                </a:tc>
                <a:tc vMerge="1">
                  <a:txBody>
                    <a:bodyPr/>
                    <a:lstStyle/>
                    <a:p>
                      <a:endParaRPr lang="en-NG"/>
                    </a:p>
                  </a:txBody>
                  <a:tcPr/>
                </a:tc>
                <a:extLst>
                  <a:ext uri="{0D108BD9-81ED-4DB2-BD59-A6C34878D82A}">
                    <a16:rowId xmlns:a16="http://schemas.microsoft.com/office/drawing/2014/main" val="3898512560"/>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Turb</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3.00-25.00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14.00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15.56</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0.00-8.00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5.66</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1040384"/>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pH</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6.70-12.50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9.60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4.10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7.20-10.50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8.85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2.33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6.5-8.5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6.5-8.5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1580215"/>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EC</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0.10-0.81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0.46</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0.50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0.10-0.74</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0.42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0.45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1000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1000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2746126"/>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TDS</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82.00-595.00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338.50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362.75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84.00-537.00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310.50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320.32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909246"/>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T</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23.00-27.30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25.15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3.04</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26.10-30.10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28.10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2.83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Ambient</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Ambient</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6120626"/>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DO</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9.70-21.10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15.40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8.06</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5.70-8.70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7.20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2.12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5383464"/>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BOD</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1.20-16.50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8.85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10.82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0.40-2.80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1.60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1.70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6736368"/>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Coliform</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0-21</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10.95</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14.92</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0-&gt;1110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0 </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04646563"/>
                  </a:ext>
                </a:extLst>
              </a:tr>
              <a:tr h="146004">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Na</a:t>
                      </a:r>
                      <a:r>
                        <a:rPr lang="en-GB" sz="1000" kern="0" baseline="30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0.00-3.57</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1.79</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45717.00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7.02-50.00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28.51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30.39</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01956353"/>
                  </a:ext>
                </a:extLst>
              </a:tr>
              <a:tr h="146004">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K</a:t>
                      </a:r>
                      <a:r>
                        <a:rPr lang="en-GB" sz="1000" kern="0" baseline="30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5.20-29.54</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17.37</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17.21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1.91-11.50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6.71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6.78</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3546997"/>
                  </a:ext>
                </a:extLst>
              </a:tr>
              <a:tr h="146004">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Mg</a:t>
                      </a:r>
                      <a:r>
                        <a:rPr lang="en-GB" sz="1000" kern="0" baseline="30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8.72-19.29</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14.01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7.47</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6.67-23.02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14.85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11.56</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150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4838140"/>
                  </a:ext>
                </a:extLst>
              </a:tr>
              <a:tr h="146004">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Ca</a:t>
                      </a:r>
                      <a:r>
                        <a:rPr lang="en-GB" sz="1000" kern="0" baseline="30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0.20-0.25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0.23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0.04</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0.09-0.13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0612415"/>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Fe</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0.36-4.49</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2.43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2.92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0.23-0.85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0.54</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0.44</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9668253"/>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Cd</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0.01-0.02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0.00-0.01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971680"/>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Co</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0.00-0.04</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0.03</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0.06-0.22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0.14</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4563986"/>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Cr</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0.00-0.00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0.00-0.10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0.07</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6740479"/>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Cu</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0.01-0.03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0.00-0.04</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2000116"/>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Mn</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0.06-0.60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0.33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0.38</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0.00-0.27</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0.14</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0.19</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0.4</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6885455"/>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Ni</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0.00-0.00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0.00-0.02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0.07</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8091899"/>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Pb</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0.11-0.34</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0.23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0.16</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0.00-0.10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0.07</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1238474"/>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Zn</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0.14-0.32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0.23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0.06-0.22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0.14</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8350683"/>
                  </a:ext>
                </a:extLst>
              </a:tr>
              <a:tr h="140121">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As</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0.01-0.01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0.01-0.02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3944936"/>
                  </a:ext>
                </a:extLst>
              </a:tr>
              <a:tr h="146004">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Cl</a:t>
                      </a:r>
                      <a:r>
                        <a:rPr lang="en-GB" sz="1000" kern="0" baseline="30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30.76-55.41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43.09</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17.43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21.98-53.57</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37.78</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22.34</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250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250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6231194"/>
                  </a:ext>
                </a:extLst>
              </a:tr>
              <a:tr h="157234">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SO</a:t>
                      </a:r>
                      <a:r>
                        <a:rPr lang="en-GB" sz="1000" kern="0" baseline="-25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a:t>
                      </a:r>
                      <a:r>
                        <a:rPr lang="en-GB" sz="1000" kern="0" baseline="30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4.14-7.41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5.78</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2.31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4.10-6.75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5.43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1.87</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6454758"/>
                  </a:ext>
                </a:extLst>
              </a:tr>
              <a:tr h="157234">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NO</a:t>
                      </a:r>
                      <a:r>
                        <a:rPr lang="en-GB" sz="1000" kern="0" baseline="-25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a:t>
                      </a:r>
                      <a:r>
                        <a:rPr lang="en-GB" sz="1000" kern="0" baseline="30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0.52-28.10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14.31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19.50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0.26-1.13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0.70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0.62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9811905"/>
                  </a:ext>
                </a:extLst>
              </a:tr>
              <a:tr h="157234">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HCO</a:t>
                      </a:r>
                      <a:r>
                        <a:rPr lang="en-GB" sz="1000" kern="0" baseline="-25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a:t>
                      </a:r>
                      <a:r>
                        <a:rPr lang="en-GB" sz="1000" kern="0" baseline="30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0.90-30.00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15.45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20.58</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3.00-6.00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4.50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2.12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5237714"/>
                  </a:ext>
                </a:extLst>
              </a:tr>
              <a:tr h="157234">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CO</a:t>
                      </a:r>
                      <a:r>
                        <a:rPr lang="en-GB" sz="1000" kern="0" baseline="-25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a:t>
                      </a:r>
                      <a:r>
                        <a:rPr lang="en-GB" sz="1000" kern="0" baseline="30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0.00-8.00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5.66</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0.00-0.00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8358977"/>
                  </a:ext>
                </a:extLst>
              </a:tr>
              <a:tr h="157234">
                <a:tc>
                  <a:txBody>
                    <a:bodyPr/>
                    <a:lstStyle/>
                    <a:p>
                      <a:pP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PO</a:t>
                      </a:r>
                      <a:r>
                        <a:rPr lang="en-GB" sz="1000" kern="0" baseline="-25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a:t>
                      </a:r>
                      <a:r>
                        <a:rPr lang="en-GB" sz="1000" kern="0" baseline="30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1.00-1.89</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1.45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0.63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2.18-4.93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3.56</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1.94</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GB" sz="1000" kern="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44401" marR="44401"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7046275"/>
                  </a:ext>
                </a:extLst>
              </a:tr>
            </a:tbl>
          </a:graphicData>
        </a:graphic>
      </p:graphicFrame>
    </p:spTree>
    <p:extLst>
      <p:ext uri="{BB962C8B-B14F-4D97-AF65-F5344CB8AC3E}">
        <p14:creationId xmlns:p14="http://schemas.microsoft.com/office/powerpoint/2010/main" val="3687374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6BB3F-0AF2-74C7-136A-A3DB71193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9CE80-7C75-8389-1D17-58FD0FE94E20}"/>
              </a:ext>
            </a:extLst>
          </p:cNvPr>
          <p:cNvSpPr>
            <a:spLocks noGrp="1"/>
          </p:cNvSpPr>
          <p:nvPr>
            <p:ph type="ctrTitle"/>
          </p:nvPr>
        </p:nvSpPr>
        <p:spPr>
          <a:xfrm>
            <a:off x="1693406" y="158280"/>
            <a:ext cx="9144000" cy="1255813"/>
          </a:xfrm>
        </p:spPr>
        <p:txBody>
          <a:bodyPr>
            <a:noAutofit/>
          </a:bodyPr>
          <a:lstStyle/>
          <a:p>
            <a:br>
              <a:rPr lang="en-US" sz="3200" b="1" dirty="0">
                <a:latin typeface="Arial Rounded MT Bold" panose="020F0704030504030204" pitchFamily="34" charset="0"/>
                <a:cs typeface="Times New Roman" panose="02020603050405020304" pitchFamily="18" charset="0"/>
              </a:rPr>
            </a:br>
            <a:br>
              <a:rPr lang="en-US" sz="3200" b="1" dirty="0">
                <a:latin typeface="Arial Rounded MT Bold" panose="020F0704030504030204" pitchFamily="34" charset="0"/>
                <a:cs typeface="Times New Roman" panose="02020603050405020304" pitchFamily="18" charset="0"/>
              </a:rPr>
            </a:br>
            <a:r>
              <a:rPr lang="en-US" sz="3200" b="1" dirty="0">
                <a:latin typeface="Arial Rounded MT Bold" panose="020F0704030504030204" pitchFamily="34" charset="0"/>
                <a:cs typeface="Times New Roman" panose="02020603050405020304" pitchFamily="18" charset="0"/>
              </a:rPr>
              <a:t>Results and Discussions</a:t>
            </a:r>
            <a:br>
              <a:rPr lang="en-US"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F38E1396-6511-44B9-B7D1-775BD06B394B}"/>
              </a:ext>
            </a:extLst>
          </p:cNvPr>
          <p:cNvSpPr>
            <a:spLocks noGrp="1"/>
          </p:cNvSpPr>
          <p:nvPr>
            <p:ph type="subTitle" idx="1"/>
          </p:nvPr>
        </p:nvSpPr>
        <p:spPr>
          <a:xfrm>
            <a:off x="1083807" y="1122363"/>
            <a:ext cx="10363198" cy="5882470"/>
          </a:xfrm>
        </p:spPr>
        <p:txBody>
          <a:bodyPr>
            <a:normAutofit/>
          </a:bodyPr>
          <a:lstStyle/>
          <a:p>
            <a:pPr>
              <a:lnSpc>
                <a:spcPct val="100000"/>
              </a:lnSpc>
              <a:spcBef>
                <a:spcPts val="0"/>
              </a:spcBef>
            </a:pP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Seasonal Variation</a:t>
            </a:r>
            <a:endParaRPr lang="en-US" sz="1800" dirty="0">
              <a:latin typeface="Arial Rounded MT Bold" panose="020F0704030504030204" pitchFamily="34" charset="0"/>
              <a:ea typeface="Calibri" panose="020F0502020204030204" pitchFamily="34" charset="0"/>
              <a:cs typeface="Times New Roman" panose="02020603050405020304" pitchFamily="18" charset="0"/>
            </a:endParaRPr>
          </a:p>
          <a:p>
            <a:pPr>
              <a:lnSpc>
                <a:spcPct val="100000"/>
              </a:lnSpc>
              <a:spcBef>
                <a:spcPts val="0"/>
              </a:spcBef>
            </a:pPr>
            <a:r>
              <a:rPr lang="en-GB" sz="1800" dirty="0">
                <a:effectLst/>
                <a:latin typeface="Times New Roman" panose="02020603050405020304" pitchFamily="18" charset="0"/>
                <a:ea typeface="Times New Roman" panose="02020603050405020304" pitchFamily="18" charset="0"/>
              </a:rPr>
              <a:t>Table </a:t>
            </a:r>
            <a:r>
              <a:rPr lang="en-GB" sz="1800" dirty="0">
                <a:latin typeface="Times New Roman" panose="02020603050405020304" pitchFamily="18" charset="0"/>
                <a:ea typeface="Times New Roman" panose="02020603050405020304" pitchFamily="18" charset="0"/>
              </a:rPr>
              <a:t>3</a:t>
            </a:r>
            <a:r>
              <a:rPr lang="en-GB" sz="1800" dirty="0">
                <a:effectLst/>
                <a:latin typeface="Times New Roman" panose="02020603050405020304" pitchFamily="18" charset="0"/>
                <a:ea typeface="Times New Roman" panose="02020603050405020304" pitchFamily="18" charset="0"/>
              </a:rPr>
              <a:t>: </a:t>
            </a:r>
            <a:r>
              <a:rPr lang="en-GB" sz="1800" dirty="0">
                <a:latin typeface="Times New Roman" panose="02020603050405020304" pitchFamily="18" charset="0"/>
                <a:ea typeface="Times New Roman" panose="02020603050405020304" pitchFamily="18" charset="0"/>
              </a:rPr>
              <a:t>Seasonal Variation in Surface W</a:t>
            </a:r>
            <a:r>
              <a:rPr lang="en-GB" sz="1800" dirty="0">
                <a:effectLst/>
                <a:latin typeface="Times New Roman" panose="02020603050405020304" pitchFamily="18" charset="0"/>
                <a:ea typeface="Times New Roman" panose="02020603050405020304" pitchFamily="18" charset="0"/>
              </a:rPr>
              <a:t>ater (Wet and Dry Seasons) </a:t>
            </a:r>
            <a:endParaRPr lang="en-NG" sz="1800" dirty="0">
              <a:effectLst/>
              <a:latin typeface="Times New Roman" panose="02020603050405020304" pitchFamily="18" charset="0"/>
              <a:ea typeface="Times New Roman" panose="02020603050405020304" pitchFamily="18" charset="0"/>
            </a:endParaRPr>
          </a:p>
          <a:p>
            <a:pPr>
              <a:lnSpc>
                <a:spcPct val="200000"/>
              </a:lnSpc>
            </a:pPr>
            <a:endParaRPr lang="en-NG" dirty="0">
              <a:effectLst/>
              <a:latin typeface="Arial Rounded MT Bold" panose="020F0704030504030204" pitchFamily="34"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011E8E7E-BEC6-BA7F-9E36-B2DE4923F9E1}"/>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AA2F01AC-2365-0E28-5F42-CB96C0BAFFA3}"/>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08296314-B7A3-9511-9085-848166624148}"/>
              </a:ext>
            </a:extLst>
          </p:cNvPr>
          <p:cNvSpPr>
            <a:spLocks noGrp="1"/>
          </p:cNvSpPr>
          <p:nvPr>
            <p:ph type="sldNum" sz="quarter" idx="12"/>
          </p:nvPr>
        </p:nvSpPr>
        <p:spPr/>
        <p:txBody>
          <a:bodyPr/>
          <a:lstStyle/>
          <a:p>
            <a:fld id="{E30FEA02-71A2-4209-B909-B13DA9CFC23D}" type="slidenum">
              <a:rPr lang="en-NG" smtClean="0"/>
              <a:t>17</a:t>
            </a:fld>
            <a:endParaRPr lang="en-NG"/>
          </a:p>
        </p:txBody>
      </p:sp>
      <p:graphicFrame>
        <p:nvGraphicFramePr>
          <p:cNvPr id="6" name="Table 5">
            <a:extLst>
              <a:ext uri="{FF2B5EF4-FFF2-40B4-BE49-F238E27FC236}">
                <a16:creationId xmlns:a16="http://schemas.microsoft.com/office/drawing/2014/main" id="{58F358CC-F528-833A-21E6-7967349E2591}"/>
              </a:ext>
            </a:extLst>
          </p:cNvPr>
          <p:cNvGraphicFramePr>
            <a:graphicFrameLocks noGrp="1"/>
          </p:cNvGraphicFramePr>
          <p:nvPr>
            <p:extLst>
              <p:ext uri="{D42A27DB-BD31-4B8C-83A1-F6EECF244321}">
                <p14:modId xmlns:p14="http://schemas.microsoft.com/office/powerpoint/2010/main" val="395043674"/>
              </p:ext>
            </p:extLst>
          </p:nvPr>
        </p:nvGraphicFramePr>
        <p:xfrm>
          <a:off x="1961881" y="1813569"/>
          <a:ext cx="8268237" cy="4791788"/>
        </p:xfrm>
        <a:graphic>
          <a:graphicData uri="http://schemas.openxmlformats.org/drawingml/2006/table">
            <a:tbl>
              <a:tblPr firstRow="1" firstCol="1" bandRow="1"/>
              <a:tblGrid>
                <a:gridCol w="2319256">
                  <a:extLst>
                    <a:ext uri="{9D8B030D-6E8A-4147-A177-3AD203B41FA5}">
                      <a16:colId xmlns:a16="http://schemas.microsoft.com/office/drawing/2014/main" val="1715207973"/>
                    </a:ext>
                  </a:extLst>
                </a:gridCol>
                <a:gridCol w="2181147">
                  <a:extLst>
                    <a:ext uri="{9D8B030D-6E8A-4147-A177-3AD203B41FA5}">
                      <a16:colId xmlns:a16="http://schemas.microsoft.com/office/drawing/2014/main" val="1679049451"/>
                    </a:ext>
                  </a:extLst>
                </a:gridCol>
                <a:gridCol w="2181147">
                  <a:extLst>
                    <a:ext uri="{9D8B030D-6E8A-4147-A177-3AD203B41FA5}">
                      <a16:colId xmlns:a16="http://schemas.microsoft.com/office/drawing/2014/main" val="2857282331"/>
                    </a:ext>
                  </a:extLst>
                </a:gridCol>
                <a:gridCol w="870711">
                  <a:extLst>
                    <a:ext uri="{9D8B030D-6E8A-4147-A177-3AD203B41FA5}">
                      <a16:colId xmlns:a16="http://schemas.microsoft.com/office/drawing/2014/main" val="2942472093"/>
                    </a:ext>
                  </a:extLst>
                </a:gridCol>
                <a:gridCol w="715976">
                  <a:extLst>
                    <a:ext uri="{9D8B030D-6E8A-4147-A177-3AD203B41FA5}">
                      <a16:colId xmlns:a16="http://schemas.microsoft.com/office/drawing/2014/main" val="4014716708"/>
                    </a:ext>
                  </a:extLst>
                </a:gridCol>
              </a:tblGrid>
              <a:tr h="157144">
                <a:tc rowSpan="2">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Parameters</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1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Wet Season</a:t>
                      </a:r>
                      <a:endParaRPr lang="en-NG" sz="11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100" b="1" kern="1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Dry Season</a:t>
                      </a:r>
                      <a:endParaRPr lang="en-NG" sz="11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a:lnSpc>
                          <a:spcPct val="115000"/>
                        </a:lnSpc>
                        <a:spcAft>
                          <a:spcPts val="1000"/>
                        </a:spcAft>
                      </a:pPr>
                      <a:r>
                        <a:rPr lang="en-GB" sz="1100" b="1" kern="1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ANOVA</a:t>
                      </a:r>
                      <a:endParaRPr lang="en-NG" sz="11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NG"/>
                    </a:p>
                  </a:txBody>
                  <a:tcPr/>
                </a:tc>
                <a:extLst>
                  <a:ext uri="{0D108BD9-81ED-4DB2-BD59-A6C34878D82A}">
                    <a16:rowId xmlns:a16="http://schemas.microsoft.com/office/drawing/2014/main" val="241338955"/>
                  </a:ext>
                </a:extLst>
              </a:tr>
              <a:tr h="150132">
                <a:tc vMerge="1">
                  <a:txBody>
                    <a:bodyPr/>
                    <a:lstStyle/>
                    <a:p>
                      <a:endParaRPr lang="en-NG"/>
                    </a:p>
                  </a:txBody>
                  <a:tcPr/>
                </a:tc>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Range</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Range</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F-Value</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P-Value</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3123772"/>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Turbidity</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12.50-236.50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4.00-305.00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0.30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0.60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9187807"/>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pH</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7.00-10.50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7.00-10.60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8.55</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0.01</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324884286"/>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EC</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0.09-0.16</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0.10-0.19</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1.98</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0.18</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81106644"/>
                  </a:ext>
                </a:extLst>
              </a:tr>
              <a:tr h="150132">
                <a:tc>
                  <a:txBody>
                    <a:bodyPr/>
                    <a:lstStyle/>
                    <a:p>
                      <a:pPr algn="ctr">
                        <a:lnSpc>
                          <a:spcPct val="115000"/>
                        </a:lnSpc>
                        <a:spcAft>
                          <a:spcPts val="1000"/>
                        </a:spcAft>
                      </a:pPr>
                      <a:r>
                        <a:rPr lang="en-GB" sz="1000" b="1" kern="1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TDS</a:t>
                      </a:r>
                      <a:endParaRPr lang="en-NG" sz="1000" b="1"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80.00-136.00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91.00-144.00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0.85</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0.37</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7075292"/>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T</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23.20-27.10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25.40-30.40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12.27</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9216485"/>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DO</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9.30-14.10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5.20-6.80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79.14</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959617638"/>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BOD</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2.60-10.20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0.30-3.95</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16.97</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42433333"/>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Coliform</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0.80-10972.20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94.90-1111.00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0.41</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0.53</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02468976"/>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Na</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0.00-0.35</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5.95-16.89</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48.69</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160900037"/>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K</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4.74-10.04</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2.38-25.22</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0.01</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0.93</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2866991"/>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Mg</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11.21-21.94</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9.74-14.38</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21.50</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603281519"/>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Ca</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0.18-0.22</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0.05-0.09</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298.91</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3143882"/>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Fe</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1.43-32.95</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0.14-45.65</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0.97</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9980805"/>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Cd</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0.01-0.03</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0.00-0.01</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32.22</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568619420"/>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Co</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0.00-0.04</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0.11-0.21</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120.81</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780614815"/>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Cr</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0.05-0.25</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22.03</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05931731"/>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Cu</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0.02-0.05</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0.00-0.04</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3.33</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0.09</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1992740"/>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Mn</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0.23-0.44</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0.00-0.17</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61.29</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48603020"/>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Ni</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0.00-0.05</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21.38</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855421739"/>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Pb</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0.20-0.29</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0.03-0.09</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169.26</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2571473"/>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Zn</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0.26-0.42</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0.04-0.15</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121.40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227880659"/>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As</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0.01-0.01</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0.00-0.01</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0.78</a:t>
                      </a:r>
                      <a:endParaRPr lang="en-NG" sz="1000" kern="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0.39</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6018292"/>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Cl</a:t>
                      </a:r>
                      <a:r>
                        <a:rPr lang="en-GB" sz="1000" b="1" kern="100" baseline="30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27.91-39.36</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41.52-74.81</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15.55</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030098208"/>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SO</a:t>
                      </a:r>
                      <a:r>
                        <a:rPr lang="en-GB" sz="1000" b="1" kern="100" baseline="-25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a:t>
                      </a:r>
                      <a:r>
                        <a:rPr lang="en-GB" sz="1000" b="1" kern="100" baseline="30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2.41-3.97</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4.71-12.60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29.64</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769267130"/>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NO</a:t>
                      </a:r>
                      <a:r>
                        <a:rPr lang="en-GB" sz="1000" b="1" kern="100" baseline="-25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a:t>
                      </a:r>
                      <a:r>
                        <a:rPr lang="en-GB" sz="1000" b="1" kern="100" baseline="30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29.50-56.20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0.07-0.79</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262.70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318795489"/>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HCO</a:t>
                      </a:r>
                      <a:r>
                        <a:rPr lang="en-GB" sz="1000" b="1" kern="100" baseline="-25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a:t>
                      </a:r>
                      <a:r>
                        <a:rPr lang="en-GB" sz="1000" b="1" kern="100" baseline="30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3.00-13.00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1.50-6.00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9.25</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0.01</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825705402"/>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CO</a:t>
                      </a:r>
                      <a:r>
                        <a:rPr lang="en-GB" sz="1000" b="1" kern="100" baseline="-25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0.00-0.00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 </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 </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1881680"/>
                  </a:ext>
                </a:extLst>
              </a:tr>
              <a:tr h="150132">
                <a:tc>
                  <a:txBody>
                    <a:bodyPr/>
                    <a:lstStyle/>
                    <a:p>
                      <a:pPr algn="ctr">
                        <a:lnSpc>
                          <a:spcPct val="115000"/>
                        </a:lnSpc>
                        <a:spcAft>
                          <a:spcPts val="1000"/>
                        </a:spcAft>
                      </a:pPr>
                      <a:r>
                        <a:rPr lang="en-GB" sz="1000" b="1" kern="1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PO</a:t>
                      </a:r>
                      <a:r>
                        <a:rPr lang="en-GB" sz="1000" b="1" kern="100" baseline="-25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a:t>
                      </a:r>
                      <a:endParaRPr lang="en-NG" sz="1000" b="1"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1.55-3.49</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1.42-3.29</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0.07</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kern="100" dirty="0">
                          <a:solidFill>
                            <a:srgbClr val="000000"/>
                          </a:solidFill>
                          <a:effectLst/>
                          <a:latin typeface="Arial Rounded MT Bold" panose="020F0704030504030204" pitchFamily="34" charset="0"/>
                          <a:ea typeface="Calibri" panose="020F0502020204030204" pitchFamily="34" charset="0"/>
                          <a:cs typeface="Times New Roman" panose="02020603050405020304" pitchFamily="18" charset="0"/>
                        </a:rPr>
                        <a:t>0.80</a:t>
                      </a:r>
                      <a:endParaRPr lang="en-NG" sz="10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5242" marR="552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8904821"/>
                  </a:ext>
                </a:extLst>
              </a:tr>
            </a:tbl>
          </a:graphicData>
        </a:graphic>
      </p:graphicFrame>
    </p:spTree>
    <p:extLst>
      <p:ext uri="{BB962C8B-B14F-4D97-AF65-F5344CB8AC3E}">
        <p14:creationId xmlns:p14="http://schemas.microsoft.com/office/powerpoint/2010/main" val="3198160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6BB3F-0AF2-74C7-136A-A3DB71193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9CE80-7C75-8389-1D17-58FD0FE94E20}"/>
              </a:ext>
            </a:extLst>
          </p:cNvPr>
          <p:cNvSpPr>
            <a:spLocks noGrp="1"/>
          </p:cNvSpPr>
          <p:nvPr>
            <p:ph type="ctrTitle"/>
          </p:nvPr>
        </p:nvSpPr>
        <p:spPr>
          <a:xfrm>
            <a:off x="1806543" y="104314"/>
            <a:ext cx="9144000" cy="1255813"/>
          </a:xfrm>
        </p:spPr>
        <p:txBody>
          <a:bodyPr>
            <a:noAutofit/>
          </a:bodyPr>
          <a:lstStyle/>
          <a:p>
            <a:br>
              <a:rPr lang="en-US" sz="3200" b="1" dirty="0">
                <a:latin typeface="Arial Rounded MT Bold" panose="020F0704030504030204" pitchFamily="34" charset="0"/>
                <a:cs typeface="Times New Roman" panose="02020603050405020304" pitchFamily="18" charset="0"/>
              </a:rPr>
            </a:br>
            <a:br>
              <a:rPr lang="en-US" sz="3200" b="1" dirty="0">
                <a:latin typeface="Arial Rounded MT Bold" panose="020F0704030504030204" pitchFamily="34" charset="0"/>
                <a:cs typeface="Times New Roman" panose="02020603050405020304" pitchFamily="18" charset="0"/>
              </a:rPr>
            </a:br>
            <a:r>
              <a:rPr lang="en-US" sz="3200" b="1" dirty="0">
                <a:latin typeface="Arial Rounded MT Bold" panose="020F0704030504030204" pitchFamily="34" charset="0"/>
                <a:cs typeface="Times New Roman" panose="02020603050405020304" pitchFamily="18" charset="0"/>
              </a:rPr>
              <a:t>Results and Discussions</a:t>
            </a:r>
            <a:br>
              <a:rPr lang="en-US"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F38E1396-6511-44B9-B7D1-775BD06B394B}"/>
              </a:ext>
            </a:extLst>
          </p:cNvPr>
          <p:cNvSpPr>
            <a:spLocks noGrp="1"/>
          </p:cNvSpPr>
          <p:nvPr>
            <p:ph type="subTitle" idx="1"/>
          </p:nvPr>
        </p:nvSpPr>
        <p:spPr>
          <a:xfrm>
            <a:off x="1012875" y="1080159"/>
            <a:ext cx="10363198" cy="5587923"/>
          </a:xfrm>
        </p:spPr>
        <p:txBody>
          <a:bodyPr>
            <a:normAutofit/>
          </a:bodyPr>
          <a:lstStyle/>
          <a:p>
            <a:pPr>
              <a:lnSpc>
                <a:spcPct val="100000"/>
              </a:lnSpc>
            </a:pP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Seasonal Variation</a:t>
            </a:r>
            <a:br>
              <a:rPr lang="en-NG" sz="2000" dirty="0">
                <a:effectLst/>
                <a:latin typeface="Arial Rounded MT Bold" panose="020F0704030504030204" pitchFamily="34" charset="0"/>
                <a:ea typeface="Times New Roman" panose="02020603050405020304" pitchFamily="18" charset="0"/>
              </a:rPr>
            </a:br>
            <a:r>
              <a:rPr lang="en-GB" sz="1800" dirty="0">
                <a:effectLst/>
                <a:latin typeface="Times New Roman" panose="02020603050405020304" pitchFamily="18" charset="0"/>
                <a:ea typeface="Times New Roman" panose="02020603050405020304" pitchFamily="18" charset="0"/>
              </a:rPr>
              <a:t>Table 4: </a:t>
            </a:r>
            <a:r>
              <a:rPr lang="en-GB" sz="1800" dirty="0">
                <a:latin typeface="Times New Roman" panose="02020603050405020304" pitchFamily="18" charset="0"/>
                <a:ea typeface="Times New Roman" panose="02020603050405020304" pitchFamily="18" charset="0"/>
              </a:rPr>
              <a:t>Seasonal Variation in Ground</a:t>
            </a:r>
            <a:r>
              <a:rPr lang="en-GB" sz="1800" dirty="0">
                <a:effectLst/>
                <a:latin typeface="Times New Roman" panose="02020603050405020304" pitchFamily="18" charset="0"/>
                <a:ea typeface="Times New Roman" panose="02020603050405020304" pitchFamily="18" charset="0"/>
              </a:rPr>
              <a:t>water (Wet and Dry Seasons) </a:t>
            </a:r>
            <a:endParaRPr lang="en-NG" sz="1800" dirty="0">
              <a:effectLst/>
              <a:latin typeface="Times New Roman" panose="02020603050405020304" pitchFamily="18" charset="0"/>
              <a:ea typeface="Times New Roman" panose="02020603050405020304" pitchFamily="18" charset="0"/>
            </a:endParaRPr>
          </a:p>
          <a:p>
            <a:pPr>
              <a:lnSpc>
                <a:spcPct val="200000"/>
              </a:lnSpc>
            </a:pPr>
            <a:endParaRPr lang="en-NG" dirty="0">
              <a:effectLst/>
              <a:latin typeface="Arial Rounded MT Bold" panose="020F0704030504030204" pitchFamily="34"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011E8E7E-BEC6-BA7F-9E36-B2DE4923F9E1}"/>
              </a:ext>
            </a:extLst>
          </p:cNvPr>
          <p:cNvCxnSpPr>
            <a:cxnSpLocks/>
          </p:cNvCxnSpPr>
          <p:nvPr/>
        </p:nvCxnSpPr>
        <p:spPr>
          <a:xfrm>
            <a:off x="0" y="1080160"/>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AA2F01AC-2365-0E28-5F42-CB96C0BAFFA3}"/>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08296314-B7A3-9511-9085-848166624148}"/>
              </a:ext>
            </a:extLst>
          </p:cNvPr>
          <p:cNvSpPr>
            <a:spLocks noGrp="1"/>
          </p:cNvSpPr>
          <p:nvPr>
            <p:ph type="sldNum" sz="quarter" idx="12"/>
          </p:nvPr>
        </p:nvSpPr>
        <p:spPr/>
        <p:txBody>
          <a:bodyPr/>
          <a:lstStyle/>
          <a:p>
            <a:fld id="{E30FEA02-71A2-4209-B909-B13DA9CFC23D}" type="slidenum">
              <a:rPr lang="en-NG" smtClean="0"/>
              <a:t>18</a:t>
            </a:fld>
            <a:endParaRPr lang="en-NG"/>
          </a:p>
        </p:txBody>
      </p:sp>
      <p:graphicFrame>
        <p:nvGraphicFramePr>
          <p:cNvPr id="8" name="Table 7">
            <a:extLst>
              <a:ext uri="{FF2B5EF4-FFF2-40B4-BE49-F238E27FC236}">
                <a16:creationId xmlns:a16="http://schemas.microsoft.com/office/drawing/2014/main" id="{74353EFD-7950-F28D-CEAD-66A82043D9FC}"/>
              </a:ext>
            </a:extLst>
          </p:cNvPr>
          <p:cNvGraphicFramePr>
            <a:graphicFrameLocks noGrp="1"/>
          </p:cNvGraphicFramePr>
          <p:nvPr>
            <p:extLst>
              <p:ext uri="{D42A27DB-BD31-4B8C-83A1-F6EECF244321}">
                <p14:modId xmlns:p14="http://schemas.microsoft.com/office/powerpoint/2010/main" val="3966243334"/>
              </p:ext>
            </p:extLst>
          </p:nvPr>
        </p:nvGraphicFramePr>
        <p:xfrm>
          <a:off x="2387247" y="1717099"/>
          <a:ext cx="7982589" cy="4950983"/>
        </p:xfrm>
        <a:graphic>
          <a:graphicData uri="http://schemas.openxmlformats.org/drawingml/2006/table">
            <a:tbl>
              <a:tblPr firstRow="1" firstCol="1" bandRow="1"/>
              <a:tblGrid>
                <a:gridCol w="1900969">
                  <a:extLst>
                    <a:ext uri="{9D8B030D-6E8A-4147-A177-3AD203B41FA5}">
                      <a16:colId xmlns:a16="http://schemas.microsoft.com/office/drawing/2014/main" val="2092012854"/>
                    </a:ext>
                  </a:extLst>
                </a:gridCol>
                <a:gridCol w="1900969">
                  <a:extLst>
                    <a:ext uri="{9D8B030D-6E8A-4147-A177-3AD203B41FA5}">
                      <a16:colId xmlns:a16="http://schemas.microsoft.com/office/drawing/2014/main" val="3176356151"/>
                    </a:ext>
                  </a:extLst>
                </a:gridCol>
                <a:gridCol w="1995045">
                  <a:extLst>
                    <a:ext uri="{9D8B030D-6E8A-4147-A177-3AD203B41FA5}">
                      <a16:colId xmlns:a16="http://schemas.microsoft.com/office/drawing/2014/main" val="683445154"/>
                    </a:ext>
                  </a:extLst>
                </a:gridCol>
                <a:gridCol w="950462">
                  <a:extLst>
                    <a:ext uri="{9D8B030D-6E8A-4147-A177-3AD203B41FA5}">
                      <a16:colId xmlns:a16="http://schemas.microsoft.com/office/drawing/2014/main" val="3373568170"/>
                    </a:ext>
                  </a:extLst>
                </a:gridCol>
                <a:gridCol w="1235144">
                  <a:extLst>
                    <a:ext uri="{9D8B030D-6E8A-4147-A177-3AD203B41FA5}">
                      <a16:colId xmlns:a16="http://schemas.microsoft.com/office/drawing/2014/main" val="3346115010"/>
                    </a:ext>
                  </a:extLst>
                </a:gridCol>
              </a:tblGrid>
              <a:tr h="171202">
                <a:tc rowSpan="3">
                  <a:txBody>
                    <a:bodyPr/>
                    <a:lstStyle/>
                    <a:p>
                      <a:pPr algn="ctr">
                        <a:lnSpc>
                          <a:spcPct val="115000"/>
                        </a:lnSpc>
                        <a:spcAft>
                          <a:spcPts val="1000"/>
                        </a:spcAft>
                      </a:pPr>
                      <a:r>
                        <a:rPr lang="en-GB" sz="1000" b="1"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Parameters</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100" b="1"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Wet Season</a:t>
                      </a:r>
                      <a:endParaRPr lang="en-NG" sz="1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100" b="1"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Dry Season</a:t>
                      </a:r>
                      <a:endParaRPr lang="en-NG" sz="1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a:lnSpc>
                          <a:spcPct val="115000"/>
                        </a:lnSpc>
                        <a:spcAft>
                          <a:spcPts val="1000"/>
                        </a:spcAft>
                      </a:pPr>
                      <a:r>
                        <a:rPr lang="en-GB" sz="1100" b="1"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 ANOVA</a:t>
                      </a:r>
                      <a:endParaRPr lang="en-NG" sz="1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NG"/>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15581080"/>
                  </a:ext>
                </a:extLst>
              </a:tr>
              <a:tr h="155622">
                <a:tc vMerge="1">
                  <a:txBody>
                    <a:bodyPr/>
                    <a:lstStyle/>
                    <a:p>
                      <a:endParaRPr lang="en-NG"/>
                    </a:p>
                  </a:txBody>
                  <a:tcPr/>
                </a:tc>
                <a:tc rowSpan="2">
                  <a:txBody>
                    <a:bodyPr/>
                    <a:lstStyle/>
                    <a:p>
                      <a:pPr algn="ctr">
                        <a:lnSpc>
                          <a:spcPct val="115000"/>
                        </a:lnSpc>
                        <a:spcAft>
                          <a:spcPts val="1000"/>
                        </a:spcAft>
                      </a:pPr>
                      <a:r>
                        <a:rPr lang="en-US" sz="1000" b="1"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Range</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15000"/>
                        </a:lnSpc>
                        <a:spcAft>
                          <a:spcPts val="1000"/>
                        </a:spcAft>
                      </a:pPr>
                      <a:r>
                        <a:rPr lang="en-US" sz="1000" b="1"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Range</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pPr>
                      <a:endParaRPr lang="en-NG" sz="1000" dirty="0">
                        <a:effectLst/>
                        <a:latin typeface="Arial Rounded MT Bold" panose="020F0704030504030204" pitchFamily="34" charset="0"/>
                        <a:cs typeface="Times New Roman" panose="02020603050405020304" pitchFamily="18" charset="0"/>
                      </a:endParaRPr>
                    </a:p>
                  </a:txBody>
                  <a:tcPr marL="53973" marR="53973"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a:lnSpc>
                          <a:spcPct val="115000"/>
                        </a:lnSpc>
                      </a:pPr>
                      <a:endParaRPr lang="en-NG" sz="1000" dirty="0">
                        <a:effectLst/>
                        <a:latin typeface="Arial Rounded MT Bold" panose="020F07040305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B>
                      <a:noFill/>
                    </a:lnB>
                    <a:noFill/>
                  </a:tcPr>
                </a:tc>
                <a:extLst>
                  <a:ext uri="{0D108BD9-81ED-4DB2-BD59-A6C34878D82A}">
                    <a16:rowId xmlns:a16="http://schemas.microsoft.com/office/drawing/2014/main" val="736486852"/>
                  </a:ext>
                </a:extLst>
              </a:tr>
              <a:tr h="155622">
                <a:tc vMerge="1">
                  <a:txBody>
                    <a:bodyPr/>
                    <a:lstStyle/>
                    <a:p>
                      <a:endParaRPr lang="en-NG"/>
                    </a:p>
                  </a:txBody>
                  <a:tcPr/>
                </a:tc>
                <a:tc vMerge="1">
                  <a:txBody>
                    <a:bodyPr/>
                    <a:lstStyle/>
                    <a:p>
                      <a:endParaRPr lang="en-NG"/>
                    </a:p>
                  </a:txBody>
                  <a:tcPr/>
                </a:tc>
                <a:tc vMerge="1">
                  <a:txBody>
                    <a:bodyPr/>
                    <a:lstStyle/>
                    <a:p>
                      <a:endParaRPr lang="en-NG"/>
                    </a:p>
                  </a:txBody>
                  <a:tcPr/>
                </a:tc>
                <a:tc>
                  <a:txBody>
                    <a:bodyPr/>
                    <a:lstStyle/>
                    <a:p>
                      <a:pPr algn="ctr">
                        <a:lnSpc>
                          <a:spcPct val="115000"/>
                        </a:lnSpc>
                        <a:spcAft>
                          <a:spcPts val="1000"/>
                        </a:spcAft>
                      </a:pPr>
                      <a:r>
                        <a:rPr lang="en-GB" sz="1000" b="1"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F-Value</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b="1">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P-Value</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5392535"/>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Turbidity</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3.00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25.00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8.00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13.47</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400772173"/>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pH</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6.70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12.50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7.20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10.50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1.07</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0.32</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8230700"/>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EC</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0.81</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0.10</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0.74</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0.83</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0.38</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8128297"/>
                  </a:ext>
                </a:extLst>
              </a:tr>
              <a:tr h="155622">
                <a:tc>
                  <a:txBody>
                    <a:bodyPr/>
                    <a:lstStyle/>
                    <a:p>
                      <a:pPr algn="ctr">
                        <a:lnSpc>
                          <a:spcPct val="115000"/>
                        </a:lnSpc>
                        <a:spcAft>
                          <a:spcPts val="1000"/>
                        </a:spcAft>
                      </a:pPr>
                      <a:r>
                        <a:rPr lang="en-GB" sz="1000" b="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TDS</a:t>
                      </a:r>
                      <a:endParaRPr lang="en-NG" sz="1000" b="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82.00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595.00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84.00</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537.00</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0.96</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0.34</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3401429"/>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T</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24.40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27.30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26.10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30.10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17.31</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289151916"/>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DO</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9.70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21.10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5.70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8.70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16.03</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007139671"/>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BOD</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1.20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16.50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0.40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2.80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6.32</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0.02</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713996501"/>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Coliform</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0.40</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21.50</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1111.00</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4.61</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0.05</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62585658"/>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Na</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3.57</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7.02</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50.00</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15.64</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090802950"/>
                  </a:ext>
                </a:extLst>
              </a:tr>
              <a:tr h="155622">
                <a:tc>
                  <a:txBody>
                    <a:bodyPr/>
                    <a:lstStyle/>
                    <a:p>
                      <a:pPr algn="ctr">
                        <a:lnSpc>
                          <a:spcPct val="115000"/>
                        </a:lnSpc>
                        <a:spcAft>
                          <a:spcPts val="1000"/>
                        </a:spcAft>
                      </a:pPr>
                      <a:r>
                        <a:rPr lang="en-GB" sz="1000" b="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K</a:t>
                      </a:r>
                      <a:endParaRPr lang="en-NG" sz="1000" b="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5.20</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25.98</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1.91</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11.50</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13.16</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75474709"/>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Mg</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8.72</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19.29</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6.67</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23.02</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0.96</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0.34</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6100510"/>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Ca</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0.20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0.24</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0.09</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0.13</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303.95</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353948834"/>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Fe</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0.37</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4.49</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0.23</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0.65</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2.76</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0.12</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1393033"/>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Cd</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0.02</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24.63</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782990487"/>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Co</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0.04</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0.06</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0.22</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48.99</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6219611"/>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Cr</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0.10</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17.82</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777921227"/>
                  </a:ext>
                </a:extLst>
              </a:tr>
              <a:tr h="155622">
                <a:tc>
                  <a:txBody>
                    <a:bodyPr/>
                    <a:lstStyle/>
                    <a:p>
                      <a:pPr algn="ctr">
                        <a:lnSpc>
                          <a:spcPct val="115000"/>
                        </a:lnSpc>
                        <a:spcAft>
                          <a:spcPts val="1000"/>
                        </a:spcAft>
                      </a:pPr>
                      <a:r>
                        <a:rPr lang="en-GB" sz="1000" b="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Cu</a:t>
                      </a:r>
                      <a:endParaRPr lang="en-NG" sz="1000" b="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0.02</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0.04</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0.26</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0.62</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2085079"/>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Mn</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0.06</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0.60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0.12</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9.66</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723519851"/>
                  </a:ext>
                </a:extLst>
              </a:tr>
              <a:tr h="155622">
                <a:tc>
                  <a:txBody>
                    <a:bodyPr/>
                    <a:lstStyle/>
                    <a:p>
                      <a:pPr algn="ctr">
                        <a:lnSpc>
                          <a:spcPct val="115000"/>
                        </a:lnSpc>
                        <a:spcAft>
                          <a:spcPts val="1000"/>
                        </a:spcAft>
                      </a:pPr>
                      <a:r>
                        <a:rPr lang="en-GB" sz="1000" b="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Ni</a:t>
                      </a:r>
                      <a:endParaRPr lang="en-NG" sz="1000" b="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0.02</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10.93</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088996197"/>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Pb</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0.11</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0.24</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46.07</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195493918"/>
                  </a:ext>
                </a:extLst>
              </a:tr>
              <a:tr h="155622">
                <a:tc>
                  <a:txBody>
                    <a:bodyPr/>
                    <a:lstStyle/>
                    <a:p>
                      <a:pPr algn="ctr">
                        <a:lnSpc>
                          <a:spcPct val="115000"/>
                        </a:lnSpc>
                        <a:spcAft>
                          <a:spcPts val="1000"/>
                        </a:spcAft>
                      </a:pPr>
                      <a:r>
                        <a:rPr lang="en-GB" sz="1000" b="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Zn</a:t>
                      </a:r>
                      <a:endParaRPr lang="en-NG" sz="1000" b="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0.17</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0.32</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0.06</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0.22</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15.79</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29449403"/>
                  </a:ext>
                </a:extLst>
              </a:tr>
              <a:tr h="155622">
                <a:tc>
                  <a:txBody>
                    <a:bodyPr/>
                    <a:lstStyle/>
                    <a:p>
                      <a:pPr algn="ctr">
                        <a:lnSpc>
                          <a:spcPct val="115000"/>
                        </a:lnSpc>
                        <a:spcAft>
                          <a:spcPts val="1000"/>
                        </a:spcAft>
                      </a:pPr>
                      <a:r>
                        <a:rPr lang="en-GB" sz="1000" b="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As</a:t>
                      </a:r>
                      <a:endParaRPr lang="en-NG" sz="1000" b="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0.02</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1.00</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0.33</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6824977"/>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Cl-</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30.76</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45.71</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37.68</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53.57</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12.46</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90170388"/>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SO</a:t>
                      </a:r>
                      <a:r>
                        <a:rPr lang="en-GB" sz="1000" b="0" baseline="-25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a:t>
                      </a:r>
                      <a:r>
                        <a:rPr lang="en-GB" sz="1000" b="0" baseline="30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4.14</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7.41</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4.10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6.75</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0.12</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0.73</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379407"/>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NO</a:t>
                      </a:r>
                      <a:r>
                        <a:rPr lang="en-GB" sz="1000" b="0" baseline="-25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a:t>
                      </a:r>
                      <a:r>
                        <a:rPr lang="en-GB" sz="1000" b="0" baseline="30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0.52</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27.30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0.33</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1.13</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9.20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0.01</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131559138"/>
                  </a:ext>
                </a:extLst>
              </a:tr>
              <a:tr h="155622">
                <a:tc>
                  <a:txBody>
                    <a:bodyPr/>
                    <a:lstStyle/>
                    <a:p>
                      <a:pPr algn="ctr">
                        <a:lnSpc>
                          <a:spcPct val="115000"/>
                        </a:lnSpc>
                        <a:spcAft>
                          <a:spcPts val="1000"/>
                        </a:spcAft>
                      </a:pPr>
                      <a:r>
                        <a:rPr lang="en-GB" sz="1000" b="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HCO</a:t>
                      </a:r>
                      <a:r>
                        <a:rPr lang="en-GB" sz="1000" b="0" baseline="-25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a:t>
                      </a:r>
                      <a:r>
                        <a:rPr lang="en-GB" sz="1000" b="0" baseline="30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endParaRPr lang="en-NG" sz="1000" b="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0.90</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30.00</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3.00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6.00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4.78</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0.05</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69201307"/>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CO</a:t>
                      </a:r>
                      <a:r>
                        <a:rPr lang="en-GB" sz="1000" b="0" baseline="-25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3</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r>
                        <a:rPr lang="en-US"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8.00</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GB" sz="100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1.13</a:t>
                      </a:r>
                      <a:endParaRPr lang="en-NG" sz="10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0.30</a:t>
                      </a:r>
                      <a:endParaRPr lang="en-NG" sz="1000" dirty="0"/>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9358473"/>
                  </a:ext>
                </a:extLst>
              </a:tr>
              <a:tr h="155622">
                <a:tc>
                  <a:txBody>
                    <a:bodyPr/>
                    <a:lstStyle/>
                    <a:p>
                      <a:pPr algn="ctr">
                        <a:lnSpc>
                          <a:spcPct val="115000"/>
                        </a:lnSpc>
                        <a:spcAft>
                          <a:spcPts val="1000"/>
                        </a:spcAft>
                      </a:pPr>
                      <a:r>
                        <a:rPr lang="en-GB" sz="1000" b="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PO</a:t>
                      </a:r>
                      <a:r>
                        <a:rPr lang="en-GB" sz="1000" b="0" baseline="-25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a:t>
                      </a:r>
                      <a:endParaRPr lang="en-NG" sz="10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1.00</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1.87</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2.18</a:t>
                      </a:r>
                      <a:r>
                        <a:rPr lang="en-US"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4.93</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19.87</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1000"/>
                        </a:spcAft>
                      </a:pPr>
                      <a:r>
                        <a:rPr lang="en-GB" sz="1000" dirty="0">
                          <a:solidFill>
                            <a:srgbClr val="000000"/>
                          </a:solidFill>
                          <a:effectLst/>
                          <a:latin typeface="Arial Rounded MT Bold" panose="020F0704030504030204" pitchFamily="34" charset="0"/>
                          <a:ea typeface="Times New Roman" panose="02020603050405020304" pitchFamily="18" charset="0"/>
                          <a:cs typeface="Times New Roman" panose="02020603050405020304" pitchFamily="18" charset="0"/>
                        </a:rPr>
                        <a:t>0.00</a:t>
                      </a:r>
                      <a:endParaRPr lang="en-NG" sz="10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53973" marR="539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160384842"/>
                  </a:ext>
                </a:extLst>
              </a:tr>
            </a:tbl>
          </a:graphicData>
        </a:graphic>
      </p:graphicFrame>
    </p:spTree>
    <p:extLst>
      <p:ext uri="{BB962C8B-B14F-4D97-AF65-F5344CB8AC3E}">
        <p14:creationId xmlns:p14="http://schemas.microsoft.com/office/powerpoint/2010/main" val="4243657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6BB3F-0AF2-74C7-136A-A3DB71193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9CE80-7C75-8389-1D17-58FD0FE94E20}"/>
              </a:ext>
            </a:extLst>
          </p:cNvPr>
          <p:cNvSpPr>
            <a:spLocks noGrp="1"/>
          </p:cNvSpPr>
          <p:nvPr>
            <p:ph type="ctrTitle"/>
          </p:nvPr>
        </p:nvSpPr>
        <p:spPr>
          <a:xfrm>
            <a:off x="1792475" y="282364"/>
            <a:ext cx="9144000" cy="1030308"/>
          </a:xfrm>
        </p:spPr>
        <p:txBody>
          <a:bodyPr>
            <a:noAutofit/>
          </a:bodyPr>
          <a:lstStyle/>
          <a:p>
            <a:br>
              <a:rPr lang="en-US" sz="3200" b="1" dirty="0">
                <a:latin typeface="Arial Rounded MT Bold" panose="020F0704030504030204" pitchFamily="34" charset="0"/>
                <a:cs typeface="Times New Roman" panose="02020603050405020304" pitchFamily="18" charset="0"/>
              </a:rPr>
            </a:br>
            <a:br>
              <a:rPr lang="en-US" sz="3200" b="1" dirty="0">
                <a:latin typeface="Arial Rounded MT Bold" panose="020F0704030504030204" pitchFamily="34" charset="0"/>
                <a:cs typeface="Times New Roman" panose="02020603050405020304" pitchFamily="18" charset="0"/>
              </a:rPr>
            </a:br>
            <a:r>
              <a:rPr lang="en-US" sz="3200" b="1" dirty="0">
                <a:latin typeface="Arial Rounded MT Bold" panose="020F0704030504030204" pitchFamily="34" charset="0"/>
                <a:cs typeface="Times New Roman" panose="02020603050405020304" pitchFamily="18" charset="0"/>
              </a:rPr>
              <a:t>Results and Discussions</a:t>
            </a:r>
            <a:br>
              <a:rPr lang="en-US"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F38E1396-6511-44B9-B7D1-775BD06B394B}"/>
              </a:ext>
            </a:extLst>
          </p:cNvPr>
          <p:cNvSpPr>
            <a:spLocks noGrp="1"/>
          </p:cNvSpPr>
          <p:nvPr>
            <p:ph type="subTitle" idx="1"/>
          </p:nvPr>
        </p:nvSpPr>
        <p:spPr>
          <a:xfrm>
            <a:off x="1012875" y="1164971"/>
            <a:ext cx="10363198" cy="5546377"/>
          </a:xfrm>
        </p:spPr>
        <p:txBody>
          <a:bodyPr>
            <a:normAutofit/>
          </a:bodyPr>
          <a:lstStyle/>
          <a:p>
            <a:pPr>
              <a:lnSpc>
                <a:spcPct val="100000"/>
              </a:lnSpc>
            </a:pPr>
            <a:r>
              <a:rPr lang="en-US" sz="1800" b="1" dirty="0">
                <a:latin typeface="Arial Rounded MT Bold" panose="020F0704030504030204" pitchFamily="34" charset="0"/>
                <a:ea typeface="Calibri" panose="020F0502020204030204" pitchFamily="34" charset="0"/>
                <a:cs typeface="Times New Roman" panose="02020603050405020304" pitchFamily="18" charset="0"/>
              </a:rPr>
              <a:t>Source Identification</a:t>
            </a:r>
            <a:br>
              <a:rPr lang="en-NG" sz="1800" dirty="0">
                <a:effectLst/>
                <a:latin typeface="Arial Rounded MT Bold" panose="020F0704030504030204" pitchFamily="34" charset="0"/>
                <a:ea typeface="Times New Roman" panose="02020603050405020304" pitchFamily="18" charset="0"/>
              </a:rPr>
            </a:br>
            <a:r>
              <a:rPr lang="en-GB" sz="1800" dirty="0">
                <a:effectLst/>
                <a:ea typeface="Times New Roman" panose="02020603050405020304" pitchFamily="18" charset="0"/>
              </a:rPr>
              <a:t>Table 5: Principal Components </a:t>
            </a:r>
            <a:r>
              <a:rPr lang="en-GB" sz="1800" dirty="0">
                <a:ea typeface="Times New Roman" panose="02020603050405020304" pitchFamily="18" charset="0"/>
              </a:rPr>
              <a:t>(A) </a:t>
            </a:r>
            <a:r>
              <a:rPr lang="en-GB" sz="1800" dirty="0">
                <a:effectLst/>
                <a:ea typeface="Times New Roman" panose="02020603050405020304" pitchFamily="18" charset="0"/>
              </a:rPr>
              <a:t>Surface water and (B) Groundwater</a:t>
            </a:r>
          </a:p>
          <a:p>
            <a:pPr algn="l">
              <a:lnSpc>
                <a:spcPct val="100000"/>
              </a:lnSpc>
            </a:pPr>
            <a:r>
              <a:rPr lang="en-GB" sz="1800" dirty="0">
                <a:latin typeface="Arial Rounded MT Bold" panose="020F0704030504030204" pitchFamily="34" charset="0"/>
                <a:ea typeface="Times New Roman" panose="02020603050405020304" pitchFamily="18" charset="0"/>
              </a:rPr>
              <a:t>                                A                                                                                                      B</a:t>
            </a:r>
            <a:endParaRPr lang="en-NG" sz="1800" dirty="0">
              <a:effectLst/>
              <a:latin typeface="Arial Rounded MT Bold" panose="020F0704030504030204" pitchFamily="34"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011E8E7E-BEC6-BA7F-9E36-B2DE4923F9E1}"/>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AA2F01AC-2365-0E28-5F42-CB96C0BAFFA3}"/>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08296314-B7A3-9511-9085-848166624148}"/>
              </a:ext>
            </a:extLst>
          </p:cNvPr>
          <p:cNvSpPr>
            <a:spLocks noGrp="1"/>
          </p:cNvSpPr>
          <p:nvPr>
            <p:ph type="sldNum" sz="quarter" idx="12"/>
          </p:nvPr>
        </p:nvSpPr>
        <p:spPr/>
        <p:txBody>
          <a:bodyPr/>
          <a:lstStyle/>
          <a:p>
            <a:fld id="{E30FEA02-71A2-4209-B909-B13DA9CFC23D}" type="slidenum">
              <a:rPr lang="en-NG" smtClean="0"/>
              <a:t>19</a:t>
            </a:fld>
            <a:endParaRPr lang="en-NG"/>
          </a:p>
        </p:txBody>
      </p:sp>
      <p:graphicFrame>
        <p:nvGraphicFramePr>
          <p:cNvPr id="11" name="Table 10">
            <a:extLst>
              <a:ext uri="{FF2B5EF4-FFF2-40B4-BE49-F238E27FC236}">
                <a16:creationId xmlns:a16="http://schemas.microsoft.com/office/drawing/2014/main" id="{29B943C8-3094-7C3B-C6B8-889F1318A1D3}"/>
              </a:ext>
            </a:extLst>
          </p:cNvPr>
          <p:cNvGraphicFramePr>
            <a:graphicFrameLocks noGrp="1"/>
          </p:cNvGraphicFramePr>
          <p:nvPr>
            <p:extLst>
              <p:ext uri="{D42A27DB-BD31-4B8C-83A1-F6EECF244321}">
                <p14:modId xmlns:p14="http://schemas.microsoft.com/office/powerpoint/2010/main" val="353350326"/>
              </p:ext>
            </p:extLst>
          </p:nvPr>
        </p:nvGraphicFramePr>
        <p:xfrm>
          <a:off x="999996" y="2152671"/>
          <a:ext cx="5176139" cy="4177401"/>
        </p:xfrm>
        <a:graphic>
          <a:graphicData uri="http://schemas.openxmlformats.org/drawingml/2006/table">
            <a:tbl>
              <a:tblPr/>
              <a:tblGrid>
                <a:gridCol w="912114">
                  <a:extLst>
                    <a:ext uri="{9D8B030D-6E8A-4147-A177-3AD203B41FA5}">
                      <a16:colId xmlns:a16="http://schemas.microsoft.com/office/drawing/2014/main" val="2719274921"/>
                    </a:ext>
                  </a:extLst>
                </a:gridCol>
                <a:gridCol w="609600">
                  <a:extLst>
                    <a:ext uri="{9D8B030D-6E8A-4147-A177-3AD203B41FA5}">
                      <a16:colId xmlns:a16="http://schemas.microsoft.com/office/drawing/2014/main" val="170519953"/>
                    </a:ext>
                  </a:extLst>
                </a:gridCol>
                <a:gridCol w="609600">
                  <a:extLst>
                    <a:ext uri="{9D8B030D-6E8A-4147-A177-3AD203B41FA5}">
                      <a16:colId xmlns:a16="http://schemas.microsoft.com/office/drawing/2014/main" val="2572088307"/>
                    </a:ext>
                  </a:extLst>
                </a:gridCol>
                <a:gridCol w="609600">
                  <a:extLst>
                    <a:ext uri="{9D8B030D-6E8A-4147-A177-3AD203B41FA5}">
                      <a16:colId xmlns:a16="http://schemas.microsoft.com/office/drawing/2014/main" val="1378657007"/>
                    </a:ext>
                  </a:extLst>
                </a:gridCol>
                <a:gridCol w="642423">
                  <a:extLst>
                    <a:ext uri="{9D8B030D-6E8A-4147-A177-3AD203B41FA5}">
                      <a16:colId xmlns:a16="http://schemas.microsoft.com/office/drawing/2014/main" val="3119806134"/>
                    </a:ext>
                  </a:extLst>
                </a:gridCol>
                <a:gridCol w="573602">
                  <a:extLst>
                    <a:ext uri="{9D8B030D-6E8A-4147-A177-3AD203B41FA5}">
                      <a16:colId xmlns:a16="http://schemas.microsoft.com/office/drawing/2014/main" val="3642640303"/>
                    </a:ext>
                  </a:extLst>
                </a:gridCol>
                <a:gridCol w="609600">
                  <a:extLst>
                    <a:ext uri="{9D8B030D-6E8A-4147-A177-3AD203B41FA5}">
                      <a16:colId xmlns:a16="http://schemas.microsoft.com/office/drawing/2014/main" val="1838092279"/>
                    </a:ext>
                  </a:extLst>
                </a:gridCol>
                <a:gridCol w="609600">
                  <a:extLst>
                    <a:ext uri="{9D8B030D-6E8A-4147-A177-3AD203B41FA5}">
                      <a16:colId xmlns:a16="http://schemas.microsoft.com/office/drawing/2014/main" val="430707291"/>
                    </a:ext>
                  </a:extLst>
                </a:gridCol>
              </a:tblGrid>
              <a:tr h="364552">
                <a:tc>
                  <a:txBody>
                    <a:bodyPr/>
                    <a:lstStyle/>
                    <a:p>
                      <a:pPr algn="l" rtl="0" fontAlgn="ctr"/>
                      <a:r>
                        <a:rPr lang="en-US" sz="1200" b="1" i="0" u="none" strike="noStrike" dirty="0">
                          <a:solidFill>
                            <a:srgbClr val="000000"/>
                          </a:solidFill>
                          <a:effectLst/>
                          <a:latin typeface="Arial Rounded MT Bold" panose="020F0704030504030204" pitchFamily="34" charset="0"/>
                        </a:rPr>
                        <a:t>PCs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200" b="1" i="0" u="none" strike="noStrike" dirty="0">
                          <a:solidFill>
                            <a:srgbClr val="000000"/>
                          </a:solidFill>
                          <a:effectLst/>
                          <a:latin typeface="Arial Rounded MT Bold" panose="020F0704030504030204" pitchFamily="34" charset="0"/>
                        </a:rPr>
                        <a:t>WSPC1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1" i="0" u="none" strike="noStrike" dirty="0">
                          <a:solidFill>
                            <a:srgbClr val="000000"/>
                          </a:solidFill>
                          <a:effectLst/>
                          <a:latin typeface="Arial Rounded MT Bold" panose="020F0704030504030204" pitchFamily="34" charset="0"/>
                        </a:rPr>
                        <a:t>WSPC2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1" i="0" u="none" strike="noStrike">
                          <a:solidFill>
                            <a:srgbClr val="000000"/>
                          </a:solidFill>
                          <a:effectLst/>
                          <a:latin typeface="Arial Rounded MT Bold" panose="020F0704030504030204" pitchFamily="34" charset="0"/>
                        </a:rPr>
                        <a:t>WSPC3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1" i="0" u="none" strike="noStrike" dirty="0">
                          <a:solidFill>
                            <a:srgbClr val="000000"/>
                          </a:solidFill>
                          <a:effectLst/>
                          <a:latin typeface="Arial Rounded MT Bold" panose="020F0704030504030204" pitchFamily="34" charset="0"/>
                        </a:rPr>
                        <a:t>WSPC4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1" i="0" u="none" strike="noStrike" dirty="0">
                          <a:solidFill>
                            <a:srgbClr val="000000"/>
                          </a:solidFill>
                          <a:effectLst/>
                          <a:latin typeface="Arial Rounded MT Bold" panose="020F0704030504030204" pitchFamily="34" charset="0"/>
                        </a:rPr>
                        <a:t>DSPC1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1" i="0" u="none" strike="noStrike">
                          <a:solidFill>
                            <a:srgbClr val="000000"/>
                          </a:solidFill>
                          <a:effectLst/>
                          <a:latin typeface="Arial Rounded MT Bold" panose="020F0704030504030204" pitchFamily="34" charset="0"/>
                        </a:rPr>
                        <a:t>DSPC2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1" i="0" u="none" strike="noStrike" dirty="0">
                          <a:solidFill>
                            <a:srgbClr val="000000"/>
                          </a:solidFill>
                          <a:effectLst/>
                          <a:latin typeface="Arial Rounded MT Bold" panose="020F0704030504030204" pitchFamily="34" charset="0"/>
                        </a:rPr>
                        <a:t>DSPC3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680554533"/>
                  </a:ext>
                </a:extLst>
              </a:tr>
              <a:tr h="364552">
                <a:tc rowSpan="6">
                  <a:txBody>
                    <a:bodyPr/>
                    <a:lstStyle/>
                    <a:p>
                      <a:pPr algn="l" rtl="0" fontAlgn="ctr"/>
                      <a:r>
                        <a:rPr lang="en-US" sz="1200" b="1" i="0" u="none" strike="noStrike">
                          <a:solidFill>
                            <a:srgbClr val="000000"/>
                          </a:solidFill>
                          <a:effectLst/>
                          <a:latin typeface="Arial Rounded MT Bold" panose="020F0704030504030204" pitchFamily="34" charset="0"/>
                        </a:rPr>
                        <a:t>Parameters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200" b="0" i="0" u="none" strike="noStrike">
                          <a:solidFill>
                            <a:srgbClr val="000000"/>
                          </a:solidFill>
                          <a:effectLst/>
                          <a:latin typeface="Arial Rounded MT Bold" panose="020F0704030504030204" pitchFamily="34" charset="0"/>
                        </a:rPr>
                        <a:t>TDS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BOD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Turb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Mg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EC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Cd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Cr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1049899032"/>
                  </a:ext>
                </a:extLst>
              </a:tr>
              <a:tr h="227845">
                <a:tc vMerge="1">
                  <a:txBody>
                    <a:bodyPr/>
                    <a:lstStyle/>
                    <a:p>
                      <a:endParaRPr lang="en-NG"/>
                    </a:p>
                  </a:txBody>
                  <a:tcPr/>
                </a:tc>
                <a:tc>
                  <a:txBody>
                    <a:bodyPr/>
                    <a:lstStyle/>
                    <a:p>
                      <a:pPr algn="l" rtl="0" fontAlgn="ctr"/>
                      <a:r>
                        <a:rPr lang="en-US" sz="1200" b="0" i="0" u="none" strike="noStrike">
                          <a:solidFill>
                            <a:srgbClr val="000000"/>
                          </a:solidFill>
                          <a:effectLst/>
                          <a:latin typeface="Arial Rounded MT Bold" panose="020F0704030504030204" pitchFamily="34" charset="0"/>
                        </a:rPr>
                        <a:t>Pb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pH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Cu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Zn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TDS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NO</a:t>
                      </a:r>
                      <a:r>
                        <a:rPr lang="en-US" sz="1200" b="0" i="0" u="none" strike="noStrike" baseline="-25000" dirty="0">
                          <a:solidFill>
                            <a:srgbClr val="000000"/>
                          </a:solidFill>
                          <a:effectLst/>
                          <a:latin typeface="Arial Rounded MT Bold" panose="020F0704030504030204" pitchFamily="34" charset="0"/>
                        </a:rPr>
                        <a:t>3</a:t>
                      </a:r>
                      <a:r>
                        <a:rPr lang="en-US" sz="1200" b="0" i="0" u="none" strike="noStrike" baseline="30000" dirty="0">
                          <a:solidFill>
                            <a:srgbClr val="000000"/>
                          </a:solidFill>
                          <a:effectLst/>
                          <a:latin typeface="Arial Rounded MT Bold" panose="020F0704030504030204" pitchFamily="34" charset="0"/>
                        </a:rPr>
                        <a:t>-</a:t>
                      </a:r>
                      <a:endParaRPr lang="en-US" sz="12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Fe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604140412"/>
                  </a:ext>
                </a:extLst>
              </a:tr>
              <a:tr h="227845">
                <a:tc vMerge="1">
                  <a:txBody>
                    <a:bodyPr/>
                    <a:lstStyle/>
                    <a:p>
                      <a:endParaRPr lang="en-NG"/>
                    </a:p>
                  </a:txBody>
                  <a:tcPr/>
                </a:tc>
                <a:tc>
                  <a:txBody>
                    <a:bodyPr/>
                    <a:lstStyle/>
                    <a:p>
                      <a:pPr algn="l" rtl="0" fontAlgn="ctr"/>
                      <a:r>
                        <a:rPr lang="en-US" sz="1200" b="0" i="0" u="none" strike="noStrike">
                          <a:solidFill>
                            <a:srgbClr val="000000"/>
                          </a:solidFill>
                          <a:effectLst/>
                          <a:latin typeface="Arial Rounded MT Bold" panose="020F0704030504030204" pitchFamily="34" charset="0"/>
                        </a:rPr>
                        <a:t>EC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DO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Fe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Ni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2786487786"/>
                  </a:ext>
                </a:extLst>
              </a:tr>
              <a:tr h="227845">
                <a:tc vMerge="1">
                  <a:txBody>
                    <a:bodyPr/>
                    <a:lstStyle/>
                    <a:p>
                      <a:endParaRPr lang="en-NG"/>
                    </a:p>
                  </a:txBody>
                  <a:tcPr/>
                </a:tc>
                <a:tc>
                  <a:txBody>
                    <a:bodyPr/>
                    <a:lstStyle/>
                    <a:p>
                      <a:pPr algn="l" rtl="0" fontAlgn="ctr"/>
                      <a:r>
                        <a:rPr lang="en-US" sz="1200" b="0" i="0" u="none" strike="noStrike">
                          <a:solidFill>
                            <a:srgbClr val="000000"/>
                          </a:solidFill>
                          <a:effectLst/>
                          <a:latin typeface="Arial Rounded MT Bold" panose="020F0704030504030204" pitchFamily="34" charset="0"/>
                        </a:rPr>
                        <a:t>NO</a:t>
                      </a:r>
                      <a:r>
                        <a:rPr lang="en-US" sz="1200" b="0" i="0" u="none" strike="noStrike" baseline="-25000">
                          <a:solidFill>
                            <a:srgbClr val="000000"/>
                          </a:solidFill>
                          <a:effectLst/>
                          <a:latin typeface="Arial Rounded MT Bold" panose="020F0704030504030204" pitchFamily="34" charset="0"/>
                        </a:rPr>
                        <a:t>3</a:t>
                      </a:r>
                      <a:r>
                        <a:rPr lang="en-US" sz="1200" b="0" i="0" u="none" strike="noStrike" baseline="30000">
                          <a:solidFill>
                            <a:srgbClr val="000000"/>
                          </a:solidFill>
                          <a:effectLst/>
                          <a:latin typeface="Arial Rounded MT Bold" panose="020F0704030504030204" pitchFamily="34" charset="0"/>
                        </a:rPr>
                        <a:t>-</a:t>
                      </a:r>
                      <a:endParaRPr lang="en-US" sz="12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Turb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2689144925"/>
                  </a:ext>
                </a:extLst>
              </a:tr>
              <a:tr h="227845">
                <a:tc vMerge="1">
                  <a:txBody>
                    <a:bodyPr/>
                    <a:lstStyle/>
                    <a:p>
                      <a:endParaRPr lang="en-NG"/>
                    </a:p>
                  </a:txBody>
                  <a:tcPr/>
                </a:tc>
                <a:tc>
                  <a:txBody>
                    <a:bodyPr/>
                    <a:lstStyle/>
                    <a:p>
                      <a:pPr algn="l" rtl="0" fontAlgn="ctr"/>
                      <a:r>
                        <a:rPr lang="en-US" sz="1200" b="0" i="0" u="none" strike="noStrike">
                          <a:solidFill>
                            <a:srgbClr val="000000"/>
                          </a:solidFill>
                          <a:effectLst/>
                          <a:latin typeface="Arial Rounded MT Bold" panose="020F0704030504030204" pitchFamily="34" charset="0"/>
                        </a:rPr>
                        <a:t>Mn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HCO</a:t>
                      </a:r>
                      <a:r>
                        <a:rPr lang="en-US" sz="1200" b="0" i="0" u="none" strike="noStrike" baseline="-25000">
                          <a:solidFill>
                            <a:srgbClr val="000000"/>
                          </a:solidFill>
                          <a:effectLst/>
                          <a:latin typeface="Arial Rounded MT Bold" panose="020F0704030504030204" pitchFamily="34" charset="0"/>
                        </a:rPr>
                        <a:t>3</a:t>
                      </a:r>
                      <a:r>
                        <a:rPr lang="en-US" sz="1200" b="0" i="0" u="none" strike="noStrike" baseline="30000">
                          <a:solidFill>
                            <a:srgbClr val="000000"/>
                          </a:solidFill>
                          <a:effectLst/>
                          <a:latin typeface="Arial Rounded MT Bold" panose="020F0704030504030204" pitchFamily="34" charset="0"/>
                        </a:rPr>
                        <a:t>-</a:t>
                      </a:r>
                      <a:endParaRPr lang="en-US" sz="12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Zn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225539302"/>
                  </a:ext>
                </a:extLst>
              </a:tr>
              <a:tr h="373666">
                <a:tc vMerge="1">
                  <a:txBody>
                    <a:bodyPr/>
                    <a:lstStyle/>
                    <a:p>
                      <a:endParaRPr lang="en-NG"/>
                    </a:p>
                  </a:txBody>
                  <a:tcPr/>
                </a:tc>
                <a:tc>
                  <a:txBody>
                    <a:bodyPr/>
                    <a:lstStyle/>
                    <a:p>
                      <a:pPr algn="l" rtl="0" fontAlgn="ctr"/>
                      <a:r>
                        <a:rPr lang="en-US" sz="1200" b="0" i="0" u="none" strike="noStrike">
                          <a:solidFill>
                            <a:srgbClr val="000000"/>
                          </a:solidFill>
                          <a:effectLst/>
                          <a:latin typeface="Arial Rounded MT Bold" panose="020F0704030504030204" pitchFamily="34" charset="0"/>
                        </a:rPr>
                        <a:t>Cd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PO</a:t>
                      </a:r>
                      <a:r>
                        <a:rPr lang="en-US" sz="1200" b="0" i="0" u="none" strike="noStrike" baseline="-25000">
                          <a:solidFill>
                            <a:srgbClr val="000000"/>
                          </a:solidFill>
                          <a:effectLst/>
                          <a:latin typeface="Arial Rounded MT Bold" panose="020F0704030504030204" pitchFamily="34" charset="0"/>
                        </a:rPr>
                        <a:t>4</a:t>
                      </a:r>
                      <a:endParaRPr lang="en-US" sz="12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Cu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3367087216"/>
                  </a:ext>
                </a:extLst>
              </a:tr>
              <a:tr h="364552">
                <a:tc>
                  <a:txBody>
                    <a:bodyPr/>
                    <a:lstStyle/>
                    <a:p>
                      <a:pPr algn="l" rtl="0" fontAlgn="ctr"/>
                      <a:r>
                        <a:rPr lang="en-US" sz="1200" b="1" i="0" u="none" strike="noStrike">
                          <a:solidFill>
                            <a:srgbClr val="000000"/>
                          </a:solidFill>
                          <a:effectLst/>
                          <a:latin typeface="Arial Rounded MT Bold" panose="020F0704030504030204" pitchFamily="34" charset="0"/>
                        </a:rPr>
                        <a:t>EigenVal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NG" sz="1200" b="0" i="0" u="none" strike="noStrike">
                          <a:solidFill>
                            <a:srgbClr val="000000"/>
                          </a:solidFill>
                          <a:effectLst/>
                          <a:latin typeface="Arial Rounded MT Bold" panose="020F0704030504030204" pitchFamily="34" charset="0"/>
                        </a:rPr>
                        <a:t>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a:solidFill>
                            <a:srgbClr val="000000"/>
                          </a:solidFill>
                          <a:effectLst/>
                          <a:latin typeface="Arial Rounded MT Bold" panose="020F0704030504030204" pitchFamily="34" charset="0"/>
                        </a:rPr>
                        <a:t>5.52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a:solidFill>
                            <a:srgbClr val="000000"/>
                          </a:solidFill>
                          <a:effectLst/>
                          <a:latin typeface="Arial Rounded MT Bold" panose="020F0704030504030204" pitchFamily="34" charset="0"/>
                        </a:rPr>
                        <a:t>2.89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2.51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a:solidFill>
                            <a:srgbClr val="000000"/>
                          </a:solidFill>
                          <a:effectLst/>
                          <a:latin typeface="Arial Rounded MT Bold" panose="020F0704030504030204" pitchFamily="34"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3.39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401788577"/>
                  </a:ext>
                </a:extLst>
              </a:tr>
              <a:tr h="373666">
                <a:tc>
                  <a:txBody>
                    <a:bodyPr/>
                    <a:lstStyle/>
                    <a:p>
                      <a:pPr algn="l" rtl="0" fontAlgn="ctr"/>
                      <a:r>
                        <a:rPr lang="en-US" sz="1200" b="1" i="0" u="none" strike="noStrike">
                          <a:solidFill>
                            <a:srgbClr val="000000"/>
                          </a:solidFill>
                          <a:effectLst/>
                          <a:latin typeface="Arial Rounded MT Bold" panose="020F0704030504030204" pitchFamily="34" charset="0"/>
                        </a:rPr>
                        <a:t>%Vari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NG" sz="1200" b="0" i="0" u="none" strike="noStrike">
                          <a:solidFill>
                            <a:srgbClr val="000000"/>
                          </a:solidFill>
                          <a:effectLst/>
                          <a:latin typeface="Arial Rounded MT Bold" panose="020F0704030504030204" pitchFamily="34" charset="0"/>
                        </a:rPr>
                        <a:t>30.83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a:solidFill>
                            <a:srgbClr val="000000"/>
                          </a:solidFill>
                          <a:effectLst/>
                          <a:latin typeface="Arial Rounded MT Bold" panose="020F0704030504030204" pitchFamily="34" charset="0"/>
                        </a:rPr>
                        <a:t>23.02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a:solidFill>
                            <a:srgbClr val="000000"/>
                          </a:solidFill>
                          <a:effectLst/>
                          <a:latin typeface="Arial Rounded MT Bold" panose="020F0704030504030204" pitchFamily="34" charset="0"/>
                        </a:rPr>
                        <a:t>12.02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10.47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26.91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a:solidFill>
                            <a:srgbClr val="000000"/>
                          </a:solidFill>
                          <a:effectLst/>
                          <a:latin typeface="Arial Rounded MT Bold" panose="020F0704030504030204" pitchFamily="34" charset="0"/>
                        </a:rPr>
                        <a:t>21.8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13.05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2846699466"/>
                  </a:ext>
                </a:extLst>
              </a:tr>
              <a:tr h="546828">
                <a:tc>
                  <a:txBody>
                    <a:bodyPr/>
                    <a:lstStyle/>
                    <a:p>
                      <a:pPr algn="l" rtl="0" fontAlgn="ctr"/>
                      <a:r>
                        <a:rPr lang="en-US" sz="1200" b="1" i="0" u="none" strike="noStrike">
                          <a:solidFill>
                            <a:srgbClr val="000000"/>
                          </a:solidFill>
                          <a:effectLst/>
                          <a:latin typeface="Arial Rounded MT Bold" panose="020F0704030504030204" pitchFamily="34" charset="0"/>
                        </a:rPr>
                        <a:t>Cum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NG" sz="1200" b="0" i="0" u="none" strike="noStrike">
                          <a:solidFill>
                            <a:srgbClr val="000000"/>
                          </a:solidFill>
                          <a:effectLst/>
                          <a:latin typeface="Arial Rounded MT Bold" panose="020F0704030504030204" pitchFamily="34" charset="0"/>
                        </a:rPr>
                        <a:t>30.83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a:solidFill>
                            <a:srgbClr val="000000"/>
                          </a:solidFill>
                          <a:effectLst/>
                          <a:latin typeface="Arial Rounded MT Bold" panose="020F0704030504030204" pitchFamily="34" charset="0"/>
                        </a:rPr>
                        <a:t>53.84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a:solidFill>
                            <a:srgbClr val="000000"/>
                          </a:solidFill>
                          <a:effectLst/>
                          <a:latin typeface="Arial Rounded MT Bold" panose="020F0704030504030204" pitchFamily="34" charset="0"/>
                        </a:rPr>
                        <a:t>65.86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76.33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26.91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a:solidFill>
                            <a:srgbClr val="000000"/>
                          </a:solidFill>
                          <a:effectLst/>
                          <a:latin typeface="Arial Rounded MT Bold" panose="020F0704030504030204" pitchFamily="34" charset="0"/>
                        </a:rPr>
                        <a:t>48.7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61.75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844381343"/>
                  </a:ext>
                </a:extLst>
              </a:tr>
              <a:tr h="840292">
                <a:tc>
                  <a:txBody>
                    <a:bodyPr/>
                    <a:lstStyle/>
                    <a:p>
                      <a:pPr algn="l" fontAlgn="ctr"/>
                      <a:r>
                        <a:rPr lang="en-US" sz="1200" b="1" i="0" u="none" strike="noStrike" dirty="0">
                          <a:solidFill>
                            <a:srgbClr val="000000"/>
                          </a:solidFill>
                          <a:effectLst/>
                          <a:latin typeface="Arial Rounded MT Bold" panose="020F0704030504030204" pitchFamily="34" charset="0"/>
                        </a:rPr>
                        <a:t>Source </a:t>
                      </a:r>
                      <a:r>
                        <a:rPr lang="en-US" sz="900" b="0" i="0" u="none" strike="noStrike" dirty="0">
                          <a:solidFill>
                            <a:srgbClr val="000000"/>
                          </a:solidFill>
                          <a:effectLst/>
                          <a:latin typeface="Arial Rounded MT Bold" panose="020F0704030504030204" pitchFamily="34" charset="0"/>
                        </a:rPr>
                        <a:t>(</a:t>
                      </a:r>
                      <a:r>
                        <a:rPr lang="en-GB" sz="900" b="0" kern="1200" dirty="0" err="1">
                          <a:solidFill>
                            <a:schemeClr val="tx1"/>
                          </a:solidFill>
                          <a:effectLst/>
                          <a:latin typeface="Arial Rounded MT Bold" panose="020F0704030504030204" pitchFamily="34" charset="0"/>
                          <a:ea typeface="+mn-ea"/>
                          <a:cs typeface="+mn-cs"/>
                        </a:rPr>
                        <a:t>Ariyibi</a:t>
                      </a:r>
                      <a:r>
                        <a:rPr lang="en-GB" sz="900" b="0" kern="1200" dirty="0">
                          <a:solidFill>
                            <a:schemeClr val="tx1"/>
                          </a:solidFill>
                          <a:effectLst/>
                          <a:latin typeface="Arial Rounded MT Bold" panose="020F0704030504030204" pitchFamily="34" charset="0"/>
                          <a:ea typeface="+mn-ea"/>
                          <a:cs typeface="+mn-cs"/>
                        </a:rPr>
                        <a:t> </a:t>
                      </a:r>
                      <a:r>
                        <a:rPr lang="en-GB" sz="900" b="0" i="1" kern="1200" dirty="0">
                          <a:solidFill>
                            <a:schemeClr val="tx1"/>
                          </a:solidFill>
                          <a:effectLst/>
                          <a:latin typeface="Arial Rounded MT Bold" panose="020F0704030504030204" pitchFamily="34" charset="0"/>
                          <a:ea typeface="+mn-ea"/>
                          <a:cs typeface="+mn-cs"/>
                        </a:rPr>
                        <a:t>et al.,</a:t>
                      </a:r>
                      <a:r>
                        <a:rPr lang="en-GB" sz="900" b="0" kern="1200" dirty="0">
                          <a:solidFill>
                            <a:schemeClr val="tx1"/>
                          </a:solidFill>
                          <a:effectLst/>
                          <a:latin typeface="Arial Rounded MT Bold" panose="020F0704030504030204" pitchFamily="34" charset="0"/>
                          <a:ea typeface="+mn-ea"/>
                          <a:cs typeface="+mn-cs"/>
                        </a:rPr>
                        <a:t> 2011</a:t>
                      </a:r>
                      <a:r>
                        <a:rPr lang="en-US" sz="900" b="0" i="0" u="none" strike="noStrike" dirty="0">
                          <a:solidFill>
                            <a:srgbClr val="000000"/>
                          </a:solidFill>
                          <a:effectLst/>
                          <a:latin typeface="Arial Rounded MT Bold" panose="020F0704030504030204" pitchFamily="34" charset="0"/>
                        </a:rPr>
                        <a:t>, </a:t>
                      </a:r>
                      <a:r>
                        <a:rPr lang="en-GB" sz="900" kern="1200" dirty="0">
                          <a:solidFill>
                            <a:schemeClr val="tx1"/>
                          </a:solidFill>
                          <a:effectLst/>
                          <a:latin typeface="Arial Rounded MT Bold" panose="020F0704030504030204" pitchFamily="34" charset="0"/>
                          <a:ea typeface="+mn-ea"/>
                          <a:cs typeface="+mn-cs"/>
                        </a:rPr>
                        <a:t>Okoye </a:t>
                      </a:r>
                      <a:r>
                        <a:rPr lang="en-GB" sz="900" i="1" kern="1200" dirty="0">
                          <a:solidFill>
                            <a:schemeClr val="tx1"/>
                          </a:solidFill>
                          <a:effectLst/>
                          <a:latin typeface="Arial Rounded MT Bold" panose="020F0704030504030204" pitchFamily="34" charset="0"/>
                          <a:ea typeface="+mn-ea"/>
                          <a:cs typeface="+mn-cs"/>
                        </a:rPr>
                        <a:t>et al.,</a:t>
                      </a:r>
                      <a:r>
                        <a:rPr lang="en-GB" sz="900" kern="1200" dirty="0">
                          <a:solidFill>
                            <a:schemeClr val="tx1"/>
                          </a:solidFill>
                          <a:effectLst/>
                          <a:latin typeface="Arial Rounded MT Bold" panose="020F0704030504030204" pitchFamily="34" charset="0"/>
                          <a:ea typeface="+mn-ea"/>
                          <a:cs typeface="+mn-cs"/>
                        </a:rPr>
                        <a:t> 2011</a:t>
                      </a:r>
                      <a:r>
                        <a:rPr lang="en-GB" sz="900" b="0" kern="1200" dirty="0">
                          <a:solidFill>
                            <a:schemeClr val="tx1"/>
                          </a:solidFill>
                          <a:effectLst/>
                          <a:latin typeface="Arial Rounded MT Bold" panose="020F0704030504030204" pitchFamily="34" charset="0"/>
                          <a:ea typeface="+mn-ea"/>
                          <a:cs typeface="+mn-cs"/>
                        </a:rPr>
                        <a:t>, </a:t>
                      </a:r>
                      <a:r>
                        <a:rPr lang="en-GB" sz="900" b="0" kern="1200" dirty="0" err="1">
                          <a:solidFill>
                            <a:schemeClr val="tx1"/>
                          </a:solidFill>
                          <a:effectLst/>
                          <a:latin typeface="Arial Rounded MT Bold" panose="020F0704030504030204" pitchFamily="34" charset="0"/>
                          <a:ea typeface="+mn-ea"/>
                          <a:cs typeface="+mn-cs"/>
                        </a:rPr>
                        <a:t>Konwea</a:t>
                      </a:r>
                      <a:r>
                        <a:rPr lang="en-GB" sz="900" b="0" kern="1200" dirty="0">
                          <a:solidFill>
                            <a:schemeClr val="tx1"/>
                          </a:solidFill>
                          <a:effectLst/>
                          <a:latin typeface="Arial Rounded MT Bold" panose="020F0704030504030204" pitchFamily="34" charset="0"/>
                          <a:ea typeface="+mn-ea"/>
                          <a:cs typeface="+mn-cs"/>
                        </a:rPr>
                        <a:t> </a:t>
                      </a:r>
                      <a:r>
                        <a:rPr lang="en-GB" sz="900" b="0" i="1" kern="1200" dirty="0">
                          <a:solidFill>
                            <a:schemeClr val="tx1"/>
                          </a:solidFill>
                          <a:effectLst/>
                          <a:latin typeface="Arial Rounded MT Bold" panose="020F0704030504030204" pitchFamily="34" charset="0"/>
                          <a:ea typeface="+mn-ea"/>
                          <a:cs typeface="+mn-cs"/>
                        </a:rPr>
                        <a:t>et al.,</a:t>
                      </a:r>
                      <a:r>
                        <a:rPr lang="en-GB" sz="900" b="0" kern="1200" dirty="0">
                          <a:solidFill>
                            <a:schemeClr val="tx1"/>
                          </a:solidFill>
                          <a:effectLst/>
                          <a:latin typeface="Arial Rounded MT Bold" panose="020F0704030504030204" pitchFamily="34" charset="0"/>
                          <a:ea typeface="+mn-ea"/>
                          <a:cs typeface="+mn-cs"/>
                        </a:rPr>
                        <a:t> 2023</a:t>
                      </a:r>
                      <a:r>
                        <a:rPr lang="en-US" sz="900" b="0" i="0" u="none" strike="noStrike" dirty="0">
                          <a:solidFill>
                            <a:srgbClr val="000000"/>
                          </a:solidFill>
                          <a:effectLst/>
                          <a:latin typeface="Arial Rounded MT Bold" panose="020F0704030504030204" pitchFamily="34" charset="0"/>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Arial Rounded MT Bold" panose="020F0704030504030204" pitchFamily="34" charset="0"/>
                        </a:rPr>
                        <a:t>N/W</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200" b="0" i="0" u="none" strike="noStrike" dirty="0">
                          <a:solidFill>
                            <a:srgbClr val="000000"/>
                          </a:solidFill>
                          <a:effectLst/>
                          <a:latin typeface="Arial Rounded MT Bold" panose="020F0704030504030204" pitchFamily="34" charset="0"/>
                        </a:rPr>
                        <a:t>A/A/S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200" b="0" i="0" u="none" strike="noStrike" dirty="0">
                          <a:solidFill>
                            <a:srgbClr val="000000"/>
                          </a:solidFill>
                          <a:effectLst/>
                          <a:latin typeface="Arial Rounded MT Bold" panose="020F0704030504030204" pitchFamily="34" charset="0"/>
                        </a:rPr>
                        <a:t>A/M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200" b="0" i="0" u="none" strike="noStrike" dirty="0">
                          <a:solidFill>
                            <a:srgbClr val="000000"/>
                          </a:solidFill>
                          <a:effectLst/>
                          <a:latin typeface="Arial Rounded MT Bold" panose="020F0704030504030204" pitchFamily="34" charset="0"/>
                        </a:rPr>
                        <a:t>A/M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200" b="0" i="0" u="none" strike="noStrike" dirty="0">
                          <a:solidFill>
                            <a:srgbClr val="000000"/>
                          </a:solidFill>
                          <a:effectLst/>
                          <a:latin typeface="Arial Rounded MT Bold" panose="020F0704030504030204" pitchFamily="34" charset="0"/>
                        </a:rPr>
                        <a:t>N/RWI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fontAlgn="ctr"/>
                      <a:r>
                        <a:rPr lang="en-US" sz="1200" b="0" i="0" u="none" strike="noStrike" dirty="0">
                          <a:solidFill>
                            <a:srgbClr val="000000"/>
                          </a:solidFill>
                          <a:effectLst/>
                          <a:latin typeface="Arial Rounded MT Bold" panose="020F0704030504030204" pitchFamily="34" charset="0"/>
                        </a:rPr>
                        <a:t>A/M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fontAlgn="ctr"/>
                      <a:r>
                        <a:rPr lang="en-US" sz="1200" b="0" i="0" u="none" strike="noStrike" dirty="0">
                          <a:solidFill>
                            <a:srgbClr val="000000"/>
                          </a:solidFill>
                          <a:effectLst/>
                          <a:latin typeface="Arial Rounded MT Bold" panose="020F0704030504030204" pitchFamily="34" charset="0"/>
                        </a:rPr>
                        <a:t>A/M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772703800"/>
                  </a:ext>
                </a:extLst>
              </a:tr>
            </a:tbl>
          </a:graphicData>
        </a:graphic>
      </p:graphicFrame>
      <p:graphicFrame>
        <p:nvGraphicFramePr>
          <p:cNvPr id="12" name="Table 11">
            <a:extLst>
              <a:ext uri="{FF2B5EF4-FFF2-40B4-BE49-F238E27FC236}">
                <a16:creationId xmlns:a16="http://schemas.microsoft.com/office/drawing/2014/main" id="{1AAE74F8-92A1-C679-5D21-C99D12E8DB0C}"/>
              </a:ext>
            </a:extLst>
          </p:cNvPr>
          <p:cNvGraphicFramePr>
            <a:graphicFrameLocks noGrp="1"/>
          </p:cNvGraphicFramePr>
          <p:nvPr>
            <p:extLst>
              <p:ext uri="{D42A27DB-BD31-4B8C-83A1-F6EECF244321}">
                <p14:modId xmlns:p14="http://schemas.microsoft.com/office/powerpoint/2010/main" val="4281016969"/>
              </p:ext>
            </p:extLst>
          </p:nvPr>
        </p:nvGraphicFramePr>
        <p:xfrm>
          <a:off x="6302327" y="2161187"/>
          <a:ext cx="5458270" cy="4152555"/>
        </p:xfrm>
        <a:graphic>
          <a:graphicData uri="http://schemas.openxmlformats.org/drawingml/2006/table">
            <a:tbl>
              <a:tblPr/>
              <a:tblGrid>
                <a:gridCol w="641681">
                  <a:extLst>
                    <a:ext uri="{9D8B030D-6E8A-4147-A177-3AD203B41FA5}">
                      <a16:colId xmlns:a16="http://schemas.microsoft.com/office/drawing/2014/main" val="859520881"/>
                    </a:ext>
                  </a:extLst>
                </a:gridCol>
                <a:gridCol w="449973">
                  <a:extLst>
                    <a:ext uri="{9D8B030D-6E8A-4147-A177-3AD203B41FA5}">
                      <a16:colId xmlns:a16="http://schemas.microsoft.com/office/drawing/2014/main" val="172344609"/>
                    </a:ext>
                  </a:extLst>
                </a:gridCol>
                <a:gridCol w="545827">
                  <a:extLst>
                    <a:ext uri="{9D8B030D-6E8A-4147-A177-3AD203B41FA5}">
                      <a16:colId xmlns:a16="http://schemas.microsoft.com/office/drawing/2014/main" val="1145285830"/>
                    </a:ext>
                  </a:extLst>
                </a:gridCol>
                <a:gridCol w="545827">
                  <a:extLst>
                    <a:ext uri="{9D8B030D-6E8A-4147-A177-3AD203B41FA5}">
                      <a16:colId xmlns:a16="http://schemas.microsoft.com/office/drawing/2014/main" val="2033919558"/>
                    </a:ext>
                  </a:extLst>
                </a:gridCol>
                <a:gridCol w="545827">
                  <a:extLst>
                    <a:ext uri="{9D8B030D-6E8A-4147-A177-3AD203B41FA5}">
                      <a16:colId xmlns:a16="http://schemas.microsoft.com/office/drawing/2014/main" val="3202672970"/>
                    </a:ext>
                  </a:extLst>
                </a:gridCol>
                <a:gridCol w="545827">
                  <a:extLst>
                    <a:ext uri="{9D8B030D-6E8A-4147-A177-3AD203B41FA5}">
                      <a16:colId xmlns:a16="http://schemas.microsoft.com/office/drawing/2014/main" val="873474057"/>
                    </a:ext>
                  </a:extLst>
                </a:gridCol>
                <a:gridCol w="545827">
                  <a:extLst>
                    <a:ext uri="{9D8B030D-6E8A-4147-A177-3AD203B41FA5}">
                      <a16:colId xmlns:a16="http://schemas.microsoft.com/office/drawing/2014/main" val="830757329"/>
                    </a:ext>
                  </a:extLst>
                </a:gridCol>
                <a:gridCol w="545827">
                  <a:extLst>
                    <a:ext uri="{9D8B030D-6E8A-4147-A177-3AD203B41FA5}">
                      <a16:colId xmlns:a16="http://schemas.microsoft.com/office/drawing/2014/main" val="2501508890"/>
                    </a:ext>
                  </a:extLst>
                </a:gridCol>
                <a:gridCol w="545827">
                  <a:extLst>
                    <a:ext uri="{9D8B030D-6E8A-4147-A177-3AD203B41FA5}">
                      <a16:colId xmlns:a16="http://schemas.microsoft.com/office/drawing/2014/main" val="582242406"/>
                    </a:ext>
                  </a:extLst>
                </a:gridCol>
                <a:gridCol w="545827">
                  <a:extLst>
                    <a:ext uri="{9D8B030D-6E8A-4147-A177-3AD203B41FA5}">
                      <a16:colId xmlns:a16="http://schemas.microsoft.com/office/drawing/2014/main" val="3338575403"/>
                    </a:ext>
                  </a:extLst>
                </a:gridCol>
              </a:tblGrid>
              <a:tr h="375012">
                <a:tc>
                  <a:txBody>
                    <a:bodyPr/>
                    <a:lstStyle/>
                    <a:p>
                      <a:pPr algn="l" rtl="0" fontAlgn="ctr"/>
                      <a:r>
                        <a:rPr lang="en-US" sz="1200" b="1" i="0" u="none" strike="noStrike">
                          <a:solidFill>
                            <a:srgbClr val="000000"/>
                          </a:solidFill>
                          <a:effectLst/>
                          <a:latin typeface="Arial Rounded MT Bold" panose="020F0704030504030204" pitchFamily="34" charset="0"/>
                        </a:rPr>
                        <a:t>PCs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200" b="1" i="0" u="none" strike="noStrike" dirty="0">
                          <a:solidFill>
                            <a:srgbClr val="000000"/>
                          </a:solidFill>
                          <a:effectLst/>
                          <a:latin typeface="Arial Rounded MT Bold" panose="020F0704030504030204" pitchFamily="34" charset="0"/>
                        </a:rPr>
                        <a:t>WGPC1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1" i="0" u="none" strike="noStrike" dirty="0">
                          <a:solidFill>
                            <a:srgbClr val="000000"/>
                          </a:solidFill>
                          <a:effectLst/>
                          <a:latin typeface="Arial Rounded MT Bold" panose="020F0704030504030204" pitchFamily="34" charset="0"/>
                        </a:rPr>
                        <a:t>WGPC2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1" i="0" u="none" strike="noStrike" dirty="0">
                          <a:solidFill>
                            <a:srgbClr val="000000"/>
                          </a:solidFill>
                          <a:effectLst/>
                          <a:latin typeface="Arial Rounded MT Bold" panose="020F0704030504030204" pitchFamily="34" charset="0"/>
                        </a:rPr>
                        <a:t>WGPC3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1" i="0" u="none" strike="noStrike" dirty="0">
                          <a:solidFill>
                            <a:srgbClr val="000000"/>
                          </a:solidFill>
                          <a:effectLst/>
                          <a:latin typeface="Arial Rounded MT Bold" panose="020F0704030504030204" pitchFamily="34" charset="0"/>
                        </a:rPr>
                        <a:t>WGPC4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1" i="0" u="none" strike="noStrike">
                          <a:solidFill>
                            <a:srgbClr val="000000"/>
                          </a:solidFill>
                          <a:effectLst/>
                          <a:latin typeface="Arial Rounded MT Bold" panose="020F0704030504030204" pitchFamily="34" charset="0"/>
                        </a:rPr>
                        <a:t>WGPC5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1" i="0" u="none" strike="noStrike" dirty="0">
                          <a:solidFill>
                            <a:srgbClr val="000000"/>
                          </a:solidFill>
                          <a:effectLst/>
                          <a:latin typeface="Arial Rounded MT Bold" panose="020F0704030504030204" pitchFamily="34" charset="0"/>
                        </a:rPr>
                        <a:t>DGPC1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1" i="0" u="none" strike="noStrike" dirty="0">
                          <a:solidFill>
                            <a:srgbClr val="000000"/>
                          </a:solidFill>
                          <a:effectLst/>
                          <a:latin typeface="Arial Rounded MT Bold" panose="020F0704030504030204" pitchFamily="34" charset="0"/>
                        </a:rPr>
                        <a:t>DGPC2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1" i="0" u="none" strike="noStrike">
                          <a:solidFill>
                            <a:srgbClr val="000000"/>
                          </a:solidFill>
                          <a:effectLst/>
                          <a:latin typeface="Arial Rounded MT Bold" panose="020F0704030504030204" pitchFamily="34" charset="0"/>
                        </a:rPr>
                        <a:t>DGPC3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1" i="0" u="none" strike="noStrike" dirty="0">
                          <a:solidFill>
                            <a:srgbClr val="000000"/>
                          </a:solidFill>
                          <a:effectLst/>
                          <a:latin typeface="Arial Rounded MT Bold" panose="020F0704030504030204" pitchFamily="34" charset="0"/>
                        </a:rPr>
                        <a:t>DGPC4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2974022416"/>
                  </a:ext>
                </a:extLst>
              </a:tr>
              <a:tr h="375012">
                <a:tc rowSpan="5">
                  <a:txBody>
                    <a:bodyPr/>
                    <a:lstStyle/>
                    <a:p>
                      <a:pPr algn="l" rtl="0" fontAlgn="ctr"/>
                      <a:r>
                        <a:rPr lang="en-US" sz="1200" b="1" i="0" u="none" strike="noStrike">
                          <a:solidFill>
                            <a:srgbClr val="000000"/>
                          </a:solidFill>
                          <a:effectLst/>
                          <a:latin typeface="Arial Rounded MT Bold" panose="020F0704030504030204" pitchFamily="34" charset="0"/>
                        </a:rPr>
                        <a:t>Parameters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200" b="0" i="0" u="none" strike="noStrike">
                          <a:solidFill>
                            <a:srgbClr val="000000"/>
                          </a:solidFill>
                          <a:effectLst/>
                          <a:latin typeface="Arial Rounded MT Bold" panose="020F0704030504030204" pitchFamily="34" charset="0"/>
                        </a:rPr>
                        <a:t>EC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Pb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Mg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Coliform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Mn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EC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a:solidFill>
                            <a:srgbClr val="000000"/>
                          </a:solidFill>
                          <a:effectLst/>
                          <a:latin typeface="Arial Rounded MT Bold" panose="020F0704030504030204" pitchFamily="34" charset="0"/>
                        </a:rPr>
                        <a:t>Cr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PO</a:t>
                      </a:r>
                      <a:r>
                        <a:rPr lang="en-US" sz="1200" b="0" i="0" u="none" strike="noStrike" baseline="-25000" dirty="0">
                          <a:solidFill>
                            <a:srgbClr val="000000"/>
                          </a:solidFill>
                          <a:effectLst/>
                          <a:latin typeface="Arial Rounded MT Bold" panose="020F0704030504030204" pitchFamily="34" charset="0"/>
                        </a:rPr>
                        <a:t>4</a:t>
                      </a:r>
                      <a:endParaRPr lang="en-US" sz="12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a:solidFill>
                            <a:srgbClr val="000000"/>
                          </a:solidFill>
                          <a:effectLst/>
                          <a:latin typeface="Arial Rounded MT Bold" panose="020F0704030504030204" pitchFamily="34" charset="0"/>
                        </a:rPr>
                        <a:t>Mn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115627574"/>
                  </a:ext>
                </a:extLst>
              </a:tr>
              <a:tr h="234382">
                <a:tc vMerge="1">
                  <a:txBody>
                    <a:bodyPr/>
                    <a:lstStyle/>
                    <a:p>
                      <a:endParaRPr lang="en-NG"/>
                    </a:p>
                  </a:txBody>
                  <a:tcPr/>
                </a:tc>
                <a:tc>
                  <a:txBody>
                    <a:bodyPr/>
                    <a:lstStyle/>
                    <a:p>
                      <a:pPr algn="l" rtl="0" fontAlgn="ctr"/>
                      <a:r>
                        <a:rPr lang="en-US" sz="1200" b="0" i="0" u="none" strike="noStrike">
                          <a:solidFill>
                            <a:srgbClr val="000000"/>
                          </a:solidFill>
                          <a:effectLst/>
                          <a:latin typeface="Arial Rounded MT Bold" panose="020F0704030504030204" pitchFamily="34" charset="0"/>
                        </a:rPr>
                        <a:t>TDS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Cu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Ca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Cd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Turb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TDS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a:solidFill>
                            <a:srgbClr val="000000"/>
                          </a:solidFill>
                          <a:effectLst/>
                          <a:latin typeface="Arial Rounded MT Bold" panose="020F0704030504030204" pitchFamily="34" charset="0"/>
                        </a:rPr>
                        <a:t>SO</a:t>
                      </a:r>
                      <a:r>
                        <a:rPr lang="en-US" sz="1200" b="0" i="0" u="none" strike="noStrike" baseline="-25000">
                          <a:solidFill>
                            <a:srgbClr val="000000"/>
                          </a:solidFill>
                          <a:effectLst/>
                          <a:latin typeface="Arial Rounded MT Bold" panose="020F0704030504030204" pitchFamily="34" charset="0"/>
                        </a:rPr>
                        <a:t>4</a:t>
                      </a:r>
                      <a:r>
                        <a:rPr lang="en-US" sz="1200" b="0" i="0" u="none" strike="noStrike" baseline="30000">
                          <a:solidFill>
                            <a:srgbClr val="000000"/>
                          </a:solidFill>
                          <a:effectLst/>
                          <a:latin typeface="Arial Rounded MT Bold" panose="020F0704030504030204" pitchFamily="34" charset="0"/>
                        </a:rPr>
                        <a:t>-</a:t>
                      </a:r>
                      <a:endParaRPr lang="en-US" sz="12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Pb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3952960466"/>
                  </a:ext>
                </a:extLst>
              </a:tr>
              <a:tr h="363855">
                <a:tc vMerge="1">
                  <a:txBody>
                    <a:bodyPr/>
                    <a:lstStyle/>
                    <a:p>
                      <a:endParaRPr lang="en-NG"/>
                    </a:p>
                  </a:txBody>
                  <a:tcPr/>
                </a:tc>
                <a:tc>
                  <a:txBody>
                    <a:bodyPr/>
                    <a:lstStyle/>
                    <a:p>
                      <a:pPr algn="l" rtl="0" fontAlgn="ctr"/>
                      <a:r>
                        <a:rPr lang="en-US" sz="1200" b="0" i="0" u="none" strike="noStrike">
                          <a:solidFill>
                            <a:srgbClr val="000000"/>
                          </a:solidFill>
                          <a:effectLst/>
                          <a:latin typeface="Arial Rounded MT Bold" panose="020F0704030504030204" pitchFamily="34" charset="0"/>
                        </a:rPr>
                        <a:t>HCO</a:t>
                      </a:r>
                      <a:r>
                        <a:rPr lang="en-US" sz="1200" b="0" i="0" u="none" strike="noStrike" baseline="-25000">
                          <a:solidFill>
                            <a:srgbClr val="000000"/>
                          </a:solidFill>
                          <a:effectLst/>
                          <a:latin typeface="Arial Rounded MT Bold" panose="020F0704030504030204" pitchFamily="34" charset="0"/>
                        </a:rPr>
                        <a:t>3</a:t>
                      </a:r>
                      <a:r>
                        <a:rPr lang="en-US" sz="1200" b="0" i="0" u="none" strike="noStrike" baseline="30000">
                          <a:solidFill>
                            <a:srgbClr val="000000"/>
                          </a:solidFill>
                          <a:effectLst/>
                          <a:latin typeface="Arial Rounded MT Bold" panose="020F0704030504030204" pitchFamily="34" charset="0"/>
                        </a:rPr>
                        <a:t>-</a:t>
                      </a:r>
                      <a:endParaRPr lang="en-US" sz="12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Cl</a:t>
                      </a:r>
                      <a:r>
                        <a:rPr lang="en-US" sz="1200" b="0" i="0" u="none" strike="noStrike" baseline="30000">
                          <a:solidFill>
                            <a:srgbClr val="000000"/>
                          </a:solidFill>
                          <a:effectLst/>
                          <a:latin typeface="Arial Rounded MT Bold" panose="020F0704030504030204" pitchFamily="34" charset="0"/>
                        </a:rPr>
                        <a:t>-</a:t>
                      </a:r>
                      <a:endParaRPr lang="en-US" sz="12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As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Zn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PO</a:t>
                      </a:r>
                      <a:r>
                        <a:rPr lang="en-US" sz="1200" b="0" i="0" u="none" strike="noStrike" baseline="-25000">
                          <a:solidFill>
                            <a:srgbClr val="000000"/>
                          </a:solidFill>
                          <a:effectLst/>
                          <a:latin typeface="Arial Rounded MT Bold" panose="020F0704030504030204" pitchFamily="34" charset="0"/>
                        </a:rPr>
                        <a:t>4</a:t>
                      </a:r>
                      <a:endParaRPr lang="en-US" sz="12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a:solidFill>
                            <a:srgbClr val="000000"/>
                          </a:solidFill>
                          <a:effectLst/>
                          <a:latin typeface="Arial Rounded MT Bold" panose="020F0704030504030204" pitchFamily="34" charset="0"/>
                        </a:rPr>
                        <a:t>Cd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Zn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332697365"/>
                  </a:ext>
                </a:extLst>
              </a:tr>
              <a:tr h="234382">
                <a:tc vMerge="1">
                  <a:txBody>
                    <a:bodyPr/>
                    <a:lstStyle/>
                    <a:p>
                      <a:endParaRPr lang="en-NG"/>
                    </a:p>
                  </a:txBody>
                  <a:tcPr/>
                </a:tc>
                <a:tc>
                  <a:txBody>
                    <a:bodyPr/>
                    <a:lstStyle/>
                    <a:p>
                      <a:pPr algn="l" rtl="0" fontAlgn="ctr"/>
                      <a:r>
                        <a:rPr lang="en-US" sz="1200" b="0" i="0" u="none" strike="noStrike">
                          <a:solidFill>
                            <a:srgbClr val="000000"/>
                          </a:solidFill>
                          <a:effectLst/>
                          <a:latin typeface="Arial Rounded MT Bold" panose="020F0704030504030204" pitchFamily="34" charset="0"/>
                        </a:rPr>
                        <a:t>NO</a:t>
                      </a:r>
                      <a:r>
                        <a:rPr lang="en-US" sz="1200" b="0" i="0" u="none" strike="noStrike" baseline="-25000">
                          <a:solidFill>
                            <a:srgbClr val="000000"/>
                          </a:solidFill>
                          <a:effectLst/>
                          <a:latin typeface="Arial Rounded MT Bold" panose="020F0704030504030204" pitchFamily="34" charset="0"/>
                        </a:rPr>
                        <a:t>3</a:t>
                      </a:r>
                      <a:r>
                        <a:rPr lang="en-US" sz="1200" b="0" i="0" u="none" strike="noStrike" baseline="30000">
                          <a:solidFill>
                            <a:srgbClr val="000000"/>
                          </a:solidFill>
                          <a:effectLst/>
                          <a:latin typeface="Arial Rounded MT Bold" panose="020F0704030504030204" pitchFamily="34" charset="0"/>
                        </a:rPr>
                        <a:t>-</a:t>
                      </a:r>
                      <a:endParaRPr lang="en-US" sz="12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Co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Ca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2341848595"/>
                  </a:ext>
                </a:extLst>
              </a:tr>
              <a:tr h="234382">
                <a:tc vMerge="1">
                  <a:txBody>
                    <a:bodyPr/>
                    <a:lstStyle/>
                    <a:p>
                      <a:endParaRPr lang="en-NG"/>
                    </a:p>
                  </a:txBody>
                  <a:tcPr/>
                </a:tc>
                <a:tc>
                  <a:txBody>
                    <a:bodyPr/>
                    <a:lstStyle/>
                    <a:p>
                      <a:pPr algn="l" rtl="0"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a:solidFill>
                            <a:srgbClr val="000000"/>
                          </a:solidFill>
                          <a:effectLst/>
                          <a:latin typeface="Arial Rounded MT Bold" panose="020F0704030504030204" pitchFamily="34" charset="0"/>
                        </a:rPr>
                        <a:t>Mg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dirty="0">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1699867061"/>
                  </a:ext>
                </a:extLst>
              </a:tr>
              <a:tr h="375012">
                <a:tc>
                  <a:txBody>
                    <a:bodyPr/>
                    <a:lstStyle/>
                    <a:p>
                      <a:pPr algn="l" rtl="0" fontAlgn="ctr"/>
                      <a:r>
                        <a:rPr lang="en-US" sz="1200" b="1" i="0" u="none" strike="noStrike">
                          <a:solidFill>
                            <a:srgbClr val="000000"/>
                          </a:solidFill>
                          <a:effectLst/>
                          <a:latin typeface="Arial Rounded MT Bold" panose="020F0704030504030204" pitchFamily="34" charset="0"/>
                        </a:rPr>
                        <a:t>EigenVal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NG" sz="1200" b="0" i="0" u="none" strike="noStrike">
                          <a:solidFill>
                            <a:srgbClr val="000000"/>
                          </a:solidFill>
                          <a:effectLst/>
                          <a:latin typeface="Arial Rounded MT Bold" panose="020F0704030504030204" pitchFamily="34" charset="0"/>
                        </a:rPr>
                        <a:t>5.45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rtl="0" fontAlgn="ctr"/>
                      <a:r>
                        <a:rPr lang="en-NG" sz="1200" b="0" i="0" u="none" strike="noStrike">
                          <a:solidFill>
                            <a:srgbClr val="000000"/>
                          </a:solidFill>
                          <a:effectLst/>
                          <a:latin typeface="Arial Rounded MT Bold" panose="020F0704030504030204" pitchFamily="34" charset="0"/>
                        </a:rPr>
                        <a:t>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rtl="0" fontAlgn="ctr"/>
                      <a:r>
                        <a:rPr lang="en-NG" sz="1200" b="0" i="0" u="none" strike="noStrike">
                          <a:solidFill>
                            <a:srgbClr val="000000"/>
                          </a:solidFill>
                          <a:effectLst/>
                          <a:latin typeface="Arial Rounded MT Bold" panose="020F0704030504030204" pitchFamily="34" charset="0"/>
                        </a:rPr>
                        <a:t>3.48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rtl="0" fontAlgn="ctr"/>
                      <a:r>
                        <a:rPr lang="en-NG" sz="1200" b="0" i="0" u="none" strike="noStrike" dirty="0">
                          <a:solidFill>
                            <a:srgbClr val="000000"/>
                          </a:solidFill>
                          <a:effectLst/>
                          <a:latin typeface="Arial Rounded MT Bold" panose="020F0704030504030204" pitchFamily="34"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rtl="0" fontAlgn="ctr"/>
                      <a:r>
                        <a:rPr lang="en-NG" sz="1200" b="0" i="0" u="none" strike="noStrike" dirty="0">
                          <a:solidFill>
                            <a:srgbClr val="000000"/>
                          </a:solidFill>
                          <a:effectLst/>
                          <a:latin typeface="Arial Rounded MT Bold" panose="020F0704030504030204" pitchFamily="34" charset="0"/>
                        </a:rPr>
                        <a:t>2.65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rtl="0" fontAlgn="ctr"/>
                      <a:r>
                        <a:rPr lang="en-NG" sz="1200" b="0" i="0" u="none" strike="noStrike">
                          <a:solidFill>
                            <a:srgbClr val="000000"/>
                          </a:solidFill>
                          <a:effectLst/>
                          <a:latin typeface="Arial Rounded MT Bold" panose="020F0704030504030204" pitchFamily="34" charset="0"/>
                        </a:rPr>
                        <a:t>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r" rtl="0" fontAlgn="ctr"/>
                      <a:r>
                        <a:rPr lang="en-NG" sz="1200" b="0" i="0" u="none" strike="noStrike">
                          <a:solidFill>
                            <a:srgbClr val="000000"/>
                          </a:solidFill>
                          <a:effectLst/>
                          <a:latin typeface="Arial Rounded MT Bold" panose="020F0704030504030204" pitchFamily="34" charset="0"/>
                        </a:rPr>
                        <a:t>4.98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r" rtl="0" fontAlgn="ctr"/>
                      <a:r>
                        <a:rPr lang="en-NG" sz="1200" b="0" i="0" u="none" strike="noStrike" dirty="0">
                          <a:solidFill>
                            <a:srgbClr val="000000"/>
                          </a:solidFill>
                          <a:effectLst/>
                          <a:latin typeface="Arial Rounded MT Bold" panose="020F0704030504030204" pitchFamily="34" charset="0"/>
                        </a:rPr>
                        <a:t>4.33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r" rtl="0" fontAlgn="ctr"/>
                      <a:r>
                        <a:rPr lang="en-NG" sz="1200" b="0" i="0" u="none" strike="noStrike" dirty="0">
                          <a:solidFill>
                            <a:srgbClr val="000000"/>
                          </a:solidFill>
                          <a:effectLst/>
                          <a:latin typeface="Arial Rounded MT Bold" panose="020F0704030504030204" pitchFamily="34" charset="0"/>
                        </a:rPr>
                        <a:t>3.09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2715456554"/>
                  </a:ext>
                </a:extLst>
              </a:tr>
              <a:tr h="375012">
                <a:tc>
                  <a:txBody>
                    <a:bodyPr/>
                    <a:lstStyle/>
                    <a:p>
                      <a:pPr algn="l" rtl="0" fontAlgn="ctr"/>
                      <a:r>
                        <a:rPr lang="en-US" sz="1200" b="1" i="0" u="none" strike="noStrike">
                          <a:solidFill>
                            <a:srgbClr val="000000"/>
                          </a:solidFill>
                          <a:effectLst/>
                          <a:latin typeface="Arial Rounded MT Bold" panose="020F0704030504030204" pitchFamily="34" charset="0"/>
                        </a:rPr>
                        <a:t>%Vari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NG" sz="1200" b="0" i="0" u="none" strike="noStrike">
                          <a:solidFill>
                            <a:srgbClr val="000000"/>
                          </a:solidFill>
                          <a:effectLst/>
                          <a:latin typeface="Arial Rounded MT Bold" panose="020F0704030504030204" pitchFamily="34" charset="0"/>
                        </a:rPr>
                        <a:t>21.78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rtl="0" fontAlgn="ctr"/>
                      <a:r>
                        <a:rPr lang="en-NG" sz="1200" b="0" i="0" u="none" strike="noStrike">
                          <a:solidFill>
                            <a:srgbClr val="000000"/>
                          </a:solidFill>
                          <a:effectLst/>
                          <a:latin typeface="Arial Rounded MT Bold" panose="020F0704030504030204" pitchFamily="34" charset="0"/>
                        </a:rPr>
                        <a:t>20.78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rtl="0" fontAlgn="ctr"/>
                      <a:r>
                        <a:rPr lang="en-NG" sz="1200" b="0" i="0" u="none" strike="noStrike">
                          <a:solidFill>
                            <a:srgbClr val="000000"/>
                          </a:solidFill>
                          <a:effectLst/>
                          <a:latin typeface="Arial Rounded MT Bold" panose="020F0704030504030204" pitchFamily="34" charset="0"/>
                        </a:rPr>
                        <a:t>13.92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rtl="0" fontAlgn="ctr"/>
                      <a:r>
                        <a:rPr lang="en-NG" sz="1200" b="0" i="0" u="none" strike="noStrike">
                          <a:solidFill>
                            <a:srgbClr val="000000"/>
                          </a:solidFill>
                          <a:effectLst/>
                          <a:latin typeface="Arial Rounded MT Bold" panose="020F0704030504030204" pitchFamily="34" charset="0"/>
                        </a:rPr>
                        <a:t>11.78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rtl="0" fontAlgn="ctr"/>
                      <a:r>
                        <a:rPr lang="en-NG" sz="1200" b="0" i="0" u="none" strike="noStrike" dirty="0">
                          <a:solidFill>
                            <a:srgbClr val="000000"/>
                          </a:solidFill>
                          <a:effectLst/>
                          <a:latin typeface="Arial Rounded MT Bold" panose="020F0704030504030204" pitchFamily="34" charset="0"/>
                        </a:rPr>
                        <a:t>10.6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rtl="0" fontAlgn="ctr"/>
                      <a:r>
                        <a:rPr lang="en-NG" sz="1200" b="0" i="0" u="none" strike="noStrike" dirty="0">
                          <a:solidFill>
                            <a:srgbClr val="000000"/>
                          </a:solidFill>
                          <a:effectLst/>
                          <a:latin typeface="Arial Rounded MT Bold" panose="020F0704030504030204" pitchFamily="34" charset="0"/>
                        </a:rPr>
                        <a:t>23.25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r" rtl="0" fontAlgn="ctr"/>
                      <a:r>
                        <a:rPr lang="en-NG" sz="1200" b="0" i="0" u="none" strike="noStrike">
                          <a:solidFill>
                            <a:srgbClr val="000000"/>
                          </a:solidFill>
                          <a:effectLst/>
                          <a:latin typeface="Arial Rounded MT Bold" panose="020F0704030504030204" pitchFamily="34" charset="0"/>
                        </a:rPr>
                        <a:t>19.16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r" rtl="0" fontAlgn="ctr"/>
                      <a:r>
                        <a:rPr lang="en-NG" sz="1200" b="0" i="0" u="none" strike="noStrike" dirty="0">
                          <a:solidFill>
                            <a:srgbClr val="000000"/>
                          </a:solidFill>
                          <a:effectLst/>
                          <a:latin typeface="Arial Rounded MT Bold" panose="020F0704030504030204" pitchFamily="34" charset="0"/>
                        </a:rPr>
                        <a:t>16.67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r" rtl="0" fontAlgn="ctr"/>
                      <a:r>
                        <a:rPr lang="en-NG" sz="1200" b="0" i="0" u="none" strike="noStrike">
                          <a:solidFill>
                            <a:srgbClr val="000000"/>
                          </a:solidFill>
                          <a:effectLst/>
                          <a:latin typeface="Arial Rounded MT Bold" panose="020F0704030504030204" pitchFamily="34" charset="0"/>
                        </a:rPr>
                        <a:t>11.88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2614306097"/>
                  </a:ext>
                </a:extLst>
              </a:tr>
              <a:tr h="375012">
                <a:tc>
                  <a:txBody>
                    <a:bodyPr/>
                    <a:lstStyle/>
                    <a:p>
                      <a:pPr algn="l" rtl="0" fontAlgn="ctr"/>
                      <a:r>
                        <a:rPr lang="en-US" sz="1200" b="1" i="0" u="none" strike="noStrike">
                          <a:solidFill>
                            <a:srgbClr val="000000"/>
                          </a:solidFill>
                          <a:effectLst/>
                          <a:latin typeface="Arial Rounded MT Bold" panose="020F0704030504030204" pitchFamily="34" charset="0"/>
                        </a:rPr>
                        <a:t>Cum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NG" sz="1200" b="0" i="0" u="none" strike="noStrike">
                          <a:solidFill>
                            <a:srgbClr val="000000"/>
                          </a:solidFill>
                          <a:effectLst/>
                          <a:latin typeface="Arial Rounded MT Bold" panose="020F0704030504030204" pitchFamily="34" charset="0"/>
                        </a:rPr>
                        <a:t>21.78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rtl="0" fontAlgn="ctr"/>
                      <a:r>
                        <a:rPr lang="en-NG" sz="1200" b="0" i="0" u="none" strike="noStrike">
                          <a:solidFill>
                            <a:srgbClr val="000000"/>
                          </a:solidFill>
                          <a:effectLst/>
                          <a:latin typeface="Arial Rounded MT Bold" panose="020F0704030504030204" pitchFamily="34" charset="0"/>
                        </a:rPr>
                        <a:t>42.56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rtl="0" fontAlgn="ctr"/>
                      <a:r>
                        <a:rPr lang="en-NG" sz="1200" b="0" i="0" u="none" strike="noStrike">
                          <a:solidFill>
                            <a:srgbClr val="000000"/>
                          </a:solidFill>
                          <a:effectLst/>
                          <a:latin typeface="Arial Rounded MT Bold" panose="020F0704030504030204" pitchFamily="34" charset="0"/>
                        </a:rPr>
                        <a:t>56.49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rtl="0" fontAlgn="ctr"/>
                      <a:r>
                        <a:rPr lang="en-NG" sz="1200" b="0" i="0" u="none" strike="noStrike">
                          <a:solidFill>
                            <a:srgbClr val="000000"/>
                          </a:solidFill>
                          <a:effectLst/>
                          <a:latin typeface="Arial Rounded MT Bold" panose="020F0704030504030204" pitchFamily="34" charset="0"/>
                        </a:rPr>
                        <a:t>68.26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rtl="0" fontAlgn="ctr"/>
                      <a:r>
                        <a:rPr lang="en-NG" sz="1200" b="0" i="0" u="none" strike="noStrike" dirty="0">
                          <a:solidFill>
                            <a:srgbClr val="000000"/>
                          </a:solidFill>
                          <a:effectLst/>
                          <a:latin typeface="Arial Rounded MT Bold" panose="020F0704030504030204" pitchFamily="34" charset="0"/>
                        </a:rPr>
                        <a:t>78.86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rtl="0" fontAlgn="ctr"/>
                      <a:r>
                        <a:rPr lang="en-NG" sz="1200" b="0" i="0" u="none" strike="noStrike">
                          <a:solidFill>
                            <a:srgbClr val="000000"/>
                          </a:solidFill>
                          <a:effectLst/>
                          <a:latin typeface="Arial Rounded MT Bold" panose="020F0704030504030204" pitchFamily="34" charset="0"/>
                        </a:rPr>
                        <a:t>23.25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r" rtl="0" fontAlgn="ctr"/>
                      <a:r>
                        <a:rPr lang="en-NG" sz="1200" b="0" i="0" u="none" strike="noStrike">
                          <a:solidFill>
                            <a:srgbClr val="000000"/>
                          </a:solidFill>
                          <a:effectLst/>
                          <a:latin typeface="Arial Rounded MT Bold" panose="020F0704030504030204" pitchFamily="34" charset="0"/>
                        </a:rPr>
                        <a:t>42.41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r" rtl="0" fontAlgn="ctr"/>
                      <a:r>
                        <a:rPr lang="en-NG" sz="1200" b="0" i="0" u="none" strike="noStrike" dirty="0">
                          <a:solidFill>
                            <a:srgbClr val="000000"/>
                          </a:solidFill>
                          <a:effectLst/>
                          <a:latin typeface="Arial Rounded MT Bold" panose="020F0704030504030204" pitchFamily="34" charset="0"/>
                        </a:rPr>
                        <a:t>59.08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r" rtl="0" fontAlgn="ctr"/>
                      <a:r>
                        <a:rPr lang="en-NG" sz="1200" b="0" i="0" u="none" strike="noStrike" dirty="0">
                          <a:solidFill>
                            <a:srgbClr val="000000"/>
                          </a:solidFill>
                          <a:effectLst/>
                          <a:latin typeface="Arial Rounded MT Bold" panose="020F0704030504030204" pitchFamily="34" charset="0"/>
                        </a:rPr>
                        <a:t>70.96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797213422"/>
                  </a:ext>
                </a:extLst>
              </a:tr>
              <a:tr h="116174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Arial Rounded MT Bold" panose="020F0704030504030204" pitchFamily="34" charset="0"/>
                        </a:rPr>
                        <a:t>Source</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Rounded MT Bold" panose="020F0704030504030204" pitchFamily="34" charset="0"/>
                        </a:rPr>
                        <a:t>(</a:t>
                      </a:r>
                      <a:r>
                        <a:rPr lang="en-GB" sz="900" b="0" kern="1200" dirty="0" err="1">
                          <a:solidFill>
                            <a:schemeClr val="tx1"/>
                          </a:solidFill>
                          <a:effectLst/>
                          <a:latin typeface="Arial Rounded MT Bold" panose="020F0704030504030204" pitchFamily="34" charset="0"/>
                          <a:ea typeface="+mn-ea"/>
                          <a:cs typeface="+mn-cs"/>
                        </a:rPr>
                        <a:t>Ariyibi</a:t>
                      </a:r>
                      <a:r>
                        <a:rPr lang="en-GB" sz="900" b="0" kern="1200" dirty="0">
                          <a:solidFill>
                            <a:schemeClr val="tx1"/>
                          </a:solidFill>
                          <a:effectLst/>
                          <a:latin typeface="Arial Rounded MT Bold" panose="020F0704030504030204" pitchFamily="34" charset="0"/>
                          <a:ea typeface="+mn-ea"/>
                          <a:cs typeface="+mn-cs"/>
                        </a:rPr>
                        <a:t> </a:t>
                      </a:r>
                      <a:r>
                        <a:rPr lang="en-GB" sz="900" b="0" i="1" kern="1200" dirty="0">
                          <a:solidFill>
                            <a:schemeClr val="tx1"/>
                          </a:solidFill>
                          <a:effectLst/>
                          <a:latin typeface="Arial Rounded MT Bold" panose="020F0704030504030204" pitchFamily="34" charset="0"/>
                          <a:ea typeface="+mn-ea"/>
                          <a:cs typeface="+mn-cs"/>
                        </a:rPr>
                        <a:t>et al.,</a:t>
                      </a:r>
                      <a:r>
                        <a:rPr lang="en-GB" sz="900" b="0" kern="1200" dirty="0">
                          <a:solidFill>
                            <a:schemeClr val="tx1"/>
                          </a:solidFill>
                          <a:effectLst/>
                          <a:latin typeface="Arial Rounded MT Bold" panose="020F0704030504030204" pitchFamily="34" charset="0"/>
                          <a:ea typeface="+mn-ea"/>
                          <a:cs typeface="+mn-cs"/>
                        </a:rPr>
                        <a:t> 2011</a:t>
                      </a:r>
                      <a:r>
                        <a:rPr lang="en-US" sz="900" b="0" i="0" u="none" strike="noStrike" dirty="0">
                          <a:solidFill>
                            <a:srgbClr val="000000"/>
                          </a:solidFill>
                          <a:effectLst/>
                          <a:latin typeface="Arial Rounded MT Bold" panose="020F0704030504030204" pitchFamily="34" charset="0"/>
                        </a:rPr>
                        <a:t>, </a:t>
                      </a:r>
                      <a:r>
                        <a:rPr lang="en-GB" sz="900" kern="1200" dirty="0">
                          <a:solidFill>
                            <a:schemeClr val="tx1"/>
                          </a:solidFill>
                          <a:effectLst/>
                          <a:latin typeface="Arial Rounded MT Bold" panose="020F0704030504030204" pitchFamily="34" charset="0"/>
                          <a:ea typeface="+mn-ea"/>
                          <a:cs typeface="+mn-cs"/>
                        </a:rPr>
                        <a:t>Okoye </a:t>
                      </a:r>
                      <a:r>
                        <a:rPr lang="en-GB" sz="900" i="1" kern="1200" dirty="0">
                          <a:solidFill>
                            <a:schemeClr val="tx1"/>
                          </a:solidFill>
                          <a:effectLst/>
                          <a:latin typeface="Arial Rounded MT Bold" panose="020F0704030504030204" pitchFamily="34" charset="0"/>
                          <a:ea typeface="+mn-ea"/>
                          <a:cs typeface="+mn-cs"/>
                        </a:rPr>
                        <a:t>et al.,</a:t>
                      </a:r>
                      <a:r>
                        <a:rPr lang="en-GB" sz="900" kern="1200" dirty="0">
                          <a:solidFill>
                            <a:schemeClr val="tx1"/>
                          </a:solidFill>
                          <a:effectLst/>
                          <a:latin typeface="Arial Rounded MT Bold" panose="020F0704030504030204" pitchFamily="34" charset="0"/>
                          <a:ea typeface="+mn-ea"/>
                          <a:cs typeface="+mn-cs"/>
                        </a:rPr>
                        <a:t> 2011</a:t>
                      </a:r>
                      <a:r>
                        <a:rPr lang="en-GB" sz="900" b="0" kern="1200" dirty="0">
                          <a:solidFill>
                            <a:schemeClr val="tx1"/>
                          </a:solidFill>
                          <a:effectLst/>
                          <a:latin typeface="Arial Rounded MT Bold" panose="020F0704030504030204" pitchFamily="34" charset="0"/>
                          <a:ea typeface="+mn-ea"/>
                          <a:cs typeface="+mn-cs"/>
                        </a:rPr>
                        <a:t>, </a:t>
                      </a:r>
                      <a:r>
                        <a:rPr lang="en-GB" sz="900" b="0" kern="1200" dirty="0" err="1">
                          <a:solidFill>
                            <a:schemeClr val="tx1"/>
                          </a:solidFill>
                          <a:effectLst/>
                          <a:latin typeface="Arial Rounded MT Bold" panose="020F0704030504030204" pitchFamily="34" charset="0"/>
                          <a:ea typeface="+mn-ea"/>
                          <a:cs typeface="+mn-cs"/>
                        </a:rPr>
                        <a:t>Konwea</a:t>
                      </a:r>
                      <a:r>
                        <a:rPr lang="en-GB" sz="900" b="0" kern="1200" dirty="0">
                          <a:solidFill>
                            <a:schemeClr val="tx1"/>
                          </a:solidFill>
                          <a:effectLst/>
                          <a:latin typeface="Arial Rounded MT Bold" panose="020F0704030504030204" pitchFamily="34" charset="0"/>
                          <a:ea typeface="+mn-ea"/>
                          <a:cs typeface="+mn-cs"/>
                        </a:rPr>
                        <a:t> </a:t>
                      </a:r>
                      <a:r>
                        <a:rPr lang="en-GB" sz="900" b="0" i="1" kern="1200" dirty="0">
                          <a:solidFill>
                            <a:schemeClr val="tx1"/>
                          </a:solidFill>
                          <a:effectLst/>
                          <a:latin typeface="Arial Rounded MT Bold" panose="020F0704030504030204" pitchFamily="34" charset="0"/>
                          <a:ea typeface="+mn-ea"/>
                          <a:cs typeface="+mn-cs"/>
                        </a:rPr>
                        <a:t>et al.,</a:t>
                      </a:r>
                      <a:r>
                        <a:rPr lang="en-GB" sz="900" b="0" kern="1200" dirty="0">
                          <a:solidFill>
                            <a:schemeClr val="tx1"/>
                          </a:solidFill>
                          <a:effectLst/>
                          <a:latin typeface="Arial Rounded MT Bold" panose="020F0704030504030204" pitchFamily="34" charset="0"/>
                          <a:ea typeface="+mn-ea"/>
                          <a:cs typeface="+mn-cs"/>
                        </a:rPr>
                        <a:t> 2023</a:t>
                      </a:r>
                      <a:r>
                        <a:rPr lang="en-US" sz="900" b="0" i="0" u="none" strike="noStrike" dirty="0">
                          <a:solidFill>
                            <a:srgbClr val="000000"/>
                          </a:solidFill>
                          <a:effectLst/>
                          <a:latin typeface="Arial Rounded MT Bold" panose="020F0704030504030204" pitchFamily="34" charset="0"/>
                        </a:rPr>
                        <a:t>)</a:t>
                      </a:r>
                    </a:p>
                    <a:p>
                      <a:pPr algn="l" fontAlgn="ctr"/>
                      <a:endParaRPr lang="en-US" sz="12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1" i="0" u="none" strike="noStrike" dirty="0">
                          <a:solidFill>
                            <a:srgbClr val="000000"/>
                          </a:solidFill>
                          <a:effectLst/>
                          <a:latin typeface="Calibri" panose="020F0502020204030204" pitchFamily="34" charset="0"/>
                        </a:rPr>
                        <a:t>A/A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100" b="1" i="0" u="none" strike="noStrike" dirty="0">
                          <a:solidFill>
                            <a:srgbClr val="000000"/>
                          </a:solidFill>
                          <a:effectLst/>
                          <a:latin typeface="Calibri" panose="020F0502020204030204" pitchFamily="34" charset="0"/>
                        </a:rPr>
                        <a:t>A/A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100" b="1" i="0" u="none" strike="noStrike" dirty="0">
                          <a:solidFill>
                            <a:srgbClr val="000000"/>
                          </a:solidFill>
                          <a:effectLst/>
                          <a:latin typeface="Calibri" panose="020F0502020204030204" pitchFamily="34" charset="0"/>
                        </a:rPr>
                        <a:t>A/M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100" b="1" i="0" u="none" strike="noStrike" dirty="0">
                          <a:solidFill>
                            <a:srgbClr val="000000"/>
                          </a:solidFill>
                          <a:effectLst/>
                          <a:latin typeface="Calibri" panose="020F0502020204030204" pitchFamily="34" charset="0"/>
                        </a:rPr>
                        <a:t>A/M&amp;H&amp;A waste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100" b="1" i="0" u="none" strike="noStrike" dirty="0">
                          <a:solidFill>
                            <a:srgbClr val="000000"/>
                          </a:solidFill>
                          <a:effectLst/>
                          <a:latin typeface="Calibri" panose="020F0502020204030204" pitchFamily="34" charset="0"/>
                        </a:rPr>
                        <a:t>A/A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100" b="1" i="0" u="none" strike="noStrike" dirty="0">
                          <a:solidFill>
                            <a:srgbClr val="000000"/>
                          </a:solidFill>
                          <a:effectLst/>
                          <a:latin typeface="Calibri" panose="020F0502020204030204" pitchFamily="34" charset="0"/>
                        </a:rPr>
                        <a:t>N&amp;A(W&amp;M)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fontAlgn="ctr"/>
                      <a:r>
                        <a:rPr lang="en-US" sz="1100" b="1" i="0" u="none" strike="noStrike" dirty="0">
                          <a:solidFill>
                            <a:srgbClr val="000000"/>
                          </a:solidFill>
                          <a:effectLst/>
                          <a:latin typeface="Calibri" panose="020F0502020204030204" pitchFamily="34" charset="0"/>
                        </a:rPr>
                        <a:t>N&amp;A (M&amp;DRM)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fontAlgn="ctr"/>
                      <a:r>
                        <a:rPr lang="en-US" sz="1100" b="1" i="0" u="none" strike="noStrike" dirty="0">
                          <a:solidFill>
                            <a:srgbClr val="000000"/>
                          </a:solidFill>
                          <a:effectLst/>
                          <a:latin typeface="Calibri" panose="020F0502020204030204" pitchFamily="34" charset="0"/>
                        </a:rPr>
                        <a:t>A/M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fontAlgn="ctr"/>
                      <a:r>
                        <a:rPr lang="en-US" sz="1100" b="1" i="0" u="none" strike="noStrike" dirty="0">
                          <a:solidFill>
                            <a:srgbClr val="000000"/>
                          </a:solidFill>
                          <a:effectLst/>
                          <a:latin typeface="Calibri" panose="020F0502020204030204" pitchFamily="34" charset="0"/>
                        </a:rPr>
                        <a:t>A/M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581912330"/>
                  </a:ext>
                </a:extLst>
              </a:tr>
            </a:tbl>
          </a:graphicData>
        </a:graphic>
      </p:graphicFrame>
    </p:spTree>
    <p:extLst>
      <p:ext uri="{BB962C8B-B14F-4D97-AF65-F5344CB8AC3E}">
        <p14:creationId xmlns:p14="http://schemas.microsoft.com/office/powerpoint/2010/main" val="4018788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6BB3F-0AF2-74C7-136A-A3DB71193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9CE80-7C75-8389-1D17-58FD0FE94E20}"/>
              </a:ext>
            </a:extLst>
          </p:cNvPr>
          <p:cNvSpPr>
            <a:spLocks noGrp="1"/>
          </p:cNvSpPr>
          <p:nvPr>
            <p:ph type="ctrTitle"/>
          </p:nvPr>
        </p:nvSpPr>
        <p:spPr>
          <a:xfrm>
            <a:off x="1792475" y="495713"/>
            <a:ext cx="9144000" cy="1255813"/>
          </a:xfrm>
        </p:spPr>
        <p:txBody>
          <a:bodyPr>
            <a:noAutofit/>
          </a:bodyPr>
          <a:lstStyle/>
          <a:p>
            <a:br>
              <a:rPr lang="en-US" sz="3200" b="1" dirty="0">
                <a:latin typeface="Arial Rounded MT Bold" panose="020F0704030504030204" pitchFamily="34" charset="0"/>
                <a:cs typeface="Times New Roman" panose="02020603050405020304" pitchFamily="18" charset="0"/>
              </a:rPr>
            </a:br>
            <a:br>
              <a:rPr lang="en-US" sz="3200" b="1" dirty="0">
                <a:latin typeface="Arial Rounded MT Bold" panose="020F0704030504030204" pitchFamily="34" charset="0"/>
                <a:cs typeface="Times New Roman" panose="02020603050405020304" pitchFamily="18" charset="0"/>
              </a:rPr>
            </a:br>
            <a:br>
              <a:rPr lang="en-US" sz="3200" b="1" dirty="0">
                <a:latin typeface="Arial Rounded MT Bold" panose="020F0704030504030204" pitchFamily="34" charset="0"/>
                <a:cs typeface="Times New Roman" panose="02020603050405020304" pitchFamily="18" charset="0"/>
              </a:rPr>
            </a:br>
            <a:br>
              <a:rPr lang="en-US" sz="3200" b="1" dirty="0">
                <a:latin typeface="Arial Rounded MT Bold" panose="020F0704030504030204" pitchFamily="34" charset="0"/>
                <a:cs typeface="Times New Roman" panose="02020603050405020304" pitchFamily="18" charset="0"/>
              </a:rPr>
            </a:br>
            <a:r>
              <a:rPr lang="en-US" sz="3200" b="1" dirty="0">
                <a:latin typeface="Arial Rounded MT Bold" panose="020F0704030504030204" pitchFamily="34" charset="0"/>
                <a:cs typeface="Times New Roman" panose="02020603050405020304" pitchFamily="18" charset="0"/>
              </a:rPr>
              <a:t>Results and Discussions</a:t>
            </a:r>
            <a:br>
              <a:rPr lang="en-NG" sz="3200" dirty="0">
                <a:effectLst/>
                <a:latin typeface="Arial Rounded MT Bold" panose="020F0704030504030204" pitchFamily="34" charset="0"/>
                <a:ea typeface="Times New Roman" panose="02020603050405020304" pitchFamily="18" charset="0"/>
              </a:rPr>
            </a:br>
            <a:br>
              <a:rPr lang="en-US"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F38E1396-6511-44B9-B7D1-775BD06B394B}"/>
              </a:ext>
            </a:extLst>
          </p:cNvPr>
          <p:cNvSpPr>
            <a:spLocks noGrp="1"/>
          </p:cNvSpPr>
          <p:nvPr>
            <p:ph type="subTitle" idx="1"/>
          </p:nvPr>
        </p:nvSpPr>
        <p:spPr>
          <a:xfrm>
            <a:off x="1012875" y="1094324"/>
            <a:ext cx="10363198" cy="5444588"/>
          </a:xfrm>
        </p:spPr>
        <p:txBody>
          <a:bodyPr>
            <a:normAutofit/>
          </a:bodyPr>
          <a:lstStyle/>
          <a:p>
            <a:pPr>
              <a:lnSpc>
                <a:spcPct val="100000"/>
              </a:lnSpc>
              <a:spcBef>
                <a:spcPts val="0"/>
              </a:spcBef>
            </a:pPr>
            <a:r>
              <a:rPr lang="en-GB" sz="1800" b="1" dirty="0">
                <a:effectLst/>
                <a:latin typeface="Arial Rounded MT Bold" panose="020F0704030504030204" pitchFamily="34" charset="0"/>
                <a:ea typeface="Calibri" panose="020F0502020204030204" pitchFamily="34" charset="0"/>
                <a:cs typeface="Times New Roman" panose="02020603050405020304" pitchFamily="18" charset="0"/>
              </a:rPr>
              <a:t>Contamination Level</a:t>
            </a:r>
            <a:r>
              <a:rPr lang="en-US" sz="1800" b="1" dirty="0">
                <a:latin typeface="Arial Rounded MT Bold" panose="020F0704030504030204" pitchFamily="34" charset="0"/>
              </a:rPr>
              <a:t> </a:t>
            </a:r>
          </a:p>
          <a:p>
            <a:pPr>
              <a:lnSpc>
                <a:spcPct val="100000"/>
              </a:lnSpc>
              <a:spcBef>
                <a:spcPts val="0"/>
              </a:spcBef>
            </a:pPr>
            <a:endParaRPr lang="en-US" sz="1800" dirty="0">
              <a:latin typeface="Arial Rounded MT Bold" panose="020F0704030504030204" pitchFamily="34" charset="0"/>
            </a:endParaRPr>
          </a:p>
          <a:p>
            <a:pPr>
              <a:lnSpc>
                <a:spcPct val="100000"/>
              </a:lnSpc>
              <a:spcBef>
                <a:spcPts val="0"/>
              </a:spcBef>
            </a:pPr>
            <a:r>
              <a:rPr lang="en-US" sz="1600" dirty="0">
                <a:effectLst/>
                <a:latin typeface="Arial Rounded MT Bold" panose="020F0704030504030204" pitchFamily="34" charset="0"/>
                <a:ea typeface="Calibri" panose="020F0502020204030204" pitchFamily="34" charset="0"/>
                <a:cs typeface="Times New Roman" panose="02020603050405020304" pitchFamily="18" charset="0"/>
              </a:rPr>
              <a:t>Table </a:t>
            </a:r>
            <a:r>
              <a:rPr lang="en-US" sz="1600" dirty="0">
                <a:latin typeface="Arial Rounded MT Bold" panose="020F0704030504030204" pitchFamily="34" charset="0"/>
                <a:ea typeface="Calibri" panose="020F0502020204030204" pitchFamily="34" charset="0"/>
                <a:cs typeface="Times New Roman" panose="02020603050405020304" pitchFamily="18" charset="0"/>
              </a:rPr>
              <a:t>6</a:t>
            </a:r>
            <a:r>
              <a:rPr lang="en-US" sz="1600" dirty="0">
                <a:effectLst/>
                <a:latin typeface="Arial Rounded MT Bold" panose="020F0704030504030204" pitchFamily="34" charset="0"/>
                <a:ea typeface="Calibri" panose="020F0502020204030204" pitchFamily="34" charset="0"/>
                <a:cs typeface="Times New Roman" panose="02020603050405020304" pitchFamily="18" charset="0"/>
              </a:rPr>
              <a:t>: Water Contamination Level (A) Classification Chart (Muller, 1969), (B) Classification for this Study</a:t>
            </a:r>
          </a:p>
          <a:p>
            <a:pPr algn="l">
              <a:lnSpc>
                <a:spcPct val="100000"/>
              </a:lnSpc>
              <a:spcBef>
                <a:spcPts val="0"/>
              </a:spcBef>
            </a:pPr>
            <a:endParaRPr lang="en-US" sz="1600" dirty="0">
              <a:latin typeface="Arial Rounded MT Bold" panose="020F0704030504030204" pitchFamily="34" charset="0"/>
              <a:ea typeface="Calibri" panose="020F0502020204030204" pitchFamily="34" charset="0"/>
              <a:cs typeface="Times New Roman" panose="02020603050405020304" pitchFamily="18" charset="0"/>
            </a:endParaRPr>
          </a:p>
          <a:p>
            <a:pPr algn="l">
              <a:lnSpc>
                <a:spcPct val="100000"/>
              </a:lnSpc>
              <a:spcBef>
                <a:spcPts val="0"/>
              </a:spcBef>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                                                                                            B</a:t>
            </a:r>
            <a:endParaRPr lang="en-NG"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200000"/>
              </a:lnSpc>
            </a:pPr>
            <a:endParaRPr lang="en-NG" dirty="0">
              <a:effectLst/>
              <a:latin typeface="Arial Rounded MT Bold" panose="020F0704030504030204" pitchFamily="34"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011E8E7E-BEC6-BA7F-9E36-B2DE4923F9E1}"/>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AA2F01AC-2365-0E28-5F42-CB96C0BAFFA3}"/>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08296314-B7A3-9511-9085-848166624148}"/>
              </a:ext>
            </a:extLst>
          </p:cNvPr>
          <p:cNvSpPr>
            <a:spLocks noGrp="1"/>
          </p:cNvSpPr>
          <p:nvPr>
            <p:ph type="sldNum" sz="quarter" idx="12"/>
          </p:nvPr>
        </p:nvSpPr>
        <p:spPr/>
        <p:txBody>
          <a:bodyPr/>
          <a:lstStyle/>
          <a:p>
            <a:fld id="{E30FEA02-71A2-4209-B909-B13DA9CFC23D}" type="slidenum">
              <a:rPr lang="en-NG" smtClean="0"/>
              <a:t>20</a:t>
            </a:fld>
            <a:endParaRPr lang="en-NG"/>
          </a:p>
        </p:txBody>
      </p:sp>
      <p:graphicFrame>
        <p:nvGraphicFramePr>
          <p:cNvPr id="6" name="Table 5">
            <a:extLst>
              <a:ext uri="{FF2B5EF4-FFF2-40B4-BE49-F238E27FC236}">
                <a16:creationId xmlns:a16="http://schemas.microsoft.com/office/drawing/2014/main" id="{81239340-0F72-B70C-183A-576234ECEE97}"/>
              </a:ext>
            </a:extLst>
          </p:cNvPr>
          <p:cNvGraphicFramePr>
            <a:graphicFrameLocks noGrp="1"/>
          </p:cNvGraphicFramePr>
          <p:nvPr>
            <p:extLst>
              <p:ext uri="{D42A27DB-BD31-4B8C-83A1-F6EECF244321}">
                <p14:modId xmlns:p14="http://schemas.microsoft.com/office/powerpoint/2010/main" val="3134124908"/>
              </p:ext>
            </p:extLst>
          </p:nvPr>
        </p:nvGraphicFramePr>
        <p:xfrm>
          <a:off x="1036897" y="2680903"/>
          <a:ext cx="5483974" cy="3433790"/>
        </p:xfrm>
        <a:graphic>
          <a:graphicData uri="http://schemas.openxmlformats.org/drawingml/2006/table">
            <a:tbl>
              <a:tblPr firstRow="1" firstCol="1" bandRow="1"/>
              <a:tblGrid>
                <a:gridCol w="1059494">
                  <a:extLst>
                    <a:ext uri="{9D8B030D-6E8A-4147-A177-3AD203B41FA5}">
                      <a16:colId xmlns:a16="http://schemas.microsoft.com/office/drawing/2014/main" val="3458236775"/>
                    </a:ext>
                  </a:extLst>
                </a:gridCol>
                <a:gridCol w="886559">
                  <a:extLst>
                    <a:ext uri="{9D8B030D-6E8A-4147-A177-3AD203B41FA5}">
                      <a16:colId xmlns:a16="http://schemas.microsoft.com/office/drawing/2014/main" val="3214730854"/>
                    </a:ext>
                  </a:extLst>
                </a:gridCol>
                <a:gridCol w="3537921">
                  <a:extLst>
                    <a:ext uri="{9D8B030D-6E8A-4147-A177-3AD203B41FA5}">
                      <a16:colId xmlns:a16="http://schemas.microsoft.com/office/drawing/2014/main" val="994859175"/>
                    </a:ext>
                  </a:extLst>
                </a:gridCol>
              </a:tblGrid>
              <a:tr h="493458">
                <a:tc>
                  <a:txBody>
                    <a:bodyPr/>
                    <a:lstStyle/>
                    <a:p>
                      <a:pPr algn="just">
                        <a:lnSpc>
                          <a:spcPct val="200000"/>
                        </a:lnSpc>
                        <a:spcAft>
                          <a:spcPts val="1000"/>
                        </a:spcAft>
                      </a:pPr>
                      <a:r>
                        <a:rPr lang="en-US" sz="1200" b="1">
                          <a:effectLst/>
                          <a:latin typeface="Arial Rounded MT Bold" panose="020F0704030504030204" pitchFamily="34" charset="0"/>
                          <a:ea typeface="Calibri" panose="020F0502020204030204" pitchFamily="34" charset="0"/>
                          <a:cs typeface="Times New Roman" panose="02020603050405020304" pitchFamily="18" charset="0"/>
                        </a:rPr>
                        <a:t>Index Class</a:t>
                      </a:r>
                      <a:endParaRPr lang="en-NG" sz="1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200000"/>
                        </a:lnSpc>
                        <a:spcAft>
                          <a:spcPts val="1000"/>
                        </a:spcAft>
                      </a:pPr>
                      <a:r>
                        <a:rPr lang="en-GB" sz="1200" b="1">
                          <a:effectLst/>
                          <a:latin typeface="Arial Rounded MT Bold" panose="020F0704030504030204" pitchFamily="34" charset="0"/>
                          <a:ea typeface="Calibri" panose="020F0502020204030204" pitchFamily="34" charset="0"/>
                          <a:cs typeface="Times New Roman" panose="02020603050405020304" pitchFamily="18" charset="0"/>
                        </a:rPr>
                        <a:t>I</a:t>
                      </a:r>
                      <a:r>
                        <a:rPr lang="en-GB" sz="1200" b="1" baseline="-25000">
                          <a:effectLst/>
                          <a:latin typeface="Arial Rounded MT Bold" panose="020F0704030504030204" pitchFamily="34" charset="0"/>
                          <a:ea typeface="Calibri" panose="020F0502020204030204" pitchFamily="34" charset="0"/>
                          <a:cs typeface="Times New Roman" panose="02020603050405020304" pitchFamily="18" charset="0"/>
                        </a:rPr>
                        <a:t>geo </a:t>
                      </a:r>
                      <a:r>
                        <a:rPr lang="en-US" sz="1200" b="1">
                          <a:effectLst/>
                          <a:latin typeface="Arial Rounded MT Bold" panose="020F0704030504030204" pitchFamily="34" charset="0"/>
                          <a:ea typeface="Calibri" panose="020F0502020204030204" pitchFamily="34" charset="0"/>
                          <a:cs typeface="Times New Roman" panose="02020603050405020304" pitchFamily="18" charset="0"/>
                        </a:rPr>
                        <a:t>Value</a:t>
                      </a:r>
                      <a:endParaRPr lang="en-NG" sz="1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200000"/>
                        </a:lnSpc>
                        <a:spcAft>
                          <a:spcPts val="1000"/>
                        </a:spcAft>
                      </a:pPr>
                      <a:r>
                        <a:rPr lang="en-US" sz="1200" b="1">
                          <a:effectLst/>
                          <a:latin typeface="Arial Rounded MT Bold" panose="020F0704030504030204" pitchFamily="34" charset="0"/>
                          <a:ea typeface="Calibri" panose="020F0502020204030204" pitchFamily="34" charset="0"/>
                          <a:cs typeface="Times New Roman" panose="02020603050405020304" pitchFamily="18" charset="0"/>
                        </a:rPr>
                        <a:t>Level of Contamination Classification</a:t>
                      </a:r>
                      <a:endParaRPr lang="en-NG" sz="1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3201478"/>
                  </a:ext>
                </a:extLst>
              </a:tr>
              <a:tr h="260365">
                <a:tc>
                  <a:txBody>
                    <a:bodyPr/>
                    <a:lstStyle/>
                    <a:p>
                      <a:pPr algn="just">
                        <a:lnSpc>
                          <a:spcPct val="200000"/>
                        </a:lnSpc>
                        <a:spcAft>
                          <a:spcPts val="1000"/>
                        </a:spcAft>
                      </a:pPr>
                      <a:r>
                        <a:rPr lang="en-US" sz="1200">
                          <a:effectLst/>
                          <a:latin typeface="Arial Rounded MT Bold" panose="020F0704030504030204" pitchFamily="34" charset="0"/>
                          <a:ea typeface="Calibri" panose="020F0502020204030204" pitchFamily="34" charset="0"/>
                          <a:cs typeface="Times New Roman" panose="02020603050405020304" pitchFamily="18" charset="0"/>
                        </a:rPr>
                        <a:t>0</a:t>
                      </a:r>
                      <a:endParaRPr lang="en-NG" sz="1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200000"/>
                        </a:lnSpc>
                        <a:spcAft>
                          <a:spcPts val="1000"/>
                        </a:spcAft>
                      </a:pPr>
                      <a:r>
                        <a:rPr lang="en-GB" sz="1200">
                          <a:effectLst/>
                          <a:latin typeface="Arial Rounded MT Bold" panose="020F0704030504030204" pitchFamily="34" charset="0"/>
                          <a:ea typeface="Calibri" panose="020F0502020204030204" pitchFamily="34" charset="0"/>
                          <a:cs typeface="Times New Roman" panose="02020603050405020304" pitchFamily="18" charset="0"/>
                        </a:rPr>
                        <a:t>I</a:t>
                      </a:r>
                      <a:r>
                        <a:rPr lang="en-GB" sz="1200" baseline="-25000">
                          <a:effectLst/>
                          <a:latin typeface="Arial Rounded MT Bold" panose="020F0704030504030204" pitchFamily="34" charset="0"/>
                          <a:ea typeface="Calibri" panose="020F0502020204030204" pitchFamily="34" charset="0"/>
                          <a:cs typeface="Times New Roman" panose="02020603050405020304" pitchFamily="18" charset="0"/>
                        </a:rPr>
                        <a:t>geo</a:t>
                      </a:r>
                      <a:r>
                        <a:rPr lang="en-US" sz="1200">
                          <a:effectLst/>
                          <a:latin typeface="Arial Rounded MT Bold" panose="020F0704030504030204" pitchFamily="34" charset="0"/>
                          <a:ea typeface="Calibri" panose="020F0502020204030204" pitchFamily="34" charset="0"/>
                          <a:cs typeface="Times New Roman" panose="02020603050405020304" pitchFamily="18" charset="0"/>
                        </a:rPr>
                        <a:t>&lt;0</a:t>
                      </a:r>
                      <a:endParaRPr lang="en-NG" sz="1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200000"/>
                        </a:lnSpc>
                        <a:spcAft>
                          <a:spcPts val="1000"/>
                        </a:spcAft>
                      </a:pPr>
                      <a:r>
                        <a:rPr lang="en-US" sz="1200" dirty="0">
                          <a:effectLst/>
                          <a:latin typeface="Arial Rounded MT Bold" panose="020F0704030504030204" pitchFamily="34" charset="0"/>
                          <a:ea typeface="Calibri" panose="020F0502020204030204" pitchFamily="34" charset="0"/>
                          <a:cs typeface="Times New Roman" panose="02020603050405020304" pitchFamily="18" charset="0"/>
                        </a:rPr>
                        <a:t>Uncontaminated</a:t>
                      </a:r>
                      <a:endParaRPr lang="en-NG" sz="1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5274622"/>
                  </a:ext>
                </a:extLst>
              </a:tr>
              <a:tr h="569900">
                <a:tc>
                  <a:txBody>
                    <a:bodyPr/>
                    <a:lstStyle/>
                    <a:p>
                      <a:pPr algn="just">
                        <a:lnSpc>
                          <a:spcPct val="200000"/>
                        </a:lnSpc>
                        <a:spcAft>
                          <a:spcPts val="1000"/>
                        </a:spcAft>
                      </a:pPr>
                      <a:r>
                        <a:rPr lang="en-US" sz="1200">
                          <a:effectLst/>
                          <a:latin typeface="Arial Rounded MT Bold" panose="020F0704030504030204" pitchFamily="34" charset="0"/>
                          <a:ea typeface="Calibri" panose="020F0502020204030204" pitchFamily="34" charset="0"/>
                          <a:cs typeface="Times New Roman" panose="02020603050405020304" pitchFamily="18" charset="0"/>
                        </a:rPr>
                        <a:t>1</a:t>
                      </a:r>
                      <a:endParaRPr lang="en-NG" sz="1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200000"/>
                        </a:lnSpc>
                        <a:spcAft>
                          <a:spcPts val="1000"/>
                        </a:spcAft>
                      </a:pPr>
                      <a:r>
                        <a:rPr lang="en-US" sz="1200">
                          <a:effectLst/>
                          <a:latin typeface="Arial Rounded MT Bold" panose="020F0704030504030204" pitchFamily="34" charset="0"/>
                          <a:ea typeface="Calibri" panose="020F0502020204030204" pitchFamily="34" charset="0"/>
                          <a:cs typeface="Times New Roman" panose="02020603050405020304" pitchFamily="18" charset="0"/>
                        </a:rPr>
                        <a:t>0&lt;</a:t>
                      </a:r>
                      <a:r>
                        <a:rPr lang="en-GB" sz="1200">
                          <a:effectLst/>
                          <a:latin typeface="Arial Rounded MT Bold" panose="020F0704030504030204" pitchFamily="34" charset="0"/>
                          <a:ea typeface="Calibri" panose="020F0502020204030204" pitchFamily="34" charset="0"/>
                          <a:cs typeface="Times New Roman" panose="02020603050405020304" pitchFamily="18" charset="0"/>
                        </a:rPr>
                        <a:t> I</a:t>
                      </a:r>
                      <a:r>
                        <a:rPr lang="en-GB" sz="1200" baseline="-25000">
                          <a:effectLst/>
                          <a:latin typeface="Arial Rounded MT Bold" panose="020F0704030504030204" pitchFamily="34" charset="0"/>
                          <a:ea typeface="Calibri" panose="020F0502020204030204" pitchFamily="34" charset="0"/>
                          <a:cs typeface="Times New Roman" panose="02020603050405020304" pitchFamily="18" charset="0"/>
                        </a:rPr>
                        <a:t>geo</a:t>
                      </a:r>
                      <a:r>
                        <a:rPr lang="en-US" sz="1200">
                          <a:effectLst/>
                          <a:latin typeface="Arial Rounded MT Bold" panose="020F0704030504030204" pitchFamily="34" charset="0"/>
                          <a:ea typeface="Calibri" panose="020F0502020204030204" pitchFamily="34" charset="0"/>
                          <a:cs typeface="Times New Roman" panose="02020603050405020304" pitchFamily="18" charset="0"/>
                        </a:rPr>
                        <a:t> &lt;1</a:t>
                      </a:r>
                      <a:endParaRPr lang="en-NG" sz="1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200000"/>
                        </a:lnSpc>
                        <a:spcAft>
                          <a:spcPts val="1000"/>
                        </a:spcAft>
                      </a:pPr>
                      <a:r>
                        <a:rPr lang="en-US" sz="1200" dirty="0">
                          <a:effectLst/>
                          <a:latin typeface="Arial Rounded MT Bold" panose="020F0704030504030204" pitchFamily="34" charset="0"/>
                          <a:ea typeface="Calibri" panose="020F0502020204030204" pitchFamily="34" charset="0"/>
                          <a:cs typeface="Times New Roman" panose="02020603050405020304" pitchFamily="18" charset="0"/>
                        </a:rPr>
                        <a:t>Uncontaminated to moderately contaminated</a:t>
                      </a:r>
                      <a:endParaRPr lang="en-NG" sz="1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7285769"/>
                  </a:ext>
                </a:extLst>
              </a:tr>
              <a:tr h="260365">
                <a:tc>
                  <a:txBody>
                    <a:bodyPr/>
                    <a:lstStyle/>
                    <a:p>
                      <a:pPr algn="just">
                        <a:lnSpc>
                          <a:spcPct val="200000"/>
                        </a:lnSpc>
                        <a:spcAft>
                          <a:spcPts val="1000"/>
                        </a:spcAft>
                      </a:pPr>
                      <a:r>
                        <a:rPr lang="en-US" sz="1200">
                          <a:effectLst/>
                          <a:latin typeface="Arial Rounded MT Bold" panose="020F0704030504030204" pitchFamily="34" charset="0"/>
                          <a:ea typeface="Calibri" panose="020F0502020204030204" pitchFamily="34" charset="0"/>
                          <a:cs typeface="Times New Roman" panose="02020603050405020304" pitchFamily="18" charset="0"/>
                        </a:rPr>
                        <a:t>2</a:t>
                      </a:r>
                      <a:endParaRPr lang="en-NG" sz="1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200000"/>
                        </a:lnSpc>
                        <a:spcAft>
                          <a:spcPts val="1000"/>
                        </a:spcAft>
                      </a:pPr>
                      <a:r>
                        <a:rPr lang="en-US" sz="1200">
                          <a:effectLst/>
                          <a:latin typeface="Arial Rounded MT Bold" panose="020F0704030504030204" pitchFamily="34" charset="0"/>
                          <a:ea typeface="Calibri" panose="020F0502020204030204" pitchFamily="34" charset="0"/>
                          <a:cs typeface="Times New Roman" panose="02020603050405020304" pitchFamily="18" charset="0"/>
                        </a:rPr>
                        <a:t>1&lt;</a:t>
                      </a:r>
                      <a:r>
                        <a:rPr lang="en-GB" sz="1200">
                          <a:effectLst/>
                          <a:latin typeface="Arial Rounded MT Bold" panose="020F0704030504030204" pitchFamily="34" charset="0"/>
                          <a:ea typeface="Calibri" panose="020F0502020204030204" pitchFamily="34" charset="0"/>
                          <a:cs typeface="Times New Roman" panose="02020603050405020304" pitchFamily="18" charset="0"/>
                        </a:rPr>
                        <a:t> I</a:t>
                      </a:r>
                      <a:r>
                        <a:rPr lang="en-GB" sz="1200" baseline="-25000">
                          <a:effectLst/>
                          <a:latin typeface="Arial Rounded MT Bold" panose="020F0704030504030204" pitchFamily="34" charset="0"/>
                          <a:ea typeface="Calibri" panose="020F0502020204030204" pitchFamily="34" charset="0"/>
                          <a:cs typeface="Times New Roman" panose="02020603050405020304" pitchFamily="18" charset="0"/>
                        </a:rPr>
                        <a:t>geo</a:t>
                      </a:r>
                      <a:r>
                        <a:rPr lang="en-US" sz="1200">
                          <a:effectLst/>
                          <a:latin typeface="Arial Rounded MT Bold" panose="020F0704030504030204" pitchFamily="34" charset="0"/>
                          <a:ea typeface="Calibri" panose="020F0502020204030204" pitchFamily="34" charset="0"/>
                          <a:cs typeface="Times New Roman" panose="02020603050405020304" pitchFamily="18" charset="0"/>
                        </a:rPr>
                        <a:t>&lt;2</a:t>
                      </a:r>
                      <a:endParaRPr lang="en-NG" sz="1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200000"/>
                        </a:lnSpc>
                        <a:spcAft>
                          <a:spcPts val="1000"/>
                        </a:spcAft>
                      </a:pPr>
                      <a:r>
                        <a:rPr lang="en-US" sz="1200" dirty="0">
                          <a:effectLst/>
                          <a:latin typeface="Arial Rounded MT Bold" panose="020F0704030504030204" pitchFamily="34" charset="0"/>
                          <a:ea typeface="Calibri" panose="020F0502020204030204" pitchFamily="34" charset="0"/>
                          <a:cs typeface="Times New Roman" panose="02020603050405020304" pitchFamily="18" charset="0"/>
                        </a:rPr>
                        <a:t>Moderately contaminated</a:t>
                      </a:r>
                      <a:endParaRPr lang="en-NG" sz="1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2356452"/>
                  </a:ext>
                </a:extLst>
              </a:tr>
              <a:tr h="569900">
                <a:tc>
                  <a:txBody>
                    <a:bodyPr/>
                    <a:lstStyle/>
                    <a:p>
                      <a:pPr algn="just">
                        <a:lnSpc>
                          <a:spcPct val="200000"/>
                        </a:lnSpc>
                        <a:spcAft>
                          <a:spcPts val="1000"/>
                        </a:spcAft>
                      </a:pPr>
                      <a:r>
                        <a:rPr lang="en-US" sz="1200">
                          <a:effectLst/>
                          <a:latin typeface="Arial Rounded MT Bold" panose="020F0704030504030204" pitchFamily="34" charset="0"/>
                          <a:ea typeface="Calibri" panose="020F0502020204030204" pitchFamily="34" charset="0"/>
                          <a:cs typeface="Times New Roman" panose="02020603050405020304" pitchFamily="18" charset="0"/>
                        </a:rPr>
                        <a:t>3</a:t>
                      </a:r>
                      <a:endParaRPr lang="en-NG" sz="1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200000"/>
                        </a:lnSpc>
                        <a:spcAft>
                          <a:spcPts val="1000"/>
                        </a:spcAft>
                      </a:pPr>
                      <a:r>
                        <a:rPr lang="en-US" sz="1200">
                          <a:effectLst/>
                          <a:latin typeface="Arial Rounded MT Bold" panose="020F0704030504030204" pitchFamily="34" charset="0"/>
                          <a:ea typeface="Calibri" panose="020F0502020204030204" pitchFamily="34" charset="0"/>
                          <a:cs typeface="Times New Roman" panose="02020603050405020304" pitchFamily="18" charset="0"/>
                        </a:rPr>
                        <a:t>2&lt;</a:t>
                      </a:r>
                      <a:r>
                        <a:rPr lang="en-GB" sz="1200">
                          <a:effectLst/>
                          <a:latin typeface="Arial Rounded MT Bold" panose="020F0704030504030204" pitchFamily="34" charset="0"/>
                          <a:ea typeface="Calibri" panose="020F0502020204030204" pitchFamily="34" charset="0"/>
                          <a:cs typeface="Times New Roman" panose="02020603050405020304" pitchFamily="18" charset="0"/>
                        </a:rPr>
                        <a:t> I</a:t>
                      </a:r>
                      <a:r>
                        <a:rPr lang="en-GB" sz="1200" baseline="-25000">
                          <a:effectLst/>
                          <a:latin typeface="Arial Rounded MT Bold" panose="020F0704030504030204" pitchFamily="34" charset="0"/>
                          <a:ea typeface="Calibri" panose="020F0502020204030204" pitchFamily="34" charset="0"/>
                          <a:cs typeface="Times New Roman" panose="02020603050405020304" pitchFamily="18" charset="0"/>
                        </a:rPr>
                        <a:t>geo</a:t>
                      </a:r>
                      <a:r>
                        <a:rPr lang="en-US" sz="1200">
                          <a:effectLst/>
                          <a:latin typeface="Arial Rounded MT Bold" panose="020F0704030504030204" pitchFamily="34" charset="0"/>
                          <a:ea typeface="Calibri" panose="020F0502020204030204" pitchFamily="34" charset="0"/>
                          <a:cs typeface="Times New Roman" panose="02020603050405020304" pitchFamily="18" charset="0"/>
                        </a:rPr>
                        <a:t>&lt;3</a:t>
                      </a:r>
                      <a:endParaRPr lang="en-NG" sz="1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200000"/>
                        </a:lnSpc>
                        <a:spcAft>
                          <a:spcPts val="1000"/>
                        </a:spcAft>
                      </a:pPr>
                      <a:r>
                        <a:rPr lang="en-US" sz="1200" dirty="0">
                          <a:effectLst/>
                          <a:latin typeface="Arial Rounded MT Bold" panose="020F0704030504030204" pitchFamily="34" charset="0"/>
                          <a:ea typeface="Calibri" panose="020F0502020204030204" pitchFamily="34" charset="0"/>
                          <a:cs typeface="Times New Roman" panose="02020603050405020304" pitchFamily="18" charset="0"/>
                        </a:rPr>
                        <a:t>Moderately to heavily (strongly) contaminated</a:t>
                      </a:r>
                      <a:endParaRPr lang="en-NG" sz="1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8865118"/>
                  </a:ext>
                </a:extLst>
              </a:tr>
              <a:tr h="260365">
                <a:tc>
                  <a:txBody>
                    <a:bodyPr/>
                    <a:lstStyle/>
                    <a:p>
                      <a:pPr algn="just">
                        <a:lnSpc>
                          <a:spcPct val="200000"/>
                        </a:lnSpc>
                        <a:spcAft>
                          <a:spcPts val="1000"/>
                        </a:spcAft>
                      </a:pPr>
                      <a:r>
                        <a:rPr lang="en-US" sz="1200">
                          <a:effectLst/>
                          <a:latin typeface="Arial Rounded MT Bold" panose="020F0704030504030204" pitchFamily="34" charset="0"/>
                          <a:ea typeface="Calibri" panose="020F0502020204030204" pitchFamily="34" charset="0"/>
                          <a:cs typeface="Times New Roman" panose="02020603050405020304" pitchFamily="18" charset="0"/>
                        </a:rPr>
                        <a:t>4</a:t>
                      </a:r>
                      <a:endParaRPr lang="en-NG" sz="1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200000"/>
                        </a:lnSpc>
                        <a:spcAft>
                          <a:spcPts val="1000"/>
                        </a:spcAft>
                      </a:pPr>
                      <a:r>
                        <a:rPr lang="en-US" sz="1200">
                          <a:effectLst/>
                          <a:latin typeface="Arial Rounded MT Bold" panose="020F0704030504030204" pitchFamily="34" charset="0"/>
                          <a:ea typeface="Calibri" panose="020F0502020204030204" pitchFamily="34" charset="0"/>
                          <a:cs typeface="Times New Roman" panose="02020603050405020304" pitchFamily="18" charset="0"/>
                        </a:rPr>
                        <a:t>3&lt;</a:t>
                      </a:r>
                      <a:r>
                        <a:rPr lang="en-GB" sz="1200">
                          <a:effectLst/>
                          <a:latin typeface="Arial Rounded MT Bold" panose="020F0704030504030204" pitchFamily="34" charset="0"/>
                          <a:ea typeface="Calibri" panose="020F0502020204030204" pitchFamily="34" charset="0"/>
                          <a:cs typeface="Times New Roman" panose="02020603050405020304" pitchFamily="18" charset="0"/>
                        </a:rPr>
                        <a:t> I</a:t>
                      </a:r>
                      <a:r>
                        <a:rPr lang="en-GB" sz="1200" baseline="-25000">
                          <a:effectLst/>
                          <a:latin typeface="Arial Rounded MT Bold" panose="020F0704030504030204" pitchFamily="34" charset="0"/>
                          <a:ea typeface="Calibri" panose="020F0502020204030204" pitchFamily="34" charset="0"/>
                          <a:cs typeface="Times New Roman" panose="02020603050405020304" pitchFamily="18" charset="0"/>
                        </a:rPr>
                        <a:t>geo</a:t>
                      </a:r>
                      <a:r>
                        <a:rPr lang="en-US" sz="1200">
                          <a:effectLst/>
                          <a:latin typeface="Arial Rounded MT Bold" panose="020F0704030504030204" pitchFamily="34" charset="0"/>
                          <a:ea typeface="Calibri" panose="020F0502020204030204" pitchFamily="34" charset="0"/>
                          <a:cs typeface="Times New Roman" panose="02020603050405020304" pitchFamily="18" charset="0"/>
                        </a:rPr>
                        <a:t>&lt;4</a:t>
                      </a:r>
                      <a:endParaRPr lang="en-NG" sz="1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200000"/>
                        </a:lnSpc>
                        <a:spcAft>
                          <a:spcPts val="1000"/>
                        </a:spcAft>
                      </a:pPr>
                      <a:r>
                        <a:rPr lang="en-US" sz="1200" dirty="0">
                          <a:effectLst/>
                          <a:latin typeface="Arial Rounded MT Bold" panose="020F0704030504030204" pitchFamily="34" charset="0"/>
                          <a:ea typeface="Calibri" panose="020F0502020204030204" pitchFamily="34" charset="0"/>
                          <a:cs typeface="Times New Roman" panose="02020603050405020304" pitchFamily="18" charset="0"/>
                        </a:rPr>
                        <a:t>Heavily (strongly) contaminated</a:t>
                      </a:r>
                      <a:endParaRPr lang="en-NG" sz="1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3149413"/>
                  </a:ext>
                </a:extLst>
              </a:tr>
              <a:tr h="569900">
                <a:tc>
                  <a:txBody>
                    <a:bodyPr/>
                    <a:lstStyle/>
                    <a:p>
                      <a:pPr algn="just">
                        <a:lnSpc>
                          <a:spcPct val="200000"/>
                        </a:lnSpc>
                        <a:spcAft>
                          <a:spcPts val="1000"/>
                        </a:spcAft>
                      </a:pPr>
                      <a:r>
                        <a:rPr lang="en-US" sz="1200">
                          <a:effectLst/>
                          <a:latin typeface="Arial Rounded MT Bold" panose="020F0704030504030204" pitchFamily="34" charset="0"/>
                          <a:ea typeface="Calibri" panose="020F0502020204030204" pitchFamily="34" charset="0"/>
                          <a:cs typeface="Times New Roman" panose="02020603050405020304" pitchFamily="18" charset="0"/>
                        </a:rPr>
                        <a:t>5</a:t>
                      </a:r>
                      <a:endParaRPr lang="en-NG" sz="1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200000"/>
                        </a:lnSpc>
                        <a:spcAft>
                          <a:spcPts val="1000"/>
                        </a:spcAft>
                      </a:pPr>
                      <a:r>
                        <a:rPr lang="en-US" sz="1200" dirty="0">
                          <a:effectLst/>
                          <a:latin typeface="Arial Rounded MT Bold" panose="020F0704030504030204" pitchFamily="34" charset="0"/>
                          <a:ea typeface="Calibri" panose="020F0502020204030204" pitchFamily="34" charset="0"/>
                          <a:cs typeface="Times New Roman" panose="02020603050405020304" pitchFamily="18" charset="0"/>
                        </a:rPr>
                        <a:t>4&lt;</a:t>
                      </a:r>
                      <a:r>
                        <a:rPr lang="en-GB" sz="12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GB" sz="1200" dirty="0" err="1">
                          <a:effectLst/>
                          <a:latin typeface="Arial Rounded MT Bold" panose="020F0704030504030204" pitchFamily="34" charset="0"/>
                          <a:ea typeface="Calibri" panose="020F0502020204030204" pitchFamily="34" charset="0"/>
                          <a:cs typeface="Times New Roman" panose="02020603050405020304" pitchFamily="18" charset="0"/>
                        </a:rPr>
                        <a:t>I</a:t>
                      </a:r>
                      <a:r>
                        <a:rPr lang="en-GB" sz="1200" baseline="-25000" dirty="0" err="1">
                          <a:effectLst/>
                          <a:latin typeface="Arial Rounded MT Bold" panose="020F0704030504030204" pitchFamily="34" charset="0"/>
                          <a:ea typeface="Calibri" panose="020F0502020204030204" pitchFamily="34" charset="0"/>
                          <a:cs typeface="Times New Roman" panose="02020603050405020304" pitchFamily="18" charset="0"/>
                        </a:rPr>
                        <a:t>geo</a:t>
                      </a:r>
                      <a:r>
                        <a:rPr lang="en-US" sz="1200" dirty="0">
                          <a:effectLst/>
                          <a:latin typeface="Arial Rounded MT Bold" panose="020F0704030504030204" pitchFamily="34" charset="0"/>
                          <a:ea typeface="Calibri" panose="020F0502020204030204" pitchFamily="34" charset="0"/>
                          <a:cs typeface="Times New Roman" panose="02020603050405020304" pitchFamily="18" charset="0"/>
                        </a:rPr>
                        <a:t>&lt;5</a:t>
                      </a:r>
                      <a:endParaRPr lang="en-NG" sz="1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200000"/>
                        </a:lnSpc>
                        <a:spcAft>
                          <a:spcPts val="1000"/>
                        </a:spcAft>
                      </a:pPr>
                      <a:r>
                        <a:rPr lang="en-US" sz="1200" dirty="0">
                          <a:effectLst/>
                          <a:latin typeface="Arial Rounded MT Bold" panose="020F0704030504030204" pitchFamily="34" charset="0"/>
                          <a:ea typeface="Calibri" panose="020F0502020204030204" pitchFamily="34" charset="0"/>
                          <a:cs typeface="Times New Roman" panose="02020603050405020304" pitchFamily="18" charset="0"/>
                        </a:rPr>
                        <a:t>Heavily (strongly) to extremely contaminated</a:t>
                      </a:r>
                      <a:endParaRPr lang="en-NG" sz="1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2548049"/>
                  </a:ext>
                </a:extLst>
              </a:tr>
              <a:tr h="260365">
                <a:tc>
                  <a:txBody>
                    <a:bodyPr/>
                    <a:lstStyle/>
                    <a:p>
                      <a:pPr algn="just">
                        <a:lnSpc>
                          <a:spcPct val="200000"/>
                        </a:lnSpc>
                        <a:spcAft>
                          <a:spcPts val="1000"/>
                        </a:spcAft>
                      </a:pPr>
                      <a:r>
                        <a:rPr lang="en-US" sz="1200">
                          <a:effectLst/>
                          <a:latin typeface="Arial Rounded MT Bold" panose="020F0704030504030204" pitchFamily="34" charset="0"/>
                          <a:ea typeface="Calibri" panose="020F0502020204030204" pitchFamily="34" charset="0"/>
                          <a:cs typeface="Times New Roman" panose="02020603050405020304" pitchFamily="18" charset="0"/>
                        </a:rPr>
                        <a:t>6</a:t>
                      </a:r>
                      <a:endParaRPr lang="en-NG" sz="11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200000"/>
                        </a:lnSpc>
                        <a:spcAft>
                          <a:spcPts val="1000"/>
                        </a:spcAft>
                      </a:pPr>
                      <a:r>
                        <a:rPr lang="en-US" sz="1200" dirty="0">
                          <a:effectLst/>
                          <a:latin typeface="Arial Rounded MT Bold" panose="020F0704030504030204" pitchFamily="34" charset="0"/>
                          <a:ea typeface="Calibri" panose="020F0502020204030204" pitchFamily="34" charset="0"/>
                          <a:cs typeface="Times New Roman" panose="02020603050405020304" pitchFamily="18" charset="0"/>
                        </a:rPr>
                        <a:t>5&lt;</a:t>
                      </a:r>
                      <a:r>
                        <a:rPr lang="en-GB" sz="12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GB" sz="1200" dirty="0" err="1">
                          <a:effectLst/>
                          <a:latin typeface="Arial Rounded MT Bold" panose="020F0704030504030204" pitchFamily="34" charset="0"/>
                          <a:ea typeface="Calibri" panose="020F0502020204030204" pitchFamily="34" charset="0"/>
                          <a:cs typeface="Times New Roman" panose="02020603050405020304" pitchFamily="18" charset="0"/>
                        </a:rPr>
                        <a:t>I</a:t>
                      </a:r>
                      <a:r>
                        <a:rPr lang="en-GB" sz="1200" baseline="-25000" dirty="0" err="1">
                          <a:effectLst/>
                          <a:latin typeface="Arial Rounded MT Bold" panose="020F0704030504030204" pitchFamily="34" charset="0"/>
                          <a:ea typeface="Calibri" panose="020F0502020204030204" pitchFamily="34" charset="0"/>
                          <a:cs typeface="Times New Roman" panose="02020603050405020304" pitchFamily="18" charset="0"/>
                        </a:rPr>
                        <a:t>geo</a:t>
                      </a:r>
                      <a:endParaRPr lang="en-NG" sz="1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200000"/>
                        </a:lnSpc>
                        <a:spcAft>
                          <a:spcPts val="1000"/>
                        </a:spcAft>
                      </a:pPr>
                      <a:r>
                        <a:rPr lang="en-US" sz="1200" dirty="0">
                          <a:effectLst/>
                          <a:latin typeface="Arial Rounded MT Bold" panose="020F0704030504030204" pitchFamily="34" charset="0"/>
                          <a:ea typeface="Calibri" panose="020F0502020204030204" pitchFamily="34" charset="0"/>
                          <a:cs typeface="Times New Roman" panose="02020603050405020304" pitchFamily="18" charset="0"/>
                        </a:rPr>
                        <a:t>Extremely contaminated</a:t>
                      </a:r>
                      <a:endParaRPr lang="en-NG" sz="11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3604106"/>
                  </a:ext>
                </a:extLst>
              </a:tr>
            </a:tbl>
          </a:graphicData>
        </a:graphic>
      </p:graphicFrame>
      <p:graphicFrame>
        <p:nvGraphicFramePr>
          <p:cNvPr id="12" name="Table 11">
            <a:extLst>
              <a:ext uri="{FF2B5EF4-FFF2-40B4-BE49-F238E27FC236}">
                <a16:creationId xmlns:a16="http://schemas.microsoft.com/office/drawing/2014/main" id="{D07969AB-F5BF-D9E8-778B-D04617BC597A}"/>
              </a:ext>
            </a:extLst>
          </p:cNvPr>
          <p:cNvGraphicFramePr>
            <a:graphicFrameLocks noGrp="1"/>
          </p:cNvGraphicFramePr>
          <p:nvPr>
            <p:extLst>
              <p:ext uri="{D42A27DB-BD31-4B8C-83A1-F6EECF244321}">
                <p14:modId xmlns:p14="http://schemas.microsoft.com/office/powerpoint/2010/main" val="3801076375"/>
              </p:ext>
            </p:extLst>
          </p:nvPr>
        </p:nvGraphicFramePr>
        <p:xfrm>
          <a:off x="6928834" y="2680903"/>
          <a:ext cx="4855202" cy="3244618"/>
        </p:xfrm>
        <a:graphic>
          <a:graphicData uri="http://schemas.openxmlformats.org/drawingml/2006/table">
            <a:tbl>
              <a:tblPr/>
              <a:tblGrid>
                <a:gridCol w="593733">
                  <a:extLst>
                    <a:ext uri="{9D8B030D-6E8A-4147-A177-3AD203B41FA5}">
                      <a16:colId xmlns:a16="http://schemas.microsoft.com/office/drawing/2014/main" val="3289982367"/>
                    </a:ext>
                  </a:extLst>
                </a:gridCol>
                <a:gridCol w="1934420">
                  <a:extLst>
                    <a:ext uri="{9D8B030D-6E8A-4147-A177-3AD203B41FA5}">
                      <a16:colId xmlns:a16="http://schemas.microsoft.com/office/drawing/2014/main" val="2317761623"/>
                    </a:ext>
                  </a:extLst>
                </a:gridCol>
                <a:gridCol w="603309">
                  <a:extLst>
                    <a:ext uri="{9D8B030D-6E8A-4147-A177-3AD203B41FA5}">
                      <a16:colId xmlns:a16="http://schemas.microsoft.com/office/drawing/2014/main" val="3354554138"/>
                    </a:ext>
                  </a:extLst>
                </a:gridCol>
                <a:gridCol w="1723740">
                  <a:extLst>
                    <a:ext uri="{9D8B030D-6E8A-4147-A177-3AD203B41FA5}">
                      <a16:colId xmlns:a16="http://schemas.microsoft.com/office/drawing/2014/main" val="547735537"/>
                    </a:ext>
                  </a:extLst>
                </a:gridCol>
              </a:tblGrid>
              <a:tr h="290531">
                <a:tc>
                  <a:txBody>
                    <a:bodyPr/>
                    <a:lstStyle/>
                    <a:p>
                      <a:pPr algn="l" fontAlgn="ctr"/>
                      <a:r>
                        <a:rPr lang="en-US" sz="1200" b="1" i="0" u="none" strike="noStrike">
                          <a:solidFill>
                            <a:srgbClr val="000000"/>
                          </a:solidFill>
                          <a:effectLst/>
                          <a:latin typeface="Arial Rounded MT Bold" panose="020F0704030504030204" pitchFamily="34" charset="0"/>
                        </a:rPr>
                        <a:t>Season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1" i="0" u="none" strike="noStrike">
                          <a:solidFill>
                            <a:srgbClr val="000000"/>
                          </a:solidFill>
                          <a:effectLst/>
                          <a:latin typeface="Arial Rounded MT Bold" panose="020F0704030504030204" pitchFamily="34" charset="0"/>
                        </a:rPr>
                        <a:t>Surface Water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1" i="0" u="none" strike="noStrike">
                          <a:solidFill>
                            <a:srgbClr val="000000"/>
                          </a:solidFill>
                          <a:effectLst/>
                          <a:latin typeface="Arial Rounded MT Bold" panose="020F0704030504030204" pitchFamily="34" charset="0"/>
                        </a:rPr>
                        <a:t>Season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1" i="0" u="none" strike="noStrike">
                          <a:solidFill>
                            <a:srgbClr val="000000"/>
                          </a:solidFill>
                          <a:effectLst/>
                          <a:latin typeface="Arial Rounded MT Bold" panose="020F0704030504030204" pitchFamily="34" charset="0"/>
                        </a:rPr>
                        <a:t>Groundwater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0323244"/>
                  </a:ext>
                </a:extLst>
              </a:tr>
              <a:tr h="545091">
                <a:tc>
                  <a:txBody>
                    <a:bodyPr/>
                    <a:lstStyle/>
                    <a:p>
                      <a:pPr algn="l" fontAlgn="ctr"/>
                      <a:r>
                        <a:rPr lang="en-US" sz="1200" b="1" i="0" u="none" strike="noStrike" dirty="0">
                          <a:solidFill>
                            <a:srgbClr val="000000"/>
                          </a:solidFill>
                          <a:effectLst/>
                          <a:latin typeface="Arial Rounded MT Bold" panose="020F0704030504030204" pitchFamily="34" charset="0"/>
                        </a:rPr>
                        <a:t>Wet Season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Cd = Class 2 to Class 4 (All)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200" b="1" i="0" u="none" strike="noStrike" dirty="0">
                          <a:solidFill>
                            <a:srgbClr val="000000"/>
                          </a:solidFill>
                          <a:effectLst/>
                          <a:latin typeface="Arial Rounded MT Bold" panose="020F0704030504030204" pitchFamily="34" charset="0"/>
                        </a:rPr>
                        <a:t>Wet Season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Cd = Class 1 to Class 3 (All)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4293191983"/>
                  </a:ext>
                </a:extLst>
              </a:tr>
              <a:tr h="290531">
                <a:tc>
                  <a:txBody>
                    <a:bodyPr/>
                    <a:lstStyle/>
                    <a:p>
                      <a:pPr algn="l" fontAlgn="ctr"/>
                      <a:r>
                        <a:rPr lang="en-NG" sz="1200" b="1"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Pb = Class 4 to Class 5 (All)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NG" sz="1200" b="1"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Pb = Class 3 to Class 5 (All)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508060587"/>
                  </a:ext>
                </a:extLst>
              </a:tr>
              <a:tr h="581060">
                <a:tc>
                  <a:txBody>
                    <a:bodyPr/>
                    <a:lstStyle/>
                    <a:p>
                      <a:pPr algn="l" fontAlgn="ctr"/>
                      <a:r>
                        <a:rPr lang="en-US" sz="1200" b="1" i="0" u="none" strike="noStrike" dirty="0">
                          <a:solidFill>
                            <a:srgbClr val="000000"/>
                          </a:solidFill>
                          <a:effectLst/>
                          <a:latin typeface="Arial Rounded MT Bold" panose="020F0704030504030204" pitchFamily="34" charset="0"/>
                        </a:rPr>
                        <a:t>Dry Season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Pb = Class 1 to Class 3 (All)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fontAlgn="ctr"/>
                      <a:r>
                        <a:rPr lang="en-US" sz="1200" b="1" i="0" u="none" strike="noStrike">
                          <a:solidFill>
                            <a:srgbClr val="000000"/>
                          </a:solidFill>
                          <a:effectLst/>
                          <a:latin typeface="Arial Rounded MT Bold" panose="020F0704030504030204" pitchFamily="34" charset="0"/>
                        </a:rPr>
                        <a:t>Dry Season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Pb = Class 1 to Class 3 (All, Except G2)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4038562735"/>
                  </a:ext>
                </a:extLst>
              </a:tr>
              <a:tr h="581060">
                <a:tc>
                  <a:txBody>
                    <a:bodyPr/>
                    <a:lstStyle/>
                    <a:p>
                      <a:pPr algn="l"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Cd = Class 1 to Class 2 (S1, S2, S3, S4)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fontAlgn="ctr"/>
                      <a:r>
                        <a:rPr lang="en-NG" sz="1200" b="0" i="0" u="none" strike="noStrike" dirty="0">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Cd = Class 1 to Class 2 (All, Except G7 And G8)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1183271884"/>
                  </a:ext>
                </a:extLst>
              </a:tr>
              <a:tr h="581060">
                <a:tc>
                  <a:txBody>
                    <a:bodyPr/>
                    <a:lstStyle/>
                    <a:p>
                      <a:pPr algn="l"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Cr = Class 1 to Class 2 (S1, S3, S4, S8, S9)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Cr = Class 1 (G2, G3, G4 And G10 )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446659199"/>
                  </a:ext>
                </a:extLst>
              </a:tr>
              <a:tr h="290531">
                <a:tc>
                  <a:txBody>
                    <a:bodyPr/>
                    <a:lstStyle/>
                    <a:p>
                      <a:pPr algn="l"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Ni = Class 1 (S1, S3)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fontAlgn="ctr"/>
                      <a:r>
                        <a:rPr lang="en-NG" sz="1200" b="0" i="0" u="none" strike="noStrike">
                          <a:solidFill>
                            <a:srgbClr val="000000"/>
                          </a:solidFill>
                          <a:effectLst/>
                          <a:latin typeface="Arial Rounded MT Bold" panose="020F07040305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rtl="0" fontAlgn="ctr"/>
                      <a:r>
                        <a:rPr lang="en-US" sz="1200" b="0" i="0" u="none" strike="noStrike" dirty="0">
                          <a:solidFill>
                            <a:srgbClr val="000000"/>
                          </a:solidFill>
                          <a:effectLst/>
                          <a:latin typeface="Arial Rounded MT Bold" panose="020F0704030504030204" pitchFamily="34" charset="0"/>
                        </a:rPr>
                        <a:t>As = Class 1 (G7)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2744980452"/>
                  </a:ext>
                </a:extLst>
              </a:tr>
            </a:tbl>
          </a:graphicData>
        </a:graphic>
      </p:graphicFrame>
    </p:spTree>
    <p:extLst>
      <p:ext uri="{BB962C8B-B14F-4D97-AF65-F5344CB8AC3E}">
        <p14:creationId xmlns:p14="http://schemas.microsoft.com/office/powerpoint/2010/main" val="853780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6BB3F-0AF2-74C7-136A-A3DB71193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9CE80-7C75-8389-1D17-58FD0FE94E20}"/>
              </a:ext>
            </a:extLst>
          </p:cNvPr>
          <p:cNvSpPr>
            <a:spLocks noGrp="1"/>
          </p:cNvSpPr>
          <p:nvPr>
            <p:ph type="ctrTitle"/>
          </p:nvPr>
        </p:nvSpPr>
        <p:spPr>
          <a:xfrm>
            <a:off x="1792475" y="495713"/>
            <a:ext cx="9144000" cy="1047249"/>
          </a:xfrm>
        </p:spPr>
        <p:txBody>
          <a:bodyPr>
            <a:noAutofit/>
          </a:bodyPr>
          <a:lstStyle/>
          <a:p>
            <a:br>
              <a:rPr lang="en-US" sz="3200" b="1" dirty="0">
                <a:latin typeface="Arial Rounded MT Bold" panose="020F0704030504030204" pitchFamily="34" charset="0"/>
                <a:cs typeface="Times New Roman" panose="02020603050405020304" pitchFamily="18" charset="0"/>
              </a:rPr>
            </a:br>
            <a:br>
              <a:rPr lang="en-US" sz="3200" b="1" dirty="0">
                <a:latin typeface="Arial Rounded MT Bold" panose="020F0704030504030204" pitchFamily="34" charset="0"/>
                <a:cs typeface="Times New Roman" panose="02020603050405020304" pitchFamily="18" charset="0"/>
              </a:rPr>
            </a:br>
            <a:r>
              <a:rPr lang="en-US" sz="3200" b="1" dirty="0">
                <a:latin typeface="Arial Rounded MT Bold" panose="020F0704030504030204" pitchFamily="34" charset="0"/>
                <a:cs typeface="Times New Roman" panose="02020603050405020304" pitchFamily="18" charset="0"/>
              </a:rPr>
              <a:t>Results and Discussions</a:t>
            </a:r>
            <a:br>
              <a:rPr lang="en-US"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F38E1396-6511-44B9-B7D1-775BD06B394B}"/>
              </a:ext>
            </a:extLst>
          </p:cNvPr>
          <p:cNvSpPr>
            <a:spLocks noGrp="1"/>
          </p:cNvSpPr>
          <p:nvPr>
            <p:ph type="subTitle" idx="1"/>
          </p:nvPr>
        </p:nvSpPr>
        <p:spPr>
          <a:xfrm>
            <a:off x="1012875" y="1122363"/>
            <a:ext cx="10363198" cy="5545719"/>
          </a:xfrm>
        </p:spPr>
        <p:txBody>
          <a:bodyPr>
            <a:normAutofit/>
          </a:bodyPr>
          <a:lstStyle/>
          <a:p>
            <a:pPr>
              <a:lnSpc>
                <a:spcPct val="200000"/>
              </a:lnSpc>
            </a:pP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Water Quality</a:t>
            </a:r>
            <a:endParaRPr lang="en-US" sz="1800" dirty="0">
              <a:effectLst/>
              <a:latin typeface="Arial Rounded MT Bold" panose="020F0704030504030204" pitchFamily="34" charset="0"/>
              <a:ea typeface="Calibri" panose="020F0502020204030204" pitchFamily="34" charset="0"/>
              <a:cs typeface="Times New Roman" panose="02020603050405020304" pitchFamily="18" charset="0"/>
            </a:endParaRPr>
          </a:p>
          <a:p>
            <a:pPr algn="l">
              <a:lnSpc>
                <a:spcPct val="200000"/>
              </a:lnSpc>
            </a:pPr>
            <a:br>
              <a:rPr lang="en-NG" sz="2400" dirty="0">
                <a:effectLst/>
                <a:latin typeface="Arial Rounded MT Bold" panose="020F0704030504030204" pitchFamily="34" charset="0"/>
                <a:ea typeface="Times New Roman" panose="02020603050405020304" pitchFamily="18" charset="0"/>
              </a:rPr>
            </a:br>
            <a:endParaRPr lang="en-NG" dirty="0">
              <a:effectLst/>
              <a:latin typeface="Arial Rounded MT Bold" panose="020F0704030504030204" pitchFamily="34"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011E8E7E-BEC6-BA7F-9E36-B2DE4923F9E1}"/>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AA2F01AC-2365-0E28-5F42-CB96C0BAFFA3}"/>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08296314-B7A3-9511-9085-848166624148}"/>
              </a:ext>
            </a:extLst>
          </p:cNvPr>
          <p:cNvSpPr>
            <a:spLocks noGrp="1"/>
          </p:cNvSpPr>
          <p:nvPr>
            <p:ph type="sldNum" sz="quarter" idx="12"/>
          </p:nvPr>
        </p:nvSpPr>
        <p:spPr/>
        <p:txBody>
          <a:bodyPr/>
          <a:lstStyle/>
          <a:p>
            <a:fld id="{E30FEA02-71A2-4209-B909-B13DA9CFC23D}" type="slidenum">
              <a:rPr lang="en-NG" smtClean="0"/>
              <a:t>21</a:t>
            </a:fld>
            <a:endParaRPr lang="en-NG"/>
          </a:p>
        </p:txBody>
      </p:sp>
      <p:graphicFrame>
        <p:nvGraphicFramePr>
          <p:cNvPr id="6" name="Chart 5">
            <a:extLst>
              <a:ext uri="{FF2B5EF4-FFF2-40B4-BE49-F238E27FC236}">
                <a16:creationId xmlns:a16="http://schemas.microsoft.com/office/drawing/2014/main" id="{E7E720DB-8D29-D43D-391B-16751EBDB95C}"/>
              </a:ext>
            </a:extLst>
          </p:cNvPr>
          <p:cNvGraphicFramePr/>
          <p:nvPr>
            <p:extLst>
              <p:ext uri="{D42A27DB-BD31-4B8C-83A1-F6EECF244321}">
                <p14:modId xmlns:p14="http://schemas.microsoft.com/office/powerpoint/2010/main" val="3982205368"/>
              </p:ext>
            </p:extLst>
          </p:nvPr>
        </p:nvGraphicFramePr>
        <p:xfrm>
          <a:off x="976547" y="1751526"/>
          <a:ext cx="5280073" cy="435385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A349F082-DD6B-5282-FCBB-3827FEB40AD7}"/>
              </a:ext>
            </a:extLst>
          </p:cNvPr>
          <p:cNvGraphicFramePr/>
          <p:nvPr>
            <p:extLst>
              <p:ext uri="{D42A27DB-BD31-4B8C-83A1-F6EECF244321}">
                <p14:modId xmlns:p14="http://schemas.microsoft.com/office/powerpoint/2010/main" val="2582259368"/>
              </p:ext>
            </p:extLst>
          </p:nvPr>
        </p:nvGraphicFramePr>
        <p:xfrm>
          <a:off x="6292947" y="1770923"/>
          <a:ext cx="5280073" cy="4330398"/>
        </p:xfrm>
        <a:graphic>
          <a:graphicData uri="http://schemas.openxmlformats.org/drawingml/2006/chart">
            <c:chart xmlns:c="http://schemas.openxmlformats.org/drawingml/2006/chart" xmlns:r="http://schemas.openxmlformats.org/officeDocument/2006/relationships" r:id="rId3"/>
          </a:graphicData>
        </a:graphic>
      </p:graphicFrame>
      <p:sp>
        <p:nvSpPr>
          <p:cNvPr id="9" name="Title 1">
            <a:extLst>
              <a:ext uri="{FF2B5EF4-FFF2-40B4-BE49-F238E27FC236}">
                <a16:creationId xmlns:a16="http://schemas.microsoft.com/office/drawing/2014/main" id="{8310E406-65D1-63AC-F3C7-A154C79307EA}"/>
              </a:ext>
            </a:extLst>
          </p:cNvPr>
          <p:cNvSpPr txBox="1">
            <a:spLocks/>
          </p:cNvSpPr>
          <p:nvPr/>
        </p:nvSpPr>
        <p:spPr>
          <a:xfrm>
            <a:off x="1186377" y="6149280"/>
            <a:ext cx="8914225" cy="80015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br>
              <a:rPr lang="en-US" sz="3200" b="1" dirty="0">
                <a:latin typeface="Arial Rounded MT Bold" panose="020F0704030504030204" pitchFamily="34" charset="0"/>
                <a:cs typeface="Times New Roman" panose="02020603050405020304" pitchFamily="18" charset="0"/>
              </a:rPr>
            </a:br>
            <a:br>
              <a:rPr lang="en-US" sz="3200" b="1" dirty="0">
                <a:latin typeface="Arial Rounded MT Bold" panose="020F0704030504030204" pitchFamily="34" charset="0"/>
                <a:cs typeface="Times New Roman" panose="02020603050405020304" pitchFamily="18" charset="0"/>
              </a:rPr>
            </a:br>
            <a:r>
              <a:rPr lang="en-GB" sz="1800" dirty="0">
                <a:solidFill>
                  <a:srgbClr val="252525"/>
                </a:solidFill>
                <a:effectLst/>
                <a:latin typeface="Times New Roman" panose="02020603050405020304" pitchFamily="18" charset="0"/>
                <a:ea typeface="Times New Roman" panose="02020603050405020304" pitchFamily="18" charset="0"/>
              </a:rPr>
              <a:t>Figure 9:</a:t>
            </a:r>
            <a:r>
              <a:rPr lang="en-GB" sz="1800" b="1" dirty="0">
                <a:effectLst/>
                <a:latin typeface="Times New Roman" panose="02020603050405020304" pitchFamily="18" charset="0"/>
                <a:ea typeface="Times New Roman" panose="02020603050405020304" pitchFamily="18" charset="0"/>
              </a:rPr>
              <a:t> </a:t>
            </a:r>
            <a:r>
              <a:rPr lang="en-GB" sz="1800" dirty="0">
                <a:solidFill>
                  <a:srgbClr val="252525"/>
                </a:solidFill>
                <a:effectLst/>
                <a:latin typeface="Times New Roman" panose="02020603050405020304" pitchFamily="18" charset="0"/>
                <a:ea typeface="Times New Roman" panose="02020603050405020304" pitchFamily="18" charset="0"/>
              </a:rPr>
              <a:t>Water Quality Index (WQI) (A) Surface Water and (B) Groundwater.</a:t>
            </a:r>
            <a:endParaRPr lang="en-NG" sz="1800" dirty="0">
              <a:effectLst/>
              <a:latin typeface="Times New Roman" panose="02020603050405020304" pitchFamily="18" charset="0"/>
              <a:ea typeface="Times New Roman" panose="02020603050405020304" pitchFamily="18" charset="0"/>
            </a:endParaRPr>
          </a:p>
          <a:p>
            <a:endParaRPr lang="en-NG" sz="3200" dirty="0">
              <a:latin typeface="Arial Rounded MT Bold" panose="020F0704030504030204" pitchFamily="34" charset="0"/>
            </a:endParaRPr>
          </a:p>
        </p:txBody>
      </p:sp>
    </p:spTree>
    <p:extLst>
      <p:ext uri="{BB962C8B-B14F-4D97-AF65-F5344CB8AC3E}">
        <p14:creationId xmlns:p14="http://schemas.microsoft.com/office/powerpoint/2010/main" val="66686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6BB3F-0AF2-74C7-136A-A3DB71193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9CE80-7C75-8389-1D17-58FD0FE94E20}"/>
              </a:ext>
            </a:extLst>
          </p:cNvPr>
          <p:cNvSpPr>
            <a:spLocks noGrp="1"/>
          </p:cNvSpPr>
          <p:nvPr>
            <p:ph type="ctrTitle"/>
          </p:nvPr>
        </p:nvSpPr>
        <p:spPr>
          <a:xfrm>
            <a:off x="1792476" y="-7201"/>
            <a:ext cx="9144000" cy="1255813"/>
          </a:xfrm>
        </p:spPr>
        <p:txBody>
          <a:bodyPr>
            <a:noAutofit/>
          </a:bodyPr>
          <a:lstStyle/>
          <a:p>
            <a:br>
              <a:rPr lang="en-US" sz="3200" b="1" dirty="0">
                <a:latin typeface="Arial Rounded MT Bold" panose="020F0704030504030204" pitchFamily="34" charset="0"/>
                <a:cs typeface="Times New Roman" panose="02020603050405020304" pitchFamily="18" charset="0"/>
              </a:rPr>
            </a:br>
            <a:br>
              <a:rPr lang="en-US" sz="3200" b="1" dirty="0">
                <a:latin typeface="Arial Rounded MT Bold" panose="020F0704030504030204" pitchFamily="34" charset="0"/>
                <a:cs typeface="Times New Roman" panose="02020603050405020304" pitchFamily="18" charset="0"/>
              </a:rPr>
            </a:br>
            <a:r>
              <a:rPr lang="en-US" sz="3200" b="1" dirty="0">
                <a:latin typeface="Arial Rounded MT Bold" panose="020F0704030504030204" pitchFamily="34" charset="0"/>
                <a:cs typeface="Times New Roman" panose="02020603050405020304" pitchFamily="18" charset="0"/>
              </a:rPr>
              <a:t>Results and Discussions</a:t>
            </a:r>
            <a:br>
              <a:rPr lang="en-US"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F38E1396-6511-44B9-B7D1-775BD06B394B}"/>
              </a:ext>
            </a:extLst>
          </p:cNvPr>
          <p:cNvSpPr>
            <a:spLocks noGrp="1"/>
          </p:cNvSpPr>
          <p:nvPr>
            <p:ph type="subTitle" idx="1"/>
          </p:nvPr>
        </p:nvSpPr>
        <p:spPr>
          <a:xfrm>
            <a:off x="1012875" y="1248611"/>
            <a:ext cx="10363198" cy="5419471"/>
          </a:xfrm>
        </p:spPr>
        <p:txBody>
          <a:bodyPr>
            <a:normAutofit/>
          </a:bodyPr>
          <a:lstStyle/>
          <a:p>
            <a:pPr>
              <a:lnSpc>
                <a:spcPct val="100000"/>
              </a:lnSpc>
              <a:spcBef>
                <a:spcPts val="0"/>
              </a:spcBef>
            </a:pP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Water Quality</a:t>
            </a:r>
            <a:r>
              <a:rPr lang="en-US" sz="1800" dirty="0">
                <a:effectLst/>
                <a:latin typeface="Arial Rounded MT Bold" panose="020F0704030504030204" pitchFamily="34" charset="0"/>
                <a:ea typeface="Calibri" panose="020F0502020204030204" pitchFamily="34" charset="0"/>
                <a:cs typeface="Times New Roman" panose="02020603050405020304" pitchFamily="18" charset="0"/>
              </a:rPr>
              <a:t> con</a:t>
            </a:r>
            <a:r>
              <a:rPr lang="en-US" sz="1800" dirty="0">
                <a:latin typeface="Arial Rounded MT Bold" panose="020F0704030504030204" pitchFamily="34" charset="0"/>
                <a:ea typeface="Calibri" panose="020F0502020204030204" pitchFamily="34" charset="0"/>
                <a:cs typeface="Times New Roman" panose="02020603050405020304" pitchFamily="18" charset="0"/>
              </a:rPr>
              <a:t>t’d</a:t>
            </a:r>
          </a:p>
          <a:p>
            <a:pPr>
              <a:lnSpc>
                <a:spcPct val="100000"/>
              </a:lnSpc>
              <a:spcBef>
                <a:spcPts val="0"/>
              </a:spcBef>
            </a:pPr>
            <a:br>
              <a:rPr lang="en-NG" sz="1600" dirty="0">
                <a:effectLst/>
                <a:latin typeface="Arial Rounded MT Bold" panose="020F0704030504030204" pitchFamily="34" charset="0"/>
                <a:ea typeface="Times New Roman" panose="02020603050405020304" pitchFamily="18" charset="0"/>
              </a:rPr>
            </a:br>
            <a:r>
              <a:rPr lang="en-GB" sz="1600" dirty="0">
                <a:effectLst/>
                <a:latin typeface="Arial Rounded MT Bold" panose="020F0704030504030204" pitchFamily="34" charset="0"/>
                <a:ea typeface="Times New Roman" panose="02020603050405020304" pitchFamily="18" charset="0"/>
                <a:cs typeface="Times New Roman" panose="02020603050405020304" pitchFamily="18" charset="0"/>
              </a:rPr>
              <a:t>Table </a:t>
            </a:r>
            <a:r>
              <a:rPr lang="en-GB" sz="1600" dirty="0">
                <a:latin typeface="Arial Rounded MT Bold" panose="020F0704030504030204" pitchFamily="34" charset="0"/>
                <a:ea typeface="Times New Roman" panose="02020603050405020304" pitchFamily="18" charset="0"/>
                <a:cs typeface="Times New Roman" panose="02020603050405020304" pitchFamily="18" charset="0"/>
              </a:rPr>
              <a:t>7</a:t>
            </a:r>
            <a:r>
              <a:rPr lang="en-GB" sz="1600" dirty="0">
                <a:effectLst/>
                <a:latin typeface="Arial Rounded MT Bold" panose="020F0704030504030204" pitchFamily="34" charset="0"/>
                <a:ea typeface="Times New Roman" panose="02020603050405020304" pitchFamily="18" charset="0"/>
                <a:cs typeface="Times New Roman" panose="02020603050405020304" pitchFamily="18" charset="0"/>
              </a:rPr>
              <a:t>: Water Quality Classification based on WQI Values (</a:t>
            </a:r>
            <a:r>
              <a:rPr lang="en-GB" sz="1600" dirty="0" err="1">
                <a:effectLst/>
                <a:latin typeface="Arial Rounded MT Bold" panose="020F0704030504030204" pitchFamily="34" charset="0"/>
                <a:ea typeface="Calibri" panose="020F0502020204030204" pitchFamily="34" charset="0"/>
                <a:cs typeface="Times New Roman" panose="02020603050405020304" pitchFamily="18" charset="0"/>
              </a:rPr>
              <a:t>Calmuc</a:t>
            </a:r>
            <a:r>
              <a:rPr lang="en-GB" sz="16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GB" sz="1600" i="1" dirty="0">
                <a:effectLst/>
                <a:latin typeface="Arial Rounded MT Bold" panose="020F0704030504030204" pitchFamily="34" charset="0"/>
                <a:ea typeface="Calibri" panose="020F0502020204030204" pitchFamily="34" charset="0"/>
                <a:cs typeface="Times New Roman" panose="02020603050405020304" pitchFamily="18" charset="0"/>
              </a:rPr>
              <a:t>et. al.,</a:t>
            </a:r>
            <a:r>
              <a:rPr lang="en-GB" sz="1600" dirty="0">
                <a:effectLst/>
                <a:latin typeface="Arial Rounded MT Bold" panose="020F0704030504030204" pitchFamily="34" charset="0"/>
                <a:ea typeface="Calibri" panose="020F0502020204030204" pitchFamily="34" charset="0"/>
                <a:cs typeface="Times New Roman" panose="02020603050405020304" pitchFamily="18" charset="0"/>
              </a:rPr>
              <a:t> 2018)</a:t>
            </a:r>
            <a:endParaRPr lang="en-NG" sz="1600" dirty="0">
              <a:effectLst/>
              <a:latin typeface="Arial Rounded MT Bold" panose="020F0704030504030204" pitchFamily="34" charset="0"/>
              <a:ea typeface="Calibri" panose="020F0502020204030204" pitchFamily="34" charset="0"/>
              <a:cs typeface="Times New Roman" panose="02020603050405020304" pitchFamily="18" charset="0"/>
            </a:endParaRPr>
          </a:p>
          <a:p>
            <a:pPr>
              <a:lnSpc>
                <a:spcPct val="200000"/>
              </a:lnSpc>
            </a:pPr>
            <a:endParaRPr lang="en-NG" dirty="0">
              <a:effectLst/>
              <a:latin typeface="Arial Rounded MT Bold" panose="020F0704030504030204" pitchFamily="34"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011E8E7E-BEC6-BA7F-9E36-B2DE4923F9E1}"/>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AA2F01AC-2365-0E28-5F42-CB96C0BAFFA3}"/>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08296314-B7A3-9511-9085-848166624148}"/>
              </a:ext>
            </a:extLst>
          </p:cNvPr>
          <p:cNvSpPr>
            <a:spLocks noGrp="1"/>
          </p:cNvSpPr>
          <p:nvPr>
            <p:ph type="sldNum" sz="quarter" idx="12"/>
          </p:nvPr>
        </p:nvSpPr>
        <p:spPr/>
        <p:txBody>
          <a:bodyPr/>
          <a:lstStyle/>
          <a:p>
            <a:fld id="{E30FEA02-71A2-4209-B909-B13DA9CFC23D}" type="slidenum">
              <a:rPr lang="en-NG" smtClean="0"/>
              <a:t>22</a:t>
            </a:fld>
            <a:endParaRPr lang="en-NG"/>
          </a:p>
        </p:txBody>
      </p:sp>
      <p:graphicFrame>
        <p:nvGraphicFramePr>
          <p:cNvPr id="6" name="Table 5">
            <a:extLst>
              <a:ext uri="{FF2B5EF4-FFF2-40B4-BE49-F238E27FC236}">
                <a16:creationId xmlns:a16="http://schemas.microsoft.com/office/drawing/2014/main" id="{225136CB-B36B-C7DD-432A-29ED8A844955}"/>
              </a:ext>
            </a:extLst>
          </p:cNvPr>
          <p:cNvGraphicFramePr>
            <a:graphicFrameLocks noGrp="1"/>
          </p:cNvGraphicFramePr>
          <p:nvPr>
            <p:extLst>
              <p:ext uri="{D42A27DB-BD31-4B8C-83A1-F6EECF244321}">
                <p14:modId xmlns:p14="http://schemas.microsoft.com/office/powerpoint/2010/main" val="3983029744"/>
              </p:ext>
            </p:extLst>
          </p:nvPr>
        </p:nvGraphicFramePr>
        <p:xfrm>
          <a:off x="1493947" y="2138289"/>
          <a:ext cx="10363197" cy="4005506"/>
        </p:xfrm>
        <a:graphic>
          <a:graphicData uri="http://schemas.openxmlformats.org/drawingml/2006/table">
            <a:tbl>
              <a:tblPr/>
              <a:tblGrid>
                <a:gridCol w="902373">
                  <a:extLst>
                    <a:ext uri="{9D8B030D-6E8A-4147-A177-3AD203B41FA5}">
                      <a16:colId xmlns:a16="http://schemas.microsoft.com/office/drawing/2014/main" val="1300181879"/>
                    </a:ext>
                  </a:extLst>
                </a:gridCol>
                <a:gridCol w="1612972">
                  <a:extLst>
                    <a:ext uri="{9D8B030D-6E8A-4147-A177-3AD203B41FA5}">
                      <a16:colId xmlns:a16="http://schemas.microsoft.com/office/drawing/2014/main" val="4262575350"/>
                    </a:ext>
                  </a:extLst>
                </a:gridCol>
                <a:gridCol w="2771336">
                  <a:extLst>
                    <a:ext uri="{9D8B030D-6E8A-4147-A177-3AD203B41FA5}">
                      <a16:colId xmlns:a16="http://schemas.microsoft.com/office/drawing/2014/main" val="3703662276"/>
                    </a:ext>
                  </a:extLst>
                </a:gridCol>
                <a:gridCol w="1406769">
                  <a:extLst>
                    <a:ext uri="{9D8B030D-6E8A-4147-A177-3AD203B41FA5}">
                      <a16:colId xmlns:a16="http://schemas.microsoft.com/office/drawing/2014/main" val="859958151"/>
                    </a:ext>
                  </a:extLst>
                </a:gridCol>
                <a:gridCol w="2124221">
                  <a:extLst>
                    <a:ext uri="{9D8B030D-6E8A-4147-A177-3AD203B41FA5}">
                      <a16:colId xmlns:a16="http://schemas.microsoft.com/office/drawing/2014/main" val="4167344707"/>
                    </a:ext>
                  </a:extLst>
                </a:gridCol>
                <a:gridCol w="1545526">
                  <a:extLst>
                    <a:ext uri="{9D8B030D-6E8A-4147-A177-3AD203B41FA5}">
                      <a16:colId xmlns:a16="http://schemas.microsoft.com/office/drawing/2014/main" val="387405794"/>
                    </a:ext>
                  </a:extLst>
                </a:gridCol>
              </a:tblGrid>
              <a:tr h="267033">
                <a:tc rowSpan="2">
                  <a:txBody>
                    <a:bodyPr/>
                    <a:lstStyle/>
                    <a:p>
                      <a:pPr algn="l" rtl="0" fontAlgn="ctr"/>
                      <a:r>
                        <a:rPr lang="en-US" sz="1600" b="1" i="0" u="none" strike="noStrike" dirty="0">
                          <a:solidFill>
                            <a:srgbClr val="000000"/>
                          </a:solidFill>
                          <a:effectLst/>
                          <a:latin typeface="Arial Rounded MT Bold" panose="020F0704030504030204" pitchFamily="34" charset="0"/>
                        </a:rPr>
                        <a:t>Range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rtl="0" fontAlgn="ctr"/>
                      <a:r>
                        <a:rPr lang="en-US" sz="1600" b="1" i="0" u="none" strike="noStrike">
                          <a:solidFill>
                            <a:srgbClr val="000000"/>
                          </a:solidFill>
                          <a:effectLst/>
                          <a:latin typeface="Arial Rounded MT Bold" panose="020F0704030504030204" pitchFamily="34" charset="0"/>
                        </a:rPr>
                        <a:t>Type of Water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l" fontAlgn="ctr"/>
                      <a:r>
                        <a:rPr lang="en-US" sz="1400" b="0" i="0" u="none" strike="noStrike" dirty="0">
                          <a:solidFill>
                            <a:srgbClr val="000000"/>
                          </a:solidFill>
                          <a:effectLst/>
                          <a:latin typeface="Calibri" panose="020F0502020204030204" pitchFamily="34" charset="0"/>
                        </a:rPr>
                        <a:t>Surface Water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NG"/>
                    </a:p>
                  </a:txBody>
                  <a:tcPr/>
                </a:tc>
                <a:tc gridSpan="2">
                  <a:txBody>
                    <a:bodyPr/>
                    <a:lstStyle/>
                    <a:p>
                      <a:pPr algn="l" fontAlgn="ctr"/>
                      <a:r>
                        <a:rPr lang="en-US" sz="1400" b="0" i="0" u="none" strike="noStrike" dirty="0">
                          <a:solidFill>
                            <a:srgbClr val="000000"/>
                          </a:solidFill>
                          <a:effectLst/>
                          <a:latin typeface="Calibri" panose="020F0502020204030204" pitchFamily="34" charset="0"/>
                        </a:rPr>
                        <a:t>Groundwater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hMerge="1">
                  <a:txBody>
                    <a:bodyPr/>
                    <a:lstStyle/>
                    <a:p>
                      <a:endParaRPr lang="en-NG"/>
                    </a:p>
                  </a:txBody>
                  <a:tcPr/>
                </a:tc>
                <a:extLst>
                  <a:ext uri="{0D108BD9-81ED-4DB2-BD59-A6C34878D82A}">
                    <a16:rowId xmlns:a16="http://schemas.microsoft.com/office/drawing/2014/main" val="84838926"/>
                  </a:ext>
                </a:extLst>
              </a:tr>
              <a:tr h="267033">
                <a:tc vMerge="1">
                  <a:txBody>
                    <a:bodyPr/>
                    <a:lstStyle/>
                    <a:p>
                      <a:endParaRPr lang="en-NG"/>
                    </a:p>
                  </a:txBody>
                  <a:tcPr/>
                </a:tc>
                <a:tc vMerge="1">
                  <a:txBody>
                    <a:bodyPr/>
                    <a:lstStyle/>
                    <a:p>
                      <a:endParaRPr lang="en-NG"/>
                    </a:p>
                  </a:txBody>
                  <a:tcPr/>
                </a:tc>
                <a:tc>
                  <a:txBody>
                    <a:bodyPr/>
                    <a:lstStyle/>
                    <a:p>
                      <a:pPr algn="l" fontAlgn="ctr"/>
                      <a:r>
                        <a:rPr lang="en-US" sz="1400" b="0" i="0" u="none" strike="noStrike" dirty="0">
                          <a:solidFill>
                            <a:srgbClr val="000000"/>
                          </a:solidFill>
                          <a:effectLst/>
                          <a:latin typeface="Calibri" panose="020F0502020204030204" pitchFamily="34" charset="0"/>
                        </a:rPr>
                        <a:t>Wet season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400" b="0" i="0" u="none" strike="noStrike">
                          <a:solidFill>
                            <a:srgbClr val="000000"/>
                          </a:solidFill>
                          <a:effectLst/>
                          <a:latin typeface="Calibri" panose="020F0502020204030204" pitchFamily="34" charset="0"/>
                        </a:rPr>
                        <a:t>Dry season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400" b="0" i="0" u="none" strike="noStrike" dirty="0">
                          <a:solidFill>
                            <a:srgbClr val="000000"/>
                          </a:solidFill>
                          <a:effectLst/>
                          <a:latin typeface="Calibri" panose="020F0502020204030204" pitchFamily="34" charset="0"/>
                        </a:rPr>
                        <a:t>Wet season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fontAlgn="ctr"/>
                      <a:r>
                        <a:rPr lang="en-US" sz="1400" b="0" i="0" u="none" strike="noStrike" dirty="0">
                          <a:solidFill>
                            <a:srgbClr val="000000"/>
                          </a:solidFill>
                          <a:effectLst/>
                          <a:latin typeface="Calibri" panose="020F0502020204030204" pitchFamily="34" charset="0"/>
                        </a:rPr>
                        <a:t>Dry season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568916480"/>
                  </a:ext>
                </a:extLst>
              </a:tr>
              <a:tr h="534068">
                <a:tc>
                  <a:txBody>
                    <a:bodyPr/>
                    <a:lstStyle/>
                    <a:p>
                      <a:pPr algn="l" rtl="0" fontAlgn="ctr"/>
                      <a:r>
                        <a:rPr lang="en-NG" sz="1600" b="0" i="0" u="none" strike="noStrike" dirty="0">
                          <a:solidFill>
                            <a:srgbClr val="000000"/>
                          </a:solidFill>
                          <a:effectLst/>
                          <a:latin typeface="Arial Rounded MT Bold" panose="020F0704030504030204" pitchFamily="34" charset="0"/>
                        </a:rPr>
                        <a:t>0 – 25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600" b="0" i="0" u="none" strike="noStrike" dirty="0">
                          <a:solidFill>
                            <a:srgbClr val="000000"/>
                          </a:solidFill>
                          <a:effectLst/>
                          <a:latin typeface="Arial Rounded MT Bold" panose="020F0704030504030204" pitchFamily="34" charset="0"/>
                        </a:rPr>
                        <a:t>Excellent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NG" sz="1400" b="0" i="0" u="none" strike="noStrike" dirty="0">
                          <a:solidFill>
                            <a:srgbClr val="000000"/>
                          </a:solidFill>
                          <a:effectLst/>
                          <a:latin typeface="Calibri" panose="020F050202020403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400" b="0" i="0" u="none" strike="noStrike">
                          <a:solidFill>
                            <a:srgbClr val="252525"/>
                          </a:solidFill>
                          <a:effectLst/>
                          <a:latin typeface="Calibri" panose="020F0502020204030204" pitchFamily="34" charset="0"/>
                        </a:rPr>
                        <a:t>S4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NG" sz="1400" b="0" i="0" u="none" strike="noStrike" dirty="0">
                          <a:solidFill>
                            <a:srgbClr val="000000"/>
                          </a:solidFill>
                          <a:effectLst/>
                          <a:latin typeface="Calibri" panose="020F050202020403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fontAlgn="ctr"/>
                      <a:r>
                        <a:rPr lang="nn-NO" sz="1400" b="0" i="0" u="none" strike="noStrike" dirty="0">
                          <a:solidFill>
                            <a:srgbClr val="252525"/>
                          </a:solidFill>
                          <a:effectLst/>
                          <a:latin typeface="Calibri" panose="020F0502020204030204" pitchFamily="34" charset="0"/>
                        </a:rPr>
                        <a:t>G4, G6, G7, G8, G9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1619536775"/>
                  </a:ext>
                </a:extLst>
              </a:tr>
              <a:tr h="534068">
                <a:tc>
                  <a:txBody>
                    <a:bodyPr/>
                    <a:lstStyle/>
                    <a:p>
                      <a:pPr algn="l" rtl="0" fontAlgn="ctr"/>
                      <a:r>
                        <a:rPr lang="en-NG" sz="1600" b="0" i="0" u="none" strike="noStrike">
                          <a:solidFill>
                            <a:srgbClr val="000000"/>
                          </a:solidFill>
                          <a:effectLst/>
                          <a:latin typeface="Arial Rounded MT Bold" panose="020F0704030504030204" pitchFamily="34" charset="0"/>
                        </a:rPr>
                        <a:t>26 – 50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600" b="0" i="0" u="none" strike="noStrike" dirty="0">
                          <a:solidFill>
                            <a:srgbClr val="000000"/>
                          </a:solidFill>
                          <a:effectLst/>
                          <a:latin typeface="Arial Rounded MT Bold" panose="020F0704030504030204" pitchFamily="34" charset="0"/>
                        </a:rPr>
                        <a:t>Good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NG" sz="1400" b="0" i="0" u="none" strike="noStrike" dirty="0">
                          <a:solidFill>
                            <a:srgbClr val="000000"/>
                          </a:solidFill>
                          <a:effectLst/>
                          <a:latin typeface="Calibri" panose="020F050202020403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400" b="0" i="0" u="none" strike="noStrike">
                          <a:solidFill>
                            <a:srgbClr val="252525"/>
                          </a:solidFill>
                          <a:effectLst/>
                          <a:latin typeface="Calibri" panose="020F0502020204030204" pitchFamily="34" charset="0"/>
                        </a:rPr>
                        <a:t>S2, S5, S6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400" b="0" i="0" u="none" strike="noStrike" dirty="0">
                          <a:solidFill>
                            <a:srgbClr val="252525"/>
                          </a:solidFill>
                          <a:effectLst/>
                          <a:latin typeface="Calibri" panose="020F0502020204030204" pitchFamily="34" charset="0"/>
                        </a:rPr>
                        <a:t>G1, G2, G3, G4, G6, G7, G9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fontAlgn="ctr"/>
                      <a:r>
                        <a:rPr lang="nn-NO" sz="1400" b="0" i="0" u="none" strike="noStrike" dirty="0">
                          <a:solidFill>
                            <a:srgbClr val="252525"/>
                          </a:solidFill>
                          <a:effectLst/>
                          <a:latin typeface="Calibri" panose="020F0502020204030204" pitchFamily="34" charset="0"/>
                        </a:rPr>
                        <a:t>G1, G2, G3, G5, G10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261352622"/>
                  </a:ext>
                </a:extLst>
              </a:tr>
              <a:tr h="534068">
                <a:tc>
                  <a:txBody>
                    <a:bodyPr/>
                    <a:lstStyle/>
                    <a:p>
                      <a:pPr algn="l" rtl="0" fontAlgn="ctr"/>
                      <a:r>
                        <a:rPr lang="en-NG" sz="1600" b="0" i="0" u="none" strike="noStrike">
                          <a:solidFill>
                            <a:srgbClr val="000000"/>
                          </a:solidFill>
                          <a:effectLst/>
                          <a:latin typeface="Arial Rounded MT Bold" panose="020F0704030504030204" pitchFamily="34" charset="0"/>
                        </a:rPr>
                        <a:t>51 – 75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600" b="0" i="0" u="none" strike="noStrike" dirty="0">
                          <a:solidFill>
                            <a:srgbClr val="000000"/>
                          </a:solidFill>
                          <a:effectLst/>
                          <a:latin typeface="Arial Rounded MT Bold" panose="020F0704030504030204" pitchFamily="34" charset="0"/>
                        </a:rPr>
                        <a:t>Poor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252525"/>
                          </a:solidFill>
                          <a:effectLst/>
                          <a:latin typeface="Calibri" panose="020F0502020204030204" pitchFamily="34" charset="0"/>
                        </a:rPr>
                        <a:t>S8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400" b="0" i="0" u="none" strike="noStrike" dirty="0">
                          <a:solidFill>
                            <a:srgbClr val="252525"/>
                          </a:solidFill>
                          <a:effectLst/>
                          <a:latin typeface="Calibri" panose="020F0502020204030204" pitchFamily="34" charset="0"/>
                        </a:rPr>
                        <a:t>S8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400" b="0" i="0" u="none" strike="noStrike" dirty="0">
                          <a:solidFill>
                            <a:srgbClr val="252525"/>
                          </a:solidFill>
                          <a:effectLst/>
                          <a:latin typeface="Calibri" panose="020F0502020204030204" pitchFamily="34" charset="0"/>
                        </a:rPr>
                        <a:t>G5, G10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fontAlgn="ctr"/>
                      <a:r>
                        <a:rPr lang="en-NG" sz="1400" b="0" i="0" u="none" strike="noStrike" dirty="0">
                          <a:solidFill>
                            <a:srgbClr val="000000"/>
                          </a:solidFill>
                          <a:effectLst/>
                          <a:latin typeface="Calibri" panose="020F050202020403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1546630924"/>
                  </a:ext>
                </a:extLst>
              </a:tr>
              <a:tr h="534068">
                <a:tc>
                  <a:txBody>
                    <a:bodyPr/>
                    <a:lstStyle/>
                    <a:p>
                      <a:pPr algn="l" rtl="0" fontAlgn="ctr"/>
                      <a:r>
                        <a:rPr lang="en-NG" sz="1600" b="0" i="0" u="none" strike="noStrike">
                          <a:solidFill>
                            <a:srgbClr val="000000"/>
                          </a:solidFill>
                          <a:effectLst/>
                          <a:latin typeface="Arial Rounded MT Bold" panose="020F0704030504030204" pitchFamily="34" charset="0"/>
                        </a:rPr>
                        <a:t>76 – 100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600" b="0" i="0" u="none" strike="noStrike">
                          <a:solidFill>
                            <a:srgbClr val="000000"/>
                          </a:solidFill>
                          <a:effectLst/>
                          <a:latin typeface="Arial Rounded MT Bold" panose="020F0704030504030204" pitchFamily="34" charset="0"/>
                        </a:rPr>
                        <a:t>Very poor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dirty="0">
                          <a:solidFill>
                            <a:srgbClr val="252525"/>
                          </a:solidFill>
                          <a:effectLst/>
                          <a:latin typeface="Calibri" panose="020F0502020204030204" pitchFamily="34" charset="0"/>
                        </a:rPr>
                        <a:t>S9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NG" sz="1400" b="0" i="0" u="none" strike="noStrike" dirty="0">
                          <a:solidFill>
                            <a:srgbClr val="000000"/>
                          </a:solidFill>
                          <a:effectLst/>
                          <a:latin typeface="Calibri" panose="020F050202020403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NG" sz="1400" b="0" i="0" u="none" strike="noStrike" dirty="0">
                          <a:solidFill>
                            <a:srgbClr val="000000"/>
                          </a:solidFill>
                          <a:effectLst/>
                          <a:latin typeface="Calibri" panose="020F050202020403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fontAlgn="ctr"/>
                      <a:r>
                        <a:rPr lang="en-NG" sz="1400" b="0" i="0" u="none" strike="noStrike" dirty="0">
                          <a:solidFill>
                            <a:srgbClr val="000000"/>
                          </a:solidFill>
                          <a:effectLst/>
                          <a:latin typeface="Calibri" panose="020F050202020403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2158202012"/>
                  </a:ext>
                </a:extLst>
              </a:tr>
              <a:tr h="1335168">
                <a:tc>
                  <a:txBody>
                    <a:bodyPr/>
                    <a:lstStyle/>
                    <a:p>
                      <a:pPr algn="l" rtl="0" fontAlgn="ctr"/>
                      <a:r>
                        <a:rPr lang="en-NG" sz="1600" b="0" i="0" u="none" strike="noStrike">
                          <a:solidFill>
                            <a:srgbClr val="000000"/>
                          </a:solidFill>
                          <a:effectLst/>
                          <a:latin typeface="Arial Rounded MT Bold" panose="020F0704030504030204" pitchFamily="34" charset="0"/>
                        </a:rPr>
                        <a:t> &gt;100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600" b="0" i="0" u="none" strike="noStrike">
                          <a:solidFill>
                            <a:srgbClr val="000000"/>
                          </a:solidFill>
                          <a:effectLst/>
                          <a:latin typeface="Arial Rounded MT Bold" panose="020F0704030504030204" pitchFamily="34" charset="0"/>
                        </a:rPr>
                        <a:t>Unsuitable for drinking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dirty="0">
                          <a:solidFill>
                            <a:srgbClr val="252525"/>
                          </a:solidFill>
                          <a:effectLst/>
                          <a:latin typeface="Calibri" panose="020F0502020204030204" pitchFamily="34" charset="0"/>
                        </a:rPr>
                        <a:t>S1, S2, S3, S4, S5, S6, S7, S10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400" b="0" i="0" u="none" strike="noStrike" dirty="0">
                          <a:solidFill>
                            <a:srgbClr val="252525"/>
                          </a:solidFill>
                          <a:effectLst/>
                          <a:latin typeface="Calibri" panose="020F0502020204030204" pitchFamily="34" charset="0"/>
                        </a:rPr>
                        <a:t>S1, S3, S7, S9, S10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ctr"/>
                      <a:r>
                        <a:rPr lang="en-US" sz="1400" b="0" i="0" u="none" strike="noStrike" dirty="0">
                          <a:solidFill>
                            <a:srgbClr val="252525"/>
                          </a:solidFill>
                          <a:effectLst/>
                          <a:latin typeface="Calibri" panose="020F0502020204030204" pitchFamily="34" charset="0"/>
                        </a:rPr>
                        <a:t>G8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tc>
                  <a:txBody>
                    <a:bodyPr/>
                    <a:lstStyle/>
                    <a:p>
                      <a:pPr algn="l" fontAlgn="ctr"/>
                      <a:r>
                        <a:rPr lang="en-NG" sz="1400" b="0" i="0" u="none" strike="noStrike" dirty="0">
                          <a:solidFill>
                            <a:srgbClr val="000000"/>
                          </a:solidFill>
                          <a:effectLst/>
                          <a:latin typeface="Calibri" panose="020F050202020403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298563979"/>
                  </a:ext>
                </a:extLst>
              </a:tr>
            </a:tbl>
          </a:graphicData>
        </a:graphic>
      </p:graphicFrame>
    </p:spTree>
    <p:extLst>
      <p:ext uri="{BB962C8B-B14F-4D97-AF65-F5344CB8AC3E}">
        <p14:creationId xmlns:p14="http://schemas.microsoft.com/office/powerpoint/2010/main" val="3700123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30E4E-8EDA-0B18-78C8-F90DF8CFB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F62EA-289E-4D98-021C-DC1319EDB079}"/>
              </a:ext>
            </a:extLst>
          </p:cNvPr>
          <p:cNvSpPr>
            <a:spLocks noGrp="1"/>
          </p:cNvSpPr>
          <p:nvPr>
            <p:ph type="ctrTitle"/>
          </p:nvPr>
        </p:nvSpPr>
        <p:spPr>
          <a:xfrm>
            <a:off x="1836263" y="-158537"/>
            <a:ext cx="9144000" cy="1146512"/>
          </a:xfrm>
        </p:spPr>
        <p:txBody>
          <a:bodyPr>
            <a:noAutofit/>
          </a:bodyPr>
          <a:lstStyle/>
          <a:p>
            <a:r>
              <a:rPr lang="en-US" sz="3200" b="1" dirty="0">
                <a:latin typeface="Arial Rounded MT Bold" panose="020F0704030504030204" pitchFamily="34" charset="0"/>
                <a:cs typeface="Times New Roman" panose="02020603050405020304" pitchFamily="18" charset="0"/>
              </a:rPr>
              <a:t>Results and Discussions</a:t>
            </a: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7B3B5605-85C8-C3A1-04F7-8F52ECC66F25}"/>
              </a:ext>
            </a:extLst>
          </p:cNvPr>
          <p:cNvSpPr>
            <a:spLocks noGrp="1"/>
          </p:cNvSpPr>
          <p:nvPr>
            <p:ph type="subTitle" idx="1"/>
          </p:nvPr>
        </p:nvSpPr>
        <p:spPr>
          <a:xfrm>
            <a:off x="1012875" y="1231137"/>
            <a:ext cx="10363198" cy="5436945"/>
          </a:xfrm>
        </p:spPr>
        <p:txBody>
          <a:bodyPr>
            <a:normAutofit/>
          </a:bodyPr>
          <a:lstStyle/>
          <a:p>
            <a:pPr algn="ctr">
              <a:lnSpc>
                <a:spcPct val="100000"/>
              </a:lnSpc>
            </a:pPr>
            <a:r>
              <a:rPr lang="en-US" sz="1800" b="1" dirty="0">
                <a:latin typeface="Arial Rounded MT Bold" panose="020F0704030504030204" pitchFamily="34" charset="0"/>
                <a:cs typeface="Times New Roman" panose="02020603050405020304" pitchFamily="18" charset="0"/>
              </a:rPr>
              <a:t>Soil Investigation</a:t>
            </a:r>
            <a:br>
              <a:rPr lang="en-US" sz="1800" b="1" dirty="0">
                <a:latin typeface="Arial Rounded MT Bold" panose="020F0704030504030204" pitchFamily="34" charset="0"/>
                <a:cs typeface="Times New Roman" panose="02020603050405020304" pitchFamily="18" charset="0"/>
              </a:rPr>
            </a:br>
            <a:r>
              <a:rPr lang="en-GB" sz="1800" dirty="0">
                <a:effectLst/>
                <a:latin typeface="Times New Roman" panose="02020603050405020304" pitchFamily="18" charset="0"/>
                <a:ea typeface="Times New Roman" panose="02020603050405020304" pitchFamily="18" charset="0"/>
              </a:rPr>
              <a:t>Table </a:t>
            </a:r>
            <a:r>
              <a:rPr lang="en-GB" sz="1800" dirty="0">
                <a:latin typeface="Times New Roman" panose="02020603050405020304" pitchFamily="18" charset="0"/>
                <a:ea typeface="Times New Roman" panose="02020603050405020304" pitchFamily="18" charset="0"/>
              </a:rPr>
              <a:t>8</a:t>
            </a:r>
            <a:r>
              <a:rPr lang="en-GB" sz="1800" dirty="0">
                <a:effectLst/>
                <a:latin typeface="Times New Roman" panose="02020603050405020304" pitchFamily="18" charset="0"/>
                <a:ea typeface="Times New Roman" panose="02020603050405020304" pitchFamily="18" charset="0"/>
              </a:rPr>
              <a:t>:</a:t>
            </a:r>
            <a:r>
              <a:rPr lang="en-GB" sz="1800" b="1" dirty="0">
                <a:effectLst/>
                <a:latin typeface="Times New Roman" panose="02020603050405020304" pitchFamily="18" charset="0"/>
                <a:ea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Result of the Grain Size Analysis of the Soil Samples</a:t>
            </a:r>
          </a:p>
          <a:p>
            <a:pPr algn="ctr">
              <a:lnSpc>
                <a:spcPct val="100000"/>
              </a:lnSpc>
            </a:pPr>
            <a:endParaRPr lang="en-NG" sz="1800" dirty="0">
              <a:effectLst/>
              <a:latin typeface="Times New Roman" panose="02020603050405020304" pitchFamily="18"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C43A7517-FBBD-53FA-8017-69C056177BF2}"/>
              </a:ext>
            </a:extLst>
          </p:cNvPr>
          <p:cNvCxnSpPr>
            <a:cxnSpLocks/>
          </p:cNvCxnSpPr>
          <p:nvPr/>
        </p:nvCxnSpPr>
        <p:spPr>
          <a:xfrm>
            <a:off x="98474" y="1231138"/>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9054F22-C24C-5971-A4AD-07F65948DB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2FFF5861-2349-638B-65BC-0F3A61FB9771}"/>
              </a:ext>
            </a:extLst>
          </p:cNvPr>
          <p:cNvSpPr>
            <a:spLocks noGrp="1"/>
          </p:cNvSpPr>
          <p:nvPr>
            <p:ph type="sldNum" sz="quarter" idx="12"/>
          </p:nvPr>
        </p:nvSpPr>
        <p:spPr>
          <a:xfrm>
            <a:off x="8610600" y="6525164"/>
            <a:ext cx="2743200" cy="365125"/>
          </a:xfrm>
        </p:spPr>
        <p:txBody>
          <a:bodyPr/>
          <a:lstStyle/>
          <a:p>
            <a:fld id="{E30FEA02-71A2-4209-B909-B13DA9CFC23D}" type="slidenum">
              <a:rPr lang="en-NG" smtClean="0"/>
              <a:t>23</a:t>
            </a:fld>
            <a:endParaRPr lang="en-NG"/>
          </a:p>
        </p:txBody>
      </p:sp>
      <p:graphicFrame>
        <p:nvGraphicFramePr>
          <p:cNvPr id="8" name="Table 7">
            <a:extLst>
              <a:ext uri="{FF2B5EF4-FFF2-40B4-BE49-F238E27FC236}">
                <a16:creationId xmlns:a16="http://schemas.microsoft.com/office/drawing/2014/main" id="{BA2C1333-85CE-8E81-098F-212D705079B6}"/>
              </a:ext>
            </a:extLst>
          </p:cNvPr>
          <p:cNvGraphicFramePr>
            <a:graphicFrameLocks noGrp="1"/>
          </p:cNvGraphicFramePr>
          <p:nvPr>
            <p:extLst>
              <p:ext uri="{D42A27DB-BD31-4B8C-83A1-F6EECF244321}">
                <p14:modId xmlns:p14="http://schemas.microsoft.com/office/powerpoint/2010/main" val="3345842559"/>
              </p:ext>
            </p:extLst>
          </p:nvPr>
        </p:nvGraphicFramePr>
        <p:xfrm>
          <a:off x="1326524" y="1825623"/>
          <a:ext cx="9749312" cy="4736422"/>
        </p:xfrm>
        <a:graphic>
          <a:graphicData uri="http://schemas.openxmlformats.org/drawingml/2006/table">
            <a:tbl>
              <a:tblPr firstRow="1" firstCol="1" bandRow="1"/>
              <a:tblGrid>
                <a:gridCol w="609332">
                  <a:extLst>
                    <a:ext uri="{9D8B030D-6E8A-4147-A177-3AD203B41FA5}">
                      <a16:colId xmlns:a16="http://schemas.microsoft.com/office/drawing/2014/main" val="2994869497"/>
                    </a:ext>
                  </a:extLst>
                </a:gridCol>
                <a:gridCol w="609332">
                  <a:extLst>
                    <a:ext uri="{9D8B030D-6E8A-4147-A177-3AD203B41FA5}">
                      <a16:colId xmlns:a16="http://schemas.microsoft.com/office/drawing/2014/main" val="2394651621"/>
                    </a:ext>
                  </a:extLst>
                </a:gridCol>
                <a:gridCol w="609332">
                  <a:extLst>
                    <a:ext uri="{9D8B030D-6E8A-4147-A177-3AD203B41FA5}">
                      <a16:colId xmlns:a16="http://schemas.microsoft.com/office/drawing/2014/main" val="4108996450"/>
                    </a:ext>
                  </a:extLst>
                </a:gridCol>
                <a:gridCol w="609332">
                  <a:extLst>
                    <a:ext uri="{9D8B030D-6E8A-4147-A177-3AD203B41FA5}">
                      <a16:colId xmlns:a16="http://schemas.microsoft.com/office/drawing/2014/main" val="3030660102"/>
                    </a:ext>
                  </a:extLst>
                </a:gridCol>
                <a:gridCol w="609332">
                  <a:extLst>
                    <a:ext uri="{9D8B030D-6E8A-4147-A177-3AD203B41FA5}">
                      <a16:colId xmlns:a16="http://schemas.microsoft.com/office/drawing/2014/main" val="3262298722"/>
                    </a:ext>
                  </a:extLst>
                </a:gridCol>
                <a:gridCol w="609332">
                  <a:extLst>
                    <a:ext uri="{9D8B030D-6E8A-4147-A177-3AD203B41FA5}">
                      <a16:colId xmlns:a16="http://schemas.microsoft.com/office/drawing/2014/main" val="3558925703"/>
                    </a:ext>
                  </a:extLst>
                </a:gridCol>
                <a:gridCol w="609332">
                  <a:extLst>
                    <a:ext uri="{9D8B030D-6E8A-4147-A177-3AD203B41FA5}">
                      <a16:colId xmlns:a16="http://schemas.microsoft.com/office/drawing/2014/main" val="3808409952"/>
                    </a:ext>
                  </a:extLst>
                </a:gridCol>
                <a:gridCol w="609332">
                  <a:extLst>
                    <a:ext uri="{9D8B030D-6E8A-4147-A177-3AD203B41FA5}">
                      <a16:colId xmlns:a16="http://schemas.microsoft.com/office/drawing/2014/main" val="786319177"/>
                    </a:ext>
                  </a:extLst>
                </a:gridCol>
                <a:gridCol w="609332">
                  <a:extLst>
                    <a:ext uri="{9D8B030D-6E8A-4147-A177-3AD203B41FA5}">
                      <a16:colId xmlns:a16="http://schemas.microsoft.com/office/drawing/2014/main" val="3762398217"/>
                    </a:ext>
                  </a:extLst>
                </a:gridCol>
                <a:gridCol w="609332">
                  <a:extLst>
                    <a:ext uri="{9D8B030D-6E8A-4147-A177-3AD203B41FA5}">
                      <a16:colId xmlns:a16="http://schemas.microsoft.com/office/drawing/2014/main" val="301723498"/>
                    </a:ext>
                  </a:extLst>
                </a:gridCol>
                <a:gridCol w="609332">
                  <a:extLst>
                    <a:ext uri="{9D8B030D-6E8A-4147-A177-3AD203B41FA5}">
                      <a16:colId xmlns:a16="http://schemas.microsoft.com/office/drawing/2014/main" val="669068951"/>
                    </a:ext>
                  </a:extLst>
                </a:gridCol>
                <a:gridCol w="609332">
                  <a:extLst>
                    <a:ext uri="{9D8B030D-6E8A-4147-A177-3AD203B41FA5}">
                      <a16:colId xmlns:a16="http://schemas.microsoft.com/office/drawing/2014/main" val="3750204764"/>
                    </a:ext>
                  </a:extLst>
                </a:gridCol>
                <a:gridCol w="609332">
                  <a:extLst>
                    <a:ext uri="{9D8B030D-6E8A-4147-A177-3AD203B41FA5}">
                      <a16:colId xmlns:a16="http://schemas.microsoft.com/office/drawing/2014/main" val="3096678912"/>
                    </a:ext>
                  </a:extLst>
                </a:gridCol>
                <a:gridCol w="609332">
                  <a:extLst>
                    <a:ext uri="{9D8B030D-6E8A-4147-A177-3AD203B41FA5}">
                      <a16:colId xmlns:a16="http://schemas.microsoft.com/office/drawing/2014/main" val="3329004612"/>
                    </a:ext>
                  </a:extLst>
                </a:gridCol>
                <a:gridCol w="609332">
                  <a:extLst>
                    <a:ext uri="{9D8B030D-6E8A-4147-A177-3AD203B41FA5}">
                      <a16:colId xmlns:a16="http://schemas.microsoft.com/office/drawing/2014/main" val="3522401064"/>
                    </a:ext>
                  </a:extLst>
                </a:gridCol>
                <a:gridCol w="609332">
                  <a:extLst>
                    <a:ext uri="{9D8B030D-6E8A-4147-A177-3AD203B41FA5}">
                      <a16:colId xmlns:a16="http://schemas.microsoft.com/office/drawing/2014/main" val="628061897"/>
                    </a:ext>
                  </a:extLst>
                </a:gridCol>
              </a:tblGrid>
              <a:tr h="362883">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Location</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Lithology</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 </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12">
                  <a:txBody>
                    <a:bodyPr/>
                    <a:lstStyle/>
                    <a:p>
                      <a:pPr algn="ctr" fontAlgn="ctr"/>
                      <a:r>
                        <a:rPr lang="en-GB" sz="1000" b="1" i="0" u="none" strike="noStrike" dirty="0">
                          <a:solidFill>
                            <a:srgbClr val="000000"/>
                          </a:solidFill>
                          <a:effectLst/>
                          <a:latin typeface="Arial Rounded MT Bold" panose="020F0704030504030204" pitchFamily="34" charset="0"/>
                          <a:ea typeface="Times New Roman" panose="02020603050405020304" pitchFamily="18" charset="0"/>
                        </a:rPr>
                        <a:t>Sieve Diameter</a:t>
                      </a:r>
                      <a:endParaRPr lang="en-NG" sz="1000" b="1"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 Total Weight of Soil Retained</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3608392"/>
                  </a:ext>
                </a:extLst>
              </a:tr>
              <a:tr h="246155">
                <a:tc vMerge="1">
                  <a:txBody>
                    <a:bodyPr/>
                    <a:lstStyle/>
                    <a:p>
                      <a:endParaRPr lang="en-NG"/>
                    </a:p>
                  </a:txBody>
                  <a:tcPr/>
                </a:tc>
                <a:tc vMerge="1">
                  <a:txBody>
                    <a:bodyPr/>
                    <a:lstStyle/>
                    <a:p>
                      <a:endParaRPr lang="en-NG"/>
                    </a:p>
                  </a:txBody>
                  <a:tcPr/>
                </a:tc>
                <a:tc vMerge="1">
                  <a:txBody>
                    <a:bodyPr/>
                    <a:lstStyle/>
                    <a:p>
                      <a:endParaRPr lang="en-NG"/>
                    </a:p>
                  </a:txBody>
                  <a:tcPr/>
                </a:tc>
                <a:tc>
                  <a:txBody>
                    <a:bodyPr/>
                    <a:lstStyle/>
                    <a:p>
                      <a:pPr algn="ctr" fontAlgn="ctr"/>
                      <a:r>
                        <a:rPr lang="en-GB" sz="1000" b="1" i="0" u="none" strike="noStrike" dirty="0">
                          <a:solidFill>
                            <a:srgbClr val="000000"/>
                          </a:solidFill>
                          <a:effectLst/>
                          <a:latin typeface="Arial Rounded MT Bold" panose="020F0704030504030204" pitchFamily="34" charset="0"/>
                          <a:ea typeface="Times New Roman" panose="02020603050405020304" pitchFamily="18" charset="0"/>
                        </a:rPr>
                        <a:t>4</a:t>
                      </a:r>
                      <a:endParaRPr lang="en-NG" sz="1000" b="1"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dirty="0">
                          <a:solidFill>
                            <a:srgbClr val="000000"/>
                          </a:solidFill>
                          <a:effectLst/>
                          <a:latin typeface="Arial Rounded MT Bold" panose="020F0704030504030204" pitchFamily="34" charset="0"/>
                          <a:ea typeface="Times New Roman" panose="02020603050405020304" pitchFamily="18" charset="0"/>
                        </a:rPr>
                        <a:t>2.36</a:t>
                      </a:r>
                      <a:endParaRPr lang="en-NG" sz="1000" b="1"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1.18</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0.71</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0.6</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0.5</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0.355</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0.25</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0.15</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0.075</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0.063</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Pan</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NG"/>
                    </a:p>
                  </a:txBody>
                  <a:tcPr/>
                </a:tc>
                <a:extLst>
                  <a:ext uri="{0D108BD9-81ED-4DB2-BD59-A6C34878D82A}">
                    <a16:rowId xmlns:a16="http://schemas.microsoft.com/office/drawing/2014/main" val="4183586432"/>
                  </a:ext>
                </a:extLst>
              </a:tr>
              <a:tr h="373010">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OSU 1</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4">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Pegmatite</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GB" sz="1000" b="0" i="0" u="none" strike="noStrike" dirty="0" err="1">
                          <a:solidFill>
                            <a:srgbClr val="000000"/>
                          </a:solidFill>
                          <a:effectLst/>
                          <a:latin typeface="Arial Rounded MT Bold" panose="020F0704030504030204" pitchFamily="34" charset="0"/>
                          <a:ea typeface="Times New Roman" panose="02020603050405020304" pitchFamily="18" charset="0"/>
                        </a:rPr>
                        <a:t>Wt</a:t>
                      </a: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 of Soil Retained</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71.50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71.50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71.40</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41.20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9.70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12.70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34.00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56.10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66.50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38.20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8.20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17.20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498.2</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73724979"/>
                  </a:ext>
                </a:extLst>
              </a:tr>
              <a:tr h="308739">
                <a:tc vMerge="1">
                  <a:txBody>
                    <a:bodyPr/>
                    <a:lstStyle/>
                    <a:p>
                      <a:endParaRPr lang="en-NG"/>
                    </a:p>
                  </a:txBody>
                  <a:tcPr/>
                </a:tc>
                <a:tc vMerge="1">
                  <a:txBody>
                    <a:bodyPr/>
                    <a:lstStyle/>
                    <a:p>
                      <a:endParaRPr lang="en-NG"/>
                    </a:p>
                  </a:txBody>
                  <a:tcPr/>
                </a:tc>
                <a:tc>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Finer Passing</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85.70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71.40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57.12</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48.88</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46.94</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44.40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37.60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26.38</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13.08</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5.44</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3.80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0.36</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NG" sz="1000" b="0" i="0" u="none" strike="noStrike">
                          <a:solidFill>
                            <a:srgbClr val="000000"/>
                          </a:solidFill>
                          <a:effectLst/>
                          <a:latin typeface="Arial Rounded MT Bold" panose="020F0704030504030204" pitchFamily="34" charset="0"/>
                        </a:rPr>
                        <a:t> </a:t>
                      </a: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2938795"/>
                  </a:ext>
                </a:extLst>
              </a:tr>
              <a:tr h="373010">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OSU 2</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NG"/>
                    </a:p>
                  </a:txBody>
                  <a:tcPr/>
                </a:tc>
                <a:tc>
                  <a:txBody>
                    <a:bodyPr/>
                    <a:lstStyle/>
                    <a:p>
                      <a:pPr algn="l" fontAlgn="ctr"/>
                      <a:r>
                        <a:rPr lang="en-GB" sz="1000" b="0" i="0" u="none" strike="noStrike" dirty="0" err="1">
                          <a:solidFill>
                            <a:srgbClr val="000000"/>
                          </a:solidFill>
                          <a:effectLst/>
                          <a:latin typeface="Arial Rounded MT Bold" panose="020F0704030504030204" pitchFamily="34" charset="0"/>
                          <a:ea typeface="Times New Roman" panose="02020603050405020304" pitchFamily="18" charset="0"/>
                        </a:rPr>
                        <a:t>Wt</a:t>
                      </a: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 of Soil Retained</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97.70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101.50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106.10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52.30</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10.80</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12.30</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27.90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32.20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30.40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16.30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4.30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6.60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498.4</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9595668"/>
                  </a:ext>
                </a:extLst>
              </a:tr>
              <a:tr h="308739">
                <a:tc vMerge="1">
                  <a:txBody>
                    <a:bodyPr/>
                    <a:lstStyle/>
                    <a:p>
                      <a:endParaRPr lang="en-NG"/>
                    </a:p>
                  </a:txBody>
                  <a:tcPr/>
                </a:tc>
                <a:tc vMerge="1">
                  <a:txBody>
                    <a:bodyPr/>
                    <a:lstStyle/>
                    <a:p>
                      <a:endParaRPr lang="en-NG"/>
                    </a:p>
                  </a:txBody>
                  <a:tcPr/>
                </a:tc>
                <a:tc>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Finer Passing</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80.46</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60.16</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38.94</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28.48</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26.32</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23.86</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18.28</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11.84</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5.76</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2.50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1.64</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0.32</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NG" sz="1000" b="0" i="0" u="none" strike="noStrike">
                          <a:solidFill>
                            <a:srgbClr val="000000"/>
                          </a:solidFill>
                          <a:effectLst/>
                          <a:latin typeface="Arial Rounded MT Bold" panose="020F0704030504030204" pitchFamily="34" charset="0"/>
                        </a:rPr>
                        <a:t> </a:t>
                      </a: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58449"/>
                  </a:ext>
                </a:extLst>
              </a:tr>
              <a:tr h="373010">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OAU</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4">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Mica Schist </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GB" sz="1000" b="0" i="0" u="none" strike="noStrike" dirty="0" err="1">
                          <a:solidFill>
                            <a:srgbClr val="000000"/>
                          </a:solidFill>
                          <a:effectLst/>
                          <a:latin typeface="Arial Rounded MT Bold" panose="020F0704030504030204" pitchFamily="34" charset="0"/>
                          <a:ea typeface="Times New Roman" panose="02020603050405020304" pitchFamily="18" charset="0"/>
                        </a:rPr>
                        <a:t>Wt</a:t>
                      </a: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 of Soil Retained</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57.30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59.40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91.00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64.80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15.60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18.00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36.80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43.50</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50.50</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35.20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9.00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17.10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498.2</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3951629"/>
                  </a:ext>
                </a:extLst>
              </a:tr>
              <a:tr h="308739">
                <a:tc vMerge="1">
                  <a:txBody>
                    <a:bodyPr/>
                    <a:lstStyle/>
                    <a:p>
                      <a:endParaRPr lang="en-NG"/>
                    </a:p>
                  </a:txBody>
                  <a:tcPr/>
                </a:tc>
                <a:tc vMerge="1">
                  <a:txBody>
                    <a:bodyPr/>
                    <a:lstStyle/>
                    <a:p>
                      <a:endParaRPr lang="en-NG"/>
                    </a:p>
                  </a:txBody>
                  <a:tcPr/>
                </a:tc>
                <a:tc>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Finer Passing</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88.54</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76.66</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58.46</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45.50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42.38</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38.78</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31.42</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22.72</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12.62</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5.58</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3.78</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0.36</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NG" sz="1000" b="0" i="0" u="none" strike="noStrike">
                          <a:solidFill>
                            <a:srgbClr val="000000"/>
                          </a:solidFill>
                          <a:effectLst/>
                          <a:latin typeface="Arial Rounded MT Bold" panose="020F0704030504030204" pitchFamily="34" charset="0"/>
                        </a:rPr>
                        <a:t> </a:t>
                      </a: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0826106"/>
                  </a:ext>
                </a:extLst>
              </a:tr>
              <a:tr h="373010">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Fayafa</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NG"/>
                    </a:p>
                  </a:txBody>
                  <a:tcPr/>
                </a:tc>
                <a:tc>
                  <a:txBody>
                    <a:bodyPr/>
                    <a:lstStyle/>
                    <a:p>
                      <a:pPr algn="l" fontAlgn="ctr"/>
                      <a:r>
                        <a:rPr lang="en-GB" sz="1000" b="0" i="0" u="none" strike="noStrike" dirty="0" err="1">
                          <a:solidFill>
                            <a:srgbClr val="000000"/>
                          </a:solidFill>
                          <a:effectLst/>
                          <a:latin typeface="Arial Rounded MT Bold" panose="020F0704030504030204" pitchFamily="34" charset="0"/>
                          <a:ea typeface="Times New Roman" panose="02020603050405020304" pitchFamily="18" charset="0"/>
                        </a:rPr>
                        <a:t>Wt</a:t>
                      </a: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 of Soil Retained</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18.30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23.90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52.90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81.40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20.00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24.80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62.90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88.60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86.90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29.10</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4.30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6.20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499.3</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2592295"/>
                  </a:ext>
                </a:extLst>
              </a:tr>
              <a:tr h="308739">
                <a:tc vMerge="1">
                  <a:txBody>
                    <a:bodyPr/>
                    <a:lstStyle/>
                    <a:p>
                      <a:endParaRPr lang="en-NG"/>
                    </a:p>
                  </a:txBody>
                  <a:tcPr/>
                </a:tc>
                <a:tc vMerge="1">
                  <a:txBody>
                    <a:bodyPr/>
                    <a:lstStyle/>
                    <a:p>
                      <a:endParaRPr lang="en-NG"/>
                    </a:p>
                  </a:txBody>
                  <a:tcPr/>
                </a:tc>
                <a:tc>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Finer Passing</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96.34</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91.56</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80.98</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64.70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60.70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55.74</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43.16</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25.44</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8.06</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2.24</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1.38</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0.14</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NG" sz="1000" b="0" i="0" u="none" strike="noStrike">
                          <a:solidFill>
                            <a:srgbClr val="000000"/>
                          </a:solidFill>
                          <a:effectLst/>
                          <a:latin typeface="Arial Rounded MT Bold" panose="020F0704030504030204" pitchFamily="34" charset="0"/>
                        </a:rPr>
                        <a:t> </a:t>
                      </a: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3521005"/>
                  </a:ext>
                </a:extLst>
              </a:tr>
              <a:tr h="373010">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Itamerin</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4">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Granite-Gneiss</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GB" sz="1000" b="0" i="0" u="none" strike="noStrike" dirty="0" err="1">
                          <a:solidFill>
                            <a:srgbClr val="000000"/>
                          </a:solidFill>
                          <a:effectLst/>
                          <a:latin typeface="Arial Rounded MT Bold" panose="020F0704030504030204" pitchFamily="34" charset="0"/>
                          <a:ea typeface="Times New Roman" panose="02020603050405020304" pitchFamily="18" charset="0"/>
                        </a:rPr>
                        <a:t>Wt</a:t>
                      </a: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 of Soil Retained</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65.40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40.70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71.50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69.10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15.90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16.50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46.90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56.90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67.80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33.50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5.50</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8.40</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498.1</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36759318"/>
                  </a:ext>
                </a:extLst>
              </a:tr>
              <a:tr h="308739">
                <a:tc vMerge="1">
                  <a:txBody>
                    <a:bodyPr/>
                    <a:lstStyle/>
                    <a:p>
                      <a:endParaRPr lang="en-NG"/>
                    </a:p>
                  </a:txBody>
                  <a:tcPr/>
                </a:tc>
                <a:tc vMerge="1">
                  <a:txBody>
                    <a:bodyPr/>
                    <a:lstStyle/>
                    <a:p>
                      <a:endParaRPr lang="en-NG"/>
                    </a:p>
                  </a:txBody>
                  <a:tcPr/>
                </a:tc>
                <a:tc>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Finer Passing</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86.92</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78.78</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64.48</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50.66</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47.48</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44.18</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34.80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23.42</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9.86</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3.16</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2.06</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0.38</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NG" sz="1000" b="0" i="0" u="none" strike="noStrike">
                          <a:solidFill>
                            <a:srgbClr val="000000"/>
                          </a:solidFill>
                          <a:effectLst/>
                          <a:latin typeface="Arial Rounded MT Bold" panose="020F0704030504030204" pitchFamily="34" charset="0"/>
                        </a:rPr>
                        <a:t> </a:t>
                      </a: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8955890"/>
                  </a:ext>
                </a:extLst>
              </a:tr>
              <a:tr h="373010">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Itamerin 2</a:t>
                      </a:r>
                      <a:endParaRPr lang="en-NG" sz="1000" b="1"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NG"/>
                    </a:p>
                  </a:txBody>
                  <a:tcPr/>
                </a:tc>
                <a:tc>
                  <a:txBody>
                    <a:bodyPr/>
                    <a:lstStyle/>
                    <a:p>
                      <a:pPr algn="l" fontAlgn="ctr"/>
                      <a:r>
                        <a:rPr lang="en-GB" sz="1000" b="0" i="0" u="none" strike="noStrike" dirty="0" err="1">
                          <a:solidFill>
                            <a:srgbClr val="000000"/>
                          </a:solidFill>
                          <a:effectLst/>
                          <a:latin typeface="Arial Rounded MT Bold" panose="020F0704030504030204" pitchFamily="34" charset="0"/>
                          <a:ea typeface="Times New Roman" panose="02020603050405020304" pitchFamily="18" charset="0"/>
                        </a:rPr>
                        <a:t>Wt</a:t>
                      </a: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 of Soil Retained</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55.90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89.40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93.60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57.70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14.50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15.70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37.60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37.20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40.90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29.50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7.50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20.10</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499.6</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3635570"/>
                  </a:ext>
                </a:extLst>
              </a:tr>
              <a:tr h="308739">
                <a:tc vMerge="1">
                  <a:txBody>
                    <a:bodyPr/>
                    <a:lstStyle/>
                    <a:p>
                      <a:endParaRPr lang="en-NG"/>
                    </a:p>
                  </a:txBody>
                  <a:tcPr/>
                </a:tc>
                <a:tc vMerge="1">
                  <a:txBody>
                    <a:bodyPr/>
                    <a:lstStyle/>
                    <a:p>
                      <a:endParaRPr lang="en-NG"/>
                    </a:p>
                  </a:txBody>
                  <a:tcPr/>
                </a:tc>
                <a:tc>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Finer Passing</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88.82</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70.94</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52.22</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40.68</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37.78</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34.64</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27.12</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19.68</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11.50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5.60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4.10</a:t>
                      </a:r>
                      <a:endParaRPr lang="en-NG" sz="1000" b="0" i="0" u="none" strike="noStrike">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0.08</a:t>
                      </a:r>
                      <a:endParaRPr lang="en-NG" sz="1000" b="0" i="0" u="none" strike="noStrike" dirty="0">
                        <a:solidFill>
                          <a:srgbClr val="000000"/>
                        </a:solidFill>
                        <a:effectLst/>
                        <a:latin typeface="Arial Rounded MT Bold" panose="020F0704030504030204" pitchFamily="34" charset="0"/>
                      </a:endParaRP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NG" sz="1000" b="0" i="0" u="none" strike="noStrike" dirty="0">
                          <a:solidFill>
                            <a:srgbClr val="000000"/>
                          </a:solidFill>
                          <a:effectLst/>
                          <a:latin typeface="Arial Rounded MT Bold" panose="020F0704030504030204" pitchFamily="34" charset="0"/>
                        </a:rPr>
                        <a:t> </a:t>
                      </a:r>
                    </a:p>
                  </a:txBody>
                  <a:tcPr marL="8566" marR="8566" marT="856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0385347"/>
                  </a:ext>
                </a:extLst>
              </a:tr>
            </a:tbl>
          </a:graphicData>
        </a:graphic>
      </p:graphicFrame>
    </p:spTree>
    <p:extLst>
      <p:ext uri="{BB962C8B-B14F-4D97-AF65-F5344CB8AC3E}">
        <p14:creationId xmlns:p14="http://schemas.microsoft.com/office/powerpoint/2010/main" val="2508935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30E4E-8EDA-0B18-78C8-F90DF8CFB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F62EA-289E-4D98-021C-DC1319EDB079}"/>
              </a:ext>
            </a:extLst>
          </p:cNvPr>
          <p:cNvSpPr>
            <a:spLocks noGrp="1"/>
          </p:cNvSpPr>
          <p:nvPr>
            <p:ph type="ctrTitle"/>
          </p:nvPr>
        </p:nvSpPr>
        <p:spPr>
          <a:xfrm>
            <a:off x="1836263" y="-158537"/>
            <a:ext cx="9144000" cy="1146512"/>
          </a:xfrm>
        </p:spPr>
        <p:txBody>
          <a:bodyPr>
            <a:noAutofit/>
          </a:bodyPr>
          <a:lstStyle/>
          <a:p>
            <a:r>
              <a:rPr lang="en-US" sz="3200" b="1" dirty="0">
                <a:latin typeface="Arial Rounded MT Bold" panose="020F0704030504030204" pitchFamily="34" charset="0"/>
                <a:cs typeface="Times New Roman" panose="02020603050405020304" pitchFamily="18" charset="0"/>
              </a:rPr>
              <a:t>Results and Discussions</a:t>
            </a: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7B3B5605-85C8-C3A1-04F7-8F52ECC66F25}"/>
              </a:ext>
            </a:extLst>
          </p:cNvPr>
          <p:cNvSpPr>
            <a:spLocks noGrp="1"/>
          </p:cNvSpPr>
          <p:nvPr>
            <p:ph type="subTitle" idx="1"/>
          </p:nvPr>
        </p:nvSpPr>
        <p:spPr>
          <a:xfrm>
            <a:off x="1012875" y="1231137"/>
            <a:ext cx="10363198" cy="5436945"/>
          </a:xfrm>
        </p:spPr>
        <p:txBody>
          <a:bodyPr>
            <a:normAutofit/>
          </a:bodyPr>
          <a:lstStyle/>
          <a:p>
            <a:pPr algn="ctr">
              <a:lnSpc>
                <a:spcPct val="100000"/>
              </a:lnSpc>
            </a:pPr>
            <a:r>
              <a:rPr lang="en-US" sz="1800" b="1" dirty="0">
                <a:latin typeface="Arial Rounded MT Bold" panose="020F0704030504030204" pitchFamily="34" charset="0"/>
                <a:cs typeface="Times New Roman" panose="02020603050405020304" pitchFamily="18" charset="0"/>
              </a:rPr>
              <a:t>Soil Investigation</a:t>
            </a:r>
            <a:br>
              <a:rPr lang="en-US" sz="1800" b="1" dirty="0">
                <a:latin typeface="Arial Rounded MT Bold" panose="020F0704030504030204" pitchFamily="34" charset="0"/>
                <a:cs typeface="Times New Roman" panose="02020603050405020304" pitchFamily="18" charset="0"/>
              </a:rPr>
            </a:br>
            <a:r>
              <a:rPr lang="en-GB" sz="1800" dirty="0">
                <a:effectLst/>
                <a:latin typeface="Times New Roman" panose="02020603050405020304" pitchFamily="18" charset="0"/>
                <a:ea typeface="Times New Roman" panose="02020603050405020304" pitchFamily="18" charset="0"/>
              </a:rPr>
              <a:t>Table </a:t>
            </a:r>
            <a:r>
              <a:rPr lang="en-GB" sz="1800" dirty="0">
                <a:latin typeface="Times New Roman" panose="02020603050405020304" pitchFamily="18" charset="0"/>
                <a:ea typeface="Times New Roman" panose="02020603050405020304" pitchFamily="18" charset="0"/>
              </a:rPr>
              <a:t>8</a:t>
            </a:r>
            <a:r>
              <a:rPr lang="en-GB" sz="1800" dirty="0">
                <a:effectLst/>
                <a:latin typeface="Times New Roman" panose="02020603050405020304" pitchFamily="18" charset="0"/>
                <a:ea typeface="Times New Roman" panose="02020603050405020304" pitchFamily="18" charset="0"/>
              </a:rPr>
              <a:t>:</a:t>
            </a:r>
            <a:r>
              <a:rPr lang="en-GB" sz="1800" b="1" dirty="0">
                <a:effectLst/>
                <a:latin typeface="Times New Roman" panose="02020603050405020304" pitchFamily="18" charset="0"/>
                <a:ea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rPr>
              <a:t>Result of the Grain Size Analysis of the Soil Samples Cont’d</a:t>
            </a:r>
          </a:p>
          <a:p>
            <a:pPr algn="ctr">
              <a:lnSpc>
                <a:spcPct val="100000"/>
              </a:lnSpc>
            </a:pPr>
            <a:endParaRPr lang="en-NG" sz="1800" dirty="0">
              <a:effectLst/>
              <a:latin typeface="Times New Roman" panose="02020603050405020304" pitchFamily="18"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C43A7517-FBBD-53FA-8017-69C056177BF2}"/>
              </a:ext>
            </a:extLst>
          </p:cNvPr>
          <p:cNvCxnSpPr>
            <a:cxnSpLocks/>
          </p:cNvCxnSpPr>
          <p:nvPr/>
        </p:nvCxnSpPr>
        <p:spPr>
          <a:xfrm>
            <a:off x="98474" y="1231138"/>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9054F22-C24C-5971-A4AD-07F65948DB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2FFF5861-2349-638B-65BC-0F3A61FB9771}"/>
              </a:ext>
            </a:extLst>
          </p:cNvPr>
          <p:cNvSpPr>
            <a:spLocks noGrp="1"/>
          </p:cNvSpPr>
          <p:nvPr>
            <p:ph type="sldNum" sz="quarter" idx="12"/>
          </p:nvPr>
        </p:nvSpPr>
        <p:spPr>
          <a:xfrm>
            <a:off x="8610600" y="6525164"/>
            <a:ext cx="2743200" cy="365125"/>
          </a:xfrm>
        </p:spPr>
        <p:txBody>
          <a:bodyPr/>
          <a:lstStyle/>
          <a:p>
            <a:fld id="{E30FEA02-71A2-4209-B909-B13DA9CFC23D}" type="slidenum">
              <a:rPr lang="en-NG" smtClean="0"/>
              <a:t>24</a:t>
            </a:fld>
            <a:endParaRPr lang="en-NG"/>
          </a:p>
        </p:txBody>
      </p:sp>
      <p:graphicFrame>
        <p:nvGraphicFramePr>
          <p:cNvPr id="5" name="Table 4">
            <a:extLst>
              <a:ext uri="{FF2B5EF4-FFF2-40B4-BE49-F238E27FC236}">
                <a16:creationId xmlns:a16="http://schemas.microsoft.com/office/drawing/2014/main" id="{7F462722-E600-A1D8-3ED3-953041B83B28}"/>
              </a:ext>
            </a:extLst>
          </p:cNvPr>
          <p:cNvGraphicFramePr>
            <a:graphicFrameLocks noGrp="1"/>
          </p:cNvGraphicFramePr>
          <p:nvPr>
            <p:extLst>
              <p:ext uri="{D42A27DB-BD31-4B8C-83A1-F6EECF244321}">
                <p14:modId xmlns:p14="http://schemas.microsoft.com/office/powerpoint/2010/main" val="3066919845"/>
              </p:ext>
            </p:extLst>
          </p:nvPr>
        </p:nvGraphicFramePr>
        <p:xfrm>
          <a:off x="1219200" y="1934369"/>
          <a:ext cx="9753600" cy="3762375"/>
        </p:xfrm>
        <a:graphic>
          <a:graphicData uri="http://schemas.openxmlformats.org/drawingml/2006/table">
            <a:tbl>
              <a:tblPr/>
              <a:tblGrid>
                <a:gridCol w="609600">
                  <a:extLst>
                    <a:ext uri="{9D8B030D-6E8A-4147-A177-3AD203B41FA5}">
                      <a16:colId xmlns:a16="http://schemas.microsoft.com/office/drawing/2014/main" val="2240316734"/>
                    </a:ext>
                  </a:extLst>
                </a:gridCol>
                <a:gridCol w="609600">
                  <a:extLst>
                    <a:ext uri="{9D8B030D-6E8A-4147-A177-3AD203B41FA5}">
                      <a16:colId xmlns:a16="http://schemas.microsoft.com/office/drawing/2014/main" val="3464846115"/>
                    </a:ext>
                  </a:extLst>
                </a:gridCol>
                <a:gridCol w="609600">
                  <a:extLst>
                    <a:ext uri="{9D8B030D-6E8A-4147-A177-3AD203B41FA5}">
                      <a16:colId xmlns:a16="http://schemas.microsoft.com/office/drawing/2014/main" val="3499256714"/>
                    </a:ext>
                  </a:extLst>
                </a:gridCol>
                <a:gridCol w="609600">
                  <a:extLst>
                    <a:ext uri="{9D8B030D-6E8A-4147-A177-3AD203B41FA5}">
                      <a16:colId xmlns:a16="http://schemas.microsoft.com/office/drawing/2014/main" val="2040492460"/>
                    </a:ext>
                  </a:extLst>
                </a:gridCol>
                <a:gridCol w="609600">
                  <a:extLst>
                    <a:ext uri="{9D8B030D-6E8A-4147-A177-3AD203B41FA5}">
                      <a16:colId xmlns:a16="http://schemas.microsoft.com/office/drawing/2014/main" val="270407230"/>
                    </a:ext>
                  </a:extLst>
                </a:gridCol>
                <a:gridCol w="609600">
                  <a:extLst>
                    <a:ext uri="{9D8B030D-6E8A-4147-A177-3AD203B41FA5}">
                      <a16:colId xmlns:a16="http://schemas.microsoft.com/office/drawing/2014/main" val="751294623"/>
                    </a:ext>
                  </a:extLst>
                </a:gridCol>
                <a:gridCol w="609600">
                  <a:extLst>
                    <a:ext uri="{9D8B030D-6E8A-4147-A177-3AD203B41FA5}">
                      <a16:colId xmlns:a16="http://schemas.microsoft.com/office/drawing/2014/main" val="3428918940"/>
                    </a:ext>
                  </a:extLst>
                </a:gridCol>
                <a:gridCol w="609600">
                  <a:extLst>
                    <a:ext uri="{9D8B030D-6E8A-4147-A177-3AD203B41FA5}">
                      <a16:colId xmlns:a16="http://schemas.microsoft.com/office/drawing/2014/main" val="3749796381"/>
                    </a:ext>
                  </a:extLst>
                </a:gridCol>
                <a:gridCol w="609600">
                  <a:extLst>
                    <a:ext uri="{9D8B030D-6E8A-4147-A177-3AD203B41FA5}">
                      <a16:colId xmlns:a16="http://schemas.microsoft.com/office/drawing/2014/main" val="1710273112"/>
                    </a:ext>
                  </a:extLst>
                </a:gridCol>
                <a:gridCol w="609600">
                  <a:extLst>
                    <a:ext uri="{9D8B030D-6E8A-4147-A177-3AD203B41FA5}">
                      <a16:colId xmlns:a16="http://schemas.microsoft.com/office/drawing/2014/main" val="2222841327"/>
                    </a:ext>
                  </a:extLst>
                </a:gridCol>
                <a:gridCol w="609600">
                  <a:extLst>
                    <a:ext uri="{9D8B030D-6E8A-4147-A177-3AD203B41FA5}">
                      <a16:colId xmlns:a16="http://schemas.microsoft.com/office/drawing/2014/main" val="2108753164"/>
                    </a:ext>
                  </a:extLst>
                </a:gridCol>
                <a:gridCol w="609600">
                  <a:extLst>
                    <a:ext uri="{9D8B030D-6E8A-4147-A177-3AD203B41FA5}">
                      <a16:colId xmlns:a16="http://schemas.microsoft.com/office/drawing/2014/main" val="810151844"/>
                    </a:ext>
                  </a:extLst>
                </a:gridCol>
                <a:gridCol w="609600">
                  <a:extLst>
                    <a:ext uri="{9D8B030D-6E8A-4147-A177-3AD203B41FA5}">
                      <a16:colId xmlns:a16="http://schemas.microsoft.com/office/drawing/2014/main" val="1810163807"/>
                    </a:ext>
                  </a:extLst>
                </a:gridCol>
                <a:gridCol w="609600">
                  <a:extLst>
                    <a:ext uri="{9D8B030D-6E8A-4147-A177-3AD203B41FA5}">
                      <a16:colId xmlns:a16="http://schemas.microsoft.com/office/drawing/2014/main" val="3227479961"/>
                    </a:ext>
                  </a:extLst>
                </a:gridCol>
                <a:gridCol w="609600">
                  <a:extLst>
                    <a:ext uri="{9D8B030D-6E8A-4147-A177-3AD203B41FA5}">
                      <a16:colId xmlns:a16="http://schemas.microsoft.com/office/drawing/2014/main" val="3687990217"/>
                    </a:ext>
                  </a:extLst>
                </a:gridCol>
                <a:gridCol w="609600">
                  <a:extLst>
                    <a:ext uri="{9D8B030D-6E8A-4147-A177-3AD203B41FA5}">
                      <a16:colId xmlns:a16="http://schemas.microsoft.com/office/drawing/2014/main" val="3246149282"/>
                    </a:ext>
                  </a:extLst>
                </a:gridCol>
              </a:tblGrid>
              <a:tr h="409575">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Location</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Lithology</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 </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12">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Sieve Diameter</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hMerge="1">
                  <a:txBody>
                    <a:bodyPr/>
                    <a:lstStyle/>
                    <a:p>
                      <a:endParaRPr lang="en-NG"/>
                    </a:p>
                  </a:txBody>
                  <a:tcPr/>
                </a:tc>
                <a:tc rowSpan="2">
                  <a:txBody>
                    <a:bodyPr/>
                    <a:lstStyle/>
                    <a:p>
                      <a:pPr algn="l" fontAlgn="ctr"/>
                      <a:r>
                        <a:rPr lang="en-US" sz="1000" b="1" i="0" u="none" strike="noStrike">
                          <a:solidFill>
                            <a:srgbClr val="000000"/>
                          </a:solidFill>
                          <a:effectLst/>
                          <a:latin typeface="Arial Rounded MT Bold" panose="020F0704030504030204" pitchFamily="34" charset="0"/>
                          <a:ea typeface="Times New Roman" panose="02020603050405020304" pitchFamily="18" charset="0"/>
                        </a:rPr>
                        <a:t> Total Weight of Soil Retained</a:t>
                      </a:r>
                      <a:endParaRPr lang="en-US"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1182620"/>
                  </a:ext>
                </a:extLst>
              </a:tr>
              <a:tr h="200025">
                <a:tc vMerge="1">
                  <a:txBody>
                    <a:bodyPr/>
                    <a:lstStyle/>
                    <a:p>
                      <a:endParaRPr lang="en-NG"/>
                    </a:p>
                  </a:txBody>
                  <a:tcPr/>
                </a:tc>
                <a:tc vMerge="1">
                  <a:txBody>
                    <a:bodyPr/>
                    <a:lstStyle/>
                    <a:p>
                      <a:endParaRPr lang="en-NG"/>
                    </a:p>
                  </a:txBody>
                  <a:tcPr/>
                </a:tc>
                <a:tc vMerge="1">
                  <a:txBody>
                    <a:bodyPr/>
                    <a:lstStyle/>
                    <a:p>
                      <a:endParaRPr lang="en-NG"/>
                    </a:p>
                  </a:txBody>
                  <a:tcPr/>
                </a:tc>
                <a:tc>
                  <a:txBody>
                    <a:bodyPr/>
                    <a:lstStyle/>
                    <a:p>
                      <a:pPr algn="ctr" fontAlgn="ctr"/>
                      <a:r>
                        <a:rPr lang="en-GB" sz="1000" b="1" i="0" u="none" strike="noStrike" dirty="0">
                          <a:solidFill>
                            <a:srgbClr val="000000"/>
                          </a:solidFill>
                          <a:effectLst/>
                          <a:latin typeface="Arial Rounded MT Bold" panose="020F0704030504030204" pitchFamily="34" charset="0"/>
                          <a:ea typeface="Times New Roman" panose="02020603050405020304" pitchFamily="18" charset="0"/>
                        </a:rPr>
                        <a:t>4</a:t>
                      </a:r>
                      <a:endParaRPr lang="en-GB" sz="1000" b="1"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dirty="0">
                          <a:solidFill>
                            <a:srgbClr val="000000"/>
                          </a:solidFill>
                          <a:effectLst/>
                          <a:latin typeface="Arial Rounded MT Bold" panose="020F0704030504030204" pitchFamily="34" charset="0"/>
                          <a:ea typeface="Times New Roman" panose="02020603050405020304" pitchFamily="18" charset="0"/>
                        </a:rPr>
                        <a:t>2.36</a:t>
                      </a:r>
                      <a:endParaRPr lang="en-GB" sz="1000" b="1"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1.18</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0.71</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0.6</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0.5</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0.355</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0.25</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0.15</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0.075</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0.063</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Pan</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NG"/>
                    </a:p>
                  </a:txBody>
                  <a:tcPr/>
                </a:tc>
                <a:extLst>
                  <a:ext uri="{0D108BD9-81ED-4DB2-BD59-A6C34878D82A}">
                    <a16:rowId xmlns:a16="http://schemas.microsoft.com/office/drawing/2014/main" val="134219832"/>
                  </a:ext>
                </a:extLst>
              </a:tr>
              <a:tr h="200025">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Odin 1 </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4">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Amphibolite</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GB" sz="1000" b="0" i="0" u="none" strike="noStrike" dirty="0" err="1">
                          <a:solidFill>
                            <a:srgbClr val="000000"/>
                          </a:solidFill>
                          <a:effectLst/>
                          <a:latin typeface="Arial Rounded MT Bold" panose="020F0704030504030204" pitchFamily="34" charset="0"/>
                          <a:ea typeface="Times New Roman" panose="02020603050405020304" pitchFamily="18" charset="0"/>
                        </a:rPr>
                        <a:t>Wt</a:t>
                      </a: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 of Soil Retained</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26.20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40.60</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67.70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53.10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15.00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21.70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50.90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66.40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78.90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48.40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8.00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21.90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498.8</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4130441"/>
                  </a:ext>
                </a:extLst>
              </a:tr>
              <a:tr h="200025">
                <a:tc vMerge="1">
                  <a:txBody>
                    <a:bodyPr/>
                    <a:lstStyle/>
                    <a:p>
                      <a:endParaRPr lang="en-NG"/>
                    </a:p>
                  </a:txBody>
                  <a:tcPr/>
                </a:tc>
                <a:tc vMerge="1">
                  <a:txBody>
                    <a:bodyPr/>
                    <a:lstStyle/>
                    <a:p>
                      <a:endParaRPr lang="en-NG"/>
                    </a:p>
                  </a:txBody>
                  <a:tcPr/>
                </a:tc>
                <a:tc>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Finer Passing</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94.76</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86.64</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73.10</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62.48</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59.48</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55.14</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44.96</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31.68</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15.90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6.22</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4.62</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0.24</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 </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8714967"/>
                  </a:ext>
                </a:extLst>
              </a:tr>
              <a:tr h="200025">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Odin 2</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NG"/>
                    </a:p>
                  </a:txBody>
                  <a:tcPr/>
                </a:tc>
                <a:tc>
                  <a:txBody>
                    <a:bodyPr/>
                    <a:lstStyle/>
                    <a:p>
                      <a:pPr algn="l" fontAlgn="ctr"/>
                      <a:r>
                        <a:rPr lang="en-GB" sz="1000" b="0" i="0" u="none" strike="noStrike" dirty="0" err="1">
                          <a:solidFill>
                            <a:srgbClr val="000000"/>
                          </a:solidFill>
                          <a:effectLst/>
                          <a:latin typeface="Arial Rounded MT Bold" panose="020F0704030504030204" pitchFamily="34" charset="0"/>
                          <a:ea typeface="Times New Roman" panose="02020603050405020304" pitchFamily="18" charset="0"/>
                        </a:rPr>
                        <a:t>Wt</a:t>
                      </a: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 of Soil Retained</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57.20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53.20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67.60</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62.10</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20.70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24.70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54.70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47.20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47.10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35.60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7.90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19.90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497.9</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970801"/>
                  </a:ext>
                </a:extLst>
              </a:tr>
              <a:tr h="200025">
                <a:tc vMerge="1">
                  <a:txBody>
                    <a:bodyPr/>
                    <a:lstStyle/>
                    <a:p>
                      <a:endParaRPr lang="en-NG"/>
                    </a:p>
                  </a:txBody>
                  <a:tcPr/>
                </a:tc>
                <a:tc vMerge="1">
                  <a:txBody>
                    <a:bodyPr/>
                    <a:lstStyle/>
                    <a:p>
                      <a:endParaRPr lang="en-NG"/>
                    </a:p>
                  </a:txBody>
                  <a:tcPr/>
                </a:tc>
                <a:tc>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Finer Passing</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88.56</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77.92</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64.40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51.98</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47.84</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42.90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31.96</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22.52</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13.10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5.98</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4.40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0.42</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 </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7332492"/>
                  </a:ext>
                </a:extLst>
              </a:tr>
              <a:tr h="200025">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Erinta</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4">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Amphibolite</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GB" sz="1000" b="0" i="0" u="none" strike="noStrike" dirty="0" err="1">
                          <a:solidFill>
                            <a:srgbClr val="000000"/>
                          </a:solidFill>
                          <a:effectLst/>
                          <a:latin typeface="Arial Rounded MT Bold" panose="020F0704030504030204" pitchFamily="34" charset="0"/>
                          <a:ea typeface="Times New Roman" panose="02020603050405020304" pitchFamily="18" charset="0"/>
                        </a:rPr>
                        <a:t>Wt</a:t>
                      </a: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 of Soil Retained</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62.80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65.30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64.60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44.10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12.30</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18.60</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44.10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50.40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55.70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46.90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8.10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25.20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498.1</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4292032"/>
                  </a:ext>
                </a:extLst>
              </a:tr>
              <a:tr h="200025">
                <a:tc vMerge="1">
                  <a:txBody>
                    <a:bodyPr/>
                    <a:lstStyle/>
                    <a:p>
                      <a:endParaRPr lang="en-NG"/>
                    </a:p>
                  </a:txBody>
                  <a:tcPr/>
                </a:tc>
                <a:tc vMerge="1">
                  <a:txBody>
                    <a:bodyPr/>
                    <a:lstStyle/>
                    <a:p>
                      <a:endParaRPr lang="en-NG"/>
                    </a:p>
                  </a:txBody>
                  <a:tcPr/>
                </a:tc>
                <a:tc>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Finer Passing</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87.44</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74.38</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61.46</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52.64</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50.18</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46.46</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37.64</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27.56</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16.42</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7.04</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5.42</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0.38</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NG" sz="1000" b="0" i="0" u="none" strike="noStrike">
                          <a:solidFill>
                            <a:srgbClr val="000000"/>
                          </a:solidFill>
                          <a:effectLst/>
                          <a:latin typeface="Arial Rounded MT Bold" panose="020F0704030504030204" pitchFamily="34" charset="0"/>
                        </a:rPr>
                        <a:t>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2807033"/>
                  </a:ext>
                </a:extLst>
              </a:tr>
              <a:tr h="200025">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Lajaroko/Kosere</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NG"/>
                    </a:p>
                  </a:txBody>
                  <a:tcPr/>
                </a:tc>
                <a:tc>
                  <a:txBody>
                    <a:bodyPr/>
                    <a:lstStyle/>
                    <a:p>
                      <a:pPr algn="l" fontAlgn="ctr"/>
                      <a:r>
                        <a:rPr lang="en-GB" sz="1000" b="0" i="0" u="none" strike="noStrike" dirty="0" err="1">
                          <a:solidFill>
                            <a:srgbClr val="000000"/>
                          </a:solidFill>
                          <a:effectLst/>
                          <a:latin typeface="Arial Rounded MT Bold" panose="020F0704030504030204" pitchFamily="34" charset="0"/>
                          <a:ea typeface="Times New Roman" panose="02020603050405020304" pitchFamily="18" charset="0"/>
                        </a:rPr>
                        <a:t>Wt</a:t>
                      </a: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 of Soil Retained</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42.70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59.80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71.30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57.70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14.70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21.40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44.80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45.20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52.90</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41.20</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9.10</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36.10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496.9</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9838974"/>
                  </a:ext>
                </a:extLst>
              </a:tr>
              <a:tr h="200025">
                <a:tc vMerge="1">
                  <a:txBody>
                    <a:bodyPr/>
                    <a:lstStyle/>
                    <a:p>
                      <a:endParaRPr lang="en-NG"/>
                    </a:p>
                  </a:txBody>
                  <a:tcPr/>
                </a:tc>
                <a:tc vMerge="1">
                  <a:txBody>
                    <a:bodyPr/>
                    <a:lstStyle/>
                    <a:p>
                      <a:endParaRPr lang="en-NG"/>
                    </a:p>
                  </a:txBody>
                  <a:tcPr/>
                </a:tc>
                <a:tc>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Finer Passing</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91.46</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79.50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65.24</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53.70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50.76</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46.48</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37.52</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28.48</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17.90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9.66</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7.84</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0.62</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NG" sz="1000" b="0" i="0" u="none" strike="noStrike">
                          <a:solidFill>
                            <a:srgbClr val="000000"/>
                          </a:solidFill>
                          <a:effectLst/>
                          <a:latin typeface="Arial Rounded MT Bold" panose="020F0704030504030204" pitchFamily="34" charset="0"/>
                        </a:rPr>
                        <a:t>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2398613"/>
                  </a:ext>
                </a:extLst>
              </a:tr>
              <a:tr h="200025">
                <a:tc rowSpan="2">
                  <a:txBody>
                    <a:bodyPr/>
                    <a:lstStyle/>
                    <a:p>
                      <a:pPr algn="l" fontAlgn="ctr"/>
                      <a:r>
                        <a:rPr lang="en-GB" sz="1000" b="1" i="0" u="none" strike="noStrike">
                          <a:solidFill>
                            <a:srgbClr val="000000"/>
                          </a:solidFill>
                          <a:effectLst/>
                          <a:latin typeface="Arial Rounded MT Bold" panose="020F0704030504030204" pitchFamily="34" charset="0"/>
                          <a:ea typeface="Times New Roman" panose="02020603050405020304" pitchFamily="18" charset="0"/>
                        </a:rPr>
                        <a:t>Obaluru</a:t>
                      </a:r>
                      <a:endParaRPr lang="en-GB" sz="1000" b="1"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Migmatite and Gneiss</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GB" sz="1000" b="0" i="0" u="none" strike="noStrike" dirty="0" err="1">
                          <a:solidFill>
                            <a:srgbClr val="000000"/>
                          </a:solidFill>
                          <a:effectLst/>
                          <a:latin typeface="Arial Rounded MT Bold" panose="020F0704030504030204" pitchFamily="34" charset="0"/>
                          <a:ea typeface="Times New Roman" panose="02020603050405020304" pitchFamily="18" charset="0"/>
                        </a:rPr>
                        <a:t>Wt</a:t>
                      </a: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 of Soil Retained</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24.50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40.10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44.20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37.50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15.60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25.30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68.90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81.70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78.90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51.90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10.80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19.00</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498.4</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9478672"/>
                  </a:ext>
                </a:extLst>
              </a:tr>
              <a:tr h="200025">
                <a:tc vMerge="1">
                  <a:txBody>
                    <a:bodyPr/>
                    <a:lstStyle/>
                    <a:p>
                      <a:endParaRPr lang="en-NG"/>
                    </a:p>
                  </a:txBody>
                  <a:tcPr/>
                </a:tc>
                <a:tc vMerge="1">
                  <a:txBody>
                    <a:bodyPr/>
                    <a:lstStyle/>
                    <a:p>
                      <a:endParaRPr lang="en-NG"/>
                    </a:p>
                  </a:txBody>
                  <a:tcPr/>
                </a:tc>
                <a:tc>
                  <a:txBody>
                    <a:bodyPr/>
                    <a:lstStyle/>
                    <a:p>
                      <a:pPr algn="l"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Finer Passing</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95.10</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87.08</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78.24</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70.74</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67.62</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62.56</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48.78</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32.44</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16.66</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6.28</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a:solidFill>
                            <a:srgbClr val="000000"/>
                          </a:solidFill>
                          <a:effectLst/>
                          <a:latin typeface="Arial Rounded MT Bold" panose="020F0704030504030204" pitchFamily="34" charset="0"/>
                          <a:ea typeface="Times New Roman" panose="02020603050405020304" pitchFamily="18" charset="0"/>
                        </a:rPr>
                        <a:t>4.12</a:t>
                      </a:r>
                      <a:endParaRPr lang="en-GB" sz="1000" b="0" i="0" u="none" strike="noStrike">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0.32</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GB" sz="1000" b="0" i="0" u="none" strike="noStrike" dirty="0">
                          <a:solidFill>
                            <a:srgbClr val="000000"/>
                          </a:solidFill>
                          <a:effectLst/>
                          <a:latin typeface="Arial Rounded MT Bold" panose="020F0704030504030204" pitchFamily="34" charset="0"/>
                          <a:ea typeface="Times New Roman" panose="02020603050405020304" pitchFamily="18" charset="0"/>
                        </a:rPr>
                        <a:t> </a:t>
                      </a:r>
                      <a:endParaRPr lang="en-GB" sz="1000" b="0" i="0" u="none" strike="noStrike" dirty="0">
                        <a:solidFill>
                          <a:srgbClr val="000000"/>
                        </a:solidFill>
                        <a:effectLst/>
                        <a:latin typeface="Arial Rounded MT Bold" panose="020F07040305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0275187"/>
                  </a:ext>
                </a:extLst>
              </a:tr>
            </a:tbl>
          </a:graphicData>
        </a:graphic>
      </p:graphicFrame>
    </p:spTree>
    <p:extLst>
      <p:ext uri="{BB962C8B-B14F-4D97-AF65-F5344CB8AC3E}">
        <p14:creationId xmlns:p14="http://schemas.microsoft.com/office/powerpoint/2010/main" val="1325233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CE992-B89F-396C-F549-047D366DB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100B73-972A-3248-F91D-270FBA521CA7}"/>
              </a:ext>
            </a:extLst>
          </p:cNvPr>
          <p:cNvSpPr>
            <a:spLocks noGrp="1"/>
          </p:cNvSpPr>
          <p:nvPr>
            <p:ph type="ctrTitle"/>
          </p:nvPr>
        </p:nvSpPr>
        <p:spPr>
          <a:xfrm>
            <a:off x="1805354" y="189918"/>
            <a:ext cx="9144000" cy="1146512"/>
          </a:xfrm>
        </p:spPr>
        <p:txBody>
          <a:bodyPr>
            <a:noAutofit/>
          </a:bodyPr>
          <a:lstStyle/>
          <a:p>
            <a:r>
              <a:rPr lang="en-US" sz="3200" b="1" dirty="0">
                <a:latin typeface="Arial Rounded MT Bold" panose="020F0704030504030204" pitchFamily="34" charset="0"/>
                <a:cs typeface="Times New Roman" panose="02020603050405020304" pitchFamily="18" charset="0"/>
              </a:rPr>
              <a:t>Results and Discussions</a:t>
            </a:r>
            <a:br>
              <a:rPr lang="en-US"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84A7E3CA-2F38-B090-B25C-7B0C1EF6DE7F}"/>
              </a:ext>
            </a:extLst>
          </p:cNvPr>
          <p:cNvSpPr>
            <a:spLocks noGrp="1"/>
          </p:cNvSpPr>
          <p:nvPr>
            <p:ph type="subTitle" idx="1"/>
          </p:nvPr>
        </p:nvSpPr>
        <p:spPr>
          <a:xfrm>
            <a:off x="1012875" y="1122363"/>
            <a:ext cx="10363198" cy="5545719"/>
          </a:xfrm>
        </p:spPr>
        <p:txBody>
          <a:bodyPr>
            <a:normAutofit/>
          </a:bodyPr>
          <a:lstStyle/>
          <a:p>
            <a:pPr algn="ctr">
              <a:lnSpc>
                <a:spcPct val="200000"/>
              </a:lnSpc>
            </a:pPr>
            <a:r>
              <a:rPr lang="en-US" sz="1800" b="1" dirty="0">
                <a:latin typeface="Arial Rounded MT Bold" panose="020F0704030504030204" pitchFamily="34" charset="0"/>
                <a:cs typeface="Times New Roman" panose="02020603050405020304" pitchFamily="18" charset="0"/>
              </a:rPr>
              <a:t>Soil Investigation</a:t>
            </a:r>
            <a:endParaRPr lang="en-GB" sz="1800" b="1" dirty="0">
              <a:latin typeface="Times New Roman" panose="02020603050405020304" pitchFamily="18" charset="0"/>
              <a:ea typeface="Times New Roman" panose="02020603050405020304" pitchFamily="18" charset="0"/>
            </a:endParaRPr>
          </a:p>
          <a:p>
            <a:pPr algn="ctr">
              <a:lnSpc>
                <a:spcPct val="200000"/>
              </a:lnSpc>
            </a:pPr>
            <a:endParaRPr lang="en-GB" sz="1800" b="1" dirty="0">
              <a:latin typeface="Times New Roman" panose="02020603050405020304" pitchFamily="18" charset="0"/>
              <a:ea typeface="Times New Roman" panose="02020603050405020304" pitchFamily="18" charset="0"/>
            </a:endParaRPr>
          </a:p>
          <a:p>
            <a:pPr algn="ctr">
              <a:lnSpc>
                <a:spcPct val="200000"/>
              </a:lnSpc>
            </a:pPr>
            <a:endParaRPr lang="en-GB" sz="1800" b="1" dirty="0">
              <a:latin typeface="Times New Roman" panose="02020603050405020304" pitchFamily="18" charset="0"/>
              <a:ea typeface="Times New Roman" panose="02020603050405020304" pitchFamily="18" charset="0"/>
            </a:endParaRPr>
          </a:p>
          <a:p>
            <a:pPr algn="ctr">
              <a:lnSpc>
                <a:spcPct val="200000"/>
              </a:lnSpc>
            </a:pPr>
            <a:endParaRPr lang="en-GB" sz="1800" b="1" dirty="0">
              <a:latin typeface="Times New Roman" panose="02020603050405020304" pitchFamily="18" charset="0"/>
              <a:ea typeface="Times New Roman" panose="02020603050405020304" pitchFamily="18" charset="0"/>
            </a:endParaRPr>
          </a:p>
          <a:p>
            <a:pPr algn="ctr">
              <a:lnSpc>
                <a:spcPct val="200000"/>
              </a:lnSpc>
            </a:pPr>
            <a:endParaRPr lang="en-GB" sz="1800" b="1" dirty="0">
              <a:latin typeface="Times New Roman" panose="02020603050405020304" pitchFamily="18" charset="0"/>
              <a:ea typeface="Times New Roman" panose="02020603050405020304" pitchFamily="18" charset="0"/>
            </a:endParaRPr>
          </a:p>
          <a:p>
            <a:pPr algn="ctr">
              <a:lnSpc>
                <a:spcPct val="200000"/>
              </a:lnSpc>
            </a:pPr>
            <a:endParaRPr lang="en-GB" sz="1800" b="1" dirty="0">
              <a:latin typeface="Times New Roman" panose="02020603050405020304" pitchFamily="18" charset="0"/>
              <a:ea typeface="Times New Roman" panose="02020603050405020304" pitchFamily="18" charset="0"/>
            </a:endParaRPr>
          </a:p>
          <a:p>
            <a:pPr algn="ctr">
              <a:lnSpc>
                <a:spcPct val="200000"/>
              </a:lnSpc>
            </a:pPr>
            <a:endParaRPr lang="en-GB" sz="1800" b="1" dirty="0">
              <a:latin typeface="Times New Roman" panose="02020603050405020304" pitchFamily="18" charset="0"/>
              <a:ea typeface="Times New Roman" panose="02020603050405020304" pitchFamily="18" charset="0"/>
            </a:endParaRPr>
          </a:p>
          <a:p>
            <a:pPr algn="ctr">
              <a:lnSpc>
                <a:spcPct val="200000"/>
              </a:lnSpc>
            </a:pPr>
            <a:r>
              <a:rPr lang="en-GB" sz="1800" dirty="0">
                <a:latin typeface="Arial Rounded MT Bold" panose="020F0704030504030204" pitchFamily="34" charset="0"/>
                <a:ea typeface="Times New Roman" panose="02020603050405020304" pitchFamily="18" charset="0"/>
              </a:rPr>
              <a:t>Figure</a:t>
            </a:r>
            <a:r>
              <a:rPr lang="en-GB" sz="1800" dirty="0">
                <a:effectLst/>
                <a:latin typeface="Arial Rounded MT Bold" panose="020F0704030504030204" pitchFamily="34" charset="0"/>
                <a:ea typeface="Times New Roman" panose="02020603050405020304" pitchFamily="18" charset="0"/>
              </a:rPr>
              <a:t> 10: </a:t>
            </a:r>
            <a:r>
              <a:rPr lang="en-GB" sz="1800" dirty="0">
                <a:effectLst/>
                <a:latin typeface="Arial Rounded MT Bold" panose="020F0704030504030204" pitchFamily="34" charset="0"/>
                <a:ea typeface="Calibri" panose="020F0502020204030204" pitchFamily="34" charset="0"/>
              </a:rPr>
              <a:t>Grain Size Distribution Curve of Osu 1</a:t>
            </a:r>
            <a:endParaRPr lang="en-NG" sz="1800" dirty="0">
              <a:effectLst/>
              <a:latin typeface="Arial Rounded MT Bold" panose="020F0704030504030204" pitchFamily="34"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2D8A4301-1A24-2572-CF19-4CDD4B96A14B}"/>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CDDDFF5E-F292-7D3F-6865-6FD3707F16CC}"/>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D9CC4BB6-7059-5FBD-F52D-31C7833806E6}"/>
              </a:ext>
            </a:extLst>
          </p:cNvPr>
          <p:cNvSpPr>
            <a:spLocks noGrp="1"/>
          </p:cNvSpPr>
          <p:nvPr>
            <p:ph type="sldNum" sz="quarter" idx="12"/>
          </p:nvPr>
        </p:nvSpPr>
        <p:spPr/>
        <p:txBody>
          <a:bodyPr/>
          <a:lstStyle/>
          <a:p>
            <a:fld id="{E30FEA02-71A2-4209-B909-B13DA9CFC23D}" type="slidenum">
              <a:rPr lang="en-NG" smtClean="0"/>
              <a:t>25</a:t>
            </a:fld>
            <a:endParaRPr lang="en-NG"/>
          </a:p>
        </p:txBody>
      </p:sp>
      <p:graphicFrame>
        <p:nvGraphicFramePr>
          <p:cNvPr id="5" name="Chart 4">
            <a:extLst>
              <a:ext uri="{FF2B5EF4-FFF2-40B4-BE49-F238E27FC236}">
                <a16:creationId xmlns:a16="http://schemas.microsoft.com/office/drawing/2014/main" id="{A787F441-B8AB-A8E4-F726-08D53519A8D7}"/>
              </a:ext>
            </a:extLst>
          </p:cNvPr>
          <p:cNvGraphicFramePr/>
          <p:nvPr>
            <p:extLst>
              <p:ext uri="{D42A27DB-BD31-4B8C-83A1-F6EECF244321}">
                <p14:modId xmlns:p14="http://schemas.microsoft.com/office/powerpoint/2010/main" val="2061265880"/>
              </p:ext>
            </p:extLst>
          </p:nvPr>
        </p:nvGraphicFramePr>
        <p:xfrm>
          <a:off x="1631855" y="1543565"/>
          <a:ext cx="9184088" cy="455793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84785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6BB3F-0AF2-74C7-136A-A3DB71193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9CE80-7C75-8389-1D17-58FD0FE94E20}"/>
              </a:ext>
            </a:extLst>
          </p:cNvPr>
          <p:cNvSpPr>
            <a:spLocks noGrp="1"/>
          </p:cNvSpPr>
          <p:nvPr>
            <p:ph type="ctrTitle"/>
          </p:nvPr>
        </p:nvSpPr>
        <p:spPr>
          <a:xfrm>
            <a:off x="1751428" y="189918"/>
            <a:ext cx="9144000" cy="1255813"/>
          </a:xfrm>
        </p:spPr>
        <p:txBody>
          <a:bodyPr>
            <a:noAutofit/>
          </a:bodyPr>
          <a:lstStyle/>
          <a:p>
            <a:br>
              <a:rPr lang="en-US" sz="3200" b="1" dirty="0">
                <a:latin typeface="Arial Rounded MT Bold" panose="020F0704030504030204" pitchFamily="34" charset="0"/>
                <a:cs typeface="Times New Roman" panose="02020603050405020304" pitchFamily="18" charset="0"/>
              </a:rPr>
            </a:br>
            <a:br>
              <a:rPr lang="en-US" sz="3200" b="1" dirty="0">
                <a:latin typeface="Arial Rounded MT Bold" panose="020F0704030504030204" pitchFamily="34" charset="0"/>
                <a:cs typeface="Times New Roman" panose="02020603050405020304" pitchFamily="18" charset="0"/>
              </a:rPr>
            </a:br>
            <a:r>
              <a:rPr lang="en-US" sz="3200" b="1" dirty="0">
                <a:latin typeface="Arial Rounded MT Bold" panose="020F0704030504030204" pitchFamily="34" charset="0"/>
                <a:cs typeface="Times New Roman" panose="02020603050405020304" pitchFamily="18" charset="0"/>
              </a:rPr>
              <a:t>Results and Discussions</a:t>
            </a:r>
            <a:br>
              <a:rPr lang="en-US"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F38E1396-6511-44B9-B7D1-775BD06B394B}"/>
              </a:ext>
            </a:extLst>
          </p:cNvPr>
          <p:cNvSpPr>
            <a:spLocks noGrp="1"/>
          </p:cNvSpPr>
          <p:nvPr>
            <p:ph type="subTitle" idx="1"/>
          </p:nvPr>
        </p:nvSpPr>
        <p:spPr>
          <a:xfrm>
            <a:off x="1012875" y="1122363"/>
            <a:ext cx="10363198" cy="5545719"/>
          </a:xfrm>
        </p:spPr>
        <p:txBody>
          <a:bodyPr>
            <a:normAutofit/>
          </a:bodyPr>
          <a:lstStyle/>
          <a:p>
            <a:pPr>
              <a:lnSpc>
                <a:spcPct val="150000"/>
              </a:lnSpc>
            </a:pPr>
            <a:r>
              <a:rPr lang="en-US" sz="1800" b="1" dirty="0">
                <a:latin typeface="Arial Rounded MT Bold" panose="020F0704030504030204" pitchFamily="34" charset="0"/>
                <a:cs typeface="Times New Roman" panose="02020603050405020304" pitchFamily="18" charset="0"/>
              </a:rPr>
              <a:t>Soil Investigation</a:t>
            </a:r>
            <a:br>
              <a:rPr lang="en-NG" sz="1800" dirty="0">
                <a:effectLst/>
                <a:latin typeface="Arial Rounded MT Bold" panose="020F0704030504030204" pitchFamily="34" charset="0"/>
                <a:ea typeface="Times New Roman" panose="02020603050405020304" pitchFamily="18" charset="0"/>
              </a:rPr>
            </a:b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Table </a:t>
            </a:r>
            <a:r>
              <a:rPr lang="en-GB" sz="1800" dirty="0">
                <a:latin typeface="Times New Roman" panose="02020603050405020304" pitchFamily="18" charset="0"/>
                <a:ea typeface="Times New Roman" panose="02020603050405020304" pitchFamily="18" charset="0"/>
                <a:cs typeface="Times New Roman" panose="02020603050405020304" pitchFamily="18" charset="0"/>
              </a:rPr>
              <a:t>9</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Hydraulic Conductivity of the Soil Samples</a:t>
            </a:r>
            <a:endParaRPr lang="en-NG"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200000"/>
              </a:lnSpc>
            </a:pPr>
            <a:endParaRPr lang="en-NG" sz="1400" dirty="0">
              <a:effectLst/>
              <a:latin typeface="Arial Rounded MT Bold" panose="020F0704030504030204" pitchFamily="34"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011E8E7E-BEC6-BA7F-9E36-B2DE4923F9E1}"/>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AA2F01AC-2365-0E28-5F42-CB96C0BAFFA3}"/>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08296314-B7A3-9511-9085-848166624148}"/>
              </a:ext>
            </a:extLst>
          </p:cNvPr>
          <p:cNvSpPr>
            <a:spLocks noGrp="1"/>
          </p:cNvSpPr>
          <p:nvPr>
            <p:ph type="sldNum" sz="quarter" idx="12"/>
          </p:nvPr>
        </p:nvSpPr>
        <p:spPr/>
        <p:txBody>
          <a:bodyPr/>
          <a:lstStyle/>
          <a:p>
            <a:fld id="{E30FEA02-71A2-4209-B909-B13DA9CFC23D}" type="slidenum">
              <a:rPr lang="en-NG" smtClean="0"/>
              <a:t>26</a:t>
            </a:fld>
            <a:endParaRPr lang="en-NG"/>
          </a:p>
        </p:txBody>
      </p:sp>
      <p:sp>
        <p:nvSpPr>
          <p:cNvPr id="9" name="TextBox 8">
            <a:extLst>
              <a:ext uri="{FF2B5EF4-FFF2-40B4-BE49-F238E27FC236}">
                <a16:creationId xmlns:a16="http://schemas.microsoft.com/office/drawing/2014/main" id="{69F793CD-281B-A46A-1DF5-AB20F18CD286}"/>
              </a:ext>
            </a:extLst>
          </p:cNvPr>
          <p:cNvSpPr txBox="1"/>
          <p:nvPr/>
        </p:nvSpPr>
        <p:spPr>
          <a:xfrm>
            <a:off x="1249315" y="5618017"/>
            <a:ext cx="9942753" cy="646331"/>
          </a:xfrm>
          <a:prstGeom prst="rect">
            <a:avLst/>
          </a:prstGeom>
          <a:noFill/>
        </p:spPr>
        <p:txBody>
          <a:bodyPr wrap="square">
            <a:spAutoFit/>
          </a:bodyPr>
          <a:lstStyle/>
          <a:p>
            <a:r>
              <a:rPr lang="en-GB" sz="1800" dirty="0">
                <a:effectLst/>
                <a:latin typeface="Arial Rounded MT Bold" panose="020F0704030504030204" pitchFamily="34" charset="0"/>
                <a:ea typeface="Times New Roman" panose="02020603050405020304" pitchFamily="18" charset="0"/>
                <a:cs typeface="Times New Roman" panose="02020603050405020304" pitchFamily="18" charset="0"/>
              </a:rPr>
              <a:t>Amphibolite </a:t>
            </a:r>
            <a:r>
              <a:rPr lang="en-US" dirty="0">
                <a:latin typeface="Times New Roman" panose="02020603050405020304" pitchFamily="18" charset="0"/>
                <a:ea typeface="Times New Roman" panose="02020603050405020304" pitchFamily="18" charset="0"/>
                <a:cs typeface="Times New Roman" panose="02020603050405020304" pitchFamily="18" charset="0"/>
              </a:rPr>
              <a:t>&lt; </a:t>
            </a:r>
            <a:r>
              <a:rPr lang="en-GB" sz="1800" dirty="0">
                <a:effectLst/>
                <a:latin typeface="Arial Rounded MT Bold" panose="020F0704030504030204" pitchFamily="34" charset="0"/>
                <a:ea typeface="Times New Roman" panose="02020603050405020304" pitchFamily="18" charset="0"/>
                <a:cs typeface="Times New Roman" panose="02020603050405020304" pitchFamily="18" charset="0"/>
              </a:rPr>
              <a:t>Migmatite and Gneiss</a:t>
            </a:r>
            <a:r>
              <a:rPr lang="en-GB" sz="1800" b="0" i="0" u="none" strike="noStrike" dirty="0">
                <a:solidFill>
                  <a:srgbClr val="000000"/>
                </a:solidFill>
                <a:effectLst/>
                <a:latin typeface="Times New Roman" panose="02020603050405020304" pitchFamily="18" charset="0"/>
                <a:ea typeface="Times New Roman" panose="02020603050405020304" pitchFamily="18" charset="0"/>
              </a:rPr>
              <a:t> &lt; </a:t>
            </a:r>
            <a:r>
              <a:rPr lang="en-GB" sz="1800" b="0" i="0" u="none" strike="noStrike" dirty="0">
                <a:solidFill>
                  <a:srgbClr val="000000"/>
                </a:solidFill>
                <a:effectLst/>
                <a:latin typeface="Arial Rounded MT Bold" panose="020F0704030504030204" pitchFamily="34" charset="0"/>
                <a:ea typeface="Times New Roman" panose="02020603050405020304" pitchFamily="18" charset="0"/>
              </a:rPr>
              <a:t>Amphibolite embedded with Mica Schist and Pegmatite</a:t>
            </a:r>
            <a:r>
              <a:rPr lang="en-GB" sz="1800" dirty="0">
                <a:effectLst/>
                <a:latin typeface="Arial Rounded MT Bold" panose="020F0704030504030204" pitchFamily="34"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ea typeface="Times New Roman" panose="02020603050405020304" pitchFamily="18" charset="0"/>
                <a:cs typeface="Times New Roman" panose="02020603050405020304" pitchFamily="18" charset="0"/>
              </a:rPr>
              <a:t>&lt; </a:t>
            </a:r>
            <a:r>
              <a:rPr lang="en-GB" sz="1800" dirty="0">
                <a:effectLst/>
                <a:latin typeface="Arial Rounded MT Bold" panose="020F0704030504030204" pitchFamily="34" charset="0"/>
                <a:ea typeface="Times New Roman" panose="02020603050405020304" pitchFamily="18" charset="0"/>
                <a:cs typeface="Times New Roman" panose="02020603050405020304" pitchFamily="18" charset="0"/>
              </a:rPr>
              <a:t>Granite-Gneiss </a:t>
            </a:r>
            <a:r>
              <a:rPr lang="en-US" dirty="0">
                <a:latin typeface="Times New Roman" panose="02020603050405020304" pitchFamily="18" charset="0"/>
                <a:ea typeface="Times New Roman" panose="02020603050405020304" pitchFamily="18" charset="0"/>
                <a:cs typeface="Times New Roman" panose="02020603050405020304" pitchFamily="18" charset="0"/>
              </a:rPr>
              <a:t>&lt; </a:t>
            </a:r>
            <a:r>
              <a:rPr lang="en-GB" sz="1800" dirty="0">
                <a:effectLst/>
                <a:latin typeface="Arial Rounded MT Bold" panose="020F0704030504030204" pitchFamily="34" charset="0"/>
                <a:ea typeface="Times New Roman" panose="02020603050405020304" pitchFamily="18" charset="0"/>
                <a:cs typeface="Times New Roman" panose="02020603050405020304" pitchFamily="18" charset="0"/>
              </a:rPr>
              <a:t>Mica Schist </a:t>
            </a:r>
            <a:r>
              <a:rPr lang="en-US" dirty="0">
                <a:latin typeface="Times New Roman" panose="02020603050405020304" pitchFamily="18" charset="0"/>
                <a:ea typeface="Times New Roman" panose="02020603050405020304" pitchFamily="18" charset="0"/>
                <a:cs typeface="Times New Roman" panose="02020603050405020304" pitchFamily="18" charset="0"/>
              </a:rPr>
              <a:t>&lt;</a:t>
            </a:r>
            <a:r>
              <a:rPr lang="en-GB" sz="1800" dirty="0">
                <a:effectLst/>
                <a:latin typeface="Arial Rounded MT Bold" panose="020F0704030504030204" pitchFamily="34" charset="0"/>
                <a:ea typeface="Times New Roman" panose="02020603050405020304" pitchFamily="18" charset="0"/>
                <a:cs typeface="Times New Roman" panose="02020603050405020304" pitchFamily="18" charset="0"/>
              </a:rPr>
              <a:t> Pegmatite</a:t>
            </a:r>
            <a:r>
              <a:rPr lang="en-NG" sz="1800" dirty="0">
                <a:effectLst/>
                <a:latin typeface="Times New Roman" panose="02020603050405020304" pitchFamily="18" charset="0"/>
                <a:ea typeface="Times New Roman" panose="02020603050405020304" pitchFamily="18" charset="0"/>
              </a:rPr>
              <a:t> </a:t>
            </a:r>
            <a:endParaRPr lang="en-NG" dirty="0"/>
          </a:p>
        </p:txBody>
      </p:sp>
      <p:graphicFrame>
        <p:nvGraphicFramePr>
          <p:cNvPr id="8" name="Table 7">
            <a:extLst>
              <a:ext uri="{FF2B5EF4-FFF2-40B4-BE49-F238E27FC236}">
                <a16:creationId xmlns:a16="http://schemas.microsoft.com/office/drawing/2014/main" id="{50202721-DD34-A35F-4B9E-F7CB539113CE}"/>
              </a:ext>
            </a:extLst>
          </p:cNvPr>
          <p:cNvGraphicFramePr>
            <a:graphicFrameLocks noGrp="1"/>
          </p:cNvGraphicFramePr>
          <p:nvPr>
            <p:extLst>
              <p:ext uri="{D42A27DB-BD31-4B8C-83A1-F6EECF244321}">
                <p14:modId xmlns:p14="http://schemas.microsoft.com/office/powerpoint/2010/main" val="4244158625"/>
              </p:ext>
            </p:extLst>
          </p:nvPr>
        </p:nvGraphicFramePr>
        <p:xfrm>
          <a:off x="1371600" y="2007481"/>
          <a:ext cx="9698184" cy="3518535"/>
        </p:xfrm>
        <a:graphic>
          <a:graphicData uri="http://schemas.openxmlformats.org/drawingml/2006/table">
            <a:tbl>
              <a:tblPr firstRow="1" firstCol="1" bandRow="1"/>
              <a:tblGrid>
                <a:gridCol w="1616364">
                  <a:extLst>
                    <a:ext uri="{9D8B030D-6E8A-4147-A177-3AD203B41FA5}">
                      <a16:colId xmlns:a16="http://schemas.microsoft.com/office/drawing/2014/main" val="3046667835"/>
                    </a:ext>
                  </a:extLst>
                </a:gridCol>
                <a:gridCol w="1616364">
                  <a:extLst>
                    <a:ext uri="{9D8B030D-6E8A-4147-A177-3AD203B41FA5}">
                      <a16:colId xmlns:a16="http://schemas.microsoft.com/office/drawing/2014/main" val="1046371699"/>
                    </a:ext>
                  </a:extLst>
                </a:gridCol>
                <a:gridCol w="1616364">
                  <a:extLst>
                    <a:ext uri="{9D8B030D-6E8A-4147-A177-3AD203B41FA5}">
                      <a16:colId xmlns:a16="http://schemas.microsoft.com/office/drawing/2014/main" val="548500782"/>
                    </a:ext>
                  </a:extLst>
                </a:gridCol>
                <a:gridCol w="1616364">
                  <a:extLst>
                    <a:ext uri="{9D8B030D-6E8A-4147-A177-3AD203B41FA5}">
                      <a16:colId xmlns:a16="http://schemas.microsoft.com/office/drawing/2014/main" val="4251777014"/>
                    </a:ext>
                  </a:extLst>
                </a:gridCol>
                <a:gridCol w="1616364">
                  <a:extLst>
                    <a:ext uri="{9D8B030D-6E8A-4147-A177-3AD203B41FA5}">
                      <a16:colId xmlns:a16="http://schemas.microsoft.com/office/drawing/2014/main" val="1741687558"/>
                    </a:ext>
                  </a:extLst>
                </a:gridCol>
                <a:gridCol w="1616364">
                  <a:extLst>
                    <a:ext uri="{9D8B030D-6E8A-4147-A177-3AD203B41FA5}">
                      <a16:colId xmlns:a16="http://schemas.microsoft.com/office/drawing/2014/main" val="3606070629"/>
                    </a:ext>
                  </a:extLst>
                </a:gridCol>
              </a:tblGrid>
              <a:tr h="583517">
                <a:tc>
                  <a:txBody>
                    <a:bodyPr/>
                    <a:lstStyle/>
                    <a:p>
                      <a:pPr algn="l" fontAlgn="ctr"/>
                      <a:r>
                        <a:rPr lang="en-GB" sz="1400" b="1" i="0" u="none" strike="noStrike" dirty="0">
                          <a:solidFill>
                            <a:srgbClr val="000000"/>
                          </a:solidFill>
                          <a:effectLst/>
                          <a:latin typeface="Arial Rounded MT Bold" panose="020F0704030504030204" pitchFamily="34" charset="0"/>
                          <a:ea typeface="Times New Roman" panose="02020603050405020304" pitchFamily="18" charset="0"/>
                        </a:rPr>
                        <a:t>Location</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GB" sz="1400" b="1" i="0" u="none" strike="noStrike" dirty="0">
                          <a:solidFill>
                            <a:srgbClr val="000000"/>
                          </a:solidFill>
                          <a:effectLst/>
                          <a:latin typeface="Arial Rounded MT Bold" panose="020F0704030504030204" pitchFamily="34" charset="0"/>
                          <a:ea typeface="Times New Roman" panose="02020603050405020304" pitchFamily="18" charset="0"/>
                        </a:rPr>
                        <a:t>Lithology</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1" i="0" u="none" strike="noStrike" dirty="0">
                          <a:solidFill>
                            <a:srgbClr val="000000"/>
                          </a:solidFill>
                          <a:effectLst/>
                          <a:latin typeface="Arial Rounded MT Bold" panose="020F0704030504030204" pitchFamily="34" charset="0"/>
                        </a:rPr>
                        <a:t>Effective Grain Size (D</a:t>
                      </a:r>
                      <a:r>
                        <a:rPr lang="en-US" sz="1400" b="1" i="0" u="none" strike="noStrike" baseline="-25000" dirty="0">
                          <a:solidFill>
                            <a:srgbClr val="000000"/>
                          </a:solidFill>
                          <a:effectLst/>
                          <a:latin typeface="Arial Rounded MT Bold" panose="020F0704030504030204" pitchFamily="34" charset="0"/>
                        </a:rPr>
                        <a:t>10</a:t>
                      </a:r>
                      <a:r>
                        <a:rPr lang="en-US" sz="1400" b="1" i="0" u="none" strike="noStrike" dirty="0">
                          <a:solidFill>
                            <a:srgbClr val="000000"/>
                          </a:solidFill>
                          <a:effectLst/>
                          <a:latin typeface="Arial Rounded MT Bold" panose="020F0704030504030204" pitchFamily="34" charset="0"/>
                        </a:rPr>
                        <a:t>)</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GB" sz="1400" b="1" i="0" u="none" strike="noStrike" dirty="0">
                          <a:solidFill>
                            <a:srgbClr val="000000"/>
                          </a:solidFill>
                          <a:effectLst/>
                          <a:latin typeface="Arial Rounded MT Bold" panose="020F0704030504030204" pitchFamily="34" charset="0"/>
                          <a:ea typeface="Times New Roman" panose="02020603050405020304" pitchFamily="18" charset="0"/>
                        </a:rPr>
                        <a:t>D</a:t>
                      </a:r>
                      <a:r>
                        <a:rPr lang="en-GB" sz="1400" b="1" i="0" u="none" strike="noStrike" baseline="-25000" dirty="0">
                          <a:solidFill>
                            <a:srgbClr val="000000"/>
                          </a:solidFill>
                          <a:effectLst/>
                          <a:latin typeface="Arial Rounded MT Bold" panose="020F0704030504030204" pitchFamily="34" charset="0"/>
                          <a:ea typeface="Times New Roman" panose="02020603050405020304" pitchFamily="18" charset="0"/>
                        </a:rPr>
                        <a:t>10</a:t>
                      </a:r>
                      <a:r>
                        <a:rPr lang="en-GB" sz="1400" b="1" i="0" u="none" strike="noStrike" baseline="30000" dirty="0">
                          <a:solidFill>
                            <a:srgbClr val="000000"/>
                          </a:solidFill>
                          <a:effectLst/>
                          <a:latin typeface="Arial Rounded MT Bold" panose="020F0704030504030204" pitchFamily="34" charset="0"/>
                          <a:ea typeface="Times New Roman" panose="02020603050405020304" pitchFamily="18" charset="0"/>
                        </a:rPr>
                        <a:t>2</a:t>
                      </a:r>
                      <a:r>
                        <a:rPr lang="en-GB" sz="1400" b="1" i="0" u="none" strike="noStrike" baseline="-25000" dirty="0">
                          <a:solidFill>
                            <a:srgbClr val="000000"/>
                          </a:solidFill>
                          <a:effectLst/>
                          <a:latin typeface="Arial Rounded MT Bold" panose="020F0704030504030204" pitchFamily="34" charset="0"/>
                          <a:ea typeface="Times New Roman" panose="02020603050405020304" pitchFamily="18" charset="0"/>
                        </a:rPr>
                        <a:t> </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1" i="0" u="none" strike="noStrike" dirty="0">
                          <a:solidFill>
                            <a:srgbClr val="000000"/>
                          </a:solidFill>
                          <a:effectLst/>
                          <a:latin typeface="Arial Rounded MT Bold" panose="020F0704030504030204" pitchFamily="34" charset="0"/>
                        </a:rPr>
                        <a:t>Hydraulic Conductivity (cm/s)</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GB" sz="1400" b="1" i="0" u="none" strike="noStrike" dirty="0">
                          <a:solidFill>
                            <a:srgbClr val="000000"/>
                          </a:solidFill>
                          <a:effectLst/>
                          <a:latin typeface="Arial Rounded MT Bold" panose="020F0704030504030204" pitchFamily="34" charset="0"/>
                          <a:ea typeface="Times New Roman" panose="02020603050405020304" pitchFamily="18" charset="0"/>
                        </a:rPr>
                        <a:t>Mean Hydraulic Conductivity (cm/s)</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8134188"/>
                  </a:ext>
                </a:extLst>
              </a:tr>
              <a:tr h="200210">
                <a:tc>
                  <a:txBody>
                    <a:bodyPr/>
                    <a:lstStyle/>
                    <a:p>
                      <a:pPr algn="l" fontAlgn="ctr"/>
                      <a:r>
                        <a:rPr lang="en-GB" sz="1400" b="1" i="0" u="none" strike="noStrike" dirty="0">
                          <a:solidFill>
                            <a:srgbClr val="000000"/>
                          </a:solidFill>
                          <a:effectLst/>
                          <a:latin typeface="Arial Rounded MT Bold" panose="020F0704030504030204" pitchFamily="34" charset="0"/>
                          <a:ea typeface="Times New Roman" panose="02020603050405020304" pitchFamily="18" charset="0"/>
                        </a:rPr>
                        <a:t>OSU 1</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Pegmatite</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0.12</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0.01</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1.43</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3.78</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7806265"/>
                  </a:ext>
                </a:extLst>
              </a:tr>
              <a:tr h="200210">
                <a:tc>
                  <a:txBody>
                    <a:bodyPr/>
                    <a:lstStyle/>
                    <a:p>
                      <a:pPr algn="l" fontAlgn="ctr"/>
                      <a:r>
                        <a:rPr lang="en-GB" sz="1400" b="1" i="0" u="none" strike="noStrike" dirty="0">
                          <a:solidFill>
                            <a:srgbClr val="000000"/>
                          </a:solidFill>
                          <a:effectLst/>
                          <a:latin typeface="Arial Rounded MT Bold" panose="020F0704030504030204" pitchFamily="34" charset="0"/>
                          <a:ea typeface="Times New Roman" panose="02020603050405020304" pitchFamily="18" charset="0"/>
                        </a:rPr>
                        <a:t>OSU 2</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NG"/>
                    </a:p>
                  </a:txBody>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0.25</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0.06</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6.13</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NG"/>
                    </a:p>
                  </a:txBody>
                  <a:tcPr/>
                </a:tc>
                <a:extLst>
                  <a:ext uri="{0D108BD9-81ED-4DB2-BD59-A6C34878D82A}">
                    <a16:rowId xmlns:a16="http://schemas.microsoft.com/office/drawing/2014/main" val="1027467887"/>
                  </a:ext>
                </a:extLst>
              </a:tr>
              <a:tr h="200210">
                <a:tc>
                  <a:txBody>
                    <a:bodyPr/>
                    <a:lstStyle/>
                    <a:p>
                      <a:pPr algn="l" fontAlgn="ctr"/>
                      <a:r>
                        <a:rPr lang="en-GB" sz="1400" b="1" i="0" u="none" strike="noStrike" dirty="0">
                          <a:solidFill>
                            <a:srgbClr val="000000"/>
                          </a:solidFill>
                          <a:effectLst/>
                          <a:latin typeface="Arial Rounded MT Bold" panose="020F0704030504030204" pitchFamily="34" charset="0"/>
                          <a:ea typeface="Times New Roman" panose="02020603050405020304" pitchFamily="18" charset="0"/>
                        </a:rPr>
                        <a:t>OAU</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Mica Schist </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0.12</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0.01</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1.49</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2.28</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3446084"/>
                  </a:ext>
                </a:extLst>
              </a:tr>
              <a:tr h="200210">
                <a:tc>
                  <a:txBody>
                    <a:bodyPr/>
                    <a:lstStyle/>
                    <a:p>
                      <a:pPr algn="l" fontAlgn="ctr"/>
                      <a:r>
                        <a:rPr lang="en-GB" sz="1400" b="1" i="0" u="none" strike="noStrike" dirty="0" err="1">
                          <a:solidFill>
                            <a:srgbClr val="000000"/>
                          </a:solidFill>
                          <a:effectLst/>
                          <a:latin typeface="Arial Rounded MT Bold" panose="020F0704030504030204" pitchFamily="34" charset="0"/>
                          <a:ea typeface="Times New Roman" panose="02020603050405020304" pitchFamily="18" charset="0"/>
                        </a:rPr>
                        <a:t>Fayafa</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NG"/>
                    </a:p>
                  </a:txBody>
                  <a:tcPr/>
                </a:tc>
                <a:tc>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0.18</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0.03</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3.06</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NG"/>
                    </a:p>
                  </a:txBody>
                  <a:tcPr/>
                </a:tc>
                <a:extLst>
                  <a:ext uri="{0D108BD9-81ED-4DB2-BD59-A6C34878D82A}">
                    <a16:rowId xmlns:a16="http://schemas.microsoft.com/office/drawing/2014/main" val="2558919591"/>
                  </a:ext>
                </a:extLst>
              </a:tr>
              <a:tr h="200210">
                <a:tc>
                  <a:txBody>
                    <a:bodyPr/>
                    <a:lstStyle/>
                    <a:p>
                      <a:pPr algn="l" fontAlgn="ctr"/>
                      <a:r>
                        <a:rPr lang="en-GB" sz="1400" b="1" i="0" u="none" strike="noStrike" dirty="0" err="1">
                          <a:solidFill>
                            <a:srgbClr val="000000"/>
                          </a:solidFill>
                          <a:effectLst/>
                          <a:latin typeface="Arial Rounded MT Bold" panose="020F0704030504030204" pitchFamily="34" charset="0"/>
                          <a:ea typeface="Times New Roman" panose="02020603050405020304" pitchFamily="18" charset="0"/>
                        </a:rPr>
                        <a:t>Itamerin</a:t>
                      </a:r>
                      <a:r>
                        <a:rPr lang="en-GB" sz="1400" b="1" i="0" u="none" strike="noStrike" dirty="0">
                          <a:solidFill>
                            <a:srgbClr val="000000"/>
                          </a:solidFill>
                          <a:effectLst/>
                          <a:latin typeface="Arial Rounded MT Bold" panose="020F0704030504030204" pitchFamily="34" charset="0"/>
                          <a:ea typeface="Times New Roman" panose="02020603050405020304" pitchFamily="18" charset="0"/>
                        </a:rPr>
                        <a:t> 1</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Granite-Gneiss</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0.15</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0.02</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2.3</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2.01</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109726"/>
                  </a:ext>
                </a:extLst>
              </a:tr>
              <a:tr h="200210">
                <a:tc>
                  <a:txBody>
                    <a:bodyPr/>
                    <a:lstStyle/>
                    <a:p>
                      <a:pPr algn="l" fontAlgn="ctr"/>
                      <a:r>
                        <a:rPr lang="en-GB" sz="1400" b="1" i="0" u="none" strike="noStrike" dirty="0" err="1">
                          <a:solidFill>
                            <a:srgbClr val="000000"/>
                          </a:solidFill>
                          <a:effectLst/>
                          <a:latin typeface="Arial Rounded MT Bold" panose="020F0704030504030204" pitchFamily="34" charset="0"/>
                          <a:ea typeface="Times New Roman" panose="02020603050405020304" pitchFamily="18" charset="0"/>
                        </a:rPr>
                        <a:t>Itamerin</a:t>
                      </a:r>
                      <a:r>
                        <a:rPr lang="en-GB" sz="1400" b="1" i="0" u="none" strike="noStrike" dirty="0">
                          <a:solidFill>
                            <a:srgbClr val="000000"/>
                          </a:solidFill>
                          <a:effectLst/>
                          <a:latin typeface="Arial Rounded MT Bold" panose="020F0704030504030204" pitchFamily="34" charset="0"/>
                          <a:ea typeface="Times New Roman" panose="02020603050405020304" pitchFamily="18" charset="0"/>
                        </a:rPr>
                        <a:t> 2</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NG"/>
                    </a:p>
                  </a:txBody>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0.13</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0.02</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1.71</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NG"/>
                    </a:p>
                  </a:txBody>
                  <a:tcPr/>
                </a:tc>
                <a:extLst>
                  <a:ext uri="{0D108BD9-81ED-4DB2-BD59-A6C34878D82A}">
                    <a16:rowId xmlns:a16="http://schemas.microsoft.com/office/drawing/2014/main" val="1189605951"/>
                  </a:ext>
                </a:extLst>
              </a:tr>
              <a:tr h="200210">
                <a:tc>
                  <a:txBody>
                    <a:bodyPr/>
                    <a:lstStyle/>
                    <a:p>
                      <a:pPr algn="l" fontAlgn="ctr"/>
                      <a:r>
                        <a:rPr lang="en-GB" sz="1400" b="1" i="0" u="none" strike="noStrike" dirty="0">
                          <a:solidFill>
                            <a:srgbClr val="000000"/>
                          </a:solidFill>
                          <a:effectLst/>
                          <a:latin typeface="Arial Rounded MT Bold" panose="020F0704030504030204" pitchFamily="34" charset="0"/>
                          <a:ea typeface="Times New Roman" panose="02020603050405020304" pitchFamily="18" charset="0"/>
                        </a:rPr>
                        <a:t>Odin 1 </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Amphibolite embedded with Mica Schist and Pegmatite</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0.1</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0.01</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1.09</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1.24</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4479103"/>
                  </a:ext>
                </a:extLst>
              </a:tr>
              <a:tr h="574961">
                <a:tc>
                  <a:txBody>
                    <a:bodyPr/>
                    <a:lstStyle/>
                    <a:p>
                      <a:pPr algn="l" fontAlgn="ctr"/>
                      <a:r>
                        <a:rPr lang="en-GB" sz="1400" b="1" i="0" u="none" strike="noStrike" dirty="0">
                          <a:solidFill>
                            <a:srgbClr val="000000"/>
                          </a:solidFill>
                          <a:effectLst/>
                          <a:latin typeface="Arial Rounded MT Bold" panose="020F0704030504030204" pitchFamily="34" charset="0"/>
                          <a:ea typeface="Times New Roman" panose="02020603050405020304" pitchFamily="18" charset="0"/>
                        </a:rPr>
                        <a:t>Odin 2</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algn="l" fontAlgn="ctr"/>
                      <a:endParaRPr lang="en-NG" sz="12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0.12</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0.01</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1.38</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algn="ctr" fontAlgn="ctr"/>
                      <a:endParaRPr lang="en-NG"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3582673"/>
                  </a:ext>
                </a:extLst>
              </a:tr>
              <a:tr h="200210">
                <a:tc>
                  <a:txBody>
                    <a:bodyPr/>
                    <a:lstStyle/>
                    <a:p>
                      <a:pPr algn="l" fontAlgn="ctr"/>
                      <a:r>
                        <a:rPr lang="en-GB" sz="1400" b="1" i="0" u="none" strike="noStrike" dirty="0" err="1">
                          <a:solidFill>
                            <a:srgbClr val="000000"/>
                          </a:solidFill>
                          <a:effectLst/>
                          <a:latin typeface="Arial Rounded MT Bold" panose="020F0704030504030204" pitchFamily="34" charset="0"/>
                          <a:ea typeface="Times New Roman" panose="02020603050405020304" pitchFamily="18" charset="0"/>
                        </a:rPr>
                        <a:t>Obaluru</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Migmatite </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0.1</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0.01</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1.04</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1.04</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866528"/>
                  </a:ext>
                </a:extLst>
              </a:tr>
              <a:tr h="200210">
                <a:tc>
                  <a:txBody>
                    <a:bodyPr/>
                    <a:lstStyle/>
                    <a:p>
                      <a:pPr algn="l" fontAlgn="ctr"/>
                      <a:r>
                        <a:rPr lang="en-GB" sz="1400" b="1" i="0" u="none" strike="noStrike" dirty="0" err="1">
                          <a:solidFill>
                            <a:srgbClr val="000000"/>
                          </a:solidFill>
                          <a:effectLst/>
                          <a:latin typeface="Arial Rounded MT Bold" panose="020F0704030504030204" pitchFamily="34" charset="0"/>
                          <a:ea typeface="Times New Roman" panose="02020603050405020304" pitchFamily="18" charset="0"/>
                        </a:rPr>
                        <a:t>Erinta</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Amphibolite</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0.1</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0.01</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0.97</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NG" sz="1400" b="0" i="0" u="none" strike="noStrike" dirty="0">
                          <a:solidFill>
                            <a:srgbClr val="000000"/>
                          </a:solidFill>
                          <a:effectLst/>
                          <a:latin typeface="Arial Rounded MT Bold" panose="020F0704030504030204" pitchFamily="34" charset="0"/>
                        </a:rPr>
                        <a:t>0.79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30463609"/>
                  </a:ext>
                </a:extLst>
              </a:tr>
              <a:tr h="206597">
                <a:tc>
                  <a:txBody>
                    <a:bodyPr/>
                    <a:lstStyle/>
                    <a:p>
                      <a:pPr algn="l" fontAlgn="ctr"/>
                      <a:r>
                        <a:rPr lang="en-GB" sz="1400" b="1" i="0" u="none" strike="noStrike" dirty="0" err="1">
                          <a:solidFill>
                            <a:srgbClr val="000000"/>
                          </a:solidFill>
                          <a:effectLst/>
                          <a:latin typeface="Arial Rounded MT Bold" panose="020F0704030504030204" pitchFamily="34" charset="0"/>
                          <a:ea typeface="Times New Roman" panose="02020603050405020304" pitchFamily="18" charset="0"/>
                        </a:rPr>
                        <a:t>Lajaroko</a:t>
                      </a:r>
                      <a:r>
                        <a:rPr lang="en-GB" sz="1400" b="1" i="0" u="none" strike="noStrike" dirty="0">
                          <a:solidFill>
                            <a:srgbClr val="000000"/>
                          </a:solidFill>
                          <a:effectLst/>
                          <a:latin typeface="Arial Rounded MT Bold" panose="020F0704030504030204" pitchFamily="34" charset="0"/>
                          <a:ea typeface="Times New Roman" panose="02020603050405020304" pitchFamily="18" charset="0"/>
                        </a:rPr>
                        <a:t>/</a:t>
                      </a:r>
                      <a:r>
                        <a:rPr lang="en-GB" sz="1400" b="1" i="0" u="none" strike="noStrike" dirty="0" err="1">
                          <a:solidFill>
                            <a:srgbClr val="000000"/>
                          </a:solidFill>
                          <a:effectLst/>
                          <a:latin typeface="Arial Rounded MT Bold" panose="020F0704030504030204" pitchFamily="34" charset="0"/>
                          <a:ea typeface="Times New Roman" panose="02020603050405020304" pitchFamily="18" charset="0"/>
                        </a:rPr>
                        <a:t>Kosere</a:t>
                      </a:r>
                      <a:endParaRPr lang="en-NG" sz="1400" b="1"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NG"/>
                    </a:p>
                  </a:txBody>
                  <a:tcPr/>
                </a:tc>
                <a:tc>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0.08</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a:solidFill>
                            <a:srgbClr val="000000"/>
                          </a:solidFill>
                          <a:effectLst/>
                          <a:latin typeface="Arial Rounded MT Bold" panose="020F0704030504030204" pitchFamily="34" charset="0"/>
                          <a:ea typeface="Times New Roman" panose="02020603050405020304" pitchFamily="18" charset="0"/>
                        </a:rPr>
                        <a:t>0.01</a:t>
                      </a:r>
                      <a:endParaRPr lang="en-NG" sz="1400" b="0" i="0" u="none" strike="noStrike">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400" b="0" i="0" u="none" strike="noStrike" dirty="0">
                          <a:solidFill>
                            <a:srgbClr val="000000"/>
                          </a:solidFill>
                          <a:effectLst/>
                          <a:latin typeface="Arial Rounded MT Bold" panose="020F0704030504030204" pitchFamily="34" charset="0"/>
                          <a:ea typeface="Times New Roman" panose="02020603050405020304" pitchFamily="18" charset="0"/>
                        </a:rPr>
                        <a:t>0.61</a:t>
                      </a:r>
                      <a:endParaRPr lang="en-NG" sz="1400" b="0" i="0" u="none" strike="noStrike" dirty="0">
                        <a:solidFill>
                          <a:srgbClr val="000000"/>
                        </a:solidFill>
                        <a:effectLst/>
                        <a:latin typeface="Arial Rounded MT Bold" panose="020F07040305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NG"/>
                    </a:p>
                  </a:txBody>
                  <a:tcPr/>
                </a:tc>
                <a:extLst>
                  <a:ext uri="{0D108BD9-81ED-4DB2-BD59-A6C34878D82A}">
                    <a16:rowId xmlns:a16="http://schemas.microsoft.com/office/drawing/2014/main" val="2361422138"/>
                  </a:ext>
                </a:extLst>
              </a:tr>
            </a:tbl>
          </a:graphicData>
        </a:graphic>
      </p:graphicFrame>
    </p:spTree>
    <p:extLst>
      <p:ext uri="{BB962C8B-B14F-4D97-AF65-F5344CB8AC3E}">
        <p14:creationId xmlns:p14="http://schemas.microsoft.com/office/powerpoint/2010/main" val="31304806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6BB3F-0AF2-74C7-136A-A3DB71193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9CE80-7C75-8389-1D17-58FD0FE94E20}"/>
              </a:ext>
            </a:extLst>
          </p:cNvPr>
          <p:cNvSpPr>
            <a:spLocks noGrp="1"/>
          </p:cNvSpPr>
          <p:nvPr>
            <p:ph type="ctrTitle"/>
          </p:nvPr>
        </p:nvSpPr>
        <p:spPr>
          <a:xfrm>
            <a:off x="1751428" y="189918"/>
            <a:ext cx="9144000" cy="1255813"/>
          </a:xfrm>
        </p:spPr>
        <p:txBody>
          <a:bodyPr>
            <a:noAutofit/>
          </a:bodyPr>
          <a:lstStyle/>
          <a:p>
            <a:br>
              <a:rPr lang="en-US" sz="3200" b="1" dirty="0">
                <a:latin typeface="Arial Rounded MT Bold" panose="020F0704030504030204" pitchFamily="34" charset="0"/>
                <a:cs typeface="Times New Roman" panose="02020603050405020304" pitchFamily="18" charset="0"/>
              </a:rPr>
            </a:br>
            <a:br>
              <a:rPr lang="en-US" sz="3200" b="1" dirty="0">
                <a:latin typeface="Arial Rounded MT Bold" panose="020F0704030504030204" pitchFamily="34" charset="0"/>
                <a:cs typeface="Times New Roman" panose="02020603050405020304" pitchFamily="18" charset="0"/>
              </a:rPr>
            </a:br>
            <a:r>
              <a:rPr lang="en-US" sz="3200" b="1" dirty="0">
                <a:latin typeface="Arial Rounded MT Bold" panose="020F0704030504030204" pitchFamily="34" charset="0"/>
                <a:cs typeface="Times New Roman" panose="02020603050405020304" pitchFamily="18" charset="0"/>
              </a:rPr>
              <a:t>Results and Discussions</a:t>
            </a:r>
            <a:br>
              <a:rPr lang="en-US"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F38E1396-6511-44B9-B7D1-775BD06B394B}"/>
              </a:ext>
            </a:extLst>
          </p:cNvPr>
          <p:cNvSpPr>
            <a:spLocks noGrp="1"/>
          </p:cNvSpPr>
          <p:nvPr>
            <p:ph type="subTitle" idx="1"/>
          </p:nvPr>
        </p:nvSpPr>
        <p:spPr>
          <a:xfrm>
            <a:off x="1012875" y="1122363"/>
            <a:ext cx="10363198" cy="5545719"/>
          </a:xfrm>
        </p:spPr>
        <p:txBody>
          <a:bodyPr>
            <a:normAutofit/>
          </a:bodyPr>
          <a:lstStyle/>
          <a:p>
            <a:pPr>
              <a:lnSpc>
                <a:spcPct val="100000"/>
              </a:lnSpc>
            </a:pPr>
            <a:r>
              <a:rPr lang="en-US" sz="1800" dirty="0">
                <a:latin typeface="Arial Rounded MT Bold" panose="020F0704030504030204" pitchFamily="34" charset="0"/>
              </a:rPr>
              <a:t>SW-GW </a:t>
            </a: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Interaction</a:t>
            </a:r>
            <a:br>
              <a:rPr lang="en-NG" sz="1800" dirty="0">
                <a:effectLst/>
                <a:latin typeface="Arial Rounded MT Bold" panose="020F0704030504030204" pitchFamily="34" charset="0"/>
                <a:ea typeface="Times New Roman" panose="02020603050405020304" pitchFamily="18" charset="0"/>
              </a:rPr>
            </a:b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Table 10: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Coefficient of Variation between Surface Water and Groundwater for Wet Season across different Lithologies</a:t>
            </a:r>
          </a:p>
          <a:p>
            <a:pPr>
              <a:lnSpc>
                <a:spcPct val="100000"/>
              </a:lnSpc>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0000"/>
              </a:lnSpc>
            </a:pPr>
            <a:endParaRPr lang="en-NG" dirty="0">
              <a:effectLst/>
              <a:latin typeface="Arial Rounded MT Bold" panose="020F0704030504030204" pitchFamily="34"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011E8E7E-BEC6-BA7F-9E36-B2DE4923F9E1}"/>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AA2F01AC-2365-0E28-5F42-CB96C0BAFFA3}"/>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08296314-B7A3-9511-9085-848166624148}"/>
              </a:ext>
            </a:extLst>
          </p:cNvPr>
          <p:cNvSpPr>
            <a:spLocks noGrp="1"/>
          </p:cNvSpPr>
          <p:nvPr>
            <p:ph type="sldNum" sz="quarter" idx="12"/>
          </p:nvPr>
        </p:nvSpPr>
        <p:spPr/>
        <p:txBody>
          <a:bodyPr/>
          <a:lstStyle/>
          <a:p>
            <a:fld id="{E30FEA02-71A2-4209-B909-B13DA9CFC23D}" type="slidenum">
              <a:rPr lang="en-NG" smtClean="0"/>
              <a:t>27</a:t>
            </a:fld>
            <a:endParaRPr lang="en-NG"/>
          </a:p>
        </p:txBody>
      </p:sp>
      <p:graphicFrame>
        <p:nvGraphicFramePr>
          <p:cNvPr id="8" name="Table 7">
            <a:extLst>
              <a:ext uri="{FF2B5EF4-FFF2-40B4-BE49-F238E27FC236}">
                <a16:creationId xmlns:a16="http://schemas.microsoft.com/office/drawing/2014/main" id="{66D9763D-0346-55B5-C8E2-F94F2571724A}"/>
              </a:ext>
            </a:extLst>
          </p:cNvPr>
          <p:cNvGraphicFramePr>
            <a:graphicFrameLocks noGrp="1"/>
          </p:cNvGraphicFramePr>
          <p:nvPr>
            <p:extLst>
              <p:ext uri="{D42A27DB-BD31-4B8C-83A1-F6EECF244321}">
                <p14:modId xmlns:p14="http://schemas.microsoft.com/office/powerpoint/2010/main" val="839174704"/>
              </p:ext>
            </p:extLst>
          </p:nvPr>
        </p:nvGraphicFramePr>
        <p:xfrm>
          <a:off x="1892978" y="2043019"/>
          <a:ext cx="8602992" cy="4052004"/>
        </p:xfrm>
        <a:graphic>
          <a:graphicData uri="http://schemas.openxmlformats.org/drawingml/2006/table">
            <a:tbl>
              <a:tblPr/>
              <a:tblGrid>
                <a:gridCol w="875980">
                  <a:extLst>
                    <a:ext uri="{9D8B030D-6E8A-4147-A177-3AD203B41FA5}">
                      <a16:colId xmlns:a16="http://schemas.microsoft.com/office/drawing/2014/main" val="2223286360"/>
                    </a:ext>
                  </a:extLst>
                </a:gridCol>
                <a:gridCol w="557852">
                  <a:extLst>
                    <a:ext uri="{9D8B030D-6E8A-4147-A177-3AD203B41FA5}">
                      <a16:colId xmlns:a16="http://schemas.microsoft.com/office/drawing/2014/main" val="2833236931"/>
                    </a:ext>
                  </a:extLst>
                </a:gridCol>
                <a:gridCol w="716916">
                  <a:extLst>
                    <a:ext uri="{9D8B030D-6E8A-4147-A177-3AD203B41FA5}">
                      <a16:colId xmlns:a16="http://schemas.microsoft.com/office/drawing/2014/main" val="1816539954"/>
                    </a:ext>
                  </a:extLst>
                </a:gridCol>
                <a:gridCol w="716916">
                  <a:extLst>
                    <a:ext uri="{9D8B030D-6E8A-4147-A177-3AD203B41FA5}">
                      <a16:colId xmlns:a16="http://schemas.microsoft.com/office/drawing/2014/main" val="4188285896"/>
                    </a:ext>
                  </a:extLst>
                </a:gridCol>
                <a:gridCol w="716916">
                  <a:extLst>
                    <a:ext uri="{9D8B030D-6E8A-4147-A177-3AD203B41FA5}">
                      <a16:colId xmlns:a16="http://schemas.microsoft.com/office/drawing/2014/main" val="2847197485"/>
                    </a:ext>
                  </a:extLst>
                </a:gridCol>
                <a:gridCol w="716916">
                  <a:extLst>
                    <a:ext uri="{9D8B030D-6E8A-4147-A177-3AD203B41FA5}">
                      <a16:colId xmlns:a16="http://schemas.microsoft.com/office/drawing/2014/main" val="122922611"/>
                    </a:ext>
                  </a:extLst>
                </a:gridCol>
                <a:gridCol w="716916">
                  <a:extLst>
                    <a:ext uri="{9D8B030D-6E8A-4147-A177-3AD203B41FA5}">
                      <a16:colId xmlns:a16="http://schemas.microsoft.com/office/drawing/2014/main" val="3744678936"/>
                    </a:ext>
                  </a:extLst>
                </a:gridCol>
                <a:gridCol w="716916">
                  <a:extLst>
                    <a:ext uri="{9D8B030D-6E8A-4147-A177-3AD203B41FA5}">
                      <a16:colId xmlns:a16="http://schemas.microsoft.com/office/drawing/2014/main" val="4034929211"/>
                    </a:ext>
                  </a:extLst>
                </a:gridCol>
                <a:gridCol w="716916">
                  <a:extLst>
                    <a:ext uri="{9D8B030D-6E8A-4147-A177-3AD203B41FA5}">
                      <a16:colId xmlns:a16="http://schemas.microsoft.com/office/drawing/2014/main" val="2599031694"/>
                    </a:ext>
                  </a:extLst>
                </a:gridCol>
                <a:gridCol w="716916">
                  <a:extLst>
                    <a:ext uri="{9D8B030D-6E8A-4147-A177-3AD203B41FA5}">
                      <a16:colId xmlns:a16="http://schemas.microsoft.com/office/drawing/2014/main" val="1291317249"/>
                    </a:ext>
                  </a:extLst>
                </a:gridCol>
                <a:gridCol w="716916">
                  <a:extLst>
                    <a:ext uri="{9D8B030D-6E8A-4147-A177-3AD203B41FA5}">
                      <a16:colId xmlns:a16="http://schemas.microsoft.com/office/drawing/2014/main" val="1521224574"/>
                    </a:ext>
                  </a:extLst>
                </a:gridCol>
                <a:gridCol w="716916">
                  <a:extLst>
                    <a:ext uri="{9D8B030D-6E8A-4147-A177-3AD203B41FA5}">
                      <a16:colId xmlns:a16="http://schemas.microsoft.com/office/drawing/2014/main" val="3891923647"/>
                    </a:ext>
                  </a:extLst>
                </a:gridCol>
              </a:tblGrid>
              <a:tr h="335187">
                <a:tc>
                  <a:txBody>
                    <a:bodyPr/>
                    <a:lstStyle/>
                    <a:p>
                      <a:pPr algn="l" rtl="0" fontAlgn="ctr"/>
                      <a:r>
                        <a:rPr lang="en-US" sz="1200" b="1" i="0" u="none" strike="noStrike" dirty="0">
                          <a:solidFill>
                            <a:srgbClr val="000000"/>
                          </a:solidFill>
                          <a:effectLst/>
                          <a:latin typeface="Arial Rounded MT Bold" panose="020F0704030504030204" pitchFamily="34" charset="0"/>
                        </a:rPr>
                        <a:t>Sample/Conc.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dirty="0">
                          <a:solidFill>
                            <a:srgbClr val="000000"/>
                          </a:solidFill>
                          <a:effectLst/>
                          <a:latin typeface="Arial Rounded MT Bold" panose="020F0704030504030204" pitchFamily="34" charset="0"/>
                        </a:rPr>
                        <a:t>SITE 1</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2</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5</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6</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7</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8</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9</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10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Average</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06715818"/>
                  </a:ext>
                </a:extLst>
              </a:tr>
              <a:tr h="446916">
                <a:tc>
                  <a:txBody>
                    <a:bodyPr/>
                    <a:lstStyle/>
                    <a:p>
                      <a:pPr algn="l" rtl="0" fontAlgn="ctr"/>
                      <a:r>
                        <a:rPr lang="en-US" sz="1200" b="1" i="0" u="none" strike="noStrike">
                          <a:solidFill>
                            <a:srgbClr val="000000"/>
                          </a:solidFill>
                          <a:effectLst/>
                          <a:latin typeface="Arial Rounded MT Bold" panose="020F0704030504030204" pitchFamily="34" charset="0"/>
                        </a:rPr>
                        <a:t>Rock unit</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dirty="0">
                          <a:solidFill>
                            <a:srgbClr val="000000"/>
                          </a:solidFill>
                          <a:effectLst/>
                          <a:latin typeface="Arial Rounded MT Bold" panose="020F0704030504030204" pitchFamily="34" charset="0"/>
                        </a:rPr>
                        <a:t>Mica Schist</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Mica Schist</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Mica Schist</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Granite-Gneiss</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Pegmatite</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Amphibolite</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Migmatite</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Amphibolite</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Amphibolite</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Mica Schist</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1" i="0" u="none" strike="noStrike">
                          <a:solidFill>
                            <a:srgbClr val="000000"/>
                          </a:solidFill>
                          <a:effectLst/>
                          <a:latin typeface="Arial Rounded MT Bold" panose="020F0704030504030204" pitchFamily="34" charset="0"/>
                        </a:rPr>
                        <a:t>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5924309"/>
                  </a:ext>
                </a:extLst>
              </a:tr>
              <a:tr h="558645">
                <a:tc>
                  <a:txBody>
                    <a:bodyPr/>
                    <a:lstStyle/>
                    <a:p>
                      <a:pPr algn="l" rtl="0" fontAlgn="ctr"/>
                      <a:r>
                        <a:rPr lang="en-US" sz="1200" b="1" i="0" u="none" strike="noStrike" dirty="0">
                          <a:solidFill>
                            <a:srgbClr val="000000"/>
                          </a:solidFill>
                          <a:effectLst/>
                          <a:latin typeface="Arial Rounded MT Bold" panose="020F0704030504030204" pitchFamily="34" charset="0"/>
                        </a:rPr>
                        <a:t>Parameters (&gt;100)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6</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7</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5</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2</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5</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7543744"/>
                  </a:ext>
                </a:extLst>
              </a:tr>
              <a:tr h="558645">
                <a:tc>
                  <a:txBody>
                    <a:bodyPr/>
                    <a:lstStyle/>
                    <a:p>
                      <a:pPr algn="l" rtl="0" fontAlgn="ctr"/>
                      <a:r>
                        <a:rPr lang="en-US" sz="1200" b="1" i="0" u="none" strike="noStrike">
                          <a:solidFill>
                            <a:srgbClr val="000000"/>
                          </a:solidFill>
                          <a:effectLst/>
                          <a:latin typeface="Arial Rounded MT Bold" panose="020F0704030504030204" pitchFamily="34" charset="0"/>
                        </a:rPr>
                        <a:t>Parameters (&gt;50&lt;100)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6</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8</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2</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8</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6</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5</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7</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3121843"/>
                  </a:ext>
                </a:extLst>
              </a:tr>
              <a:tr h="446916">
                <a:tc>
                  <a:txBody>
                    <a:bodyPr/>
                    <a:lstStyle/>
                    <a:p>
                      <a:pPr algn="l" rtl="0" fontAlgn="ctr"/>
                      <a:r>
                        <a:rPr lang="en-US" sz="1200" b="1" i="0" u="none" strike="noStrike">
                          <a:solidFill>
                            <a:srgbClr val="000000"/>
                          </a:solidFill>
                          <a:effectLst/>
                          <a:latin typeface="Arial Rounded MT Bold" panose="020F0704030504030204" pitchFamily="34" charset="0"/>
                        </a:rPr>
                        <a:t>Parameters (&lt;50)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17</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16</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14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17</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20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12</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17</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19</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1826000"/>
                  </a:ext>
                </a:extLst>
              </a:tr>
              <a:tr h="446916">
                <a:tc>
                  <a:txBody>
                    <a:bodyPr/>
                    <a:lstStyle/>
                    <a:p>
                      <a:pPr algn="l" rtl="0" fontAlgn="ctr"/>
                      <a:r>
                        <a:rPr lang="en-US" sz="1200" b="1" i="0" u="none" strike="noStrike">
                          <a:solidFill>
                            <a:srgbClr val="000000"/>
                          </a:solidFill>
                          <a:effectLst/>
                          <a:latin typeface="Arial Rounded MT Bold" panose="020F0704030504030204" pitchFamily="34" charset="0"/>
                        </a:rPr>
                        <a:t>High variation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16.00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12.00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12.00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24.00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4.00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28.00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20.00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8.00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4.00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20.00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14.80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1397281"/>
                  </a:ext>
                </a:extLst>
              </a:tr>
              <a:tr h="558645">
                <a:tc>
                  <a:txBody>
                    <a:bodyPr/>
                    <a:lstStyle/>
                    <a:p>
                      <a:pPr algn="l" rtl="0" fontAlgn="ctr"/>
                      <a:r>
                        <a:rPr lang="en-US" sz="1200" b="1" i="0" u="none" strike="noStrike">
                          <a:solidFill>
                            <a:srgbClr val="000000"/>
                          </a:solidFill>
                          <a:effectLst/>
                          <a:latin typeface="Arial Rounded MT Bold" panose="020F0704030504030204" pitchFamily="34" charset="0"/>
                        </a:rPr>
                        <a:t>Moderate variation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16.00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24.00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32.00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8.00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16.00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16.00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32.00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24.00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20.00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28.00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21.60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8441060"/>
                  </a:ext>
                </a:extLst>
              </a:tr>
              <a:tr h="446916">
                <a:tc>
                  <a:txBody>
                    <a:bodyPr/>
                    <a:lstStyle/>
                    <a:p>
                      <a:pPr algn="l" rtl="0" fontAlgn="ctr"/>
                      <a:r>
                        <a:rPr lang="en-US" sz="1200" b="1" i="0" u="none" strike="noStrike">
                          <a:solidFill>
                            <a:srgbClr val="000000"/>
                          </a:solidFill>
                          <a:effectLst/>
                          <a:latin typeface="Arial Rounded MT Bold" panose="020F0704030504030204" pitchFamily="34" charset="0"/>
                        </a:rPr>
                        <a:t>Low variation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68.00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64.00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56.00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68.00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80.00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56.00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48.00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68.00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76.00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52.00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63.60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2356549"/>
                  </a:ext>
                </a:extLst>
              </a:tr>
            </a:tbl>
          </a:graphicData>
        </a:graphic>
      </p:graphicFrame>
    </p:spTree>
    <p:extLst>
      <p:ext uri="{BB962C8B-B14F-4D97-AF65-F5344CB8AC3E}">
        <p14:creationId xmlns:p14="http://schemas.microsoft.com/office/powerpoint/2010/main" val="3459268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6BB3F-0AF2-74C7-136A-A3DB71193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9CE80-7C75-8389-1D17-58FD0FE94E20}"/>
              </a:ext>
            </a:extLst>
          </p:cNvPr>
          <p:cNvSpPr>
            <a:spLocks noGrp="1"/>
          </p:cNvSpPr>
          <p:nvPr>
            <p:ph type="ctrTitle"/>
          </p:nvPr>
        </p:nvSpPr>
        <p:spPr>
          <a:xfrm>
            <a:off x="1751428" y="189918"/>
            <a:ext cx="9144000" cy="1255813"/>
          </a:xfrm>
        </p:spPr>
        <p:txBody>
          <a:bodyPr>
            <a:noAutofit/>
          </a:bodyPr>
          <a:lstStyle/>
          <a:p>
            <a:br>
              <a:rPr lang="en-US" sz="3200" b="1" dirty="0">
                <a:latin typeface="Arial Rounded MT Bold" panose="020F0704030504030204" pitchFamily="34" charset="0"/>
                <a:cs typeface="Times New Roman" panose="02020603050405020304" pitchFamily="18" charset="0"/>
              </a:rPr>
            </a:br>
            <a:br>
              <a:rPr lang="en-US" sz="3200" b="1" dirty="0">
                <a:latin typeface="Arial Rounded MT Bold" panose="020F0704030504030204" pitchFamily="34" charset="0"/>
                <a:cs typeface="Times New Roman" panose="02020603050405020304" pitchFamily="18" charset="0"/>
              </a:rPr>
            </a:br>
            <a:r>
              <a:rPr lang="en-US" sz="3200" b="1" dirty="0">
                <a:latin typeface="Arial Rounded MT Bold" panose="020F0704030504030204" pitchFamily="34" charset="0"/>
                <a:cs typeface="Times New Roman" panose="02020603050405020304" pitchFamily="18" charset="0"/>
              </a:rPr>
              <a:t>Results and Discussions</a:t>
            </a:r>
            <a:br>
              <a:rPr lang="en-US" sz="3200" b="1" dirty="0">
                <a:latin typeface="Arial Rounded MT Bold" panose="020F0704030504030204" pitchFamily="34" charset="0"/>
                <a:cs typeface="Times New Roman" panose="02020603050405020304" pitchFamily="18" charset="0"/>
              </a:rPr>
            </a:br>
            <a:endParaRPr lang="en-NG" sz="32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F38E1396-6511-44B9-B7D1-775BD06B394B}"/>
              </a:ext>
            </a:extLst>
          </p:cNvPr>
          <p:cNvSpPr>
            <a:spLocks noGrp="1"/>
          </p:cNvSpPr>
          <p:nvPr>
            <p:ph type="subTitle" idx="1"/>
          </p:nvPr>
        </p:nvSpPr>
        <p:spPr>
          <a:xfrm>
            <a:off x="1012875" y="1122363"/>
            <a:ext cx="10363198" cy="5545719"/>
          </a:xfrm>
        </p:spPr>
        <p:txBody>
          <a:bodyPr>
            <a:normAutofit/>
          </a:bodyPr>
          <a:lstStyle/>
          <a:p>
            <a:pPr>
              <a:lnSpc>
                <a:spcPct val="100000"/>
              </a:lnSpc>
            </a:pPr>
            <a:r>
              <a:rPr lang="en-US" sz="1800" dirty="0">
                <a:latin typeface="Arial Rounded MT Bold" panose="020F0704030504030204" pitchFamily="34" charset="0"/>
              </a:rPr>
              <a:t>SW-GW </a:t>
            </a: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Interaction</a:t>
            </a:r>
            <a:br>
              <a:rPr lang="en-NG" sz="1800" dirty="0">
                <a:effectLst/>
                <a:latin typeface="Arial Rounded MT Bold" panose="020F0704030504030204" pitchFamily="34" charset="0"/>
                <a:ea typeface="Times New Roman" panose="02020603050405020304" pitchFamily="18" charset="0"/>
              </a:rPr>
            </a:b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Table 11: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Coefficient of Variation between Surface Water and Groundwater for </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Dry</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Season across different Lithologies</a:t>
            </a:r>
          </a:p>
          <a:p>
            <a:pPr>
              <a:lnSpc>
                <a:spcPct val="100000"/>
              </a:lnSpc>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0000"/>
              </a:lnSpc>
            </a:pPr>
            <a:endParaRPr lang="en-NG" dirty="0">
              <a:effectLst/>
              <a:latin typeface="Arial Rounded MT Bold" panose="020F0704030504030204" pitchFamily="34"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011E8E7E-BEC6-BA7F-9E36-B2DE4923F9E1}"/>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AA2F01AC-2365-0E28-5F42-CB96C0BAFFA3}"/>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08296314-B7A3-9511-9085-848166624148}"/>
              </a:ext>
            </a:extLst>
          </p:cNvPr>
          <p:cNvSpPr>
            <a:spLocks noGrp="1"/>
          </p:cNvSpPr>
          <p:nvPr>
            <p:ph type="sldNum" sz="quarter" idx="12"/>
          </p:nvPr>
        </p:nvSpPr>
        <p:spPr/>
        <p:txBody>
          <a:bodyPr/>
          <a:lstStyle/>
          <a:p>
            <a:fld id="{E30FEA02-71A2-4209-B909-B13DA9CFC23D}" type="slidenum">
              <a:rPr lang="en-NG" smtClean="0"/>
              <a:t>28</a:t>
            </a:fld>
            <a:endParaRPr lang="en-NG"/>
          </a:p>
        </p:txBody>
      </p:sp>
      <p:graphicFrame>
        <p:nvGraphicFramePr>
          <p:cNvPr id="6" name="Table 5">
            <a:extLst>
              <a:ext uri="{FF2B5EF4-FFF2-40B4-BE49-F238E27FC236}">
                <a16:creationId xmlns:a16="http://schemas.microsoft.com/office/drawing/2014/main" id="{D43C4717-8653-F11E-F01D-A94670DA8FE5}"/>
              </a:ext>
            </a:extLst>
          </p:cNvPr>
          <p:cNvGraphicFramePr>
            <a:graphicFrameLocks noGrp="1"/>
          </p:cNvGraphicFramePr>
          <p:nvPr>
            <p:extLst>
              <p:ext uri="{D42A27DB-BD31-4B8C-83A1-F6EECF244321}">
                <p14:modId xmlns:p14="http://schemas.microsoft.com/office/powerpoint/2010/main" val="984811956"/>
              </p:ext>
            </p:extLst>
          </p:nvPr>
        </p:nvGraphicFramePr>
        <p:xfrm>
          <a:off x="1944610" y="2054809"/>
          <a:ext cx="8757636" cy="4108287"/>
        </p:xfrm>
        <a:graphic>
          <a:graphicData uri="http://schemas.openxmlformats.org/drawingml/2006/table">
            <a:tbl>
              <a:tblPr/>
              <a:tblGrid>
                <a:gridCol w="914500">
                  <a:extLst>
                    <a:ext uri="{9D8B030D-6E8A-4147-A177-3AD203B41FA5}">
                      <a16:colId xmlns:a16="http://schemas.microsoft.com/office/drawing/2014/main" val="2589084675"/>
                    </a:ext>
                  </a:extLst>
                </a:gridCol>
                <a:gridCol w="545106">
                  <a:extLst>
                    <a:ext uri="{9D8B030D-6E8A-4147-A177-3AD203B41FA5}">
                      <a16:colId xmlns:a16="http://schemas.microsoft.com/office/drawing/2014/main" val="3092019169"/>
                    </a:ext>
                  </a:extLst>
                </a:gridCol>
                <a:gridCol w="729803">
                  <a:extLst>
                    <a:ext uri="{9D8B030D-6E8A-4147-A177-3AD203B41FA5}">
                      <a16:colId xmlns:a16="http://schemas.microsoft.com/office/drawing/2014/main" val="553604897"/>
                    </a:ext>
                  </a:extLst>
                </a:gridCol>
                <a:gridCol w="729803">
                  <a:extLst>
                    <a:ext uri="{9D8B030D-6E8A-4147-A177-3AD203B41FA5}">
                      <a16:colId xmlns:a16="http://schemas.microsoft.com/office/drawing/2014/main" val="2036657426"/>
                    </a:ext>
                  </a:extLst>
                </a:gridCol>
                <a:gridCol w="729803">
                  <a:extLst>
                    <a:ext uri="{9D8B030D-6E8A-4147-A177-3AD203B41FA5}">
                      <a16:colId xmlns:a16="http://schemas.microsoft.com/office/drawing/2014/main" val="4217879503"/>
                    </a:ext>
                  </a:extLst>
                </a:gridCol>
                <a:gridCol w="729803">
                  <a:extLst>
                    <a:ext uri="{9D8B030D-6E8A-4147-A177-3AD203B41FA5}">
                      <a16:colId xmlns:a16="http://schemas.microsoft.com/office/drawing/2014/main" val="4009915120"/>
                    </a:ext>
                  </a:extLst>
                </a:gridCol>
                <a:gridCol w="729803">
                  <a:extLst>
                    <a:ext uri="{9D8B030D-6E8A-4147-A177-3AD203B41FA5}">
                      <a16:colId xmlns:a16="http://schemas.microsoft.com/office/drawing/2014/main" val="3331399425"/>
                    </a:ext>
                  </a:extLst>
                </a:gridCol>
                <a:gridCol w="729803">
                  <a:extLst>
                    <a:ext uri="{9D8B030D-6E8A-4147-A177-3AD203B41FA5}">
                      <a16:colId xmlns:a16="http://schemas.microsoft.com/office/drawing/2014/main" val="1745889577"/>
                    </a:ext>
                  </a:extLst>
                </a:gridCol>
                <a:gridCol w="729803">
                  <a:extLst>
                    <a:ext uri="{9D8B030D-6E8A-4147-A177-3AD203B41FA5}">
                      <a16:colId xmlns:a16="http://schemas.microsoft.com/office/drawing/2014/main" val="2173565481"/>
                    </a:ext>
                  </a:extLst>
                </a:gridCol>
                <a:gridCol w="729803">
                  <a:extLst>
                    <a:ext uri="{9D8B030D-6E8A-4147-A177-3AD203B41FA5}">
                      <a16:colId xmlns:a16="http://schemas.microsoft.com/office/drawing/2014/main" val="620360421"/>
                    </a:ext>
                  </a:extLst>
                </a:gridCol>
                <a:gridCol w="729803">
                  <a:extLst>
                    <a:ext uri="{9D8B030D-6E8A-4147-A177-3AD203B41FA5}">
                      <a16:colId xmlns:a16="http://schemas.microsoft.com/office/drawing/2014/main" val="163782464"/>
                    </a:ext>
                  </a:extLst>
                </a:gridCol>
                <a:gridCol w="729803">
                  <a:extLst>
                    <a:ext uri="{9D8B030D-6E8A-4147-A177-3AD203B41FA5}">
                      <a16:colId xmlns:a16="http://schemas.microsoft.com/office/drawing/2014/main" val="4250493727"/>
                    </a:ext>
                  </a:extLst>
                </a:gridCol>
              </a:tblGrid>
              <a:tr h="344167">
                <a:tc>
                  <a:txBody>
                    <a:bodyPr/>
                    <a:lstStyle/>
                    <a:p>
                      <a:pPr algn="l" rtl="0" fontAlgn="ctr"/>
                      <a:r>
                        <a:rPr lang="en-US" sz="1200" b="1" i="0" u="none" strike="noStrike" dirty="0">
                          <a:solidFill>
                            <a:srgbClr val="000000"/>
                          </a:solidFill>
                          <a:effectLst/>
                          <a:latin typeface="Arial Rounded MT Bold" panose="020F0704030504030204" pitchFamily="34" charset="0"/>
                        </a:rPr>
                        <a:t>Sample/Conc.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dirty="0">
                          <a:solidFill>
                            <a:srgbClr val="000000"/>
                          </a:solidFill>
                          <a:effectLst/>
                          <a:latin typeface="Arial Rounded MT Bold" panose="020F0704030504030204" pitchFamily="34" charset="0"/>
                        </a:rPr>
                        <a:t>SITE 1</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2</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5</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6</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7</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8</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9</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SITE 10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Average</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50925283"/>
                  </a:ext>
                </a:extLst>
              </a:tr>
              <a:tr h="427260">
                <a:tc>
                  <a:txBody>
                    <a:bodyPr/>
                    <a:lstStyle/>
                    <a:p>
                      <a:pPr algn="l" rtl="0" fontAlgn="ctr"/>
                      <a:r>
                        <a:rPr lang="en-US" sz="1200" b="1" i="0" u="none" strike="noStrike">
                          <a:solidFill>
                            <a:srgbClr val="000000"/>
                          </a:solidFill>
                          <a:effectLst/>
                          <a:latin typeface="Arial Rounded MT Bold" panose="020F0704030504030204" pitchFamily="34" charset="0"/>
                        </a:rPr>
                        <a:t>Rock unit</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dirty="0">
                          <a:solidFill>
                            <a:srgbClr val="000000"/>
                          </a:solidFill>
                          <a:effectLst/>
                          <a:latin typeface="Arial Rounded MT Bold" panose="020F0704030504030204" pitchFamily="34" charset="0"/>
                        </a:rPr>
                        <a:t>Mica Schist</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dirty="0">
                          <a:solidFill>
                            <a:srgbClr val="000000"/>
                          </a:solidFill>
                          <a:effectLst/>
                          <a:latin typeface="Arial Rounded MT Bold" panose="020F0704030504030204" pitchFamily="34" charset="0"/>
                        </a:rPr>
                        <a:t>Mica Schist</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dirty="0">
                          <a:solidFill>
                            <a:srgbClr val="000000"/>
                          </a:solidFill>
                          <a:effectLst/>
                          <a:latin typeface="Arial Rounded MT Bold" panose="020F0704030504030204" pitchFamily="34" charset="0"/>
                        </a:rPr>
                        <a:t>Mica Schist</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dirty="0">
                          <a:solidFill>
                            <a:srgbClr val="000000"/>
                          </a:solidFill>
                          <a:effectLst/>
                          <a:latin typeface="Arial Rounded MT Bold" panose="020F0704030504030204" pitchFamily="34" charset="0"/>
                        </a:rPr>
                        <a:t>Granite-Gneiss</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Pegmatite</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Amphibolite</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Migmatite</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Amphibolite</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Amphibolite</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200" b="1" i="0" u="none" strike="noStrike">
                          <a:solidFill>
                            <a:srgbClr val="000000"/>
                          </a:solidFill>
                          <a:effectLst/>
                          <a:latin typeface="Arial Rounded MT Bold" panose="020F0704030504030204" pitchFamily="34" charset="0"/>
                        </a:rPr>
                        <a:t>Mica Schist</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1" i="0" u="none" strike="noStrike">
                          <a:solidFill>
                            <a:srgbClr val="000000"/>
                          </a:solidFill>
                          <a:effectLst/>
                          <a:latin typeface="Arial Rounded MT Bold" panose="020F0704030504030204" pitchFamily="34" charset="0"/>
                        </a:rPr>
                        <a:t>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7090523"/>
                  </a:ext>
                </a:extLst>
              </a:tr>
              <a:tr h="534075">
                <a:tc>
                  <a:txBody>
                    <a:bodyPr/>
                    <a:lstStyle/>
                    <a:p>
                      <a:pPr algn="l" rtl="0" fontAlgn="ctr"/>
                      <a:r>
                        <a:rPr lang="en-US" sz="1200" b="1" i="0" u="none" strike="noStrike">
                          <a:solidFill>
                            <a:srgbClr val="000000"/>
                          </a:solidFill>
                          <a:effectLst/>
                          <a:latin typeface="Arial Rounded MT Bold" panose="020F0704030504030204" pitchFamily="34" charset="0"/>
                        </a:rPr>
                        <a:t>Parameters (&gt;100)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5</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5</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2</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5290606"/>
                  </a:ext>
                </a:extLst>
              </a:tr>
              <a:tr h="682416">
                <a:tc>
                  <a:txBody>
                    <a:bodyPr/>
                    <a:lstStyle/>
                    <a:p>
                      <a:pPr algn="l" rtl="0" fontAlgn="ctr"/>
                      <a:r>
                        <a:rPr lang="en-US" sz="1200" b="1" i="0" u="none" strike="noStrike">
                          <a:solidFill>
                            <a:srgbClr val="000000"/>
                          </a:solidFill>
                          <a:effectLst/>
                          <a:latin typeface="Arial Rounded MT Bold" panose="020F0704030504030204" pitchFamily="34" charset="0"/>
                        </a:rPr>
                        <a:t>Parameters (&gt;50&lt;100)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8</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2</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5</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7</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5</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024740"/>
                  </a:ext>
                </a:extLst>
              </a:tr>
              <a:tr h="427260">
                <a:tc>
                  <a:txBody>
                    <a:bodyPr/>
                    <a:lstStyle/>
                    <a:p>
                      <a:pPr algn="l" rtl="0" fontAlgn="ctr"/>
                      <a:r>
                        <a:rPr lang="en-US" sz="1200" b="1" i="0" u="none" strike="noStrike" dirty="0">
                          <a:solidFill>
                            <a:srgbClr val="000000"/>
                          </a:solidFill>
                          <a:effectLst/>
                          <a:latin typeface="Arial Rounded MT Bold" panose="020F0704030504030204" pitchFamily="34" charset="0"/>
                        </a:rPr>
                        <a:t>Parameters (&lt;50)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20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15</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20</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18</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18</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18</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18</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16</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19</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19</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2780282"/>
                  </a:ext>
                </a:extLst>
              </a:tr>
              <a:tr h="513291">
                <a:tc>
                  <a:txBody>
                    <a:bodyPr/>
                    <a:lstStyle/>
                    <a:p>
                      <a:pPr algn="l" rtl="0" fontAlgn="ctr"/>
                      <a:r>
                        <a:rPr lang="en-US" sz="1200" b="1" i="0" u="none" strike="noStrike">
                          <a:solidFill>
                            <a:srgbClr val="000000"/>
                          </a:solidFill>
                          <a:effectLst/>
                          <a:latin typeface="Arial Rounded MT Bold" panose="020F0704030504030204" pitchFamily="34" charset="0"/>
                        </a:rPr>
                        <a:t>High variation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14.81</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11.54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15.38</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15.38</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19.23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11.54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19.23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11.54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14.81</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7.69</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14.12</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3770344"/>
                  </a:ext>
                </a:extLst>
              </a:tr>
              <a:tr h="534075">
                <a:tc>
                  <a:txBody>
                    <a:bodyPr/>
                    <a:lstStyle/>
                    <a:p>
                      <a:pPr algn="l" rtl="0" fontAlgn="ctr"/>
                      <a:r>
                        <a:rPr lang="en-US" sz="1200" b="1" i="0" u="none" strike="noStrike">
                          <a:solidFill>
                            <a:srgbClr val="000000"/>
                          </a:solidFill>
                          <a:effectLst/>
                          <a:latin typeface="Arial Rounded MT Bold" panose="020F0704030504030204" pitchFamily="34" charset="0"/>
                        </a:rPr>
                        <a:t>Moderate variation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11.11</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30.77</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7.69</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15.38</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11.54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19.23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11.54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26.92</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14.81</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19.23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16.82</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8549610"/>
                  </a:ext>
                </a:extLst>
              </a:tr>
              <a:tr h="513291">
                <a:tc>
                  <a:txBody>
                    <a:bodyPr/>
                    <a:lstStyle/>
                    <a:p>
                      <a:pPr algn="l" rtl="0" fontAlgn="ctr"/>
                      <a:r>
                        <a:rPr lang="en-US" sz="1200" b="1" i="0" u="none" strike="noStrike">
                          <a:solidFill>
                            <a:srgbClr val="000000"/>
                          </a:solidFill>
                          <a:effectLst/>
                          <a:latin typeface="Arial Rounded MT Bold" panose="020F0704030504030204" pitchFamily="34" charset="0"/>
                        </a:rPr>
                        <a:t>Low variation (%)</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74.07</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57.69</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76.92</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69.23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69.23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69.23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69.23</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61.54</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70.37</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a:solidFill>
                            <a:srgbClr val="000000"/>
                          </a:solidFill>
                          <a:effectLst/>
                          <a:latin typeface="Arial Rounded MT Bold" panose="020F0704030504030204" pitchFamily="34" charset="0"/>
                        </a:rPr>
                        <a:t>73.08</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NG" sz="1200" b="0" i="0" u="none" strike="noStrike" dirty="0">
                          <a:solidFill>
                            <a:srgbClr val="000000"/>
                          </a:solidFill>
                          <a:effectLst/>
                          <a:latin typeface="Arial Rounded MT Bold" panose="020F0704030504030204" pitchFamily="34" charset="0"/>
                        </a:rPr>
                        <a:t>69.06</a:t>
                      </a:r>
                    </a:p>
                  </a:txBody>
                  <a:tcPr marL="6399" marR="6399" marT="6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5588065"/>
                  </a:ext>
                </a:extLst>
              </a:tr>
            </a:tbl>
          </a:graphicData>
        </a:graphic>
      </p:graphicFrame>
    </p:spTree>
    <p:extLst>
      <p:ext uri="{BB962C8B-B14F-4D97-AF65-F5344CB8AC3E}">
        <p14:creationId xmlns:p14="http://schemas.microsoft.com/office/powerpoint/2010/main" val="26985780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A8F10-E29F-BAF7-C9C4-52942DEB1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2146A-DABF-2966-0F6E-3F91B6649028}"/>
              </a:ext>
            </a:extLst>
          </p:cNvPr>
          <p:cNvSpPr>
            <a:spLocks noGrp="1"/>
          </p:cNvSpPr>
          <p:nvPr>
            <p:ph type="ctrTitle"/>
          </p:nvPr>
        </p:nvSpPr>
        <p:spPr>
          <a:xfrm>
            <a:off x="1805354" y="189918"/>
            <a:ext cx="9144000" cy="750239"/>
          </a:xfrm>
        </p:spPr>
        <p:txBody>
          <a:bodyPr>
            <a:noAutofit/>
          </a:bodyPr>
          <a:lstStyle/>
          <a:p>
            <a:r>
              <a:rPr lang="en-GB" sz="3200" b="1" dirty="0">
                <a:latin typeface="Arial Rounded MT Bold" panose="020F0704030504030204" pitchFamily="34" charset="0"/>
                <a:cs typeface="Times New Roman" panose="02020603050405020304" pitchFamily="18" charset="0"/>
              </a:rPr>
              <a:t>Recommendations</a:t>
            </a:r>
            <a:endParaRPr lang="en-NG" sz="3200" dirty="0"/>
          </a:p>
        </p:txBody>
      </p:sp>
      <p:sp>
        <p:nvSpPr>
          <p:cNvPr id="3" name="Subtitle 2">
            <a:extLst>
              <a:ext uri="{FF2B5EF4-FFF2-40B4-BE49-F238E27FC236}">
                <a16:creationId xmlns:a16="http://schemas.microsoft.com/office/drawing/2014/main" id="{25906783-51D3-4C84-CF56-2F55A8A85B21}"/>
              </a:ext>
            </a:extLst>
          </p:cNvPr>
          <p:cNvSpPr>
            <a:spLocks noGrp="1"/>
          </p:cNvSpPr>
          <p:nvPr>
            <p:ph type="subTitle" idx="1"/>
          </p:nvPr>
        </p:nvSpPr>
        <p:spPr>
          <a:xfrm>
            <a:off x="1012875" y="1491175"/>
            <a:ext cx="10363195" cy="5176907"/>
          </a:xfrm>
        </p:spPr>
        <p:txBody>
          <a:bodyPr>
            <a:normAutofit/>
          </a:bodyPr>
          <a:lstStyle/>
          <a:p>
            <a:pPr algn="just"/>
            <a:r>
              <a:rPr lang="en-US" kern="0" dirty="0">
                <a:latin typeface="Arial Rounded MT Bold" panose="020F0704030504030204" pitchFamily="34" charset="0"/>
                <a:cs typeface="Times New Roman" panose="02020603050405020304" pitchFamily="18" charset="0"/>
              </a:rPr>
              <a:t>The following recommendations are proposed for effective management and </a:t>
            </a:r>
            <a:r>
              <a:rPr lang="en-US" kern="0" dirty="0" err="1">
                <a:latin typeface="Arial Rounded MT Bold" panose="020F0704030504030204" pitchFamily="34" charset="0"/>
                <a:cs typeface="Times New Roman" panose="02020603050405020304" pitchFamily="18" charset="0"/>
              </a:rPr>
              <a:t>utilisation</a:t>
            </a:r>
            <a:r>
              <a:rPr lang="en-US" kern="0" dirty="0">
                <a:latin typeface="Arial Rounded MT Bold" panose="020F0704030504030204" pitchFamily="34" charset="0"/>
                <a:cs typeface="Times New Roman" panose="02020603050405020304" pitchFamily="18" charset="0"/>
              </a:rPr>
              <a:t> of the water resources within Opa Drainage Basin in line with SDG) 6 ensuring availability and sustainable management of water and sanitation for all</a:t>
            </a:r>
            <a:endParaRPr lang="en-GB" kern="0" dirty="0">
              <a:latin typeface="Arial Rounded MT Bold" panose="020F0704030504030204" pitchFamily="34" charset="0"/>
              <a:cs typeface="Times New Roman" panose="02020603050405020304" pitchFamily="18" charset="0"/>
            </a:endParaRPr>
          </a:p>
          <a:p>
            <a:pPr marL="342900" indent="-342900" algn="just">
              <a:lnSpc>
                <a:spcPct val="150000"/>
              </a:lnSpc>
              <a:buFont typeface="Wingdings" panose="05000000000000000000" pitchFamily="2" charset="2"/>
              <a:buChar char="q"/>
            </a:pPr>
            <a:r>
              <a:rPr lang="en-US" dirty="0">
                <a:latin typeface="Arial Rounded MT Bold" panose="020F0704030504030204" pitchFamily="34" charset="0"/>
              </a:rPr>
              <a:t>Establish long term monitoring systems for surface water and groundwater to track seasonal variations and contamination level. </a:t>
            </a:r>
          </a:p>
          <a:p>
            <a:pPr marL="342900" indent="-342900" algn="just">
              <a:lnSpc>
                <a:spcPct val="150000"/>
              </a:lnSpc>
              <a:buFont typeface="Wingdings" panose="05000000000000000000" pitchFamily="2" charset="2"/>
              <a:buChar char="q"/>
            </a:pPr>
            <a:r>
              <a:rPr lang="en-US" dirty="0">
                <a:latin typeface="Arial Rounded MT Bold" panose="020F0704030504030204" pitchFamily="34" charset="0"/>
              </a:rPr>
              <a:t>Develop and implement advanced water treatment solutions.</a:t>
            </a:r>
          </a:p>
          <a:p>
            <a:pPr marL="342900" indent="-342900" algn="just">
              <a:lnSpc>
                <a:spcPct val="150000"/>
              </a:lnSpc>
              <a:buFont typeface="Wingdings" panose="05000000000000000000" pitchFamily="2" charset="2"/>
              <a:buChar char="q"/>
            </a:pPr>
            <a:r>
              <a:rPr lang="en-US" dirty="0">
                <a:latin typeface="Arial Rounded MT Bold" panose="020F0704030504030204" pitchFamily="34" charset="0"/>
              </a:rPr>
              <a:t>Strengthen the enforcement of existing water quality regulations and standards.</a:t>
            </a:r>
          </a:p>
          <a:p>
            <a:pPr marL="342900" indent="-342900" algn="just">
              <a:lnSpc>
                <a:spcPct val="150000"/>
              </a:lnSpc>
              <a:buFont typeface="Wingdings" panose="05000000000000000000" pitchFamily="2" charset="2"/>
              <a:buChar char="q"/>
            </a:pPr>
            <a:r>
              <a:rPr lang="en-US" dirty="0">
                <a:latin typeface="Arial Rounded MT Bold" panose="020F0704030504030204" pitchFamily="34" charset="0"/>
              </a:rPr>
              <a:t>Prioritize sustainable mining. </a:t>
            </a:r>
            <a:endParaRPr lang="en-NG" dirty="0">
              <a:latin typeface="Arial Rounded MT Bold" panose="020F0704030504030204" pitchFamily="34" charset="0"/>
            </a:endParaRPr>
          </a:p>
        </p:txBody>
      </p:sp>
      <p:cxnSp>
        <p:nvCxnSpPr>
          <p:cNvPr id="7" name="Straight Connector 6">
            <a:extLst>
              <a:ext uri="{FF2B5EF4-FFF2-40B4-BE49-F238E27FC236}">
                <a16:creationId xmlns:a16="http://schemas.microsoft.com/office/drawing/2014/main" id="{EDE730FE-31D4-9810-EDE0-085B3AC20C56}"/>
              </a:ext>
            </a:extLst>
          </p:cNvPr>
          <p:cNvCxnSpPr>
            <a:cxnSpLocks/>
          </p:cNvCxnSpPr>
          <p:nvPr/>
        </p:nvCxnSpPr>
        <p:spPr>
          <a:xfrm>
            <a:off x="0" y="1135242"/>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2FBBC5-8331-E59C-5F3B-24AE6ED22024}"/>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B10735EF-6106-4A97-8CEA-9602020D1A6F}"/>
              </a:ext>
            </a:extLst>
          </p:cNvPr>
          <p:cNvSpPr>
            <a:spLocks noGrp="1"/>
          </p:cNvSpPr>
          <p:nvPr>
            <p:ph type="sldNum" sz="quarter" idx="12"/>
          </p:nvPr>
        </p:nvSpPr>
        <p:spPr/>
        <p:txBody>
          <a:bodyPr/>
          <a:lstStyle/>
          <a:p>
            <a:fld id="{E30FEA02-71A2-4209-B909-B13DA9CFC23D}" type="slidenum">
              <a:rPr lang="en-NG" smtClean="0"/>
              <a:t>29</a:t>
            </a:fld>
            <a:endParaRPr lang="en-NG"/>
          </a:p>
        </p:txBody>
      </p:sp>
    </p:spTree>
    <p:extLst>
      <p:ext uri="{BB962C8B-B14F-4D97-AF65-F5344CB8AC3E}">
        <p14:creationId xmlns:p14="http://schemas.microsoft.com/office/powerpoint/2010/main" val="17063718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E6ACE-BD2B-83F0-7E79-BB67B9B5F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9F5E5-0BFD-6F95-5B98-23C4E0A501D3}"/>
              </a:ext>
            </a:extLst>
          </p:cNvPr>
          <p:cNvSpPr>
            <a:spLocks noGrp="1"/>
          </p:cNvSpPr>
          <p:nvPr>
            <p:ph type="ctrTitle"/>
          </p:nvPr>
        </p:nvSpPr>
        <p:spPr>
          <a:xfrm>
            <a:off x="1805354" y="189918"/>
            <a:ext cx="9144000" cy="750239"/>
          </a:xfrm>
        </p:spPr>
        <p:txBody>
          <a:bodyPr>
            <a:noAutofit/>
          </a:bodyPr>
          <a:lstStyle/>
          <a:p>
            <a:r>
              <a:rPr lang="en-GB" sz="3200" b="1" dirty="0">
                <a:latin typeface="Arial Rounded MT Bold" panose="020F0704030504030204" pitchFamily="34" charset="0"/>
                <a:cs typeface="Times New Roman" panose="02020603050405020304" pitchFamily="18" charset="0"/>
              </a:rPr>
              <a:t>Conclusion</a:t>
            </a:r>
            <a:endParaRPr lang="en-NG" sz="3200" dirty="0"/>
          </a:p>
        </p:txBody>
      </p:sp>
      <p:sp>
        <p:nvSpPr>
          <p:cNvPr id="3" name="Subtitle 2">
            <a:extLst>
              <a:ext uri="{FF2B5EF4-FFF2-40B4-BE49-F238E27FC236}">
                <a16:creationId xmlns:a16="http://schemas.microsoft.com/office/drawing/2014/main" id="{02E9B776-A96D-BFB0-80BA-22A6D6DC733C}"/>
              </a:ext>
            </a:extLst>
          </p:cNvPr>
          <p:cNvSpPr>
            <a:spLocks noGrp="1"/>
          </p:cNvSpPr>
          <p:nvPr>
            <p:ph type="subTitle" idx="1"/>
          </p:nvPr>
        </p:nvSpPr>
        <p:spPr>
          <a:xfrm>
            <a:off x="1012875" y="1491175"/>
            <a:ext cx="10363195" cy="5176907"/>
          </a:xfrm>
        </p:spPr>
        <p:txBody>
          <a:bodyPr>
            <a:normAutofit/>
          </a:bodyPr>
          <a:lstStyle/>
          <a:p>
            <a:pPr algn="just"/>
            <a:endParaRPr lang="en-GB" kern="0" dirty="0">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r>
              <a:rPr lang="en-GB" kern="0" dirty="0">
                <a:effectLst/>
                <a:latin typeface="Arial Rounded MT Bold" panose="020F0704030504030204" pitchFamily="34" charset="0"/>
                <a:ea typeface="Calibri" panose="020F0502020204030204" pitchFamily="34" charset="0"/>
                <a:cs typeface="Times New Roman" panose="02020603050405020304" pitchFamily="18" charset="0"/>
              </a:rPr>
              <a:t>The study established a high degree of interaction between the surface water and groundwater based on the low concentration variation observed in the water chemistry data for the wet and dry seasons, varying across soils from different rock types</a:t>
            </a:r>
            <a:r>
              <a:rPr lang="en-GB" sz="1800" kern="0" dirty="0">
                <a:effectLst/>
                <a:latin typeface="Calibri" panose="020F0502020204030204" pitchFamily="34" charset="0"/>
                <a:ea typeface="Calibri" panose="020F0502020204030204" pitchFamily="34" charset="0"/>
                <a:cs typeface="Times New Roman" panose="02020603050405020304" pitchFamily="18" charset="0"/>
              </a:rPr>
              <a:t>.</a:t>
            </a:r>
          </a:p>
          <a:p>
            <a:pPr algn="just"/>
            <a:endParaRPr lang="en-US" dirty="0">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endParaRPr lang="en-US" dirty="0">
              <a:latin typeface="Arial Rounded MT Bold" panose="020F0704030504030204" pitchFamily="34" charset="0"/>
              <a:ea typeface="Calibri" panose="020F0502020204030204" pitchFamily="34" charset="0"/>
              <a:cs typeface="Times New Roman" panose="02020603050405020304" pitchFamily="18" charset="0"/>
            </a:endParaRPr>
          </a:p>
          <a:p>
            <a:pPr algn="just"/>
            <a:r>
              <a:rPr lang="en-NG" dirty="0">
                <a:effectLst/>
                <a:latin typeface="Arial Rounded MT Bold" panose="020F0704030504030204" pitchFamily="34" charset="0"/>
                <a:ea typeface="Calibri" panose="020F0502020204030204" pitchFamily="34" charset="0"/>
                <a:cs typeface="Times New Roman" panose="02020603050405020304" pitchFamily="18" charset="0"/>
              </a:rPr>
              <a:t>This </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therefore </a:t>
            </a:r>
            <a:r>
              <a:rPr lang="en-NG" dirty="0">
                <a:effectLst/>
                <a:latin typeface="Arial Rounded MT Bold" panose="020F0704030504030204" pitchFamily="34" charset="0"/>
                <a:ea typeface="Calibri" panose="020F0502020204030204" pitchFamily="34" charset="0"/>
                <a:cs typeface="Times New Roman" panose="02020603050405020304" pitchFamily="18" charset="0"/>
              </a:rPr>
              <a:t>shows that the surface water and groundwater are hydraulically connected and undergo significant exchange, influencing each other's quality</a:t>
            </a:r>
            <a:r>
              <a:rPr lang="en-US">
                <a:effectLst/>
                <a:latin typeface="Arial Rounded MT Bold" panose="020F0704030504030204" pitchFamily="34" charset="0"/>
                <a:ea typeface="Calibri" panose="020F0502020204030204" pitchFamily="34" charset="0"/>
                <a:cs typeface="Times New Roman" panose="02020603050405020304" pitchFamily="18" charset="0"/>
              </a:rPr>
              <a:t>.</a:t>
            </a:r>
            <a:endParaRPr lang="en-US" dirty="0">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endParaRPr lang="en-NG" dirty="0">
              <a:latin typeface="Arial Rounded MT Bold" panose="020F0704030504030204" pitchFamily="34" charset="0"/>
            </a:endParaRPr>
          </a:p>
        </p:txBody>
      </p:sp>
      <p:cxnSp>
        <p:nvCxnSpPr>
          <p:cNvPr id="7" name="Straight Connector 6">
            <a:extLst>
              <a:ext uri="{FF2B5EF4-FFF2-40B4-BE49-F238E27FC236}">
                <a16:creationId xmlns:a16="http://schemas.microsoft.com/office/drawing/2014/main" id="{75B7B65C-D90C-7A65-6DCD-75A281CB6687}"/>
              </a:ext>
            </a:extLst>
          </p:cNvPr>
          <p:cNvCxnSpPr>
            <a:cxnSpLocks/>
          </p:cNvCxnSpPr>
          <p:nvPr/>
        </p:nvCxnSpPr>
        <p:spPr>
          <a:xfrm>
            <a:off x="0" y="1135242"/>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3F4D9020-36AF-5684-05ED-C0C673F5B5F7}"/>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1D1A1E09-2783-E9AB-1269-B5E0156FD094}"/>
              </a:ext>
            </a:extLst>
          </p:cNvPr>
          <p:cNvSpPr>
            <a:spLocks noGrp="1"/>
          </p:cNvSpPr>
          <p:nvPr>
            <p:ph type="sldNum" sz="quarter" idx="12"/>
          </p:nvPr>
        </p:nvSpPr>
        <p:spPr/>
        <p:txBody>
          <a:bodyPr/>
          <a:lstStyle/>
          <a:p>
            <a:fld id="{E30FEA02-71A2-4209-B909-B13DA9CFC23D}" type="slidenum">
              <a:rPr lang="en-NG" smtClean="0"/>
              <a:t>30</a:t>
            </a:fld>
            <a:endParaRPr lang="en-NG"/>
          </a:p>
        </p:txBody>
      </p:sp>
    </p:spTree>
    <p:extLst>
      <p:ext uri="{BB962C8B-B14F-4D97-AF65-F5344CB8AC3E}">
        <p14:creationId xmlns:p14="http://schemas.microsoft.com/office/powerpoint/2010/main" val="2939614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805354" y="189918"/>
            <a:ext cx="9144000" cy="1146512"/>
          </a:xfrm>
        </p:spPr>
        <p:txBody>
          <a:bodyPr>
            <a:noAutofit/>
          </a:bodyPr>
          <a:lstStyle/>
          <a:p>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References</a:t>
            </a:r>
            <a:br>
              <a:rPr lang="en-GB" sz="3200" b="1" dirty="0">
                <a:latin typeface="Times New Roman" panose="02020603050405020304" pitchFamily="18" charset="0"/>
                <a:cs typeface="Times New Roman" panose="02020603050405020304" pitchFamily="18" charset="0"/>
              </a:rPr>
            </a:br>
            <a:endParaRPr lang="en-NG" sz="3200" dirty="0"/>
          </a:p>
        </p:txBody>
      </p:sp>
      <p:sp>
        <p:nvSpPr>
          <p:cNvPr id="3" name="Subtitle 2">
            <a:extLst>
              <a:ext uri="{FF2B5EF4-FFF2-40B4-BE49-F238E27FC236}">
                <a16:creationId xmlns:a16="http://schemas.microsoft.com/office/drawing/2014/main" id="{0AC242FE-F4A4-5E2E-BE2C-48294B72D325}"/>
              </a:ext>
            </a:extLst>
          </p:cNvPr>
          <p:cNvSpPr>
            <a:spLocks noGrp="1"/>
          </p:cNvSpPr>
          <p:nvPr>
            <p:ph type="subTitle" idx="1"/>
          </p:nvPr>
        </p:nvSpPr>
        <p:spPr>
          <a:xfrm>
            <a:off x="1141082" y="1358919"/>
            <a:ext cx="10472543" cy="5545719"/>
          </a:xfrm>
        </p:spPr>
        <p:txBody>
          <a:bodyPr>
            <a:normAutofit fontScale="92500"/>
          </a:bodyPr>
          <a:lstStyle/>
          <a:p>
            <a:pPr algn="just"/>
            <a:r>
              <a:rPr lang="en-GB" sz="1600" dirty="0">
                <a:effectLst/>
                <a:latin typeface="Arial Rounded MT Bold" panose="020F0704030504030204" pitchFamily="34" charset="0"/>
                <a:ea typeface="Times New Roman" panose="02020603050405020304" pitchFamily="18" charset="0"/>
              </a:rPr>
              <a:t>Adedeji, A. A., </a:t>
            </a:r>
            <a:r>
              <a:rPr lang="en-GB" sz="1600" dirty="0" err="1">
                <a:effectLst/>
                <a:latin typeface="Arial Rounded MT Bold" panose="020F0704030504030204" pitchFamily="34" charset="0"/>
                <a:ea typeface="Times New Roman" panose="02020603050405020304" pitchFamily="18" charset="0"/>
              </a:rPr>
              <a:t>Adesakin</a:t>
            </a:r>
            <a:r>
              <a:rPr lang="en-GB" sz="1600" dirty="0">
                <a:effectLst/>
                <a:latin typeface="Arial Rounded MT Bold" panose="020F0704030504030204" pitchFamily="34" charset="0"/>
                <a:ea typeface="Times New Roman" panose="02020603050405020304" pitchFamily="18" charset="0"/>
              </a:rPr>
              <a:t>, T. A., </a:t>
            </a:r>
            <a:r>
              <a:rPr lang="en-GB" sz="1600" dirty="0" err="1">
                <a:effectLst/>
                <a:latin typeface="Arial Rounded MT Bold" panose="020F0704030504030204" pitchFamily="34" charset="0"/>
                <a:ea typeface="Times New Roman" panose="02020603050405020304" pitchFamily="18" charset="0"/>
              </a:rPr>
              <a:t>Aduwo</a:t>
            </a:r>
            <a:r>
              <a:rPr lang="en-GB" sz="1600" dirty="0">
                <a:effectLst/>
                <a:latin typeface="Arial Rounded MT Bold" panose="020F0704030504030204" pitchFamily="34" charset="0"/>
                <a:ea typeface="Times New Roman" panose="02020603050405020304" pitchFamily="18" charset="0"/>
              </a:rPr>
              <a:t>, A. D. I and Taiwo, Y. F. (2017): Effect of discharges</a:t>
            </a:r>
            <a:r>
              <a:rPr lang="en-US" sz="1600" dirty="0">
                <a:latin typeface="Arial Rounded MT Bold" panose="020F0704030504030204" pitchFamily="34" charset="0"/>
                <a:ea typeface="Times New Roman" panose="02020603050405020304" pitchFamily="18" charset="0"/>
              </a:rPr>
              <a:t> 	</a:t>
            </a:r>
            <a:r>
              <a:rPr lang="en-GB" sz="1600" dirty="0">
                <a:effectLst/>
                <a:latin typeface="Arial Rounded MT Bold" panose="020F0704030504030204" pitchFamily="34" charset="0"/>
                <a:ea typeface="Times New Roman" panose="02020603050405020304" pitchFamily="18" charset="0"/>
              </a:rPr>
              <a:t>from re-</a:t>
            </a:r>
            <a:r>
              <a:rPr lang="en-GB" sz="1600" dirty="0" err="1">
                <a:effectLst/>
                <a:latin typeface="Arial Rounded MT Bold" panose="020F0704030504030204" pitchFamily="34" charset="0"/>
                <a:ea typeface="Times New Roman" panose="02020603050405020304" pitchFamily="18" charset="0"/>
              </a:rPr>
              <a:t>channeled</a:t>
            </a:r>
            <a:r>
              <a:rPr lang="en-GB" sz="1600" dirty="0">
                <a:effectLst/>
                <a:latin typeface="Arial Rounded MT Bold" panose="020F0704030504030204" pitchFamily="34" charset="0"/>
                <a:ea typeface="Times New Roman" panose="02020603050405020304" pitchFamily="18" charset="0"/>
              </a:rPr>
              <a:t> 	rivers and municipal runoff on water quality of </a:t>
            </a:r>
            <a:r>
              <a:rPr lang="en-GB" sz="1600" dirty="0" err="1">
                <a:effectLst/>
                <a:latin typeface="Arial Rounded MT Bold" panose="020F0704030504030204" pitchFamily="34" charset="0"/>
                <a:ea typeface="Times New Roman" panose="02020603050405020304" pitchFamily="18" charset="0"/>
              </a:rPr>
              <a:t>Opa</a:t>
            </a:r>
            <a:r>
              <a:rPr lang="en-GB" sz="1600" dirty="0">
                <a:effectLst/>
                <a:latin typeface="Arial Rounded MT Bold" panose="020F0704030504030204" pitchFamily="34" charset="0"/>
                <a:ea typeface="Times New Roman" panose="02020603050405020304" pitchFamily="18" charset="0"/>
              </a:rPr>
              <a:t> reservoir, Ile-Ife, Southwest Nigeria, African 	Journal of Environmental Science and 	Technology. Vol. 11(1), pp. 56-70</a:t>
            </a:r>
            <a:endParaRPr lang="en-NG" sz="1600" dirty="0">
              <a:effectLst/>
              <a:latin typeface="Arial Rounded MT Bold" panose="020F0704030504030204" pitchFamily="34" charset="0"/>
              <a:ea typeface="Times New Roman" panose="02020603050405020304" pitchFamily="18" charset="0"/>
            </a:endParaRPr>
          </a:p>
          <a:p>
            <a:pPr algn="just">
              <a:lnSpc>
                <a:spcPct val="107000"/>
              </a:lnSpc>
              <a:spcAft>
                <a:spcPts val="800"/>
              </a:spcAft>
            </a:pPr>
            <a:r>
              <a:rPr lang="en-US" sz="1600" kern="100" dirty="0">
                <a:effectLst/>
                <a:latin typeface="Arial Rounded MT Bold" panose="020F0704030504030204" pitchFamily="34" charset="0"/>
                <a:ea typeface="Calibri" panose="020F0502020204030204" pitchFamily="34" charset="0"/>
                <a:cs typeface="Times New Roman" panose="02020603050405020304" pitchFamily="18" charset="0"/>
              </a:rPr>
              <a:t>Akhtar, N., Muhammad I. S. I., </a:t>
            </a:r>
            <a:r>
              <a:rPr lang="en-US" sz="1600" kern="100" dirty="0" err="1">
                <a:effectLst/>
                <a:latin typeface="Arial Rounded MT Bold" panose="020F0704030504030204" pitchFamily="34" charset="0"/>
                <a:ea typeface="Calibri" panose="020F0502020204030204" pitchFamily="34" charset="0"/>
                <a:cs typeface="Times New Roman" panose="02020603050405020304" pitchFamily="18" charset="0"/>
              </a:rPr>
              <a:t>Showkat</a:t>
            </a:r>
            <a:r>
              <a:rPr lang="en-US" sz="1600" kern="100" dirty="0">
                <a:effectLst/>
                <a:latin typeface="Arial Rounded MT Bold" panose="020F0704030504030204" pitchFamily="34" charset="0"/>
                <a:ea typeface="Calibri" panose="020F0502020204030204" pitchFamily="34" charset="0"/>
                <a:cs typeface="Times New Roman" panose="02020603050405020304" pitchFamily="18" charset="0"/>
              </a:rPr>
              <a:t>, A. B., and Khalid U. 2021. "Various Natural and 	Anthropogenic 	Factors Responsible for Water Quality Degradation: A Review" </a:t>
            </a:r>
            <a:r>
              <a:rPr lang="en-US" sz="1600" i="1" kern="100" dirty="0">
                <a:effectLst/>
                <a:latin typeface="Arial Rounded MT Bold" panose="020F0704030504030204" pitchFamily="34" charset="0"/>
                <a:ea typeface="Calibri" panose="020F0502020204030204" pitchFamily="34" charset="0"/>
                <a:cs typeface="Times New Roman" panose="02020603050405020304" pitchFamily="18" charset="0"/>
              </a:rPr>
              <a:t>Water</a:t>
            </a:r>
            <a:r>
              <a:rPr lang="en-US" sz="1600" kern="100" dirty="0">
                <a:effectLst/>
                <a:latin typeface="Arial Rounded MT Bold" panose="020F0704030504030204" pitchFamily="34" charset="0"/>
                <a:ea typeface="Calibri" panose="020F0502020204030204" pitchFamily="34" charset="0"/>
                <a:cs typeface="Times New Roman" panose="02020603050405020304" pitchFamily="18" charset="0"/>
              </a:rPr>
              <a:t> 13, no. 19: 2660. </a:t>
            </a:r>
            <a:endParaRPr lang="en-NG" sz="16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540385" indent="-540385" algn="just">
              <a:lnSpc>
                <a:spcPct val="107000"/>
              </a:lnSpc>
              <a:spcAft>
                <a:spcPts val="800"/>
              </a:spcAft>
            </a:pPr>
            <a:r>
              <a:rPr lang="en-GB" sz="1600" dirty="0" err="1">
                <a:effectLst/>
                <a:latin typeface="Arial Rounded MT Bold" panose="020F0704030504030204" pitchFamily="34" charset="0"/>
                <a:ea typeface="Times New Roman" panose="02020603050405020304" pitchFamily="18" charset="0"/>
              </a:rPr>
              <a:t>Ariyibi</a:t>
            </a:r>
            <a:r>
              <a:rPr lang="en-GB" sz="1600" dirty="0">
                <a:effectLst/>
                <a:latin typeface="Arial Rounded MT Bold" panose="020F0704030504030204" pitchFamily="34" charset="0"/>
                <a:ea typeface="Times New Roman" panose="02020603050405020304" pitchFamily="18" charset="0"/>
              </a:rPr>
              <a:t>, E., Folami, S., </a:t>
            </a:r>
            <a:r>
              <a:rPr lang="en-GB" sz="1600" dirty="0" err="1">
                <a:effectLst/>
                <a:latin typeface="Arial Rounded MT Bold" panose="020F0704030504030204" pitchFamily="34" charset="0"/>
                <a:ea typeface="Times New Roman" panose="02020603050405020304" pitchFamily="18" charset="0"/>
              </a:rPr>
              <a:t>Ako</a:t>
            </a:r>
            <a:r>
              <a:rPr lang="en-GB" sz="1600" dirty="0">
                <a:effectLst/>
                <a:latin typeface="Arial Rounded MT Bold" panose="020F0704030504030204" pitchFamily="34" charset="0"/>
                <a:ea typeface="Times New Roman" panose="02020603050405020304" pitchFamily="18" charset="0"/>
              </a:rPr>
              <a:t>, B., Ajayi, T and </a:t>
            </a:r>
            <a:r>
              <a:rPr lang="en-GB" sz="1600" dirty="0" err="1">
                <a:effectLst/>
                <a:latin typeface="Arial Rounded MT Bold" panose="020F0704030504030204" pitchFamily="34" charset="0"/>
                <a:ea typeface="Times New Roman" panose="02020603050405020304" pitchFamily="18" charset="0"/>
              </a:rPr>
              <a:t>Adelusi</a:t>
            </a:r>
            <a:r>
              <a:rPr lang="en-GB" sz="1600" dirty="0">
                <a:effectLst/>
                <a:latin typeface="Arial Rounded MT Bold" panose="020F0704030504030204" pitchFamily="34" charset="0"/>
                <a:ea typeface="Times New Roman" panose="02020603050405020304" pitchFamily="18" charset="0"/>
              </a:rPr>
              <a:t>, A. (2010): Application of the principal 	component analysis 	on geochemical data: a case study in the basement complex  	of Southern Ilesa area, Nigeria. 	Arabian Journal of Geosciences. Vol. 4, pp 239-247.</a:t>
            </a:r>
            <a:endParaRPr lang="en-NG" sz="1600" dirty="0">
              <a:effectLst/>
              <a:latin typeface="Arial Rounded MT Bold" panose="020F0704030504030204" pitchFamily="34" charset="0"/>
              <a:ea typeface="Times New Roman" panose="02020603050405020304" pitchFamily="18" charset="0"/>
            </a:endParaRPr>
          </a:p>
          <a:p>
            <a:pPr marL="540385" indent="-540385" algn="just">
              <a:lnSpc>
                <a:spcPct val="107000"/>
              </a:lnSpc>
              <a:spcAft>
                <a:spcPts val="800"/>
              </a:spcAft>
            </a:pPr>
            <a:r>
              <a:rPr lang="en-NG" sz="1600" kern="100" dirty="0" err="1">
                <a:effectLst/>
                <a:latin typeface="Arial Rounded MT Bold" panose="020F0704030504030204" pitchFamily="34" charset="0"/>
                <a:ea typeface="Calibri" panose="020F0502020204030204" pitchFamily="34" charset="0"/>
                <a:cs typeface="Times New Roman" panose="02020603050405020304" pitchFamily="18" charset="0"/>
              </a:rPr>
              <a:t>Calmuc</a:t>
            </a:r>
            <a:r>
              <a:rPr lang="en-NG" sz="1600" kern="100" dirty="0">
                <a:effectLst/>
                <a:latin typeface="Arial Rounded MT Bold" panose="020F0704030504030204" pitchFamily="34" charset="0"/>
                <a:ea typeface="Calibri" panose="020F0502020204030204" pitchFamily="34" charset="0"/>
                <a:cs typeface="Times New Roman" panose="02020603050405020304" pitchFamily="18" charset="0"/>
              </a:rPr>
              <a:t>, V., </a:t>
            </a:r>
            <a:r>
              <a:rPr lang="en-NG" sz="1600" kern="100" dirty="0" err="1">
                <a:effectLst/>
                <a:latin typeface="Arial Rounded MT Bold" panose="020F0704030504030204" pitchFamily="34" charset="0"/>
                <a:ea typeface="Calibri" panose="020F0502020204030204" pitchFamily="34" charset="0"/>
                <a:cs typeface="Times New Roman" panose="02020603050405020304" pitchFamily="18" charset="0"/>
              </a:rPr>
              <a:t>Calmuc</a:t>
            </a:r>
            <a:r>
              <a:rPr lang="en-NG" sz="1600" kern="100" dirty="0">
                <a:effectLst/>
                <a:latin typeface="Arial Rounded MT Bold" panose="020F0704030504030204" pitchFamily="34" charset="0"/>
                <a:ea typeface="Calibri" panose="020F0502020204030204" pitchFamily="34" charset="0"/>
                <a:cs typeface="Times New Roman" panose="02020603050405020304" pitchFamily="18" charset="0"/>
              </a:rPr>
              <a:t>, M., </a:t>
            </a:r>
            <a:r>
              <a:rPr lang="en-NG" sz="1600" kern="100" dirty="0" err="1">
                <a:effectLst/>
                <a:latin typeface="Arial Rounded MT Bold" panose="020F0704030504030204" pitchFamily="34" charset="0"/>
                <a:ea typeface="Calibri" panose="020F0502020204030204" pitchFamily="34" charset="0"/>
                <a:cs typeface="Times New Roman" panose="02020603050405020304" pitchFamily="18" charset="0"/>
              </a:rPr>
              <a:t>Topa</a:t>
            </a:r>
            <a:r>
              <a:rPr lang="en-NG" sz="1600" kern="100" dirty="0">
                <a:effectLst/>
                <a:latin typeface="Arial Rounded MT Bold" panose="020F0704030504030204" pitchFamily="34" charset="0"/>
                <a:ea typeface="Calibri" panose="020F0502020204030204" pitchFamily="34" charset="0"/>
                <a:cs typeface="Times New Roman" panose="02020603050405020304" pitchFamily="18" charset="0"/>
              </a:rPr>
              <a:t>, M.C., </a:t>
            </a:r>
            <a:r>
              <a:rPr lang="en-NG" sz="1600" kern="100" dirty="0" err="1">
                <a:effectLst/>
                <a:latin typeface="Arial Rounded MT Bold" panose="020F0704030504030204" pitchFamily="34" charset="0"/>
                <a:ea typeface="Calibri" panose="020F0502020204030204" pitchFamily="34" charset="0"/>
                <a:cs typeface="Times New Roman" panose="02020603050405020304" pitchFamily="18" charset="0"/>
              </a:rPr>
              <a:t>Timofti</a:t>
            </a:r>
            <a:r>
              <a:rPr lang="en-NG" sz="1600" kern="100" dirty="0">
                <a:effectLst/>
                <a:latin typeface="Arial Rounded MT Bold" panose="020F0704030504030204" pitchFamily="34" charset="0"/>
                <a:ea typeface="Calibri" panose="020F0502020204030204" pitchFamily="34" charset="0"/>
                <a:cs typeface="Times New Roman" panose="02020603050405020304" pitchFamily="18" charset="0"/>
              </a:rPr>
              <a:t>, M., </a:t>
            </a:r>
            <a:r>
              <a:rPr lang="en-NG" sz="1600" kern="100" dirty="0" err="1">
                <a:effectLst/>
                <a:latin typeface="Arial Rounded MT Bold" panose="020F0704030504030204" pitchFamily="34" charset="0"/>
                <a:ea typeface="Calibri" panose="020F0502020204030204" pitchFamily="34" charset="0"/>
                <a:cs typeface="Times New Roman" panose="02020603050405020304" pitchFamily="18" charset="0"/>
              </a:rPr>
              <a:t>Iticescu</a:t>
            </a:r>
            <a:r>
              <a:rPr lang="en-NG" sz="1600" kern="100" dirty="0">
                <a:effectLst/>
                <a:latin typeface="Arial Rounded MT Bold" panose="020F0704030504030204" pitchFamily="34" charset="0"/>
                <a:ea typeface="Calibri" panose="020F0502020204030204" pitchFamily="34" charset="0"/>
                <a:cs typeface="Times New Roman" panose="02020603050405020304" pitchFamily="18" charset="0"/>
              </a:rPr>
              <a:t>, C., and Georgescu L., (2018): </a:t>
            </a:r>
            <a:r>
              <a:rPr lang="en-US" sz="1600" kern="1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NG" sz="1600" kern="100" dirty="0">
                <a:effectLst/>
                <a:latin typeface="Arial Rounded MT Bold" panose="020F0704030504030204" pitchFamily="34" charset="0"/>
                <a:ea typeface="Calibri" panose="020F0502020204030204" pitchFamily="34" charset="0"/>
                <a:cs typeface="Times New Roman" panose="02020603050405020304" pitchFamily="18" charset="0"/>
              </a:rPr>
              <a:t>Various </a:t>
            </a:r>
            <a:r>
              <a:rPr lang="en-US" sz="1600" kern="1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NG" sz="1600" kern="100" dirty="0">
                <a:effectLst/>
                <a:latin typeface="Arial Rounded MT Bold" panose="020F0704030504030204" pitchFamily="34" charset="0"/>
                <a:ea typeface="Calibri" panose="020F0502020204030204" pitchFamily="34" charset="0"/>
                <a:cs typeface="Times New Roman" panose="02020603050405020304" pitchFamily="18" charset="0"/>
              </a:rPr>
              <a:t>Methods for </a:t>
            </a:r>
            <a:r>
              <a:rPr lang="en-US" sz="1600" kern="1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NG" sz="1600" kern="100" dirty="0">
                <a:effectLst/>
                <a:latin typeface="Arial Rounded MT Bold" panose="020F0704030504030204" pitchFamily="34" charset="0"/>
                <a:ea typeface="Calibri" panose="020F0502020204030204" pitchFamily="34" charset="0"/>
                <a:cs typeface="Times New Roman" panose="02020603050405020304" pitchFamily="18" charset="0"/>
              </a:rPr>
              <a:t>Calculating the Water Quality Index. Annals of “</a:t>
            </a:r>
            <a:r>
              <a:rPr lang="en-NG" sz="1600" kern="100" dirty="0" err="1">
                <a:effectLst/>
                <a:latin typeface="Arial Rounded MT Bold" panose="020F0704030504030204" pitchFamily="34" charset="0"/>
                <a:ea typeface="Calibri" panose="020F0502020204030204" pitchFamily="34" charset="0"/>
                <a:cs typeface="Times New Roman" panose="02020603050405020304" pitchFamily="18" charset="0"/>
              </a:rPr>
              <a:t>Dunarea</a:t>
            </a:r>
            <a:r>
              <a:rPr lang="en-NG" sz="1600" kern="100" dirty="0">
                <a:effectLst/>
                <a:latin typeface="Arial Rounded MT Bold" panose="020F0704030504030204" pitchFamily="34" charset="0"/>
                <a:ea typeface="Calibri" panose="020F0502020204030204" pitchFamily="34" charset="0"/>
                <a:cs typeface="Times New Roman" panose="02020603050405020304" pitchFamily="18" charset="0"/>
              </a:rPr>
              <a:t> de </a:t>
            </a:r>
            <a:r>
              <a:rPr lang="en-US" sz="1600" kern="1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NG" sz="1600" kern="100" dirty="0">
                <a:effectLst/>
                <a:latin typeface="Arial Rounded MT Bold" panose="020F0704030504030204" pitchFamily="34" charset="0"/>
                <a:ea typeface="Calibri" panose="020F0502020204030204" pitchFamily="34" charset="0"/>
                <a:cs typeface="Times New Roman" panose="02020603050405020304" pitchFamily="18" charset="0"/>
              </a:rPr>
              <a:t>Jos”, </a:t>
            </a:r>
            <a:r>
              <a:rPr lang="en-US" sz="1600" kern="1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NG" sz="1600" kern="100" dirty="0">
                <a:effectLst/>
                <a:latin typeface="Arial Rounded MT Bold" panose="020F0704030504030204" pitchFamily="34" charset="0"/>
                <a:ea typeface="Calibri" panose="020F0502020204030204" pitchFamily="34" charset="0"/>
                <a:cs typeface="Times New Roman" panose="02020603050405020304" pitchFamily="18" charset="0"/>
              </a:rPr>
              <a:t>University of Galati </a:t>
            </a:r>
            <a:r>
              <a:rPr lang="en-US" sz="1600" kern="1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NG" sz="1600" kern="100" dirty="0">
                <a:effectLst/>
                <a:latin typeface="Arial Rounded MT Bold" panose="020F0704030504030204" pitchFamily="34" charset="0"/>
                <a:ea typeface="Calibri" panose="020F0502020204030204" pitchFamily="34" charset="0"/>
                <a:cs typeface="Times New Roman" panose="02020603050405020304" pitchFamily="18" charset="0"/>
              </a:rPr>
              <a:t>Mathematics, Physics, Theoretical Mechanics Fascicle II, </a:t>
            </a:r>
            <a:r>
              <a:rPr lang="en-US" sz="1600" kern="100" dirty="0">
                <a:effectLst/>
                <a:latin typeface="Arial Rounded MT Bold" panose="020F0704030504030204" pitchFamily="34" charset="0"/>
                <a:ea typeface="Calibri" panose="020F0502020204030204" pitchFamily="34" charset="0"/>
                <a:cs typeface="Times New Roman" panose="02020603050405020304" pitchFamily="18" charset="0"/>
              </a:rPr>
              <a:t>	X</a:t>
            </a:r>
            <a:r>
              <a:rPr lang="en-NG" sz="1600" kern="100" dirty="0">
                <a:effectLst/>
                <a:latin typeface="Arial Rounded MT Bold" panose="020F0704030504030204" pitchFamily="34" charset="0"/>
                <a:ea typeface="Calibri" panose="020F0502020204030204" pitchFamily="34" charset="0"/>
                <a:cs typeface="Times New Roman" panose="02020603050405020304" pitchFamily="18" charset="0"/>
              </a:rPr>
              <a:t>Vol. 2 no. </a:t>
            </a:r>
            <a:r>
              <a:rPr lang="en-US" sz="1600" kern="1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NG" sz="1600" kern="100" dirty="0">
                <a:effectLst/>
                <a:latin typeface="Arial Rounded MT Bold" panose="020F0704030504030204" pitchFamily="34" charset="0"/>
                <a:ea typeface="Calibri" panose="020F0502020204030204" pitchFamily="34" charset="0"/>
                <a:cs typeface="Times New Roman" panose="02020603050405020304" pitchFamily="18" charset="0"/>
              </a:rPr>
              <a:t>9. </a:t>
            </a:r>
            <a:endParaRPr lang="en-US" sz="16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540385" indent="-540385" algn="just">
              <a:lnSpc>
                <a:spcPct val="107000"/>
              </a:lnSpc>
              <a:spcAft>
                <a:spcPts val="800"/>
              </a:spcAft>
            </a:pPr>
            <a:r>
              <a:rPr lang="en-GB" sz="1600" dirty="0" err="1">
                <a:effectLst/>
                <a:latin typeface="Arial Rounded MT Bold" panose="020F0704030504030204" pitchFamily="34" charset="0"/>
                <a:ea typeface="Calibri" panose="020F0502020204030204" pitchFamily="34" charset="0"/>
                <a:cs typeface="Times New Roman" panose="02020603050405020304" pitchFamily="18" charset="0"/>
              </a:rPr>
              <a:t>Eludoyin</a:t>
            </a:r>
            <a:r>
              <a:rPr lang="en-GB" sz="1600" dirty="0">
                <a:effectLst/>
                <a:latin typeface="Arial Rounded MT Bold" panose="020F0704030504030204" pitchFamily="34" charset="0"/>
                <a:ea typeface="Calibri" panose="020F0502020204030204" pitchFamily="34" charset="0"/>
                <a:cs typeface="Times New Roman" panose="02020603050405020304" pitchFamily="18" charset="0"/>
              </a:rPr>
              <a:t>, A., </a:t>
            </a:r>
            <a:r>
              <a:rPr lang="en-GB" sz="1600" dirty="0" err="1">
                <a:effectLst/>
                <a:latin typeface="Arial Rounded MT Bold" panose="020F0704030504030204" pitchFamily="34" charset="0"/>
                <a:ea typeface="Calibri" panose="020F0502020204030204" pitchFamily="34" charset="0"/>
                <a:cs typeface="Times New Roman" panose="02020603050405020304" pitchFamily="18" charset="0"/>
              </a:rPr>
              <a:t>Ofoezie</a:t>
            </a:r>
            <a:r>
              <a:rPr lang="en-GB" sz="1600" dirty="0">
                <a:effectLst/>
                <a:latin typeface="Arial Rounded MT Bold" panose="020F0704030504030204" pitchFamily="34" charset="0"/>
                <a:ea typeface="Calibri" panose="020F0502020204030204" pitchFamily="34" charset="0"/>
                <a:cs typeface="Times New Roman" panose="02020603050405020304" pitchFamily="18" charset="0"/>
              </a:rPr>
              <a:t>, E., and </a:t>
            </a:r>
            <a:r>
              <a:rPr lang="en-GB" sz="1600" dirty="0" err="1">
                <a:effectLst/>
                <a:latin typeface="Arial Rounded MT Bold" panose="020F0704030504030204" pitchFamily="34" charset="0"/>
                <a:ea typeface="Calibri" panose="020F0502020204030204" pitchFamily="34" charset="0"/>
                <a:cs typeface="Times New Roman" panose="02020603050405020304" pitchFamily="18" charset="0"/>
              </a:rPr>
              <a:t>Ogunkoya</a:t>
            </a:r>
            <a:r>
              <a:rPr lang="en-GB" sz="1600" dirty="0">
                <a:effectLst/>
                <a:latin typeface="Arial Rounded MT Bold" panose="020F0704030504030204" pitchFamily="34" charset="0"/>
                <a:ea typeface="Calibri" panose="020F0502020204030204" pitchFamily="34" charset="0"/>
                <a:cs typeface="Times New Roman" panose="02020603050405020304" pitchFamily="18" charset="0"/>
              </a:rPr>
              <a:t>, O. (2004): The effect of Oja-</a:t>
            </a:r>
            <a:r>
              <a:rPr lang="en-GB" sz="1600" dirty="0" err="1">
                <a:effectLst/>
                <a:latin typeface="Arial Rounded MT Bold" panose="020F0704030504030204" pitchFamily="34" charset="0"/>
                <a:ea typeface="Calibri" panose="020F0502020204030204" pitchFamily="34" charset="0"/>
                <a:cs typeface="Times New Roman" panose="02020603050405020304" pitchFamily="18" charset="0"/>
              </a:rPr>
              <a:t>titun</a:t>
            </a:r>
            <a:r>
              <a:rPr lang="en-GB" sz="1600" dirty="0">
                <a:effectLst/>
                <a:latin typeface="Arial Rounded MT Bold" panose="020F0704030504030204" pitchFamily="34" charset="0"/>
                <a:ea typeface="Calibri" panose="020F0502020204030204" pitchFamily="34" charset="0"/>
                <a:cs typeface="Times New Roman" panose="02020603050405020304" pitchFamily="18" charset="0"/>
              </a:rPr>
              <a:t> market effluent</a:t>
            </a:r>
            <a:r>
              <a:rPr lang="en-US" sz="1600" dirty="0">
                <a:latin typeface="Arial Rounded MT Bold" panose="020F0704030504030204" pitchFamily="34" charset="0"/>
                <a:ea typeface="Calibri" panose="020F0502020204030204" pitchFamily="34" charset="0"/>
                <a:cs typeface="Times New Roman" panose="02020603050405020304" pitchFamily="18" charset="0"/>
              </a:rPr>
              <a:t> </a:t>
            </a:r>
            <a:r>
              <a:rPr lang="en-GB" sz="1600" dirty="0">
                <a:effectLst/>
                <a:latin typeface="Arial Rounded MT Bold" panose="020F0704030504030204" pitchFamily="34" charset="0"/>
                <a:ea typeface="Calibri" panose="020F0502020204030204" pitchFamily="34" charset="0"/>
                <a:cs typeface="Times New Roman" panose="02020603050405020304" pitchFamily="18" charset="0"/>
              </a:rPr>
              <a:t>on the chemical 	quality of receiving OPA reservoir in Ile-Ife, Nigeria. Journal 	of 	</a:t>
            </a:r>
            <a:r>
              <a:rPr lang="en-GB" sz="1600">
                <a:effectLst/>
                <a:latin typeface="Arial Rounded MT Bold" panose="020F0704030504030204" pitchFamily="34" charset="0"/>
                <a:ea typeface="Calibri" panose="020F0502020204030204" pitchFamily="34" charset="0"/>
                <a:cs typeface="Times New Roman" panose="02020603050405020304" pitchFamily="18" charset="0"/>
              </a:rPr>
              <a:t>environmental 	management</a:t>
            </a:r>
            <a:r>
              <a:rPr lang="en-GB" sz="1600" dirty="0">
                <a:effectLst/>
                <a:latin typeface="Arial Rounded MT Bold" panose="020F0704030504030204" pitchFamily="34" charset="0"/>
                <a:ea typeface="Calibri" panose="020F0502020204030204" pitchFamily="34" charset="0"/>
                <a:cs typeface="Times New Roman" panose="02020603050405020304" pitchFamily="18" charset="0"/>
              </a:rPr>
              <a:t>. 72. Pp. 249–259.</a:t>
            </a:r>
            <a:endParaRPr lang="en-NG" sz="16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540385" indent="-540385" algn="just">
              <a:lnSpc>
                <a:spcPct val="107000"/>
              </a:lnSpc>
              <a:spcAft>
                <a:spcPts val="800"/>
              </a:spcAft>
            </a:pPr>
            <a:r>
              <a:rPr lang="en-GB" sz="1600" dirty="0">
                <a:solidFill>
                  <a:srgbClr val="000000"/>
                </a:solidFill>
                <a:effectLst/>
                <a:highlight>
                  <a:srgbClr val="FFFFFF"/>
                </a:highlight>
                <a:latin typeface="Arial Rounded MT Bold" panose="020F0704030504030204" pitchFamily="34" charset="0"/>
                <a:ea typeface="Calibri" panose="020F0502020204030204" pitchFamily="34" charset="0"/>
                <a:cs typeface="Times New Roman" panose="02020603050405020304" pitchFamily="18" charset="0"/>
              </a:rPr>
              <a:t>Hama, A. K. H., Mustafa, F. S., Omer, K. M., Hama, S., </a:t>
            </a:r>
            <a:r>
              <a:rPr lang="en-GB" sz="1600" dirty="0" err="1">
                <a:solidFill>
                  <a:srgbClr val="000000"/>
                </a:solidFill>
                <a:effectLst/>
                <a:highlight>
                  <a:srgbClr val="FFFFFF"/>
                </a:highlight>
                <a:latin typeface="Arial Rounded MT Bold" panose="020F0704030504030204" pitchFamily="34" charset="0"/>
                <a:ea typeface="Calibri" panose="020F0502020204030204" pitchFamily="34" charset="0"/>
                <a:cs typeface="Times New Roman" panose="02020603050405020304" pitchFamily="18" charset="0"/>
              </a:rPr>
              <a:t>Hamarawf</a:t>
            </a:r>
            <a:r>
              <a:rPr lang="en-GB" sz="1600" dirty="0">
                <a:solidFill>
                  <a:srgbClr val="000000"/>
                </a:solidFill>
                <a:effectLst/>
                <a:highlight>
                  <a:srgbClr val="FFFFFF"/>
                </a:highlight>
                <a:latin typeface="Arial Rounded MT Bold" panose="020F0704030504030204" pitchFamily="34" charset="0"/>
                <a:ea typeface="Calibri" panose="020F0502020204030204" pitchFamily="34" charset="0"/>
                <a:cs typeface="Times New Roman" panose="02020603050405020304" pitchFamily="18" charset="0"/>
              </a:rPr>
              <a:t>, R. F., and Rahman, K. O. (2023): 	Heavy metal 	pollution in the aquatic environment: efficient and low-cost removal approaches 	to 	eliminate their toxicity: a review. RSC Adv. Vol. 13(26), pp. 17595-17610.</a:t>
            </a:r>
            <a:endParaRPr lang="en-NG" sz="16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540385" indent="-540385" algn="just">
              <a:lnSpc>
                <a:spcPct val="107000"/>
              </a:lnSpc>
              <a:spcAft>
                <a:spcPts val="800"/>
              </a:spcAft>
            </a:pPr>
            <a:endParaRPr lang="en-NG"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NG" dirty="0"/>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152400" y="1267302"/>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39B7F170-2A64-421E-816D-BC7FF3118E98}"/>
              </a:ext>
            </a:extLst>
          </p:cNvPr>
          <p:cNvSpPr>
            <a:spLocks noGrp="1"/>
          </p:cNvSpPr>
          <p:nvPr>
            <p:ph type="sldNum" sz="quarter" idx="12"/>
          </p:nvPr>
        </p:nvSpPr>
        <p:spPr/>
        <p:txBody>
          <a:bodyPr/>
          <a:lstStyle/>
          <a:p>
            <a:fld id="{E30FEA02-71A2-4209-B909-B13DA9CFC23D}" type="slidenum">
              <a:rPr lang="en-NG" smtClean="0"/>
              <a:t>31</a:t>
            </a:fld>
            <a:endParaRPr lang="en-NG"/>
          </a:p>
        </p:txBody>
      </p:sp>
    </p:spTree>
    <p:extLst>
      <p:ext uri="{BB962C8B-B14F-4D97-AF65-F5344CB8AC3E}">
        <p14:creationId xmlns:p14="http://schemas.microsoft.com/office/powerpoint/2010/main" val="42940335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805354" y="189918"/>
            <a:ext cx="9144000" cy="1146512"/>
          </a:xfrm>
        </p:spPr>
        <p:txBody>
          <a:bodyPr>
            <a:noAutofit/>
          </a:bodyPr>
          <a:lstStyle/>
          <a:p>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References</a:t>
            </a:r>
            <a:br>
              <a:rPr lang="en-GB" sz="3200" b="1" dirty="0">
                <a:latin typeface="Times New Roman" panose="02020603050405020304" pitchFamily="18" charset="0"/>
                <a:cs typeface="Times New Roman" panose="02020603050405020304" pitchFamily="18" charset="0"/>
              </a:rPr>
            </a:br>
            <a:endParaRPr lang="en-NG" sz="3200" dirty="0"/>
          </a:p>
        </p:txBody>
      </p:sp>
      <p:sp>
        <p:nvSpPr>
          <p:cNvPr id="3" name="Subtitle 2">
            <a:extLst>
              <a:ext uri="{FF2B5EF4-FFF2-40B4-BE49-F238E27FC236}">
                <a16:creationId xmlns:a16="http://schemas.microsoft.com/office/drawing/2014/main" id="{0AC242FE-F4A4-5E2E-BE2C-48294B72D325}"/>
              </a:ext>
            </a:extLst>
          </p:cNvPr>
          <p:cNvSpPr>
            <a:spLocks noGrp="1"/>
          </p:cNvSpPr>
          <p:nvPr>
            <p:ph type="subTitle" idx="1"/>
          </p:nvPr>
        </p:nvSpPr>
        <p:spPr>
          <a:xfrm>
            <a:off x="1012875" y="1122363"/>
            <a:ext cx="10472543" cy="5545719"/>
          </a:xfrm>
        </p:spPr>
        <p:txBody>
          <a:bodyPr>
            <a:noAutofit/>
          </a:bodyPr>
          <a:lstStyle/>
          <a:p>
            <a:pPr algn="just">
              <a:lnSpc>
                <a:spcPct val="107000"/>
              </a:lnSpc>
            </a:pPr>
            <a:r>
              <a:rPr lang="en-GB" sz="1400" dirty="0" err="1">
                <a:effectLst/>
                <a:latin typeface="Arial Rounded MT Bold" panose="020F0704030504030204" pitchFamily="34" charset="0"/>
                <a:ea typeface="Times New Roman" panose="02020603050405020304" pitchFamily="18" charset="0"/>
              </a:rPr>
              <a:t>Konwea</a:t>
            </a:r>
            <a:r>
              <a:rPr lang="en-GB" sz="1400" dirty="0">
                <a:effectLst/>
                <a:latin typeface="Arial Rounded MT Bold" panose="020F0704030504030204" pitchFamily="34" charset="0"/>
                <a:ea typeface="Times New Roman" panose="02020603050405020304" pitchFamily="18" charset="0"/>
              </a:rPr>
              <a:t>, C. I., Ajayi, O., and Ayodele, A. (2022). Chemical Quality of Groundwater in Obafemi Awolowo 	University Campus, Southwestern Nigeria 1 1 2. </a:t>
            </a:r>
          </a:p>
          <a:p>
            <a:pPr algn="just">
              <a:lnSpc>
                <a:spcPct val="107000"/>
              </a:lnSpc>
            </a:pPr>
            <a:r>
              <a:rPr lang="en-GB" sz="1400" dirty="0" err="1">
                <a:effectLst/>
                <a:latin typeface="Arial Rounded MT Bold" panose="020F0704030504030204" pitchFamily="34" charset="0"/>
                <a:ea typeface="Times New Roman" panose="02020603050405020304" pitchFamily="18" charset="0"/>
              </a:rPr>
              <a:t>Konwea</a:t>
            </a:r>
            <a:r>
              <a:rPr lang="en-GB" sz="1400" dirty="0">
                <a:effectLst/>
                <a:latin typeface="Arial Rounded MT Bold" panose="020F0704030504030204" pitchFamily="34" charset="0"/>
                <a:ea typeface="Times New Roman" panose="02020603050405020304" pitchFamily="18" charset="0"/>
              </a:rPr>
              <a:t>, C. I., </a:t>
            </a:r>
            <a:r>
              <a:rPr lang="en-GB" sz="1400" dirty="0" err="1">
                <a:effectLst/>
                <a:latin typeface="Arial Rounded MT Bold" panose="020F0704030504030204" pitchFamily="34" charset="0"/>
                <a:ea typeface="Times New Roman" panose="02020603050405020304" pitchFamily="18" charset="0"/>
              </a:rPr>
              <a:t>Eziagor</a:t>
            </a:r>
            <a:r>
              <a:rPr lang="en-GB" sz="1400" dirty="0">
                <a:effectLst/>
                <a:latin typeface="Arial Rounded MT Bold" panose="020F0704030504030204" pitchFamily="34" charset="0"/>
                <a:ea typeface="Times New Roman" panose="02020603050405020304" pitchFamily="18" charset="0"/>
              </a:rPr>
              <a:t>, F. C., </a:t>
            </a:r>
            <a:r>
              <a:rPr lang="en-GB" sz="1400" dirty="0" err="1">
                <a:effectLst/>
                <a:latin typeface="Arial Rounded MT Bold" panose="020F0704030504030204" pitchFamily="34" charset="0"/>
                <a:ea typeface="Times New Roman" panose="02020603050405020304" pitchFamily="18" charset="0"/>
              </a:rPr>
              <a:t>Evurani</a:t>
            </a:r>
            <a:r>
              <a:rPr lang="en-GB" sz="1400" dirty="0">
                <a:effectLst/>
                <a:latin typeface="Arial Rounded MT Bold" panose="020F0704030504030204" pitchFamily="34" charset="0"/>
                <a:ea typeface="Times New Roman" panose="02020603050405020304" pitchFamily="18" charset="0"/>
              </a:rPr>
              <a:t>, D. E., and Ajayi, O. (2023): Characterization and 	assessment of groundwater from Obafemi Awolowo University campus, southwestern N	</a:t>
            </a:r>
            <a:r>
              <a:rPr lang="en-GB" sz="1400" dirty="0" err="1">
                <a:effectLst/>
                <a:latin typeface="Arial Rounded MT Bold" panose="020F0704030504030204" pitchFamily="34" charset="0"/>
                <a:ea typeface="Times New Roman" panose="02020603050405020304" pitchFamily="18" charset="0"/>
              </a:rPr>
              <a:t>igeria</a:t>
            </a:r>
            <a:r>
              <a:rPr lang="en-GB" sz="1400" dirty="0">
                <a:effectLst/>
                <a:latin typeface="Arial Rounded MT Bold" panose="020F0704030504030204" pitchFamily="34" charset="0"/>
                <a:ea typeface="Times New Roman" panose="02020603050405020304" pitchFamily="18" charset="0"/>
              </a:rPr>
              <a:t>, Physics and Chemistry of the Earth, Parts A/B/C, Volume 129, 103354.</a:t>
            </a:r>
            <a:endParaRPr lang="en-NG" sz="1400" dirty="0">
              <a:effectLst/>
              <a:latin typeface="Arial Rounded MT Bold" panose="020F0704030504030204" pitchFamily="34" charset="0"/>
              <a:ea typeface="Times New Roman" panose="02020603050405020304" pitchFamily="18" charset="0"/>
            </a:endParaRPr>
          </a:p>
          <a:p>
            <a:pPr algn="just">
              <a:lnSpc>
                <a:spcPct val="107000"/>
              </a:lnSpc>
            </a:pPr>
            <a:r>
              <a:rPr lang="en-NG" sz="1400" kern="100" dirty="0">
                <a:solidFill>
                  <a:srgbClr val="232323"/>
                </a:solidFill>
                <a:effectLst/>
                <a:highlight>
                  <a:srgbClr val="FFFFFF"/>
                </a:highlight>
                <a:latin typeface="Arial Rounded MT Bold" panose="020F0704030504030204" pitchFamily="34" charset="0"/>
                <a:ea typeface="Calibri" panose="020F0502020204030204" pitchFamily="34" charset="0"/>
                <a:cs typeface="Times New Roman" panose="02020603050405020304" pitchFamily="18" charset="0"/>
              </a:rPr>
              <a:t>Muller, G. (1969) Index of </a:t>
            </a:r>
            <a:r>
              <a:rPr lang="en-NG" sz="1400" kern="100" dirty="0" err="1">
                <a:solidFill>
                  <a:srgbClr val="232323"/>
                </a:solidFill>
                <a:effectLst/>
                <a:highlight>
                  <a:srgbClr val="FFFFFF"/>
                </a:highlight>
                <a:latin typeface="Arial Rounded MT Bold" panose="020F0704030504030204" pitchFamily="34" charset="0"/>
                <a:ea typeface="Calibri" panose="020F0502020204030204" pitchFamily="34" charset="0"/>
                <a:cs typeface="Times New Roman" panose="02020603050405020304" pitchFamily="18" charset="0"/>
              </a:rPr>
              <a:t>Geoaccumulation</a:t>
            </a:r>
            <a:r>
              <a:rPr lang="en-NG" sz="1400" kern="100" dirty="0">
                <a:solidFill>
                  <a:srgbClr val="232323"/>
                </a:solidFill>
                <a:effectLst/>
                <a:highlight>
                  <a:srgbClr val="FFFFFF"/>
                </a:highlight>
                <a:latin typeface="Arial Rounded MT Bold" panose="020F0704030504030204" pitchFamily="34" charset="0"/>
                <a:ea typeface="Calibri" panose="020F0502020204030204" pitchFamily="34" charset="0"/>
                <a:cs typeface="Times New Roman" panose="02020603050405020304" pitchFamily="18" charset="0"/>
              </a:rPr>
              <a:t> in Sediments of the Rhine River. </a:t>
            </a:r>
            <a:r>
              <a:rPr lang="en-US" sz="1400" kern="100" dirty="0">
                <a:solidFill>
                  <a:srgbClr val="232323"/>
                </a:solidFill>
                <a:effectLst/>
                <a:highlight>
                  <a:srgbClr val="FFFFFF"/>
                </a:highlight>
                <a:latin typeface="Arial Rounded MT Bold" panose="020F0704030504030204" pitchFamily="34" charset="0"/>
                <a:ea typeface="Calibri" panose="020F0502020204030204" pitchFamily="34" charset="0"/>
                <a:cs typeface="Times New Roman" panose="02020603050405020304" pitchFamily="18" charset="0"/>
              </a:rPr>
              <a:t>	 	</a:t>
            </a:r>
            <a:r>
              <a:rPr lang="en-NG" sz="1400" kern="100" dirty="0" err="1">
                <a:solidFill>
                  <a:srgbClr val="232323"/>
                </a:solidFill>
                <a:effectLst/>
                <a:highlight>
                  <a:srgbClr val="FFFFFF"/>
                </a:highlight>
                <a:latin typeface="Arial Rounded MT Bold" panose="020F0704030504030204" pitchFamily="34" charset="0"/>
                <a:ea typeface="Calibri" panose="020F0502020204030204" pitchFamily="34" charset="0"/>
                <a:cs typeface="Times New Roman" panose="02020603050405020304" pitchFamily="18" charset="0"/>
              </a:rPr>
              <a:t>GeoJournal</a:t>
            </a:r>
            <a:r>
              <a:rPr lang="en-NG" sz="1400" kern="100" dirty="0">
                <a:solidFill>
                  <a:srgbClr val="232323"/>
                </a:solidFill>
                <a:effectLst/>
                <a:highlight>
                  <a:srgbClr val="FFFFFF"/>
                </a:highlight>
                <a:latin typeface="Arial Rounded MT Bold" panose="020F0704030504030204" pitchFamily="34" charset="0"/>
                <a:ea typeface="Calibri" panose="020F0502020204030204" pitchFamily="34" charset="0"/>
                <a:cs typeface="Times New Roman" panose="02020603050405020304" pitchFamily="18" charset="0"/>
              </a:rPr>
              <a:t>, 2, </a:t>
            </a:r>
            <a:r>
              <a:rPr lang="en-US" sz="1400" kern="100" dirty="0">
                <a:solidFill>
                  <a:srgbClr val="232323"/>
                </a:solidFill>
                <a:effectLst/>
                <a:highlight>
                  <a:srgbClr val="FFFFFF"/>
                </a:highlight>
                <a:latin typeface="Arial Rounded MT Bold" panose="020F0704030504030204" pitchFamily="34" charset="0"/>
                <a:ea typeface="Calibri" panose="020F0502020204030204" pitchFamily="34" charset="0"/>
                <a:cs typeface="Times New Roman" panose="02020603050405020304" pitchFamily="18" charset="0"/>
              </a:rPr>
              <a:t>pp. </a:t>
            </a:r>
            <a:r>
              <a:rPr lang="en-NG" sz="1400" kern="100" dirty="0">
                <a:solidFill>
                  <a:srgbClr val="232323"/>
                </a:solidFill>
                <a:effectLst/>
                <a:highlight>
                  <a:srgbClr val="FFFFFF"/>
                </a:highlight>
                <a:latin typeface="Arial Rounded MT Bold" panose="020F0704030504030204" pitchFamily="34" charset="0"/>
                <a:ea typeface="Calibri" panose="020F0502020204030204" pitchFamily="34" charset="0"/>
                <a:cs typeface="Times New Roman" panose="02020603050405020304" pitchFamily="18" charset="0"/>
              </a:rPr>
              <a:t>108-118.</a:t>
            </a:r>
            <a:endParaRPr lang="en-NG" sz="14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lnSpc>
                <a:spcPct val="107000"/>
              </a:lnSpc>
            </a:pPr>
            <a:r>
              <a:rPr lang="en-GB" sz="1400" spc="-5" dirty="0">
                <a:solidFill>
                  <a:srgbClr val="000000"/>
                </a:solidFill>
                <a:effectLst/>
                <a:highlight>
                  <a:srgbClr val="FFFFFF"/>
                </a:highlight>
                <a:latin typeface="Arial Rounded MT Bold" panose="020F0704030504030204" pitchFamily="34" charset="0"/>
                <a:ea typeface="Times New Roman" panose="02020603050405020304" pitchFamily="18" charset="0"/>
                <a:cs typeface="Times New Roman" panose="02020603050405020304" pitchFamily="18" charset="0"/>
              </a:rPr>
              <a:t>Okoye, A. C., </a:t>
            </a:r>
            <a:r>
              <a:rPr lang="en-GB" sz="1400" spc="-5" dirty="0" err="1">
                <a:solidFill>
                  <a:srgbClr val="000000"/>
                </a:solidFill>
                <a:effectLst/>
                <a:highlight>
                  <a:srgbClr val="FFFFFF"/>
                </a:highlight>
                <a:latin typeface="Arial Rounded MT Bold" panose="020F0704030504030204" pitchFamily="34" charset="0"/>
                <a:ea typeface="Times New Roman" panose="02020603050405020304" pitchFamily="18" charset="0"/>
                <a:cs typeface="Times New Roman" panose="02020603050405020304" pitchFamily="18" charset="0"/>
              </a:rPr>
              <a:t>Oluyemi</a:t>
            </a:r>
            <a:r>
              <a:rPr lang="en-GB" sz="1400" spc="-5" dirty="0">
                <a:solidFill>
                  <a:srgbClr val="000000"/>
                </a:solidFill>
                <a:effectLst/>
                <a:highlight>
                  <a:srgbClr val="FFFFFF"/>
                </a:highlight>
                <a:latin typeface="Arial Rounded MT Bold" panose="020F0704030504030204" pitchFamily="34" charset="0"/>
                <a:ea typeface="Times New Roman" panose="02020603050405020304" pitchFamily="18" charset="0"/>
                <a:cs typeface="Times New Roman" panose="02020603050405020304" pitchFamily="18" charset="0"/>
              </a:rPr>
              <a:t>, E. A., Oladipo, A. A. and </a:t>
            </a:r>
            <a:r>
              <a:rPr lang="en-GB" sz="1400" spc="-5" dirty="0" err="1">
                <a:solidFill>
                  <a:srgbClr val="000000"/>
                </a:solidFill>
                <a:effectLst/>
                <a:highlight>
                  <a:srgbClr val="FFFFFF"/>
                </a:highlight>
                <a:latin typeface="Arial Rounded MT Bold" panose="020F0704030504030204" pitchFamily="34" charset="0"/>
                <a:ea typeface="Times New Roman" panose="02020603050405020304" pitchFamily="18" charset="0"/>
                <a:cs typeface="Times New Roman" panose="02020603050405020304" pitchFamily="18" charset="0"/>
              </a:rPr>
              <a:t>Ezeonu</a:t>
            </a:r>
            <a:r>
              <a:rPr lang="en-GB" sz="1400" spc="-5" dirty="0">
                <a:solidFill>
                  <a:srgbClr val="000000"/>
                </a:solidFill>
                <a:effectLst/>
                <a:highlight>
                  <a:srgbClr val="FFFFFF"/>
                </a:highlight>
                <a:latin typeface="Arial Rounded MT Bold" panose="020F0704030504030204" pitchFamily="34" charset="0"/>
                <a:ea typeface="Times New Roman" panose="02020603050405020304" pitchFamily="18" charset="0"/>
                <a:cs typeface="Times New Roman" panose="02020603050405020304" pitchFamily="18" charset="0"/>
              </a:rPr>
              <a:t>, F. C. (2011): </a:t>
            </a:r>
            <a:r>
              <a:rPr lang="en-GB" sz="1400" spc="15" dirty="0">
                <a:solidFill>
                  <a:srgbClr val="000000"/>
                </a:solidFill>
                <a:effectLst/>
                <a:highlight>
                  <a:srgbClr val="FFFFFF"/>
                </a:highlight>
                <a:latin typeface="Arial Rounded MT Bold" panose="020F0704030504030204" pitchFamily="34" charset="0"/>
                <a:ea typeface="Times New Roman" panose="02020603050405020304" pitchFamily="18" charset="0"/>
                <a:cs typeface="Times New Roman" panose="02020603050405020304" pitchFamily="18" charset="0"/>
              </a:rPr>
              <a:t>Physicochemical 	Analysis 	and Trace Metal Levels of Rain Water for Environmental Pollution Monitoring in Ile – 	Ife, Southwestern Nigeria. </a:t>
            </a:r>
            <a:r>
              <a:rPr lang="en-GB" sz="1400" spc="-5" dirty="0">
                <a:solidFill>
                  <a:srgbClr val="000000"/>
                </a:solidFill>
                <a:effectLst/>
                <a:highlight>
                  <a:srgbClr val="FFFFFF"/>
                </a:highlight>
                <a:latin typeface="Arial Rounded MT Bold" panose="020F0704030504030204" pitchFamily="34" charset="0"/>
                <a:ea typeface="Times New Roman" panose="02020603050405020304" pitchFamily="18" charset="0"/>
                <a:cs typeface="Times New Roman" panose="02020603050405020304" pitchFamily="18" charset="0"/>
              </a:rPr>
              <a:t>J. Int. Environmental Application &amp; Science</a:t>
            </a:r>
            <a:r>
              <a:rPr lang="en-GB" sz="1400" dirty="0">
                <a:solidFill>
                  <a:srgbClr val="000000"/>
                </a:solidFill>
                <a:effectLst/>
                <a:highlight>
                  <a:srgbClr val="FFFFFF"/>
                </a:highlight>
                <a:latin typeface="Arial Rounded MT Bold" panose="020F0704030504030204" pitchFamily="34" charset="0"/>
                <a:ea typeface="Times New Roman" panose="02020603050405020304" pitchFamily="18" charset="0"/>
                <a:cs typeface="Times New Roman" panose="02020603050405020304" pitchFamily="18" charset="0"/>
              </a:rPr>
              <a:t>, </a:t>
            </a:r>
            <a:r>
              <a:rPr lang="en-GB" sz="1400" spc="-5" dirty="0">
                <a:solidFill>
                  <a:srgbClr val="000000"/>
                </a:solidFill>
                <a:effectLst/>
                <a:highlight>
                  <a:srgbClr val="FFFFFF"/>
                </a:highlight>
                <a:latin typeface="Arial Rounded MT Bold" panose="020F0704030504030204" pitchFamily="34" charset="0"/>
                <a:ea typeface="Times New Roman" panose="02020603050405020304" pitchFamily="18" charset="0"/>
                <a:cs typeface="Times New Roman" panose="02020603050405020304" pitchFamily="18" charset="0"/>
              </a:rPr>
              <a:t>Vol. 6 (3): pp. 326-	331</a:t>
            </a:r>
            <a:endParaRPr lang="en-NG" sz="1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lnSpc>
                <a:spcPct val="107000"/>
              </a:lnSpc>
            </a:pPr>
            <a:r>
              <a:rPr lang="en-GB" sz="1400" dirty="0" err="1">
                <a:effectLst/>
                <a:latin typeface="Arial Rounded MT Bold" panose="020F0704030504030204" pitchFamily="34" charset="0"/>
                <a:ea typeface="Calibri" panose="020F0502020204030204" pitchFamily="34" charset="0"/>
                <a:cs typeface="Times New Roman" panose="02020603050405020304" pitchFamily="18" charset="0"/>
              </a:rPr>
              <a:t>Oyewusi</a:t>
            </a:r>
            <a:r>
              <a:rPr lang="en-GB" sz="1400" dirty="0">
                <a:latin typeface="Arial Rounded MT Bold" panose="020F0704030504030204" pitchFamily="34" charset="0"/>
                <a:ea typeface="Calibri" panose="020F0502020204030204" pitchFamily="34" charset="0"/>
                <a:cs typeface="Times New Roman" panose="02020603050405020304" pitchFamily="18" charset="0"/>
              </a:rPr>
              <a:t>, T., Jimmy, O., </a:t>
            </a:r>
            <a:r>
              <a:rPr lang="en-GB" sz="1400" dirty="0" err="1">
                <a:latin typeface="Arial Rounded MT Bold" panose="020F0704030504030204" pitchFamily="34" charset="0"/>
                <a:ea typeface="Calibri" panose="020F0502020204030204" pitchFamily="34" charset="0"/>
                <a:cs typeface="Times New Roman" panose="02020603050405020304" pitchFamily="18" charset="0"/>
              </a:rPr>
              <a:t>Akinleye</a:t>
            </a:r>
            <a:r>
              <a:rPr lang="en-GB" sz="1400" dirty="0">
                <a:latin typeface="Arial Rounded MT Bold" panose="020F0704030504030204" pitchFamily="34" charset="0"/>
                <a:ea typeface="Calibri" panose="020F0502020204030204" pitchFamily="34" charset="0"/>
                <a:cs typeface="Times New Roman" panose="02020603050405020304" pitchFamily="18" charset="0"/>
              </a:rPr>
              <a:t>, M., Salami, L. O., Joseph, O., and </a:t>
            </a:r>
            <a:r>
              <a:rPr lang="en-GB" sz="1400" dirty="0" err="1">
                <a:latin typeface="Arial Rounded MT Bold" panose="020F0704030504030204" pitchFamily="34" charset="0"/>
                <a:ea typeface="Calibri" panose="020F0502020204030204" pitchFamily="34" charset="0"/>
                <a:cs typeface="Times New Roman" panose="02020603050405020304" pitchFamily="18" charset="0"/>
              </a:rPr>
              <a:t>Opadoja</a:t>
            </a:r>
            <a:r>
              <a:rPr lang="en-GB" sz="1400" dirty="0">
                <a:latin typeface="Arial Rounded MT Bold" panose="020F0704030504030204" pitchFamily="34" charset="0"/>
                <a:ea typeface="Calibri" panose="020F0502020204030204" pitchFamily="34" charset="0"/>
                <a:cs typeface="Times New Roman" panose="02020603050405020304" pitchFamily="18" charset="0"/>
              </a:rPr>
              <a:t>, O.</a:t>
            </a:r>
            <a:r>
              <a:rPr lang="en-GB" sz="1400" dirty="0">
                <a:effectLst/>
                <a:latin typeface="Arial Rounded MT Bold" panose="020F0704030504030204" pitchFamily="34" charset="0"/>
                <a:ea typeface="Calibri" panose="020F0502020204030204" pitchFamily="34" charset="0"/>
                <a:cs typeface="Times New Roman" panose="02020603050405020304" pitchFamily="18" charset="0"/>
              </a:rPr>
              <a:t> (2021): </a:t>
            </a:r>
            <a:r>
              <a:rPr lang="en-GB" sz="1400" dirty="0">
                <a:solidFill>
                  <a:schemeClr val="tx1"/>
                </a:solidFill>
                <a:effectLst/>
                <a:latin typeface="Arial Rounded MT Bold" panose="020F0704030504030204" pitchFamily="34" charset="0"/>
                <a:ea typeface="Calibri" panose="020F0502020204030204" pitchFamily="34" charset="0"/>
                <a:cs typeface="Times New Roman" panose="02020603050405020304" pitchFamily="18" charset="0"/>
              </a:rPr>
              <a:t>Suitability of </a:t>
            </a:r>
            <a:r>
              <a:rPr lang="en-GB" sz="1400" dirty="0" err="1">
                <a:solidFill>
                  <a:schemeClr val="tx1"/>
                </a:solidFill>
                <a:effectLst/>
                <a:latin typeface="Arial Rounded MT Bold" panose="020F0704030504030204" pitchFamily="34" charset="0"/>
                <a:ea typeface="Calibri" panose="020F0502020204030204" pitchFamily="34" charset="0"/>
                <a:cs typeface="Times New Roman" panose="02020603050405020304" pitchFamily="18" charset="0"/>
              </a:rPr>
              <a:t>Opa</a:t>
            </a:r>
            <a:r>
              <a:rPr lang="en-GB" sz="1400" dirty="0">
                <a:solidFill>
                  <a:schemeClr val="tx1"/>
                </a:solidFill>
                <a:effectLst/>
                <a:latin typeface="Arial Rounded MT Bold" panose="020F0704030504030204" pitchFamily="34" charset="0"/>
                <a:ea typeface="Calibri" panose="020F0502020204030204" pitchFamily="34" charset="0"/>
                <a:cs typeface="Times New Roman" panose="02020603050405020304" pitchFamily="18" charset="0"/>
              </a:rPr>
              <a:t> 	reservoir water for drinking and irrigation purposes. 4. Pp. 40-46.</a:t>
            </a:r>
            <a:endParaRPr lang="en-GB" sz="1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lnSpc>
                <a:spcPct val="107000"/>
              </a:lnSpc>
            </a:pPr>
            <a:r>
              <a:rPr lang="en-GB" sz="1400" kern="100" dirty="0">
                <a:effectLst/>
                <a:latin typeface="Arial Rounded MT Bold" panose="020F0704030504030204" pitchFamily="34" charset="0"/>
                <a:ea typeface="Calibri" panose="020F0502020204030204" pitchFamily="34" charset="0"/>
                <a:cs typeface="Times New Roman" panose="02020603050405020304" pitchFamily="18" charset="0"/>
              </a:rPr>
              <a:t>United States Geological Survey. USGS (2019): "Water Q&amp;A: Why is water the "universal 	solvent"?. Water Science School. United States Geological Survey. U.S. Department of the 	Interior. 20 June 2019.  Retrieved 16th </a:t>
            </a:r>
            <a:r>
              <a:rPr lang="en-GB" sz="1400" kern="100" dirty="0" err="1">
                <a:effectLst/>
                <a:latin typeface="Arial Rounded MT Bold" panose="020F0704030504030204" pitchFamily="34" charset="0"/>
                <a:ea typeface="Calibri" panose="020F0502020204030204" pitchFamily="34" charset="0"/>
                <a:cs typeface="Times New Roman" panose="02020603050405020304" pitchFamily="18" charset="0"/>
              </a:rPr>
              <a:t>Novermber</a:t>
            </a:r>
            <a:r>
              <a:rPr lang="en-GB" sz="1400" kern="100" dirty="0">
                <a:effectLst/>
                <a:latin typeface="Arial Rounded MT Bold" panose="020F0704030504030204" pitchFamily="34" charset="0"/>
                <a:ea typeface="Calibri" panose="020F0502020204030204" pitchFamily="34" charset="0"/>
                <a:cs typeface="Times New Roman" panose="02020603050405020304" pitchFamily="18" charset="0"/>
              </a:rPr>
              <a:t> 2022.</a:t>
            </a:r>
            <a:endParaRPr lang="en-NG" sz="1400" kern="100" dirty="0">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endParaRPr lang="en-NG" sz="1600" dirty="0">
              <a:latin typeface="Times New Roman" panose="02020603050405020304" pitchFamily="18"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39B7F170-2A64-421E-816D-BC7FF3118E98}"/>
              </a:ext>
            </a:extLst>
          </p:cNvPr>
          <p:cNvSpPr>
            <a:spLocks noGrp="1"/>
          </p:cNvSpPr>
          <p:nvPr>
            <p:ph type="sldNum" sz="quarter" idx="12"/>
          </p:nvPr>
        </p:nvSpPr>
        <p:spPr/>
        <p:txBody>
          <a:bodyPr/>
          <a:lstStyle/>
          <a:p>
            <a:fld id="{E30FEA02-71A2-4209-B909-B13DA9CFC23D}" type="slidenum">
              <a:rPr lang="en-NG" smtClean="0"/>
              <a:t>32</a:t>
            </a:fld>
            <a:endParaRPr lang="en-NG"/>
          </a:p>
        </p:txBody>
      </p:sp>
    </p:spTree>
    <p:extLst>
      <p:ext uri="{BB962C8B-B14F-4D97-AF65-F5344CB8AC3E}">
        <p14:creationId xmlns:p14="http://schemas.microsoft.com/office/powerpoint/2010/main" val="42538155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5D00-5374-6232-0E50-2406E670E628}"/>
              </a:ext>
            </a:extLst>
          </p:cNvPr>
          <p:cNvSpPr>
            <a:spLocks noGrp="1"/>
          </p:cNvSpPr>
          <p:nvPr>
            <p:ph type="ctrTitle"/>
          </p:nvPr>
        </p:nvSpPr>
        <p:spPr>
          <a:xfrm>
            <a:off x="1805354" y="189918"/>
            <a:ext cx="9144000" cy="1146512"/>
          </a:xfrm>
        </p:spPr>
        <p:txBody>
          <a:bodyPr>
            <a:noAutofit/>
          </a:bodyPr>
          <a:lstStyle/>
          <a:p>
            <a:br>
              <a:rPr lang="en-GB" sz="3200" b="1" dirty="0">
                <a:latin typeface="Times New Roman" panose="02020603050405020304" pitchFamily="18" charset="0"/>
                <a:cs typeface="Times New Roman" panose="02020603050405020304" pitchFamily="18" charset="0"/>
              </a:rPr>
            </a:br>
            <a:endParaRPr lang="en-NG" sz="3200" dirty="0"/>
          </a:p>
        </p:txBody>
      </p:sp>
      <p:sp>
        <p:nvSpPr>
          <p:cNvPr id="3" name="Subtitle 2">
            <a:extLst>
              <a:ext uri="{FF2B5EF4-FFF2-40B4-BE49-F238E27FC236}">
                <a16:creationId xmlns:a16="http://schemas.microsoft.com/office/drawing/2014/main" id="{0AC242FE-F4A4-5E2E-BE2C-48294B72D325}"/>
              </a:ext>
            </a:extLst>
          </p:cNvPr>
          <p:cNvSpPr>
            <a:spLocks noGrp="1"/>
          </p:cNvSpPr>
          <p:nvPr>
            <p:ph type="subTitle" idx="1"/>
          </p:nvPr>
        </p:nvSpPr>
        <p:spPr>
          <a:xfrm>
            <a:off x="1012875" y="1491175"/>
            <a:ext cx="10972798" cy="5176907"/>
          </a:xfrm>
        </p:spPr>
        <p:txBody>
          <a:bodyPr/>
          <a:lstStyle/>
          <a:p>
            <a:endParaRPr lang="en-US" dirty="0"/>
          </a:p>
          <a:p>
            <a:endParaRPr lang="en-US" dirty="0"/>
          </a:p>
          <a:p>
            <a:endParaRPr lang="en-US" dirty="0"/>
          </a:p>
          <a:p>
            <a:endParaRPr lang="en-US" dirty="0"/>
          </a:p>
          <a:p>
            <a:r>
              <a:rPr lang="en-US" sz="3200" dirty="0">
                <a:latin typeface="Arial Rounded MT Bold" panose="020F0704030504030204" pitchFamily="34" charset="0"/>
                <a:cs typeface="Times New Roman" panose="02020603050405020304" pitchFamily="18" charset="0"/>
              </a:rPr>
              <a:t>Thank you for listening</a:t>
            </a:r>
            <a:endParaRPr lang="en-NG" sz="3200" dirty="0">
              <a:latin typeface="Arial Rounded MT Bold" panose="020F07040305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D6EA8835-F78B-CABB-108B-BA1BDD992CDD}"/>
              </a:ext>
            </a:extLst>
          </p:cNvPr>
          <p:cNvCxnSpPr>
            <a:cxnSpLocks/>
          </p:cNvCxnSpPr>
          <p:nvPr/>
        </p:nvCxnSpPr>
        <p:spPr>
          <a:xfrm>
            <a:off x="0" y="1122363"/>
            <a:ext cx="12192000" cy="0"/>
          </a:xfrm>
          <a:prstGeom prst="line">
            <a:avLst/>
          </a:prstGeom>
          <a:ln w="698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0B782DE5-21D5-43A4-F0C7-748964625F5D}"/>
              </a:ext>
            </a:extLst>
          </p:cNvPr>
          <p:cNvCxnSpPr>
            <a:cxnSpLocks/>
          </p:cNvCxnSpPr>
          <p:nvPr/>
        </p:nvCxnSpPr>
        <p:spPr>
          <a:xfrm>
            <a:off x="815927" y="0"/>
            <a:ext cx="0" cy="6858000"/>
          </a:xfrm>
          <a:prstGeom prst="line">
            <a:avLst/>
          </a:prstGeom>
          <a:ln w="69850">
            <a:solidFill>
              <a:srgbClr val="00B0F0"/>
            </a:solidFill>
          </a:ln>
        </p:spPr>
        <p:style>
          <a:lnRef idx="3">
            <a:schemeClr val="accent1"/>
          </a:lnRef>
          <a:fillRef idx="0">
            <a:schemeClr val="accent1"/>
          </a:fillRef>
          <a:effectRef idx="2">
            <a:schemeClr val="accent1"/>
          </a:effectRef>
          <a:fontRef idx="minor">
            <a:schemeClr val="tx1"/>
          </a:fontRef>
        </p:style>
      </p:cxnSp>
      <p:sp>
        <p:nvSpPr>
          <p:cNvPr id="4" name="Slide Number Placeholder 3">
            <a:extLst>
              <a:ext uri="{FF2B5EF4-FFF2-40B4-BE49-F238E27FC236}">
                <a16:creationId xmlns:a16="http://schemas.microsoft.com/office/drawing/2014/main" id="{420063FF-2DBA-A279-E5AF-08BCC3516DD4}"/>
              </a:ext>
            </a:extLst>
          </p:cNvPr>
          <p:cNvSpPr>
            <a:spLocks noGrp="1"/>
          </p:cNvSpPr>
          <p:nvPr>
            <p:ph type="sldNum" sz="quarter" idx="12"/>
          </p:nvPr>
        </p:nvSpPr>
        <p:spPr/>
        <p:txBody>
          <a:bodyPr/>
          <a:lstStyle/>
          <a:p>
            <a:fld id="{E30FEA02-71A2-4209-B909-B13DA9CFC23D}" type="slidenum">
              <a:rPr lang="en-NG" smtClean="0"/>
              <a:t>33</a:t>
            </a:fld>
            <a:endParaRPr lang="en-NG"/>
          </a:p>
        </p:txBody>
      </p:sp>
    </p:spTree>
    <p:extLst>
      <p:ext uri="{BB962C8B-B14F-4D97-AF65-F5344CB8AC3E}">
        <p14:creationId xmlns:p14="http://schemas.microsoft.com/office/powerpoint/2010/main" val="11077683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9303</TotalTime>
  <Words>4222</Words>
  <Application>Microsoft Office PowerPoint</Application>
  <PresentationFormat>Widescreen</PresentationFormat>
  <Paragraphs>2000</Paragraphs>
  <Slides>33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-apple-system</vt:lpstr>
      <vt:lpstr>Arial</vt:lpstr>
      <vt:lpstr>Arial Rounded MT Bold</vt:lpstr>
      <vt:lpstr>Calibri</vt:lpstr>
      <vt:lpstr>Calibri Light</vt:lpstr>
      <vt:lpstr>helvetica neue</vt:lpstr>
      <vt:lpstr>Roboto</vt:lpstr>
      <vt:lpstr>Times New Roman</vt:lpstr>
      <vt:lpstr>Wingdings</vt:lpstr>
      <vt:lpstr>Office Theme</vt:lpstr>
      <vt:lpstr>ASSESSMENT OF THE SURFACE WATER AND GROUNDWATER INTERACTION WITHIN THE OPA DRAINAGE BASIN, SOUTH-WESTERN NIGERIA</vt:lpstr>
      <vt:lpstr>Outline </vt:lpstr>
      <vt:lpstr>Introduction</vt:lpstr>
      <vt:lpstr>Introduction cont’d</vt:lpstr>
      <vt:lpstr>Introduction cont’d</vt:lpstr>
      <vt:lpstr>Introduction cont’d</vt:lpstr>
      <vt:lpstr>Literature Review </vt:lpstr>
      <vt:lpstr>Location of the Study Area </vt:lpstr>
      <vt:lpstr>Geology of the Study Area</vt:lpstr>
      <vt:lpstr>Research Statement </vt:lpstr>
      <vt:lpstr>Aim and Objectives </vt:lpstr>
      <vt:lpstr>Research Methodology   </vt:lpstr>
      <vt:lpstr>Distribution of Water Samples </vt:lpstr>
      <vt:lpstr>Distribution of Soil  Samples </vt:lpstr>
      <vt:lpstr>Results and Discussions </vt:lpstr>
      <vt:lpstr>Results and Discussions </vt:lpstr>
      <vt:lpstr>  Results and Discussions </vt:lpstr>
      <vt:lpstr>  Results and Discussions </vt:lpstr>
      <vt:lpstr>  Results and Discussions </vt:lpstr>
      <vt:lpstr>    Results and Discussions  </vt:lpstr>
      <vt:lpstr>  Results and Discussions </vt:lpstr>
      <vt:lpstr>  Results and Discussions </vt:lpstr>
      <vt:lpstr>Results and Discussions</vt:lpstr>
      <vt:lpstr>Results and Discussions</vt:lpstr>
      <vt:lpstr>Results and Discussions </vt:lpstr>
      <vt:lpstr>  Results and Discussions </vt:lpstr>
      <vt:lpstr>  Results and Discussions </vt:lpstr>
      <vt:lpstr>  Results and Discussions </vt:lpstr>
      <vt:lpstr>Recommendations</vt:lpstr>
      <vt:lpstr>Conclusion</vt:lpstr>
      <vt:lpstr>References </vt:lpstr>
      <vt:lpstr>References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OUTLINE</dc:title>
  <dc:creator>ADMIN</dc:creator>
  <cp:lastModifiedBy>Pal Ogb</cp:lastModifiedBy>
  <cp:revision>134</cp:revision>
  <dcterms:created xsi:type="dcterms:W3CDTF">2023-04-17T21:11:41Z</dcterms:created>
  <dcterms:modified xsi:type="dcterms:W3CDTF">2025-07-12T04:13:39Z</dcterms:modified>
</cp:coreProperties>
</file>