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73" r:id="rId5"/>
    <p:sldId id="259" r:id="rId6"/>
    <p:sldId id="260" r:id="rId7"/>
    <p:sldId id="276" r:id="rId8"/>
    <p:sldId id="277" r:id="rId9"/>
    <p:sldId id="278" r:id="rId10"/>
    <p:sldId id="262" r:id="rId11"/>
    <p:sldId id="263" r:id="rId12"/>
    <p:sldId id="274" r:id="rId13"/>
    <p:sldId id="264" r:id="rId14"/>
    <p:sldId id="265" r:id="rId15"/>
    <p:sldId id="266" r:id="rId16"/>
    <p:sldId id="267" r:id="rId17"/>
    <p:sldId id="268" r:id="rId18"/>
    <p:sldId id="269" r:id="rId19"/>
    <p:sldId id="275" r:id="rId20"/>
    <p:sldId id="270" r:id="rId21"/>
    <p:sldId id="271" r:id="rId22"/>
    <p:sldId id="272"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9" d="100"/>
          <a:sy n="69" d="100"/>
        </p:scale>
        <p:origin x="78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28403" y="945913"/>
            <a:ext cx="8637073" cy="2618554"/>
          </a:xfrm>
        </p:spPr>
        <p:txBody>
          <a:bodyPr bIns="0" anchor="b">
            <a:normAutofit/>
          </a:bodyPr>
          <a:lstStyle>
            <a:lvl1pPr algn="l">
              <a:defRPr sz="6600"/>
            </a:lvl1pPr>
          </a:lstStyle>
          <a:p>
            <a:r>
              <a:rPr lang="en-US" smtClean="0"/>
              <a:t>Click to edit Master title style</a:t>
            </a:r>
            <a:endParaRPr lang="en-US" dirty="0"/>
          </a:p>
        </p:txBody>
      </p:sp>
      <p:sp>
        <p:nvSpPr>
          <p:cNvPr id="3" name="Subtitle 2"/>
          <p:cNvSpPr>
            <a:spLocks noGrp="1"/>
          </p:cNvSpPr>
          <p:nvPr>
            <p:ph type="subTitle" idx="1"/>
          </p:nvPr>
        </p:nvSpPr>
        <p:spPr>
          <a:xfrm>
            <a:off x="1128404" y="3564467"/>
            <a:ext cx="8637072" cy="1071095"/>
          </a:xfrm>
        </p:spPr>
        <p:txBody>
          <a:bodyPr tIns="91440" bIns="91440">
            <a:normAutofit/>
          </a:bodyPr>
          <a:lstStyle>
            <a:lvl1pPr marL="0" indent="0" algn="l">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72684CBD-684F-4EF8-8508-DD3828823595}" type="datetimeFigureOut">
              <a:rPr lang="en-US" smtClean="0"/>
              <a:t>12/16/2025</a:t>
            </a:fld>
            <a:endParaRPr lang="en-US"/>
          </a:p>
        </p:txBody>
      </p:sp>
      <p:sp>
        <p:nvSpPr>
          <p:cNvPr id="5" name="Footer Placeholder 4"/>
          <p:cNvSpPr>
            <a:spLocks noGrp="1"/>
          </p:cNvSpPr>
          <p:nvPr>
            <p:ph type="ftr" sz="quarter" idx="11"/>
          </p:nvPr>
        </p:nvSpPr>
        <p:spPr>
          <a:xfrm>
            <a:off x="1127124" y="329307"/>
            <a:ext cx="5943668" cy="309201"/>
          </a:xfrm>
        </p:spPr>
        <p:txBody>
          <a:bodyPr/>
          <a:lstStyle/>
          <a:p>
            <a:endParaRPr lang="en-US"/>
          </a:p>
        </p:txBody>
      </p:sp>
      <p:sp>
        <p:nvSpPr>
          <p:cNvPr id="6" name="Slide Number Placeholder 5"/>
          <p:cNvSpPr>
            <a:spLocks noGrp="1"/>
          </p:cNvSpPr>
          <p:nvPr>
            <p:ph type="sldNum" sz="quarter" idx="12"/>
          </p:nvPr>
        </p:nvSpPr>
        <p:spPr>
          <a:xfrm>
            <a:off x="9924392" y="134930"/>
            <a:ext cx="811019" cy="503578"/>
          </a:xfrm>
        </p:spPr>
        <p:txBody>
          <a:bodyPr/>
          <a:lstStyle/>
          <a:p>
            <a:fld id="{96AEB611-95B7-408E-AD91-A8B08473B6F0}" type="slidenum">
              <a:rPr lang="en-US" smtClean="0"/>
              <a:t>‹#›</a:t>
            </a:fld>
            <a:endParaRPr 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16928225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lvl1pPr>
              <a:defRPr sz="1200"/>
            </a:lvl1pPr>
          </a:lstStyle>
          <a:p>
            <a:fld id="{72684CBD-684F-4EF8-8508-DD3828823595}" type="datetimeFigureOut">
              <a:rPr lang="en-US" smtClean="0"/>
              <a:t>12/16/2025</a:t>
            </a:fld>
            <a:endParaRPr lang="en-US"/>
          </a:p>
        </p:txBody>
      </p:sp>
      <p:sp>
        <p:nvSpPr>
          <p:cNvPr id="5" name="Footer Placeholder 4"/>
          <p:cNvSpPr>
            <a:spLocks noGrp="1"/>
          </p:cNvSpPr>
          <p:nvPr>
            <p:ph type="ftr" sz="quarter" idx="11"/>
          </p:nvPr>
        </p:nvSpPr>
        <p:spPr/>
        <p:txBody>
          <a:bodyPr/>
          <a:lstStyle>
            <a:lvl1pPr>
              <a:defRPr sz="1200"/>
            </a:lvl1pPr>
          </a:lstStyle>
          <a:p>
            <a:endParaRPr lang="en-US"/>
          </a:p>
        </p:txBody>
      </p:sp>
      <p:sp>
        <p:nvSpPr>
          <p:cNvPr id="6" name="Slide Number Placeholder 5"/>
          <p:cNvSpPr>
            <a:spLocks noGrp="1"/>
          </p:cNvSpPr>
          <p:nvPr>
            <p:ph type="sldNum" sz="quarter" idx="12"/>
          </p:nvPr>
        </p:nvSpPr>
        <p:spPr/>
        <p:txBody>
          <a:bodyPr/>
          <a:lstStyle/>
          <a:p>
            <a:fld id="{96AEB611-95B7-408E-AD91-A8B08473B6F0}" type="slidenum">
              <a:rPr lang="en-US" smtClean="0"/>
              <a:t>‹#›</a:t>
            </a:fld>
            <a:endParaRPr lang="en-US"/>
          </a:p>
        </p:txBody>
      </p:sp>
      <p:pic>
        <p:nvPicPr>
          <p:cNvPr id="24" name="Picture 23"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2187258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29167" y="1756129"/>
            <a:ext cx="8619060" cy="2050065"/>
          </a:xfrm>
        </p:spPr>
        <p:txBody>
          <a:bodyPr anchor="b">
            <a:normAutofit/>
          </a:bodyPr>
          <a:lstStyle>
            <a:lvl1pPr algn="l">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29166" y="3806195"/>
            <a:ext cx="8619060"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2684CBD-684F-4EF8-8508-DD3828823595}"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AEB611-95B7-408E-AD91-A8B08473B6F0}" type="slidenum">
              <a:rPr lang="en-US" smtClean="0"/>
              <a:t>‹#›</a:t>
            </a:fld>
            <a:endParaRPr 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27022515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31052" y="958037"/>
            <a:ext cx="9605635" cy="1059305"/>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29166" y="2165621"/>
            <a:ext cx="4645152" cy="329385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095606" y="2171769"/>
            <a:ext cx="4645152" cy="328709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2684CBD-684F-4EF8-8508-DD3828823595}"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AEB611-95B7-408E-AD91-A8B08473B6F0}" type="slidenum">
              <a:rPr lang="en-US" smtClean="0"/>
              <a:t>‹#›</a:t>
            </a:fld>
            <a:endParaRPr 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4092108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29166" y="953336"/>
            <a:ext cx="9607661" cy="1056319"/>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129166" y="2169727"/>
            <a:ext cx="4645152" cy="801943"/>
          </a:xfrm>
        </p:spPr>
        <p:txBody>
          <a:bodyPr anchor="b">
            <a:normAutofit/>
          </a:bodyPr>
          <a:lstStyle>
            <a:lvl1pPr marL="0" indent="0">
              <a:lnSpc>
                <a:spcPct val="100000"/>
              </a:lnSpc>
              <a:buNone/>
              <a:defRPr sz="2800" b="0" cap="none"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29166" y="2974448"/>
            <a:ext cx="4645152" cy="2493876"/>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094337" y="2173181"/>
            <a:ext cx="4645152" cy="802237"/>
          </a:xfrm>
        </p:spPr>
        <p:txBody>
          <a:bodyPr anchor="b">
            <a:normAutofit/>
          </a:bodyPr>
          <a:lstStyle>
            <a:lvl1pPr marL="0" indent="0">
              <a:lnSpc>
                <a:spcPct val="100000"/>
              </a:lnSpc>
              <a:buNone/>
              <a:defRPr sz="2800" b="0" cap="none"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094337" y="2971669"/>
            <a:ext cx="4645152" cy="248719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72684CBD-684F-4EF8-8508-DD3828823595}" type="datetimeFigureOut">
              <a:rPr lang="en-US" smtClean="0"/>
              <a:t>12/16/2025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6AEB611-95B7-408E-AD91-A8B08473B6F0}" type="slidenum">
              <a:rPr lang="en-US" smtClean="0"/>
              <a:t>‹#›</a:t>
            </a:fld>
            <a:endParaRPr lang="en-US"/>
          </a:p>
        </p:txBody>
      </p:sp>
      <p:pic>
        <p:nvPicPr>
          <p:cNvPr id="18" name="Picture 17"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28257418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2684CBD-684F-4EF8-8508-DD3828823595}" type="datetimeFigureOut">
              <a:rPr lang="en-US" smtClean="0"/>
              <a:t>12/16/2025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AEB611-95B7-408E-AD91-A8B08473B6F0}" type="slidenum">
              <a:rPr lang="en-US" smtClean="0"/>
              <a:t>‹#›</a:t>
            </a:fld>
            <a:endParaRPr lang="en-US"/>
          </a:p>
        </p:txBody>
      </p:sp>
      <p:pic>
        <p:nvPicPr>
          <p:cNvPr id="14" name="Picture 13"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12378307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684CBD-684F-4EF8-8508-DD3828823595}" type="datetimeFigureOut">
              <a:rPr lang="en-US" smtClean="0"/>
              <a:t>12/16/2025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AEB611-95B7-408E-AD91-A8B08473B6F0}" type="slidenum">
              <a:rPr lang="en-US" smtClean="0"/>
              <a:t>‹#›</a:t>
            </a:fld>
            <a:endParaRPr lang="en-US"/>
          </a:p>
        </p:txBody>
      </p:sp>
    </p:spTree>
    <p:extLst>
      <p:ext uri="{BB962C8B-B14F-4D97-AF65-F5344CB8AC3E}">
        <p14:creationId xmlns:p14="http://schemas.microsoft.com/office/powerpoint/2010/main" val="27220788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24291" y="952578"/>
            <a:ext cx="3275013" cy="2322176"/>
          </a:xfrm>
        </p:spPr>
        <p:txBody>
          <a:bodyPr anchor="b">
            <a:normAutofit/>
          </a:bodyPr>
          <a:lstStyle>
            <a:lvl1pPr algn="l">
              <a:defRPr sz="2400"/>
            </a:lvl1pPr>
          </a:lstStyle>
          <a:p>
            <a:r>
              <a:rPr lang="en-US" smtClean="0"/>
              <a:t>Click to edit Master title style</a:t>
            </a:r>
            <a:endParaRPr lang="en-US" dirty="0"/>
          </a:p>
        </p:txBody>
      </p:sp>
      <p:sp>
        <p:nvSpPr>
          <p:cNvPr id="3" name="Content Placeholder 2"/>
          <p:cNvSpPr>
            <a:spLocks noGrp="1"/>
          </p:cNvSpPr>
          <p:nvPr>
            <p:ph idx="1"/>
          </p:nvPr>
        </p:nvSpPr>
        <p:spPr>
          <a:xfrm>
            <a:off x="4723334" y="952578"/>
            <a:ext cx="6012470" cy="4505221"/>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24291" y="3274754"/>
            <a:ext cx="3275013" cy="2178918"/>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2684CBD-684F-4EF8-8508-DD3828823595}"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AEB611-95B7-408E-AD91-A8B08473B6F0}" type="slidenum">
              <a:rPr lang="en-US" smtClean="0"/>
              <a:t>‹#›</a:t>
            </a:fld>
            <a:endParaRPr 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37628944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gradFill>
              <a:gsLst>
                <a:gs pos="0">
                  <a:schemeClr val="tx1">
                    <a:lumMod val="85000"/>
                    <a:lumOff val="15000"/>
                  </a:schemeClr>
                </a:gs>
                <a:gs pos="100000">
                  <a:schemeClr val="tx1">
                    <a:lumMod val="95000"/>
                    <a:lumOff val="5000"/>
                  </a:schemeClr>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14300" prst="artDeco"/>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129124" y="1129513"/>
            <a:ext cx="5854872" cy="1924208"/>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128247" y="3053721"/>
            <a:ext cx="5846486" cy="2096013"/>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1125300" y="5469856"/>
            <a:ext cx="5849605" cy="320123"/>
          </a:xfrm>
        </p:spPr>
        <p:txBody>
          <a:bodyPr/>
          <a:lstStyle>
            <a:lvl1pPr algn="l">
              <a:defRPr/>
            </a:lvl1pPr>
          </a:lstStyle>
          <a:p>
            <a:fld id="{72684CBD-684F-4EF8-8508-DD3828823595}" type="datetimeFigureOut">
              <a:rPr lang="en-US" smtClean="0"/>
              <a:t>12/16/2025</a:t>
            </a:fld>
            <a:endParaRPr lang="en-US"/>
          </a:p>
        </p:txBody>
      </p:sp>
      <p:sp>
        <p:nvSpPr>
          <p:cNvPr id="6" name="Footer Placeholder 5"/>
          <p:cNvSpPr>
            <a:spLocks noGrp="1"/>
          </p:cNvSpPr>
          <p:nvPr>
            <p:ph type="ftr" sz="quarter" idx="11"/>
          </p:nvPr>
        </p:nvSpPr>
        <p:spPr>
          <a:xfrm>
            <a:off x="1125300" y="318640"/>
            <a:ext cx="4877818" cy="320931"/>
          </a:xfrm>
        </p:spPr>
        <p:txBody>
          <a:bodyPr/>
          <a:lstStyle/>
          <a:p>
            <a:endParaRPr lang="en-US"/>
          </a:p>
        </p:txBody>
      </p:sp>
      <p:sp>
        <p:nvSpPr>
          <p:cNvPr id="7" name="Slide Number Placeholder 6"/>
          <p:cNvSpPr>
            <a:spLocks noGrp="1"/>
          </p:cNvSpPr>
          <p:nvPr>
            <p:ph type="sldNum" sz="quarter" idx="12"/>
          </p:nvPr>
        </p:nvSpPr>
        <p:spPr>
          <a:xfrm>
            <a:off x="6176794" y="137408"/>
            <a:ext cx="811019" cy="503578"/>
          </a:xfrm>
        </p:spPr>
        <p:txBody>
          <a:bodyPr/>
          <a:lstStyle/>
          <a:p>
            <a:fld id="{96AEB611-95B7-408E-AD91-A8B08473B6F0}" type="slidenum">
              <a:rPr lang="en-US" smtClean="0"/>
              <a:t>‹#›</a:t>
            </a:fld>
            <a:endParaRPr lang="en-US"/>
          </a:p>
        </p:txBody>
      </p:sp>
      <p:pic>
        <p:nvPicPr>
          <p:cNvPr id="22" name="Picture 21"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6" t="474" r="48549" b="36564"/>
          <a:stretch/>
        </p:blipFill>
        <p:spPr>
          <a:xfrm>
            <a:off x="1125460" y="643464"/>
            <a:ext cx="5879592" cy="155448"/>
          </a:xfrm>
          <a:prstGeom prst="rect">
            <a:avLst/>
          </a:prstGeom>
          <a:noFill/>
          <a:ln>
            <a:noFill/>
          </a:ln>
        </p:spPr>
      </p:pic>
    </p:spTree>
    <p:extLst>
      <p:ext uri="{BB962C8B-B14F-4D97-AF65-F5344CB8AC3E}">
        <p14:creationId xmlns:p14="http://schemas.microsoft.com/office/powerpoint/2010/main" val="19492015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2684CBD-684F-4EF8-8508-DD3828823595}"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AEB611-95B7-408E-AD91-A8B08473B6F0}" type="slidenum">
              <a:rPr lang="en-US" smtClean="0"/>
              <a:t>‹#›</a:t>
            </a:fld>
            <a:endParaRPr lang="en-US"/>
          </a:p>
        </p:txBody>
      </p:sp>
      <p:pic>
        <p:nvPicPr>
          <p:cNvPr id="15" name="Picture 14"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2920459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4709" y="798973"/>
            <a:ext cx="1615742" cy="4659889"/>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30270" y="798973"/>
            <a:ext cx="7828830" cy="465988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2684CBD-684F-4EF8-8508-DD3828823595}"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AEB611-95B7-408E-AD91-A8B08473B6F0}" type="slidenum">
              <a:rPr lang="en-US" smtClean="0"/>
              <a:t>‹#›</a:t>
            </a:fld>
            <a:endParaRPr lang="en-US"/>
          </a:p>
        </p:txBody>
      </p:sp>
      <p:pic>
        <p:nvPicPr>
          <p:cNvPr id="17" name="Picture 16"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59215" b="36435"/>
          <a:stretch/>
        </p:blipFill>
        <p:spPr>
          <a:xfrm rot="5400000">
            <a:off x="8642279" y="3046916"/>
            <a:ext cx="4663440" cy="155448"/>
          </a:xfrm>
          <a:prstGeom prst="rect">
            <a:avLst/>
          </a:prstGeom>
          <a:noFill/>
          <a:ln>
            <a:noFill/>
          </a:ln>
        </p:spPr>
      </p:pic>
    </p:spTree>
    <p:extLst>
      <p:ext uri="{BB962C8B-B14F-4D97-AF65-F5344CB8AC3E}">
        <p14:creationId xmlns:p14="http://schemas.microsoft.com/office/powerpoint/2010/main" val="915616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a:xfrm>
            <a:off x="0" y="6119336"/>
            <a:ext cx="12192000" cy="742950"/>
          </a:xfrm>
          <a:prstGeom prst="rect">
            <a:avLst/>
          </a:prstGeom>
        </p:spPr>
      </p:pic>
      <p:sp>
        <p:nvSpPr>
          <p:cNvPr id="13" name="Rectangle 12"/>
          <p:cNvSpPr/>
          <p:nvPr/>
        </p:nvSpPr>
        <p:spPr>
          <a:xfrm>
            <a:off x="0" y="468769"/>
            <a:ext cx="12192000" cy="5647024"/>
          </a:xfrm>
          <a:prstGeom prst="rect">
            <a:avLst/>
          </a:prstGeom>
          <a:gradFill flip="none" rotWithShape="1">
            <a:gsLst>
              <a:gs pos="0">
                <a:schemeClr val="bg2">
                  <a:alpha val="0"/>
                  <a:lumMod val="100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4" name="Straight Connector 13"/>
          <p:cNvCxnSpPr/>
          <p:nvPr/>
        </p:nvCxnSpPr>
        <p:spPr>
          <a:xfrm>
            <a:off x="0" y="6121269"/>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130270" y="953324"/>
            <a:ext cx="9603275" cy="1049235"/>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130270" y="2171769"/>
            <a:ext cx="9603275" cy="3294576"/>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232830" y="330370"/>
            <a:ext cx="2515396"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72684CBD-684F-4EF8-8508-DD3828823595}" type="datetimeFigureOut">
              <a:rPr lang="en-US" smtClean="0"/>
              <a:t>12/16/2025</a:t>
            </a:fld>
            <a:endParaRPr lang="en-US"/>
          </a:p>
        </p:txBody>
      </p:sp>
      <p:sp>
        <p:nvSpPr>
          <p:cNvPr id="5" name="Footer Placeholder 4"/>
          <p:cNvSpPr>
            <a:spLocks noGrp="1"/>
          </p:cNvSpPr>
          <p:nvPr>
            <p:ph type="ftr" sz="quarter" idx="3"/>
          </p:nvPr>
        </p:nvSpPr>
        <p:spPr>
          <a:xfrm>
            <a:off x="1130270"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918076" y="137408"/>
            <a:ext cx="811019" cy="503578"/>
          </a:xfrm>
          <a:prstGeom prst="rect">
            <a:avLst/>
          </a:prstGeom>
        </p:spPr>
        <p:txBody>
          <a:bodyPr vert="horz" lIns="91440" tIns="45720" rIns="91440" bIns="45720" rtlCol="0" anchor="t"/>
          <a:lstStyle>
            <a:lvl1pPr algn="r">
              <a:defRPr sz="2800">
                <a:solidFill>
                  <a:schemeClr val="accent1"/>
                </a:solidFill>
              </a:defRPr>
            </a:lvl1pPr>
          </a:lstStyle>
          <a:p>
            <a:fld id="{96AEB611-95B7-408E-AD91-A8B08473B6F0}" type="slidenum">
              <a:rPr lang="en-US" smtClean="0"/>
              <a:t>‹#›</a:t>
            </a:fld>
            <a:endParaRPr lang="en-US"/>
          </a:p>
        </p:txBody>
      </p:sp>
    </p:spTree>
    <p:extLst>
      <p:ext uri="{BB962C8B-B14F-4D97-AF65-F5344CB8AC3E}">
        <p14:creationId xmlns:p14="http://schemas.microsoft.com/office/powerpoint/2010/main" val="95642004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3200" b="0" i="0" kern="1200" cap="none">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33056" y="1216107"/>
            <a:ext cx="9892144" cy="1947008"/>
          </a:xfrm>
          <a:prstGeom prst="rect">
            <a:avLst/>
          </a:prstGeom>
        </p:spPr>
        <p:txBody>
          <a:bodyPr wrap="square">
            <a:spAutoFit/>
          </a:bodyPr>
          <a:lstStyle/>
          <a:p>
            <a:pPr algn="ctr">
              <a:lnSpc>
                <a:spcPct val="107000"/>
              </a:lnSpc>
              <a:spcAft>
                <a:spcPts val="800"/>
              </a:spcAft>
            </a:pPr>
            <a:r>
              <a:rPr lang="en-US" sz="3600" b="1" kern="1800" dirty="0">
                <a:latin typeface="Times New Roman" panose="02020603050405020304" pitchFamily="18" charset="0"/>
                <a:ea typeface="Times New Roman" panose="02020603050405020304" pitchFamily="18" charset="0"/>
                <a:cs typeface="Times New Roman" panose="02020603050405020304" pitchFamily="18" charset="0"/>
              </a:rPr>
              <a:t>Collaborative Manufacturing Network: A Tool for SMMEs Growth in </a:t>
            </a:r>
            <a:r>
              <a:rPr lang="en-US" sz="3600" b="1" kern="1800" dirty="0" smtClean="0">
                <a:latin typeface="Times New Roman" panose="02020603050405020304" pitchFamily="18" charset="0"/>
                <a:ea typeface="Times New Roman" panose="02020603050405020304" pitchFamily="18" charset="0"/>
                <a:cs typeface="Times New Roman" panose="02020603050405020304" pitchFamily="18" charset="0"/>
              </a:rPr>
              <a:t>Nigeria </a:t>
            </a:r>
          </a:p>
          <a:p>
            <a:pPr algn="ctr">
              <a:lnSpc>
                <a:spcPct val="107000"/>
              </a:lnSpc>
              <a:spcAft>
                <a:spcPts val="800"/>
              </a:spcAft>
            </a:pP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p:cNvSpPr txBox="1"/>
          <p:nvPr/>
        </p:nvSpPr>
        <p:spPr>
          <a:xfrm>
            <a:off x="1136072" y="4308764"/>
            <a:ext cx="9144000" cy="830997"/>
          </a:xfrm>
          <a:prstGeom prst="rect">
            <a:avLst/>
          </a:prstGeom>
          <a:noFill/>
        </p:spPr>
        <p:txBody>
          <a:bodyPr wrap="square" rtlCol="0">
            <a:spAutoFit/>
          </a:bodyPr>
          <a:lstStyle/>
          <a:p>
            <a:pPr algn="ctr"/>
            <a:r>
              <a:rPr lang="en-GB" sz="2400" dirty="0" err="1" smtClean="0">
                <a:latin typeface="Times New Roman" panose="02020603050405020304" pitchFamily="18" charset="0"/>
                <a:cs typeface="Times New Roman" panose="02020603050405020304" pitchFamily="18" charset="0"/>
              </a:rPr>
              <a:t>Engr</a:t>
            </a:r>
            <a:r>
              <a:rPr lang="en-GB" sz="2400" dirty="0" smtClean="0">
                <a:latin typeface="Times New Roman" panose="02020603050405020304" pitchFamily="18" charset="0"/>
                <a:cs typeface="Times New Roman" panose="02020603050405020304" pitchFamily="18" charset="0"/>
              </a:rPr>
              <a:t> A.A OGUNGBEMI</a:t>
            </a:r>
          </a:p>
          <a:p>
            <a:pPr algn="ctr"/>
            <a:r>
              <a:rPr lang="en-GB" sz="2400" dirty="0" smtClean="0">
                <a:latin typeface="Times New Roman" panose="02020603050405020304" pitchFamily="18" charset="0"/>
                <a:cs typeface="Times New Roman" panose="02020603050405020304" pitchFamily="18" charset="0"/>
              </a:rPr>
              <a:t>SPIS </a:t>
            </a:r>
            <a:r>
              <a:rPr lang="en-GB" sz="2400" dirty="0" err="1" smtClean="0">
                <a:latin typeface="Times New Roman" panose="02020603050405020304" pitchFamily="18" charset="0"/>
                <a:cs typeface="Times New Roman" panose="02020603050405020304" pitchFamily="18" charset="0"/>
              </a:rPr>
              <a:t>Dept</a:t>
            </a:r>
            <a:r>
              <a:rPr lang="en-GB" sz="2400" dirty="0" smtClean="0">
                <a:latin typeface="Times New Roman" panose="02020603050405020304" pitchFamily="18" charset="0"/>
                <a:cs typeface="Times New Roman" panose="02020603050405020304" pitchFamily="18" charset="0"/>
              </a:rPr>
              <a:t>, NACETEM HQ</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59309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5529" y="435164"/>
            <a:ext cx="11762508" cy="5369932"/>
          </a:xfrm>
          <a:prstGeom prst="rect">
            <a:avLst/>
          </a:prstGeom>
        </p:spPr>
        <p:txBody>
          <a:bodyPr wrap="square" numCol="2">
            <a:spAutoFit/>
          </a:bodyPr>
          <a:lstStyle/>
          <a:p>
            <a:pPr>
              <a:lnSpc>
                <a:spcPct val="107000"/>
              </a:lnSpc>
              <a:spcAft>
                <a:spcPts val="800"/>
              </a:spcAft>
            </a:pPr>
            <a:r>
              <a:rPr lang="en-US" b="1" kern="1800" dirty="0" smtClean="0">
                <a:effectLst/>
                <a:latin typeface="Times New Roman" panose="02020603050405020304" pitchFamily="18" charset="0"/>
                <a:ea typeface="Times New Roman" panose="02020603050405020304" pitchFamily="18" charset="0"/>
                <a:cs typeface="Times New Roman" panose="02020603050405020304" pitchFamily="18" charset="0"/>
              </a:rPr>
              <a:t>CONTENTS</a:t>
            </a:r>
            <a:endParaRPr lang="en-US" dirty="0" smtClean="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US" b="1" dirty="0" smtClean="0">
                <a:effectLst/>
                <a:latin typeface="Times New Roman" panose="02020603050405020304" pitchFamily="18" charset="0"/>
                <a:ea typeface="Times New Roman" panose="02020603050405020304" pitchFamily="18" charset="0"/>
                <a:cs typeface="Times New Roman" panose="02020603050405020304" pitchFamily="18" charset="0"/>
              </a:rPr>
              <a:t>Introduction</a:t>
            </a:r>
            <a:endParaRPr lang="en-US"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US" b="1" dirty="0" smtClean="0">
                <a:effectLst/>
                <a:latin typeface="Times New Roman" panose="02020603050405020304" pitchFamily="18" charset="0"/>
                <a:ea typeface="Times New Roman" panose="02020603050405020304" pitchFamily="18" charset="0"/>
                <a:cs typeface="Times New Roman" panose="02020603050405020304" pitchFamily="18" charset="0"/>
              </a:rPr>
              <a:t>The Role of Collaboration in SMMEs Growth</a:t>
            </a:r>
            <a:endParaRPr lang="en-US"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US" b="1" dirty="0" smtClean="0">
                <a:effectLst/>
                <a:latin typeface="Times New Roman" panose="02020603050405020304" pitchFamily="18" charset="0"/>
                <a:ea typeface="Times New Roman" panose="02020603050405020304" pitchFamily="18" charset="0"/>
                <a:cs typeface="Times New Roman" panose="02020603050405020304" pitchFamily="18" charset="0"/>
              </a:rPr>
              <a:t>Benefits of Collaborative Manufacturing </a:t>
            </a:r>
            <a:r>
              <a:rPr lang="en-US" b="1" dirty="0" smtClean="0">
                <a:effectLst/>
                <a:latin typeface="Times New Roman" panose="02020603050405020304" pitchFamily="18" charset="0"/>
                <a:ea typeface="Times New Roman" panose="02020603050405020304" pitchFamily="18" charset="0"/>
                <a:cs typeface="Times New Roman" panose="02020603050405020304" pitchFamily="18" charset="0"/>
              </a:rPr>
              <a:t>Networks</a:t>
            </a:r>
          </a:p>
          <a:p>
            <a:pPr marL="285750" indent="-285750">
              <a:lnSpc>
                <a:spcPct val="107000"/>
              </a:lnSpc>
              <a:spcAft>
                <a:spcPts val="800"/>
              </a:spcAft>
              <a:buFont typeface="Arial" panose="020B0604020202020204" pitchFamily="34" charset="0"/>
              <a:buChar char="•"/>
            </a:pPr>
            <a:r>
              <a:rPr lang="en-GB" b="1" dirty="0" smtClean="0">
                <a:latin typeface="Times New Roman" panose="02020603050405020304" pitchFamily="18" charset="0"/>
                <a:ea typeface="Calibri" panose="020F0502020204030204" pitchFamily="34" charset="0"/>
                <a:cs typeface="Times New Roman" panose="02020603050405020304" pitchFamily="18" charset="0"/>
              </a:rPr>
              <a:t>Examples of CMN</a:t>
            </a:r>
            <a:endParaRPr lang="en-US"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US" b="1" dirty="0" smtClean="0">
                <a:effectLst/>
                <a:latin typeface="Times New Roman" panose="02020603050405020304" pitchFamily="18" charset="0"/>
                <a:ea typeface="Times New Roman" panose="02020603050405020304" pitchFamily="18" charset="0"/>
                <a:cs typeface="Times New Roman" panose="02020603050405020304" pitchFamily="18" charset="0"/>
              </a:rPr>
              <a:t>Decision-Making Challenges in Nigerian SMME Collaborative Networks</a:t>
            </a:r>
            <a:endParaRPr lang="en-US"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US" b="1" dirty="0" smtClean="0">
                <a:effectLst/>
                <a:latin typeface="Times New Roman" panose="02020603050405020304" pitchFamily="18" charset="0"/>
                <a:ea typeface="Times New Roman" panose="02020603050405020304" pitchFamily="18" charset="0"/>
                <a:cs typeface="Times New Roman" panose="02020603050405020304" pitchFamily="18" charset="0"/>
              </a:rPr>
              <a:t>Proposed Mathematical Tools for Optimized Decision-Making</a:t>
            </a:r>
          </a:p>
          <a:p>
            <a:pPr marL="285750" indent="-285750">
              <a:lnSpc>
                <a:spcPct val="107000"/>
              </a:lnSpc>
              <a:spcAft>
                <a:spcPts val="800"/>
              </a:spcAft>
              <a:buFont typeface="Arial" panose="020B0604020202020204" pitchFamily="34" charset="0"/>
              <a:buChar char="•"/>
            </a:pPr>
            <a:r>
              <a:rPr lang="en-US" b="1" dirty="0" smtClean="0">
                <a:effectLst/>
                <a:latin typeface="Times New Roman" panose="02020603050405020304" pitchFamily="18" charset="0"/>
                <a:ea typeface="Times New Roman" panose="02020603050405020304" pitchFamily="18" charset="0"/>
                <a:cs typeface="Times New Roman" panose="02020603050405020304" pitchFamily="18" charset="0"/>
              </a:rPr>
              <a:t>Integration and Implementation Pathway</a:t>
            </a:r>
            <a:endParaRPr lang="en-US"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US" b="1" dirty="0" smtClean="0">
                <a:effectLst/>
                <a:latin typeface="Times New Roman" panose="02020603050405020304" pitchFamily="18" charset="0"/>
                <a:ea typeface="Times New Roman" panose="02020603050405020304" pitchFamily="18" charset="0"/>
                <a:cs typeface="Times New Roman" panose="02020603050405020304" pitchFamily="18" charset="0"/>
              </a:rPr>
              <a:t>Implementation Challenges in Nigeria</a:t>
            </a:r>
            <a:endParaRPr lang="en-US"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US" b="1" dirty="0" smtClean="0">
                <a:effectLst/>
                <a:latin typeface="Times New Roman" panose="02020603050405020304" pitchFamily="18" charset="0"/>
                <a:ea typeface="Times New Roman" panose="02020603050405020304" pitchFamily="18" charset="0"/>
                <a:cs typeface="Times New Roman" panose="02020603050405020304" pitchFamily="18" charset="0"/>
              </a:rPr>
              <a:t>The Impact of NACETEM on the Proposed Framework</a:t>
            </a:r>
            <a:endParaRPr lang="en-US"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US" b="1" dirty="0" smtClean="0">
                <a:effectLst/>
                <a:latin typeface="Times New Roman" panose="02020603050405020304" pitchFamily="18" charset="0"/>
                <a:ea typeface="Times New Roman" panose="02020603050405020304" pitchFamily="18" charset="0"/>
                <a:cs typeface="Times New Roman" panose="02020603050405020304" pitchFamily="18" charset="0"/>
              </a:rPr>
              <a:t> Implementation Pathway (Incorporating NACETEM's Role)</a:t>
            </a:r>
            <a:endParaRPr lang="en-US"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US" b="1" dirty="0" smtClean="0">
                <a:effectLst/>
                <a:latin typeface="Times New Roman" panose="02020603050405020304" pitchFamily="18" charset="0"/>
                <a:ea typeface="Times New Roman" panose="02020603050405020304" pitchFamily="18" charset="0"/>
                <a:cs typeface="Times New Roman" panose="02020603050405020304" pitchFamily="18" charset="0"/>
              </a:rPr>
              <a:t>Conclusion: NACETEM as the Critical Catalyst</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736470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8654" y="504151"/>
            <a:ext cx="11416145" cy="4747005"/>
          </a:xfrm>
          <a:prstGeom prst="rect">
            <a:avLst/>
          </a:prstGeom>
        </p:spPr>
        <p:txBody>
          <a:bodyPr wrap="square">
            <a:spAutoFit/>
          </a:bodyPr>
          <a:lstStyle/>
          <a:p>
            <a:pPr algn="just">
              <a:lnSpc>
                <a:spcPct val="107000"/>
              </a:lnSpc>
              <a:spcAft>
                <a:spcPts val="800"/>
              </a:spcAft>
            </a:pPr>
            <a:r>
              <a:rPr lang="en-US" sz="2400" dirty="0" smtClean="0">
                <a:effectLst/>
                <a:latin typeface="Times New Roman" panose="02020603050405020304" pitchFamily="18" charset="0"/>
                <a:ea typeface="Times New Roman" panose="02020603050405020304" pitchFamily="18" charset="0"/>
                <a:cs typeface="Times New Roman" panose="02020603050405020304" pitchFamily="18" charset="0"/>
              </a:rPr>
              <a:t>INTRODUCTION</a:t>
            </a:r>
          </a:p>
          <a:p>
            <a:pPr algn="just">
              <a:lnSpc>
                <a:spcPct val="107000"/>
              </a:lnSpc>
              <a:spcAft>
                <a:spcPts val="800"/>
              </a:spcAft>
            </a:pPr>
            <a:r>
              <a:rPr lang="en-GB" sz="2400" dirty="0">
                <a:latin typeface="Times New Roman" panose="02020603050405020304" pitchFamily="18" charset="0"/>
                <a:ea typeface="Calibri" panose="020F0502020204030204" pitchFamily="34" charset="0"/>
              </a:rPr>
              <a:t>Collaboration, by definition, is a process where two or more parties (individuals or organizations) join resources and knowledge to achieve common goals </a:t>
            </a:r>
            <a:endParaRPr lang="en-GB" sz="24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GB" sz="2400" dirty="0">
                <a:latin typeface="Times New Roman" panose="02020603050405020304" pitchFamily="18" charset="0"/>
                <a:ea typeface="Calibri" panose="020F0502020204030204" pitchFamily="34" charset="0"/>
                <a:cs typeface="Times New Roman" panose="02020603050405020304" pitchFamily="18" charset="0"/>
              </a:rPr>
              <a:t>Collaborative manufacturing in a clear picture is the coming together of manufacturing firms to produce goods to make profits and sustainability of their respective firms either at the local level or the global level.</a:t>
            </a: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400" dirty="0" smtClean="0">
                <a:effectLst/>
                <a:latin typeface="Times New Roman" panose="02020603050405020304" pitchFamily="18" charset="0"/>
                <a:ea typeface="Times New Roman" panose="02020603050405020304" pitchFamily="18" charset="0"/>
                <a:cs typeface="Times New Roman" panose="02020603050405020304" pitchFamily="18" charset="0"/>
              </a:rPr>
              <a:t>Collaborative manufacturing networks are increasingly recognized as essential for the growth and competitiveness of Small, Micro, and Medium Enterprises (SMMEs) in Nigeria’s manufacturing sector. By fostering cooperation, resource sharing, and innovation, these networks can help SMMEs overcome common challenges and drive sustainable economic development.</a:t>
            </a:r>
          </a:p>
        </p:txBody>
      </p:sp>
    </p:spTree>
    <p:extLst>
      <p:ext uri="{BB962C8B-B14F-4D97-AF65-F5344CB8AC3E}">
        <p14:creationId xmlns:p14="http://schemas.microsoft.com/office/powerpoint/2010/main" val="28868250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8654" y="344415"/>
            <a:ext cx="11526982" cy="5369419"/>
          </a:xfrm>
          <a:prstGeom prst="rect">
            <a:avLst/>
          </a:prstGeom>
        </p:spPr>
        <p:txBody>
          <a:bodyPr wrap="square">
            <a:spAutoFit/>
          </a:bodyPr>
          <a:lstStyle/>
          <a:p>
            <a:pPr algn="just">
              <a:lnSpc>
                <a:spcPct val="107000"/>
              </a:lnSpc>
              <a:spcAft>
                <a:spcPts val="800"/>
              </a:spcAft>
            </a:pPr>
            <a:r>
              <a:rPr lang="en-US" sz="2200" dirty="0">
                <a:latin typeface="Times New Roman" panose="02020603050405020304" pitchFamily="18" charset="0"/>
                <a:ea typeface="Times New Roman" panose="02020603050405020304" pitchFamily="18" charset="0"/>
                <a:cs typeface="Times New Roman" panose="02020603050405020304" pitchFamily="18" charset="0"/>
              </a:rPr>
              <a:t>In Nigeria, Small, Medium and Micro-Enterprises (SMMEs) are the backbone of the industrial sector, contributing approximately 50% to the national GDP and employing over 80% of the workforce. However, these enterprises face profound challenges—including limited access to capital, infrastructural deficits, and volatile markets—that constrain their individual capacities. To overcome these limitations, a Collaborative Manufacturing Network (CMN) has emerged as a strategic imperative. </a:t>
            </a:r>
            <a:endParaRPr lang="en-US" sz="2200" dirty="0" smtClean="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07000"/>
              </a:lnSpc>
              <a:spcAft>
                <a:spcPts val="800"/>
              </a:spcAft>
            </a:pPr>
            <a:r>
              <a:rPr lang="en-US" sz="2200" dirty="0" smtClean="0">
                <a:latin typeface="Times New Roman" panose="02020603050405020304" pitchFamily="18" charset="0"/>
                <a:ea typeface="Times New Roman" panose="02020603050405020304" pitchFamily="18" charset="0"/>
                <a:cs typeface="Times New Roman" panose="02020603050405020304" pitchFamily="18" charset="0"/>
              </a:rPr>
              <a:t>A </a:t>
            </a:r>
            <a:r>
              <a:rPr lang="en-US" sz="2200" dirty="0">
                <a:latin typeface="Times New Roman" panose="02020603050405020304" pitchFamily="18" charset="0"/>
                <a:ea typeface="Times New Roman" panose="02020603050405020304" pitchFamily="18" charset="0"/>
                <a:cs typeface="Times New Roman" panose="02020603050405020304" pitchFamily="18" charset="0"/>
              </a:rPr>
              <a:t>CMN is a temporary or long-term alliance of geographically dispersed, independent SMMEs that pool resources, share risks, and coordinate production to undertake projects beyond the capability of any single firm (</a:t>
            </a:r>
            <a:r>
              <a:rPr lang="en-US" sz="2200" dirty="0" err="1">
                <a:latin typeface="Times New Roman" panose="02020603050405020304" pitchFamily="18" charset="0"/>
                <a:ea typeface="Times New Roman" panose="02020603050405020304" pitchFamily="18" charset="0"/>
                <a:cs typeface="Times New Roman" panose="02020603050405020304" pitchFamily="18" charset="0"/>
              </a:rPr>
              <a:t>Oluwajobi</a:t>
            </a:r>
            <a:r>
              <a:rPr lang="en-US" sz="2200" dirty="0">
                <a:latin typeface="Times New Roman" panose="02020603050405020304" pitchFamily="18" charset="0"/>
                <a:ea typeface="Times New Roman" panose="02020603050405020304" pitchFamily="18" charset="0"/>
                <a:cs typeface="Times New Roman" panose="02020603050405020304" pitchFamily="18" charset="0"/>
              </a:rPr>
              <a:t> et al., 2022).</a:t>
            </a:r>
            <a:endParaRPr lang="en-US" sz="2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200" dirty="0">
                <a:latin typeface="Times New Roman" panose="02020603050405020304" pitchFamily="18" charset="0"/>
                <a:ea typeface="Times New Roman" panose="02020603050405020304" pitchFamily="18" charset="0"/>
                <a:cs typeface="Times New Roman" panose="02020603050405020304" pitchFamily="18" charset="0"/>
              </a:rPr>
              <a:t>Effective decision-making within such a network is complex and multi-faceted, involving partner selection, task allocation, resource scheduling, and benefit sharing. This paper explores the decision-making processes within a Nigerian SMME CMN, proposing and justifying the application of specific mathematical tools to optimize these collaborative endeavors, thereby enhancing competitiveness and resilience in the local manufacturing landscape.</a:t>
            </a:r>
            <a:endParaRPr lang="en-US" sz="22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720601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4909" y="241331"/>
            <a:ext cx="11014364" cy="3158750"/>
          </a:xfrm>
          <a:prstGeom prst="rect">
            <a:avLst/>
          </a:prstGeom>
        </p:spPr>
        <p:txBody>
          <a:bodyPr wrap="square">
            <a:spAutoFit/>
          </a:bodyPr>
          <a:lstStyle/>
          <a:p>
            <a:pPr>
              <a:lnSpc>
                <a:spcPct val="107000"/>
              </a:lnSpc>
              <a:spcAft>
                <a:spcPts val="800"/>
              </a:spcAft>
            </a:pPr>
            <a:r>
              <a:rPr lang="en-US" sz="3600" b="1" kern="1800" dirty="0" smtClean="0">
                <a:effectLst/>
                <a:latin typeface="Times New Roman" panose="02020603050405020304" pitchFamily="18" charset="0"/>
                <a:ea typeface="Times New Roman" panose="02020603050405020304" pitchFamily="18" charset="0"/>
                <a:cs typeface="Times New Roman" panose="02020603050405020304" pitchFamily="18" charset="0"/>
              </a:rPr>
              <a:t>The Role of Collaboration in SMMEs Growth</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Collaboration among SMMEs enables access to shared resources, knowledge, and markets, which are critical for business growth and survival. Studies show that formal cooperation and networking significantly enhance firm performance, innovation, and the ability to overcome technological constraints in Nigeria’s manufacturing sector. Teamwork and collaborative entrepreneurship are also linked to improved business outcomes, including increased productivity, innovation, and market expansion.</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418202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0946" y="432745"/>
            <a:ext cx="11637818" cy="5149808"/>
          </a:xfrm>
          <a:prstGeom prst="rect">
            <a:avLst/>
          </a:prstGeom>
        </p:spPr>
        <p:txBody>
          <a:bodyPr wrap="square">
            <a:spAutoFit/>
          </a:bodyPr>
          <a:lstStyle/>
          <a:p>
            <a:pPr>
              <a:lnSpc>
                <a:spcPct val="107000"/>
              </a:lnSpc>
              <a:spcAft>
                <a:spcPts val="800"/>
              </a:spcAft>
            </a:pPr>
            <a:r>
              <a:rPr lang="en-US" sz="3600" b="1" kern="1800" dirty="0" smtClean="0">
                <a:effectLst/>
                <a:latin typeface="Times New Roman" panose="02020603050405020304" pitchFamily="18" charset="0"/>
                <a:ea typeface="Times New Roman" panose="02020603050405020304" pitchFamily="18" charset="0"/>
                <a:cs typeface="Times New Roman" panose="02020603050405020304" pitchFamily="18" charset="0"/>
              </a:rPr>
              <a:t>Benefits of Collaborative Manufacturing Networks</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Collaborative manufacturing networks offer several advantages for Nigerian SMMEs:</a:t>
            </a:r>
            <a:endParaRPr lang="en-US" sz="24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gn="just">
              <a:lnSpc>
                <a:spcPct val="107000"/>
              </a:lnSpc>
              <a:spcAft>
                <a:spcPts val="800"/>
              </a:spcAft>
              <a:buFont typeface="Arial" panose="020B0604020202020204" pitchFamily="34" charset="0"/>
              <a:buChar char="•"/>
            </a:pP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Rapid Innovation and Business </a:t>
            </a:r>
            <a:r>
              <a:rPr lang="en-US" sz="2400" b="1" dirty="0" smtClean="0">
                <a:latin typeface="Times New Roman" panose="02020603050405020304" pitchFamily="18" charset="0"/>
                <a:ea typeface="Times New Roman" panose="02020603050405020304" pitchFamily="18" charset="0"/>
                <a:cs typeface="Times New Roman" panose="02020603050405020304" pitchFamily="18" charset="0"/>
              </a:rPr>
              <a:t>Growth</a:t>
            </a:r>
            <a:r>
              <a:rPr lang="en-US" sz="2400" dirty="0" smtClean="0">
                <a:latin typeface="Calibri" panose="020F0502020204030204" pitchFamily="34" charset="0"/>
                <a:ea typeface="Calibri" panose="020F0502020204030204" pitchFamily="34" charset="0"/>
                <a:cs typeface="Times New Roman" panose="02020603050405020304" pitchFamily="18" charset="0"/>
              </a:rPr>
              <a:t>: </a:t>
            </a:r>
            <a:r>
              <a:rPr lang="en-US" sz="2400" dirty="0" smtClean="0">
                <a:latin typeface="Times New Roman" panose="02020603050405020304" pitchFamily="18" charset="0"/>
                <a:ea typeface="Times New Roman" panose="02020603050405020304" pitchFamily="18" charset="0"/>
                <a:cs typeface="Times New Roman" panose="02020603050405020304" pitchFamily="18" charset="0"/>
              </a:rPr>
              <a:t>Proximity </a:t>
            </a:r>
            <a:r>
              <a:rPr lang="en-US" sz="2400" dirty="0">
                <a:latin typeface="Times New Roman" panose="02020603050405020304" pitchFamily="18" charset="0"/>
                <a:ea typeface="Times New Roman" panose="02020603050405020304" pitchFamily="18" charset="0"/>
                <a:cs typeface="Times New Roman" panose="02020603050405020304" pitchFamily="18" charset="0"/>
              </a:rPr>
              <a:t>and cooperation among SMMEs in industrial clusters lead to rapid innovation, new business formation, and greater efficiency.</a:t>
            </a:r>
            <a:endParaRPr lang="en-US" sz="24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gn="just">
              <a:lnSpc>
                <a:spcPct val="107000"/>
              </a:lnSpc>
              <a:spcAft>
                <a:spcPts val="800"/>
              </a:spcAft>
              <a:buFont typeface="Arial" panose="020B0604020202020204" pitchFamily="34" charset="0"/>
              <a:buChar char="•"/>
            </a:pP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Access to New </a:t>
            </a:r>
            <a:r>
              <a:rPr lang="en-US" sz="2400" b="1" dirty="0" smtClean="0">
                <a:latin typeface="Times New Roman" panose="02020603050405020304" pitchFamily="18" charset="0"/>
                <a:ea typeface="Times New Roman" panose="02020603050405020304" pitchFamily="18" charset="0"/>
                <a:cs typeface="Times New Roman" panose="02020603050405020304" pitchFamily="18" charset="0"/>
              </a:rPr>
              <a:t>Markets</a:t>
            </a:r>
            <a:r>
              <a:rPr lang="en-US" sz="2400" dirty="0" smtClean="0">
                <a:latin typeface="Calibri" panose="020F0502020204030204" pitchFamily="34" charset="0"/>
                <a:ea typeface="Calibri" panose="020F0502020204030204" pitchFamily="34" charset="0"/>
                <a:cs typeface="Times New Roman" panose="02020603050405020304" pitchFamily="18" charset="0"/>
              </a:rPr>
              <a:t>: </a:t>
            </a:r>
            <a:r>
              <a:rPr lang="en-US" sz="2400" dirty="0" smtClean="0">
                <a:latin typeface="Times New Roman" panose="02020603050405020304" pitchFamily="18" charset="0"/>
                <a:ea typeface="Times New Roman" panose="02020603050405020304" pitchFamily="18" charset="0"/>
                <a:cs typeface="Times New Roman" panose="02020603050405020304" pitchFamily="18" charset="0"/>
              </a:rPr>
              <a:t>Networks </a:t>
            </a:r>
            <a:r>
              <a:rPr lang="en-US" sz="2400" dirty="0">
                <a:latin typeface="Times New Roman" panose="02020603050405020304" pitchFamily="18" charset="0"/>
                <a:ea typeface="Times New Roman" panose="02020603050405020304" pitchFamily="18" charset="0"/>
                <a:cs typeface="Times New Roman" panose="02020603050405020304" pitchFamily="18" charset="0"/>
              </a:rPr>
              <a:t>facilitate market access and business expansion, helping SMMEs reach new customers and compete globally.</a:t>
            </a:r>
            <a:endParaRPr lang="en-US" sz="24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gn="just">
              <a:lnSpc>
                <a:spcPct val="107000"/>
              </a:lnSpc>
              <a:spcAft>
                <a:spcPts val="800"/>
              </a:spcAft>
              <a:buFont typeface="Arial" panose="020B0604020202020204" pitchFamily="34" charset="0"/>
              <a:buChar char="•"/>
            </a:pP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Resource and Knowledge </a:t>
            </a:r>
            <a:r>
              <a:rPr lang="en-US" sz="2400" b="1" dirty="0" smtClean="0">
                <a:latin typeface="Times New Roman" panose="02020603050405020304" pitchFamily="18" charset="0"/>
                <a:ea typeface="Times New Roman" panose="02020603050405020304" pitchFamily="18" charset="0"/>
                <a:cs typeface="Times New Roman" panose="02020603050405020304" pitchFamily="18" charset="0"/>
              </a:rPr>
              <a:t>Sharing</a:t>
            </a:r>
            <a:r>
              <a:rPr lang="en-US" sz="2400" dirty="0" smtClean="0">
                <a:latin typeface="Calibri" panose="020F0502020204030204" pitchFamily="34" charset="0"/>
                <a:ea typeface="Calibri" panose="020F0502020204030204" pitchFamily="34" charset="0"/>
                <a:cs typeface="Times New Roman" panose="02020603050405020304" pitchFamily="18" charset="0"/>
              </a:rPr>
              <a:t>: </a:t>
            </a:r>
            <a:r>
              <a:rPr lang="en-US" sz="2400" dirty="0" smtClean="0">
                <a:latin typeface="Times New Roman" panose="02020603050405020304" pitchFamily="18" charset="0"/>
                <a:ea typeface="Times New Roman" panose="02020603050405020304" pitchFamily="18" charset="0"/>
                <a:cs typeface="Times New Roman" panose="02020603050405020304" pitchFamily="18" charset="0"/>
              </a:rPr>
              <a:t>Collaboration </a:t>
            </a:r>
            <a:r>
              <a:rPr lang="en-US" sz="2400" dirty="0">
                <a:latin typeface="Times New Roman" panose="02020603050405020304" pitchFamily="18" charset="0"/>
                <a:ea typeface="Times New Roman" panose="02020603050405020304" pitchFamily="18" charset="0"/>
                <a:cs typeface="Times New Roman" panose="02020603050405020304" pitchFamily="18" charset="0"/>
              </a:rPr>
              <a:t>allows SMMEs to share expertise, reduce costs, and adopt best practices, which are vital for survival in a competitive environment.</a:t>
            </a:r>
            <a:endParaRPr lang="en-US" sz="24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gn="just">
              <a:lnSpc>
                <a:spcPct val="107000"/>
              </a:lnSpc>
              <a:spcAft>
                <a:spcPts val="800"/>
              </a:spcAft>
              <a:buFont typeface="Arial" panose="020B0604020202020204" pitchFamily="34" charset="0"/>
              <a:buChar char="•"/>
            </a:pP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Enhanced </a:t>
            </a:r>
            <a:r>
              <a:rPr lang="en-US" sz="2400" b="1" dirty="0" smtClean="0">
                <a:latin typeface="Times New Roman" panose="02020603050405020304" pitchFamily="18" charset="0"/>
                <a:ea typeface="Times New Roman" panose="02020603050405020304" pitchFamily="18" charset="0"/>
                <a:cs typeface="Times New Roman" panose="02020603050405020304" pitchFamily="18" charset="0"/>
              </a:rPr>
              <a:t>Competitiveness</a:t>
            </a:r>
            <a:r>
              <a:rPr lang="en-US" sz="2400" dirty="0" smtClean="0">
                <a:latin typeface="Calibri" panose="020F0502020204030204" pitchFamily="34" charset="0"/>
                <a:ea typeface="Calibri" panose="020F0502020204030204" pitchFamily="34" charset="0"/>
                <a:cs typeface="Times New Roman" panose="02020603050405020304" pitchFamily="18" charset="0"/>
              </a:rPr>
              <a:t>: </a:t>
            </a:r>
            <a:r>
              <a:rPr lang="en-US" sz="2400" dirty="0" smtClean="0">
                <a:latin typeface="Times New Roman" panose="02020603050405020304" pitchFamily="18" charset="0"/>
                <a:ea typeface="Times New Roman" panose="02020603050405020304" pitchFamily="18" charset="0"/>
                <a:cs typeface="Times New Roman" panose="02020603050405020304" pitchFamily="18" charset="0"/>
              </a:rPr>
              <a:t>Standardization</a:t>
            </a:r>
            <a:r>
              <a:rPr lang="en-US" sz="2400" dirty="0">
                <a:latin typeface="Times New Roman" panose="02020603050405020304" pitchFamily="18" charset="0"/>
                <a:ea typeface="Times New Roman" panose="02020603050405020304" pitchFamily="18" charset="0"/>
                <a:cs typeface="Times New Roman" panose="02020603050405020304" pitchFamily="18" charset="0"/>
              </a:rPr>
              <a:t>, quality control, and technology integration through collaborative efforts improve product quality and international competitiveness.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86904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4692" y="1038701"/>
            <a:ext cx="12067308" cy="5109091"/>
          </a:xfrm>
          <a:prstGeom prst="rect">
            <a:avLst/>
          </a:prstGeom>
        </p:spPr>
        <p:txBody>
          <a:bodyPr wrap="square">
            <a:spAutoFit/>
          </a:bodyPr>
          <a:lstStyle/>
          <a:p>
            <a:pPr algn="just">
              <a:lnSpc>
                <a:spcPct val="115000"/>
              </a:lnSpc>
              <a:spcAft>
                <a:spcPts val="1000"/>
              </a:spcAft>
            </a:pPr>
            <a:r>
              <a:rPr lang="en-US" sz="2000" b="1" dirty="0">
                <a:latin typeface="Times New Roman" panose="02020603050405020304" pitchFamily="18" charset="0"/>
                <a:ea typeface="SimSun" panose="02010600030101010101" pitchFamily="2" charset="-122"/>
                <a:cs typeface="Times New Roman" panose="02020603050405020304" pitchFamily="18" charset="0"/>
              </a:rPr>
              <a:t>The Digital Fabrication &amp; Prototyping Hub</a:t>
            </a:r>
            <a:endParaRPr lang="en-US" sz="2000" b="1" dirty="0">
              <a:latin typeface="Calibri" panose="020F0502020204030204" pitchFamily="34" charset="0"/>
              <a:ea typeface="SimSun" panose="02010600030101010101" pitchFamily="2" charset="-122"/>
              <a:cs typeface="Times New Roman" panose="02020603050405020304" pitchFamily="18" charset="0"/>
            </a:endParaRPr>
          </a:p>
          <a:p>
            <a:pPr algn="just">
              <a:lnSpc>
                <a:spcPct val="115000"/>
              </a:lnSpc>
              <a:spcAft>
                <a:spcPts val="1000"/>
              </a:spcAft>
            </a:pPr>
            <a:r>
              <a:rPr lang="en-US" sz="2000" b="1" dirty="0" smtClean="0">
                <a:latin typeface="Times New Roman" panose="02020603050405020304" pitchFamily="18" charset="0"/>
                <a:ea typeface="SimSun" panose="02010600030101010101" pitchFamily="2" charset="-122"/>
                <a:cs typeface="Times New Roman" panose="02020603050405020304" pitchFamily="18" charset="0"/>
              </a:rPr>
              <a:t>The </a:t>
            </a:r>
            <a:r>
              <a:rPr lang="en-US" sz="2000" b="1" dirty="0">
                <a:latin typeface="Times New Roman" panose="02020603050405020304" pitchFamily="18" charset="0"/>
                <a:ea typeface="SimSun" panose="02010600030101010101" pitchFamily="2" charset="-122"/>
                <a:cs typeface="Times New Roman" panose="02020603050405020304" pitchFamily="18" charset="0"/>
              </a:rPr>
              <a:t>Network</a:t>
            </a:r>
            <a:r>
              <a:rPr lang="en-US" sz="2000" dirty="0">
                <a:latin typeface="Times New Roman" panose="02020603050405020304" pitchFamily="18" charset="0"/>
                <a:ea typeface="SimSun" panose="02010600030101010101" pitchFamily="2" charset="-122"/>
                <a:cs typeface="Times New Roman" panose="02020603050405020304" pitchFamily="18" charset="0"/>
              </a:rPr>
              <a:t>: A "Fab Lab" or shared workshop equipped with high-cost machinery like 3D printers (SLA, FDM, metal), CNC machines, laser cutters, and electronics </a:t>
            </a:r>
            <a:r>
              <a:rPr lang="en-US" sz="2000" dirty="0" smtClean="0">
                <a:latin typeface="Times New Roman" panose="02020603050405020304" pitchFamily="18" charset="0"/>
                <a:ea typeface="SimSun" panose="02010600030101010101" pitchFamily="2" charset="-122"/>
                <a:cs typeface="Times New Roman" panose="02020603050405020304" pitchFamily="18" charset="0"/>
              </a:rPr>
              <a:t>workstations.</a:t>
            </a:r>
            <a:endParaRPr lang="en-US" sz="2000" dirty="0" smtClean="0">
              <a:latin typeface="Calibri" panose="020F0502020204030204" pitchFamily="34" charset="0"/>
              <a:ea typeface="SimSun" panose="02010600030101010101" pitchFamily="2" charset="-122"/>
              <a:cs typeface="Times New Roman" panose="02020603050405020304" pitchFamily="18" charset="0"/>
            </a:endParaRPr>
          </a:p>
          <a:p>
            <a:pPr algn="just">
              <a:lnSpc>
                <a:spcPct val="115000"/>
              </a:lnSpc>
              <a:spcAft>
                <a:spcPts val="1000"/>
              </a:spcAft>
            </a:pPr>
            <a:r>
              <a:rPr lang="en-US" sz="2000" b="1" dirty="0" smtClean="0">
                <a:latin typeface="Times New Roman" panose="02020603050405020304" pitchFamily="18" charset="0"/>
                <a:ea typeface="SimSun" panose="02010600030101010101" pitchFamily="2" charset="-122"/>
                <a:cs typeface="Times New Roman" panose="02020603050405020304" pitchFamily="18" charset="0"/>
              </a:rPr>
              <a:t>SMME </a:t>
            </a:r>
            <a:r>
              <a:rPr lang="en-US" sz="2000" b="1" dirty="0">
                <a:latin typeface="Times New Roman" panose="02020603050405020304" pitchFamily="18" charset="0"/>
                <a:ea typeface="SimSun" panose="02010600030101010101" pitchFamily="2" charset="-122"/>
                <a:cs typeface="Times New Roman" panose="02020603050405020304" pitchFamily="18" charset="0"/>
              </a:rPr>
              <a:t>Members</a:t>
            </a:r>
            <a:r>
              <a:rPr lang="en-US" sz="2000" dirty="0">
                <a:latin typeface="Times New Roman" panose="02020603050405020304" pitchFamily="18" charset="0"/>
                <a:ea typeface="SimSun" panose="02010600030101010101" pitchFamily="2" charset="-122"/>
                <a:cs typeface="Times New Roman" panose="02020603050405020304" pitchFamily="18" charset="0"/>
              </a:rPr>
              <a:t>:</a:t>
            </a:r>
            <a:endParaRPr lang="en-US" sz="2000" dirty="0">
              <a:latin typeface="Calibri" panose="020F0502020204030204" pitchFamily="34" charset="0"/>
              <a:ea typeface="SimSun" panose="02010600030101010101" pitchFamily="2" charset="-122"/>
              <a:cs typeface="Times New Roman" panose="02020603050405020304" pitchFamily="18" charset="0"/>
            </a:endParaRPr>
          </a:p>
          <a:p>
            <a:pPr algn="just">
              <a:lnSpc>
                <a:spcPct val="115000"/>
              </a:lnSpc>
              <a:spcAft>
                <a:spcPts val="1000"/>
              </a:spcAft>
            </a:pPr>
            <a:r>
              <a:rPr lang="en-US" sz="2000" dirty="0">
                <a:latin typeface="Times New Roman" panose="02020603050405020304" pitchFamily="18" charset="0"/>
                <a:ea typeface="SimSun" panose="02010600030101010101" pitchFamily="2" charset="-122"/>
                <a:cs typeface="Times New Roman" panose="02020603050405020304" pitchFamily="18" charset="0"/>
              </a:rPr>
              <a:t> </a:t>
            </a:r>
            <a:r>
              <a:rPr lang="en-US" sz="2000" dirty="0" smtClean="0">
                <a:latin typeface="Times New Roman" panose="02020603050405020304" pitchFamily="18" charset="0"/>
                <a:ea typeface="SimSun" panose="02010600030101010101" pitchFamily="2" charset="-122"/>
                <a:cs typeface="Times New Roman" panose="02020603050405020304" pitchFamily="18" charset="0"/>
              </a:rPr>
              <a:t>SMME </a:t>
            </a:r>
            <a:r>
              <a:rPr lang="en-US" sz="2000" dirty="0">
                <a:latin typeface="Times New Roman" panose="02020603050405020304" pitchFamily="18" charset="0"/>
                <a:ea typeface="SimSun" panose="02010600030101010101" pitchFamily="2" charset="-122"/>
                <a:cs typeface="Times New Roman" panose="02020603050405020304" pitchFamily="18" charset="0"/>
              </a:rPr>
              <a:t>A (Industrial Design Studio): Specializes in product design and CAD modeling but lacks manufacturing capacity.</a:t>
            </a:r>
            <a:endParaRPr lang="en-US" sz="2000" dirty="0">
              <a:latin typeface="Calibri" panose="020F0502020204030204" pitchFamily="34" charset="0"/>
              <a:ea typeface="SimSun" panose="02010600030101010101" pitchFamily="2" charset="-122"/>
              <a:cs typeface="Times New Roman" panose="02020603050405020304" pitchFamily="18" charset="0"/>
            </a:endParaRPr>
          </a:p>
          <a:p>
            <a:pPr algn="just">
              <a:lnSpc>
                <a:spcPct val="115000"/>
              </a:lnSpc>
              <a:spcAft>
                <a:spcPts val="1000"/>
              </a:spcAft>
            </a:pPr>
            <a:r>
              <a:rPr lang="en-US" sz="2000" dirty="0" smtClean="0">
                <a:latin typeface="Times New Roman" panose="02020603050405020304" pitchFamily="18" charset="0"/>
                <a:ea typeface="SimSun" panose="02010600030101010101" pitchFamily="2" charset="-122"/>
                <a:cs typeface="Times New Roman" panose="02020603050405020304" pitchFamily="18" charset="0"/>
              </a:rPr>
              <a:t>SMME </a:t>
            </a:r>
            <a:r>
              <a:rPr lang="en-US" sz="2000" dirty="0">
                <a:latin typeface="Times New Roman" panose="02020603050405020304" pitchFamily="18" charset="0"/>
                <a:ea typeface="SimSun" panose="02010600030101010101" pitchFamily="2" charset="-122"/>
                <a:cs typeface="Times New Roman" panose="02020603050405020304" pitchFamily="18" charset="0"/>
              </a:rPr>
              <a:t>B (Engineering Firm): Excels at precision machining and functional prototyping.</a:t>
            </a:r>
            <a:endParaRPr lang="en-US" sz="2000" dirty="0">
              <a:latin typeface="Calibri" panose="020F0502020204030204" pitchFamily="34" charset="0"/>
              <a:ea typeface="SimSun" panose="02010600030101010101" pitchFamily="2" charset="-122"/>
              <a:cs typeface="Times New Roman" panose="02020603050405020304" pitchFamily="18" charset="0"/>
            </a:endParaRPr>
          </a:p>
          <a:p>
            <a:pPr algn="just">
              <a:lnSpc>
                <a:spcPct val="115000"/>
              </a:lnSpc>
              <a:spcAft>
                <a:spcPts val="1000"/>
              </a:spcAft>
            </a:pPr>
            <a:r>
              <a:rPr lang="en-US" sz="2000" dirty="0" smtClean="0">
                <a:latin typeface="Times New Roman" panose="02020603050405020304" pitchFamily="18" charset="0"/>
                <a:ea typeface="SimSun" panose="02010600030101010101" pitchFamily="2" charset="-122"/>
                <a:cs typeface="Times New Roman" panose="02020603050405020304" pitchFamily="18" charset="0"/>
              </a:rPr>
              <a:t>SMME </a:t>
            </a:r>
            <a:r>
              <a:rPr lang="en-US" sz="2000" dirty="0">
                <a:latin typeface="Times New Roman" panose="02020603050405020304" pitchFamily="18" charset="0"/>
                <a:ea typeface="SimSun" panose="02010600030101010101" pitchFamily="2" charset="-122"/>
                <a:cs typeface="Times New Roman" panose="02020603050405020304" pitchFamily="18" charset="0"/>
              </a:rPr>
              <a:t>C (Artisan Electronics): Builds custom PCBs and embedded systems.</a:t>
            </a:r>
            <a:endParaRPr lang="en-US" sz="2000" dirty="0">
              <a:latin typeface="Calibri" panose="020F0502020204030204" pitchFamily="34" charset="0"/>
              <a:ea typeface="SimSun" panose="02010600030101010101" pitchFamily="2" charset="-122"/>
              <a:cs typeface="Times New Roman" panose="02020603050405020304" pitchFamily="18" charset="0"/>
            </a:endParaRPr>
          </a:p>
          <a:p>
            <a:pPr algn="just">
              <a:lnSpc>
                <a:spcPct val="115000"/>
              </a:lnSpc>
              <a:spcAft>
                <a:spcPts val="1000"/>
              </a:spcAft>
            </a:pPr>
            <a:r>
              <a:rPr lang="en-US" sz="2000" b="1" dirty="0" smtClean="0">
                <a:latin typeface="Times New Roman" panose="02020603050405020304" pitchFamily="18" charset="0"/>
                <a:ea typeface="SimSun" panose="02010600030101010101" pitchFamily="2" charset="-122"/>
                <a:cs typeface="Times New Roman" panose="02020603050405020304" pitchFamily="18" charset="0"/>
              </a:rPr>
              <a:t>Collaboration </a:t>
            </a:r>
            <a:r>
              <a:rPr lang="en-US" sz="2000" b="1" dirty="0">
                <a:latin typeface="Times New Roman" panose="02020603050405020304" pitchFamily="18" charset="0"/>
                <a:ea typeface="SimSun" panose="02010600030101010101" pitchFamily="2" charset="-122"/>
                <a:cs typeface="Times New Roman" panose="02020603050405020304" pitchFamily="18" charset="0"/>
              </a:rPr>
              <a:t>in Action</a:t>
            </a:r>
            <a:r>
              <a:rPr lang="en-US" sz="2000" dirty="0">
                <a:latin typeface="Times New Roman" panose="02020603050405020304" pitchFamily="18" charset="0"/>
                <a:ea typeface="SimSun" panose="02010600030101010101" pitchFamily="2" charset="-122"/>
                <a:cs typeface="Times New Roman" panose="02020603050405020304" pitchFamily="18" charset="0"/>
              </a:rPr>
              <a:t>: A client needs 500 units of a new smart device. The Design Studio (A) creates the 3D model and housing design. The Engineering Firm (B) uses the hub's CNC to create an aluminum mold for injection molding. The Artisan Electronics (C) designs and tests the circuit board. They use the hub's shared assembly space and pool their logistics contacts to fulfill the order. They market collectively as a "Rapid Product Development Pod."</a:t>
            </a:r>
            <a:endParaRPr lang="en-US" sz="2000" dirty="0">
              <a:effectLst/>
              <a:latin typeface="Calibri" panose="020F0502020204030204" pitchFamily="34" charset="0"/>
              <a:ea typeface="SimSun" panose="02010600030101010101" pitchFamily="2" charset="-122"/>
              <a:cs typeface="Times New Roman" panose="02020603050405020304" pitchFamily="18" charset="0"/>
            </a:endParaRPr>
          </a:p>
        </p:txBody>
      </p:sp>
      <p:sp>
        <p:nvSpPr>
          <p:cNvPr id="3" name="TextBox 2"/>
          <p:cNvSpPr txBox="1"/>
          <p:nvPr/>
        </p:nvSpPr>
        <p:spPr>
          <a:xfrm>
            <a:off x="415635" y="401782"/>
            <a:ext cx="3020291" cy="523220"/>
          </a:xfrm>
          <a:prstGeom prst="rect">
            <a:avLst/>
          </a:prstGeom>
          <a:noFill/>
        </p:spPr>
        <p:txBody>
          <a:bodyPr wrap="square" rtlCol="0">
            <a:spAutoFit/>
          </a:bodyPr>
          <a:lstStyle/>
          <a:p>
            <a:r>
              <a:rPr lang="en-GB" sz="2800" dirty="0" smtClean="0">
                <a:latin typeface="Times New Roman" panose="02020603050405020304" pitchFamily="18" charset="0"/>
                <a:cs typeface="Times New Roman" panose="02020603050405020304" pitchFamily="18" charset="0"/>
              </a:rPr>
              <a:t>Examples</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57770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0945" y="435873"/>
            <a:ext cx="11665528" cy="5681555"/>
          </a:xfrm>
          <a:prstGeom prst="rect">
            <a:avLst/>
          </a:prstGeom>
        </p:spPr>
        <p:txBody>
          <a:bodyPr wrap="square">
            <a:spAutoFit/>
          </a:bodyPr>
          <a:lstStyle/>
          <a:p>
            <a:pPr>
              <a:lnSpc>
                <a:spcPct val="115000"/>
              </a:lnSpc>
              <a:spcAft>
                <a:spcPts val="1000"/>
              </a:spcAft>
            </a:pPr>
            <a:r>
              <a:rPr lang="en-US" sz="2400" b="1" dirty="0">
                <a:latin typeface="Times New Roman" panose="02020603050405020304" pitchFamily="18" charset="0"/>
                <a:ea typeface="SimSun" panose="02010600030101010101" pitchFamily="2" charset="-122"/>
                <a:cs typeface="Times New Roman" panose="02020603050405020304" pitchFamily="18" charset="0"/>
              </a:rPr>
              <a:t>The Custom Furniture &amp; Woodworking Collective</a:t>
            </a:r>
            <a:endParaRPr lang="en-US" sz="2400" b="1" dirty="0">
              <a:latin typeface="Calibri" panose="020F0502020204030204" pitchFamily="34" charset="0"/>
              <a:ea typeface="SimSun" panose="02010600030101010101" pitchFamily="2" charset="-122"/>
              <a:cs typeface="Times New Roman" panose="02020603050405020304" pitchFamily="18" charset="0"/>
            </a:endParaRPr>
          </a:p>
          <a:p>
            <a:pPr>
              <a:lnSpc>
                <a:spcPct val="115000"/>
              </a:lnSpc>
              <a:spcAft>
                <a:spcPts val="1000"/>
              </a:spcAft>
            </a:pPr>
            <a:r>
              <a:rPr lang="en-US" sz="2400" b="1" dirty="0" smtClean="0">
                <a:latin typeface="Times New Roman" panose="02020603050405020304" pitchFamily="18" charset="0"/>
                <a:ea typeface="SimSun" panose="02010600030101010101" pitchFamily="2" charset="-122"/>
                <a:cs typeface="Times New Roman" panose="02020603050405020304" pitchFamily="18" charset="0"/>
              </a:rPr>
              <a:t>The </a:t>
            </a:r>
            <a:r>
              <a:rPr lang="en-US" sz="2400" b="1" dirty="0">
                <a:latin typeface="Times New Roman" panose="02020603050405020304" pitchFamily="18" charset="0"/>
                <a:ea typeface="SimSun" panose="02010600030101010101" pitchFamily="2" charset="-122"/>
                <a:cs typeface="Times New Roman" panose="02020603050405020304" pitchFamily="18" charset="0"/>
              </a:rPr>
              <a:t>Network</a:t>
            </a:r>
            <a:r>
              <a:rPr lang="en-US" sz="2400" dirty="0">
                <a:latin typeface="Times New Roman" panose="02020603050405020304" pitchFamily="18" charset="0"/>
                <a:ea typeface="SimSun" panose="02010600030101010101" pitchFamily="2" charset="-122"/>
                <a:cs typeface="Times New Roman" panose="02020603050405020304" pitchFamily="18" charset="0"/>
              </a:rPr>
              <a:t>: A shared, large-scale woodshop in an industrial area.</a:t>
            </a:r>
            <a:endParaRPr lang="en-US" sz="2400" dirty="0">
              <a:latin typeface="Calibri" panose="020F0502020204030204" pitchFamily="34" charset="0"/>
              <a:ea typeface="SimSun" panose="02010600030101010101" pitchFamily="2" charset="-122"/>
              <a:cs typeface="Times New Roman" panose="02020603050405020304" pitchFamily="18" charset="0"/>
            </a:endParaRPr>
          </a:p>
          <a:p>
            <a:pPr>
              <a:lnSpc>
                <a:spcPct val="115000"/>
              </a:lnSpc>
              <a:spcAft>
                <a:spcPts val="1000"/>
              </a:spcAft>
            </a:pPr>
            <a:r>
              <a:rPr lang="en-US" sz="2400" b="1" dirty="0" smtClean="0">
                <a:latin typeface="Times New Roman" panose="02020603050405020304" pitchFamily="18" charset="0"/>
                <a:ea typeface="SimSun" panose="02010600030101010101" pitchFamily="2" charset="-122"/>
                <a:cs typeface="Times New Roman" panose="02020603050405020304" pitchFamily="18" charset="0"/>
              </a:rPr>
              <a:t>SMME </a:t>
            </a:r>
            <a:r>
              <a:rPr lang="en-US" sz="2400" b="1" dirty="0">
                <a:latin typeface="Times New Roman" panose="02020603050405020304" pitchFamily="18" charset="0"/>
                <a:ea typeface="SimSun" panose="02010600030101010101" pitchFamily="2" charset="-122"/>
                <a:cs typeface="Times New Roman" panose="02020603050405020304" pitchFamily="18" charset="0"/>
              </a:rPr>
              <a:t>Members</a:t>
            </a:r>
            <a:r>
              <a:rPr lang="en-US" sz="2400" dirty="0">
                <a:latin typeface="Times New Roman" panose="02020603050405020304" pitchFamily="18" charset="0"/>
                <a:ea typeface="SimSun" panose="02010600030101010101" pitchFamily="2" charset="-122"/>
                <a:cs typeface="Times New Roman" panose="02020603050405020304" pitchFamily="18" charset="0"/>
              </a:rPr>
              <a:t>:</a:t>
            </a:r>
            <a:endParaRPr lang="en-US" sz="2400" dirty="0">
              <a:latin typeface="Calibri" panose="020F0502020204030204" pitchFamily="34" charset="0"/>
              <a:ea typeface="SimSun" panose="02010600030101010101" pitchFamily="2" charset="-122"/>
              <a:cs typeface="Times New Roman" panose="02020603050405020304" pitchFamily="18" charset="0"/>
            </a:endParaRPr>
          </a:p>
          <a:p>
            <a:pPr>
              <a:lnSpc>
                <a:spcPct val="115000"/>
              </a:lnSpc>
              <a:spcAft>
                <a:spcPts val="1000"/>
              </a:spcAft>
            </a:pPr>
            <a:r>
              <a:rPr lang="en-US" sz="2400" dirty="0" smtClean="0">
                <a:latin typeface="Times New Roman" panose="02020603050405020304" pitchFamily="18" charset="0"/>
                <a:ea typeface="SimSun" panose="02010600030101010101" pitchFamily="2" charset="-122"/>
                <a:cs typeface="Times New Roman" panose="02020603050405020304" pitchFamily="18" charset="0"/>
              </a:rPr>
              <a:t>SMME </a:t>
            </a:r>
            <a:r>
              <a:rPr lang="en-US" sz="2400" dirty="0">
                <a:latin typeface="Times New Roman" panose="02020603050405020304" pitchFamily="18" charset="0"/>
                <a:ea typeface="SimSun" panose="02010600030101010101" pitchFamily="2" charset="-122"/>
                <a:cs typeface="Times New Roman" panose="02020603050405020304" pitchFamily="18" charset="0"/>
              </a:rPr>
              <a:t>A (High-End Furniture Maker): Specializes in bespoke joinery and finishing.</a:t>
            </a:r>
            <a:endParaRPr lang="en-US" sz="2400" dirty="0">
              <a:latin typeface="Calibri" panose="020F0502020204030204" pitchFamily="34" charset="0"/>
              <a:ea typeface="SimSun" panose="02010600030101010101" pitchFamily="2" charset="-122"/>
              <a:cs typeface="Times New Roman" panose="02020603050405020304" pitchFamily="18" charset="0"/>
            </a:endParaRPr>
          </a:p>
          <a:p>
            <a:pPr>
              <a:lnSpc>
                <a:spcPct val="115000"/>
              </a:lnSpc>
              <a:spcAft>
                <a:spcPts val="1000"/>
              </a:spcAft>
            </a:pPr>
            <a:r>
              <a:rPr lang="en-US" sz="2400" dirty="0" smtClean="0">
                <a:latin typeface="Times New Roman" panose="02020603050405020304" pitchFamily="18" charset="0"/>
                <a:ea typeface="SimSun" panose="02010600030101010101" pitchFamily="2" charset="-122"/>
                <a:cs typeface="Times New Roman" panose="02020603050405020304" pitchFamily="18" charset="0"/>
              </a:rPr>
              <a:t>SMME </a:t>
            </a:r>
            <a:r>
              <a:rPr lang="en-US" sz="2400" dirty="0">
                <a:latin typeface="Times New Roman" panose="02020603050405020304" pitchFamily="18" charset="0"/>
                <a:ea typeface="SimSun" panose="02010600030101010101" pitchFamily="2" charset="-122"/>
                <a:cs typeface="Times New Roman" panose="02020603050405020304" pitchFamily="18" charset="0"/>
              </a:rPr>
              <a:t>B (Architectural Millwork Shop): Focuses on built-in cabinets, stairs, and commercial fixtures.</a:t>
            </a:r>
            <a:endParaRPr lang="en-US" sz="2400" dirty="0">
              <a:latin typeface="Calibri" panose="020F0502020204030204" pitchFamily="34" charset="0"/>
              <a:ea typeface="SimSun" panose="02010600030101010101" pitchFamily="2" charset="-122"/>
              <a:cs typeface="Times New Roman" panose="02020603050405020304" pitchFamily="18" charset="0"/>
            </a:endParaRPr>
          </a:p>
          <a:p>
            <a:pPr>
              <a:lnSpc>
                <a:spcPct val="115000"/>
              </a:lnSpc>
              <a:spcAft>
                <a:spcPts val="1000"/>
              </a:spcAft>
            </a:pPr>
            <a:r>
              <a:rPr lang="en-US" sz="2400" dirty="0" smtClean="0">
                <a:latin typeface="Times New Roman" panose="02020603050405020304" pitchFamily="18" charset="0"/>
                <a:ea typeface="SimSun" panose="02010600030101010101" pitchFamily="2" charset="-122"/>
                <a:cs typeface="Times New Roman" panose="02020603050405020304" pitchFamily="18" charset="0"/>
              </a:rPr>
              <a:t>SMME </a:t>
            </a:r>
            <a:r>
              <a:rPr lang="en-US" sz="2400" dirty="0">
                <a:latin typeface="Times New Roman" panose="02020603050405020304" pitchFamily="18" charset="0"/>
                <a:ea typeface="SimSun" panose="02010600030101010101" pitchFamily="2" charset="-122"/>
                <a:cs typeface="Times New Roman" panose="02020603050405020304" pitchFamily="18" charset="0"/>
              </a:rPr>
              <a:t>C (Metal Fabricator): Creates custom legs, brackets, and metal accents.</a:t>
            </a:r>
            <a:endParaRPr lang="en-US" sz="2400" dirty="0">
              <a:latin typeface="Calibri" panose="020F0502020204030204" pitchFamily="34" charset="0"/>
              <a:ea typeface="SimSun" panose="02010600030101010101" pitchFamily="2" charset="-122"/>
              <a:cs typeface="Times New Roman" panose="02020603050405020304" pitchFamily="18" charset="0"/>
            </a:endParaRPr>
          </a:p>
          <a:p>
            <a:r>
              <a:rPr lang="en-US" sz="2400" b="1" dirty="0" smtClean="0">
                <a:latin typeface="Times New Roman" panose="02020603050405020304" pitchFamily="18" charset="0"/>
                <a:ea typeface="SimSun" panose="02010600030101010101" pitchFamily="2" charset="-122"/>
              </a:rPr>
              <a:t>Collaboration </a:t>
            </a:r>
            <a:r>
              <a:rPr lang="en-US" sz="2400" b="1" dirty="0">
                <a:latin typeface="Times New Roman" panose="02020603050405020304" pitchFamily="18" charset="0"/>
                <a:ea typeface="SimSun" panose="02010600030101010101" pitchFamily="2" charset="-122"/>
              </a:rPr>
              <a:t>in Action</a:t>
            </a:r>
            <a:r>
              <a:rPr lang="en-US" sz="2400" dirty="0">
                <a:latin typeface="Times New Roman" panose="02020603050405020304" pitchFamily="18" charset="0"/>
                <a:ea typeface="SimSun" panose="02010600030101010101" pitchFamily="2" charset="-122"/>
              </a:rPr>
              <a:t>: A contract for a boutique hotel's interior (rooms, lobby, restaurant) comes in. SMME B takes the lead on the built-in cabinetry. SMME A produces the freestanding furniture pieces. SMME C supplies all the metal hardware and structural elements. They share the large shop space, bulk-order wood and metal to get discounts, and use a single project manager to present a unified face to the client.</a:t>
            </a:r>
            <a:endParaRPr lang="en-US" sz="2400" dirty="0"/>
          </a:p>
        </p:txBody>
      </p:sp>
    </p:spTree>
    <p:extLst>
      <p:ext uri="{BB962C8B-B14F-4D97-AF65-F5344CB8AC3E}">
        <p14:creationId xmlns:p14="http://schemas.microsoft.com/office/powerpoint/2010/main" val="20643990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2509" y="406543"/>
            <a:ext cx="11540836" cy="5214889"/>
          </a:xfrm>
          <a:prstGeom prst="rect">
            <a:avLst/>
          </a:prstGeom>
        </p:spPr>
        <p:txBody>
          <a:bodyPr wrap="square">
            <a:spAutoFit/>
          </a:bodyPr>
          <a:lstStyle/>
          <a:p>
            <a:pPr algn="just">
              <a:lnSpc>
                <a:spcPct val="115000"/>
              </a:lnSpc>
              <a:spcAft>
                <a:spcPts val="1000"/>
              </a:spcAft>
            </a:pPr>
            <a:r>
              <a:rPr lang="en-US" sz="2000" b="1" dirty="0">
                <a:latin typeface="Times New Roman" panose="02020603050405020304" pitchFamily="18" charset="0"/>
                <a:ea typeface="SimSun" panose="02010600030101010101" pitchFamily="2" charset="-122"/>
                <a:cs typeface="Times New Roman" panose="02020603050405020304" pitchFamily="18" charset="0"/>
              </a:rPr>
              <a:t>The Advanced Manufacturing &amp; Aerospace Supply Chain Network</a:t>
            </a:r>
            <a:endParaRPr lang="en-US" sz="2000" b="1" dirty="0">
              <a:latin typeface="Calibri" panose="020F0502020204030204" pitchFamily="34" charset="0"/>
              <a:ea typeface="SimSun" panose="02010600030101010101" pitchFamily="2" charset="-122"/>
              <a:cs typeface="Times New Roman" panose="02020603050405020304" pitchFamily="18" charset="0"/>
            </a:endParaRPr>
          </a:p>
          <a:p>
            <a:pPr algn="just">
              <a:lnSpc>
                <a:spcPct val="115000"/>
              </a:lnSpc>
              <a:spcAft>
                <a:spcPts val="1000"/>
              </a:spcAft>
            </a:pPr>
            <a:r>
              <a:rPr lang="en-US" sz="2000" b="1" dirty="0" smtClean="0">
                <a:latin typeface="Times New Roman" panose="02020603050405020304" pitchFamily="18" charset="0"/>
                <a:ea typeface="SimSun" panose="02010600030101010101" pitchFamily="2" charset="-122"/>
                <a:cs typeface="Times New Roman" panose="02020603050405020304" pitchFamily="18" charset="0"/>
              </a:rPr>
              <a:t>The </a:t>
            </a:r>
            <a:r>
              <a:rPr lang="en-US" sz="2000" b="1" dirty="0">
                <a:latin typeface="Times New Roman" panose="02020603050405020304" pitchFamily="18" charset="0"/>
                <a:ea typeface="SimSun" panose="02010600030101010101" pitchFamily="2" charset="-122"/>
                <a:cs typeface="Times New Roman" panose="02020603050405020304" pitchFamily="18" charset="0"/>
              </a:rPr>
              <a:t>Network</a:t>
            </a:r>
            <a:r>
              <a:rPr lang="en-US" sz="2000" dirty="0">
                <a:latin typeface="Times New Roman" panose="02020603050405020304" pitchFamily="18" charset="0"/>
                <a:ea typeface="SimSun" panose="02010600030101010101" pitchFamily="2" charset="-122"/>
                <a:cs typeface="Times New Roman" panose="02020603050405020304" pitchFamily="18" charset="0"/>
              </a:rPr>
              <a:t>: A formal consortium of small precision manufacturers, often supported by a regional economic development agency or university.</a:t>
            </a:r>
            <a:endParaRPr lang="en-US" sz="2000" dirty="0">
              <a:latin typeface="Calibri" panose="020F0502020204030204" pitchFamily="34" charset="0"/>
              <a:ea typeface="SimSun" panose="02010600030101010101" pitchFamily="2" charset="-122"/>
              <a:cs typeface="Times New Roman" panose="02020603050405020304" pitchFamily="18" charset="0"/>
            </a:endParaRPr>
          </a:p>
          <a:p>
            <a:pPr algn="just">
              <a:lnSpc>
                <a:spcPct val="115000"/>
              </a:lnSpc>
              <a:spcAft>
                <a:spcPts val="1000"/>
              </a:spcAft>
            </a:pPr>
            <a:r>
              <a:rPr lang="en-US" sz="2000" b="1" dirty="0" smtClean="0">
                <a:latin typeface="Times New Roman" panose="02020603050405020304" pitchFamily="18" charset="0"/>
                <a:ea typeface="SimSun" panose="02010600030101010101" pitchFamily="2" charset="-122"/>
                <a:cs typeface="Times New Roman" panose="02020603050405020304" pitchFamily="18" charset="0"/>
              </a:rPr>
              <a:t>SMME </a:t>
            </a:r>
            <a:r>
              <a:rPr lang="en-US" sz="2000" b="1" dirty="0">
                <a:latin typeface="Times New Roman" panose="02020603050405020304" pitchFamily="18" charset="0"/>
                <a:ea typeface="SimSun" panose="02010600030101010101" pitchFamily="2" charset="-122"/>
                <a:cs typeface="Times New Roman" panose="02020603050405020304" pitchFamily="18" charset="0"/>
              </a:rPr>
              <a:t>Members</a:t>
            </a:r>
            <a:r>
              <a:rPr lang="en-US" sz="2000" dirty="0">
                <a:latin typeface="Times New Roman" panose="02020603050405020304" pitchFamily="18" charset="0"/>
                <a:ea typeface="SimSun" panose="02010600030101010101" pitchFamily="2" charset="-122"/>
                <a:cs typeface="Times New Roman" panose="02020603050405020304" pitchFamily="18" charset="0"/>
              </a:rPr>
              <a:t>:</a:t>
            </a:r>
            <a:endParaRPr lang="en-US" sz="2000" dirty="0">
              <a:latin typeface="Calibri" panose="020F0502020204030204" pitchFamily="34" charset="0"/>
              <a:ea typeface="SimSun" panose="02010600030101010101" pitchFamily="2" charset="-122"/>
              <a:cs typeface="Times New Roman" panose="02020603050405020304" pitchFamily="18" charset="0"/>
            </a:endParaRPr>
          </a:p>
          <a:p>
            <a:pPr algn="just">
              <a:lnSpc>
                <a:spcPct val="115000"/>
              </a:lnSpc>
              <a:spcAft>
                <a:spcPts val="1000"/>
              </a:spcAft>
            </a:pPr>
            <a:r>
              <a:rPr lang="en-US" sz="2000" dirty="0">
                <a:latin typeface="Times New Roman" panose="02020603050405020304" pitchFamily="18" charset="0"/>
                <a:ea typeface="SimSun" panose="02010600030101010101" pitchFamily="2" charset="-122"/>
                <a:cs typeface="Times New Roman" panose="02020603050405020304" pitchFamily="18" charset="0"/>
              </a:rPr>
              <a:t> </a:t>
            </a:r>
            <a:r>
              <a:rPr lang="en-US" sz="2000" dirty="0" smtClean="0">
                <a:latin typeface="Times New Roman" panose="02020603050405020304" pitchFamily="18" charset="0"/>
                <a:ea typeface="SimSun" panose="02010600030101010101" pitchFamily="2" charset="-122"/>
                <a:cs typeface="Times New Roman" panose="02020603050405020304" pitchFamily="18" charset="0"/>
              </a:rPr>
              <a:t>SMME </a:t>
            </a:r>
            <a:r>
              <a:rPr lang="en-US" sz="2000" dirty="0">
                <a:latin typeface="Times New Roman" panose="02020603050405020304" pitchFamily="18" charset="0"/>
                <a:ea typeface="SimSun" panose="02010600030101010101" pitchFamily="2" charset="-122"/>
                <a:cs typeface="Times New Roman" panose="02020603050405020304" pitchFamily="18" charset="0"/>
              </a:rPr>
              <a:t>A (Precision Machinist): Has 5-axis CNC capability.</a:t>
            </a:r>
            <a:endParaRPr lang="en-US" sz="2000" dirty="0">
              <a:latin typeface="Calibri" panose="020F0502020204030204" pitchFamily="34" charset="0"/>
              <a:ea typeface="SimSun" panose="02010600030101010101" pitchFamily="2" charset="-122"/>
              <a:cs typeface="Times New Roman" panose="02020603050405020304" pitchFamily="18" charset="0"/>
            </a:endParaRPr>
          </a:p>
          <a:p>
            <a:pPr algn="just">
              <a:lnSpc>
                <a:spcPct val="115000"/>
              </a:lnSpc>
              <a:spcAft>
                <a:spcPts val="1000"/>
              </a:spcAft>
            </a:pPr>
            <a:r>
              <a:rPr lang="en-US" sz="2000" dirty="0">
                <a:latin typeface="Times New Roman" panose="02020603050405020304" pitchFamily="18" charset="0"/>
                <a:ea typeface="SimSun" panose="02010600030101010101" pitchFamily="2" charset="-122"/>
                <a:cs typeface="Times New Roman" panose="02020603050405020304" pitchFamily="18" charset="0"/>
              </a:rPr>
              <a:t> </a:t>
            </a:r>
            <a:r>
              <a:rPr lang="en-US" sz="2000" dirty="0" smtClean="0">
                <a:latin typeface="Times New Roman" panose="02020603050405020304" pitchFamily="18" charset="0"/>
                <a:ea typeface="SimSun" panose="02010600030101010101" pitchFamily="2" charset="-122"/>
                <a:cs typeface="Times New Roman" panose="02020603050405020304" pitchFamily="18" charset="0"/>
              </a:rPr>
              <a:t>SMME </a:t>
            </a:r>
            <a:r>
              <a:rPr lang="en-US" sz="2000" dirty="0">
                <a:latin typeface="Times New Roman" panose="02020603050405020304" pitchFamily="18" charset="0"/>
                <a:ea typeface="SimSun" panose="02010600030101010101" pitchFamily="2" charset="-122"/>
                <a:cs typeface="Times New Roman" panose="02020603050405020304" pitchFamily="18" charset="0"/>
              </a:rPr>
              <a:t>B (Surface Treatment Specialist): Provides anodizing, plating, or specialized coatings.</a:t>
            </a:r>
            <a:endParaRPr lang="en-US" sz="2000" dirty="0">
              <a:latin typeface="Calibri" panose="020F0502020204030204" pitchFamily="34" charset="0"/>
              <a:ea typeface="SimSun" panose="02010600030101010101" pitchFamily="2" charset="-122"/>
              <a:cs typeface="Times New Roman" panose="02020603050405020304" pitchFamily="18" charset="0"/>
            </a:endParaRPr>
          </a:p>
          <a:p>
            <a:pPr algn="just">
              <a:lnSpc>
                <a:spcPct val="115000"/>
              </a:lnSpc>
              <a:spcAft>
                <a:spcPts val="1000"/>
              </a:spcAft>
            </a:pPr>
            <a:r>
              <a:rPr lang="en-US" sz="2000" dirty="0">
                <a:latin typeface="Times New Roman" panose="02020603050405020304" pitchFamily="18" charset="0"/>
                <a:ea typeface="SimSun" panose="02010600030101010101" pitchFamily="2" charset="-122"/>
                <a:cs typeface="Times New Roman" panose="02020603050405020304" pitchFamily="18" charset="0"/>
              </a:rPr>
              <a:t> </a:t>
            </a:r>
            <a:r>
              <a:rPr lang="en-US" sz="2000" dirty="0" smtClean="0">
                <a:latin typeface="Times New Roman" panose="02020603050405020304" pitchFamily="18" charset="0"/>
                <a:ea typeface="SimSun" panose="02010600030101010101" pitchFamily="2" charset="-122"/>
                <a:cs typeface="Times New Roman" panose="02020603050405020304" pitchFamily="18" charset="0"/>
              </a:rPr>
              <a:t>SMME </a:t>
            </a:r>
            <a:r>
              <a:rPr lang="en-US" sz="2000" dirty="0">
                <a:latin typeface="Times New Roman" panose="02020603050405020304" pitchFamily="18" charset="0"/>
                <a:ea typeface="SimSun" panose="02010600030101010101" pitchFamily="2" charset="-122"/>
                <a:cs typeface="Times New Roman" panose="02020603050405020304" pitchFamily="18" charset="0"/>
              </a:rPr>
              <a:t>C (Composite Materials Workshop): Manufactures carbon fiber parts.</a:t>
            </a:r>
            <a:endParaRPr lang="en-US" sz="2000" dirty="0">
              <a:latin typeface="Calibri" panose="020F0502020204030204" pitchFamily="34" charset="0"/>
              <a:ea typeface="SimSun" panose="02010600030101010101" pitchFamily="2" charset="-122"/>
              <a:cs typeface="Times New Roman" panose="02020603050405020304" pitchFamily="18" charset="0"/>
            </a:endParaRPr>
          </a:p>
          <a:p>
            <a:pPr algn="just">
              <a:lnSpc>
                <a:spcPct val="115000"/>
              </a:lnSpc>
              <a:spcAft>
                <a:spcPts val="1000"/>
              </a:spcAft>
            </a:pPr>
            <a:r>
              <a:rPr lang="en-US" sz="2000" dirty="0">
                <a:latin typeface="Times New Roman" panose="02020603050405020304" pitchFamily="18" charset="0"/>
                <a:ea typeface="SimSun" panose="02010600030101010101" pitchFamily="2" charset="-122"/>
                <a:cs typeface="Times New Roman" panose="02020603050405020304" pitchFamily="18" charset="0"/>
              </a:rPr>
              <a:t> </a:t>
            </a:r>
            <a:r>
              <a:rPr lang="en-US" sz="2000" dirty="0" smtClean="0">
                <a:latin typeface="Times New Roman" panose="02020603050405020304" pitchFamily="18" charset="0"/>
                <a:ea typeface="SimSun" panose="02010600030101010101" pitchFamily="2" charset="-122"/>
                <a:cs typeface="Times New Roman" panose="02020603050405020304" pitchFamily="18" charset="0"/>
              </a:rPr>
              <a:t>SMME </a:t>
            </a:r>
            <a:r>
              <a:rPr lang="en-US" sz="2000" dirty="0">
                <a:latin typeface="Times New Roman" panose="02020603050405020304" pitchFamily="18" charset="0"/>
                <a:ea typeface="SimSun" panose="02010600030101010101" pitchFamily="2" charset="-122"/>
                <a:cs typeface="Times New Roman" panose="02020603050405020304" pitchFamily="18" charset="0"/>
              </a:rPr>
              <a:t>D (Quality Assurance &amp; NDT Lab): Offers X-ray, ultrasonic testing.</a:t>
            </a:r>
            <a:endParaRPr lang="en-US" sz="2000" dirty="0">
              <a:latin typeface="Calibri" panose="020F0502020204030204" pitchFamily="34" charset="0"/>
              <a:ea typeface="SimSun" panose="02010600030101010101" pitchFamily="2" charset="-122"/>
              <a:cs typeface="Times New Roman" panose="02020603050405020304" pitchFamily="18" charset="0"/>
            </a:endParaRPr>
          </a:p>
          <a:p>
            <a:pPr algn="just">
              <a:lnSpc>
                <a:spcPct val="115000"/>
              </a:lnSpc>
              <a:spcAft>
                <a:spcPts val="1000"/>
              </a:spcAft>
            </a:pPr>
            <a:r>
              <a:rPr lang="en-US" sz="2000" b="1" dirty="0" smtClean="0">
                <a:latin typeface="Times New Roman" panose="02020603050405020304" pitchFamily="18" charset="0"/>
                <a:ea typeface="SimSun" panose="02010600030101010101" pitchFamily="2" charset="-122"/>
                <a:cs typeface="Times New Roman" panose="02020603050405020304" pitchFamily="18" charset="0"/>
              </a:rPr>
              <a:t>Collaboration </a:t>
            </a:r>
            <a:r>
              <a:rPr lang="en-US" sz="2000" b="1" dirty="0">
                <a:latin typeface="Times New Roman" panose="02020603050405020304" pitchFamily="18" charset="0"/>
                <a:ea typeface="SimSun" panose="02010600030101010101" pitchFamily="2" charset="-122"/>
                <a:cs typeface="Times New Roman" panose="02020603050405020304" pitchFamily="18" charset="0"/>
              </a:rPr>
              <a:t>in Action</a:t>
            </a:r>
            <a:r>
              <a:rPr lang="en-US" sz="2000" dirty="0">
                <a:latin typeface="Times New Roman" panose="02020603050405020304" pitchFamily="18" charset="0"/>
                <a:ea typeface="SimSun" panose="02010600030101010101" pitchFamily="2" charset="-122"/>
                <a:cs typeface="Times New Roman" panose="02020603050405020304" pitchFamily="18" charset="0"/>
              </a:rPr>
              <a:t>: They jointly bid on a contract to supply components for drones or satellite systems. SMME A machines the part, SMME C adds a composite element, SMME B applies a thermal coating, and SMME D certifies the part to aerospace standards. Their collective capabilities make them a qualified "Tier 2 Supplier Network" to a large prime contractor.</a:t>
            </a:r>
            <a:endParaRPr lang="en-US" sz="2000" dirty="0">
              <a:effectLst/>
              <a:latin typeface="Calibri" panose="020F0502020204030204" pitchFamily="34"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0111470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399" y="0"/>
            <a:ext cx="11582400" cy="6072047"/>
          </a:xfrm>
          <a:prstGeom prst="rect">
            <a:avLst/>
          </a:prstGeom>
        </p:spPr>
        <p:txBody>
          <a:bodyPr wrap="square">
            <a:spAutoFit/>
          </a:bodyPr>
          <a:lstStyle/>
          <a:p>
            <a:pPr>
              <a:lnSpc>
                <a:spcPct val="107000"/>
              </a:lnSpc>
              <a:spcAft>
                <a:spcPts val="800"/>
              </a:spcAft>
            </a:pPr>
            <a:r>
              <a:rPr lang="en-US" sz="3600" b="1" kern="1800" dirty="0" smtClean="0">
                <a:effectLst/>
                <a:latin typeface="Times New Roman" panose="02020603050405020304" pitchFamily="18" charset="0"/>
                <a:ea typeface="Times New Roman" panose="02020603050405020304" pitchFamily="18" charset="0"/>
                <a:cs typeface="Times New Roman" panose="02020603050405020304" pitchFamily="18" charset="0"/>
              </a:rPr>
              <a:t>Decision-Making and Challenges in Nigerian SMME Collaborative Networks</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The decision-making landscape in Nigerian CMNs is shaped by both global collaborative network issues and unique local constraints:</a:t>
            </a:r>
            <a:endParaRPr lang="en-US" sz="2000" dirty="0" smtClean="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Partner Selection &amp; </a:t>
            </a:r>
            <a:r>
              <a:rPr lang="en-US" sz="2000" b="1" dirty="0" smtClean="0">
                <a:latin typeface="Times New Roman" panose="02020603050405020304" pitchFamily="18" charset="0"/>
                <a:ea typeface="Times New Roman" panose="02020603050405020304" pitchFamily="18" charset="0"/>
                <a:cs typeface="Times New Roman" panose="02020603050405020304" pitchFamily="18" charset="0"/>
              </a:rPr>
              <a:t>Trust</a:t>
            </a:r>
            <a:r>
              <a:rPr lang="en-US" sz="2000" dirty="0" smtClean="0">
                <a:latin typeface="Calibri" panose="020F0502020204030204" pitchFamily="34" charset="0"/>
                <a:ea typeface="Calibri" panose="020F0502020204030204" pitchFamily="34" charset="0"/>
                <a:cs typeface="Times New Roman" panose="02020603050405020304" pitchFamily="18" charset="0"/>
              </a:rPr>
              <a:t>: </a:t>
            </a:r>
            <a:r>
              <a:rPr lang="en-US" sz="2000" dirty="0" smtClean="0">
                <a:latin typeface="Times New Roman" panose="02020603050405020304" pitchFamily="18" charset="0"/>
                <a:ea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foundational decision. Nigerian SMMEs often rely on informal networks and ethnic ties, which, while building trust, may exclude optimally capable partners. Formal, performance-based selection is hampered by a lack of reliable data.</a:t>
            </a:r>
            <a:endParaRPr lang="en-US" sz="2000" dirty="0" smtClean="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Task &amp; Resource </a:t>
            </a:r>
            <a:r>
              <a:rPr lang="en-US" sz="2000" b="1" dirty="0" smtClean="0">
                <a:latin typeface="Times New Roman" panose="02020603050405020304" pitchFamily="18" charset="0"/>
                <a:ea typeface="Times New Roman" panose="02020603050405020304" pitchFamily="18" charset="0"/>
                <a:cs typeface="Times New Roman" panose="02020603050405020304" pitchFamily="18" charset="0"/>
              </a:rPr>
              <a:t>Allocation</a:t>
            </a:r>
            <a:r>
              <a:rPr lang="en-US" sz="2000" dirty="0" smtClean="0">
                <a:latin typeface="Calibri" panose="020F0502020204030204" pitchFamily="34" charset="0"/>
                <a:ea typeface="Calibri" panose="020F0502020204030204" pitchFamily="34" charset="0"/>
                <a:cs typeface="Times New Roman" panose="02020603050405020304" pitchFamily="18" charset="0"/>
              </a:rPr>
              <a:t>: </a:t>
            </a:r>
            <a:r>
              <a:rPr lang="en-US" sz="2000" dirty="0" smtClean="0">
                <a:latin typeface="Times New Roman" panose="02020603050405020304" pitchFamily="18" charset="0"/>
                <a:ea typeface="Times New Roman" panose="02020603050405020304" pitchFamily="18" charset="0"/>
                <a:cs typeface="Times New Roman" panose="02020603050405020304" pitchFamily="18" charset="0"/>
              </a:rPr>
              <a:t>Determining </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which network partner performs specific manufacturing tasks based on dynamic capability, cost, and capacity. This is complicated by Nigeria’s unreliable power supply and logistics bottlenecks, which create uncertainty in lead times and resource availability.</a:t>
            </a:r>
            <a:endParaRPr lang="en-US" sz="2000" dirty="0" smtClean="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Risk &amp; Revenue </a:t>
            </a:r>
            <a:r>
              <a:rPr lang="en-US" sz="2000" b="1" dirty="0" smtClean="0">
                <a:latin typeface="Times New Roman" panose="02020603050405020304" pitchFamily="18" charset="0"/>
                <a:ea typeface="Times New Roman" panose="02020603050405020304" pitchFamily="18" charset="0"/>
                <a:cs typeface="Times New Roman" panose="02020603050405020304" pitchFamily="18" charset="0"/>
              </a:rPr>
              <a:t>Sharing</a:t>
            </a:r>
            <a:r>
              <a:rPr lang="en-US" sz="2000" dirty="0" smtClean="0">
                <a:latin typeface="Calibri" panose="020F0502020204030204" pitchFamily="34" charset="0"/>
                <a:ea typeface="Calibri" panose="020F0502020204030204" pitchFamily="34" charset="0"/>
                <a:cs typeface="Times New Roman" panose="02020603050405020304" pitchFamily="18" charset="0"/>
              </a:rPr>
              <a:t>: </a:t>
            </a:r>
            <a:r>
              <a:rPr lang="en-US" sz="2000" dirty="0" smtClean="0">
                <a:latin typeface="Times New Roman" panose="02020603050405020304" pitchFamily="18" charset="0"/>
                <a:ea typeface="Times New Roman" panose="02020603050405020304" pitchFamily="18" charset="0"/>
                <a:cs typeface="Times New Roman" panose="02020603050405020304" pitchFamily="18" charset="0"/>
              </a:rPr>
              <a:t>Decisions </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on distributing costs, risks, and profits must be perceived as fair to sustain collaboration. The Nigerian context, with its high economic volatility and policy instability, amplifies risks like currency fluctuation and input cost shocks.</a:t>
            </a:r>
            <a:endParaRPr lang="en-US" sz="2000" dirty="0" smtClean="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Coordinated </a:t>
            </a:r>
            <a:r>
              <a:rPr lang="en-US" sz="2000" b="1" dirty="0" smtClean="0">
                <a:latin typeface="Times New Roman" panose="02020603050405020304" pitchFamily="18" charset="0"/>
                <a:ea typeface="Times New Roman" panose="02020603050405020304" pitchFamily="18" charset="0"/>
                <a:cs typeface="Times New Roman" panose="02020603050405020304" pitchFamily="18" charset="0"/>
              </a:rPr>
              <a:t>Scheduling</a:t>
            </a:r>
            <a:r>
              <a:rPr lang="en-US" sz="2000" dirty="0" smtClean="0">
                <a:latin typeface="Calibri" panose="020F0502020204030204" pitchFamily="34" charset="0"/>
                <a:ea typeface="Calibri" panose="020F0502020204030204" pitchFamily="34" charset="0"/>
                <a:cs typeface="Times New Roman" panose="02020603050405020304" pitchFamily="18" charset="0"/>
              </a:rPr>
              <a:t>: </a:t>
            </a:r>
            <a:r>
              <a:rPr lang="en-US" sz="2000" dirty="0" smtClean="0">
                <a:latin typeface="Times New Roman" panose="02020603050405020304" pitchFamily="18" charset="0"/>
                <a:ea typeface="Times New Roman" panose="02020603050405020304" pitchFamily="18" charset="0"/>
                <a:cs typeface="Times New Roman" panose="02020603050405020304" pitchFamily="18" charset="0"/>
              </a:rPr>
              <a:t>Synchronizing </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production schedules across multiple independent entities with different work cultures and priorities to meet a common deadline is a perennial challenge.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414595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0946" y="197775"/>
            <a:ext cx="11651673" cy="6881243"/>
          </a:xfrm>
          <a:prstGeom prst="rect">
            <a:avLst/>
          </a:prstGeom>
        </p:spPr>
        <p:txBody>
          <a:bodyPr wrap="square">
            <a:spAutoFit/>
          </a:bodyPr>
          <a:lstStyle/>
          <a:p>
            <a:pPr>
              <a:lnSpc>
                <a:spcPct val="107000"/>
              </a:lnSpc>
              <a:spcAft>
                <a:spcPts val="800"/>
              </a:spcAft>
            </a:pPr>
            <a:r>
              <a:rPr lang="en-US" sz="3600" b="1" kern="1800" dirty="0" smtClean="0">
                <a:effectLst/>
                <a:latin typeface="Times New Roman" panose="02020603050405020304" pitchFamily="18" charset="0"/>
                <a:ea typeface="Times New Roman" panose="02020603050405020304" pitchFamily="18" charset="0"/>
                <a:cs typeface="Times New Roman" panose="02020603050405020304" pitchFamily="18" charset="0"/>
              </a:rPr>
              <a:t>Proposed Mathematical Tools for Optimized Decision-Making</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To address the above challenges systematically, moving from heuristic to data-driven decisions, the following operations research and multi-criteria decision-making tools are proposed:</a:t>
            </a:r>
            <a:endParaRPr lang="en-US" sz="24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07000"/>
              </a:lnSpc>
              <a:spcAft>
                <a:spcPts val="800"/>
              </a:spcAft>
              <a:buFont typeface="Arial" panose="020B0604020202020204" pitchFamily="34" charset="0"/>
              <a:buChar char="•"/>
            </a:pPr>
            <a:r>
              <a:rPr lang="en-US" sz="2400" dirty="0" smtClean="0">
                <a:effectLst/>
                <a:latin typeface="Times New Roman" panose="02020603050405020304" pitchFamily="18" charset="0"/>
                <a:ea typeface="Times New Roman" panose="02020603050405020304" pitchFamily="18" charset="0"/>
                <a:cs typeface="Times New Roman" panose="02020603050405020304" pitchFamily="18" charset="0"/>
              </a:rPr>
              <a:t>Analytic Hierarchy Process (AHP) for Partner Selection</a:t>
            </a:r>
          </a:p>
          <a:p>
            <a:pPr marL="342900" indent="-342900">
              <a:lnSpc>
                <a:spcPct val="107000"/>
              </a:lnSpc>
              <a:spcAft>
                <a:spcPts val="800"/>
              </a:spcAft>
              <a:buFont typeface="Arial" panose="020B0604020202020204" pitchFamily="34" charset="0"/>
              <a:buChar char="•"/>
            </a:pPr>
            <a:r>
              <a:rPr lang="en-US" sz="2400" dirty="0" smtClean="0">
                <a:latin typeface="Times New Roman" panose="02020603050405020304" pitchFamily="18" charset="0"/>
                <a:ea typeface="Times New Roman" panose="02020603050405020304" pitchFamily="18" charset="0"/>
                <a:cs typeface="Times New Roman" panose="02020603050405020304" pitchFamily="18" charset="0"/>
              </a:rPr>
              <a:t>Integer </a:t>
            </a:r>
            <a:r>
              <a:rPr lang="en-US" sz="2400" dirty="0">
                <a:latin typeface="Times New Roman" panose="02020603050405020304" pitchFamily="18" charset="0"/>
                <a:ea typeface="Times New Roman" panose="02020603050405020304" pitchFamily="18" charset="0"/>
                <a:cs typeface="Times New Roman" panose="02020603050405020304" pitchFamily="18" charset="0"/>
              </a:rPr>
              <a:t>Linear Programming (ILP) for Task and Resource </a:t>
            </a:r>
            <a:r>
              <a:rPr lang="en-US" sz="2400" dirty="0" smtClean="0">
                <a:latin typeface="Times New Roman" panose="02020603050405020304" pitchFamily="18" charset="0"/>
                <a:ea typeface="Times New Roman" panose="02020603050405020304" pitchFamily="18" charset="0"/>
                <a:cs typeface="Times New Roman" panose="02020603050405020304" pitchFamily="18" charset="0"/>
              </a:rPr>
              <a:t>Allocation</a:t>
            </a:r>
          </a:p>
          <a:p>
            <a:pPr marL="342900" lvl="0" indent="-342900">
              <a:lnSpc>
                <a:spcPct val="107000"/>
              </a:lnSpc>
              <a:spcAft>
                <a:spcPts val="800"/>
              </a:spcAft>
              <a:buFont typeface="Arial" panose="020B0604020202020204" pitchFamily="34" charset="0"/>
              <a:buChar char="•"/>
            </a:pPr>
            <a:r>
              <a:rPr lang="en-US" sz="240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Game Theory (Cooperative/Nash Bargaining) for Profit &amp; Risk </a:t>
            </a:r>
            <a:r>
              <a:rPr lang="en-US" sz="2400" dirty="0" smtClean="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Sharing</a:t>
            </a:r>
          </a:p>
          <a:p>
            <a:pPr marL="342900" lvl="0" indent="-342900">
              <a:lnSpc>
                <a:spcPct val="107000"/>
              </a:lnSpc>
              <a:spcAft>
                <a:spcPts val="800"/>
              </a:spcAft>
              <a:buFont typeface="Arial" panose="020B0604020202020204" pitchFamily="34" charset="0"/>
              <a:buChar char="•"/>
            </a:pPr>
            <a:r>
              <a:rPr lang="en-US" sz="240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Monte Carlo Simulation for Risk-Informed Scheduling</a:t>
            </a:r>
            <a:endParaRPr lang="en-US" sz="24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Arial" panose="020B0604020202020204" pitchFamily="34" charset="0"/>
              <a:buChar char="•"/>
            </a:pPr>
            <a:endParaRPr lang="en-US" sz="2400" dirty="0" smtClean="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US" sz="1600" dirty="0" smtClean="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US" sz="2800" dirty="0" smtClean="0">
              <a:effectLst/>
              <a:latin typeface="Times New Roman" panose="02020603050405020304" pitchFamily="18" charset="0"/>
              <a:ea typeface="Times New Roman" panose="02020603050405020304" pitchFamily="18" charset="0"/>
              <a:cs typeface="Times New Roman" panose="02020603050405020304" pitchFamily="18" charset="0"/>
            </a:endParaRPr>
          </a:p>
          <a:p>
            <a:pPr>
              <a:lnSpc>
                <a:spcPct val="107000"/>
              </a:lnSpc>
              <a:spcAft>
                <a:spcPts val="800"/>
              </a:spcAft>
            </a:pP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smtClean="0">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570384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4909" y="442606"/>
            <a:ext cx="11388436" cy="5413213"/>
          </a:xfrm>
          <a:prstGeom prst="rect">
            <a:avLst/>
          </a:prstGeom>
        </p:spPr>
        <p:txBody>
          <a:bodyPr wrap="square">
            <a:spAutoFit/>
          </a:bodyPr>
          <a:lstStyle/>
          <a:p>
            <a:pPr lvl="0">
              <a:lnSpc>
                <a:spcPct val="107000"/>
              </a:lnSpc>
              <a:spcAft>
                <a:spcPts val="800"/>
              </a:spcAft>
            </a:pPr>
            <a:r>
              <a:rPr lang="en-US" sz="2800" b="1"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Analytic Hierarchy Process (AHP) for Partner Selection</a:t>
            </a:r>
            <a:endParaRPr lang="en-US" sz="16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spcAft>
                <a:spcPts val="800"/>
              </a:spcAft>
            </a:pPr>
            <a:r>
              <a:rPr lang="en-US" sz="240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AHP is a multi-criteria decision-making tool that breaks down a complex decision into a hierarchy, comparing elements pairwise to establish priorities.</a:t>
            </a:r>
            <a:endParaRPr lang="en-US" sz="24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spcAft>
                <a:spcPts val="800"/>
              </a:spcAft>
            </a:pPr>
            <a:r>
              <a:rPr lang="en-US" sz="2400" b="1"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Application</a:t>
            </a:r>
            <a:endParaRPr lang="en-US" sz="24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spcAft>
                <a:spcPts val="800"/>
              </a:spcAft>
            </a:pPr>
            <a:r>
              <a:rPr lang="en-US" sz="240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The goal "Select Best Partner" is decomposed into criteria (Cost, Technical Capability, Reliability, Trust Level, Infrastructure Quality) and sub-criteria. Decision-makers from the lead SMME compare potential partners against each criterion. AHP synthesizes these judgements to produce a priority ranking.</a:t>
            </a:r>
            <a:endParaRPr lang="en-US" sz="24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spcAft>
                <a:spcPts val="800"/>
              </a:spcAft>
            </a:pPr>
            <a:r>
              <a:rPr lang="en-US" sz="2400" b="1"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Justification</a:t>
            </a:r>
            <a:endParaRPr lang="en-US" sz="24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spcAft>
                <a:spcPts val="800"/>
              </a:spcAft>
            </a:pPr>
            <a:r>
              <a:rPr lang="en-US" sz="240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It accommodates both quantitative (cost) and qualitative (trust) factors crucial in Nigeria. By making the weighting of factors explicit, it reduces bias from purely kinship-based selection while still allowing trust to be a formalized criterion.</a:t>
            </a:r>
            <a:endParaRPr lang="en-US" sz="24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47921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2510" y="484068"/>
            <a:ext cx="11596254" cy="5018040"/>
          </a:xfrm>
          <a:prstGeom prst="rect">
            <a:avLst/>
          </a:prstGeom>
        </p:spPr>
        <p:txBody>
          <a:bodyPr wrap="square">
            <a:spAutoFit/>
          </a:bodyPr>
          <a:lstStyle/>
          <a:p>
            <a:pPr>
              <a:lnSpc>
                <a:spcPct val="107000"/>
              </a:lnSpc>
              <a:spcAft>
                <a:spcPts val="800"/>
              </a:spcAft>
            </a:pPr>
            <a:r>
              <a:rPr lang="en-US" sz="2800" b="1" dirty="0">
                <a:latin typeface="Times New Roman" panose="02020603050405020304" pitchFamily="18" charset="0"/>
                <a:ea typeface="Times New Roman" panose="02020603050405020304" pitchFamily="18" charset="0"/>
                <a:cs typeface="Times New Roman" panose="02020603050405020304" pitchFamily="18" charset="0"/>
              </a:rPr>
              <a:t>Integer Linear Programming (ILP) for Task and Resource Allocation</a:t>
            </a:r>
            <a:endParaRPr lang="en-US" sz="28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400" dirty="0" smtClean="0">
                <a:effectLst/>
                <a:latin typeface="Times New Roman" panose="02020603050405020304" pitchFamily="18" charset="0"/>
                <a:ea typeface="Times New Roman" panose="02020603050405020304" pitchFamily="18" charset="0"/>
                <a:cs typeface="Times New Roman" panose="02020603050405020304" pitchFamily="18" charset="0"/>
              </a:rPr>
              <a:t>ILP is used for optimization problems where some or all variables are restricted to be integers. It is ideal for "yes/no" decisions like assigning a specific task to a specific partner.</a:t>
            </a:r>
            <a:endParaRPr lang="en-US" sz="24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400" b="1" dirty="0" smtClean="0">
                <a:effectLst/>
                <a:latin typeface="Times New Roman" panose="02020603050405020304" pitchFamily="18" charset="0"/>
                <a:ea typeface="Times New Roman" panose="02020603050405020304" pitchFamily="18" charset="0"/>
                <a:cs typeface="Times New Roman" panose="02020603050405020304" pitchFamily="18" charset="0"/>
              </a:rPr>
              <a:t>Application</a:t>
            </a:r>
            <a:endParaRPr lang="en-US" sz="24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400" dirty="0" smtClean="0">
                <a:effectLst/>
                <a:latin typeface="Times New Roman" panose="02020603050405020304" pitchFamily="18" charset="0"/>
                <a:ea typeface="Times New Roman" panose="02020603050405020304" pitchFamily="18" charset="0"/>
                <a:cs typeface="Times New Roman" panose="02020603050405020304" pitchFamily="18" charset="0"/>
              </a:rPr>
              <a:t>Formulate an objective function (e.g., Minimize Total Network Cost or Minimize Total Completion Time) subject to constraints such as each task being assigned to exactly one partner, each partner's capacity not being exceeded, and mandatory sequencing of tasks.</a:t>
            </a:r>
            <a:endParaRPr lang="en-US" sz="24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400" b="1" dirty="0" smtClean="0">
                <a:effectLst/>
                <a:latin typeface="Times New Roman" panose="02020603050405020304" pitchFamily="18" charset="0"/>
                <a:ea typeface="Times New Roman" panose="02020603050405020304" pitchFamily="18" charset="0"/>
                <a:cs typeface="Times New Roman" panose="02020603050405020304" pitchFamily="18" charset="0"/>
              </a:rPr>
              <a:t>Justification</a:t>
            </a:r>
            <a:endParaRPr lang="en-US" sz="24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400" dirty="0" smtClean="0">
                <a:effectLst/>
                <a:latin typeface="Times New Roman" panose="02020603050405020304" pitchFamily="18" charset="0"/>
                <a:ea typeface="Times New Roman" panose="02020603050405020304" pitchFamily="18" charset="0"/>
                <a:cs typeface="Times New Roman" panose="02020603050405020304" pitchFamily="18" charset="0"/>
              </a:rPr>
              <a:t>ILP provides an optimal, transparent allocation plan. It efficiently handles the combinatorial complexity of matching multiple tasks to multiple partners, a common scenario in Nigerian CMNs assembling complex products like furniture or agro-processing equipment.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514414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5636" y="484308"/>
            <a:ext cx="11374582" cy="5413213"/>
          </a:xfrm>
          <a:prstGeom prst="rect">
            <a:avLst/>
          </a:prstGeom>
        </p:spPr>
        <p:txBody>
          <a:bodyPr wrap="square">
            <a:spAutoFit/>
          </a:bodyPr>
          <a:lstStyle/>
          <a:p>
            <a:pPr>
              <a:lnSpc>
                <a:spcPct val="107000"/>
              </a:lnSpc>
              <a:spcAft>
                <a:spcPts val="800"/>
              </a:spcAft>
            </a:pPr>
            <a:r>
              <a:rPr lang="en-US" sz="2800" b="1" dirty="0" smtClean="0">
                <a:effectLst/>
                <a:latin typeface="Times New Roman" panose="02020603050405020304" pitchFamily="18" charset="0"/>
                <a:ea typeface="Times New Roman" panose="02020603050405020304" pitchFamily="18" charset="0"/>
                <a:cs typeface="Times New Roman" panose="02020603050405020304" pitchFamily="18" charset="0"/>
              </a:rPr>
              <a:t>Game Theory (Cooperative/Nash Bargaining) for Profit &amp; Risk Sharing</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Game Theory provides a framework for analyzing strategic interactions among rational decision-makers. The Nash Bargaining Solution is particularly suited for determining a fair distribution of collective gains.</a:t>
            </a:r>
            <a:endParaRPr lang="en-US" sz="24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Application</a:t>
            </a:r>
            <a:endParaRPr lang="en-US" sz="24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The total added value generated by the CMN is the "surplus" to be divided. The Nash solution maximizes the product of each partner's utility gains relative to their disagreement point.</a:t>
            </a:r>
            <a:endParaRPr lang="en-US" sz="24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400" b="1" dirty="0" smtClean="0">
                <a:latin typeface="Times New Roman" panose="02020603050405020304" pitchFamily="18" charset="0"/>
                <a:ea typeface="Times New Roman" panose="02020603050405020304" pitchFamily="18" charset="0"/>
                <a:cs typeface="Times New Roman" panose="02020603050405020304" pitchFamily="18" charset="0"/>
              </a:rPr>
              <a:t>Justification</a:t>
            </a:r>
            <a:endParaRPr lang="en-US" sz="24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It moves revenue sharing beyond simple proportional splits, incorporating each partner's contribution, risk undertaken, and alternative opportunities, fostering a sense of fairness—critical for long-term network stability in Nigeria’s competitive environment.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857311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0217" y="215516"/>
            <a:ext cx="11069781" cy="5808385"/>
          </a:xfrm>
          <a:prstGeom prst="rect">
            <a:avLst/>
          </a:prstGeom>
        </p:spPr>
        <p:txBody>
          <a:bodyPr wrap="square">
            <a:spAutoFit/>
          </a:bodyPr>
          <a:lstStyle/>
          <a:p>
            <a:pPr>
              <a:lnSpc>
                <a:spcPct val="107000"/>
              </a:lnSpc>
              <a:spcAft>
                <a:spcPts val="800"/>
              </a:spcAft>
            </a:pPr>
            <a:r>
              <a:rPr lang="en-US" sz="2800" b="1" dirty="0" smtClean="0">
                <a:effectLst/>
                <a:latin typeface="Times New Roman" panose="02020603050405020304" pitchFamily="18" charset="0"/>
                <a:ea typeface="Times New Roman" panose="02020603050405020304" pitchFamily="18" charset="0"/>
                <a:cs typeface="Times New Roman" panose="02020603050405020304" pitchFamily="18" charset="0"/>
              </a:rPr>
              <a:t>Monte Carlo Simulation for Risk-Informed Scheduling</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Given Nigeria’s high operational uncertainty, deterministic scheduling tools fail. Monte Carlo Simulation uses random sampling of probability distributions to model the impact of risk and uncertainty.</a:t>
            </a:r>
            <a:endParaRPr lang="en-US" sz="24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Application</a:t>
            </a:r>
            <a:endParaRPr lang="en-US" sz="24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For a given production schedule, key uncertain variables (e.g., machine downtime due to power outages, material delivery delay, rework rate) are modeled with probability distributions. The simulation runs thousands of scenarios to generate a probability distribution of the total project completion time and cost.</a:t>
            </a:r>
            <a:endParaRPr lang="en-US" sz="24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Justification</a:t>
            </a:r>
            <a:endParaRPr lang="en-US" sz="24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It allows Nigerian SMME network managers to answer critical questions: "What is the probability of finishing within 8 weeks?" or "What is the 90% confidence level for cost?" This enables robust, risk-informed decision-making and contingency planning.</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182762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7090" y="105655"/>
            <a:ext cx="11651673" cy="5955798"/>
          </a:xfrm>
          <a:prstGeom prst="rect">
            <a:avLst/>
          </a:prstGeom>
        </p:spPr>
        <p:txBody>
          <a:bodyPr wrap="square">
            <a:spAutoFit/>
          </a:bodyPr>
          <a:lstStyle/>
          <a:p>
            <a:pPr>
              <a:lnSpc>
                <a:spcPct val="107000"/>
              </a:lnSpc>
              <a:spcAft>
                <a:spcPts val="800"/>
              </a:spcAft>
            </a:pPr>
            <a:r>
              <a:rPr lang="en-US" sz="3600" b="1" kern="1800" dirty="0" smtClean="0">
                <a:effectLst/>
                <a:latin typeface="Times New Roman" panose="02020603050405020304" pitchFamily="18" charset="0"/>
                <a:ea typeface="Times New Roman" panose="02020603050405020304" pitchFamily="18" charset="0"/>
                <a:cs typeface="Times New Roman" panose="02020603050405020304" pitchFamily="18" charset="0"/>
              </a:rPr>
              <a:t>Integration and Implementation Pathway</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200" dirty="0">
                <a:latin typeface="Times New Roman" panose="02020603050405020304" pitchFamily="18" charset="0"/>
                <a:ea typeface="Times New Roman" panose="02020603050405020304" pitchFamily="18" charset="0"/>
                <a:cs typeface="Times New Roman" panose="02020603050405020304" pitchFamily="18" charset="0"/>
              </a:rPr>
              <a:t>These tools are not used in isolation. A proposed integrated framework is:</a:t>
            </a:r>
            <a:endParaRPr lang="en-US" sz="22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200" b="1" dirty="0">
                <a:latin typeface="Times New Roman" panose="02020603050405020304" pitchFamily="18" charset="0"/>
                <a:ea typeface="Times New Roman" panose="02020603050405020304" pitchFamily="18" charset="0"/>
                <a:cs typeface="Times New Roman" panose="02020603050405020304" pitchFamily="18" charset="0"/>
              </a:rPr>
              <a:t>Phase 1 (Formation)</a:t>
            </a:r>
            <a:endParaRPr lang="en-US" sz="22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200" dirty="0">
                <a:latin typeface="Times New Roman" panose="02020603050405020304" pitchFamily="18" charset="0"/>
                <a:ea typeface="Times New Roman" panose="02020603050405020304" pitchFamily="18" charset="0"/>
                <a:cs typeface="Times New Roman" panose="02020603050405020304" pitchFamily="18" charset="0"/>
              </a:rPr>
              <a:t>Use AHP to select the most suitable consortium of partners for a given project.</a:t>
            </a:r>
            <a:endParaRPr lang="en-US" sz="22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200" b="1" dirty="0">
                <a:latin typeface="Times New Roman" panose="02020603050405020304" pitchFamily="18" charset="0"/>
                <a:ea typeface="Times New Roman" panose="02020603050405020304" pitchFamily="18" charset="0"/>
                <a:cs typeface="Times New Roman" panose="02020603050405020304" pitchFamily="18" charset="0"/>
              </a:rPr>
              <a:t>Phase 2 (Planning)</a:t>
            </a:r>
            <a:endParaRPr lang="en-US" sz="22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200" dirty="0">
                <a:latin typeface="Times New Roman" panose="02020603050405020304" pitchFamily="18" charset="0"/>
                <a:ea typeface="Times New Roman" panose="02020603050405020304" pitchFamily="18" charset="0"/>
                <a:cs typeface="Times New Roman" panose="02020603050405020304" pitchFamily="18" charset="0"/>
              </a:rPr>
              <a:t>Use ILP to optimally assign project tasks and resources among the selected partners. Feed the output into a project schedule.</a:t>
            </a:r>
            <a:endParaRPr lang="en-US" sz="22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200" b="1" dirty="0">
                <a:latin typeface="Times New Roman" panose="02020603050405020304" pitchFamily="18" charset="0"/>
                <a:ea typeface="Times New Roman" panose="02020603050405020304" pitchFamily="18" charset="0"/>
                <a:cs typeface="Times New Roman" panose="02020603050405020304" pitchFamily="18" charset="0"/>
              </a:rPr>
              <a:t>Phase 3 (Risk Assessment)</a:t>
            </a:r>
            <a:endParaRPr lang="en-US" sz="22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200" dirty="0">
                <a:latin typeface="Times New Roman" panose="02020603050405020304" pitchFamily="18" charset="0"/>
                <a:ea typeface="Times New Roman" panose="02020603050405020304" pitchFamily="18" charset="0"/>
                <a:cs typeface="Times New Roman" panose="02020603050405020304" pitchFamily="18" charset="0"/>
              </a:rPr>
              <a:t>Use Monte Carlo Simulation on the schedule to understand risks and establish robust deadlines/budgets.</a:t>
            </a:r>
            <a:endParaRPr lang="en-US" sz="22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200" b="1" dirty="0">
                <a:latin typeface="Times New Roman" panose="02020603050405020304" pitchFamily="18" charset="0"/>
                <a:ea typeface="Times New Roman" panose="02020603050405020304" pitchFamily="18" charset="0"/>
                <a:cs typeface="Times New Roman" panose="02020603050405020304" pitchFamily="18" charset="0"/>
              </a:rPr>
              <a:t>Phase 4 (Contracting)</a:t>
            </a:r>
            <a:endParaRPr lang="en-US" sz="22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200" dirty="0">
                <a:latin typeface="Times New Roman" panose="02020603050405020304" pitchFamily="18" charset="0"/>
                <a:ea typeface="Times New Roman" panose="02020603050405020304" pitchFamily="18" charset="0"/>
                <a:cs typeface="Times New Roman" panose="02020603050405020304" pitchFamily="18" charset="0"/>
              </a:rPr>
              <a:t>Use Game Theory (Nash Bargaining) to negotiate a fair contract governing cost, risk, and revenue sharing based on simulated scenarios and contributions.</a:t>
            </a: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187837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54182" y="297949"/>
            <a:ext cx="10848109" cy="2763577"/>
          </a:xfrm>
          <a:prstGeom prst="rect">
            <a:avLst/>
          </a:prstGeom>
        </p:spPr>
        <p:txBody>
          <a:bodyPr wrap="square">
            <a:spAutoFit/>
          </a:bodyPr>
          <a:lstStyle/>
          <a:p>
            <a:pPr>
              <a:lnSpc>
                <a:spcPct val="107000"/>
              </a:lnSpc>
              <a:spcAft>
                <a:spcPts val="800"/>
              </a:spcAft>
            </a:pPr>
            <a:r>
              <a:rPr lang="en-US" sz="3600" b="1" kern="1800" dirty="0" smtClean="0">
                <a:effectLst/>
                <a:latin typeface="Times New Roman" panose="02020603050405020304" pitchFamily="18" charset="0"/>
                <a:ea typeface="Times New Roman" panose="02020603050405020304" pitchFamily="18" charset="0"/>
                <a:cs typeface="Times New Roman" panose="02020603050405020304" pitchFamily="18" charset="0"/>
              </a:rPr>
              <a:t>Implementation Challenges in Nigeria</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Success hinges on developing digital literacy, establishing basic data collection systems among SMMEs, and fostering a culture of transparency. Initiatives from institutions like the Small and Medium Enterprises Development Agency of Nigeria (SMEDAN) and university-based innovation hubs are crucial to providing training and low-cost decision-support systems</a:t>
            </a:r>
            <a:r>
              <a:rPr lang="en-US" sz="2400" dirty="0" smtClean="0">
                <a:latin typeface="Times New Roman" panose="02020603050405020304" pitchFamily="18" charset="0"/>
                <a:ea typeface="Times New Roman" panose="02020603050405020304" pitchFamily="18" charset="0"/>
                <a:cs typeface="Times New Roman" panose="02020603050405020304" pitchFamily="18" charset="0"/>
              </a:rPr>
              <a: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780308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1674" y="166255"/>
            <a:ext cx="11970326" cy="5750164"/>
          </a:xfrm>
          <a:prstGeom prst="rect">
            <a:avLst/>
          </a:prstGeom>
        </p:spPr>
        <p:txBody>
          <a:bodyPr wrap="square">
            <a:spAutoFit/>
          </a:bodyPr>
          <a:lstStyle/>
          <a:p>
            <a:pPr>
              <a:lnSpc>
                <a:spcPct val="107000"/>
              </a:lnSpc>
              <a:spcAft>
                <a:spcPts val="800"/>
              </a:spcAft>
            </a:pPr>
            <a:r>
              <a:rPr lang="en-US" sz="3600" b="1" kern="1800" dirty="0" smtClean="0">
                <a:effectLst/>
                <a:latin typeface="Times New Roman" panose="02020603050405020304" pitchFamily="18" charset="0"/>
                <a:ea typeface="Times New Roman" panose="02020603050405020304" pitchFamily="18" charset="0"/>
                <a:cs typeface="Times New Roman" panose="02020603050405020304" pitchFamily="18" charset="0"/>
              </a:rPr>
              <a:t>The Impact of NACETEM on the Proposed Framework</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400" dirty="0" smtClean="0">
                <a:latin typeface="Times New Roman" panose="02020603050405020304" pitchFamily="18" charset="0"/>
                <a:ea typeface="Times New Roman" panose="02020603050405020304" pitchFamily="18" charset="0"/>
                <a:cs typeface="Times New Roman" panose="02020603050405020304" pitchFamily="18" charset="0"/>
              </a:rPr>
              <a:t>NACETEM's </a:t>
            </a:r>
            <a:r>
              <a:rPr lang="en-US" sz="2400" dirty="0">
                <a:latin typeface="Times New Roman" panose="02020603050405020304" pitchFamily="18" charset="0"/>
                <a:ea typeface="Times New Roman" panose="02020603050405020304" pitchFamily="18" charset="0"/>
                <a:cs typeface="Times New Roman" panose="02020603050405020304" pitchFamily="18" charset="0"/>
              </a:rPr>
              <a:t>core mandates of technology policy, management, training, and innovation systems research make it a critical enabler. Its impact would be felt across several domains:</a:t>
            </a:r>
            <a:endParaRPr lang="en-US" sz="24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400" b="1" dirty="0" smtClean="0">
                <a:latin typeface="Times New Roman" panose="02020603050405020304" pitchFamily="18" charset="0"/>
                <a:ea typeface="Times New Roman" panose="02020603050405020304" pitchFamily="18" charset="0"/>
                <a:cs typeface="Times New Roman" panose="02020603050405020304" pitchFamily="18" charset="0"/>
              </a:rPr>
              <a:t>Policy </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Advocacy &amp; Enabling Environment</a:t>
            </a:r>
            <a:endParaRPr lang="en-US" sz="24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 NACETEM can use its research output to advocate for policies that incentivize formal collaboration among SMMEs, including proposing tax breaks for networked enterprises.</a:t>
            </a:r>
            <a:endParaRPr lang="en-US" sz="24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Capacity Building &amp; Training</a:t>
            </a:r>
            <a:endParaRPr lang="en-US" sz="24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 NACETEM can design and execute nationwide training programs to educate SMME owners/managers on the benefits and mechanics of CMNs.</a:t>
            </a:r>
            <a:endParaRPr lang="en-US" sz="24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Research, Development &amp; Localization of Tools</a:t>
            </a:r>
            <a:endParaRPr lang="en-US" sz="24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 NACETEM can commission or conduct action research to adapt the proposed mathematical tools to the Nigerian context</a:t>
            </a:r>
            <a:r>
              <a:rPr lang="en-US" dirty="0" smtClean="0">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981177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0328" y="713457"/>
            <a:ext cx="11388436" cy="2751715"/>
          </a:xfrm>
          <a:prstGeom prst="rect">
            <a:avLst/>
          </a:prstGeom>
        </p:spPr>
        <p:txBody>
          <a:bodyPr wrap="square">
            <a:spAutoFit/>
          </a:bodyPr>
          <a:lstStyle/>
          <a:p>
            <a:pPr algn="just">
              <a:lnSpc>
                <a:spcPct val="107000"/>
              </a:lnSpc>
              <a:spcAft>
                <a:spcPts val="800"/>
              </a:spcAft>
            </a:pP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Facilitation of Network Formation &amp; Trust Building</a:t>
            </a: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 Acting as a neutral and credible third party, NACETEM can organize sector-specific matchmaking forums to introduce SMMEs to the concept of CMNs.</a:t>
            </a: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Monitoring, Evaluation &amp; Knowledge Dissemination</a:t>
            </a: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 NACETEM can track the performance of pilot CMNs that adopt these tools, creating a database of best practices and lessons learned.</a:t>
            </a:r>
            <a:endParaRPr lang="en-US" sz="24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472701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0944" y="309127"/>
            <a:ext cx="10958945" cy="5485733"/>
          </a:xfrm>
          <a:prstGeom prst="rect">
            <a:avLst/>
          </a:prstGeom>
        </p:spPr>
        <p:txBody>
          <a:bodyPr wrap="square">
            <a:spAutoFit/>
          </a:bodyPr>
          <a:lstStyle/>
          <a:p>
            <a:pPr algn="just">
              <a:lnSpc>
                <a:spcPct val="107000"/>
              </a:lnSpc>
              <a:spcAft>
                <a:spcPts val="800"/>
              </a:spcAft>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Research &amp; Tool Development (NACETEM-led)</a:t>
            </a:r>
            <a:endParaRPr lang="en-US" sz="20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NACETEM, in partnership with universities, refines the mathematical models for local applicability.</a:t>
            </a:r>
            <a:endParaRPr lang="en-US" sz="20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Policy Dialogue &amp; Pilot Design (NACETEM &amp; SMEDAN)</a:t>
            </a:r>
            <a:endParaRPr lang="en-US" sz="20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Advocate for supportive policies and select a strategic sector for a pilot CMN project.</a:t>
            </a:r>
            <a:endParaRPr lang="en-US" sz="20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Capacity Building (NACETEM Execution)</a:t>
            </a:r>
            <a:endParaRPr lang="en-US" sz="20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Train owners and managers of the selected SMMEs on the CMN concept and core decision-making tools.</a:t>
            </a:r>
            <a:endParaRPr lang="en-US" sz="20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Facilitated Network Launch (NACETEM as Facilitator)</a:t>
            </a:r>
            <a:endParaRPr lang="en-US" sz="20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Guide the pilot group through the structured formation process.</a:t>
            </a:r>
            <a:endParaRPr lang="en-US" sz="20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Support &amp; Simulation (Ongoing NACETEM Support)</a:t>
            </a:r>
            <a:endParaRPr lang="en-US" sz="20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Provide ongoing advisory support.</a:t>
            </a:r>
            <a:endParaRPr lang="en-US" sz="20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Documentation &amp; Scaling (NACETEM's Institutional Role)</a:t>
            </a:r>
            <a:endParaRPr lang="en-US" sz="20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Document the process, measure performance improvements, and use this evidence to scale the program nationally.</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946686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01781" y="125215"/>
            <a:ext cx="11028218" cy="5647572"/>
          </a:xfrm>
          <a:prstGeom prst="rect">
            <a:avLst/>
          </a:prstGeom>
        </p:spPr>
        <p:txBody>
          <a:bodyPr wrap="square">
            <a:spAutoFit/>
          </a:bodyPr>
          <a:lstStyle/>
          <a:p>
            <a:pPr>
              <a:lnSpc>
                <a:spcPct val="107000"/>
              </a:lnSpc>
              <a:spcAft>
                <a:spcPts val="800"/>
              </a:spcAft>
            </a:pPr>
            <a:r>
              <a:rPr lang="en-US" sz="3600" b="1" kern="1800" dirty="0" smtClean="0">
                <a:effectLst/>
                <a:latin typeface="Times New Roman" panose="02020603050405020304" pitchFamily="18" charset="0"/>
                <a:ea typeface="Times New Roman" panose="02020603050405020304" pitchFamily="18" charset="0"/>
                <a:cs typeface="Times New Roman" panose="02020603050405020304" pitchFamily="18" charset="0"/>
              </a:rPr>
              <a:t>Conclusion: NACETEM as the Critical Catalyst</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NACETEM is the essential catalyst that can translate theoretical mathematical models into practical tools for Nigeria's SMMEs. Its unique position at the </a:t>
            </a:r>
            <a:r>
              <a:rPr lang="en-US" sz="2400" dirty="0" smtClean="0">
                <a:latin typeface="Times New Roman" panose="02020603050405020304" pitchFamily="18" charset="0"/>
                <a:ea typeface="Times New Roman" panose="02020603050405020304" pitchFamily="18" charset="0"/>
                <a:cs typeface="Times New Roman" panose="02020603050405020304" pitchFamily="18" charset="0"/>
              </a:rPr>
              <a:t>node </a:t>
            </a:r>
            <a:r>
              <a:rPr lang="en-US" sz="2400" dirty="0">
                <a:latin typeface="Times New Roman" panose="02020603050405020304" pitchFamily="18" charset="0"/>
                <a:ea typeface="Times New Roman" panose="02020603050405020304" pitchFamily="18" charset="0"/>
                <a:cs typeface="Times New Roman" panose="02020603050405020304" pitchFamily="18" charset="0"/>
              </a:rPr>
              <a:t>of policy, research, training, and industry extension allows it to:</a:t>
            </a:r>
            <a:endParaRPr lang="en-US" sz="24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Build human capital by training SMMEs in quantitative decision-making.</a:t>
            </a:r>
            <a:endParaRPr lang="en-US" sz="24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Lower transaction costs of collaboration by providing trusted facilitation and standardized tools.</a:t>
            </a:r>
            <a:endParaRPr lang="en-US" sz="24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Generate localized knowledge to continuously improve the models.</a:t>
            </a:r>
            <a:endParaRPr lang="en-US" sz="24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Influence the ecosystem to make it more conducive for collaborative manufacturing.</a:t>
            </a:r>
            <a:endParaRPr lang="en-US" sz="24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Therefore, for the vision of optimized, resilient SMME Collaborative Manufacturing Networks in Nigeria to become a reality, the active involvement and leadership of NACETEM are not just beneficial—it is imperative</a:t>
            </a:r>
            <a:r>
              <a:rPr lang="en-US"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812138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420613" y="2209415"/>
            <a:ext cx="2603020" cy="718466"/>
          </a:xfrm>
          <a:prstGeom prst="rect">
            <a:avLst/>
          </a:prstGeom>
        </p:spPr>
        <p:txBody>
          <a:bodyPr wrap="none">
            <a:spAutoFit/>
          </a:bodyPr>
          <a:lstStyle/>
          <a:p>
            <a:pPr>
              <a:lnSpc>
                <a:spcPct val="107000"/>
              </a:lnSpc>
              <a:spcAft>
                <a:spcPts val="800"/>
              </a:spcAft>
            </a:pPr>
            <a:r>
              <a:rPr lang="en-US" sz="4000" b="1" kern="1800" dirty="0">
                <a:latin typeface="Times New Roman" panose="02020603050405020304" pitchFamily="18" charset="0"/>
                <a:ea typeface="Times New Roman" panose="02020603050405020304" pitchFamily="18" charset="0"/>
                <a:cs typeface="Times New Roman" panose="02020603050405020304" pitchFamily="18" charset="0"/>
              </a:rPr>
              <a:t>Thank You</a:t>
            </a:r>
            <a:endParaRPr lang="en-US" sz="4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5817589"/>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CDCE0"/>
      </a:lt2>
      <a:accent1>
        <a:srgbClr val="415588"/>
      </a:accent1>
      <a:accent2>
        <a:srgbClr val="4294B6"/>
      </a:accent2>
      <a:accent3>
        <a:srgbClr val="087D7C"/>
      </a:accent3>
      <a:accent4>
        <a:srgbClr val="2CB663"/>
      </a:accent4>
      <a:accent5>
        <a:srgbClr val="DF8822"/>
      </a:accent5>
      <a:accent6>
        <a:srgbClr val="BC410A"/>
      </a:accent6>
      <a:hlink>
        <a:srgbClr val="5977C4"/>
      </a:hlink>
      <a:folHlink>
        <a:srgbClr val="A1A9BF"/>
      </a:folHlink>
    </a:clrScheme>
    <a:fontScheme name="Gallery">
      <a:majorFont>
        <a:latin typeface="Century Gothic" panose="020B0502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lumMod val="108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E050AC27-895F-4B90-991D-A6818FC89AB6}"/>
    </a:ext>
  </a:extLst>
</a:theme>
</file>

<file path=docProps/app.xml><?xml version="1.0" encoding="utf-8"?>
<Properties xmlns="http://schemas.openxmlformats.org/officeDocument/2006/extended-properties" xmlns:vt="http://schemas.openxmlformats.org/officeDocument/2006/docPropsVTypes">
  <Template>TM10001114[[fn=Gallery]]</Template>
  <TotalTime>77</TotalTime>
  <Words>2426</Words>
  <Application>Microsoft Office PowerPoint</Application>
  <PresentationFormat>Widescreen</PresentationFormat>
  <Paragraphs>138</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SimSun</vt:lpstr>
      <vt:lpstr>Arial</vt:lpstr>
      <vt:lpstr>Calibri</vt:lpstr>
      <vt:lpstr>Century Gothic</vt:lpstr>
      <vt:lpstr>Times New Roman</vt:lpstr>
      <vt:lpstr>Gallery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trinitytayo29@gmail.com</dc:creator>
  <cp:lastModifiedBy>trinitytayo29@gmail.com</cp:lastModifiedBy>
  <cp:revision>14</cp:revision>
  <dcterms:created xsi:type="dcterms:W3CDTF">2025-12-14T09:16:22Z</dcterms:created>
  <dcterms:modified xsi:type="dcterms:W3CDTF">2025-12-16T22:30:21Z</dcterms:modified>
</cp:coreProperties>
</file>