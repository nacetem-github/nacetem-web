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96" r:id="rId1"/>
    <p:sldMasterId id="2147483697" r:id="rId2"/>
  </p:sldMasterIdLst>
  <p:notesMasterIdLst>
    <p:notesMasterId r:id="rId25"/>
  </p:notesMasterIdLst>
  <p:sldIdLst>
    <p:sldId id="302"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5" autoAdjust="0"/>
    <p:restoredTop sz="94660"/>
  </p:normalViewPr>
  <p:slideViewPr>
    <p:cSldViewPr snapToGrid="0">
      <p:cViewPr>
        <p:scale>
          <a:sx n="100" d="100"/>
          <a:sy n="100" d="100"/>
        </p:scale>
        <p:origin x="-280" y="-15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cap="none" spc="50" baseline="0">
                <a:solidFill>
                  <a:schemeClr val="tx1">
                    <a:lumMod val="65000"/>
                    <a:lumOff val="35000"/>
                  </a:schemeClr>
                </a:solidFill>
                <a:latin typeface="+mn-lt"/>
                <a:ea typeface="+mn-ea"/>
                <a:cs typeface="+mn-cs"/>
              </a:defRPr>
            </a:pPr>
            <a:r>
              <a:rPr lang="en-US" b="1">
                <a:latin typeface="Times New Roman" panose="02020603050405020304" pitchFamily="18" charset="0"/>
                <a:cs typeface="Times New Roman" panose="02020603050405020304" pitchFamily="18" charset="0"/>
              </a:rPr>
              <a:t>AI-Driven</a:t>
            </a:r>
            <a:r>
              <a:rPr lang="en-US" b="1" baseline="0">
                <a:latin typeface="Times New Roman" panose="02020603050405020304" pitchFamily="18" charset="0"/>
                <a:cs typeface="Times New Roman" panose="02020603050405020304" pitchFamily="18" charset="0"/>
              </a:rPr>
              <a:t> EHTs for Cancer Management</a:t>
            </a:r>
            <a:endParaRPr lang="en-US" b="1">
              <a:latin typeface="Times New Roman" panose="02020603050405020304" pitchFamily="18" charset="0"/>
              <a:cs typeface="Times New Roman" panose="02020603050405020304" pitchFamily="18" charset="0"/>
            </a:endParaRPr>
          </a:p>
        </c:rich>
      </c:tx>
      <c:layout>
        <c:manualLayout>
          <c:xMode val="edge"/>
          <c:yMode val="edge"/>
          <c:x val="0.15507375231232629"/>
          <c:y val="0"/>
        </c:manualLayout>
      </c:layout>
      <c:overlay val="0"/>
      <c:spPr>
        <a:noFill/>
        <a:ln>
          <a:noFill/>
        </a:ln>
        <a:effectLst/>
      </c:spPr>
      <c:txPr>
        <a:bodyPr rot="0" spcFirstLastPara="1" vertOverflow="ellipsis" vert="horz" wrap="square" anchor="ctr" anchorCtr="1"/>
        <a:lstStyle/>
        <a:p>
          <a:pPr>
            <a:defRPr sz="1600" b="0" i="0" u="none" strike="noStrike" kern="1200" cap="none" spc="50" baseline="0">
              <a:solidFill>
                <a:schemeClr val="tx1">
                  <a:lumMod val="65000"/>
                  <a:lumOff val="35000"/>
                </a:schemeClr>
              </a:solidFill>
              <a:latin typeface="+mn-lt"/>
              <a:ea typeface="+mn-ea"/>
              <a:cs typeface="+mn-cs"/>
            </a:defRPr>
          </a:pPr>
          <a:endParaRPr lang="en-NG"/>
        </a:p>
      </c:txPr>
    </c:title>
    <c:autoTitleDeleted val="0"/>
    <c:view3D>
      <c:rotX val="20"/>
      <c:rotY val="20"/>
      <c:depthPercent val="100"/>
      <c:rAngAx val="1"/>
    </c:view3D>
    <c:floor>
      <c:thickness val="0"/>
      <c:spPr>
        <a:solidFill>
          <a:schemeClr val="lt1">
            <a:alpha val="27000"/>
          </a:schemeClr>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3966245949350334"/>
          <c:y val="5.862415624492015E-2"/>
          <c:w val="0.85478820419855273"/>
          <c:h val="0.71536656877819738"/>
        </c:manualLayout>
      </c:layout>
      <c:bar3DChart>
        <c:barDir val="col"/>
        <c:grouping val="clustered"/>
        <c:varyColors val="0"/>
        <c:ser>
          <c:idx val="0"/>
          <c:order val="0"/>
          <c:tx>
            <c:strRef>
              <c:f>Sheet1!$B$1</c:f>
              <c:strCache>
                <c:ptCount val="1"/>
                <c:pt idx="0">
                  <c:v>Percentage (%)</c:v>
                </c:pt>
              </c:strCache>
            </c:strRef>
          </c:tx>
          <c:spPr>
            <a:solidFill>
              <a:schemeClr val="accent1"/>
            </a:solidFill>
            <a:ln>
              <a:solidFill>
                <a:schemeClr val="accent1">
                  <a:lumMod val="75000"/>
                </a:schemeClr>
              </a:solidFill>
            </a:ln>
            <a:effectLst/>
            <a:scene3d>
              <a:camera prst="orthographicFront"/>
              <a:lightRig rig="threePt" dir="t"/>
            </a:scene3d>
            <a:sp3d prstMaterial="translucentPowder">
              <a:contourClr>
                <a:schemeClr val="accent1">
                  <a:lumMod val="75000"/>
                </a:schemeClr>
              </a:contourClr>
            </a:sp3d>
          </c:spPr>
          <c:invertIfNegative val="0"/>
          <c:cat>
            <c:strRef>
              <c:f>Sheet1!$A$2:$A$17</c:f>
              <c:strCache>
                <c:ptCount val="16"/>
                <c:pt idx="0">
                  <c:v>IMAGING </c:v>
                </c:pt>
                <c:pt idx="1">
                  <c:v>RADIOTHERAPY </c:v>
                </c:pt>
                <c:pt idx="2">
                  <c:v>SURGICAL </c:v>
                </c:pt>
                <c:pt idx="3">
                  <c:v>EMRS</c:v>
                </c:pt>
                <c:pt idx="4">
                  <c:v>CHEM_PUMPS</c:v>
                </c:pt>
                <c:pt idx="5">
                  <c:v>BIOPSY </c:v>
                </c:pt>
                <c:pt idx="6">
                  <c:v>TELE_CONF</c:v>
                </c:pt>
                <c:pt idx="7">
                  <c:v>PROSTHETIC </c:v>
                </c:pt>
                <c:pt idx="8">
                  <c:v>MHEALTH</c:v>
                </c:pt>
                <c:pt idx="9">
                  <c:v>CDSS </c:v>
                </c:pt>
                <c:pt idx="10">
                  <c:v>TELEMED </c:v>
                </c:pt>
                <c:pt idx="11">
                  <c:v>CONSUMER </c:v>
                </c:pt>
                <c:pt idx="12">
                  <c:v>BIOINFO</c:v>
                </c:pt>
                <c:pt idx="13">
                  <c:v>AI_IMG</c:v>
                </c:pt>
                <c:pt idx="14">
                  <c:v>AI </c:v>
                </c:pt>
                <c:pt idx="15">
                  <c:v>ROBOTIC </c:v>
                </c:pt>
              </c:strCache>
            </c:strRef>
          </c:cat>
          <c:val>
            <c:numRef>
              <c:f>Sheet1!$B$2:$B$17</c:f>
              <c:numCache>
                <c:formatCode>General</c:formatCode>
                <c:ptCount val="16"/>
                <c:pt idx="0">
                  <c:v>76.3</c:v>
                </c:pt>
                <c:pt idx="1">
                  <c:v>73.8</c:v>
                </c:pt>
                <c:pt idx="2">
                  <c:v>73.3</c:v>
                </c:pt>
                <c:pt idx="3">
                  <c:v>66.7</c:v>
                </c:pt>
                <c:pt idx="4">
                  <c:v>65.8</c:v>
                </c:pt>
                <c:pt idx="5">
                  <c:v>61.7</c:v>
                </c:pt>
                <c:pt idx="6">
                  <c:v>50</c:v>
                </c:pt>
                <c:pt idx="7">
                  <c:v>43.8</c:v>
                </c:pt>
                <c:pt idx="8">
                  <c:v>41.3</c:v>
                </c:pt>
                <c:pt idx="9">
                  <c:v>35.799999999999997</c:v>
                </c:pt>
                <c:pt idx="10">
                  <c:v>31.3</c:v>
                </c:pt>
                <c:pt idx="11">
                  <c:v>23.8</c:v>
                </c:pt>
                <c:pt idx="12">
                  <c:v>23.3</c:v>
                </c:pt>
                <c:pt idx="13">
                  <c:v>20.3</c:v>
                </c:pt>
                <c:pt idx="14">
                  <c:v>12.9</c:v>
                </c:pt>
                <c:pt idx="15">
                  <c:v>11.3</c:v>
                </c:pt>
              </c:numCache>
            </c:numRef>
          </c:val>
          <c:extLst>
            <c:ext xmlns:c16="http://schemas.microsoft.com/office/drawing/2014/chart" uri="{C3380CC4-5D6E-409C-BE32-E72D297353CC}">
              <c16:uniqueId val="{00000000-2EF8-46E7-8447-615C06B94186}"/>
            </c:ext>
          </c:extLst>
        </c:ser>
        <c:dLbls>
          <c:showLegendKey val="0"/>
          <c:showVal val="0"/>
          <c:showCatName val="0"/>
          <c:showSerName val="0"/>
          <c:showPercent val="0"/>
          <c:showBubbleSize val="0"/>
        </c:dLbls>
        <c:gapWidth val="150"/>
        <c:shape val="box"/>
        <c:axId val="-1618293296"/>
        <c:axId val="-1618287856"/>
        <c:axId val="0"/>
      </c:bar3DChart>
      <c:catAx>
        <c:axId val="-16182932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50000"/>
                    <a:lumOff val="50000"/>
                  </a:schemeClr>
                </a:solidFill>
                <a:latin typeface="Times New Roman" panose="02020603050405020304" pitchFamily="18" charset="0"/>
                <a:ea typeface="+mn-ea"/>
                <a:cs typeface="Times New Roman" panose="02020603050405020304" pitchFamily="18" charset="0"/>
              </a:defRPr>
            </a:pPr>
            <a:endParaRPr lang="en-NG"/>
          </a:p>
        </c:txPr>
        <c:crossAx val="-1618287856"/>
        <c:crosses val="autoZero"/>
        <c:auto val="0"/>
        <c:lblAlgn val="ctr"/>
        <c:lblOffset val="100"/>
        <c:tickLblSkip val="1"/>
        <c:noMultiLvlLbl val="0"/>
      </c:catAx>
      <c:valAx>
        <c:axId val="-1618287856"/>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NG"/>
          </a:p>
        </c:txPr>
        <c:crossAx val="-1618293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G"/>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2">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lumMod val="75000"/>
          </a:schemeClr>
        </a:solidFill>
      </a:ln>
    </cs:spPr>
  </cs:dataPoint>
  <cs:dataPoint3D>
    <cs:lnRef idx="0">
      <cs:styleClr val="auto"/>
    </cs:lnRef>
    <cs:fillRef idx="0">
      <cs:styleClr val="auto"/>
    </cs:fillRef>
    <cs:effectRef idx="0"/>
    <cs:fontRef idx="minor">
      <a:schemeClr val="tx1"/>
    </cs:fontRef>
    <cs:spPr>
      <a:solidFill>
        <a:schemeClr val="phClr"/>
      </a:solidFill>
      <a:ln>
        <a:solidFill>
          <a:schemeClr val="phClr">
            <a:lumMod val="75000"/>
          </a:schemeClr>
        </a:solidFill>
      </a:ln>
      <a:scene3d>
        <a:camera prst="orthographicFront"/>
        <a:lightRig rig="threePt" dir="t"/>
      </a:scene3d>
      <a:sp3d prstMaterial="translucentPowder"/>
    </cs:spPr>
  </cs:dataPoint3D>
  <cs:dataPointLine>
    <cs:lnRef idx="0">
      <cs:styleClr val="auto"/>
    </cs:lnRef>
    <cs:fillRef idx="0"/>
    <cs:effectRef idx="0"/>
    <cs:fontRef idx="minor">
      <a:schemeClr val="tx1"/>
    </cs:fontRef>
    <cs:spPr>
      <a:ln w="28575" cap="rnd">
        <a:solidFill>
          <a:schemeClr val="phClr">
            <a:alpha val="70000"/>
          </a:schemeClr>
        </a:solidFill>
        <a:round/>
      </a:ln>
    </cs:spPr>
  </cs:dataPointLine>
  <cs:dataPointMarker>
    <cs:lnRef idx="0">
      <cs:styleClr val="auto"/>
    </cs:lnRef>
    <cs:fillRef idx="0">
      <cs:styleClr val="auto"/>
    </cs:fillRef>
    <cs:effectRef idx="0"/>
    <cs:fontRef idx="minor">
      <a:schemeClr val="dk1"/>
    </cs:fontRef>
    <cs:spPr>
      <a:solidFill>
        <a:schemeClr val="phClr">
          <a:alpha val="70000"/>
        </a:schemeClr>
      </a:solidFill>
      <a:ln>
        <a:solidFill>
          <a:schemeClr val="phClr">
            <a:lumMod val="7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tx1"/>
    </cs:fontRef>
    <cs:spPr>
      <a:solidFill>
        <a:schemeClr val="lt1">
          <a:alpha val="27000"/>
        </a:schemeClr>
      </a:solidFill>
      <a:sp3d/>
    </cs:spPr>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0" kern="1200" cap="none" spc="5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tx1"/>
    </cs:fontRef>
    <cs:spPr>
      <a:sp3d/>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61"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62"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6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64"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5"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66"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583" name="Date Placeholder 3"/>
          <p:cNvSpPr>
            <a:spLocks noGrp="1"/>
          </p:cNvSpPr>
          <p:nvPr>
            <p:ph type="dt" sz="half" idx="10"/>
          </p:nvPr>
        </p:nvSpPr>
        <p:spPr/>
        <p:txBody>
          <a:bodyPr/>
          <a:lstStyle/>
          <a:p>
            <a:fld id="{7106259A-7FFE-46C5-B222-35A4AE78C0F3}" type="datetimeFigureOut">
              <a:rPr lang="en-US" smtClean="0"/>
              <a:t>5/11/2026</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lstStyle/>
          <a:p>
            <a:fld id="{7106259A-7FFE-46C5-B222-35A4AE78C0F3}" type="datetimeFigureOut">
              <a:rPr lang="en-US" smtClean="0"/>
              <a:t>5/11/2026</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3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73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738" name="Date Placeholder 3"/>
          <p:cNvSpPr>
            <a:spLocks noGrp="1"/>
          </p:cNvSpPr>
          <p:nvPr>
            <p:ph type="dt" sz="half" idx="10"/>
          </p:nvPr>
        </p:nvSpPr>
        <p:spPr/>
        <p:txBody>
          <a:bodyPr/>
          <a:lstStyle/>
          <a:p>
            <a:fld id="{7106259A-7FFE-46C5-B222-35A4AE78C0F3}" type="datetimeFigureOut">
              <a:rPr lang="en-US" smtClean="0"/>
              <a:t>5/11/2026</a:t>
            </a:fld>
            <a:endParaRPr lang="en-US"/>
          </a:p>
        </p:txBody>
      </p:sp>
      <p:sp>
        <p:nvSpPr>
          <p:cNvPr id="1048739" name="Footer Placeholder 4"/>
          <p:cNvSpPr>
            <a:spLocks noGrp="1"/>
          </p:cNvSpPr>
          <p:nvPr>
            <p:ph type="ftr" sz="quarter" idx="11"/>
          </p:nvPr>
        </p:nvSpPr>
        <p:spPr/>
        <p:txBody>
          <a:bodyPr/>
          <a:lstStyle/>
          <a:p>
            <a:endParaRPr lang="en-US"/>
          </a:p>
        </p:txBody>
      </p:sp>
      <p:sp>
        <p:nvSpPr>
          <p:cNvPr id="1048740" name="Slide Number Placeholder 5"/>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41" name="Title 1"/>
          <p:cNvSpPr>
            <a:spLocks noGrp="1"/>
          </p:cNvSpPr>
          <p:nvPr>
            <p:ph type="title"/>
          </p:nvPr>
        </p:nvSpPr>
        <p:spPr/>
        <p:txBody>
          <a:bodyPr/>
          <a:lstStyle/>
          <a:p>
            <a:r>
              <a:rPr lang="en-US"/>
              <a:t>Click to edit Master title style</a:t>
            </a:r>
          </a:p>
        </p:txBody>
      </p:sp>
      <p:sp>
        <p:nvSpPr>
          <p:cNvPr id="104874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4" name="Date Placeholder 4"/>
          <p:cNvSpPr>
            <a:spLocks noGrp="1"/>
          </p:cNvSpPr>
          <p:nvPr>
            <p:ph type="dt" sz="half" idx="10"/>
          </p:nvPr>
        </p:nvSpPr>
        <p:spPr/>
        <p:txBody>
          <a:bodyPr/>
          <a:lstStyle/>
          <a:p>
            <a:fld id="{7106259A-7FFE-46C5-B222-35A4AE78C0F3}" type="datetimeFigureOut">
              <a:rPr lang="en-US" smtClean="0"/>
              <a:t>5/11/2026</a:t>
            </a:fld>
            <a:endParaRPr lang="en-US"/>
          </a:p>
        </p:txBody>
      </p:sp>
      <p:sp>
        <p:nvSpPr>
          <p:cNvPr id="1048745" name="Footer Placeholder 5"/>
          <p:cNvSpPr>
            <a:spLocks noGrp="1"/>
          </p:cNvSpPr>
          <p:nvPr>
            <p:ph type="ftr" sz="quarter" idx="11"/>
          </p:nvPr>
        </p:nvSpPr>
        <p:spPr/>
        <p:txBody>
          <a:bodyPr/>
          <a:lstStyle/>
          <a:p>
            <a:endParaRPr lang="en-US"/>
          </a:p>
        </p:txBody>
      </p:sp>
      <p:sp>
        <p:nvSpPr>
          <p:cNvPr id="1048746" name="Slide Number Placeholder 6"/>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47" name="Title 1"/>
          <p:cNvSpPr>
            <a:spLocks noGrp="1"/>
          </p:cNvSpPr>
          <p:nvPr>
            <p:ph type="title"/>
          </p:nvPr>
        </p:nvSpPr>
        <p:spPr>
          <a:xfrm>
            <a:off x="839788" y="365125"/>
            <a:ext cx="10515600" cy="1325563"/>
          </a:xfrm>
        </p:spPr>
        <p:txBody>
          <a:bodyPr/>
          <a:lstStyle/>
          <a:p>
            <a:r>
              <a:rPr lang="en-US"/>
              <a:t>Click to edit Master title style</a:t>
            </a:r>
          </a:p>
        </p:txBody>
      </p:sp>
      <p:sp>
        <p:nvSpPr>
          <p:cNvPr id="104874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5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2" name="Date Placeholder 6"/>
          <p:cNvSpPr>
            <a:spLocks noGrp="1"/>
          </p:cNvSpPr>
          <p:nvPr>
            <p:ph type="dt" sz="half" idx="10"/>
          </p:nvPr>
        </p:nvSpPr>
        <p:spPr/>
        <p:txBody>
          <a:bodyPr/>
          <a:lstStyle/>
          <a:p>
            <a:fld id="{7106259A-7FFE-46C5-B222-35A4AE78C0F3}" type="datetimeFigureOut">
              <a:rPr lang="en-US" smtClean="0"/>
              <a:t>5/11/2026</a:t>
            </a:fld>
            <a:endParaRPr lang="en-US"/>
          </a:p>
        </p:txBody>
      </p:sp>
      <p:sp>
        <p:nvSpPr>
          <p:cNvPr id="1048753" name="Footer Placeholder 7"/>
          <p:cNvSpPr>
            <a:spLocks noGrp="1"/>
          </p:cNvSpPr>
          <p:nvPr>
            <p:ph type="ftr" sz="quarter" idx="11"/>
          </p:nvPr>
        </p:nvSpPr>
        <p:spPr/>
        <p:txBody>
          <a:bodyPr/>
          <a:lstStyle/>
          <a:p>
            <a:endParaRPr lang="en-US"/>
          </a:p>
        </p:txBody>
      </p:sp>
      <p:sp>
        <p:nvSpPr>
          <p:cNvPr id="1048754" name="Slide Number Placeholder 8"/>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6" name="Title 1"/>
          <p:cNvSpPr>
            <a:spLocks noGrp="1"/>
          </p:cNvSpPr>
          <p:nvPr>
            <p:ph type="title"/>
          </p:nvPr>
        </p:nvSpPr>
        <p:spPr/>
        <p:txBody>
          <a:bodyPr/>
          <a:lstStyle/>
          <a:p>
            <a:r>
              <a:rPr lang="en-US"/>
              <a:t>Click to edit Master title style</a:t>
            </a:r>
          </a:p>
        </p:txBody>
      </p:sp>
      <p:sp>
        <p:nvSpPr>
          <p:cNvPr id="1048717" name="Date Placeholder 2"/>
          <p:cNvSpPr>
            <a:spLocks noGrp="1"/>
          </p:cNvSpPr>
          <p:nvPr>
            <p:ph type="dt" sz="half" idx="10"/>
          </p:nvPr>
        </p:nvSpPr>
        <p:spPr/>
        <p:txBody>
          <a:bodyPr/>
          <a:lstStyle/>
          <a:p>
            <a:fld id="{7106259A-7FFE-46C5-B222-35A4AE78C0F3}" type="datetimeFigureOut">
              <a:rPr lang="en-US" smtClean="0"/>
              <a:t>5/11/2026</a:t>
            </a:fld>
            <a:endParaRPr lang="en-US"/>
          </a:p>
        </p:txBody>
      </p:sp>
      <p:sp>
        <p:nvSpPr>
          <p:cNvPr id="1048718" name="Footer Placeholder 3"/>
          <p:cNvSpPr>
            <a:spLocks noGrp="1"/>
          </p:cNvSpPr>
          <p:nvPr>
            <p:ph type="ftr" sz="quarter" idx="11"/>
          </p:nvPr>
        </p:nvSpPr>
        <p:spPr/>
        <p:txBody>
          <a:bodyPr/>
          <a:lstStyle/>
          <a:p>
            <a:endParaRPr lang="en-US"/>
          </a:p>
        </p:txBody>
      </p:sp>
      <p:sp>
        <p:nvSpPr>
          <p:cNvPr id="1048719" name="Slide Number Placeholder 4"/>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5" name="Date Placeholder 1"/>
          <p:cNvSpPr>
            <a:spLocks noGrp="1"/>
          </p:cNvSpPr>
          <p:nvPr>
            <p:ph type="dt" sz="half" idx="10"/>
          </p:nvPr>
        </p:nvSpPr>
        <p:spPr/>
        <p:txBody>
          <a:bodyPr/>
          <a:lstStyle/>
          <a:p>
            <a:fld id="{7106259A-7FFE-46C5-B222-35A4AE78C0F3}" type="datetimeFigureOut">
              <a:rPr lang="en-US" smtClean="0"/>
              <a:t>5/11/2026</a:t>
            </a:fld>
            <a:endParaRPr lang="en-US"/>
          </a:p>
        </p:txBody>
      </p:sp>
      <p:sp>
        <p:nvSpPr>
          <p:cNvPr id="1048656" name="Footer Placeholder 2"/>
          <p:cNvSpPr>
            <a:spLocks noGrp="1"/>
          </p:cNvSpPr>
          <p:nvPr>
            <p:ph type="ftr" sz="quarter" idx="11"/>
          </p:nvPr>
        </p:nvSpPr>
        <p:spPr/>
        <p:txBody>
          <a:bodyPr/>
          <a:lstStyle/>
          <a:p>
            <a:endParaRPr lang="en-US"/>
          </a:p>
        </p:txBody>
      </p:sp>
      <p:sp>
        <p:nvSpPr>
          <p:cNvPr id="1048657" name="Slide Number Placeholder 3"/>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5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56"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58" name="Date Placeholder 4"/>
          <p:cNvSpPr>
            <a:spLocks noGrp="1"/>
          </p:cNvSpPr>
          <p:nvPr>
            <p:ph type="dt" sz="half" idx="10"/>
          </p:nvPr>
        </p:nvSpPr>
        <p:spPr/>
        <p:txBody>
          <a:bodyPr/>
          <a:lstStyle/>
          <a:p>
            <a:fld id="{7106259A-7FFE-46C5-B222-35A4AE78C0F3}" type="datetimeFigureOut">
              <a:rPr lang="en-US" smtClean="0"/>
              <a:t>5/11/2026</a:t>
            </a:fld>
            <a:endParaRPr lang="en-US"/>
          </a:p>
        </p:txBody>
      </p:sp>
      <p:sp>
        <p:nvSpPr>
          <p:cNvPr id="1048759" name="Footer Placeholder 5"/>
          <p:cNvSpPr>
            <a:spLocks noGrp="1"/>
          </p:cNvSpPr>
          <p:nvPr>
            <p:ph type="ftr" sz="quarter" idx="11"/>
          </p:nvPr>
        </p:nvSpPr>
        <p:spPr/>
        <p:txBody>
          <a:bodyPr/>
          <a:lstStyle/>
          <a:p>
            <a:endParaRPr lang="en-US"/>
          </a:p>
        </p:txBody>
      </p:sp>
      <p:sp>
        <p:nvSpPr>
          <p:cNvPr id="1048760" name="Slide Number Placeholder 6"/>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2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2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2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28" name="Date Placeholder 4"/>
          <p:cNvSpPr>
            <a:spLocks noGrp="1"/>
          </p:cNvSpPr>
          <p:nvPr>
            <p:ph type="dt" sz="half" idx="10"/>
          </p:nvPr>
        </p:nvSpPr>
        <p:spPr/>
        <p:txBody>
          <a:bodyPr/>
          <a:lstStyle/>
          <a:p>
            <a:fld id="{7106259A-7FFE-46C5-B222-35A4AE78C0F3}" type="datetimeFigureOut">
              <a:rPr lang="en-US" smtClean="0"/>
              <a:t>5/11/2026</a:t>
            </a:fld>
            <a:endParaRPr lang="en-US"/>
          </a:p>
        </p:txBody>
      </p:sp>
      <p:sp>
        <p:nvSpPr>
          <p:cNvPr id="1048729" name="Footer Placeholder 5"/>
          <p:cNvSpPr>
            <a:spLocks noGrp="1"/>
          </p:cNvSpPr>
          <p:nvPr>
            <p:ph type="ftr" sz="quarter" idx="11"/>
          </p:nvPr>
        </p:nvSpPr>
        <p:spPr/>
        <p:txBody>
          <a:bodyPr/>
          <a:lstStyle/>
          <a:p>
            <a:endParaRPr lang="en-US"/>
          </a:p>
        </p:txBody>
      </p:sp>
      <p:sp>
        <p:nvSpPr>
          <p:cNvPr id="1048730" name="Slide Number Placeholder 6"/>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31" name="Title 1"/>
          <p:cNvSpPr>
            <a:spLocks noGrp="1"/>
          </p:cNvSpPr>
          <p:nvPr>
            <p:ph type="title"/>
          </p:nvPr>
        </p:nvSpPr>
        <p:spPr/>
        <p:txBody>
          <a:bodyPr/>
          <a:lstStyle/>
          <a:p>
            <a:r>
              <a:rPr lang="en-US"/>
              <a:t>Click to edit Master title style</a:t>
            </a:r>
          </a:p>
        </p:txBody>
      </p:sp>
      <p:sp>
        <p:nvSpPr>
          <p:cNvPr id="104873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3" name="Date Placeholder 3"/>
          <p:cNvSpPr>
            <a:spLocks noGrp="1"/>
          </p:cNvSpPr>
          <p:nvPr>
            <p:ph type="dt" sz="half" idx="10"/>
          </p:nvPr>
        </p:nvSpPr>
        <p:spPr/>
        <p:txBody>
          <a:bodyPr/>
          <a:lstStyle/>
          <a:p>
            <a:fld id="{7106259A-7FFE-46C5-B222-35A4AE78C0F3}" type="datetimeFigureOut">
              <a:rPr lang="en-US" smtClean="0"/>
              <a:t>5/11/2026</a:t>
            </a:fld>
            <a:endParaRPr lang="en-US"/>
          </a:p>
        </p:txBody>
      </p:sp>
      <p:sp>
        <p:nvSpPr>
          <p:cNvPr id="1048734" name="Footer Placeholder 4"/>
          <p:cNvSpPr>
            <a:spLocks noGrp="1"/>
          </p:cNvSpPr>
          <p:nvPr>
            <p:ph type="ftr" sz="quarter" idx="11"/>
          </p:nvPr>
        </p:nvSpPr>
        <p:spPr/>
        <p:txBody>
          <a:bodyPr/>
          <a:lstStyle/>
          <a:p>
            <a:endParaRPr lang="en-US"/>
          </a:p>
        </p:txBody>
      </p:sp>
      <p:sp>
        <p:nvSpPr>
          <p:cNvPr id="1048735" name="Slide Number Placeholder 5"/>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20"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1048721"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3"/>
          <p:cNvSpPr>
            <a:spLocks noGrp="1"/>
          </p:cNvSpPr>
          <p:nvPr>
            <p:ph type="dt" sz="half" idx="10"/>
          </p:nvPr>
        </p:nvSpPr>
        <p:spPr/>
        <p:txBody>
          <a:bodyPr/>
          <a:lstStyle/>
          <a:p>
            <a:fld id="{7106259A-7FFE-46C5-B222-35A4AE78C0F3}" type="datetimeFigureOut">
              <a:rPr lang="en-US" smtClean="0"/>
              <a:t>5/11/2026</a:t>
            </a:fld>
            <a:endParaRPr lang="en-US"/>
          </a:p>
        </p:txBody>
      </p:sp>
      <p:sp>
        <p:nvSpPr>
          <p:cNvPr id="1048723" name="Footer Placeholder 4"/>
          <p:cNvSpPr>
            <a:spLocks noGrp="1"/>
          </p:cNvSpPr>
          <p:nvPr>
            <p:ph type="ftr" sz="quarter" idx="11"/>
          </p:nvPr>
        </p:nvSpPr>
        <p:spPr/>
        <p:txBody>
          <a:bodyPr/>
          <a:lstStyle/>
          <a:p>
            <a:endParaRPr lang="en-US"/>
          </a:p>
        </p:txBody>
      </p:sp>
      <p:sp>
        <p:nvSpPr>
          <p:cNvPr id="1048724" name="Slide Number Placeholder 5"/>
          <p:cNvSpPr>
            <a:spLocks noGrp="1"/>
          </p:cNvSpPr>
          <p:nvPr>
            <p:ph type="sldNum" sz="quarter" idx="12"/>
          </p:nvPr>
        </p:nvSpPr>
        <p:spPr/>
        <p:txBody>
          <a:bodyPr/>
          <a:lstStyle/>
          <a:p>
            <a:fld id="{2E24500C-BD92-4A15-B6CF-29DE4C87D1C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66" name="Title 1"/>
          <p:cNvSpPr>
            <a:spLocks noGrp="1"/>
          </p:cNvSpPr>
          <p:nvPr>
            <p:ph type="ctrTitle"/>
          </p:nvPr>
        </p:nvSpPr>
        <p:spPr>
          <a:xfrm>
            <a:off x="914400" y="2130426"/>
            <a:ext cx="10363200" cy="1470025"/>
          </a:xfrm>
        </p:spPr>
        <p:txBody>
          <a:bodyPr/>
          <a:lstStyle/>
          <a:p>
            <a:r>
              <a:rPr lang="en-US"/>
              <a:t>Click to edit Master title style</a:t>
            </a:r>
          </a:p>
        </p:txBody>
      </p:sp>
      <p:sp>
        <p:nvSpPr>
          <p:cNvPr id="1048667" name="Subtitle 2"/>
          <p:cNvSpPr>
            <a:spLocks noGrp="1"/>
          </p:cNvSpPr>
          <p:nvPr>
            <p:ph type="subTitle" idx="1"/>
          </p:nvPr>
        </p:nvSpPr>
        <p:spPr>
          <a:xfrm>
            <a:off x="1828800" y="3886200"/>
            <a:ext cx="85344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668" name="Rectangle 4"/>
          <p:cNvSpPr>
            <a:spLocks noGrp="1" noChangeArrowheads="1"/>
          </p:cNvSpPr>
          <p:nvPr>
            <p:ph type="dt" sz="half" idx="10"/>
          </p:nvPr>
        </p:nvSpPr>
        <p:spPr/>
        <p:txBody>
          <a:bodyPr/>
          <a:lstStyle/>
          <a:p>
            <a:endParaRPr lang="en-US"/>
          </a:p>
        </p:txBody>
      </p:sp>
      <p:sp>
        <p:nvSpPr>
          <p:cNvPr id="1048669" name="Rectangle 5"/>
          <p:cNvSpPr>
            <a:spLocks noGrp="1" noChangeArrowheads="1"/>
          </p:cNvSpPr>
          <p:nvPr>
            <p:ph type="ftr" sz="quarter" idx="11"/>
          </p:nvPr>
        </p:nvSpPr>
        <p:spPr/>
        <p:txBody>
          <a:bodyPr/>
          <a:lstStyle/>
          <a:p>
            <a:endParaRPr lang="en-US"/>
          </a:p>
        </p:txBody>
      </p:sp>
      <p:sp>
        <p:nvSpPr>
          <p:cNvPr id="1048670" name="Rectangle 6"/>
          <p:cNvSpPr>
            <a:spLocks noGrp="1" noChangeArrowheads="1"/>
          </p:cNvSpPr>
          <p:nvPr>
            <p:ph type="sldNum" sz="quarter" idx="12"/>
          </p:nvPr>
        </p:nvSpPr>
        <p:spPr/>
        <p:txBody>
          <a:bodyPr/>
          <a:lstStyle/>
          <a:p>
            <a:fld id="{7CA4441D-2FB3-497D-BBA4-CACC9D97C71F}" type="slidenum">
              <a:rPr lang="en-US"/>
              <a:t>‹#›</a:t>
            </a:fld>
            <a:endParaRPr lang="en-US"/>
          </a:p>
        </p:txBody>
      </p:sp>
    </p:spTree>
  </p:cSld>
  <p:clrMapOvr>
    <a:masterClrMapping/>
  </p:clrMapOvr>
  <p:transition advClick="0" advTm="5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42" name="Title 1"/>
          <p:cNvSpPr>
            <a:spLocks noGrp="1"/>
          </p:cNvSpPr>
          <p:nvPr>
            <p:ph type="title"/>
          </p:nvPr>
        </p:nvSpPr>
        <p:spPr/>
        <p:txBody>
          <a:bodyPr/>
          <a:lstStyle/>
          <a:p>
            <a:r>
              <a:rPr lang="en-US"/>
              <a:t>Click to edit Master title style</a:t>
            </a:r>
          </a:p>
        </p:txBody>
      </p:sp>
      <p:sp>
        <p:nvSpPr>
          <p:cNvPr id="104864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Rectangle 4"/>
          <p:cNvSpPr>
            <a:spLocks noGrp="1" noChangeArrowheads="1"/>
          </p:cNvSpPr>
          <p:nvPr>
            <p:ph type="dt" sz="half" idx="10"/>
          </p:nvPr>
        </p:nvSpPr>
        <p:spPr/>
        <p:txBody>
          <a:bodyPr/>
          <a:lstStyle/>
          <a:p>
            <a:endParaRPr lang="en-US"/>
          </a:p>
        </p:txBody>
      </p:sp>
      <p:sp>
        <p:nvSpPr>
          <p:cNvPr id="1048645" name="Rectangle 5"/>
          <p:cNvSpPr>
            <a:spLocks noGrp="1" noChangeArrowheads="1"/>
          </p:cNvSpPr>
          <p:nvPr>
            <p:ph type="ftr" sz="quarter" idx="11"/>
          </p:nvPr>
        </p:nvSpPr>
        <p:spPr/>
        <p:txBody>
          <a:bodyPr/>
          <a:lstStyle/>
          <a:p>
            <a:endParaRPr lang="en-US"/>
          </a:p>
        </p:txBody>
      </p:sp>
      <p:sp>
        <p:nvSpPr>
          <p:cNvPr id="1048646" name="Rectangle 6"/>
          <p:cNvSpPr>
            <a:spLocks noGrp="1" noChangeArrowheads="1"/>
          </p:cNvSpPr>
          <p:nvPr>
            <p:ph type="sldNum" sz="quarter" idx="12"/>
          </p:nvPr>
        </p:nvSpPr>
        <p:spPr/>
        <p:txBody>
          <a:bodyPr/>
          <a:lstStyle/>
          <a:p>
            <a:fld id="{CCF9F173-43F7-40CB-8D77-37BBBF6A4A1D}" type="slidenum">
              <a:rPr lang="en-US"/>
              <a:t>‹#›</a:t>
            </a:fld>
            <a:endParaRPr lang="en-US"/>
          </a:p>
        </p:txBody>
      </p:sp>
    </p:spTree>
  </p:cSld>
  <p:clrMapOvr>
    <a:masterClrMapping/>
  </p:clrMapOvr>
  <p:transition advClick="0" advTm="5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3"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1048694"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695" name="Rectangle 4"/>
          <p:cNvSpPr>
            <a:spLocks noGrp="1" noChangeArrowheads="1"/>
          </p:cNvSpPr>
          <p:nvPr>
            <p:ph type="dt" sz="half" idx="10"/>
          </p:nvPr>
        </p:nvSpPr>
        <p:spPr/>
        <p:txBody>
          <a:bodyPr/>
          <a:lstStyle/>
          <a:p>
            <a:endParaRPr lang="en-US"/>
          </a:p>
        </p:txBody>
      </p:sp>
      <p:sp>
        <p:nvSpPr>
          <p:cNvPr id="1048696" name="Rectangle 5"/>
          <p:cNvSpPr>
            <a:spLocks noGrp="1" noChangeArrowheads="1"/>
          </p:cNvSpPr>
          <p:nvPr>
            <p:ph type="ftr" sz="quarter" idx="11"/>
          </p:nvPr>
        </p:nvSpPr>
        <p:spPr/>
        <p:txBody>
          <a:bodyPr/>
          <a:lstStyle/>
          <a:p>
            <a:endParaRPr lang="en-US"/>
          </a:p>
        </p:txBody>
      </p:sp>
      <p:sp>
        <p:nvSpPr>
          <p:cNvPr id="1048697" name="Rectangle 6"/>
          <p:cNvSpPr>
            <a:spLocks noGrp="1" noChangeArrowheads="1"/>
          </p:cNvSpPr>
          <p:nvPr>
            <p:ph type="sldNum" sz="quarter" idx="12"/>
          </p:nvPr>
        </p:nvSpPr>
        <p:spPr/>
        <p:txBody>
          <a:bodyPr/>
          <a:lstStyle/>
          <a:p>
            <a:fld id="{2D178DB2-B762-4D70-B354-4DC7D35DAF2A}" type="slidenum">
              <a:rPr lang="en-US"/>
              <a:t>‹#›</a:t>
            </a:fld>
            <a:endParaRPr lang="en-US"/>
          </a:p>
        </p:txBody>
      </p:sp>
    </p:spTree>
  </p:cSld>
  <p:clrMapOvr>
    <a:masterClrMapping/>
  </p:clrMapOvr>
  <p:transition advClick="0" advTm="5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7" name="Title 1"/>
          <p:cNvSpPr>
            <a:spLocks noGrp="1"/>
          </p:cNvSpPr>
          <p:nvPr>
            <p:ph type="title"/>
          </p:nvPr>
        </p:nvSpPr>
        <p:spPr/>
        <p:txBody>
          <a:bodyPr/>
          <a:lstStyle/>
          <a:p>
            <a:r>
              <a:rPr lang="en-US"/>
              <a:t>Click to edit Master title style</a:t>
            </a:r>
          </a:p>
        </p:txBody>
      </p:sp>
      <p:sp>
        <p:nvSpPr>
          <p:cNvPr id="1048688"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0" name="Rectangle 4"/>
          <p:cNvSpPr>
            <a:spLocks noGrp="1" noChangeArrowheads="1"/>
          </p:cNvSpPr>
          <p:nvPr>
            <p:ph type="dt" sz="half" idx="10"/>
          </p:nvPr>
        </p:nvSpPr>
        <p:spPr/>
        <p:txBody>
          <a:bodyPr/>
          <a:lstStyle/>
          <a:p>
            <a:endParaRPr lang="en-US"/>
          </a:p>
        </p:txBody>
      </p:sp>
      <p:sp>
        <p:nvSpPr>
          <p:cNvPr id="1048691" name="Rectangle 5"/>
          <p:cNvSpPr>
            <a:spLocks noGrp="1" noChangeArrowheads="1"/>
          </p:cNvSpPr>
          <p:nvPr>
            <p:ph type="ftr" sz="quarter" idx="11"/>
          </p:nvPr>
        </p:nvSpPr>
        <p:spPr/>
        <p:txBody>
          <a:bodyPr/>
          <a:lstStyle/>
          <a:p>
            <a:endParaRPr lang="en-US"/>
          </a:p>
        </p:txBody>
      </p:sp>
      <p:sp>
        <p:nvSpPr>
          <p:cNvPr id="1048692" name="Rectangle 6"/>
          <p:cNvSpPr>
            <a:spLocks noGrp="1" noChangeArrowheads="1"/>
          </p:cNvSpPr>
          <p:nvPr>
            <p:ph type="sldNum" sz="quarter" idx="12"/>
          </p:nvPr>
        </p:nvSpPr>
        <p:spPr/>
        <p:txBody>
          <a:bodyPr/>
          <a:lstStyle/>
          <a:p>
            <a:fld id="{4D37613A-D200-443D-BE6E-8044DEAA3558}" type="slidenum">
              <a:rPr lang="en-US"/>
              <a:t>‹#›</a:t>
            </a:fld>
            <a:endParaRPr lang="en-US"/>
          </a:p>
        </p:txBody>
      </p:sp>
    </p:spTree>
  </p:cSld>
  <p:clrMapOvr>
    <a:masterClrMapping/>
  </p:clrMapOvr>
  <p:transition advClick="0" advTm="5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08" name="Title 1"/>
          <p:cNvSpPr>
            <a:spLocks noGrp="1"/>
          </p:cNvSpPr>
          <p:nvPr>
            <p:ph type="title"/>
          </p:nvPr>
        </p:nvSpPr>
        <p:spPr/>
        <p:txBody>
          <a:bodyPr/>
          <a:lstStyle/>
          <a:p>
            <a:r>
              <a:rPr lang="en-US"/>
              <a:t>Click to edit Master title style</a:t>
            </a:r>
          </a:p>
        </p:txBody>
      </p:sp>
      <p:sp>
        <p:nvSpPr>
          <p:cNvPr id="1048709"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0"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1"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2"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3" name="Rectangle 4"/>
          <p:cNvSpPr>
            <a:spLocks noGrp="1" noChangeArrowheads="1"/>
          </p:cNvSpPr>
          <p:nvPr>
            <p:ph type="dt" sz="half" idx="10"/>
          </p:nvPr>
        </p:nvSpPr>
        <p:spPr/>
        <p:txBody>
          <a:bodyPr/>
          <a:lstStyle/>
          <a:p>
            <a:endParaRPr lang="en-US"/>
          </a:p>
        </p:txBody>
      </p:sp>
      <p:sp>
        <p:nvSpPr>
          <p:cNvPr id="1048714" name="Rectangle 5"/>
          <p:cNvSpPr>
            <a:spLocks noGrp="1" noChangeArrowheads="1"/>
          </p:cNvSpPr>
          <p:nvPr>
            <p:ph type="ftr" sz="quarter" idx="11"/>
          </p:nvPr>
        </p:nvSpPr>
        <p:spPr/>
        <p:txBody>
          <a:bodyPr/>
          <a:lstStyle/>
          <a:p>
            <a:endParaRPr lang="en-US"/>
          </a:p>
        </p:txBody>
      </p:sp>
      <p:sp>
        <p:nvSpPr>
          <p:cNvPr id="1048715" name="Rectangle 6"/>
          <p:cNvSpPr>
            <a:spLocks noGrp="1" noChangeArrowheads="1"/>
          </p:cNvSpPr>
          <p:nvPr>
            <p:ph type="sldNum" sz="quarter" idx="12"/>
          </p:nvPr>
        </p:nvSpPr>
        <p:spPr/>
        <p:txBody>
          <a:bodyPr/>
          <a:lstStyle/>
          <a:p>
            <a:fld id="{BAB5F8CC-59DF-412B-8EE9-3D5DBABFA305}" type="slidenum">
              <a:rPr lang="en-US"/>
              <a:t>‹#›</a:t>
            </a:fld>
            <a:endParaRPr lang="en-US"/>
          </a:p>
        </p:txBody>
      </p:sp>
    </p:spTree>
  </p:cSld>
  <p:clrMapOvr>
    <a:masterClrMapping/>
  </p:clrMapOvr>
  <p:transition advClick="0" advTm="5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04" name="Title 1"/>
          <p:cNvSpPr>
            <a:spLocks noGrp="1"/>
          </p:cNvSpPr>
          <p:nvPr>
            <p:ph type="title"/>
          </p:nvPr>
        </p:nvSpPr>
        <p:spPr/>
        <p:txBody>
          <a:bodyPr/>
          <a:lstStyle/>
          <a:p>
            <a:r>
              <a:rPr lang="en-US"/>
              <a:t>Click to edit Master title style</a:t>
            </a:r>
          </a:p>
        </p:txBody>
      </p:sp>
      <p:sp>
        <p:nvSpPr>
          <p:cNvPr id="1048705" name="Rectangle 4"/>
          <p:cNvSpPr>
            <a:spLocks noGrp="1" noChangeArrowheads="1"/>
          </p:cNvSpPr>
          <p:nvPr>
            <p:ph type="dt" sz="half" idx="10"/>
          </p:nvPr>
        </p:nvSpPr>
        <p:spPr/>
        <p:txBody>
          <a:bodyPr/>
          <a:lstStyle/>
          <a:p>
            <a:endParaRPr lang="en-US"/>
          </a:p>
        </p:txBody>
      </p:sp>
      <p:sp>
        <p:nvSpPr>
          <p:cNvPr id="1048706" name="Rectangle 5"/>
          <p:cNvSpPr>
            <a:spLocks noGrp="1" noChangeArrowheads="1"/>
          </p:cNvSpPr>
          <p:nvPr>
            <p:ph type="ftr" sz="quarter" idx="11"/>
          </p:nvPr>
        </p:nvSpPr>
        <p:spPr/>
        <p:txBody>
          <a:bodyPr/>
          <a:lstStyle/>
          <a:p>
            <a:endParaRPr lang="en-US"/>
          </a:p>
        </p:txBody>
      </p:sp>
      <p:sp>
        <p:nvSpPr>
          <p:cNvPr id="1048707" name="Rectangle 6"/>
          <p:cNvSpPr>
            <a:spLocks noGrp="1" noChangeArrowheads="1"/>
          </p:cNvSpPr>
          <p:nvPr>
            <p:ph type="sldNum" sz="quarter" idx="12"/>
          </p:nvPr>
        </p:nvSpPr>
        <p:spPr/>
        <p:txBody>
          <a:bodyPr/>
          <a:lstStyle/>
          <a:p>
            <a:fld id="{EF05CE70-95DC-4909-8276-6C4CCBFFB4F9}" type="slidenum">
              <a:rPr lang="en-US"/>
              <a:t>‹#›</a:t>
            </a:fld>
            <a:endParaRPr lang="en-US"/>
          </a:p>
        </p:txBody>
      </p:sp>
    </p:spTree>
  </p:cSld>
  <p:clrMapOvr>
    <a:masterClrMapping/>
  </p:clrMapOvr>
  <p:transition advClick="0" advTm="5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63" name="Rectangle 4"/>
          <p:cNvSpPr>
            <a:spLocks noGrp="1" noChangeArrowheads="1"/>
          </p:cNvSpPr>
          <p:nvPr>
            <p:ph type="dt" sz="half" idx="10"/>
          </p:nvPr>
        </p:nvSpPr>
        <p:spPr/>
        <p:txBody>
          <a:bodyPr/>
          <a:lstStyle/>
          <a:p>
            <a:endParaRPr lang="en-US"/>
          </a:p>
        </p:txBody>
      </p:sp>
      <p:sp>
        <p:nvSpPr>
          <p:cNvPr id="1048664" name="Rectangle 5"/>
          <p:cNvSpPr>
            <a:spLocks noGrp="1" noChangeArrowheads="1"/>
          </p:cNvSpPr>
          <p:nvPr>
            <p:ph type="ftr" sz="quarter" idx="11"/>
          </p:nvPr>
        </p:nvSpPr>
        <p:spPr/>
        <p:txBody>
          <a:bodyPr/>
          <a:lstStyle/>
          <a:p>
            <a:endParaRPr lang="en-US"/>
          </a:p>
        </p:txBody>
      </p:sp>
      <p:sp>
        <p:nvSpPr>
          <p:cNvPr id="1048665" name="Rectangle 6"/>
          <p:cNvSpPr>
            <a:spLocks noGrp="1" noChangeArrowheads="1"/>
          </p:cNvSpPr>
          <p:nvPr>
            <p:ph type="sldNum" sz="quarter" idx="12"/>
          </p:nvPr>
        </p:nvSpPr>
        <p:spPr/>
        <p:txBody>
          <a:bodyPr/>
          <a:lstStyle/>
          <a:p>
            <a:fld id="{24441590-AB82-4362-B720-26D32BD4D4F7}" type="slidenum">
              <a:rPr lang="en-US"/>
              <a:t>‹#›</a:t>
            </a:fld>
            <a:endParaRPr lang="en-US"/>
          </a:p>
        </p:txBody>
      </p:sp>
    </p:spTree>
  </p:cSld>
  <p:clrMapOvr>
    <a:masterClrMapping/>
  </p:clrMapOvr>
  <p:transition advClick="0" advTm="5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8"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1048699"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01" name="Rectangle 4"/>
          <p:cNvSpPr>
            <a:spLocks noGrp="1" noChangeArrowheads="1"/>
          </p:cNvSpPr>
          <p:nvPr>
            <p:ph type="dt" sz="half" idx="10"/>
          </p:nvPr>
        </p:nvSpPr>
        <p:spPr/>
        <p:txBody>
          <a:bodyPr/>
          <a:lstStyle/>
          <a:p>
            <a:endParaRPr lang="en-US"/>
          </a:p>
        </p:txBody>
      </p:sp>
      <p:sp>
        <p:nvSpPr>
          <p:cNvPr id="1048702" name="Rectangle 5"/>
          <p:cNvSpPr>
            <a:spLocks noGrp="1" noChangeArrowheads="1"/>
          </p:cNvSpPr>
          <p:nvPr>
            <p:ph type="ftr" sz="quarter" idx="11"/>
          </p:nvPr>
        </p:nvSpPr>
        <p:spPr/>
        <p:txBody>
          <a:bodyPr/>
          <a:lstStyle/>
          <a:p>
            <a:endParaRPr lang="en-US"/>
          </a:p>
        </p:txBody>
      </p:sp>
      <p:sp>
        <p:nvSpPr>
          <p:cNvPr id="1048703" name="Rectangle 6"/>
          <p:cNvSpPr>
            <a:spLocks noGrp="1" noChangeArrowheads="1"/>
          </p:cNvSpPr>
          <p:nvPr>
            <p:ph type="sldNum" sz="quarter" idx="12"/>
          </p:nvPr>
        </p:nvSpPr>
        <p:spPr/>
        <p:txBody>
          <a:bodyPr/>
          <a:lstStyle/>
          <a:p>
            <a:fld id="{26908BD4-9D89-4F4F-99D6-4E9C45207E24}" type="slidenum">
              <a:rPr lang="en-US"/>
              <a:t>‹#›</a:t>
            </a:fld>
            <a:endParaRPr lang="en-US"/>
          </a:p>
        </p:txBody>
      </p:sp>
    </p:spTree>
  </p:cSld>
  <p:clrMapOvr>
    <a:masterClrMapping/>
  </p:clrMapOvr>
  <p:transition advClick="0" advTm="5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1"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1048672"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73"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4" name="Rectangle 4"/>
          <p:cNvSpPr>
            <a:spLocks noGrp="1" noChangeArrowheads="1"/>
          </p:cNvSpPr>
          <p:nvPr>
            <p:ph type="dt" sz="half" idx="10"/>
          </p:nvPr>
        </p:nvSpPr>
        <p:spPr/>
        <p:txBody>
          <a:bodyPr/>
          <a:lstStyle/>
          <a:p>
            <a:endParaRPr lang="en-US"/>
          </a:p>
        </p:txBody>
      </p:sp>
      <p:sp>
        <p:nvSpPr>
          <p:cNvPr id="1048675" name="Rectangle 5"/>
          <p:cNvSpPr>
            <a:spLocks noGrp="1" noChangeArrowheads="1"/>
          </p:cNvSpPr>
          <p:nvPr>
            <p:ph type="ftr" sz="quarter" idx="11"/>
          </p:nvPr>
        </p:nvSpPr>
        <p:spPr/>
        <p:txBody>
          <a:bodyPr/>
          <a:lstStyle/>
          <a:p>
            <a:endParaRPr lang="en-US"/>
          </a:p>
        </p:txBody>
      </p:sp>
      <p:sp>
        <p:nvSpPr>
          <p:cNvPr id="1048676" name="Rectangle 6"/>
          <p:cNvSpPr>
            <a:spLocks noGrp="1" noChangeArrowheads="1"/>
          </p:cNvSpPr>
          <p:nvPr>
            <p:ph type="sldNum" sz="quarter" idx="12"/>
          </p:nvPr>
        </p:nvSpPr>
        <p:spPr/>
        <p:txBody>
          <a:bodyPr/>
          <a:lstStyle/>
          <a:p>
            <a:fld id="{C097FE56-33C0-4579-BE4F-3508A32A6E01}" type="slidenum">
              <a:rPr lang="en-US"/>
              <a:t>‹#›</a:t>
            </a:fld>
            <a:endParaRPr lang="en-US"/>
          </a:p>
        </p:txBody>
      </p:sp>
    </p:spTree>
  </p:cSld>
  <p:clrMapOvr>
    <a:masterClrMapping/>
  </p:clrMapOvr>
  <p:transition advClick="0" advTm="5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77" name="Title 1"/>
          <p:cNvSpPr>
            <a:spLocks noGrp="1"/>
          </p:cNvSpPr>
          <p:nvPr>
            <p:ph type="title"/>
          </p:nvPr>
        </p:nvSpPr>
        <p:spPr/>
        <p:txBody>
          <a:bodyPr/>
          <a:lstStyle/>
          <a:p>
            <a:r>
              <a:rPr lang="en-US"/>
              <a:t>Click to edit Master title style</a:t>
            </a:r>
          </a:p>
        </p:txBody>
      </p:sp>
      <p:sp>
        <p:nvSpPr>
          <p:cNvPr id="104867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9" name="Rectangle 4"/>
          <p:cNvSpPr>
            <a:spLocks noGrp="1" noChangeArrowheads="1"/>
          </p:cNvSpPr>
          <p:nvPr>
            <p:ph type="dt" sz="half" idx="10"/>
          </p:nvPr>
        </p:nvSpPr>
        <p:spPr/>
        <p:txBody>
          <a:bodyPr/>
          <a:lstStyle/>
          <a:p>
            <a:endParaRPr lang="en-US"/>
          </a:p>
        </p:txBody>
      </p:sp>
      <p:sp>
        <p:nvSpPr>
          <p:cNvPr id="1048680" name="Rectangle 5"/>
          <p:cNvSpPr>
            <a:spLocks noGrp="1" noChangeArrowheads="1"/>
          </p:cNvSpPr>
          <p:nvPr>
            <p:ph type="ftr" sz="quarter" idx="11"/>
          </p:nvPr>
        </p:nvSpPr>
        <p:spPr/>
        <p:txBody>
          <a:bodyPr/>
          <a:lstStyle/>
          <a:p>
            <a:endParaRPr lang="en-US"/>
          </a:p>
        </p:txBody>
      </p:sp>
      <p:sp>
        <p:nvSpPr>
          <p:cNvPr id="1048681" name="Rectangle 6"/>
          <p:cNvSpPr>
            <a:spLocks noGrp="1" noChangeArrowheads="1"/>
          </p:cNvSpPr>
          <p:nvPr>
            <p:ph type="sldNum" sz="quarter" idx="12"/>
          </p:nvPr>
        </p:nvSpPr>
        <p:spPr/>
        <p:txBody>
          <a:bodyPr/>
          <a:lstStyle/>
          <a:p>
            <a:fld id="{69BBB0D1-36A8-4FC0-AFAE-67C646720CD9}" type="slidenum">
              <a:rPr lang="en-US"/>
              <a:t>‹#›</a:t>
            </a:fld>
            <a:endParaRPr lang="en-US"/>
          </a:p>
        </p:txBody>
      </p:sp>
    </p:spTree>
  </p:cSld>
  <p:clrMapOvr>
    <a:masterClrMapping/>
  </p:clrMapOvr>
  <p:transition advClick="0" advTm="5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104868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4" name="Rectangle 4"/>
          <p:cNvSpPr>
            <a:spLocks noGrp="1" noChangeArrowheads="1"/>
          </p:cNvSpPr>
          <p:nvPr>
            <p:ph type="dt" sz="half" idx="10"/>
          </p:nvPr>
        </p:nvSpPr>
        <p:spPr/>
        <p:txBody>
          <a:bodyPr/>
          <a:lstStyle/>
          <a:p>
            <a:endParaRPr lang="en-US"/>
          </a:p>
        </p:txBody>
      </p:sp>
      <p:sp>
        <p:nvSpPr>
          <p:cNvPr id="1048685" name="Rectangle 5"/>
          <p:cNvSpPr>
            <a:spLocks noGrp="1" noChangeArrowheads="1"/>
          </p:cNvSpPr>
          <p:nvPr>
            <p:ph type="ftr" sz="quarter" idx="11"/>
          </p:nvPr>
        </p:nvSpPr>
        <p:spPr/>
        <p:txBody>
          <a:bodyPr/>
          <a:lstStyle/>
          <a:p>
            <a:endParaRPr lang="en-US"/>
          </a:p>
        </p:txBody>
      </p:sp>
      <p:sp>
        <p:nvSpPr>
          <p:cNvPr id="1048686" name="Rectangle 6"/>
          <p:cNvSpPr>
            <a:spLocks noGrp="1" noChangeArrowheads="1"/>
          </p:cNvSpPr>
          <p:nvPr>
            <p:ph type="sldNum" sz="quarter" idx="12"/>
          </p:nvPr>
        </p:nvSpPr>
        <p:spPr/>
        <p:txBody>
          <a:bodyPr/>
          <a:lstStyle/>
          <a:p>
            <a:fld id="{58DC98DA-E97B-446D-9143-683FDB5C82C6}" type="slidenum">
              <a:rPr lang="en-US"/>
              <a:t>‹#›</a:t>
            </a:fld>
            <a:endParaRPr lang="en-US"/>
          </a:p>
        </p:txBody>
      </p:sp>
    </p:spTree>
  </p:cSld>
  <p:clrMapOvr>
    <a:masterClrMapping/>
  </p:clrMapOvr>
  <p:transition advClick="0" advTm="5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6259A-7FFE-46C5-B222-35A4AE78C0F3}" type="datetimeFigureOut">
              <a:rPr lang="en-US" smtClean="0"/>
              <a:t>5/11/2026</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24500C-BD92-4A15-B6CF-29DE4C87D1C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37" name="Rectangle 2"/>
          <p:cNvSpPr>
            <a:spLocks noGrp="1" noChangeArrowheads="1"/>
          </p:cNvSpPr>
          <p:nvPr>
            <p:ph type="title"/>
          </p:nvPr>
        </p:nvSpPr>
        <p:spPr bwMode="auto">
          <a:xfrm>
            <a:off x="609600" y="274638"/>
            <a:ext cx="10972800" cy="114300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48638" name="Rectangle 3"/>
          <p:cNvSpPr>
            <a:spLocks noGrp="1" noChangeArrowheads="1"/>
          </p:cNvSpPr>
          <p:nvPr>
            <p:ph type="body" idx="1"/>
          </p:nvPr>
        </p:nvSpPr>
        <p:spPr bwMode="auto">
          <a:xfrm>
            <a:off x="609600" y="1600201"/>
            <a:ext cx="10972800" cy="4525963"/>
          </a:xfrm>
          <a:prstGeom prst="rect">
            <a:avLst/>
          </a:prstGeom>
          <a:noFill/>
          <a:ln>
            <a:noFill/>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9"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Arial" charset="0"/>
              </a:defRPr>
            </a:lvl1pPr>
          </a:lstStyle>
          <a:p>
            <a:endParaRPr lang="en-US"/>
          </a:p>
        </p:txBody>
      </p:sp>
      <p:sp>
        <p:nvSpPr>
          <p:cNvPr id="1048640"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endParaRPr lang="en-US"/>
          </a:p>
        </p:txBody>
      </p:sp>
      <p:sp>
        <p:nvSpPr>
          <p:cNvPr id="1048641"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fld id="{49E0488E-EA8A-4AF8-B775-D4D5532661D1}"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advClick="0" advTm="5000"/>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774257" y="1499449"/>
            <a:ext cx="9144000" cy="3190460"/>
          </a:xfrm>
        </p:spPr>
        <p:txBody>
          <a:bodyPr>
            <a:noAutofit/>
          </a:bodyPr>
          <a:lstStyle/>
          <a:p>
            <a:b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AI-DRIVEN ELECTRONIC HEALTH TECHNOLOGIES IN CANCER MANAGEMENT: OPPORTUNITIES WITHIN AFRICA’S EMERGING GIG ECONOMY (NORTH CENTRAL NIGERIA)</a:t>
            </a: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BY</a:t>
            </a: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GRACE OJO-EMMANUEL (PhD)</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1048587" name="Subtitle 2"/>
          <p:cNvSpPr>
            <a:spLocks noGrp="1"/>
          </p:cNvSpPr>
          <p:nvPr>
            <p:ph type="subTitle" idx="1"/>
          </p:nvPr>
        </p:nvSpPr>
        <p:spPr>
          <a:xfrm>
            <a:off x="1524000" y="4054425"/>
            <a:ext cx="9144000" cy="2228919"/>
          </a:xfrm>
        </p:spPr>
        <p:txBody>
          <a:bodyPr>
            <a:normAutofit fontScale="41667" lnSpcReduction="20000"/>
          </a:bodyPr>
          <a:lstStyle/>
          <a:p>
            <a:endParaRPr lang="en-US" sz="4400" b="1" dirty="0">
              <a:latin typeface="Times New Roman" panose="02020603050405020304" pitchFamily="18" charset="0"/>
              <a:cs typeface="Times New Roman" panose="02020603050405020304" pitchFamily="18" charset="0"/>
            </a:endParaRPr>
          </a:p>
          <a:p>
            <a:endParaRPr lang="en-US" sz="4400" b="1" dirty="0">
              <a:latin typeface="Times New Roman" panose="02020603050405020304" pitchFamily="18" charset="0"/>
              <a:cs typeface="Times New Roman" panose="02020603050405020304" pitchFamily="18" charset="0"/>
            </a:endParaRPr>
          </a:p>
          <a:p>
            <a:endParaRPr lang="en-US" sz="4400" b="1" dirty="0">
              <a:latin typeface="Times New Roman" panose="02020603050405020304" pitchFamily="18" charset="0"/>
              <a:cs typeface="Times New Roman" panose="02020603050405020304" pitchFamily="18" charset="0"/>
            </a:endParaRPr>
          </a:p>
          <a:p>
            <a:r>
              <a:rPr lang="en-US" sz="6200" b="1" dirty="0">
                <a:latin typeface="Times New Roman" panose="02020603050405020304" pitchFamily="18" charset="0"/>
                <a:cs typeface="Times New Roman" panose="02020603050405020304" pitchFamily="18" charset="0"/>
              </a:rPr>
              <a:t>AT</a:t>
            </a:r>
          </a:p>
          <a:p>
            <a:endParaRPr lang="en-US" sz="6000" b="1" dirty="0">
              <a:latin typeface="Times New Roman" panose="02020603050405020304" pitchFamily="18" charset="0"/>
              <a:cs typeface="Times New Roman" panose="02020603050405020304" pitchFamily="18" charset="0"/>
            </a:endParaRPr>
          </a:p>
          <a:p>
            <a:r>
              <a:rPr lang="en-US" sz="6000" b="1" dirty="0">
                <a:latin typeface="Times New Roman" panose="02020603050405020304" pitchFamily="18" charset="0"/>
                <a:cs typeface="Times New Roman" panose="02020603050405020304" pitchFamily="18" charset="0"/>
              </a:rPr>
              <a:t>NACETEM SEMINAR SERIES MAY, 2026</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a:xfrm>
            <a:off x="838200" y="365126"/>
            <a:ext cx="10515600" cy="748058"/>
          </a:xfrm>
        </p:spPr>
        <p:txBody>
          <a:bodyPr>
            <a:normAutofit/>
          </a:bodyPr>
          <a:lstStyle/>
          <a:p>
            <a:r>
              <a:rPr lang="en-US" sz="2400" b="1" dirty="0">
                <a:latin typeface="Times New Roman" panose="02020603050405020304" pitchFamily="18" charset="0"/>
                <a:cs typeface="Times New Roman" panose="02020603050405020304" pitchFamily="18" charset="0"/>
              </a:rPr>
              <a:t>PRESENTATION OUTLINE</a:t>
            </a:r>
          </a:p>
        </p:txBody>
      </p:sp>
      <p:sp>
        <p:nvSpPr>
          <p:cNvPr id="1048594" name="Content Placeholder 2"/>
          <p:cNvSpPr>
            <a:spLocks noGrp="1"/>
          </p:cNvSpPr>
          <p:nvPr>
            <p:ph idx="1"/>
          </p:nvPr>
        </p:nvSpPr>
        <p:spPr>
          <a:xfrm>
            <a:off x="477078" y="1113184"/>
            <a:ext cx="10876722" cy="5063779"/>
          </a:xfrm>
        </p:spPr>
        <p:txBody>
          <a:bodyPr>
            <a:normAutofit/>
          </a:bodyPr>
          <a:lstStyle/>
          <a:p>
            <a:pPr algn="just">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algn="just">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LITERATURE REVIEW</a:t>
            </a:r>
          </a:p>
          <a:p>
            <a:pPr algn="just">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a:p>
            <a:pPr algn="just">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RESULTS AND DISCUSSION</a:t>
            </a:r>
          </a:p>
          <a:p>
            <a:pPr algn="just">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CONCLUSION AND RECOMMENDATION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838200" y="365126"/>
            <a:ext cx="10515600" cy="722530"/>
          </a:xfrm>
        </p:spPr>
        <p:txBody>
          <a:bodyPr>
            <a:normAutofit/>
          </a:bodyPr>
          <a:lstStyle/>
          <a:p>
            <a:r>
              <a:rPr lang="en-US" sz="2400" b="1" dirty="0">
                <a:latin typeface="Times New Roman" panose="02020603050405020304" pitchFamily="18" charset="0"/>
                <a:cs typeface="Times New Roman" panose="02020603050405020304" pitchFamily="18" charset="0"/>
              </a:rPr>
              <a:t>Background to the Study</a:t>
            </a:r>
          </a:p>
        </p:txBody>
      </p:sp>
      <p:sp>
        <p:nvSpPr>
          <p:cNvPr id="1048596" name="Content Placeholder 3"/>
          <p:cNvSpPr>
            <a:spLocks noGrp="1"/>
          </p:cNvSpPr>
          <p:nvPr>
            <p:ph idx="1"/>
          </p:nvPr>
        </p:nvSpPr>
        <p:spPr>
          <a:xfrm>
            <a:off x="635267" y="1087656"/>
            <a:ext cx="10718533" cy="5405218"/>
          </a:xfrm>
        </p:spPr>
        <p:txBody>
          <a:bodyPr>
            <a:normAutofit/>
          </a:bodyPr>
          <a:lstStyle/>
          <a:p>
            <a:pPr algn="just"/>
            <a:r>
              <a:rPr lang="en-US" sz="2400" dirty="0">
                <a:latin typeface="Times New Roman" panose="02020603050405020304" pitchFamily="18" charset="0"/>
                <a:cs typeface="Times New Roman" panose="02020603050405020304" pitchFamily="18" charset="0"/>
              </a:rPr>
              <a:t>Cancer is a leading cause of death worldwide, accounting for nearly one in six deaths (World Health Organization, 2026).</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 instance, there were an estimated 20 million new cancer cases and 9.7 million deaths in 2022 (WHO, 2026).</a:t>
            </a:r>
          </a:p>
          <a:p>
            <a:pPr marL="0" indent="0" algn="just">
              <a:buNone/>
            </a:pP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Africa countries,  Nigeria inclusive have been largely affected by this health issue due to late-stage diagnosis and ineffective healthcare systems (</a:t>
            </a:r>
            <a:r>
              <a:rPr lang="en-US" sz="2400" dirty="0" err="1">
                <a:latin typeface="Times New Roman" panose="02020603050405020304" pitchFamily="18" charset="0"/>
                <a:cs typeface="Times New Roman" panose="02020603050405020304" pitchFamily="18" charset="0"/>
              </a:rPr>
              <a:t>Gichoya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2025). </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Background to the Study Cont’d</a:t>
            </a:r>
          </a:p>
        </p:txBody>
      </p:sp>
      <p:sp>
        <p:nvSpPr>
          <p:cNvPr id="1048598" name="Content Placeholder 3"/>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study was conducted in North Central Nigeria, a region with inadequate financial funds toward health services, and poor health and digital literacy rates among the population (</a:t>
            </a:r>
            <a:r>
              <a:rPr lang="en-US" sz="2400" dirty="0" err="1">
                <a:latin typeface="Times New Roman" panose="02020603050405020304" pitchFamily="18" charset="0"/>
                <a:cs typeface="Times New Roman" panose="02020603050405020304" pitchFamily="18" charset="0"/>
              </a:rPr>
              <a:t>Olutoki</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2025). </a:t>
            </a:r>
          </a:p>
          <a:p>
            <a:pPr algn="just"/>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current health crisis is occurring against a backdrop of a fast-paced technological and economic transformation on the continent (Grancia, 2025). </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a:xfrm>
            <a:off x="838200" y="0"/>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Background to the Study Cont’d</a:t>
            </a:r>
          </a:p>
        </p:txBody>
      </p:sp>
      <p:pic>
        <p:nvPicPr>
          <p:cNvPr id="2097152" name="Content Placeholder 2"/>
          <p:cNvPicPr>
            <a:picLocks noGrp="1" noChangeAspect="1"/>
          </p:cNvPicPr>
          <p:nvPr>
            <p:ph idx="1"/>
          </p:nvPr>
        </p:nvPicPr>
        <p:blipFill>
          <a:blip r:embed="rId2"/>
          <a:stretch>
            <a:fillRect/>
          </a:stretch>
        </p:blipFill>
        <p:spPr>
          <a:xfrm>
            <a:off x="0" y="1420796"/>
            <a:ext cx="11925299" cy="46021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770422" y="0"/>
            <a:ext cx="10515600" cy="982412"/>
          </a:xfrm>
        </p:spPr>
        <p:txBody>
          <a:bodyPr>
            <a:normAutofit/>
          </a:bodyPr>
          <a:lstStyle/>
          <a:p>
            <a:r>
              <a:rPr lang="en-US" sz="2400" b="1" dirty="0">
                <a:latin typeface="Times New Roman" panose="02020603050405020304" pitchFamily="18" charset="0"/>
                <a:cs typeface="Times New Roman" panose="02020603050405020304" pitchFamily="18" charset="0"/>
              </a:rPr>
              <a:t>Background to the Study Cont’d</a:t>
            </a:r>
          </a:p>
        </p:txBody>
      </p:sp>
      <p:sp>
        <p:nvSpPr>
          <p:cNvPr id="1048601" name="Content Placeholder 3"/>
          <p:cNvSpPr>
            <a:spLocks noGrp="1"/>
          </p:cNvSpPr>
          <p:nvPr>
            <p:ph idx="1"/>
          </p:nvPr>
        </p:nvSpPr>
        <p:spPr>
          <a:xfrm>
            <a:off x="539014" y="904776"/>
            <a:ext cx="10651156" cy="5419023"/>
          </a:xfrm>
        </p:spPr>
        <p:txBody>
          <a:bodyPr>
            <a:normAutofit/>
          </a:bodyPr>
          <a:lstStyle/>
          <a:p>
            <a:pPr algn="just"/>
            <a:r>
              <a:rPr lang="en-US" sz="2400" dirty="0">
                <a:latin typeface="Times New Roman" panose="02020603050405020304" pitchFamily="18" charset="0"/>
                <a:cs typeface="Times New Roman" panose="02020603050405020304" pitchFamily="18" charset="0"/>
              </a:rPr>
              <a:t>Healthcare logistics, telehealth, data annotation and remote clinical services are key areas where many gig workers in Africa, particularly in Nigeria, contribute to healthcare (Elechi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2026).</a:t>
            </a:r>
          </a:p>
          <a:p>
            <a:pPr marL="0" indent="0" algn="just">
              <a:buNone/>
            </a:pPr>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a:solidFill>
                  <a:srgbClr val="000000"/>
                </a:solidFill>
                <a:effectLst/>
                <a:latin typeface="Times New Roman" panose="02020603050405020304" pitchFamily="18" charset="0"/>
                <a:ea typeface="Calibri" panose="020F0502020204030204" pitchFamily="34" charset="0"/>
              </a:rPr>
              <a:t>AI-driven EHTs has the potential in improving the healthcare system resource management, mainly in cancer management (Nadeem, </a:t>
            </a:r>
            <a:r>
              <a:rPr lang="en-US" sz="2400" i="1" dirty="0">
                <a:solidFill>
                  <a:srgbClr val="000000"/>
                </a:solidFill>
                <a:effectLst/>
                <a:latin typeface="Times New Roman" panose="02020603050405020304" pitchFamily="18" charset="0"/>
                <a:ea typeface="Calibri" panose="020F0502020204030204" pitchFamily="34" charset="0"/>
              </a:rPr>
              <a:t>et al., </a:t>
            </a:r>
            <a:r>
              <a:rPr lang="en-US" sz="2400" dirty="0">
                <a:solidFill>
                  <a:srgbClr val="000000"/>
                </a:solidFill>
                <a:effectLst/>
                <a:latin typeface="Times New Roman" panose="02020603050405020304" pitchFamily="18" charset="0"/>
                <a:ea typeface="Calibri" panose="020F0502020204030204" pitchFamily="34" charset="0"/>
              </a:rPr>
              <a:t>2025).</a:t>
            </a:r>
          </a:p>
          <a:p>
            <a:pPr algn="just"/>
            <a:endParaRPr lang="en-US" sz="2400" dirty="0">
              <a:solidFill>
                <a:srgbClr val="000000"/>
              </a:solidFill>
              <a:latin typeface="Times New Roman" panose="02020603050405020304" pitchFamily="18" charset="0"/>
              <a:ea typeface="Calibri" panose="020F0502020204030204" pitchFamily="34" charset="0"/>
            </a:endParaRPr>
          </a:p>
          <a:p>
            <a:pPr algn="just"/>
            <a:r>
              <a:rPr lang="en-US" sz="2400" dirty="0">
                <a:solidFill>
                  <a:srgbClr val="000000"/>
                </a:solidFill>
                <a:effectLst/>
                <a:latin typeface="Times New Roman" panose="02020603050405020304" pitchFamily="18" charset="0"/>
                <a:ea typeface="Calibri" panose="020F0502020204030204" pitchFamily="34" charset="0"/>
              </a:rPr>
              <a:t>AI-driven EHTs enhance the accuracy of cancer detection, treatment, and clinical decision-making at an early stage</a:t>
            </a:r>
            <a:r>
              <a:rPr lang="en-GB" sz="2400" dirty="0">
                <a:solidFill>
                  <a:srgbClr val="000000"/>
                </a:solidFill>
                <a:effectLst/>
                <a:latin typeface="Times New Roman" panose="02020603050405020304" pitchFamily="18" charset="0"/>
                <a:ea typeface="Calibri" panose="020F0502020204030204" pitchFamily="34" charset="0"/>
              </a:rPr>
              <a:t> </a:t>
            </a:r>
            <a:r>
              <a:rPr lang="en-US" sz="2400" dirty="0">
                <a:solidFill>
                  <a:srgbClr val="000000"/>
                </a:solidFill>
                <a:effectLst/>
                <a:latin typeface="Times New Roman" panose="02020603050405020304" pitchFamily="18" charset="0"/>
                <a:ea typeface="Calibri" panose="020F0502020204030204" pitchFamily="34" charset="0"/>
              </a:rPr>
              <a:t>(Momoh </a:t>
            </a:r>
            <a:r>
              <a:rPr lang="en-US" sz="2400" i="1" dirty="0">
                <a:solidFill>
                  <a:srgbClr val="000000"/>
                </a:solidFill>
                <a:effectLst/>
                <a:latin typeface="Times New Roman" panose="02020603050405020304" pitchFamily="18" charset="0"/>
                <a:ea typeface="Calibri" panose="020F0502020204030204" pitchFamily="34" charset="0"/>
              </a:rPr>
              <a:t>et al., </a:t>
            </a:r>
            <a:r>
              <a:rPr lang="en-US" sz="2400" dirty="0">
                <a:solidFill>
                  <a:srgbClr val="000000"/>
                </a:solidFill>
                <a:effectLst/>
                <a:latin typeface="Times New Roman" panose="02020603050405020304" pitchFamily="18" charset="0"/>
                <a:ea typeface="Calibri" panose="020F0502020204030204" pitchFamily="34" charset="0"/>
              </a:rPr>
              <a:t>2024; </a:t>
            </a:r>
            <a:r>
              <a:rPr lang="en-US" sz="2400" dirty="0" err="1">
                <a:solidFill>
                  <a:srgbClr val="000000"/>
                </a:solidFill>
                <a:effectLst/>
                <a:latin typeface="Times New Roman" panose="02020603050405020304" pitchFamily="18" charset="0"/>
                <a:ea typeface="Calibri" panose="020F0502020204030204" pitchFamily="34" charset="0"/>
              </a:rPr>
              <a:t>Olawade</a:t>
            </a:r>
            <a:r>
              <a:rPr lang="en-US" sz="2400" dirty="0">
                <a:solidFill>
                  <a:srgbClr val="000000"/>
                </a:solidFill>
                <a:effectLst/>
                <a:latin typeface="Times New Roman" panose="02020603050405020304" pitchFamily="18" charset="0"/>
                <a:ea typeface="Calibri" panose="020F0502020204030204" pitchFamily="34" charset="0"/>
              </a:rPr>
              <a:t> </a:t>
            </a:r>
            <a:r>
              <a:rPr lang="en-US" sz="2400" i="1" dirty="0">
                <a:solidFill>
                  <a:srgbClr val="000000"/>
                </a:solidFill>
                <a:effectLst/>
                <a:latin typeface="Times New Roman" panose="02020603050405020304" pitchFamily="18" charset="0"/>
                <a:ea typeface="Calibri" panose="020F0502020204030204" pitchFamily="34" charset="0"/>
              </a:rPr>
              <a:t>et al., </a:t>
            </a:r>
            <a:r>
              <a:rPr lang="en-US" sz="2400" dirty="0">
                <a:solidFill>
                  <a:srgbClr val="000000"/>
                </a:solidFill>
                <a:effectLst/>
                <a:latin typeface="Times New Roman" panose="02020603050405020304" pitchFamily="18" charset="0"/>
                <a:ea typeface="Calibri" panose="020F0502020204030204" pitchFamily="34" charset="0"/>
              </a:rPr>
              <a:t>2025). </a:t>
            </a:r>
            <a:endParaRPr lang="en-US" sz="2400" dirty="0">
              <a:solidFill>
                <a:srgbClr val="FF0000"/>
              </a:solidFill>
              <a:latin typeface="Times New Roman" panose="02020603050405020304" pitchFamily="18" charset="0"/>
              <a:cs typeface="Times New Roman" panose="02020603050405020304" pitchFamily="18" charset="0"/>
            </a:endParaRPr>
          </a:p>
          <a:p>
            <a:pPr algn="just"/>
            <a:endParaRPr lang="en-NG"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838200" y="168443"/>
            <a:ext cx="10515600" cy="626277"/>
          </a:xfrm>
        </p:spPr>
        <p:txBody>
          <a:bodyPr>
            <a:normAutofit/>
          </a:bodyPr>
          <a:lstStyle/>
          <a:p>
            <a:r>
              <a:rPr lang="en-US" sz="2400" b="1" dirty="0">
                <a:latin typeface="Times New Roman" panose="02020603050405020304" pitchFamily="18" charset="0"/>
                <a:cs typeface="Times New Roman" panose="02020603050405020304" pitchFamily="18" charset="0"/>
              </a:rPr>
              <a:t>Statement of the Problem </a:t>
            </a:r>
          </a:p>
        </p:txBody>
      </p:sp>
      <p:sp>
        <p:nvSpPr>
          <p:cNvPr id="1048603" name="Content Placeholder 3"/>
          <p:cNvSpPr>
            <a:spLocks noGrp="1"/>
          </p:cNvSpPr>
          <p:nvPr>
            <p:ph idx="1"/>
          </p:nvPr>
        </p:nvSpPr>
        <p:spPr>
          <a:xfrm>
            <a:off x="625642" y="866273"/>
            <a:ext cx="10651156" cy="5419023"/>
          </a:xfrm>
        </p:spPr>
        <p:txBody>
          <a:bodyPr>
            <a:normAutofit/>
          </a:bodyPr>
          <a:lstStyle/>
          <a:p>
            <a:pPr marL="0" lvl="0" indent="0" algn="just">
              <a:lnSpc>
                <a:spcPct val="115000"/>
              </a:lnSpc>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Despite AI-driven EHTs offer potential benefits, their adoption in healthcare for cancer treatment is not well known (Pande </a:t>
            </a:r>
            <a:r>
              <a:rPr lang="en-US" sz="24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2025).</a:t>
            </a:r>
          </a:p>
          <a:p>
            <a:pPr marL="0" lvl="0" indent="0" algn="just">
              <a:lnSpc>
                <a:spcPct val="115000"/>
              </a:lnSpc>
              <a:buNone/>
            </a:pPr>
            <a:endPar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15000"/>
              </a:lnSpc>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Few studies have been conducted about the impact of AI-driven EHTs in the North Central zone of Nigeria on gig economy (</a:t>
            </a:r>
            <a:r>
              <a:rPr lang="en-US" sz="2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Achebo</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2025).</a:t>
            </a:r>
            <a:endParaRPr lang="en-NG"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838200" y="365125"/>
            <a:ext cx="10515600" cy="761031"/>
          </a:xfrm>
        </p:spPr>
        <p:txBody>
          <a:bodyPr>
            <a:normAutofit/>
          </a:bodyPr>
          <a:lstStyle/>
          <a:p>
            <a:r>
              <a:rPr lang="en-US" sz="2400" b="1" dirty="0">
                <a:latin typeface="Times New Roman" panose="02020603050405020304" pitchFamily="18" charset="0"/>
                <a:cs typeface="Times New Roman" panose="02020603050405020304" pitchFamily="18" charset="0"/>
              </a:rPr>
              <a:t>Research Questions</a:t>
            </a:r>
          </a:p>
        </p:txBody>
      </p:sp>
      <p:sp>
        <p:nvSpPr>
          <p:cNvPr id="1048605" name="Content Placeholder 3"/>
          <p:cNvSpPr>
            <a:spLocks noGrp="1"/>
          </p:cNvSpPr>
          <p:nvPr>
            <p:ph idx="1"/>
          </p:nvPr>
        </p:nvSpPr>
        <p:spPr>
          <a:xfrm>
            <a:off x="702644" y="1270534"/>
            <a:ext cx="10651156" cy="5419023"/>
          </a:xfrm>
        </p:spPr>
        <p:txBody>
          <a:bodyPr>
            <a:normAutofit/>
          </a:bodyPr>
          <a:lstStyle/>
          <a:p>
            <a:pPr marL="0" lvl="0" indent="0" algn="just">
              <a:lnSpc>
                <a:spcPct val="115000"/>
              </a:lnSpc>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What are the AI-driven EHTs in use for cancer management within North Central Nigeria emerging gig economy? and</a:t>
            </a:r>
          </a:p>
          <a:p>
            <a:pPr marL="0" lvl="0" indent="0" algn="just">
              <a:lnSpc>
                <a:spcPct val="115000"/>
              </a:lnSpc>
              <a:buNone/>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15000"/>
              </a:lnSpc>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What are the impacts of these technologies on the gig economy in the study area?</a:t>
            </a:r>
          </a:p>
          <a:p>
            <a:pPr algn="just"/>
            <a:endParaRPr lang="en-NG"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a:xfrm>
            <a:off x="838200" y="365125"/>
            <a:ext cx="10515600" cy="789907"/>
          </a:xfrm>
        </p:spPr>
        <p:txBody>
          <a:bodyPr>
            <a:normAutofit/>
          </a:bodyPr>
          <a:lstStyle/>
          <a:p>
            <a:r>
              <a:rPr lang="en-US" sz="2400" b="1" dirty="0">
                <a:latin typeface="Times New Roman" panose="02020603050405020304" pitchFamily="18" charset="0"/>
                <a:cs typeface="Times New Roman" panose="02020603050405020304" pitchFamily="18" charset="0"/>
              </a:rPr>
              <a:t>Research Objectives</a:t>
            </a:r>
          </a:p>
        </p:txBody>
      </p:sp>
      <p:sp>
        <p:nvSpPr>
          <p:cNvPr id="1048607" name="Content Placeholder 3"/>
          <p:cNvSpPr>
            <a:spLocks noGrp="1"/>
          </p:cNvSpPr>
          <p:nvPr>
            <p:ph idx="1"/>
          </p:nvPr>
        </p:nvSpPr>
        <p:spPr>
          <a:xfrm>
            <a:off x="702644" y="1270534"/>
            <a:ext cx="10651156" cy="5419023"/>
          </a:xfrm>
        </p:spPr>
        <p:txBody>
          <a:bodyPr>
            <a:normAutofit/>
          </a:bodyPr>
          <a:lstStyle/>
          <a:p>
            <a:pPr marL="0" lvl="0" indent="0" algn="just">
              <a:lnSpc>
                <a:spcPct val="115000"/>
              </a:lnSpc>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specific objectives are to:</a:t>
            </a:r>
          </a:p>
          <a:p>
            <a:pPr algn="just">
              <a:lnSpc>
                <a:spcPct val="115000"/>
              </a:lnSpc>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xamine the AI-driven EHTs in use for cancer management within North Central Nigeria emerging gig economy; and </a:t>
            </a:r>
          </a:p>
          <a:p>
            <a:pPr marL="0" lvl="0" indent="0" algn="just">
              <a:lnSpc>
                <a:spcPct val="115000"/>
              </a:lnSpc>
              <a:buNone/>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valuate the impacts of these technologies on the gig economy in the study area.</a:t>
            </a:r>
          </a:p>
          <a:p>
            <a:pPr algn="just"/>
            <a:endParaRPr lang="en-NG"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a:xfrm>
            <a:off x="838200" y="-55029"/>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LITERATURE REVIEW</a:t>
            </a:r>
          </a:p>
        </p:txBody>
      </p:sp>
      <p:sp>
        <p:nvSpPr>
          <p:cNvPr id="1048609" name="Content Placeholder 3"/>
          <p:cNvSpPr>
            <a:spLocks noGrp="1"/>
          </p:cNvSpPr>
          <p:nvPr>
            <p:ph idx="1"/>
          </p:nvPr>
        </p:nvSpPr>
        <p:spPr>
          <a:xfrm>
            <a:off x="702644" y="1029902"/>
            <a:ext cx="10651156" cy="5419023"/>
          </a:xfrm>
        </p:spPr>
        <p:txBody>
          <a:bodyPr>
            <a:normAutofit fontScale="95833" lnSpcReduction="10000"/>
          </a:bodyPr>
          <a:lstStyle/>
          <a:p>
            <a:pPr marL="0" lvl="0" indent="0" algn="just">
              <a:lnSpc>
                <a:spcPct val="115000"/>
              </a:lnSpc>
              <a:buNone/>
            </a:pPr>
            <a:r>
              <a:rPr lang="en-US" sz="2400" b="1" dirty="0">
                <a:latin typeface="Times New Roman" panose="02020603050405020304" pitchFamily="18" charset="0"/>
                <a:cs typeface="Times New Roman" panose="02020603050405020304" pitchFamily="18" charset="0"/>
              </a:rPr>
              <a:t>Conceptual Review</a:t>
            </a:r>
          </a:p>
          <a:p>
            <a:pPr algn="just">
              <a:lnSpc>
                <a:spcPct val="115000"/>
              </a:lnSpc>
            </a:pPr>
            <a:r>
              <a:rPr lang="en-US" sz="2400" b="1" dirty="0">
                <a:latin typeface="Times New Roman" panose="02020603050405020304" pitchFamily="18" charset="0"/>
                <a:cs typeface="Times New Roman" panose="02020603050405020304" pitchFamily="18" charset="0"/>
              </a:rPr>
              <a:t>AI-driven electronic health technologies (EHTs): </a:t>
            </a:r>
            <a:r>
              <a:rPr lang="en-US" sz="2400" dirty="0">
                <a:latin typeface="Times New Roman" panose="02020603050405020304" pitchFamily="18" charset="0"/>
                <a:cs typeface="Times New Roman" panose="02020603050405020304" pitchFamily="18" charset="0"/>
              </a:rPr>
              <a:t>A</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digital platforms and systems that leverage artificial intelligence to support various stages of cancer management (Wah and Jack, 2025).</a:t>
            </a:r>
          </a:p>
          <a:p>
            <a:pPr algn="just">
              <a:lnSpc>
                <a:spcPct val="115000"/>
              </a:lnSpc>
            </a:pPr>
            <a:endParaRPr lang="en-US" sz="2400" dirty="0">
              <a:latin typeface="Times New Roman" panose="02020603050405020304" pitchFamily="18" charset="0"/>
              <a:cs typeface="Times New Roman" panose="02020603050405020304" pitchFamily="18" charset="0"/>
            </a:endParaRPr>
          </a:p>
          <a:p>
            <a:pPr algn="just">
              <a:lnSpc>
                <a:spcPct val="115000"/>
              </a:lnSpc>
            </a:pPr>
            <a:r>
              <a:rPr lang="en-US" sz="2400" b="1" dirty="0">
                <a:latin typeface="Times New Roman" panose="02020603050405020304" pitchFamily="18" charset="0"/>
                <a:cs typeface="Times New Roman" panose="02020603050405020304" pitchFamily="18" charset="0"/>
              </a:rPr>
              <a:t>Dimensions of Adoption in Cancer Management: </a:t>
            </a:r>
            <a:r>
              <a:rPr lang="en-US" sz="2400" dirty="0">
                <a:latin typeface="Times New Roman" panose="02020603050405020304" pitchFamily="18" charset="0"/>
                <a:cs typeface="Times New Roman" panose="02020603050405020304" pitchFamily="18" charset="0"/>
              </a:rPr>
              <a:t>Diagnostics and screening. precision treatment, and remote monitoring and virtual consultations (Donkor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2023).</a:t>
            </a:r>
          </a:p>
          <a:p>
            <a:pPr algn="just">
              <a:lnSpc>
                <a:spcPct val="115000"/>
              </a:lnSpc>
            </a:pPr>
            <a:endParaRPr lang="en-US" sz="2400" dirty="0">
              <a:latin typeface="Times New Roman" panose="02020603050405020304" pitchFamily="18" charset="0"/>
              <a:cs typeface="Times New Roman" panose="02020603050405020304" pitchFamily="18" charset="0"/>
            </a:endParaRPr>
          </a:p>
          <a:p>
            <a:pPr algn="just">
              <a:lnSpc>
                <a:spcPct val="115000"/>
              </a:lnSpc>
            </a:pPr>
            <a:r>
              <a:rPr lang="en-US" sz="2400" b="1" dirty="0">
                <a:latin typeface="Times New Roman" panose="02020603050405020304" pitchFamily="18" charset="0"/>
                <a:cs typeface="Times New Roman" panose="02020603050405020304" pitchFamily="18" charset="0"/>
              </a:rPr>
              <a:t>Intersection with the Gig Economy: </a:t>
            </a:r>
            <a:r>
              <a:rPr lang="en-US" sz="2400" dirty="0">
                <a:latin typeface="Times New Roman" panose="02020603050405020304" pitchFamily="18" charset="0"/>
                <a:cs typeface="Times New Roman" panose="02020603050405020304" pitchFamily="18" charset="0"/>
              </a:rPr>
              <a:t>The gig economy is based on flexible digital work, is progressively connected to AI-driven EHTs for cancer care via telehealth, data, and remote services (Jain and  </a:t>
            </a:r>
            <a:r>
              <a:rPr lang="en-US" sz="2400" dirty="0" err="1">
                <a:latin typeface="Times New Roman" panose="02020603050405020304" pitchFamily="18" charset="0"/>
                <a:cs typeface="Times New Roman" panose="02020603050405020304" pitchFamily="18" charset="0"/>
              </a:rPr>
              <a:t>Joies</a:t>
            </a:r>
            <a:r>
              <a:rPr lang="en-US" sz="2400" dirty="0">
                <a:latin typeface="Times New Roman" panose="02020603050405020304" pitchFamily="18" charset="0"/>
                <a:cs typeface="Times New Roman" panose="02020603050405020304" pitchFamily="18" charset="0"/>
              </a:rPr>
              <a:t>, 2025; Wang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2025).</a:t>
            </a:r>
          </a:p>
          <a:p>
            <a:pPr algn="just">
              <a:lnSpc>
                <a:spcPct val="115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905978" y="327259"/>
            <a:ext cx="10515600" cy="462648"/>
          </a:xfrm>
        </p:spPr>
        <p:txBody>
          <a:bodyPr>
            <a:normAutofit/>
          </a:bodyPr>
          <a:lstStyle/>
          <a:p>
            <a:r>
              <a:rPr lang="en-US" sz="2400" b="1" dirty="0">
                <a:latin typeface="Times New Roman" panose="02020603050405020304" pitchFamily="18" charset="0"/>
                <a:cs typeface="Times New Roman" panose="02020603050405020304" pitchFamily="18" charset="0"/>
              </a:rPr>
              <a:t>LITERATURE REVIEW CONT’D</a:t>
            </a:r>
          </a:p>
        </p:txBody>
      </p:sp>
      <p:sp>
        <p:nvSpPr>
          <p:cNvPr id="1048611" name="Content Placeholder 3"/>
          <p:cNvSpPr>
            <a:spLocks noGrp="1"/>
          </p:cNvSpPr>
          <p:nvPr>
            <p:ph idx="1"/>
          </p:nvPr>
        </p:nvSpPr>
        <p:spPr>
          <a:xfrm>
            <a:off x="770422" y="1088291"/>
            <a:ext cx="10651156" cy="4994458"/>
          </a:xfrm>
        </p:spPr>
        <p:txBody>
          <a:bodyPr>
            <a:normAutofit/>
          </a:bodyPr>
          <a:lstStyle/>
          <a:p>
            <a:pPr marL="0" indent="0" algn="just">
              <a:lnSpc>
                <a:spcPct val="115000"/>
              </a:lnSpc>
              <a:buNone/>
            </a:pPr>
            <a:r>
              <a:rPr lang="en-US" sz="2400" b="1" dirty="0">
                <a:latin typeface="Times New Roman" panose="02020603050405020304" pitchFamily="18" charset="0"/>
                <a:cs typeface="Times New Roman" panose="02020603050405020304" pitchFamily="18" charset="0"/>
              </a:rPr>
              <a:t>Applicable Theory: </a:t>
            </a:r>
          </a:p>
          <a:p>
            <a:pPr algn="just">
              <a:lnSpc>
                <a:spcPct val="115000"/>
              </a:lnSpc>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Unified Theory of Acceptance and Use of Technology (UTAUT)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(Venkatesh </a:t>
            </a:r>
            <a:r>
              <a:rPr lang="en-US" sz="2400" i="1" dirty="0">
                <a:effectLst/>
                <a:latin typeface="Times New Roman" panose="02020603050405020304" pitchFamily="18" charset="0"/>
                <a:ea typeface="Calibri" panose="020F0502020204030204" pitchFamily="34" charset="0"/>
                <a:cs typeface="Times New Roman" panose="02020603050405020304" pitchFamily="18" charset="0"/>
              </a:rPr>
              <a:t>et al.,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2003)</a:t>
            </a:r>
          </a:p>
          <a:p>
            <a:pPr algn="just">
              <a:lnSpc>
                <a:spcPct val="115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Diffusion of Innovations (DOI) Theory (Rogers,1995)</a:t>
            </a:r>
          </a:p>
          <a:p>
            <a:pPr marL="0" indent="0" algn="just">
              <a:lnSpc>
                <a:spcPct val="115000"/>
              </a:lnSpc>
              <a:buNone/>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5000"/>
              </a:lnSpc>
              <a:buNone/>
            </a:pPr>
            <a:r>
              <a:rPr lang="en-US" sz="2400" b="1" dirty="0">
                <a:latin typeface="Times New Roman" panose="02020603050405020304" pitchFamily="18" charset="0"/>
                <a:ea typeface="Calibri" panose="020F0502020204030204" pitchFamily="34" charset="0"/>
                <a:cs typeface="Times New Roman" panose="02020603050405020304" pitchFamily="18" charset="0"/>
              </a:rPr>
              <a:t>Empirical Review:</a:t>
            </a:r>
          </a:p>
          <a:p>
            <a:pPr algn="just">
              <a:lnSpc>
                <a:spcPct val="115000"/>
              </a:lnSpc>
            </a:pPr>
            <a:r>
              <a:rPr lang="en-US" sz="2400" dirty="0">
                <a:latin typeface="Times New Roman" panose="02020603050405020304" pitchFamily="18" charset="0"/>
                <a:cs typeface="Times New Roman" panose="02020603050405020304" pitchFamily="18" charset="0"/>
              </a:rPr>
              <a:t>Eric (2019) examined the integration of artificial intelligence in healthcare, particularly in oncology.</a:t>
            </a:r>
          </a:p>
          <a:p>
            <a:pPr marL="0" indent="0" algn="just">
              <a:lnSpc>
                <a:spcPct val="115000"/>
              </a:lnSpc>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a:xfrm>
            <a:off x="838200" y="365126"/>
            <a:ext cx="10515600" cy="799532"/>
          </a:xfrm>
        </p:spPr>
        <p:txBody>
          <a:bodyPr>
            <a:normAutofit/>
          </a:bodyPr>
          <a:lstStyle/>
          <a:p>
            <a:r>
              <a:rPr lang="en-US" sz="2400" b="1" dirty="0">
                <a:latin typeface="Times New Roman" panose="02020603050405020304" pitchFamily="18" charset="0"/>
                <a:cs typeface="Times New Roman" panose="02020603050405020304" pitchFamily="18" charset="0"/>
              </a:rPr>
              <a:t>LITERATURE REVIEW CONT’D</a:t>
            </a:r>
          </a:p>
        </p:txBody>
      </p:sp>
      <p:sp>
        <p:nvSpPr>
          <p:cNvPr id="1048613" name="Content Placeholder 3"/>
          <p:cNvSpPr>
            <a:spLocks noGrp="1"/>
          </p:cNvSpPr>
          <p:nvPr>
            <p:ph idx="1"/>
          </p:nvPr>
        </p:nvSpPr>
        <p:spPr>
          <a:xfrm>
            <a:off x="702644" y="1270534"/>
            <a:ext cx="10651156" cy="5419023"/>
          </a:xfrm>
        </p:spPr>
        <p:txBody>
          <a:bodyPr>
            <a:normAutofit fontScale="99167" lnSpcReduction="10000"/>
          </a:bodyPr>
          <a:lstStyle/>
          <a:p>
            <a:pPr marL="0" indent="0" algn="just">
              <a:lnSpc>
                <a:spcPct val="115000"/>
              </a:lnSpc>
              <a:buNone/>
            </a:pPr>
            <a:r>
              <a:rPr lang="en-US" sz="2400" b="1" dirty="0">
                <a:latin typeface="Times New Roman" panose="02020603050405020304" pitchFamily="18" charset="0"/>
                <a:ea typeface="Calibri" panose="020F0502020204030204" pitchFamily="34" charset="0"/>
              </a:rPr>
              <a:t>Empirical Review Cont’d</a:t>
            </a:r>
          </a:p>
          <a:p>
            <a:pPr algn="just">
              <a:lnSpc>
                <a:spcPct val="115000"/>
              </a:lnSpc>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Keesara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Srivats</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et al.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(2020) investigated the expansion of digital health technologies and found that tools such as telemedicine and mobile health platforms significantly improve access to healthcare services and continuity of care.</a:t>
            </a:r>
          </a:p>
          <a:p>
            <a:pPr algn="just">
              <a:lnSpc>
                <a:spcPct val="115000"/>
              </a:lnSpc>
            </a:pPr>
            <a:endParaRPr lang="en-US" sz="2400" b="1" dirty="0">
              <a:latin typeface="Times New Roman" panose="02020603050405020304" pitchFamily="18" charset="0"/>
              <a:ea typeface="Calibri" panose="020F0502020204030204" pitchFamily="34" charset="0"/>
            </a:endParaRPr>
          </a:p>
          <a:p>
            <a:pPr algn="just">
              <a:lnSpc>
                <a:spcPct val="115000"/>
              </a:lnSpc>
            </a:pPr>
            <a:r>
              <a:rPr lang="en-US" sz="2400" dirty="0">
                <a:latin typeface="Times New Roman" panose="02020603050405020304" pitchFamily="18" charset="0"/>
                <a:ea typeface="Calibri" panose="020F0502020204030204" pitchFamily="34" charset="0"/>
              </a:rPr>
              <a:t>Wood Alex </a:t>
            </a:r>
            <a:r>
              <a:rPr lang="en-US" sz="2400" i="1" dirty="0">
                <a:latin typeface="Times New Roman" panose="02020603050405020304" pitchFamily="18" charset="0"/>
                <a:ea typeface="Calibri" panose="020F0502020204030204" pitchFamily="34" charset="0"/>
              </a:rPr>
              <a:t>et al. </a:t>
            </a:r>
            <a:r>
              <a:rPr lang="en-US" sz="2400" dirty="0">
                <a:latin typeface="Times New Roman" panose="02020603050405020304" pitchFamily="18" charset="0"/>
                <a:ea typeface="Calibri" panose="020F0502020204030204" pitchFamily="34" charset="0"/>
              </a:rPr>
              <a:t>(2019) examined digital </a:t>
            </a:r>
            <a:r>
              <a:rPr lang="en-US" sz="2400" dirty="0" err="1">
                <a:latin typeface="Times New Roman" panose="02020603050405020304" pitchFamily="18" charset="0"/>
                <a:ea typeface="Calibri" panose="020F0502020204030204" pitchFamily="34" charset="0"/>
              </a:rPr>
              <a:t>labour</a:t>
            </a:r>
            <a:r>
              <a:rPr lang="en-US" sz="2400" dirty="0">
                <a:latin typeface="Times New Roman" panose="02020603050405020304" pitchFamily="18" charset="0"/>
                <a:ea typeface="Calibri" panose="020F0502020204030204" pitchFamily="34" charset="0"/>
              </a:rPr>
              <a:t> platforms and found that technological advancements foster flexible, platform-based, and contract-driven work arrangements.</a:t>
            </a:r>
          </a:p>
          <a:p>
            <a:pPr algn="just">
              <a:lnSpc>
                <a:spcPct val="115000"/>
              </a:lnSpc>
            </a:pPr>
            <a:endParaRPr lang="en-US" sz="2400" dirty="0">
              <a:latin typeface="Times New Roman" panose="02020603050405020304" pitchFamily="18" charset="0"/>
              <a:ea typeface="Calibri" panose="020F0502020204030204" pitchFamily="34" charset="0"/>
            </a:endParaRPr>
          </a:p>
          <a:p>
            <a:pPr algn="just">
              <a:lnSpc>
                <a:spcPct val="115000"/>
              </a:lnSpc>
            </a:pPr>
            <a:r>
              <a:rPr lang="en-US" sz="2400" dirty="0">
                <a:latin typeface="Times New Roman" panose="02020603050405020304" pitchFamily="18" charset="0"/>
                <a:cs typeface="Times New Roman" panose="02020603050405020304" pitchFamily="18" charset="0"/>
              </a:rPr>
              <a:t>Keesara </a:t>
            </a:r>
            <a:r>
              <a:rPr lang="en-US" sz="2400" dirty="0" err="1">
                <a:latin typeface="Times New Roman" panose="02020603050405020304" pitchFamily="18" charset="0"/>
                <a:cs typeface="Times New Roman" panose="02020603050405020304" pitchFamily="18" charset="0"/>
              </a:rPr>
              <a:t>Srivats</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et al. </a:t>
            </a:r>
            <a:r>
              <a:rPr lang="en-US" sz="2400" dirty="0">
                <a:latin typeface="Times New Roman" panose="02020603050405020304" pitchFamily="18" charset="0"/>
                <a:cs typeface="Times New Roman" panose="02020603050405020304" pitchFamily="18" charset="0"/>
              </a:rPr>
              <a:t>(2020) investigated the expansion of digital health technologies and found that tools such as telemedicine and mobile health platforms significantly improve access to healthcare services and continuity of care.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a:xfrm>
            <a:off x="838200" y="283845"/>
            <a:ext cx="10515600" cy="500347"/>
          </a:xfrm>
        </p:spPr>
        <p:txBody>
          <a:bodyPr>
            <a:normAutofit/>
          </a:bodyPr>
          <a:lstStyle/>
          <a:p>
            <a:r>
              <a:rPr lang="en-US" sz="2400" b="1" dirty="0">
                <a:latin typeface="Times New Roman" panose="02020603050405020304" pitchFamily="18" charset="0"/>
                <a:cs typeface="Times New Roman" panose="02020603050405020304" pitchFamily="18" charset="0"/>
              </a:rPr>
              <a:t>METHODOLOGY</a:t>
            </a:r>
          </a:p>
        </p:txBody>
      </p:sp>
      <p:sp>
        <p:nvSpPr>
          <p:cNvPr id="1048615" name="Content Placeholder 5"/>
          <p:cNvSpPr>
            <a:spLocks noGrp="1"/>
          </p:cNvSpPr>
          <p:nvPr>
            <p:ph idx="1"/>
          </p:nvPr>
        </p:nvSpPr>
        <p:spPr>
          <a:xfrm>
            <a:off x="113898" y="1055930"/>
            <a:ext cx="11964203" cy="5858881"/>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Conceptual Framework</a:t>
            </a:r>
            <a:endParaRPr lang="en-NG" sz="2400" b="1" dirty="0">
              <a:latin typeface="Times New Roman" panose="02020603050405020304" pitchFamily="18" charset="0"/>
              <a:cs typeface="Times New Roman" panose="02020603050405020304" pitchFamily="18" charset="0"/>
            </a:endParaRPr>
          </a:p>
        </p:txBody>
      </p:sp>
      <p:sp>
        <p:nvSpPr>
          <p:cNvPr id="1048616" name="Rectangle 38"/>
          <p:cNvSpPr>
            <a:spLocks noChangeArrowheads="1"/>
          </p:cNvSpPr>
          <p:nvPr/>
        </p:nvSpPr>
        <p:spPr bwMode="auto">
          <a:xfrm>
            <a:off x="4724891" y="855181"/>
            <a:ext cx="2181225" cy="917797"/>
          </a:xfrm>
          <a:prstGeom prst="rect">
            <a:avLst/>
          </a:prstGeom>
          <a:solidFill>
            <a:srgbClr val="70AD47"/>
          </a:solidFill>
          <a:ln w="12700">
            <a:solidFill>
              <a:srgbClr val="507E32"/>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NG" sz="1100" b="1" i="0" u="none" strike="noStrike" cap="none" normalizeH="0" baseline="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Performance </a:t>
            </a:r>
            <a:r>
              <a:rPr kumimoji="0" lang="en-US" altLang="en-NG" sz="11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expectancy</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Effort expectancy</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Social influence</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Facilitating conditions</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17" name="Rectangle 40"/>
          <p:cNvSpPr>
            <a:spLocks noChangeArrowheads="1"/>
          </p:cNvSpPr>
          <p:nvPr/>
        </p:nvSpPr>
        <p:spPr bwMode="auto">
          <a:xfrm>
            <a:off x="4461063" y="1910876"/>
            <a:ext cx="2965450" cy="384175"/>
          </a:xfrm>
          <a:prstGeom prst="rect">
            <a:avLst/>
          </a:prstGeom>
          <a:solidFill>
            <a:srgbClr val="FFFFFF"/>
          </a:solidFill>
          <a:ln w="1270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Adoption and Application of AI-Driven EHTs	</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18" name="Rectangle 37"/>
          <p:cNvSpPr>
            <a:spLocks noChangeArrowheads="1"/>
          </p:cNvSpPr>
          <p:nvPr/>
        </p:nvSpPr>
        <p:spPr bwMode="auto">
          <a:xfrm>
            <a:off x="4519382" y="451032"/>
            <a:ext cx="2815069" cy="262171"/>
          </a:xfrm>
          <a:prstGeom prst="rect">
            <a:avLst/>
          </a:prstGeom>
          <a:solidFill>
            <a:srgbClr val="FFFFFF"/>
          </a:solidFill>
          <a:ln w="1270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UTAUT (Individual-Level Factors</a:t>
            </a:r>
            <a:r>
              <a:rPr kumimoji="0" lang="en-US" altLang="en-NG"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19" name="Arrow: Down 9"/>
          <p:cNvSpPr/>
          <p:nvPr/>
        </p:nvSpPr>
        <p:spPr>
          <a:xfrm>
            <a:off x="5562187" y="1761820"/>
            <a:ext cx="484505" cy="304800"/>
          </a:xfrm>
          <a:prstGeom prst="downArrow">
            <a:avLst>
              <a:gd name="adj1" fmla="val 50000"/>
              <a:gd name="adj2" fmla="val 50000"/>
            </a:avLst>
          </a:prstGeom>
          <a:solidFill>
            <a:srgbClr val="70AD47"/>
          </a:solidFill>
          <a:ln w="12700" cap="flat" cmpd="sng" algn="ctr">
            <a:solidFill>
              <a:srgbClr val="70AD47">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NG"/>
          </a:p>
        </p:txBody>
      </p:sp>
      <p:sp>
        <p:nvSpPr>
          <p:cNvPr id="1048620" name="Arrow: Down 10"/>
          <p:cNvSpPr/>
          <p:nvPr/>
        </p:nvSpPr>
        <p:spPr>
          <a:xfrm>
            <a:off x="5610961" y="2174331"/>
            <a:ext cx="332827" cy="254925"/>
          </a:xfrm>
          <a:prstGeom prst="downArrow">
            <a:avLst>
              <a:gd name="adj1" fmla="val 71366"/>
              <a:gd name="adj2" fmla="val 50000"/>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NG"/>
          </a:p>
        </p:txBody>
      </p:sp>
      <p:sp>
        <p:nvSpPr>
          <p:cNvPr id="1048621" name="Rectangle 46"/>
          <p:cNvSpPr>
            <a:spLocks noChangeArrowheads="1"/>
          </p:cNvSpPr>
          <p:nvPr/>
        </p:nvSpPr>
        <p:spPr bwMode="auto">
          <a:xfrm>
            <a:off x="4704253" y="2440567"/>
            <a:ext cx="2222500" cy="762000"/>
          </a:xfrm>
          <a:prstGeom prst="rect">
            <a:avLst/>
          </a:prstGeom>
          <a:solidFill>
            <a:srgbClr val="4472C4"/>
          </a:solidFill>
          <a:ln w="12700">
            <a:solidFill>
              <a:srgbClr val="2F528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100" b="1" i="0" u="sng"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Cancer Management Outcome</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Early detection</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Treatment efficiency</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Clinical decision-making</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2" name="Arrow: Down 12"/>
          <p:cNvSpPr/>
          <p:nvPr/>
        </p:nvSpPr>
        <p:spPr>
          <a:xfrm>
            <a:off x="5547618" y="3181898"/>
            <a:ext cx="379253" cy="262917"/>
          </a:xfrm>
          <a:prstGeom prst="downArrow">
            <a:avLst/>
          </a:prstGeom>
          <a:solidFill>
            <a:srgbClr val="ED7D31"/>
          </a:solidFill>
          <a:ln w="12700" cap="flat" cmpd="sng" algn="ctr">
            <a:solidFill>
              <a:srgbClr val="ED7D31">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NG"/>
          </a:p>
        </p:txBody>
      </p:sp>
      <p:sp>
        <p:nvSpPr>
          <p:cNvPr id="1048623" name="Rectangle 51"/>
          <p:cNvSpPr>
            <a:spLocks noChangeArrowheads="1"/>
          </p:cNvSpPr>
          <p:nvPr/>
        </p:nvSpPr>
        <p:spPr bwMode="auto">
          <a:xfrm>
            <a:off x="4724891" y="3413082"/>
            <a:ext cx="2330751" cy="1034522"/>
          </a:xfrm>
          <a:prstGeom prst="rect">
            <a:avLst/>
          </a:prstGeom>
          <a:solidFill>
            <a:srgbClr val="ED7D31"/>
          </a:solidFill>
          <a:ln w="12700">
            <a:solidFill>
              <a:srgbClr val="AE5A2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100" b="1" i="0" u="sng" strike="noStrike" cap="none" normalizeH="0" baseline="0" dirty="0" bmk="_Hlk227299708">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kumimoji="0" lang="en-US" altLang="en-NG" sz="1100" b="1" i="0" u="sng" strike="noStrike" cap="none" normalizeH="0" baseline="0" dirty="0" bmk="">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ig Economy Opportunities</a:t>
            </a:r>
            <a:endParaRPr kumimoji="0" lang="en-US" altLang="en-NG" sz="800" b="0" i="0" u="none" strike="noStrike" cap="none" normalizeH="0" baseline="0" dirty="0" bmk="_Hlk227299708">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bmk="_Hlk227299709">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Digital health jobs</a:t>
            </a:r>
            <a:endParaRPr kumimoji="0" lang="en-US" altLang="en-NG" sz="800" b="0" i="0" u="none" strike="noStrike" cap="none" normalizeH="0" baseline="0" dirty="0" bmk="_Hlk227299709">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bmk="_Hlk227299709">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Remote diagnosis</a:t>
            </a:r>
            <a:endParaRPr kumimoji="0" lang="en-US" altLang="en-NG" sz="800" b="0" i="0" u="none" strike="noStrike" cap="none" normalizeH="0" baseline="0" dirty="0" bmk="_Hlk227299709">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bmk="_Hlk227299709">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Telemedicine services</a:t>
            </a:r>
            <a:endParaRPr kumimoji="0" lang="en-US" altLang="en-NG" sz="800" b="0" i="0" u="none" strike="noStrike" cap="none" normalizeH="0" baseline="0" dirty="0" bmk="_Hlk227299709">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NG" sz="1100" b="0" i="0" u="none" strike="noStrike" cap="none" normalizeH="0" baseline="0" dirty="0" bmk="_Hlk227299709">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Job flexibility</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4" name="Rectangle 52"/>
          <p:cNvSpPr>
            <a:spLocks noChangeArrowheads="1"/>
          </p:cNvSpPr>
          <p:nvPr/>
        </p:nvSpPr>
        <p:spPr bwMode="auto">
          <a:xfrm>
            <a:off x="4063279" y="4407973"/>
            <a:ext cx="3761018" cy="342037"/>
          </a:xfrm>
          <a:prstGeom prst="rect">
            <a:avLst/>
          </a:prstGeom>
          <a:solidFill>
            <a:srgbClr val="FFFFFF"/>
          </a:solidFill>
          <a:ln w="1270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Diffusion of Innovation System (Individual-Level Factors)</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5" name="Rectangle 47"/>
          <p:cNvSpPr>
            <a:spLocks noChangeArrowheads="1"/>
          </p:cNvSpPr>
          <p:nvPr/>
        </p:nvSpPr>
        <p:spPr bwMode="auto">
          <a:xfrm>
            <a:off x="4704253" y="4885548"/>
            <a:ext cx="2351390" cy="1004052"/>
          </a:xfrm>
          <a:prstGeom prst="rect">
            <a:avLst/>
          </a:prstGeom>
          <a:gradFill rotWithShape="1">
            <a:gsLst>
              <a:gs pos="0">
                <a:srgbClr val="9B9B9B"/>
              </a:gs>
              <a:gs pos="50000">
                <a:srgbClr val="8E8E8E"/>
              </a:gs>
              <a:gs pos="100000">
                <a:srgbClr val="797979"/>
              </a:gs>
            </a:gsLst>
            <a:lin ang="5400000"/>
          </a:gradFill>
          <a:ln w="635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Relative advantage</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Compatibility</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Complexity</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Trialability </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Observability </a:t>
            </a:r>
            <a:endParaRPr kumimoji="0" lang="en-US" altLang="en-NG"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6" name="Rectangle 43"/>
          <p:cNvSpPr>
            <a:spLocks noChangeArrowheads="1"/>
          </p:cNvSpPr>
          <p:nvPr/>
        </p:nvSpPr>
        <p:spPr bwMode="auto">
          <a:xfrm>
            <a:off x="7610490" y="5180202"/>
            <a:ext cx="1846262" cy="460375"/>
          </a:xfrm>
          <a:prstGeom prst="rect">
            <a:avLst/>
          </a:prstGeom>
          <a:solidFill>
            <a:srgbClr val="FFFFFF"/>
          </a:solidFill>
          <a:ln w="1270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Moderates and Influences Adoption and Use</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7" name="Rectangle 53"/>
          <p:cNvSpPr>
            <a:spLocks noChangeArrowheads="1"/>
          </p:cNvSpPr>
          <p:nvPr/>
        </p:nvSpPr>
        <p:spPr bwMode="auto">
          <a:xfrm>
            <a:off x="3786663" y="6209854"/>
            <a:ext cx="5859463" cy="284163"/>
          </a:xfrm>
          <a:prstGeom prst="rect">
            <a:avLst/>
          </a:prstGeom>
          <a:solidFill>
            <a:srgbClr val="FFFFFF"/>
          </a:solidFill>
          <a:ln w="1270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NG"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Figure 2.1:</a:t>
            </a: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Conceptual Framework of AI-Driven E</a:t>
            </a:r>
            <a:r>
              <a:rPr kumimoji="0" lang="en-US" altLang="en-NG" sz="1100" b="0"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HTs </a:t>
            </a:r>
            <a:r>
              <a:rPr kumimoji="0" lang="en-US" altLang="en-NG"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for Cancer Management </a:t>
            </a: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28" name="Arrow: Down 18"/>
          <p:cNvSpPr/>
          <p:nvPr/>
        </p:nvSpPr>
        <p:spPr>
          <a:xfrm>
            <a:off x="5590084" y="4698999"/>
            <a:ext cx="428712" cy="211138"/>
          </a:xfrm>
          <a:prstGeom prst="downArrow">
            <a:avLst>
              <a:gd name="adj1" fmla="val 46439"/>
              <a:gd name="adj2" fmla="val 50000"/>
            </a:avLst>
          </a:prstGeom>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NG"/>
          </a:p>
        </p:txBody>
      </p:sp>
      <p:sp>
        <p:nvSpPr>
          <p:cNvPr id="1048629" name="Arrow: Right 19"/>
          <p:cNvSpPr/>
          <p:nvPr/>
        </p:nvSpPr>
        <p:spPr>
          <a:xfrm>
            <a:off x="7059510" y="5199449"/>
            <a:ext cx="448310" cy="48450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NG"/>
          </a:p>
        </p:txBody>
      </p:sp>
      <p:sp>
        <p:nvSpPr>
          <p:cNvPr id="1048630" name="Rectangle 20"/>
          <p:cNvSpPr>
            <a:spLocks noChangeArrowheads="1"/>
          </p:cNvSpPr>
          <p:nvPr/>
        </p:nvSpPr>
        <p:spPr bwMode="auto">
          <a:xfrm>
            <a:off x="0" y="457200"/>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NG" altLang="en-NG"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br>
              <a:rPr kumimoji="0" lang="en-NG" altLang="en-NG" sz="1800" b="0" i="0" u="none" strike="noStrike" cap="none" normalizeH="0" baseline="0">
                <a:ln>
                  <a:noFill/>
                </a:ln>
                <a:solidFill>
                  <a:schemeClr val="tx1"/>
                </a:solidFill>
                <a:effectLst/>
                <a:latin typeface="Arial" panose="020B0604020202020204" pitchFamily="34" charset="0"/>
              </a:rPr>
            </a:br>
            <a:endParaRPr kumimoji="0" lang="en-NG" altLang="en-NG"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NG" altLang="en-NG" sz="1800" b="0" i="0" u="none" strike="noStrike" cap="none" normalizeH="0" baseline="0">
              <a:ln>
                <a:noFill/>
              </a:ln>
              <a:solidFill>
                <a:schemeClr val="tx1"/>
              </a:solidFill>
              <a:effectLst/>
              <a:latin typeface="Arial" panose="020B0604020202020204" pitchFamily="34" charset="0"/>
            </a:endParaRPr>
          </a:p>
        </p:txBody>
      </p:sp>
      <p:sp>
        <p:nvSpPr>
          <p:cNvPr id="1048631" name="Rectangle 21"/>
          <p:cNvSpPr>
            <a:spLocks noChangeArrowheads="1"/>
          </p:cNvSpPr>
          <p:nvPr/>
        </p:nvSpPr>
        <p:spPr bwMode="auto">
          <a:xfrm>
            <a:off x="286236" y="1262057"/>
            <a:ext cx="4152419" cy="738664"/>
          </a:xfrm>
          <a:prstGeom prst="rect">
            <a:avLst/>
          </a:prstGeom>
          <a:noFill/>
          <a:ln>
            <a:noFill/>
          </a:ln>
          <a:effec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929063" algn="l"/>
              </a:tabLst>
              <a:defRPr>
                <a:solidFill>
                  <a:schemeClr val="tx1"/>
                </a:solidFill>
                <a:latin typeface="Arial" panose="020B0604020202020204" pitchFamily="34" charset="0"/>
              </a:defRPr>
            </a:lvl1pPr>
            <a:lvl2pPr eaLnBrk="0" fontAlgn="base" hangingPunct="0">
              <a:spcBef>
                <a:spcPct val="0"/>
              </a:spcBef>
              <a:spcAft>
                <a:spcPct val="0"/>
              </a:spcAft>
              <a:tabLst>
                <a:tab pos="3929063" algn="l"/>
              </a:tabLst>
              <a:defRPr>
                <a:solidFill>
                  <a:schemeClr val="tx1"/>
                </a:solidFill>
                <a:latin typeface="Arial" panose="020B0604020202020204" pitchFamily="34" charset="0"/>
              </a:defRPr>
            </a:lvl2pPr>
            <a:lvl3pPr eaLnBrk="0" fontAlgn="base" hangingPunct="0">
              <a:spcBef>
                <a:spcPct val="0"/>
              </a:spcBef>
              <a:spcAft>
                <a:spcPct val="0"/>
              </a:spcAft>
              <a:tabLst>
                <a:tab pos="3929063" algn="l"/>
              </a:tabLst>
              <a:defRPr>
                <a:solidFill>
                  <a:schemeClr val="tx1"/>
                </a:solidFill>
                <a:latin typeface="Arial" panose="020B0604020202020204" pitchFamily="34" charset="0"/>
              </a:defRPr>
            </a:lvl3pPr>
            <a:lvl4pPr eaLnBrk="0" fontAlgn="base" hangingPunct="0">
              <a:spcBef>
                <a:spcPct val="0"/>
              </a:spcBef>
              <a:spcAft>
                <a:spcPct val="0"/>
              </a:spcAft>
              <a:tabLst>
                <a:tab pos="3929063" algn="l"/>
              </a:tabLst>
              <a:defRPr>
                <a:solidFill>
                  <a:schemeClr val="tx1"/>
                </a:solidFill>
                <a:latin typeface="Arial" panose="020B0604020202020204" pitchFamily="34" charset="0"/>
              </a:defRPr>
            </a:lvl4pPr>
            <a:lvl5pPr eaLnBrk="0" fontAlgn="base" hangingPunct="0">
              <a:spcBef>
                <a:spcPct val="0"/>
              </a:spcBef>
              <a:spcAft>
                <a:spcPct val="0"/>
              </a:spcAft>
              <a:tabLst>
                <a:tab pos="3929063" algn="l"/>
              </a:tabLst>
              <a:defRPr>
                <a:solidFill>
                  <a:schemeClr val="tx1"/>
                </a:solidFill>
                <a:latin typeface="Arial" panose="020B0604020202020204" pitchFamily="34" charset="0"/>
              </a:defRPr>
            </a:lvl5pPr>
            <a:lvl6pPr eaLnBrk="0" fontAlgn="base" hangingPunct="0">
              <a:spcBef>
                <a:spcPct val="0"/>
              </a:spcBef>
              <a:spcAft>
                <a:spcPct val="0"/>
              </a:spcAft>
              <a:tabLst>
                <a:tab pos="3929063" algn="l"/>
              </a:tabLst>
              <a:defRPr>
                <a:solidFill>
                  <a:schemeClr val="tx1"/>
                </a:solidFill>
                <a:latin typeface="Arial" panose="020B0604020202020204" pitchFamily="34" charset="0"/>
              </a:defRPr>
            </a:lvl6pPr>
            <a:lvl7pPr eaLnBrk="0" fontAlgn="base" hangingPunct="0">
              <a:spcBef>
                <a:spcPct val="0"/>
              </a:spcBef>
              <a:spcAft>
                <a:spcPct val="0"/>
              </a:spcAft>
              <a:tabLst>
                <a:tab pos="3929063" algn="l"/>
              </a:tabLst>
              <a:defRPr>
                <a:solidFill>
                  <a:schemeClr val="tx1"/>
                </a:solidFill>
                <a:latin typeface="Arial" panose="020B0604020202020204" pitchFamily="34" charset="0"/>
              </a:defRPr>
            </a:lvl7pPr>
            <a:lvl8pPr eaLnBrk="0" fontAlgn="base" hangingPunct="0">
              <a:spcBef>
                <a:spcPct val="0"/>
              </a:spcBef>
              <a:spcAft>
                <a:spcPct val="0"/>
              </a:spcAft>
              <a:tabLst>
                <a:tab pos="3929063" algn="l"/>
              </a:tabLst>
              <a:defRPr>
                <a:solidFill>
                  <a:schemeClr val="tx1"/>
                </a:solidFill>
                <a:latin typeface="Arial" panose="020B0604020202020204" pitchFamily="34" charset="0"/>
              </a:defRPr>
            </a:lvl8pPr>
            <a:lvl9pPr eaLnBrk="0" fontAlgn="base" hangingPunct="0">
              <a:spcBef>
                <a:spcPct val="0"/>
              </a:spcBef>
              <a:spcAft>
                <a:spcPct val="0"/>
              </a:spcAft>
              <a:tabLst>
                <a:tab pos="3929063"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929063" algn="l"/>
              </a:tabLst>
            </a:pPr>
            <a:r>
              <a:rPr kumimoji="0" lang="en-US" altLang="en-NG" sz="2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NG"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929063" algn="l"/>
              </a:tabLst>
            </a:pPr>
            <a:endParaRPr kumimoji="0" lang="en-US" altLang="en-NG" sz="1800" b="0" i="0" u="none" strike="noStrike" cap="none" normalizeH="0" baseline="0" dirty="0">
              <a:ln>
                <a:noFill/>
              </a:ln>
              <a:solidFill>
                <a:schemeClr val="tx1"/>
              </a:solidFill>
              <a:effectLst/>
              <a:latin typeface="Arial" panose="020B0604020202020204" pitchFamily="34" charset="0"/>
            </a:endParaRPr>
          </a:p>
        </p:txBody>
      </p:sp>
      <p:sp>
        <p:nvSpPr>
          <p:cNvPr id="1048632" name="Rectangle 28"/>
          <p:cNvSpPr>
            <a:spLocks noChangeArrowheads="1"/>
          </p:cNvSpPr>
          <p:nvPr/>
        </p:nvSpPr>
        <p:spPr bwMode="auto">
          <a:xfrm>
            <a:off x="-113899" y="388728"/>
            <a:ext cx="12192000" cy="45720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N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title"/>
          </p:nvPr>
        </p:nvSpPr>
        <p:spPr>
          <a:xfrm>
            <a:off x="838200" y="365125"/>
            <a:ext cx="10515600" cy="761031"/>
          </a:xfrm>
        </p:spPr>
        <p:txBody>
          <a:bodyPr>
            <a:normAutofit/>
          </a:bodyPr>
          <a:lstStyle/>
          <a:p>
            <a:r>
              <a:rPr lang="en-US" sz="2400" b="1" dirty="0">
                <a:latin typeface="Times New Roman" panose="02020603050405020304" pitchFamily="18" charset="0"/>
                <a:cs typeface="Times New Roman" panose="02020603050405020304" pitchFamily="18" charset="0"/>
              </a:rPr>
              <a:t>METHODOLOGY CONT’D</a:t>
            </a:r>
          </a:p>
        </p:txBody>
      </p:sp>
      <p:sp>
        <p:nvSpPr>
          <p:cNvPr id="1048634" name="Content Placeholder 3"/>
          <p:cNvSpPr>
            <a:spLocks noGrp="1"/>
          </p:cNvSpPr>
          <p:nvPr>
            <p:ph idx="1"/>
          </p:nvPr>
        </p:nvSpPr>
        <p:spPr>
          <a:xfrm>
            <a:off x="702644" y="1270534"/>
            <a:ext cx="10651156" cy="5419023"/>
          </a:xfrm>
        </p:spPr>
        <p:txBody>
          <a:bodyPr>
            <a:normAutofit/>
          </a:bodyPr>
          <a:lstStyle/>
          <a:p>
            <a:pPr marL="0" lvl="0" indent="0" algn="just">
              <a:lnSpc>
                <a:spcPct val="115000"/>
              </a:lnSpc>
              <a:buNone/>
            </a:pPr>
            <a:endParaRPr lang="en-US" sz="1800" dirty="0">
              <a:solidFill>
                <a:srgbClr val="FF0000"/>
              </a:solidFill>
              <a:effectLst/>
              <a:latin typeface="Times New Roman" panose="02020603050405020304" pitchFamily="18" charset="0"/>
              <a:ea typeface="Calibri" panose="020F0502020204030204" pitchFamily="34"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Descriptive research design: </a:t>
            </a:r>
            <a:r>
              <a:rPr lang="en-US" sz="2400" dirty="0">
                <a:latin typeface="Times New Roman" panose="02020603050405020304" pitchFamily="18" charset="0"/>
                <a:cs typeface="Times New Roman" panose="02020603050405020304" pitchFamily="18" charset="0"/>
              </a:rPr>
              <a:t>Cross-sectional </a:t>
            </a:r>
          </a:p>
          <a:p>
            <a:pPr>
              <a:lnSpc>
                <a:spcPct val="90000"/>
              </a:lnSpc>
            </a:pPr>
            <a:endParaRPr lang="en-US" sz="2400" dirty="0">
              <a:latin typeface="Times New Roman" panose="02020603050405020304" pitchFamily="18" charset="0"/>
              <a:cs typeface="Times New Roman" panose="02020603050405020304" pitchFamily="18"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Study Area: </a:t>
            </a:r>
            <a:r>
              <a:rPr lang="en-US" sz="2400" dirty="0">
                <a:latin typeface="Times New Roman" panose="02020603050405020304" pitchFamily="18" charset="0"/>
                <a:cs typeface="Times New Roman" panose="02020603050405020304" pitchFamily="18" charset="0"/>
              </a:rPr>
              <a:t>3 selected states in the North Central Zone: Kogi, Kwara, and Niger also Federal Capital Territory (FCT) Abuja</a:t>
            </a:r>
          </a:p>
          <a:p>
            <a:pPr marL="0" indent="0">
              <a:lnSpc>
                <a:spcPct val="90000"/>
              </a:lnSpc>
              <a:buNone/>
            </a:pPr>
            <a:endParaRPr lang="en-US" sz="2400" dirty="0">
              <a:latin typeface="Times New Roman" panose="02020603050405020304" pitchFamily="18" charset="0"/>
              <a:cs typeface="Times New Roman" panose="02020603050405020304" pitchFamily="18"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Population and Sampling: </a:t>
            </a:r>
            <a:r>
              <a:rPr lang="en-US" sz="2400" dirty="0">
                <a:latin typeface="Times New Roman" panose="02020603050405020304" pitchFamily="18" charset="0"/>
                <a:cs typeface="Times New Roman" panose="02020603050405020304" pitchFamily="18" charset="0"/>
              </a:rPr>
              <a:t>Multistage- Staff and Patients </a:t>
            </a:r>
          </a:p>
          <a:p>
            <a:pPr marL="0" indent="0">
              <a:lnSpc>
                <a:spcPct val="90000"/>
              </a:lnSpc>
              <a:buNone/>
            </a:pPr>
            <a:endParaRPr lang="en-US" sz="2400" dirty="0">
              <a:latin typeface="Times New Roman" panose="02020603050405020304" pitchFamily="18" charset="0"/>
              <a:cs typeface="Times New Roman" panose="02020603050405020304" pitchFamily="18"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Research Instrument: </a:t>
            </a:r>
            <a:r>
              <a:rPr lang="en-US" sz="2400" dirty="0">
                <a:latin typeface="Times New Roman" panose="02020603050405020304" pitchFamily="18" charset="0"/>
                <a:cs typeface="Times New Roman" panose="02020603050405020304" pitchFamily="18" charset="0"/>
              </a:rPr>
              <a:t>Questionnaire</a:t>
            </a:r>
            <a:r>
              <a:rPr lang="en-GB"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Expert reviews and pilot test) </a:t>
            </a:r>
          </a:p>
          <a:p>
            <a:pPr>
              <a:lnSpc>
                <a:spcPct val="90000"/>
              </a:lnSpc>
            </a:pPr>
            <a:endParaRPr lang="en-US" sz="2400" dirty="0">
              <a:latin typeface="Times New Roman" panose="02020603050405020304" pitchFamily="18" charset="0"/>
              <a:cs typeface="Times New Roman" panose="02020603050405020304" pitchFamily="18"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Method of Data Analysis: </a:t>
            </a:r>
            <a:r>
              <a:rPr lang="en-US" sz="2400" dirty="0">
                <a:latin typeface="Times New Roman" panose="02020603050405020304" pitchFamily="18" charset="0"/>
                <a:cs typeface="Times New Roman" panose="02020603050405020304" pitchFamily="18" charset="0"/>
              </a:rPr>
              <a:t>descriptive and inferential statistics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a:xfrm>
            <a:off x="838200" y="-164265"/>
            <a:ext cx="10515600" cy="1325563"/>
          </a:xfrm>
        </p:spPr>
        <p:txBody>
          <a:bodyPr>
            <a:normAutofit/>
          </a:bodyPr>
          <a:lstStyle/>
          <a:p>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METHODOLOGY CONT’D</a:t>
            </a:r>
            <a:endParaRPr lang="en-US" sz="2800" b="1" dirty="0">
              <a:latin typeface="Times New Roman" panose="02020603050405020304" pitchFamily="18" charset="0"/>
              <a:cs typeface="Times New Roman" panose="02020603050405020304" pitchFamily="18" charset="0"/>
            </a:endParaRPr>
          </a:p>
        </p:txBody>
      </p:sp>
      <p:sp>
        <p:nvSpPr>
          <p:cNvPr id="1048636" name="Content Placeholder 3"/>
          <p:cNvSpPr>
            <a:spLocks noGrp="1"/>
          </p:cNvSpPr>
          <p:nvPr>
            <p:ph idx="1"/>
          </p:nvPr>
        </p:nvSpPr>
        <p:spPr>
          <a:xfrm>
            <a:off x="702644" y="818146"/>
            <a:ext cx="10651156" cy="5419023"/>
          </a:xfrm>
        </p:spPr>
        <p:txBody>
          <a:bodyPr>
            <a:normAutofit/>
          </a:bodyPr>
          <a:lstStyle/>
          <a:p>
            <a:pPr marL="0" lvl="0" indent="0" algn="just">
              <a:lnSpc>
                <a:spcPct val="115000"/>
              </a:lnSpc>
              <a:buNone/>
            </a:pPr>
            <a:endParaRPr lang="en-US" sz="1800" dirty="0">
              <a:solidFill>
                <a:srgbClr val="FF0000"/>
              </a:solidFill>
              <a:effectLst/>
              <a:latin typeface="Times New Roman" panose="02020603050405020304" pitchFamily="18" charset="0"/>
              <a:ea typeface="Calibri" panose="020F0502020204030204" pitchFamily="34" charset="0"/>
            </a:endParaRPr>
          </a:p>
          <a:p>
            <a:pPr marL="0" indent="0">
              <a:lnSpc>
                <a:spcPct val="90000"/>
              </a:lnSpc>
              <a:buNone/>
            </a:pPr>
            <a:r>
              <a:rPr lang="en-US" sz="2400" b="1" dirty="0">
                <a:latin typeface="Times New Roman" panose="02020603050405020304" pitchFamily="18" charset="0"/>
                <a:cs typeface="Times New Roman" panose="02020603050405020304" pitchFamily="18" charset="0"/>
              </a:rPr>
              <a:t>Table 2: Variables and Measurement </a:t>
            </a:r>
          </a:p>
          <a:p>
            <a:pPr marL="0" indent="0">
              <a:lnSpc>
                <a:spcPct val="90000"/>
              </a:lnSpc>
              <a:buNone/>
            </a:pPr>
            <a:endParaRPr lang="en-US" sz="2400" dirty="0">
              <a:latin typeface="Times New Roman" panose="02020603050405020304" pitchFamily="18" charset="0"/>
              <a:cs typeface="Times New Roman" panose="02020603050405020304" pitchFamily="18" charset="0"/>
            </a:endParaRPr>
          </a:p>
        </p:txBody>
      </p:sp>
      <p:graphicFrame>
        <p:nvGraphicFramePr>
          <p:cNvPr id="4194304" name="Table 5"/>
          <p:cNvGraphicFramePr>
            <a:graphicFrameLocks noGrp="1"/>
          </p:cNvGraphicFramePr>
          <p:nvPr>
            <p:extLst>
              <p:ext uri="{D42A27DB-BD31-4B8C-83A1-F6EECF244321}">
                <p14:modId xmlns:p14="http://schemas.microsoft.com/office/powerpoint/2010/main" val="839203047"/>
              </p:ext>
            </p:extLst>
          </p:nvPr>
        </p:nvGraphicFramePr>
        <p:xfrm>
          <a:off x="470452" y="1838739"/>
          <a:ext cx="10278978" cy="5068855"/>
        </p:xfrm>
        <a:graphic>
          <a:graphicData uri="http://schemas.openxmlformats.org/drawingml/2006/table">
            <a:tbl>
              <a:tblPr firstRow="1" bandRow="1">
                <a:tableStyleId>{5C22544A-7EE6-4342-B048-85BDC9FD1C3A}</a:tableStyleId>
              </a:tblPr>
              <a:tblGrid>
                <a:gridCol w="1673995">
                  <a:extLst>
                    <a:ext uri="{9D8B030D-6E8A-4147-A177-3AD203B41FA5}">
                      <a16:colId xmlns:a16="http://schemas.microsoft.com/office/drawing/2014/main" val="20000"/>
                    </a:ext>
                  </a:extLst>
                </a:gridCol>
                <a:gridCol w="239669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84933">
                  <a:extLst>
                    <a:ext uri="{9D8B030D-6E8A-4147-A177-3AD203B41FA5}">
                      <a16:colId xmlns:a16="http://schemas.microsoft.com/office/drawing/2014/main" val="20004"/>
                    </a:ext>
                  </a:extLst>
                </a:gridCol>
              </a:tblGrid>
              <a:tr h="826479">
                <a:tc>
                  <a:txBody>
                    <a:bodyPr/>
                    <a:lstStyle/>
                    <a:p>
                      <a:r>
                        <a:rPr lang="en-US" sz="2400" b="1" dirty="0">
                          <a:solidFill>
                            <a:schemeClr val="tx1"/>
                          </a:solidFill>
                          <a:latin typeface="Times New Roman" panose="02020603050405020304" pitchFamily="18" charset="0"/>
                          <a:cs typeface="Times New Roman" panose="02020603050405020304" pitchFamily="18" charset="0"/>
                        </a:rPr>
                        <a:t>Objective</a:t>
                      </a:r>
                      <a:endParaRPr lang="en-NG" sz="2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b="1" dirty="0">
                          <a:solidFill>
                            <a:schemeClr val="tx1"/>
                          </a:solidFill>
                          <a:latin typeface="Times New Roman" panose="02020603050405020304" pitchFamily="18" charset="0"/>
                          <a:cs typeface="Times New Roman" panose="02020603050405020304" pitchFamily="18" charset="0"/>
                        </a:rPr>
                        <a:t>Variable</a:t>
                      </a:r>
                      <a:endParaRPr lang="en-NG" sz="2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b="1" dirty="0">
                          <a:solidFill>
                            <a:schemeClr val="tx1"/>
                          </a:solidFill>
                          <a:latin typeface="Times New Roman" panose="02020603050405020304" pitchFamily="18" charset="0"/>
                          <a:cs typeface="Times New Roman" panose="02020603050405020304" pitchFamily="18" charset="0"/>
                        </a:rPr>
                        <a:t>Item</a:t>
                      </a:r>
                      <a:endParaRPr lang="en-NG" sz="2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Measurement</a:t>
                      </a:r>
                      <a:endParaRPr kumimoji="0" lang="en-NG"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Source</a:t>
                      </a:r>
                    </a:p>
                  </a:txBody>
                  <a:tcPr/>
                </a:tc>
                <a:extLst>
                  <a:ext uri="{0D108BD9-81ED-4DB2-BD59-A6C34878D82A}">
                    <a16:rowId xmlns:a16="http://schemas.microsoft.com/office/drawing/2014/main" val="10000"/>
                  </a:ext>
                </a:extLst>
              </a:tr>
              <a:tr h="1224856">
                <a:tc>
                  <a:txBody>
                    <a:bodyPr/>
                    <a:lstStyle/>
                    <a:p>
                      <a:pPr algn="ctr"/>
                      <a:r>
                        <a:rPr lang="en-US" sz="2400" dirty="0">
                          <a:latin typeface="Times New Roman" panose="02020603050405020304" pitchFamily="18" charset="0"/>
                          <a:cs typeface="Times New Roman" panose="02020603050405020304" pitchFamily="18" charset="0"/>
                        </a:rPr>
                        <a:t>1</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AI-driven Technologies</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Whether adopting or not</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Yes or No</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Kabukye</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et al. </a:t>
                      </a:r>
                      <a:r>
                        <a:rPr lang="en-US" dirty="0">
                          <a:latin typeface="Times New Roman" panose="02020603050405020304" pitchFamily="18" charset="0"/>
                          <a:cs typeface="Times New Roman" panose="02020603050405020304" pitchFamily="18" charset="0"/>
                        </a:rPr>
                        <a:t>(2022) and Slater </a:t>
                      </a:r>
                      <a:r>
                        <a:rPr lang="en-US" i="1" dirty="0">
                          <a:latin typeface="Times New Roman" panose="02020603050405020304" pitchFamily="18" charset="0"/>
                          <a:cs typeface="Times New Roman" panose="02020603050405020304" pitchFamily="18" charset="0"/>
                        </a:rPr>
                        <a:t>et al.</a:t>
                      </a:r>
                      <a:r>
                        <a:rPr lang="en-US" dirty="0">
                          <a:latin typeface="Times New Roman" panose="02020603050405020304" pitchFamily="18" charset="0"/>
                          <a:cs typeface="Times New Roman" panose="02020603050405020304" pitchFamily="18" charset="0"/>
                        </a:rPr>
                        <a:t> (2016)</a:t>
                      </a:r>
                      <a:endParaRPr lang="en-NG"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732372">
                <a:tc>
                  <a:txBody>
                    <a:bodyPr/>
                    <a:lstStyle/>
                    <a:p>
                      <a:pPr algn="ctr"/>
                      <a:r>
                        <a:rPr lang="en-US" sz="2400" dirty="0">
                          <a:latin typeface="Times New Roman" panose="02020603050405020304" pitchFamily="18" charset="0"/>
                          <a:cs typeface="Times New Roman" panose="02020603050405020304" pitchFamily="18" charset="0"/>
                        </a:rPr>
                        <a:t>2</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Gig Economy Opportunities</a:t>
                      </a:r>
                    </a:p>
                  </a:txBody>
                  <a:tcPr/>
                </a:tc>
                <a:tc>
                  <a:txBody>
                    <a:bodyPr/>
                    <a:lstStyle/>
                    <a:p>
                      <a:r>
                        <a:rPr lang="en-US" sz="2400" dirty="0">
                          <a:latin typeface="Times New Roman" panose="02020603050405020304" pitchFamily="18" charset="0"/>
                          <a:cs typeface="Times New Roman" panose="02020603050405020304" pitchFamily="18" charset="0"/>
                        </a:rPr>
                        <a:t>Whether AI-driven EHTs  have impacts on Gig Economy or not</a:t>
                      </a:r>
                    </a:p>
                    <a:p>
                      <a:endParaRPr lang="en-US" sz="2400" dirty="0">
                        <a:latin typeface="Times New Roman" panose="02020603050405020304" pitchFamily="18" charset="0"/>
                        <a:cs typeface="Times New Roman" panose="02020603050405020304" pitchFamily="18" charset="0"/>
                      </a:endParaRPr>
                    </a:p>
                    <a:p>
                      <a:endParaRPr lang="en-NG"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Yes or No</a:t>
                      </a:r>
                      <a:endParaRPr lang="en-NG" sz="2400"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Alanezi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Alanzi</a:t>
                      </a:r>
                      <a:r>
                        <a:rPr lang="en-US" dirty="0">
                          <a:latin typeface="Times New Roman" panose="02020603050405020304" pitchFamily="18" charset="0"/>
                          <a:cs typeface="Times New Roman" panose="02020603050405020304" pitchFamily="18" charset="0"/>
                        </a:rPr>
                        <a:t>, 2020</a:t>
                      </a:r>
                      <a:endParaRPr lang="en-NG"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fld id="{B208CCC3-652F-4205-A65B-CEEBC18F9B3C}" type="slidenum">
              <a:rPr lang="en-US">
                <a:solidFill>
                  <a:srgbClr val="000000"/>
                </a:solidFill>
              </a:rPr>
              <a:pPr eaLnBrk="1" fontAlgn="base" hangingPunct="1">
                <a:spcBef>
                  <a:spcPct val="0"/>
                </a:spcBef>
                <a:spcAft>
                  <a:spcPct val="0"/>
                </a:spcAft>
              </a:pPr>
              <a:t>16</a:t>
            </a:fld>
            <a:endParaRPr lang="en-US">
              <a:solidFill>
                <a:srgbClr val="000000"/>
              </a:solidFill>
            </a:endParaRPr>
          </a:p>
        </p:txBody>
      </p:sp>
      <p:sp>
        <p:nvSpPr>
          <p:cNvPr id="1048648" name="Rectangle 3"/>
          <p:cNvSpPr>
            <a:spLocks noGrp="1" noChangeArrowheads="1"/>
          </p:cNvSpPr>
          <p:nvPr>
            <p:ph type="body" idx="1"/>
          </p:nvPr>
        </p:nvSpPr>
        <p:spPr>
          <a:xfrm>
            <a:off x="0" y="0"/>
            <a:ext cx="11733196" cy="6858000"/>
          </a:xfrm>
        </p:spPr>
        <p:txBody>
          <a:bodyPr/>
          <a:lstStyle/>
          <a:p>
            <a:pPr algn="just" eaLnBrk="1" hangingPunct="1">
              <a:buNone/>
            </a:pPr>
            <a:r>
              <a:rPr lang="en-US" sz="2400" b="1" dirty="0">
                <a:latin typeface="Times New Roman" pitchFamily="18" charset="0"/>
                <a:cs typeface="Times New Roman" pitchFamily="18" charset="0"/>
              </a:rPr>
              <a:t>  RESULTS AND DISCUSSION</a:t>
            </a:r>
          </a:p>
          <a:p>
            <a:pPr algn="just" eaLnBrk="1" hangingPunct="1">
              <a:buNone/>
            </a:pPr>
            <a:r>
              <a:rPr lang="en-US" sz="2000" b="1" dirty="0">
                <a:solidFill>
                  <a:srgbClr val="000000"/>
                </a:solidFill>
                <a:latin typeface="Times New Roman" pitchFamily="18" charset="0"/>
                <a:cs typeface="Times New Roman" pitchFamily="18" charset="0"/>
              </a:rPr>
              <a:t>Table 3: </a:t>
            </a:r>
            <a:r>
              <a:rPr lang="en-US" sz="2000" b="1" dirty="0">
                <a:solidFill>
                  <a:srgbClr val="000000"/>
                </a:solidFill>
                <a:latin typeface="Times New Roman"/>
                <a:ea typeface="Calibri"/>
              </a:rPr>
              <a:t>Socio-Demographic Characteristics of Respondents</a:t>
            </a:r>
            <a:endParaRPr lang="en-US" sz="3600" b="1" dirty="0">
              <a:solidFill>
                <a:srgbClr val="000000"/>
              </a:solidFill>
              <a:latin typeface="Times New Roman" pitchFamily="18" charset="0"/>
              <a:cs typeface="Times New Roman" pitchFamily="18" charset="0"/>
            </a:endParaRPr>
          </a:p>
          <a:p>
            <a:pPr marL="0" indent="0" algn="just">
              <a:lnSpc>
                <a:spcPct val="150000"/>
              </a:lnSpc>
              <a:buNone/>
            </a:pPr>
            <a:endParaRPr lang="en-US" sz="2400" dirty="0">
              <a:solidFill>
                <a:srgbClr val="000000"/>
              </a:solidFill>
              <a:latin typeface="Times New Roman" pitchFamily="18" charset="0"/>
              <a:cs typeface="Times New Roman" pitchFamily="18" charset="0"/>
            </a:endParaRPr>
          </a:p>
          <a:p>
            <a:pPr algn="just">
              <a:buFontTx/>
              <a:buNone/>
            </a:pPr>
            <a:endParaRPr lang="en-US" sz="1900" dirty="0">
              <a:latin typeface="Times New Roman" pitchFamily="18" charset="0"/>
              <a:cs typeface="Times New Roman" pitchFamily="18" charset="0"/>
            </a:endParaRPr>
          </a:p>
          <a:p>
            <a:pPr algn="just">
              <a:buFontTx/>
              <a:buNone/>
            </a:pPr>
            <a:r>
              <a:rPr lang="en-US" sz="1900" b="1" dirty="0">
                <a:latin typeface="Times New Roman" pitchFamily="18" charset="0"/>
                <a:cs typeface="Times New Roman" pitchFamily="18" charset="0"/>
              </a:rPr>
              <a:t>   </a:t>
            </a:r>
            <a:endParaRPr lang="en-US" sz="1900" dirty="0">
              <a:latin typeface="Times New Roman" pitchFamily="18" charset="0"/>
              <a:cs typeface="Times New Roman" pitchFamily="18" charset="0"/>
            </a:endParaRPr>
          </a:p>
        </p:txBody>
      </p:sp>
      <p:graphicFrame>
        <p:nvGraphicFramePr>
          <p:cNvPr id="4194305" name="Table 2"/>
          <p:cNvGraphicFramePr>
            <a:graphicFrameLocks noGrp="1"/>
          </p:cNvGraphicFramePr>
          <p:nvPr/>
        </p:nvGraphicFramePr>
        <p:xfrm>
          <a:off x="133149" y="801416"/>
          <a:ext cx="11925702" cy="6447250"/>
        </p:xfrm>
        <a:graphic>
          <a:graphicData uri="http://schemas.openxmlformats.org/drawingml/2006/table">
            <a:tbl>
              <a:tblPr firstRow="1" firstCol="1"/>
              <a:tblGrid>
                <a:gridCol w="2616016">
                  <a:extLst>
                    <a:ext uri="{9D8B030D-6E8A-4147-A177-3AD203B41FA5}">
                      <a16:colId xmlns:a16="http://schemas.microsoft.com/office/drawing/2014/main" val="20000"/>
                    </a:ext>
                  </a:extLst>
                </a:gridCol>
                <a:gridCol w="2471274">
                  <a:extLst>
                    <a:ext uri="{9D8B030D-6E8A-4147-A177-3AD203B41FA5}">
                      <a16:colId xmlns:a16="http://schemas.microsoft.com/office/drawing/2014/main" val="20001"/>
                    </a:ext>
                  </a:extLst>
                </a:gridCol>
                <a:gridCol w="2388224">
                  <a:extLst>
                    <a:ext uri="{9D8B030D-6E8A-4147-A177-3AD203B41FA5}">
                      <a16:colId xmlns:a16="http://schemas.microsoft.com/office/drawing/2014/main" val="20002"/>
                    </a:ext>
                  </a:extLst>
                </a:gridCol>
                <a:gridCol w="2388224">
                  <a:extLst>
                    <a:ext uri="{9D8B030D-6E8A-4147-A177-3AD203B41FA5}">
                      <a16:colId xmlns:a16="http://schemas.microsoft.com/office/drawing/2014/main" val="20003"/>
                    </a:ext>
                  </a:extLst>
                </a:gridCol>
                <a:gridCol w="2061964">
                  <a:extLst>
                    <a:ext uri="{9D8B030D-6E8A-4147-A177-3AD203B41FA5}">
                      <a16:colId xmlns:a16="http://schemas.microsoft.com/office/drawing/2014/main" val="20004"/>
                    </a:ext>
                  </a:extLst>
                </a:gridCol>
              </a:tblGrid>
              <a:tr h="400540">
                <a:tc>
                  <a:txBody>
                    <a:bodyPr/>
                    <a:lstStyle/>
                    <a:p>
                      <a:pPr marL="0" marR="0" algn="just">
                        <a:lnSpc>
                          <a:spcPct val="15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Characteristics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Frequency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Characteristics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Frequency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5445">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tcPr>
                </a:tc>
                <a:tc>
                  <a:txBody>
                    <a:bodyPr/>
                    <a:lstStyle/>
                    <a:p>
                      <a:pPr marL="0" marR="0" algn="just">
                        <a:lnSpc>
                          <a:spcPct val="120000"/>
                        </a:lnSpc>
                        <a:spcBef>
                          <a:spcPts val="0"/>
                        </a:spcBef>
                        <a:spcAft>
                          <a:spcPts val="0"/>
                        </a:spcAft>
                      </a:pPr>
                      <a:r>
                        <a:rPr lang="en-US" sz="16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Staff</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tcPr>
                </a:tc>
                <a:tc>
                  <a:txBody>
                    <a:bodyPr/>
                    <a:lstStyle/>
                    <a:p>
                      <a:pPr algn="l">
                        <a:lnSpc>
                          <a:spcPct val="120000"/>
                        </a:lnSpc>
                      </a:pPr>
                      <a:endParaRPr lang="en-US" sz="1100">
                        <a:effectLst/>
                        <a:latin typeface="Century Gothic" panose="020B0502020202020204" pitchFamily="34"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tcPr>
                </a:tc>
                <a:tc>
                  <a:txBody>
                    <a:bodyPr/>
                    <a:lstStyle/>
                    <a:p>
                      <a:pPr marL="0" marR="0" algn="just">
                        <a:lnSpc>
                          <a:spcPct val="120000"/>
                        </a:lnSpc>
                        <a:spcBef>
                          <a:spcPts val="0"/>
                        </a:spcBef>
                        <a:spcAft>
                          <a:spcPts val="0"/>
                        </a:spcAft>
                      </a:pPr>
                      <a:r>
                        <a:rPr lang="en-US" sz="16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Patients</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tcPr>
                </a:tc>
                <a:extLst>
                  <a:ext uri="{0D108BD9-81ED-4DB2-BD59-A6C34878D82A}">
                    <a16:rowId xmlns:a16="http://schemas.microsoft.com/office/drawing/2014/main" val="10001"/>
                  </a:ext>
                </a:extLst>
              </a:tr>
              <a:tr h="171519">
                <a:tc rowSpan="3">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Gender</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Male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63 (52.5)</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Female</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70 (58.3)</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2"/>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Female</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57 (47.5)</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Male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50 (41.7)</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3"/>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120 (100)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120 (100)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4"/>
                  </a:ext>
                </a:extLst>
              </a:tr>
              <a:tr h="171519">
                <a:tc rowSpan="4">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Age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30-50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54 (45.0)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&gt;55 years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52 (43.3)</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5"/>
                  </a:ext>
                </a:extLst>
              </a:tr>
              <a:tr h="327245">
                <a:tc vMerge="1">
                  <a:txBody>
                    <a:bodyPr/>
                    <a:lstStyle/>
                    <a:p>
                      <a:endParaRPr lang="en-US"/>
                    </a:p>
                  </a:txBody>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 30 years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42 (35.0)</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30-50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49 (40.8)</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6"/>
                  </a:ext>
                </a:extLst>
              </a:tr>
              <a:tr h="159714">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&gt;55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 (20.0)</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 30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 (15.8)</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7"/>
                  </a:ext>
                </a:extLst>
              </a:tr>
              <a:tr h="159714">
                <a:tc vMerge="1">
                  <a:txBody>
                    <a:bodyPr/>
                    <a:lstStyle/>
                    <a:p>
                      <a:endParaRPr lang="en-US"/>
                    </a:p>
                  </a:txBody>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120 (100)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120 (100)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8"/>
                  </a:ext>
                </a:extLst>
              </a:tr>
              <a:tr h="171519">
                <a:tc rowSpan="6">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Qualifications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BSc/HND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59 (49.2)</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BSc/HND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66 (55.0)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09"/>
                  </a:ext>
                </a:extLst>
              </a:tr>
              <a:tr h="327245">
                <a:tc vMerge="1">
                  <a:txBody>
                    <a:bodyPr/>
                    <a:lstStyle/>
                    <a:p>
                      <a:endParaRPr lang="en-US"/>
                    </a:p>
                  </a:txBody>
                  <a:tcPr/>
                </a:tc>
                <a:tc>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Lower than BSc/HND</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22 (18.3)</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Lower than BSc/HND</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29 (24.2)</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0"/>
                  </a:ext>
                </a:extLst>
              </a:tr>
              <a:tr h="327245">
                <a:tc vMerge="1">
                  <a:txBody>
                    <a:bodyPr/>
                    <a:lstStyle/>
                    <a:p>
                      <a:endParaRPr lang="en-US"/>
                    </a:p>
                  </a:txBody>
                  <a:tcPr/>
                </a:tc>
                <a:tc>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Postgraduate Qualifications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16 (13.3)</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Postgraduate Qualifications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9 (7.5)</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1"/>
                  </a:ext>
                </a:extLst>
              </a:tr>
              <a:tr h="366664">
                <a:tc vMerge="1">
                  <a:txBody>
                    <a:bodyPr/>
                    <a:lstStyle/>
                    <a:p>
                      <a:endParaRPr lang="en-US"/>
                    </a:p>
                  </a:txBody>
                  <a:tcPr/>
                </a:tc>
                <a:tc>
                  <a:txBody>
                    <a:bodyPr/>
                    <a:lstStyle/>
                    <a:p>
                      <a:pPr marL="0" marR="0" algn="l">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Professional Certification</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14 (11.7)</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Professional Certification</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9(7.5)</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2"/>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Others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9 (7.5)</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Others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 (5.8)</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3"/>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Total</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120 (100)</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entury Gothic" panose="020B0502020202020204" pitchFamily="34" charset="0"/>
                          <a:cs typeface="Times New Roman" panose="02020603050405020304" pitchFamily="18" charset="0"/>
                        </a:rPr>
                        <a:t>120 (100)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4"/>
                  </a:ext>
                </a:extLst>
              </a:tr>
              <a:tr h="159714">
                <a:tc rowSpan="4">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Computer Knowledge</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Intermediate</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73 (60.8)</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Intermediate</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65 (54.2)</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5"/>
                  </a:ext>
                </a:extLst>
              </a:tr>
              <a:tr h="0">
                <a:tc vMerge="1">
                  <a:txBody>
                    <a:bodyPr/>
                    <a:lstStyle/>
                    <a:p>
                      <a:endParaRPr lang="en-US"/>
                    </a:p>
                  </a:txBody>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Advanced</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26 (21.7)</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Advanced</a:t>
                      </a:r>
                    </a:p>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Novice</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100" dirty="0">
                          <a:effectLst/>
                          <a:latin typeface="Century Gothic" panose="020B0502020202020204" pitchFamily="34" charset="0"/>
                          <a:ea typeface="Century Gothic" panose="020B0502020202020204" pitchFamily="34" charset="0"/>
                          <a:cs typeface="Times New Roman" panose="02020603050405020304" pitchFamily="18" charset="0"/>
                        </a:rPr>
                        <a:t>28 (23.3)</a:t>
                      </a:r>
                    </a:p>
                    <a:p>
                      <a:pPr marL="0" marR="0" algn="just">
                        <a:lnSpc>
                          <a:spcPct val="120000"/>
                        </a:lnSpc>
                        <a:spcBef>
                          <a:spcPts val="0"/>
                        </a:spcBef>
                        <a:spcAft>
                          <a:spcPts val="0"/>
                        </a:spcAft>
                      </a:pPr>
                      <a:r>
                        <a:rPr lang="en-US" sz="1100" dirty="0">
                          <a:effectLst/>
                          <a:latin typeface="Century Gothic" panose="020B0502020202020204" pitchFamily="34" charset="0"/>
                          <a:ea typeface="Century Gothic" panose="020B0502020202020204" pitchFamily="34" charset="0"/>
                          <a:cs typeface="Times New Roman" panose="02020603050405020304" pitchFamily="18" charset="0"/>
                        </a:rPr>
                        <a:t>27 (22.5)</a:t>
                      </a:r>
                    </a:p>
                  </a:txBody>
                  <a:tcPr marL="32598" marR="32598" marT="6190" marB="0">
                    <a:lnL>
                      <a:noFill/>
                    </a:lnL>
                    <a:lnR>
                      <a:noFill/>
                    </a:lnR>
                    <a:lnT>
                      <a:noFill/>
                    </a:lnT>
                    <a:lnB>
                      <a:noFill/>
                    </a:lnB>
                  </a:tcPr>
                </a:tc>
                <a:extLst>
                  <a:ext uri="{0D108BD9-81ED-4DB2-BD59-A6C34878D82A}">
                    <a16:rowId xmlns:a16="http://schemas.microsoft.com/office/drawing/2014/main" val="10016"/>
                  </a:ext>
                </a:extLst>
              </a:tr>
              <a:tr h="0">
                <a:tc vMerge="1">
                  <a:txBody>
                    <a:bodyPr/>
                    <a:lstStyle/>
                    <a:p>
                      <a:endParaRPr lang="en-US"/>
                    </a:p>
                  </a:txBody>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Novice</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21 (17.5)</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7"/>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120(100)</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Total</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120(100)</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8"/>
                  </a:ext>
                </a:extLst>
              </a:tr>
              <a:tr h="171519">
                <a:tc rowSpan="5">
                  <a:txBody>
                    <a:bodyPr/>
                    <a:lstStyle/>
                    <a:p>
                      <a:pPr marL="0" marR="0" algn="l">
                        <a:lnSpc>
                          <a:spcPct val="106000"/>
                        </a:lnSpc>
                        <a:spcBef>
                          <a:spcPts val="0"/>
                        </a:spcBef>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Job Experience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lnSpc>
                          <a:spcPct val="120000"/>
                        </a:lnSpc>
                        <a:spcBef>
                          <a:spcPts val="0"/>
                        </a:spcBef>
                        <a:spcAft>
                          <a:spcPts val="0"/>
                        </a:spcAf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10 -15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34 (28.3)</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19"/>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6 - 9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27 (22.5)</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20"/>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0 - 5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21 (17.5)</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21"/>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16 - 25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 (16.7)</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22"/>
                  </a:ext>
                </a:extLst>
              </a:tr>
              <a:tr h="171519">
                <a:tc vMerge="1">
                  <a:txBody>
                    <a:bodyPr/>
                    <a:lstStyle/>
                    <a:p>
                      <a:endParaRPr lang="en-US"/>
                    </a:p>
                  </a:txBody>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Above 25 years</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18 (15.0)</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a:noFill/>
                    </a:lnB>
                  </a:tcPr>
                </a:tc>
                <a:extLst>
                  <a:ext uri="{0D108BD9-81ED-4DB2-BD59-A6C34878D82A}">
                    <a16:rowId xmlns:a16="http://schemas.microsoft.com/office/drawing/2014/main" val="10023"/>
                  </a:ext>
                </a:extLst>
              </a:tr>
              <a:tr h="228028">
                <a:tc>
                  <a:txBody>
                    <a:bodyPr/>
                    <a:lstStyle/>
                    <a:p>
                      <a:pPr marL="0" marR="0" algn="l">
                        <a:lnSpc>
                          <a:spcPct val="120000"/>
                        </a:lnSpc>
                        <a:spcBef>
                          <a:spcPts val="0"/>
                        </a:spcBef>
                        <a:spcAft>
                          <a:spcPts val="0"/>
                        </a:spcAf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100" b="1" kern="1200" dirty="0">
                          <a:solidFill>
                            <a:srgbClr val="000000"/>
                          </a:solidFill>
                          <a:effectLst/>
                          <a:latin typeface="Century Gothic" panose="020B0502020202020204" pitchFamily="34" charset="0"/>
                          <a:ea typeface="Calibri" panose="020F0502020204030204" pitchFamily="34" charset="0"/>
                        </a:rPr>
                        <a:t>Total</a:t>
                      </a:r>
                      <a:endParaRPr lang="en-US" sz="1100" dirty="0">
                        <a:effectLst/>
                        <a:latin typeface="Century Gothic" panose="020B0502020202020204" pitchFamily="34" charset="0"/>
                        <a:ea typeface="Times New Roman" panose="02020603050405020304" pitchFamily="18" charset="0"/>
                      </a:endParaRPr>
                    </a:p>
                  </a:txBody>
                  <a:tcPr marL="32598" marR="32598" marT="619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100" b="1" kern="1200" dirty="0">
                          <a:solidFill>
                            <a:srgbClr val="000000"/>
                          </a:solidFill>
                          <a:effectLst/>
                          <a:latin typeface="Century Gothic" panose="020B0502020202020204" pitchFamily="34" charset="0"/>
                          <a:ea typeface="Calibri" panose="020F0502020204030204" pitchFamily="34" charset="0"/>
                        </a:rPr>
                        <a:t>120 (100)</a:t>
                      </a:r>
                      <a:endParaRPr lang="en-US" sz="1100" dirty="0">
                        <a:effectLst/>
                        <a:latin typeface="Century Gothic" panose="020B0502020202020204" pitchFamily="34" charset="0"/>
                        <a:ea typeface="Times New Roman" panose="02020603050405020304" pitchFamily="18" charset="0"/>
                      </a:endParaRPr>
                    </a:p>
                  </a:txBody>
                  <a:tcPr marL="32598" marR="32598" marT="619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20000"/>
                        </a:lnSpc>
                        <a:spcBef>
                          <a:spcPts val="0"/>
                        </a:spcBef>
                        <a:spcAft>
                          <a:spcPts val="0"/>
                        </a:spcAft>
                      </a:pPr>
                      <a:r>
                        <a:rPr lang="en-US" sz="1200" b="1"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20000"/>
                        </a:lnSpc>
                        <a:spcBef>
                          <a:spcPts val="0"/>
                        </a:spcBef>
                        <a:spcAft>
                          <a:spcPts val="0"/>
                        </a:spcAft>
                      </a:pPr>
                      <a:r>
                        <a:rPr lang="en-US" sz="12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entury Gothic" panose="020B0502020202020204" pitchFamily="34" charset="0"/>
                        <a:cs typeface="Times New Roman" panose="02020603050405020304" pitchFamily="18" charset="0"/>
                      </a:endParaRPr>
                    </a:p>
                  </a:txBody>
                  <a:tcPr marL="32598" marR="32598" marT="619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transition advClick="0" advTm="22963"/>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fld id="{B208CCC3-652F-4205-A65B-CEEBC18F9B3C}" type="slidenum">
              <a:rPr lang="en-US">
                <a:solidFill>
                  <a:srgbClr val="000000"/>
                </a:solidFill>
              </a:rPr>
              <a:pPr eaLnBrk="1" fontAlgn="base" hangingPunct="1">
                <a:spcBef>
                  <a:spcPct val="0"/>
                </a:spcBef>
                <a:spcAft>
                  <a:spcPct val="0"/>
                </a:spcAft>
              </a:pPr>
              <a:t>17</a:t>
            </a:fld>
            <a:endParaRPr lang="en-US">
              <a:solidFill>
                <a:srgbClr val="000000"/>
              </a:solidFill>
            </a:endParaRPr>
          </a:p>
        </p:txBody>
      </p:sp>
      <p:sp>
        <p:nvSpPr>
          <p:cNvPr id="1048650" name="Rectangle 3"/>
          <p:cNvSpPr>
            <a:spLocks noGrp="1" noChangeArrowheads="1"/>
          </p:cNvSpPr>
          <p:nvPr>
            <p:ph type="body" idx="1"/>
          </p:nvPr>
        </p:nvSpPr>
        <p:spPr>
          <a:xfrm>
            <a:off x="1828800" y="0"/>
            <a:ext cx="8458200" cy="6858000"/>
          </a:xfrm>
        </p:spPr>
        <p:txBody>
          <a:bodyPr/>
          <a:lstStyle/>
          <a:p>
            <a:pPr algn="just" eaLnBrk="1" hangingPunct="1">
              <a:buNone/>
            </a:pPr>
            <a:r>
              <a:rPr lang="en-US" sz="1800" b="1" dirty="0">
                <a:latin typeface="Times New Roman" pitchFamily="18" charset="0"/>
                <a:cs typeface="Times New Roman" pitchFamily="18" charset="0"/>
              </a:rPr>
              <a:t>  </a:t>
            </a:r>
            <a:endParaRPr lang="en-US" sz="1900" dirty="0">
              <a:latin typeface="Times New Roman" pitchFamily="18" charset="0"/>
              <a:cs typeface="Times New Roman" pitchFamily="18" charset="0"/>
            </a:endParaRPr>
          </a:p>
        </p:txBody>
      </p:sp>
      <p:graphicFrame>
        <p:nvGraphicFramePr>
          <p:cNvPr id="4194306" name="Chart 4"/>
          <p:cNvGraphicFramePr>
            <a:graphicFrameLocks/>
          </p:cNvGraphicFramePr>
          <p:nvPr>
            <p:extLst>
              <p:ext uri="{D42A27DB-BD31-4B8C-83A1-F6EECF244321}">
                <p14:modId xmlns:p14="http://schemas.microsoft.com/office/powerpoint/2010/main" val="1669393237"/>
              </p:ext>
            </p:extLst>
          </p:nvPr>
        </p:nvGraphicFramePr>
        <p:xfrm>
          <a:off x="924026" y="213518"/>
          <a:ext cx="9586762" cy="6430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advClick="0" advTm="22963"/>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fld id="{B208CCC3-652F-4205-A65B-CEEBC18F9B3C}" type="slidenum">
              <a:rPr lang="en-US">
                <a:solidFill>
                  <a:srgbClr val="000000"/>
                </a:solidFill>
              </a:rPr>
              <a:pPr eaLnBrk="1" fontAlgn="base" hangingPunct="1">
                <a:spcBef>
                  <a:spcPct val="0"/>
                </a:spcBef>
                <a:spcAft>
                  <a:spcPct val="0"/>
                </a:spcAft>
              </a:pPr>
              <a:t>18</a:t>
            </a:fld>
            <a:endParaRPr lang="en-US">
              <a:solidFill>
                <a:srgbClr val="000000"/>
              </a:solidFill>
            </a:endParaRPr>
          </a:p>
        </p:txBody>
      </p:sp>
      <p:sp>
        <p:nvSpPr>
          <p:cNvPr id="1048652" name="Rectangle 3"/>
          <p:cNvSpPr>
            <a:spLocks noGrp="1" noChangeArrowheads="1"/>
          </p:cNvSpPr>
          <p:nvPr>
            <p:ph type="body" idx="1"/>
          </p:nvPr>
        </p:nvSpPr>
        <p:spPr>
          <a:xfrm>
            <a:off x="1828800" y="0"/>
            <a:ext cx="8458200" cy="6858000"/>
          </a:xfrm>
        </p:spPr>
        <p:txBody>
          <a:bodyPr/>
          <a:lstStyle/>
          <a:p>
            <a:pPr algn="just" eaLnBrk="1" hangingPunct="1">
              <a:buNone/>
            </a:pPr>
            <a:r>
              <a:rPr lang="en-US" sz="1800" b="1" dirty="0">
                <a:latin typeface="Times New Roman" pitchFamily="18" charset="0"/>
                <a:cs typeface="Times New Roman" pitchFamily="18" charset="0"/>
              </a:rPr>
              <a:t>  </a:t>
            </a:r>
            <a:endParaRPr lang="en-US" sz="19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835FDE03-D708-43D3-9F8B-04774CD057F9}"/>
              </a:ext>
            </a:extLst>
          </p:cNvPr>
          <p:cNvPicPr>
            <a:picLocks noChangeAspect="1"/>
          </p:cNvPicPr>
          <p:nvPr/>
        </p:nvPicPr>
        <p:blipFill>
          <a:blip r:embed="rId2"/>
          <a:stretch>
            <a:fillRect/>
          </a:stretch>
        </p:blipFill>
        <p:spPr>
          <a:xfrm>
            <a:off x="607461" y="621826"/>
            <a:ext cx="11277600" cy="6003523"/>
          </a:xfrm>
          <a:prstGeom prst="rect">
            <a:avLst/>
          </a:prstGeom>
        </p:spPr>
      </p:pic>
    </p:spTree>
  </p:cSld>
  <p:clrMapOvr>
    <a:masterClrMapping/>
  </p:clrMapOvr>
  <p:transition advClick="0" advTm="22963"/>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1"/>
          <p:cNvSpPr>
            <a:spLocks noGrp="1"/>
          </p:cNvSpPr>
          <p:nvPr>
            <p:ph type="title"/>
          </p:nvPr>
        </p:nvSpPr>
        <p:spPr>
          <a:xfrm>
            <a:off x="838200" y="365125"/>
            <a:ext cx="10515600" cy="703279"/>
          </a:xfrm>
        </p:spPr>
        <p:txBody>
          <a:bodyPr>
            <a:normAutofit/>
          </a:bodyPr>
          <a:lstStyle/>
          <a:p>
            <a:r>
              <a:rPr lang="en-US" sz="2400" b="1" dirty="0">
                <a:latin typeface="Times New Roman" panose="02020603050405020304" pitchFamily="18" charset="0"/>
                <a:cs typeface="Times New Roman" panose="02020603050405020304" pitchFamily="18" charset="0"/>
              </a:rPr>
              <a:t>CONCLUSION</a:t>
            </a:r>
          </a:p>
        </p:txBody>
      </p:sp>
      <p:sp>
        <p:nvSpPr>
          <p:cNvPr id="1048654" name="Content Placeholder 2"/>
          <p:cNvSpPr>
            <a:spLocks noGrp="1"/>
          </p:cNvSpPr>
          <p:nvPr>
            <p:ph idx="1"/>
          </p:nvPr>
        </p:nvSpPr>
        <p:spPr>
          <a:xfrm>
            <a:off x="838200" y="1068404"/>
            <a:ext cx="10515600" cy="5108559"/>
          </a:xfrm>
        </p:spPr>
        <p:txBody>
          <a:bodyPr>
            <a:normAutofit/>
          </a:bodyPr>
          <a:lstStyle/>
          <a:p>
            <a:pPr marL="0" indent="0" algn="just">
              <a:buNone/>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study concluded that the adoption of AI-driven EHTs are advancing. Yet, adoption of advanced technologies like robotic surgery remains minimal.</a:t>
            </a:r>
          </a:p>
          <a:p>
            <a:pPr marL="0" indent="0" algn="just">
              <a:buNone/>
            </a:pPr>
            <a:endPar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study further revealed that AI-driven EHTs are efficient tools to optimize cancer management and have statistically significant benefit which gives room for development and growth of the gig economy.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itle 1"/>
          <p:cNvSpPr>
            <a:spLocks noGrp="1"/>
          </p:cNvSpPr>
          <p:nvPr>
            <p:ph type="title" idx="4294967295"/>
          </p:nvPr>
        </p:nvSpPr>
        <p:spPr>
          <a:xfrm>
            <a:off x="115503" y="433137"/>
            <a:ext cx="10515600" cy="385646"/>
          </a:xfrm>
        </p:spPr>
        <p:txBody>
          <a:bodyPr>
            <a:noAutofit/>
          </a:bodyPr>
          <a:lstStyle/>
          <a:p>
            <a:r>
              <a:rPr lang="en-US" sz="2400" b="1" dirty="0">
                <a:latin typeface="Times New Roman" panose="02020603050405020304" pitchFamily="18" charset="0"/>
                <a:cs typeface="Times New Roman" panose="02020603050405020304" pitchFamily="18" charset="0"/>
              </a:rPr>
              <a:t>RECOMMENDATION</a:t>
            </a:r>
          </a:p>
        </p:txBody>
      </p:sp>
      <p:sp>
        <p:nvSpPr>
          <p:cNvPr id="1048659" name="Content Placeholder 2"/>
          <p:cNvSpPr>
            <a:spLocks noGrp="1"/>
          </p:cNvSpPr>
          <p:nvPr>
            <p:ph idx="4294967295"/>
          </p:nvPr>
        </p:nvSpPr>
        <p:spPr>
          <a:xfrm>
            <a:off x="115503" y="1088291"/>
            <a:ext cx="12192000" cy="6332788"/>
          </a:xfrm>
        </p:spPr>
        <p:txBody>
          <a:bodyPr>
            <a:normAutofit/>
          </a:bodyPr>
          <a:lstStyle/>
          <a:p>
            <a:pPr marL="514350" indent="-514350" algn="just">
              <a:buFont typeface="+mj-lt"/>
              <a:buAutoNum type="arabicPeriod"/>
            </a:pPr>
            <a:r>
              <a:rPr lang="en-US" sz="2400" dirty="0">
                <a:solidFill>
                  <a:srgbClr val="000000"/>
                </a:solidFill>
                <a:effectLst/>
                <a:latin typeface="Times New Roman" panose="02020603050405020304" pitchFamily="18" charset="0"/>
                <a:ea typeface="Calibri" panose="020F0502020204030204" pitchFamily="34" charset="0"/>
              </a:rPr>
              <a:t>Federal, state, and institutional stakeholders should priorities robust, scalable digital infrastructure to fully integrate  AI-driven EHTs, including high-speed internet, and secure data servers.</a:t>
            </a:r>
          </a:p>
          <a:p>
            <a:pPr marL="514350" indent="-514350" algn="just">
              <a:buFont typeface="+mj-lt"/>
              <a:buAutoNum type="arabicPeriod"/>
            </a:pPr>
            <a:endParaRPr lang="en-US" sz="2400" dirty="0">
              <a:solidFill>
                <a:srgbClr val="000000"/>
              </a:solidFill>
              <a:effectLst/>
              <a:latin typeface="Times New Roman" panose="02020603050405020304" pitchFamily="18" charset="0"/>
              <a:ea typeface="Calibri" panose="020F0502020204030204" pitchFamily="34" charset="0"/>
            </a:endParaRPr>
          </a:p>
          <a:p>
            <a:pPr marL="514350" indent="-514350" algn="just">
              <a:buFont typeface="+mj-lt"/>
              <a:buAutoNum type="arabicPeriod"/>
            </a:pPr>
            <a:r>
              <a:rPr lang="en-US" sz="2400" dirty="0">
                <a:solidFill>
                  <a:srgbClr val="000000"/>
                </a:solidFill>
                <a:effectLst/>
                <a:latin typeface="Times New Roman" panose="02020603050405020304" pitchFamily="18" charset="0"/>
                <a:ea typeface="Calibri" panose="020F0502020204030204" pitchFamily="34" charset="0"/>
              </a:rPr>
              <a:t>Continuous professional development </a:t>
            </a:r>
            <a:r>
              <a:rPr lang="en-US" sz="2400" dirty="0" err="1">
                <a:solidFill>
                  <a:srgbClr val="000000"/>
                </a:solidFill>
                <a:effectLst/>
                <a:latin typeface="Times New Roman" panose="02020603050405020304" pitchFamily="18" charset="0"/>
                <a:ea typeface="Calibri" panose="020F0502020204030204" pitchFamily="34" charset="0"/>
              </a:rPr>
              <a:t>programmes</a:t>
            </a:r>
            <a:r>
              <a:rPr lang="en-US" sz="2400" dirty="0">
                <a:solidFill>
                  <a:srgbClr val="000000"/>
                </a:solidFill>
                <a:effectLst/>
                <a:latin typeface="Times New Roman" panose="02020603050405020304" pitchFamily="18" charset="0"/>
                <a:ea typeface="Calibri" panose="020F0502020204030204" pitchFamily="34" charset="0"/>
              </a:rPr>
              <a:t> should be implemented to improve the digital literacy and operational competence of healthcare workers.</a:t>
            </a:r>
          </a:p>
          <a:p>
            <a:pPr marL="514350" indent="-514350" algn="just">
              <a:buFont typeface="+mj-lt"/>
              <a:buAutoNum type="arabicPeriod"/>
            </a:pPr>
            <a:endParaRPr lang="en-US" sz="2400" dirty="0">
              <a:solidFill>
                <a:srgbClr val="000000"/>
              </a:solidFill>
              <a:effectLst/>
              <a:latin typeface="Times New Roman" panose="02020603050405020304" pitchFamily="18" charset="0"/>
              <a:ea typeface="Calibri" panose="020F0502020204030204" pitchFamily="34" charset="0"/>
            </a:endParaRPr>
          </a:p>
          <a:p>
            <a:pPr marL="514350" indent="-514350" algn="just">
              <a:buFont typeface="+mj-lt"/>
              <a:buAutoNum type="arabicPeriod"/>
            </a:pPr>
            <a:r>
              <a:rPr lang="en-US" sz="2400" dirty="0">
                <a:solidFill>
                  <a:srgbClr val="000000"/>
                </a:solidFill>
                <a:effectLst/>
                <a:latin typeface="Times New Roman" panose="02020603050405020304" pitchFamily="18" charset="0"/>
                <a:ea typeface="Calibri" panose="020F0502020204030204" pitchFamily="34" charset="0"/>
              </a:rPr>
              <a:t>Policymakers for instance National Cancer Control </a:t>
            </a:r>
            <a:r>
              <a:rPr lang="en-US" sz="2400" dirty="0" err="1">
                <a:solidFill>
                  <a:srgbClr val="000000"/>
                </a:solidFill>
                <a:effectLst/>
                <a:latin typeface="Times New Roman" panose="02020603050405020304" pitchFamily="18" charset="0"/>
                <a:ea typeface="Calibri" panose="020F0502020204030204" pitchFamily="34" charset="0"/>
              </a:rPr>
              <a:t>Programme</a:t>
            </a:r>
            <a:r>
              <a:rPr lang="en-US" sz="2400" dirty="0">
                <a:solidFill>
                  <a:srgbClr val="000000"/>
                </a:solidFill>
                <a:effectLst/>
                <a:latin typeface="Times New Roman" panose="02020603050405020304" pitchFamily="18" charset="0"/>
                <a:ea typeface="Calibri" panose="020F0502020204030204" pitchFamily="34" charset="0"/>
              </a:rPr>
              <a:t> (NCCP) and National Institute for Cancer Research and Treatment (NICRAT) should support the scaling up of advanced digital tools such as robotic surgery, and artificial intelligence, while also considering the underserved and rural areas.</a:t>
            </a:r>
          </a:p>
          <a:p>
            <a:pPr marL="514350" indent="-514350" algn="just">
              <a:buFont typeface="+mj-lt"/>
              <a:buAutoNum type="arabicPeriod"/>
            </a:pPr>
            <a:endParaRPr lang="en-US" sz="2800" dirty="0">
              <a:solidFill>
                <a:srgbClr val="000000"/>
              </a:solidFill>
              <a:effectLst/>
              <a:latin typeface="Times New Roman" panose="02020603050405020304" pitchFamily="18" charset="0"/>
              <a:ea typeface="Calibri" panose="020F0502020204030204" pitchFamily="34" charset="0"/>
            </a:endParaRPr>
          </a:p>
          <a:p>
            <a:pPr marL="514350" indent="-514350" algn="just">
              <a:buFont typeface="+mj-lt"/>
              <a:buAutoNum type="arabicPeriod"/>
            </a:pPr>
            <a:endParaRPr lang="en-US" sz="2800" dirty="0">
              <a:solidFill>
                <a:srgbClr val="000000"/>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idx="4294967295"/>
          </p:nvPr>
        </p:nvSpPr>
        <p:spPr>
          <a:xfrm>
            <a:off x="250257" y="211756"/>
            <a:ext cx="10515600" cy="741780"/>
          </a:xfrm>
        </p:spPr>
        <p:txBody>
          <a:bodyPr>
            <a:normAutofit/>
          </a:bodyPr>
          <a:lstStyle/>
          <a:p>
            <a:r>
              <a:rPr lang="en-US" sz="2400" b="1" dirty="0">
                <a:latin typeface="Times New Roman" panose="02020603050405020304" pitchFamily="18" charset="0"/>
                <a:cs typeface="Times New Roman" panose="02020603050405020304" pitchFamily="18" charset="0"/>
              </a:rPr>
              <a:t>RECOMMENDATION CONT’D</a:t>
            </a:r>
          </a:p>
        </p:txBody>
      </p:sp>
      <p:sp>
        <p:nvSpPr>
          <p:cNvPr id="1048661" name="Content Placeholder 2"/>
          <p:cNvSpPr>
            <a:spLocks noGrp="1"/>
          </p:cNvSpPr>
          <p:nvPr>
            <p:ph idx="4294967295"/>
          </p:nvPr>
        </p:nvSpPr>
        <p:spPr>
          <a:xfrm>
            <a:off x="0" y="1049154"/>
            <a:ext cx="12192000" cy="5669280"/>
          </a:xfrm>
        </p:spPr>
        <p:txBody>
          <a:bodyPr>
            <a:normAutofit/>
          </a:bodyPr>
          <a:lstStyle/>
          <a:p>
            <a:pPr marL="514350" indent="-514350" algn="just">
              <a:buFont typeface="+mj-lt"/>
              <a:buAutoNum type="arabicPeriod"/>
            </a:pPr>
            <a:r>
              <a:rPr lang="en-US" sz="2400" dirty="0">
                <a:solidFill>
                  <a:srgbClr val="000000"/>
                </a:solidFill>
                <a:effectLst/>
                <a:latin typeface="Times New Roman" panose="02020603050405020304" pitchFamily="18" charset="0"/>
                <a:ea typeface="Calibri" panose="020F0502020204030204" pitchFamily="34" charset="0"/>
              </a:rPr>
              <a:t>Policymakers are advised to integrate gig economy participants, such as community health agents and platform-based service workers, into cancer care service models, using their access to opportunities and technologies to make AI-based eHealth services accessible to underserved and rural communities. </a:t>
            </a:r>
          </a:p>
          <a:p>
            <a:pPr marL="514350" indent="-514350" algn="just">
              <a:buFont typeface="+mj-lt"/>
              <a:buAutoNum type="arabicPeriod"/>
            </a:pPr>
            <a:endParaRPr lang="en-US" sz="2400" dirty="0">
              <a:solidFill>
                <a:srgbClr val="000000"/>
              </a:solidFill>
              <a:effectLst/>
              <a:latin typeface="Times New Roman" panose="02020603050405020304" pitchFamily="18" charset="0"/>
              <a:ea typeface="Calibri" panose="020F0502020204030204" pitchFamily="34" charset="0"/>
            </a:endParaRPr>
          </a:p>
          <a:p>
            <a:pPr marL="514350" indent="-514350" algn="just">
              <a:buFont typeface="+mj-lt"/>
              <a:buAutoNum type="arabicPeriod"/>
            </a:pPr>
            <a:r>
              <a:rPr lang="en-US" sz="2400" dirty="0">
                <a:solidFill>
                  <a:srgbClr val="000000"/>
                </a:solidFill>
                <a:effectLst/>
                <a:latin typeface="Times New Roman" panose="02020603050405020304" pitchFamily="18" charset="0"/>
                <a:ea typeface="Calibri" panose="020F0502020204030204" pitchFamily="34" charset="0"/>
              </a:rPr>
              <a:t>Strategic collaboration between government, private health providers, technology firms, and development partners should be fostered to </a:t>
            </a:r>
            <a:r>
              <a:rPr lang="en-US" sz="2400" dirty="0" err="1">
                <a:solidFill>
                  <a:srgbClr val="000000"/>
                </a:solidFill>
                <a:effectLst/>
                <a:latin typeface="Times New Roman" panose="02020603050405020304" pitchFamily="18" charset="0"/>
                <a:ea typeface="Calibri" panose="020F0502020204030204" pitchFamily="34" charset="0"/>
              </a:rPr>
              <a:t>mobilise</a:t>
            </a:r>
            <a:r>
              <a:rPr lang="en-US" sz="2400" dirty="0">
                <a:solidFill>
                  <a:srgbClr val="000000"/>
                </a:solidFill>
                <a:effectLst/>
                <a:latin typeface="Times New Roman" panose="02020603050405020304" pitchFamily="18" charset="0"/>
                <a:ea typeface="Calibri" panose="020F0502020204030204" pitchFamily="34" charset="0"/>
              </a:rPr>
              <a:t> resources, share expertise, and ensure sustainable implementation.</a:t>
            </a:r>
          </a:p>
          <a:p>
            <a:pPr marL="514350" indent="-514350" algn="just">
              <a:buFont typeface="+mj-lt"/>
              <a:buAutoNum type="arabicPeriod"/>
            </a:pPr>
            <a:endParaRPr lang="en-US" sz="2400" dirty="0">
              <a:solidFill>
                <a:srgbClr val="000000"/>
              </a:solidFill>
              <a:effectLst/>
              <a:latin typeface="Times New Roman" panose="02020603050405020304" pitchFamily="18" charset="0"/>
              <a:ea typeface="Calibri" panose="020F0502020204030204" pitchFamily="34" charset="0"/>
            </a:endParaRPr>
          </a:p>
          <a:p>
            <a:pPr marL="514350" indent="-514350" algn="just">
              <a:buFont typeface="+mj-lt"/>
              <a:buAutoNum type="arabicPeriod"/>
            </a:pPr>
            <a:endParaRPr lang="en-US" sz="2800" dirty="0">
              <a:solidFill>
                <a:srgbClr val="000000"/>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extBox 4"/>
          <p:cNvSpPr txBox="1"/>
          <p:nvPr/>
        </p:nvSpPr>
        <p:spPr>
          <a:xfrm>
            <a:off x="344557" y="2955260"/>
            <a:ext cx="11542643" cy="830997"/>
          </a:xfrm>
          <a:prstGeom prst="rect">
            <a:avLst/>
          </a:prstGeom>
          <a:noFill/>
        </p:spPr>
        <p:txBody>
          <a:bodyPr wrap="square">
            <a:spAutoFit/>
          </a:bodyPr>
          <a:lstStyle/>
          <a:p>
            <a:pPr marR="0" lvl="0" algn="l" defTabSz="914400" rtl="0" eaLnBrk="1" fontAlgn="base" latinLnBrk="0" hangingPunct="1">
              <a:lnSpc>
                <a:spcPct val="100000"/>
              </a:lnSpc>
              <a:spcBef>
                <a:spcPts val="575"/>
              </a:spcBef>
              <a:spcAft>
                <a:spcPct val="0"/>
              </a:spcAft>
              <a:buClr>
                <a:srgbClr val="D34817"/>
              </a:buClr>
              <a:buSzPct val="85000"/>
            </a:pPr>
            <a:r>
              <a:rPr kumimoji="0" lang="en-US" sz="4800" b="1" i="0" u="none" strike="noStrike" kern="1200" cap="none" spc="0" normalizeH="0" baseline="0" noProof="0" dirty="0">
                <a:ln>
                  <a:noFill/>
                </a:ln>
                <a:solidFill>
                  <a:srgbClr val="660066"/>
                </a:solidFill>
                <a:effectLst>
                  <a:outerShdw blurRad="38100" dist="38100" dir="2700000" algn="tl">
                    <a:srgbClr val="C0C0C0"/>
                  </a:outerShdw>
                </a:effectLst>
                <a:uLnTx/>
                <a:uFillTx/>
                <a:latin typeface="Square721 BT" pitchFamily="34" charset="0"/>
                <a:ea typeface="+mn-ea"/>
                <a:cs typeface="Arial" panose="020B0604020202020204" pitchFamily="34" charset="0"/>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55</TotalTime>
  <Words>1432</Words>
  <Application>Microsoft Office PowerPoint</Application>
  <PresentationFormat>Widescreen</PresentationFormat>
  <Paragraphs>262</Paragraphs>
  <Slides>22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Arial</vt:lpstr>
      <vt:lpstr>Calibri</vt:lpstr>
      <vt:lpstr>Calibri Light</vt:lpstr>
      <vt:lpstr>Century Gothic</vt:lpstr>
      <vt:lpstr>Square721 BT</vt:lpstr>
      <vt:lpstr>Times New Roman</vt:lpstr>
      <vt:lpstr>Wingdings</vt:lpstr>
      <vt:lpstr>Office Theme</vt:lpstr>
      <vt:lpstr>Default Design</vt:lpstr>
      <vt:lpstr>     AI-DRIVEN ELECTRONIC HEALTH TECHNOLOGIES IN CANCER MANAGEMENT: OPPORTUNITIES WITHIN AFRICA’S EMERGING GIG ECONOMY (NORTH CENTRAL NIGERIA)   BY   GRACE OJO-EMMANUEL (PhD) </vt:lpstr>
      <vt:lpstr>PRESENTATION OUTLINE</vt:lpstr>
      <vt:lpstr>Background to the Study</vt:lpstr>
      <vt:lpstr>Background to the Study Cont’d</vt:lpstr>
      <vt:lpstr>Background to the Study Cont’d</vt:lpstr>
      <vt:lpstr>Background to the Study Cont’d</vt:lpstr>
      <vt:lpstr>Statement of the Problem </vt:lpstr>
      <vt:lpstr>Research Questions</vt:lpstr>
      <vt:lpstr>Research Objectives</vt:lpstr>
      <vt:lpstr>LITERATURE REVIEW</vt:lpstr>
      <vt:lpstr>LITERATURE REVIEW CONT’D</vt:lpstr>
      <vt:lpstr>LITERATURE REVIEW CONT’D</vt:lpstr>
      <vt:lpstr>METHODOLOGY</vt:lpstr>
      <vt:lpstr>METHODOLOGY CONT’D</vt:lpstr>
      <vt:lpstr>METHODOLOGY CONT’D</vt:lpstr>
      <vt:lpstr>PowerPoint Presentation</vt:lpstr>
      <vt:lpstr>PowerPoint Presentation</vt:lpstr>
      <vt:lpstr>PowerPoint Presentation</vt:lpstr>
      <vt:lpstr>CONCLUSION</vt:lpstr>
      <vt:lpstr>RECOMMENDATION</vt:lpstr>
      <vt:lpstr>RECOMMENDATION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OF GREEN SUPPLY CHAIN MANAGEMENT TECHNOLOGIES AND PRACTICES ON THE PERFORMANCE OF SELECTED PHARMACEUTICAL AND TEXTILE FIRMS IN SOUTHWESTERN  NIGERIA   BY    OJO-EMMANUEL GRACE</dc:title>
  <dc:creator>Grace</dc:creator>
  <cp:lastModifiedBy>Dr. Mrs Grace</cp:lastModifiedBy>
  <cp:revision>8</cp:revision>
  <dcterms:created xsi:type="dcterms:W3CDTF">2023-06-08T15:15:21Z</dcterms:created>
  <dcterms:modified xsi:type="dcterms:W3CDTF">2026-05-11T18:36:41Z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00ecc4038c0e405990ceaa67540db279</vt:lpwstr>
  </property>
</Properties>
</file>