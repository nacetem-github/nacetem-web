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handoutMasterIdLst>
    <p:handoutMasterId r:id="rId32"/>
  </p:handoutMasterIdLst>
  <p:sldIdLst>
    <p:sldId id="605" r:id="rId2"/>
    <p:sldId id="753" r:id="rId3"/>
    <p:sldId id="812" r:id="rId4"/>
    <p:sldId id="828" r:id="rId5"/>
    <p:sldId id="827" r:id="rId6"/>
    <p:sldId id="832" r:id="rId7"/>
    <p:sldId id="830" r:id="rId8"/>
    <p:sldId id="807" r:id="rId9"/>
    <p:sldId id="813" r:id="rId10"/>
    <p:sldId id="808" r:id="rId11"/>
    <p:sldId id="815" r:id="rId12"/>
    <p:sldId id="816" r:id="rId13"/>
    <p:sldId id="818" r:id="rId14"/>
    <p:sldId id="819" r:id="rId15"/>
    <p:sldId id="820" r:id="rId16"/>
    <p:sldId id="834" r:id="rId17"/>
    <p:sldId id="821" r:id="rId18"/>
    <p:sldId id="831" r:id="rId19"/>
    <p:sldId id="771" r:id="rId20"/>
    <p:sldId id="822" r:id="rId21"/>
    <p:sldId id="823" r:id="rId22"/>
    <p:sldId id="835" r:id="rId23"/>
    <p:sldId id="824" r:id="rId24"/>
    <p:sldId id="836" r:id="rId25"/>
    <p:sldId id="838" r:id="rId26"/>
    <p:sldId id="826" r:id="rId27"/>
    <p:sldId id="825" r:id="rId28"/>
    <p:sldId id="773" r:id="rId29"/>
    <p:sldId id="829" r:id="rId30"/>
  </p:sldIdLst>
  <p:sldSz cx="12192000" cy="6858000"/>
  <p:notesSz cx="9928225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8F5320D-F407-4339-978F-343CBF109420}">
          <p14:sldIdLst>
            <p14:sldId id="605"/>
            <p14:sldId id="753"/>
            <p14:sldId id="812"/>
            <p14:sldId id="828"/>
            <p14:sldId id="827"/>
            <p14:sldId id="832"/>
            <p14:sldId id="830"/>
            <p14:sldId id="807"/>
            <p14:sldId id="813"/>
            <p14:sldId id="808"/>
            <p14:sldId id="815"/>
            <p14:sldId id="816"/>
            <p14:sldId id="818"/>
            <p14:sldId id="819"/>
            <p14:sldId id="820"/>
            <p14:sldId id="834"/>
            <p14:sldId id="821"/>
            <p14:sldId id="831"/>
            <p14:sldId id="771"/>
            <p14:sldId id="822"/>
            <p14:sldId id="823"/>
            <p14:sldId id="835"/>
            <p14:sldId id="824"/>
            <p14:sldId id="836"/>
            <p14:sldId id="838"/>
            <p14:sldId id="826"/>
            <p14:sldId id="825"/>
            <p14:sldId id="773"/>
            <p14:sldId id="8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09" autoAdjust="0"/>
    <p:restoredTop sz="94660"/>
  </p:normalViewPr>
  <p:slideViewPr>
    <p:cSldViewPr>
      <p:cViewPr varScale="1">
        <p:scale>
          <a:sx n="82" d="100"/>
          <a:sy n="82" d="100"/>
        </p:scale>
        <p:origin x="38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C762E-47DC-40CC-B601-8202FEB39AF1}" type="datetimeFigureOut">
              <a:rPr lang="en-GB" smtClean="0"/>
              <a:t>22/06/2026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A9A0D-DCA3-4D89-89D3-D5307D61B43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9934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91577" tIns="45789" rIns="91577" bIns="457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BBC2DF7-DD57-4676-BABF-39E1C3F6F294}" type="datetimeFigureOut">
              <a:rPr lang="en-US"/>
              <a:pPr>
                <a:defRPr/>
              </a:pPr>
              <a:t>6/22/2026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11175"/>
            <a:ext cx="4527550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77" tIns="45789" rIns="91577" bIns="45789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360" y="3230363"/>
            <a:ext cx="7943507" cy="3058628"/>
          </a:xfrm>
          <a:prstGeom prst="rect">
            <a:avLst/>
          </a:prstGeom>
        </p:spPr>
        <p:txBody>
          <a:bodyPr vert="horz" lIns="91577" tIns="45789" rIns="91577" bIns="457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91577" tIns="45789" rIns="91577" bIns="457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E481084-72D1-48A0-80A7-BAD4F79E0E5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9021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667" y="1524001"/>
            <a:ext cx="12026900" cy="152717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93133" y="838200"/>
            <a:ext cx="11988800" cy="15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4876800" y="6353176"/>
            <a:ext cx="26416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prstClr val="black"/>
                </a:solidFill>
                <a:latin typeface="Tw Cen MT"/>
              </a:rPr>
              <a:t>© NACETEM 2026</a:t>
            </a:r>
          </a:p>
        </p:txBody>
      </p:sp>
      <p:pic>
        <p:nvPicPr>
          <p:cNvPr id="12" name="Picture 9" descr="NAC_LOGO-2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200" y="104776"/>
            <a:ext cx="914400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 userDrawn="1"/>
        </p:nvSpPr>
        <p:spPr>
          <a:xfrm>
            <a:off x="1117600" y="-106875"/>
            <a:ext cx="3352800" cy="769441"/>
          </a:xfrm>
          <a:prstGeom prst="rect">
            <a:avLst/>
          </a:prstGeom>
          <a:solidFill>
            <a:schemeClr val="bg1"/>
          </a:solidFill>
          <a:effectLst>
            <a:outerShdw blurRad="38100" dist="25400" dir="5400000" algn="t" rotWithShape="0">
              <a:srgbClr val="000000">
                <a:alpha val="50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NACETEM</a:t>
            </a:r>
            <a:r>
              <a:rPr lang="en-US" sz="4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40033" y="533401"/>
            <a:ext cx="7292767" cy="30777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</a:rPr>
              <a:t>NATIONAL CENTRE FOR TECHNOLOGY MANAGEMENT</a:t>
            </a:r>
          </a:p>
        </p:txBody>
      </p:sp>
      <p:pic>
        <p:nvPicPr>
          <p:cNvPr id="15" name="Picture 9" descr="NAC_LOGO-2.gif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0861940" y="5932264"/>
            <a:ext cx="1440920" cy="10795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946067" y="6521526"/>
            <a:ext cx="10769600" cy="307777"/>
          </a:xfrm>
          <a:prstGeom prst="rect">
            <a:avLst/>
          </a:prstGeom>
          <a:solidFill>
            <a:schemeClr val="accent2"/>
          </a:solidFill>
          <a:effectLst>
            <a:softEdge rad="63500"/>
          </a:effectLst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</a:rPr>
              <a:t>NACETEM…Managing Technology for Sustainable Development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016000" y="5486400"/>
            <a:ext cx="7315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689AB00-9DC4-4BB1-8213-51FC387CC3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42BF0-F970-44AD-9181-554461177E42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90960B-12A3-45DA-87AE-3434B39767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 useBgFill="1">
        <p:nvSpPr>
          <p:cNvPr id="5" name="Rounded Rectangle 4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93134" y="2376489"/>
            <a:ext cx="1201843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3134" y="2341564"/>
            <a:ext cx="1201843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018" y="2468564"/>
            <a:ext cx="12020549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1677E-2639-4150-B7A8-DDDBD8BB47F2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88003-5A08-4A92-B92C-201F7A410D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39B37-6833-47F6-BB53-B486F7B9EA02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CB845-EE1A-4D96-809A-240CF4C9E4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39B37-6833-47F6-BB53-B486F7B9EA02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9AC22-DDAD-4E08-AB77-13C4CE1654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39B37-6833-47F6-BB53-B486F7B9EA02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87538-198C-4A0E-947C-A945546E4F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 useBgFill="1">
        <p:nvSpPr>
          <p:cNvPr id="6" name="Rounded Rectangle 5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A0EFF2-D65F-482F-93EE-6EF7987EB5E5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4890D-EF1E-4C36-A3A9-8CC598B881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91018" y="4683126"/>
            <a:ext cx="1200996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018" y="4649789"/>
            <a:ext cx="12009967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018" y="4773614"/>
            <a:ext cx="12009967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E4911F-F52B-4954-81A8-4D172772BCB0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769E0-7200-41A2-BEDD-11105D1BA38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39B37-6833-47F6-BB53-B486F7B9EA02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A7A01-8DF9-4795-92B0-A17B82C732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39B37-6833-47F6-BB53-B486F7B9EA02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0D197-F615-4918-8B75-A8378A772C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39B37-6833-47F6-BB53-B486F7B9EA02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21C4D-A2C3-40A6-9134-356F95DD97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122239"/>
            <a:ext cx="109728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9AB82-39B3-401D-90CF-2C8001DD870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A4660-EEC9-48B7-9CBD-CDF1F392A04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51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838200"/>
            <a:ext cx="10363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2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09600" y="1676400"/>
            <a:ext cx="10972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696464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DE39B37-6833-47F6-BB53-B486F7B9EA02}" type="datetime1">
              <a:rPr lang="en-US"/>
              <a:pPr>
                <a:defRPr/>
              </a:pPr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117600" y="6172200"/>
            <a:ext cx="73152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696464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4733" y="6324600"/>
            <a:ext cx="609600" cy="457200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22E3BBA-838A-47C7-B419-C525B5B8DBE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2056" name="Picture 9" descr="NAC_LOGO-2.gif"/>
          <p:cNvPicPr>
            <a:picLocks noChangeAspect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204200" y="1"/>
            <a:ext cx="914400" cy="638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8947393" y="-113162"/>
            <a:ext cx="3352800" cy="769441"/>
          </a:xfrm>
          <a:prstGeom prst="rect">
            <a:avLst/>
          </a:prstGeom>
          <a:solidFill>
            <a:schemeClr val="bg1"/>
          </a:solidFill>
          <a:effectLst>
            <a:outerShdw blurRad="38100" dist="25400" dir="5400000" algn="t" rotWithShape="0">
              <a:srgbClr val="000000">
                <a:alpha val="50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NACETEM</a:t>
            </a:r>
            <a:r>
              <a:rPr lang="en-US" sz="4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93133" y="838200"/>
            <a:ext cx="11988800" cy="15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76800" y="6342064"/>
            <a:ext cx="26416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i="1" dirty="0">
                <a:solidFill>
                  <a:prstClr val="black"/>
                </a:solidFill>
                <a:latin typeface="Tw Cen MT"/>
              </a:rPr>
              <a:t>© NACETEM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8416" y="543118"/>
            <a:ext cx="7902368" cy="276999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150" dirty="0">
                <a:ln w="11430"/>
                <a:solidFill>
                  <a:schemeClr val="accent2">
                    <a:lumMod val="7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</a:rPr>
              <a:t>NATIONAL CENTRE FOR TECHNOLOGY MANAGEMENT</a:t>
            </a:r>
          </a:p>
        </p:txBody>
      </p:sp>
      <p:pic>
        <p:nvPicPr>
          <p:cNvPr id="18" name="Picture 9" descr="NAC_LOGO-2.gif"/>
          <p:cNvPicPr>
            <a:picLocks noChangeAspect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-117818" y="5914234"/>
            <a:ext cx="1346972" cy="105692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/>
          <p:cNvSpPr txBox="1"/>
          <p:nvPr/>
        </p:nvSpPr>
        <p:spPr>
          <a:xfrm>
            <a:off x="946067" y="6521526"/>
            <a:ext cx="10769600" cy="307777"/>
          </a:xfrm>
          <a:prstGeom prst="rect">
            <a:avLst/>
          </a:prstGeom>
          <a:solidFill>
            <a:schemeClr val="accent2"/>
          </a:solidFill>
          <a:effectLst>
            <a:softEdge rad="63500"/>
          </a:effectLst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</a:rPr>
              <a:t>NACETEM…Managing Technology for Sustainable Development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22" r:id="rId4"/>
    <p:sldLayoutId id="2147483923" r:id="rId5"/>
    <p:sldLayoutId id="2147483924" r:id="rId6"/>
    <p:sldLayoutId id="2147483942" r:id="rId7"/>
    <p:sldLayoutId id="2147483943" r:id="rId8"/>
    <p:sldLayoutId id="2147483925" r:id="rId9"/>
    <p:sldLayoutId id="2147483926" r:id="rId10"/>
    <p:sldLayoutId id="2147483927" r:id="rId11"/>
    <p:sldLayoutId id="2147483944" r:id="rId12"/>
    <p:sldLayoutId id="214748394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344" y="1484784"/>
            <a:ext cx="11809312" cy="1656184"/>
          </a:xfrm>
        </p:spPr>
        <p:txBody>
          <a:bodyPr/>
          <a:lstStyle/>
          <a:p>
            <a:r>
              <a:rPr lang="en-GB" sz="2800" dirty="0"/>
              <a:t>FROM WASTE TO VALUE: APPLYING THE TRIPLE BOTTOM LINE THEORY TO WASTE MANAGEMENT IN NIGERIA’S AGRO ALLIED INDUSTRIES.</a:t>
            </a:r>
            <a:endParaRPr lang="en-US" sz="28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727200" y="3068960"/>
            <a:ext cx="8534400" cy="1731640"/>
          </a:xfrm>
        </p:spPr>
        <p:txBody>
          <a:bodyPr/>
          <a:lstStyle/>
          <a:p>
            <a:endParaRPr lang="en-GB" sz="2400" dirty="0"/>
          </a:p>
          <a:p>
            <a:r>
              <a:rPr lang="en-GB" sz="2400" dirty="0">
                <a:solidFill>
                  <a:schemeClr val="tx1"/>
                </a:solidFill>
              </a:rPr>
              <a:t>PRESENTED AT THE RESEARCHERS MONTHLY SEMINAR SERIES OF THE NATIONAL CENTER FOR TECHNOLOGY MANAGEMENT</a:t>
            </a:r>
          </a:p>
          <a:p>
            <a:r>
              <a:rPr lang="en-GB" sz="2400" dirty="0">
                <a:solidFill>
                  <a:schemeClr val="tx1"/>
                </a:solidFill>
              </a:rPr>
              <a:t>By</a:t>
            </a:r>
          </a:p>
          <a:p>
            <a:r>
              <a:rPr lang="en-GB" sz="2400" dirty="0">
                <a:solidFill>
                  <a:schemeClr val="tx1"/>
                </a:solidFill>
              </a:rPr>
              <a:t> Kazeem Abubakar (PhD), Blessing </a:t>
            </a:r>
            <a:r>
              <a:rPr lang="en-GB" sz="2400" dirty="0" err="1">
                <a:solidFill>
                  <a:schemeClr val="tx1"/>
                </a:solidFill>
              </a:rPr>
              <a:t>Enyojo</a:t>
            </a:r>
            <a:r>
              <a:rPr lang="en-GB" sz="2400" dirty="0">
                <a:solidFill>
                  <a:schemeClr val="tx1"/>
                </a:solidFill>
              </a:rPr>
              <a:t>, Emmanuel Iroh, Ugwu </a:t>
            </a:r>
            <a:r>
              <a:rPr lang="en-GB" sz="2400" dirty="0" err="1">
                <a:solidFill>
                  <a:schemeClr val="tx1"/>
                </a:solidFill>
              </a:rPr>
              <a:t>Ukamaka</a:t>
            </a:r>
            <a:r>
              <a:rPr lang="en-GB" sz="2400" dirty="0">
                <a:solidFill>
                  <a:schemeClr val="tx1"/>
                </a:solidFill>
              </a:rPr>
              <a:t>,  Valentina Asim Thompson-Adewale.</a:t>
            </a:r>
          </a:p>
          <a:p>
            <a:r>
              <a:rPr lang="en-GB" sz="2400" dirty="0">
                <a:solidFill>
                  <a:schemeClr val="tx1"/>
                </a:solidFill>
              </a:rPr>
              <a:t>March 25</a:t>
            </a:r>
            <a:r>
              <a:rPr lang="en-GB" sz="2400" baseline="30000" dirty="0">
                <a:solidFill>
                  <a:schemeClr val="tx1"/>
                </a:solidFill>
              </a:rPr>
              <a:t>th</a:t>
            </a:r>
            <a:r>
              <a:rPr lang="en-GB" sz="2400" dirty="0">
                <a:solidFill>
                  <a:schemeClr val="tx1"/>
                </a:solidFill>
              </a:rPr>
              <a:t> 2026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54740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33363"/>
            <a:ext cx="10363200" cy="838200"/>
          </a:xfrm>
        </p:spPr>
        <p:txBody>
          <a:bodyPr/>
          <a:lstStyle/>
          <a:p>
            <a:r>
              <a:rPr lang="en-GB" dirty="0"/>
              <a:t> outline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268760"/>
            <a:ext cx="11521280" cy="482453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 of the study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statement,  Aim and Objectives.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</a:t>
            </a: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Conclusions / Recommendation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55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75657" y="3284984"/>
            <a:ext cx="352717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endParaRPr lang="en-GB" dirty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63353" y="1204117"/>
            <a:ext cx="1159328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GB" sz="2800" dirty="0"/>
              <a:t>Nigeria’s agro‑allied industries contribute significantly to GDP, employment and food security.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GB" sz="2800" dirty="0"/>
              <a:t>However, large volumes of organic waste are generated from processing activities.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GB" sz="2800" dirty="0"/>
              <a:t>Poor waste management has led to environmental degradation, economic loss and negative social impacts.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1175657" y="311330"/>
            <a:ext cx="2371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39363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13590"/>
            <a:ext cx="10363200" cy="838200"/>
          </a:xfrm>
        </p:spPr>
        <p:txBody>
          <a:bodyPr/>
          <a:lstStyle/>
          <a:p>
            <a:r>
              <a:rPr lang="en-GB"/>
              <a:t>Research Problem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7368" y="1447800"/>
            <a:ext cx="11521280" cy="4572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sz="3600" dirty="0"/>
              <a:t>Inefficient solid waste management in agro‑processing industries.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3600" dirty="0"/>
              <a:t>Limited waste‑to‑value initiatives to enable waste contribute to GDP.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sz="36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3600" dirty="0"/>
              <a:t>Missed opportunities for circular economy and sustainable industrial development.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58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33" y="0"/>
            <a:ext cx="10363200" cy="838200"/>
          </a:xfrm>
        </p:spPr>
        <p:txBody>
          <a:bodyPr/>
          <a:lstStyle/>
          <a:p>
            <a:r>
              <a:rPr lang="en-GB" dirty="0"/>
              <a:t>Research Aim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7368" y="1052736"/>
            <a:ext cx="11665296" cy="4967064"/>
          </a:xfrm>
        </p:spPr>
        <p:txBody>
          <a:bodyPr/>
          <a:lstStyle/>
          <a:p>
            <a:r>
              <a:rPr lang="en-GB" sz="3200" dirty="0"/>
              <a:t>Aim: Identify sustainable waste‑to‑value pathways using the Triple Bottom Line framework.</a:t>
            </a:r>
          </a:p>
          <a:p>
            <a:endParaRPr lang="en-GB" sz="3200" dirty="0"/>
          </a:p>
          <a:p>
            <a:endParaRPr lang="en-GB" sz="3200" dirty="0"/>
          </a:p>
          <a:p>
            <a:r>
              <a:rPr lang="en-GB" sz="3200" dirty="0"/>
              <a:t>Objectives: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3200" dirty="0"/>
              <a:t> Examine sustainable waste‑to‑value opportunities.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3200" dirty="0"/>
              <a:t> Evaluate economic value lost due to waste inefficiencies.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3200" dirty="0"/>
              <a:t> Assess implications for economic, environmental and social sustainability.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88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11CB-8F01-A631-8578-45165B1F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33" y="76200"/>
            <a:ext cx="10363200" cy="838200"/>
          </a:xfrm>
        </p:spPr>
        <p:txBody>
          <a:bodyPr/>
          <a:lstStyle/>
          <a:p>
            <a:r>
              <a:rPr lang="en-GB" b="1" dirty="0"/>
              <a:t>Hypothesis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9A5B0-3CFA-DEBF-4C85-152F82BD13C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35360" y="1447800"/>
            <a:ext cx="11247040" cy="4572000"/>
          </a:xfrm>
        </p:spPr>
        <p:txBody>
          <a:bodyPr/>
          <a:lstStyle/>
          <a:p>
            <a:r>
              <a:rPr lang="en-GB" b="1" dirty="0"/>
              <a:t>H₁:</a:t>
            </a:r>
            <a:r>
              <a:rPr lang="en-GB" dirty="0"/>
              <a:t> There’s a significant positive relationship between the percentage loss of food waste generated in the </a:t>
            </a:r>
            <a:r>
              <a:rPr lang="en-GB" dirty="0" err="1"/>
              <a:t>Nigera’s</a:t>
            </a:r>
            <a:r>
              <a:rPr lang="en-GB" dirty="0"/>
              <a:t> </a:t>
            </a:r>
            <a:r>
              <a:rPr lang="en-GB" dirty="0" err="1"/>
              <a:t>agro</a:t>
            </a:r>
            <a:r>
              <a:rPr lang="en-GB" dirty="0"/>
              <a:t>-allied processing industries and its effect / contribution to the annual GDP of Nigeria. </a:t>
            </a:r>
          </a:p>
          <a:p>
            <a:endParaRPr lang="en-GB" dirty="0"/>
          </a:p>
          <a:p>
            <a:endParaRPr lang="en-US" dirty="0"/>
          </a:p>
          <a:p>
            <a:r>
              <a:rPr lang="en-GB" b="1" dirty="0"/>
              <a:t>H₀: </a:t>
            </a:r>
            <a:r>
              <a:rPr lang="en-GB" dirty="0"/>
              <a:t>There’s no significant positive relationship between the percentage loss of food waste generated in the </a:t>
            </a:r>
            <a:r>
              <a:rPr lang="en-GB" dirty="0" err="1"/>
              <a:t>Nigera’s</a:t>
            </a:r>
            <a:r>
              <a:rPr lang="en-GB" dirty="0"/>
              <a:t> </a:t>
            </a:r>
            <a:r>
              <a:rPr lang="en-GB" dirty="0" err="1"/>
              <a:t>agro</a:t>
            </a:r>
            <a:r>
              <a:rPr lang="en-GB" dirty="0"/>
              <a:t>-allied processing industries and its effect / contribution to the annual GDP of Nigeria.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1F8E1-8307-6BDB-F3ED-228A12AEA3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25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100E04-78CD-DCD3-9DD8-480BCD67C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76" y="6399245"/>
            <a:ext cx="609600" cy="457200"/>
          </a:xfrm>
        </p:spPr>
        <p:txBody>
          <a:bodyPr/>
          <a:lstStyle/>
          <a:p>
            <a:pPr>
              <a:defRPr/>
            </a:pPr>
            <a:fld id="{501A7A01-8DF9-4795-92B0-A17B82C7324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D18EE-C05F-FF8E-4AA8-005AF23C3D52}"/>
              </a:ext>
            </a:extLst>
          </p:cNvPr>
          <p:cNvSpPr txBox="1"/>
          <p:nvPr/>
        </p:nvSpPr>
        <p:spPr>
          <a:xfrm>
            <a:off x="1343472" y="2780928"/>
            <a:ext cx="8856984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 algn="ctr"/>
            <a:r>
              <a:rPr lang="en-GB" sz="4400" kern="0" dirty="0">
                <a:solidFill>
                  <a:schemeClr val="bg1"/>
                </a:solidFill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79503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919536" y="293914"/>
            <a:ext cx="49619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2800" kern="0" dirty="0">
                <a:solidFill>
                  <a:prstClr val="black"/>
                </a:solidFill>
              </a:rPr>
              <a:t>Literature Review</a:t>
            </a:r>
            <a:endParaRPr lang="en-GB" sz="2800" kern="0" dirty="0">
              <a:solidFill>
                <a:sysClr val="windowText" lastClr="000000"/>
              </a:solidFill>
            </a:endParaRPr>
          </a:p>
          <a:p>
            <a:endParaRPr lang="en-GB" sz="2800" dirty="0"/>
          </a:p>
        </p:txBody>
      </p:sp>
      <p:sp>
        <p:nvSpPr>
          <p:cNvPr id="5" name="Rectangle 4"/>
          <p:cNvSpPr/>
          <p:nvPr/>
        </p:nvSpPr>
        <p:spPr>
          <a:xfrm>
            <a:off x="335360" y="1052736"/>
            <a:ext cx="1159328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Triple Bottom Line Theory (TBL):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• People – Social sustainability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• Planet – Environmental sustainability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• Profit – Economic sustainability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GB" sz="2800" kern="0" dirty="0">
              <a:solidFill>
                <a:prstClr val="black"/>
              </a:solidFill>
            </a:endParaRP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The framework evaluates industrial performance beyond financial returns.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GB" sz="2800" kern="0" dirty="0">
              <a:solidFill>
                <a:prstClr val="black"/>
              </a:solidFill>
            </a:endParaRPr>
          </a:p>
          <a:p>
            <a:pPr marL="342900" indent="-342900" algn="just" defTabSz="457200" fontAlgn="auto"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GB" sz="2400" dirty="0">
                <a:solidFill>
                  <a:srgbClr val="FF0066"/>
                </a:solidFill>
              </a:rPr>
              <a:t>Community attitudes and behaviours </a:t>
            </a:r>
            <a:r>
              <a:rPr lang="en-GB" sz="2400" dirty="0"/>
              <a:t>at large are key obstacles to circular economy transitions, while personal responsibility and community environmental consciousness play important roles in </a:t>
            </a:r>
            <a:r>
              <a:rPr lang="en-GB" sz="2400" b="1" dirty="0">
                <a:solidFill>
                  <a:srgbClr val="FF0066"/>
                </a:solidFill>
              </a:rPr>
              <a:t>sustainable waste management</a:t>
            </a:r>
            <a:r>
              <a:rPr lang="en-GB" sz="2400" dirty="0"/>
              <a:t>. (</a:t>
            </a:r>
            <a:r>
              <a:rPr lang="en-GB" sz="2400" dirty="0" err="1"/>
              <a:t>Voukkali</a:t>
            </a:r>
            <a:r>
              <a:rPr lang="en-GB" sz="2400" dirty="0"/>
              <a:t> </a:t>
            </a:r>
            <a:r>
              <a:rPr lang="en-GB" sz="2400" i="1" dirty="0"/>
              <a:t>et al.,</a:t>
            </a:r>
            <a:r>
              <a:rPr lang="en-GB" sz="2400" dirty="0"/>
              <a:t> 2023).</a:t>
            </a:r>
            <a:endParaRPr lang="en-US" sz="2400" dirty="0"/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GB" sz="2800" kern="0" dirty="0">
              <a:solidFill>
                <a:prstClr val="black"/>
              </a:solidFill>
            </a:endParaRPr>
          </a:p>
          <a:p>
            <a:endParaRPr lang="en-US" sz="2800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907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84252"/>
            <a:ext cx="11881320" cy="66894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8E60A6-2894-7498-B8D6-FCC9F2F59262}"/>
              </a:ext>
            </a:extLst>
          </p:cNvPr>
          <p:cNvSpPr txBox="1"/>
          <p:nvPr/>
        </p:nvSpPr>
        <p:spPr>
          <a:xfrm>
            <a:off x="767408" y="5445224"/>
            <a:ext cx="2954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Omokaro</a:t>
            </a:r>
            <a:r>
              <a:rPr lang="en-US" dirty="0"/>
              <a:t> et al., 2025). </a:t>
            </a:r>
          </a:p>
        </p:txBody>
      </p:sp>
    </p:spTree>
    <p:extLst>
      <p:ext uri="{BB962C8B-B14F-4D97-AF65-F5344CB8AC3E}">
        <p14:creationId xmlns:p14="http://schemas.microsoft.com/office/powerpoint/2010/main" val="115239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94732" y="260648"/>
            <a:ext cx="76294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GB" dirty="0"/>
            </a:br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1298777" y="273224"/>
            <a:ext cx="41024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Waste‑to‑Value Concept</a:t>
            </a:r>
            <a:endParaRPr lang="en-GB" sz="2800" kern="0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248" y="980728"/>
            <a:ext cx="11661908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3200" kern="0" dirty="0">
                <a:solidFill>
                  <a:prstClr val="black"/>
                </a:solidFill>
              </a:rPr>
              <a:t>Waste‑to‑value converts industrial waste into useful products.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GB" sz="3200" kern="0" dirty="0">
              <a:solidFill>
                <a:prstClr val="black"/>
              </a:solidFill>
            </a:endParaRP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3200" kern="0" dirty="0">
                <a:solidFill>
                  <a:prstClr val="black"/>
                </a:solidFill>
              </a:rPr>
              <a:t>Key principle of the circular economy: reduce, reuse, recycle resources.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GB" sz="3200" kern="0" dirty="0">
              <a:solidFill>
                <a:prstClr val="black"/>
              </a:solidFill>
            </a:endParaRPr>
          </a:p>
          <a:p>
            <a:pPr marL="457200" marR="0" lvl="0" indent="-45720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3200" kern="0" dirty="0">
                <a:solidFill>
                  <a:prstClr val="black"/>
                </a:solidFill>
              </a:rPr>
              <a:t>Benefits include </a:t>
            </a:r>
            <a:r>
              <a:rPr lang="en-GB" sz="3200" kern="0" dirty="0">
                <a:solidFill>
                  <a:srgbClr val="FF0000"/>
                </a:solidFill>
              </a:rPr>
              <a:t>resource efficiency </a:t>
            </a:r>
            <a:r>
              <a:rPr lang="en-GB" sz="3200" kern="0" dirty="0">
                <a:solidFill>
                  <a:prstClr val="black"/>
                </a:solidFill>
              </a:rPr>
              <a:t>through generation of </a:t>
            </a:r>
            <a:r>
              <a:rPr lang="en-GB" sz="3200" kern="0" dirty="0">
                <a:solidFill>
                  <a:srgbClr val="FF0000"/>
                </a:solidFill>
              </a:rPr>
              <a:t>raw materials</a:t>
            </a:r>
            <a:r>
              <a:rPr lang="en-GB" sz="3200" kern="0" dirty="0">
                <a:solidFill>
                  <a:prstClr val="black"/>
                </a:solidFill>
              </a:rPr>
              <a:t>, reduced pollution by reducing waste and new revenue streams by conversion of waste to valuable products. </a:t>
            </a:r>
            <a:endParaRPr lang="en-GB" sz="32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766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16632"/>
            <a:ext cx="11305256" cy="66247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465DF3-D63C-4962-332E-812E2D7AC707}"/>
              </a:ext>
            </a:extLst>
          </p:cNvPr>
          <p:cNvSpPr txBox="1"/>
          <p:nvPr/>
        </p:nvSpPr>
        <p:spPr>
          <a:xfrm>
            <a:off x="695400" y="5949280"/>
            <a:ext cx="6237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Akinniyi J.N (2023</a:t>
            </a:r>
            <a:r>
              <a:rPr lang="en-GB" dirty="0"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074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1A7A01-8DF9-4795-92B0-A17B82C7324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83432" y="332656"/>
            <a:ext cx="49007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Waste Valorisation Strategies</a:t>
            </a:r>
            <a:endParaRPr lang="en-GB" sz="2800" kern="0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4704"/>
            <a:ext cx="11928648" cy="590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 defTabSz="457200" fontAlgn="auto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en-GB" sz="3200" kern="0" dirty="0">
                <a:solidFill>
                  <a:prstClr val="black"/>
                </a:solidFill>
              </a:rPr>
              <a:t>Biological: Involves composting, anaerobic digestion, and fermentation using organic materials that can decompose readily</a:t>
            </a:r>
          </a:p>
          <a:p>
            <a:pPr marL="914400" lvl="1" indent="-457200" algn="just" defTabSz="457200" fontAlgn="auto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en-GB" sz="3200" kern="0" dirty="0">
              <a:solidFill>
                <a:prstClr val="black"/>
              </a:solidFill>
            </a:endParaRP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3200" kern="0" dirty="0">
                <a:solidFill>
                  <a:prstClr val="black"/>
                </a:solidFill>
              </a:rPr>
              <a:t>	Biochemical: The extraction of bioactive 	compounds through biochemical processes 	and use of 	biological agents.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GB" sz="3200" kern="0" dirty="0">
              <a:solidFill>
                <a:prstClr val="black"/>
              </a:solidFill>
            </a:endParaRPr>
          </a:p>
          <a:p>
            <a:pPr marL="457200" marR="0" lvl="0" indent="-457200" algn="just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3200" kern="0" dirty="0">
                <a:solidFill>
                  <a:prstClr val="black"/>
                </a:solidFill>
              </a:rPr>
              <a:t> 	Thermochemical: Use of high temperature 	through	pyrolysis and gasification to breakdown waste into simpler compounds.	</a:t>
            </a:r>
          </a:p>
        </p:txBody>
      </p:sp>
    </p:spTree>
    <p:extLst>
      <p:ext uri="{BB962C8B-B14F-4D97-AF65-F5344CB8AC3E}">
        <p14:creationId xmlns:p14="http://schemas.microsoft.com/office/powerpoint/2010/main" val="1469619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764704"/>
            <a:ext cx="11593288" cy="6408712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1344" y="17004"/>
            <a:ext cx="10363200" cy="838200"/>
          </a:xfrm>
        </p:spPr>
        <p:txBody>
          <a:bodyPr/>
          <a:lstStyle/>
          <a:p>
            <a:r>
              <a:rPr lang="en-GB" dirty="0" err="1"/>
              <a:t>Valorization</a:t>
            </a:r>
            <a:r>
              <a:rPr lang="en-GB" dirty="0"/>
              <a:t>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05173-AC60-4318-C130-ACE8E824DC41}"/>
              </a:ext>
            </a:extLst>
          </p:cNvPr>
          <p:cNvSpPr txBox="1"/>
          <p:nvPr/>
        </p:nvSpPr>
        <p:spPr>
          <a:xfrm>
            <a:off x="695400" y="6309320"/>
            <a:ext cx="3240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Godspower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O.O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et al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(2025)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820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88" y="764704"/>
            <a:ext cx="11017224" cy="576064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9336" y="17004"/>
            <a:ext cx="10363200" cy="838200"/>
          </a:xfrm>
        </p:spPr>
        <p:txBody>
          <a:bodyPr/>
          <a:lstStyle/>
          <a:p>
            <a:r>
              <a:rPr lang="en-GB" dirty="0" err="1"/>
              <a:t>Valorization</a:t>
            </a:r>
            <a:r>
              <a:rPr lang="en-GB" dirty="0"/>
              <a:t> strategy</a:t>
            </a:r>
          </a:p>
        </p:txBody>
      </p:sp>
    </p:spTree>
    <p:extLst>
      <p:ext uri="{BB962C8B-B14F-4D97-AF65-F5344CB8AC3E}">
        <p14:creationId xmlns:p14="http://schemas.microsoft.com/office/powerpoint/2010/main" val="3818018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16633"/>
            <a:ext cx="11161240" cy="6192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C8BA24-CD89-1A1A-315E-0DC0F26FAE63}"/>
              </a:ext>
            </a:extLst>
          </p:cNvPr>
          <p:cNvSpPr txBox="1"/>
          <p:nvPr/>
        </p:nvSpPr>
        <p:spPr>
          <a:xfrm>
            <a:off x="695400" y="5939989"/>
            <a:ext cx="6237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Godfrey Okeke (2014)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07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0044-950A-C6C8-EEDF-1E4558A8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4CD003-0BB2-2C3D-6C45-2C442720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76" y="6399245"/>
            <a:ext cx="609600" cy="457200"/>
          </a:xfrm>
        </p:spPr>
        <p:txBody>
          <a:bodyPr/>
          <a:lstStyle/>
          <a:p>
            <a:pPr>
              <a:defRPr/>
            </a:pPr>
            <a:fld id="{501A7A01-8DF9-4795-92B0-A17B82C7324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6E04B-BB37-22F0-6923-B0C1A4377D83}"/>
              </a:ext>
            </a:extLst>
          </p:cNvPr>
          <p:cNvSpPr txBox="1"/>
          <p:nvPr/>
        </p:nvSpPr>
        <p:spPr>
          <a:xfrm>
            <a:off x="1343472" y="2780928"/>
            <a:ext cx="8856984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400" kern="0" dirty="0">
                <a:solidFill>
                  <a:schemeClr val="bg1"/>
                </a:solidFill>
              </a:rPr>
              <a:t>RESEARCH METHODOLOGY </a:t>
            </a:r>
          </a:p>
        </p:txBody>
      </p:sp>
    </p:spTree>
    <p:extLst>
      <p:ext uri="{BB962C8B-B14F-4D97-AF65-F5344CB8AC3E}">
        <p14:creationId xmlns:p14="http://schemas.microsoft.com/office/powerpoint/2010/main" val="3976780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1A7A01-8DF9-4795-92B0-A17B82C7324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35360" y="1052736"/>
            <a:ext cx="11017224" cy="522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Research Design: Quantitative empirical analysis.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Data type : Secondary data </a:t>
            </a:r>
          </a:p>
          <a:p>
            <a:pPr marL="457200" indent="-457200" defTabSz="457200" fontAlgn="auto">
              <a:spcBef>
                <a:spcPct val="2000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en-GB" sz="2800" kern="0" dirty="0">
                <a:solidFill>
                  <a:prstClr val="black"/>
                </a:solidFill>
              </a:rPr>
              <a:t>Data Source: Data used for the study was sourced from panel data available at the food and agricultural organisation (FOA).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Data Analysis : SPSS, regression and correlation analysis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Variables considered are: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 Loss percentage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 Year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 Contribution to GDP</a:t>
            </a:r>
          </a:p>
          <a:p>
            <a:pPr marL="457200" marR="0" lvl="0" indent="-4572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Sample size: 587 observations.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GB" sz="900" kern="0" dirty="0">
              <a:solidFill>
                <a:sysClr val="windowText" lastClr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63552" y="404664"/>
            <a:ext cx="38860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Research Methodology</a:t>
            </a:r>
            <a:endParaRPr lang="en-GB" sz="28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853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95161-B897-9164-8537-9978F5436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93527A-FE0B-4A29-4882-1F486DAA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76" y="6399245"/>
            <a:ext cx="609600" cy="457200"/>
          </a:xfrm>
        </p:spPr>
        <p:txBody>
          <a:bodyPr/>
          <a:lstStyle/>
          <a:p>
            <a:pPr>
              <a:defRPr/>
            </a:pPr>
            <a:fld id="{501A7A01-8DF9-4795-92B0-A17B82C7324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A8D9E-A850-A888-8401-4AE4EAEBFE7C}"/>
              </a:ext>
            </a:extLst>
          </p:cNvPr>
          <p:cNvSpPr txBox="1"/>
          <p:nvPr/>
        </p:nvSpPr>
        <p:spPr>
          <a:xfrm>
            <a:off x="1343472" y="2780928"/>
            <a:ext cx="8856984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400" kern="0" dirty="0">
                <a:solidFill>
                  <a:schemeClr val="bg1"/>
                </a:solidFill>
              </a:rPr>
              <a:t>RESULTS AND DICSUSSION </a:t>
            </a:r>
          </a:p>
        </p:txBody>
      </p:sp>
    </p:spTree>
    <p:extLst>
      <p:ext uri="{BB962C8B-B14F-4D97-AF65-F5344CB8AC3E}">
        <p14:creationId xmlns:p14="http://schemas.microsoft.com/office/powerpoint/2010/main" val="3341003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79376" y="1268760"/>
            <a:ext cx="11460480" cy="5589240"/>
          </a:xfrm>
        </p:spPr>
        <p:txBody>
          <a:bodyPr/>
          <a:lstStyle/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Rectangle 1"/>
          <p:cNvSpPr/>
          <p:nvPr/>
        </p:nvSpPr>
        <p:spPr>
          <a:xfrm>
            <a:off x="335360" y="1196752"/>
            <a:ext cx="11604496" cy="4869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GB" sz="4000" kern="0" dirty="0">
                <a:solidFill>
                  <a:prstClr val="black"/>
                </a:solidFill>
              </a:rPr>
              <a:t>Regression Model: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GB" sz="4000" kern="0" dirty="0">
              <a:solidFill>
                <a:prstClr val="black"/>
              </a:solidFill>
            </a:endParaRP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GB" sz="3600" kern="0" dirty="0">
                <a:solidFill>
                  <a:prstClr val="black"/>
                </a:solidFill>
              </a:rPr>
              <a:t>Contribution to GDP = β0 + β1(Loss Percentage) +</a:t>
            </a:r>
          </a:p>
          <a:p>
            <a:pPr marR="0" lvl="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3600" kern="0" dirty="0">
                <a:solidFill>
                  <a:prstClr val="black"/>
                </a:solidFill>
              </a:rPr>
              <a:t>	 β2(Year) + μ</a:t>
            </a: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GB" sz="4000" kern="0" dirty="0">
              <a:solidFill>
                <a:prstClr val="black"/>
              </a:solidFill>
            </a:endParaRPr>
          </a:p>
          <a:p>
            <a:pPr marL="342900" marR="0" lvl="0" indent="-342900" defTabSz="4572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GB" sz="4000" kern="0" dirty="0">
                <a:solidFill>
                  <a:prstClr val="black"/>
                </a:solidFill>
              </a:rPr>
              <a:t>Purpose: Determine relationship between waste losses and economic performance</a:t>
            </a:r>
            <a:endParaRPr lang="en-GB" sz="4000" dirty="0"/>
          </a:p>
        </p:txBody>
      </p:sp>
      <p:sp>
        <p:nvSpPr>
          <p:cNvPr id="3" name="Rectangle 2"/>
          <p:cNvSpPr/>
          <p:nvPr/>
        </p:nvSpPr>
        <p:spPr>
          <a:xfrm>
            <a:off x="1703512" y="260648"/>
            <a:ext cx="28023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kern="0" dirty="0">
                <a:solidFill>
                  <a:prstClr val="black"/>
                </a:solidFill>
              </a:rPr>
              <a:t>Statistical Model</a:t>
            </a:r>
            <a:endParaRPr lang="en-GB" sz="28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338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764704"/>
            <a:ext cx="11665296" cy="554461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35360" y="173008"/>
            <a:ext cx="4752528" cy="734224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159096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2797" y="74712"/>
            <a:ext cx="10363200" cy="838200"/>
          </a:xfrm>
        </p:spPr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1A7A01-8DF9-4795-92B0-A17B82C7324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5" y="1196752"/>
            <a:ext cx="11185921" cy="510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74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24E43-7735-FF33-A63A-0B810C4ABD7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79376" y="548680"/>
            <a:ext cx="11103024" cy="604867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dirty="0"/>
              <a:t>The ANOVA results supports the regression model as it shows a positive significant (F (2, 584) = 13.368, p &lt; 0.001). This implies that loss percentage and year together exert a significant influence on contribution to GDP.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7A668-F089-E35A-3C4F-8D1CD6A9B8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B99945-9369-5F47-3ED0-F23F9100B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836712"/>
            <a:ext cx="10945216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35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35360" y="1447800"/>
            <a:ext cx="11593288" cy="4572000"/>
          </a:xfrm>
        </p:spPr>
        <p:txBody>
          <a:bodyPr/>
          <a:lstStyle/>
          <a:p>
            <a:r>
              <a:rPr lang="en-GB" sz="4000" dirty="0"/>
              <a:t>Economic: Lost revenue from unutilised waste.</a:t>
            </a:r>
            <a:r>
              <a:rPr lang="en-GB" dirty="0"/>
              <a:t> (</a:t>
            </a:r>
            <a:r>
              <a:rPr lang="en-GB" dirty="0" err="1"/>
              <a:t>Ghisellini</a:t>
            </a:r>
            <a:r>
              <a:rPr lang="en-GB" dirty="0"/>
              <a:t> </a:t>
            </a:r>
            <a:r>
              <a:rPr lang="en-GB" i="1" dirty="0"/>
              <a:t>et al.,</a:t>
            </a:r>
            <a:r>
              <a:rPr lang="en-GB" dirty="0"/>
              <a:t> 2016; Osman </a:t>
            </a:r>
            <a:r>
              <a:rPr lang="en-GB" i="1" dirty="0"/>
              <a:t>et al.,</a:t>
            </a:r>
            <a:r>
              <a:rPr lang="en-GB" dirty="0"/>
              <a:t> 2022)</a:t>
            </a:r>
          </a:p>
          <a:p>
            <a:endParaRPr lang="en-US" dirty="0"/>
          </a:p>
          <a:p>
            <a:r>
              <a:rPr lang="en-GB" sz="4000" dirty="0"/>
              <a:t>Environmental: pollution and greenhouse gas emissions.</a:t>
            </a:r>
          </a:p>
          <a:p>
            <a:endParaRPr lang="en-GB" sz="4000" dirty="0"/>
          </a:p>
          <a:p>
            <a:r>
              <a:rPr lang="en-GB" sz="4000" dirty="0"/>
              <a:t>Social, not practically measured, but inferred: lost employment opportunities and food security concerns </a:t>
            </a:r>
            <a:r>
              <a:rPr lang="en-GB" dirty="0"/>
              <a:t>(</a:t>
            </a:r>
            <a:r>
              <a:rPr lang="en-GB" dirty="0" err="1"/>
              <a:t>Jurgilevich</a:t>
            </a:r>
            <a:r>
              <a:rPr lang="en-GB" dirty="0"/>
              <a:t> et al., 2016)</a:t>
            </a:r>
            <a:r>
              <a:rPr lang="en-GB" sz="4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86144" y="191869"/>
            <a:ext cx="72068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dirty="0"/>
              <a:t>Triple </a:t>
            </a:r>
            <a:r>
              <a:rPr lang="en-GB" sz="3600" i="1" dirty="0"/>
              <a:t>Bottom</a:t>
            </a:r>
            <a:r>
              <a:rPr lang="en-GB" sz="3600" dirty="0"/>
              <a:t> Line Implications</a:t>
            </a:r>
          </a:p>
        </p:txBody>
      </p:sp>
    </p:spTree>
    <p:extLst>
      <p:ext uri="{BB962C8B-B14F-4D97-AF65-F5344CB8AC3E}">
        <p14:creationId xmlns:p14="http://schemas.microsoft.com/office/powerpoint/2010/main" val="3229678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9EB3-7E3A-25D1-3B91-24411AF2B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742DEB-F02C-C23D-A6B4-15944DE0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76" y="6399245"/>
            <a:ext cx="609600" cy="457200"/>
          </a:xfrm>
        </p:spPr>
        <p:txBody>
          <a:bodyPr/>
          <a:lstStyle/>
          <a:p>
            <a:pPr>
              <a:defRPr/>
            </a:pPr>
            <a:fld id="{501A7A01-8DF9-4795-92B0-A17B82C7324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4D0B2-8606-BFB2-3E42-24AB639DC7ED}"/>
              </a:ext>
            </a:extLst>
          </p:cNvPr>
          <p:cNvSpPr txBox="1"/>
          <p:nvPr/>
        </p:nvSpPr>
        <p:spPr>
          <a:xfrm>
            <a:off x="29276" y="3044279"/>
            <a:ext cx="11827364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400" kern="0" dirty="0">
                <a:solidFill>
                  <a:schemeClr val="bg1"/>
                </a:solidFill>
              </a:rPr>
              <a:t>CONCLUSION AND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1891732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237D7-A640-C072-2DDA-4B3475D50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404A-547C-DC9A-BBEA-1B6578840F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99356" y="980728"/>
            <a:ext cx="11593288" cy="5343872"/>
          </a:xfrm>
        </p:spPr>
        <p:txBody>
          <a:bodyPr/>
          <a:lstStyle/>
          <a:p>
            <a:r>
              <a:rPr lang="en-GB" sz="4000" dirty="0"/>
              <a:t>Relative contribution of </a:t>
            </a:r>
            <a:r>
              <a:rPr lang="en-GB" sz="4000" dirty="0" err="1"/>
              <a:t>agro</a:t>
            </a:r>
            <a:r>
              <a:rPr lang="en-GB" sz="4000" dirty="0"/>
              <a:t>-allied waste to GDP is falling </a:t>
            </a:r>
            <a:endParaRPr lang="en-GB" dirty="0"/>
          </a:p>
          <a:p>
            <a:endParaRPr lang="en-US" dirty="0"/>
          </a:p>
          <a:p>
            <a:r>
              <a:rPr lang="en-GB" sz="4000" dirty="0"/>
              <a:t>Food loss percentage and contribution to GDP is statistically insignificant </a:t>
            </a:r>
          </a:p>
          <a:p>
            <a:endParaRPr lang="en-GB" sz="4000" dirty="0"/>
          </a:p>
          <a:p>
            <a:r>
              <a:rPr lang="en-GB" sz="4000" dirty="0"/>
              <a:t>Positive correlation between year and percentage loss of </a:t>
            </a:r>
            <a:r>
              <a:rPr lang="en-GB" sz="4000" dirty="0" err="1"/>
              <a:t>agro</a:t>
            </a:r>
            <a:r>
              <a:rPr lang="en-GB" sz="4000" dirty="0"/>
              <a:t>-allied waste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66962-0D8F-27E4-C3D2-B8AD82547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292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764704"/>
            <a:ext cx="11521280" cy="597666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9336" y="45720"/>
            <a:ext cx="10363200" cy="838200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537243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1124744"/>
            <a:ext cx="11233248" cy="5245576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304" y="0"/>
            <a:ext cx="10363200" cy="838200"/>
          </a:xfrm>
        </p:spPr>
        <p:txBody>
          <a:bodyPr/>
          <a:lstStyle/>
          <a:p>
            <a:r>
              <a:rPr lang="en-GB"/>
              <a:t>Recommendations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4602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67408" y="260648"/>
            <a:ext cx="61926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dirty="0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56" y="980728"/>
            <a:ext cx="11593288" cy="53285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142528"/>
            <a:ext cx="10363200" cy="838200"/>
          </a:xfrm>
        </p:spPr>
        <p:txBody>
          <a:bodyPr/>
          <a:lstStyle/>
          <a:p>
            <a:r>
              <a:rPr lang="en-GB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891023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9325-5F59-E32C-E9AE-18207B591A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11582400" cy="4572000"/>
          </a:xfrm>
        </p:spPr>
        <p:txBody>
          <a:bodyPr/>
          <a:lstStyle/>
          <a:p>
            <a:pPr marL="0" indent="0" algn="ctr">
              <a:buNone/>
            </a:pPr>
            <a:endParaRPr lang="en-US" sz="6600" dirty="0"/>
          </a:p>
          <a:p>
            <a:pPr marL="0" indent="0" algn="ctr">
              <a:buNone/>
            </a:pPr>
            <a:r>
              <a:rPr lang="en-US" sz="6600" dirty="0"/>
              <a:t>THANK YOU FOR LISTENING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CB0D7-389E-E8F0-F685-44252A971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90960B-12A3-45DA-87AE-3434B3976751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60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femi</Template>
  <TotalTime>31896</TotalTime>
  <Words>772</Words>
  <Application>Microsoft Office PowerPoint</Application>
  <PresentationFormat>Widescreen</PresentationFormat>
  <Paragraphs>138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Times New Roman</vt:lpstr>
      <vt:lpstr>Tw Cen MT</vt:lpstr>
      <vt:lpstr>Wingdings</vt:lpstr>
      <vt:lpstr>Wingdings 2</vt:lpstr>
      <vt:lpstr>Equity</vt:lpstr>
      <vt:lpstr>FROM WASTE TO VALUE: APPLYING THE TRIPLE BOTTOM LINE THEORY TO WASTE MANAGEMENT IN NIGERIA’S AGRO ALLIED INDUSTRIES.</vt:lpstr>
      <vt:lpstr> outline </vt:lpstr>
      <vt:lpstr>PowerPoint Presentation</vt:lpstr>
      <vt:lpstr>Research Problem</vt:lpstr>
      <vt:lpstr>Research Aim and Objectives</vt:lpstr>
      <vt:lpstr>Hypothesis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Valorization strategy</vt:lpstr>
      <vt:lpstr>Valorization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Results</vt:lpstr>
      <vt:lpstr>PowerPoint Presentation</vt:lpstr>
      <vt:lpstr>PowerPoint Presentation</vt:lpstr>
      <vt:lpstr>PowerPoint Presentation</vt:lpstr>
      <vt:lpstr>PowerPoint Presentation</vt:lpstr>
      <vt:lpstr>Conclusion</vt:lpstr>
      <vt:lpstr>Recommendations</vt:lpstr>
      <vt:lpstr>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PROJECTS PROPOSAL</dc:title>
  <dc:creator>KAZEEM</dc:creator>
  <cp:lastModifiedBy>Newton Monye</cp:lastModifiedBy>
  <cp:revision>906</cp:revision>
  <cp:lastPrinted>2012-10-16T11:28:32Z</cp:lastPrinted>
  <dcterms:created xsi:type="dcterms:W3CDTF">2010-10-22T08:14:31Z</dcterms:created>
  <dcterms:modified xsi:type="dcterms:W3CDTF">2026-06-22T13:37:02Z</dcterms:modified>
</cp:coreProperties>
</file>