
<file path=[Content_Types].xml><?xml version="1.0" encoding="utf-8"?>
<Types xmlns="http://schemas.openxmlformats.org/package/2006/content-types">
  <Default Extension="bin" ContentType="application/vnd.openxmlformats-officedocument.oleObject"/>
  <Default Extension="fntdata" ContentType="application/x-fontdata"/>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diagrams/data2.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bookmarkIdSeed="3">
  <p:sldMasterIdLst>
    <p:sldMasterId id="2147483789" r:id="rId1"/>
  </p:sldMasterIdLst>
  <p:notesMasterIdLst>
    <p:notesMasterId r:id="rId18"/>
  </p:notesMasterIdLst>
  <p:sldIdLst>
    <p:sldId id="264" r:id="rId2"/>
    <p:sldId id="256" r:id="rId3"/>
    <p:sldId id="257" r:id="rId4"/>
    <p:sldId id="281" r:id="rId5"/>
    <p:sldId id="324" r:id="rId6"/>
    <p:sldId id="308" r:id="rId7"/>
    <p:sldId id="313" r:id="rId8"/>
    <p:sldId id="314" r:id="rId9"/>
    <p:sldId id="315" r:id="rId10"/>
    <p:sldId id="316" r:id="rId11"/>
    <p:sldId id="317" r:id="rId12"/>
    <p:sldId id="318" r:id="rId13"/>
    <p:sldId id="319" r:id="rId14"/>
    <p:sldId id="320" r:id="rId15"/>
    <p:sldId id="263" r:id="rId16"/>
    <p:sldId id="322" r:id="rId17"/>
  </p:sldIdLst>
  <p:sldSz cx="14630400" cy="8229600"/>
  <p:notesSz cx="8229600" cy="14630400"/>
  <p:embeddedFontLst>
    <p:embeddedFont>
      <p:font typeface="Arial Black" panose="020B0A04020102020204" pitchFamily="34" charset="0"/>
      <p:bold r:id="rId19"/>
    </p:embeddedFont>
    <p:embeddedFont>
      <p:font typeface="Arial Rounded MT Bold" panose="020F0704030504030204" pitchFamily="34" charset="0"/>
      <p:regular r:id="rId20"/>
    </p:embeddedFont>
    <p:embeddedFont>
      <p:font typeface="Bahnschrift SemiBold" panose="020B0502040204020203" pitchFamily="34" charset="0"/>
      <p:bold r:id="rId21"/>
    </p:embeddedFont>
    <p:embeddedFont>
      <p:font typeface="Bell MT" panose="02020503060305020303" pitchFamily="18" charset="0"/>
      <p:regular r:id="rId22"/>
      <p:bold r:id="rId23"/>
      <p:italic r:id="rId24"/>
    </p:embeddedFont>
    <p:embeddedFont>
      <p:font typeface="Bricolage Grotesque Semi Bold" panose="020B0604020202020204" charset="0"/>
      <p:regular r:id="rId25"/>
    </p:embeddedFont>
    <p:embeddedFont>
      <p:font typeface="Cambria Math" panose="02040503050406030204" pitchFamily="18" charset="0"/>
      <p:regular r:id="rId26"/>
    </p:embeddedFont>
    <p:embeddedFont>
      <p:font typeface="Gill Sans MT" panose="020B0502020104020203" pitchFamily="34" charset="0"/>
      <p:regular r:id="rId27"/>
      <p:bold r:id="rId28"/>
      <p:italic r:id="rId29"/>
      <p:boldItalic r:id="rId30"/>
    </p:embeddedFont>
    <p:embeddedFont>
      <p:font typeface="Inter" panose="020B0604020202020204" charset="0"/>
      <p:regular r:id="rId31"/>
    </p:embeddedFont>
    <p:embeddedFont>
      <p:font typeface="Lucida Sans Typewriter" panose="020B0509030504030204" pitchFamily="49" charset="0"/>
      <p:regular r:id="rId32"/>
      <p:bold r:id="rId33"/>
      <p:italic r:id="rId34"/>
      <p:boldItalic r:id="rId35"/>
    </p:embeddedFont>
    <p:embeddedFont>
      <p:font typeface="Wingdings 2" panose="05020102010507070707" pitchFamily="18" charset="2"/>
      <p:regular r:id="rId3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unday Igwe Abang" initials="SIA" lastIdx="1" clrIdx="0">
    <p:extLst>
      <p:ext uri="{19B8F6BF-5375-455C-9EA6-DF929625EA0E}">
        <p15:presenceInfo xmlns:p15="http://schemas.microsoft.com/office/powerpoint/2012/main" userId="b432520e78bb9b62"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162" autoAdjust="0"/>
  </p:normalViewPr>
  <p:slideViewPr>
    <p:cSldViewPr snapToGrid="0" snapToObjects="1">
      <p:cViewPr varScale="1">
        <p:scale>
          <a:sx n="65" d="100"/>
          <a:sy n="65" d="100"/>
        </p:scale>
        <p:origin x="830"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9" Type="http://schemas.openxmlformats.org/officeDocument/2006/relationships/viewProps" Target="viewProps.xml"/><Relationship Id="rId21" Type="http://schemas.openxmlformats.org/officeDocument/2006/relationships/font" Target="fonts/font3.fntdata"/><Relationship Id="rId34" Type="http://schemas.openxmlformats.org/officeDocument/2006/relationships/font" Target="fonts/font16.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font" Target="fonts/font14.fntdata"/><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36" Type="http://schemas.openxmlformats.org/officeDocument/2006/relationships/font" Target="fonts/font18.fntdata"/><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openxmlformats.org/officeDocument/2006/relationships/font" Target="fonts/font17.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font" Target="fonts/font15.fntdata"/><Relationship Id="rId38" Type="http://schemas.openxmlformats.org/officeDocument/2006/relationships/presProps" Target="presProp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5-10-20T15:42:55.488" idx="1">
    <p:pos x="6670" y="1452"/>
    <p:text>The global aviation sector is a critical contributor to climate change, responsible for 2.5% of anthropogenic CO₂ emissions.
Projections indicate this could triple by 2050 without intervention.
The International Air Transport Association (IATA) has set ambitious targets:
Carbon-neutral growth from 2020 onwards.
50% reduction in net emissions by 2050 compared to 2005 levels.
Sustainable Aviation Fuel (SAF) is the most viable near-term solution, capable of reducing lifecycle emissions by up to 80%.</p:text>
    <p:extLst>
      <p:ext uri="{C676402C-5697-4E1C-873F-D02D1690AC5C}">
        <p15:threadingInfo xmlns:p15="http://schemas.microsoft.com/office/powerpoint/2012/main" timeZoneBias="-60"/>
      </p:ext>
    </p:extLst>
  </p:cm>
</p:cmLst>
</file>

<file path=ppt/diagrams/_rels/data2.xml.rels><?xml version="1.0" encoding="UTF-8" standalone="yes"?>
<Relationships xmlns="http://schemas.openxmlformats.org/package/2006/relationships"><Relationship Id="rId1" Type="http://schemas.openxmlformats.org/officeDocument/2006/relationships/image" Target="../media/image114.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76CA754-98B9-489F-8A02-B4FE0F791B7E}" type="doc">
      <dgm:prSet loTypeId="urn:microsoft.com/office/officeart/2005/8/layout/pyramid2" loCatId="pyramid" qsTypeId="urn:microsoft.com/office/officeart/2005/8/quickstyle/simple1" qsCatId="simple" csTypeId="urn:microsoft.com/office/officeart/2005/8/colors/accent1_2" csCatId="accent1" phldr="1"/>
      <dgm:spPr/>
      <dgm:t>
        <a:bodyPr/>
        <a:lstStyle/>
        <a:p>
          <a:endParaRPr lang="en-US"/>
        </a:p>
      </dgm:t>
    </dgm:pt>
    <dgm:pt modelId="{DC1B3F9D-8923-48DA-8F4D-01096AA0A8BA}">
      <dgm:prSet custT="1"/>
      <dgm:spPr/>
      <dgm:t>
        <a:bodyPr/>
        <a:lstStyle/>
        <a:p>
          <a:r>
            <a:rPr lang="en-US" sz="1600" b="1" dirty="0">
              <a:solidFill>
                <a:schemeClr val="accent4">
                  <a:lumMod val="75000"/>
                </a:schemeClr>
              </a:solidFill>
              <a:latin typeface="Bricolage Grotesque Semi Bold" panose="020B0604020202020204" charset="0"/>
            </a:rPr>
            <a:t>Summary of the Research</a:t>
          </a:r>
          <a:endParaRPr lang="en-US" sz="1600" dirty="0">
            <a:solidFill>
              <a:schemeClr val="accent4">
                <a:lumMod val="75000"/>
              </a:schemeClr>
            </a:solidFill>
            <a:latin typeface="Bricolage Grotesque Semi Bold" panose="020B0604020202020204" charset="0"/>
          </a:endParaRPr>
        </a:p>
      </dgm:t>
    </dgm:pt>
    <dgm:pt modelId="{75EC276D-54C5-4E96-9CCB-F182179997B4}" type="parTrans" cxnId="{6E7CA83A-F3FB-4231-91FE-049F36570D29}">
      <dgm:prSet/>
      <dgm:spPr/>
      <dgm:t>
        <a:bodyPr/>
        <a:lstStyle/>
        <a:p>
          <a:endParaRPr lang="en-US"/>
        </a:p>
      </dgm:t>
    </dgm:pt>
    <dgm:pt modelId="{69999AE2-356F-448E-9FD1-65134E07C134}" type="sibTrans" cxnId="{6E7CA83A-F3FB-4231-91FE-049F36570D29}">
      <dgm:prSet/>
      <dgm:spPr/>
      <dgm:t>
        <a:bodyPr/>
        <a:lstStyle/>
        <a:p>
          <a:endParaRPr lang="en-US"/>
        </a:p>
      </dgm:t>
    </dgm:pt>
    <dgm:pt modelId="{0002758D-0455-4216-90C0-64C0D4F60355}">
      <dgm:prSet custT="1">
        <dgm:style>
          <a:lnRef idx="1">
            <a:schemeClr val="accent5"/>
          </a:lnRef>
          <a:fillRef idx="3">
            <a:schemeClr val="accent5"/>
          </a:fillRef>
          <a:effectRef idx="2">
            <a:schemeClr val="accent5"/>
          </a:effectRef>
          <a:fontRef idx="minor">
            <a:schemeClr val="lt1"/>
          </a:fontRef>
        </dgm:style>
      </dgm:prSet>
      <dgm:spPr/>
      <dgm:t>
        <a:bodyPr/>
        <a:lstStyle/>
        <a:p>
          <a:r>
            <a:rPr lang="en-US" sz="1400" dirty="0">
              <a:latin typeface="Bricolage Grotesque Semi Bold" panose="020B0604020202020204" charset="0"/>
            </a:rPr>
            <a:t>This research addressed the critical challenge of decarbonizing the aviation sector, specifically within the Nigerian context, by developing a novel mathematical model to analyze and optimize the production of Sustainable Aviation Fuel (SAF) from microalgae.</a:t>
          </a:r>
        </a:p>
      </dgm:t>
    </dgm:pt>
    <dgm:pt modelId="{82048EF9-1C80-4340-9182-142E5D336531}" type="parTrans" cxnId="{469F6BAF-91F3-4E78-87E3-0298389ADFF4}">
      <dgm:prSet/>
      <dgm:spPr/>
      <dgm:t>
        <a:bodyPr/>
        <a:lstStyle/>
        <a:p>
          <a:endParaRPr lang="en-US"/>
        </a:p>
      </dgm:t>
    </dgm:pt>
    <dgm:pt modelId="{F2E9D1DB-C3D0-4E08-B064-AF544F246C55}" type="sibTrans" cxnId="{469F6BAF-91F3-4E78-87E3-0298389ADFF4}">
      <dgm:prSet/>
      <dgm:spPr/>
      <dgm:t>
        <a:bodyPr/>
        <a:lstStyle/>
        <a:p>
          <a:endParaRPr lang="en-US"/>
        </a:p>
      </dgm:t>
    </dgm:pt>
    <dgm:pt modelId="{29E6E22B-C19E-45EB-AF0E-DD5EF62C3472}">
      <dgm:prSet custT="1">
        <dgm:style>
          <a:lnRef idx="0">
            <a:schemeClr val="accent5"/>
          </a:lnRef>
          <a:fillRef idx="3">
            <a:schemeClr val="accent5"/>
          </a:fillRef>
          <a:effectRef idx="3">
            <a:schemeClr val="accent5"/>
          </a:effectRef>
          <a:fontRef idx="minor">
            <a:schemeClr val="lt1"/>
          </a:fontRef>
        </dgm:style>
      </dgm:prSet>
      <dgm:spPr/>
      <dgm:t>
        <a:bodyPr/>
        <a:lstStyle/>
        <a:p>
          <a:r>
            <a:rPr lang="en-US" sz="1600" dirty="0">
              <a:latin typeface="Bricolage Grotesque Semi Bold" panose="020B0604020202020204" charset="0"/>
            </a:rPr>
            <a:t>The study formulated a deterministic compartmental model by extending the SIR-compartmental model approach to simulate the dynamics of algae lipid production. </a:t>
          </a:r>
        </a:p>
      </dgm:t>
    </dgm:pt>
    <dgm:pt modelId="{E2D40A21-9259-4034-AECE-AEF867C76269}" type="parTrans" cxnId="{CA411F2A-B1D7-4B7B-B276-6BE33C84FEF8}">
      <dgm:prSet/>
      <dgm:spPr/>
      <dgm:t>
        <a:bodyPr/>
        <a:lstStyle/>
        <a:p>
          <a:endParaRPr lang="en-US"/>
        </a:p>
      </dgm:t>
    </dgm:pt>
    <dgm:pt modelId="{164B145D-EFFC-479C-A83E-9902C9F38185}" type="sibTrans" cxnId="{CA411F2A-B1D7-4B7B-B276-6BE33C84FEF8}">
      <dgm:prSet/>
      <dgm:spPr/>
      <dgm:t>
        <a:bodyPr/>
        <a:lstStyle/>
        <a:p>
          <a:endParaRPr lang="en-US"/>
        </a:p>
      </dgm:t>
    </dgm:pt>
    <dgm:pt modelId="{017E3723-139F-40D2-B530-F7F1C0075B2F}">
      <dgm:prSet custT="1">
        <dgm:style>
          <a:lnRef idx="0">
            <a:schemeClr val="accent5"/>
          </a:lnRef>
          <a:fillRef idx="3">
            <a:schemeClr val="accent5"/>
          </a:fillRef>
          <a:effectRef idx="3">
            <a:schemeClr val="accent5"/>
          </a:effectRef>
          <a:fontRef idx="minor">
            <a:schemeClr val="lt1"/>
          </a:fontRef>
        </dgm:style>
      </dgm:prSet>
      <dgm:spPr/>
      <dgm:t>
        <a:bodyPr/>
        <a:lstStyle/>
        <a:p>
          <a:r>
            <a:rPr lang="en-US" sz="1600" dirty="0">
              <a:latin typeface="Bricolage Grotesque Semi Bold" panose="020B0604020202020204" charset="0"/>
            </a:rPr>
            <a:t>The population was divided into five key compartments: Algae capable of growth (A), Algae exposed to lipid-triggering stressors (E), Lipid-rich algae ready for harvest (H), Algae converted to biofuel (B), and Genetically modified algae (G). </a:t>
          </a:r>
        </a:p>
      </dgm:t>
    </dgm:pt>
    <dgm:pt modelId="{380972A6-B44E-4E06-B906-9968150B8037}" type="parTrans" cxnId="{7A8725EC-879C-47E6-85FD-F55ED33BEC22}">
      <dgm:prSet/>
      <dgm:spPr/>
      <dgm:t>
        <a:bodyPr/>
        <a:lstStyle/>
        <a:p>
          <a:endParaRPr lang="en-US"/>
        </a:p>
      </dgm:t>
    </dgm:pt>
    <dgm:pt modelId="{1A71B54F-8742-49AA-8B92-3C836D15420D}" type="sibTrans" cxnId="{7A8725EC-879C-47E6-85FD-F55ED33BEC22}">
      <dgm:prSet/>
      <dgm:spPr/>
      <dgm:t>
        <a:bodyPr/>
        <a:lstStyle/>
        <a:p>
          <a:endParaRPr lang="en-US"/>
        </a:p>
      </dgm:t>
    </dgm:pt>
    <mc:AlternateContent xmlns:mc="http://schemas.openxmlformats.org/markup-compatibility/2006" xmlns:a14="http://schemas.microsoft.com/office/drawing/2010/main">
      <mc:Choice Requires="a14">
        <dgm:pt modelId="{03C44F1B-CF1E-45EE-B658-AE6C37156144}">
          <dgm:prSet custT="1">
            <dgm:style>
              <a:lnRef idx="1">
                <a:schemeClr val="accent5"/>
              </a:lnRef>
              <a:fillRef idx="3">
                <a:schemeClr val="accent5"/>
              </a:fillRef>
              <a:effectRef idx="2">
                <a:schemeClr val="accent5"/>
              </a:effectRef>
              <a:fontRef idx="minor">
                <a:schemeClr val="lt1"/>
              </a:fontRef>
            </dgm:style>
          </dgm:prSet>
          <dgm:spPr/>
          <dgm:t>
            <a:bodyPr/>
            <a:lstStyle/>
            <a:p>
              <a:r>
                <a:rPr lang="en-US" sz="1600" dirty="0">
                  <a:latin typeface="Bricolage Grotesque Semi Bold" panose="020B0604020202020204" charset="0"/>
                </a:rPr>
                <a:t>A core component of the model was the force of lipid accumulation, λ, which depends on the algae contact rate (β), lipid capacity (</a:t>
              </a:r>
              <a14:m>
                <m:oMath xmlns:m="http://schemas.openxmlformats.org/officeDocument/2006/math">
                  <m:sSub>
                    <m:sSubPr>
                      <m:ctrlPr>
                        <a:rPr lang="en-US" sz="1600" b="1" i="1">
                          <a:latin typeface="Cambria Math" panose="02040503050406030204" pitchFamily="18" charset="0"/>
                        </a:rPr>
                      </m:ctrlPr>
                    </m:sSubPr>
                    <m:e>
                      <m:r>
                        <a:rPr lang="en-US" sz="1600" b="1" i="1">
                          <a:latin typeface="Cambria Math" panose="02040503050406030204" pitchFamily="18" charset="0"/>
                        </a:rPr>
                        <m:t>𝒏</m:t>
                      </m:r>
                    </m:e>
                    <m:sub>
                      <m:r>
                        <a:rPr lang="en-US" sz="1600" b="1" i="1">
                          <a:latin typeface="Cambria Math" panose="02040503050406030204" pitchFamily="18" charset="0"/>
                        </a:rPr>
                        <m:t>𝟏</m:t>
                      </m:r>
                    </m:sub>
                  </m:sSub>
                </m:oMath>
              </a14:m>
              <a:r>
                <a:rPr lang="en-US" sz="1600" dirty="0">
                  <a:latin typeface="Bricolage Grotesque Semi Bold" panose="020B0604020202020204" charset="0"/>
                </a:rPr>
                <a:t>), and maximum lipid production rate (Lₘ).</a:t>
              </a:r>
            </a:p>
          </dgm:t>
        </dgm:pt>
      </mc:Choice>
      <mc:Fallback xmlns="">
        <dgm:pt modelId="{03C44F1B-CF1E-45EE-B658-AE6C37156144}">
          <dgm:prSet custT="1">
            <dgm:style>
              <a:lnRef idx="1">
                <a:schemeClr val="accent5"/>
              </a:lnRef>
              <a:fillRef idx="3">
                <a:schemeClr val="accent5"/>
              </a:fillRef>
              <a:effectRef idx="2">
                <a:schemeClr val="accent5"/>
              </a:effectRef>
              <a:fontRef idx="minor">
                <a:schemeClr val="lt1"/>
              </a:fontRef>
            </dgm:style>
          </dgm:prSet>
          <dgm:spPr/>
          <dgm:t>
            <a:bodyPr/>
            <a:lstStyle/>
            <a:p>
              <a:r>
                <a:rPr lang="en-US" sz="1600" dirty="0">
                  <a:latin typeface="Bricolage Grotesque Semi Bold" panose="020B0604020202020204" charset="0"/>
                </a:rPr>
                <a:t>A core component of the model was the force of lipid accumulation, λ, which depends on the algae contact rate (β), lipid capacity (</a:t>
              </a:r>
              <a:r>
                <a:rPr lang="en-US" sz="1600" b="1" i="0"/>
                <a:t>𝒏_𝟏</a:t>
              </a:r>
              <a:r>
                <a:rPr lang="en-US" sz="1600" dirty="0">
                  <a:latin typeface="Bricolage Grotesque Semi Bold" panose="020B0604020202020204" charset="0"/>
                </a:rPr>
                <a:t>), and maximum lipid production rate (Lₘ).</a:t>
              </a:r>
            </a:p>
          </dgm:t>
        </dgm:pt>
      </mc:Fallback>
    </mc:AlternateContent>
    <dgm:pt modelId="{8F1ACF73-5BBA-423B-A89E-0931E90E57E4}" type="parTrans" cxnId="{3700C75A-2CF2-4902-A417-FE086BE290B4}">
      <dgm:prSet/>
      <dgm:spPr/>
      <dgm:t>
        <a:bodyPr/>
        <a:lstStyle/>
        <a:p>
          <a:endParaRPr lang="en-US"/>
        </a:p>
      </dgm:t>
    </dgm:pt>
    <dgm:pt modelId="{8B1081C2-C7BA-41A3-B4C4-6EADC1B4C0E3}" type="sibTrans" cxnId="{3700C75A-2CF2-4902-A417-FE086BE290B4}">
      <dgm:prSet/>
      <dgm:spPr/>
      <dgm:t>
        <a:bodyPr/>
        <a:lstStyle/>
        <a:p>
          <a:endParaRPr lang="en-US"/>
        </a:p>
      </dgm:t>
    </dgm:pt>
    <dgm:pt modelId="{719E42C4-FD03-45A5-B957-E18EFAA442BD}" type="pres">
      <dgm:prSet presAssocID="{176CA754-98B9-489F-8A02-B4FE0F791B7E}" presName="compositeShape" presStyleCnt="0">
        <dgm:presLayoutVars>
          <dgm:dir/>
          <dgm:resizeHandles/>
        </dgm:presLayoutVars>
      </dgm:prSet>
      <dgm:spPr/>
    </dgm:pt>
    <dgm:pt modelId="{E779C8E2-8BED-49D5-A868-518FE1103927}" type="pres">
      <dgm:prSet presAssocID="{176CA754-98B9-489F-8A02-B4FE0F791B7E}" presName="pyramid" presStyleLbl="node1" presStyleIdx="0" presStyleCnt="1" custLinFactNeighborX="602" custLinFactNeighborY="-3012"/>
      <dgm:spPr/>
    </dgm:pt>
    <dgm:pt modelId="{F8E1C3DC-6B7B-4FBC-BE9D-BDAA4FF8F8A4}" type="pres">
      <dgm:prSet presAssocID="{176CA754-98B9-489F-8A02-B4FE0F791B7E}" presName="theList" presStyleCnt="0"/>
      <dgm:spPr/>
    </dgm:pt>
    <dgm:pt modelId="{6D2C8122-7522-4470-A829-5574B2F42D3F}" type="pres">
      <dgm:prSet presAssocID="{DC1B3F9D-8923-48DA-8F4D-01096AA0A8BA}" presName="aNode" presStyleLbl="fgAcc1" presStyleIdx="0" presStyleCnt="5" custLinFactY="-57898" custLinFactNeighborX="-2966" custLinFactNeighborY="-100000">
        <dgm:presLayoutVars>
          <dgm:bulletEnabled val="1"/>
        </dgm:presLayoutVars>
      </dgm:prSet>
      <dgm:spPr/>
    </dgm:pt>
    <dgm:pt modelId="{D6A0C8D8-9386-45D4-A2ED-33192AB92E7C}" type="pres">
      <dgm:prSet presAssocID="{DC1B3F9D-8923-48DA-8F4D-01096AA0A8BA}" presName="aSpace" presStyleCnt="0"/>
      <dgm:spPr/>
    </dgm:pt>
    <dgm:pt modelId="{C7E8006E-B927-4839-B9FC-299123C661AA}" type="pres">
      <dgm:prSet presAssocID="{0002758D-0455-4216-90C0-64C0D4F60355}" presName="aNode" presStyleLbl="fgAcc1" presStyleIdx="1" presStyleCnt="5" custScaleX="179241" custScaleY="294637" custLinFactY="-47473" custLinFactNeighborX="-2966" custLinFactNeighborY="-100000">
        <dgm:presLayoutVars>
          <dgm:bulletEnabled val="1"/>
        </dgm:presLayoutVars>
      </dgm:prSet>
      <dgm:spPr/>
    </dgm:pt>
    <dgm:pt modelId="{B46E0808-486F-42DA-ABB7-E66E1F4EAF93}" type="pres">
      <dgm:prSet presAssocID="{0002758D-0455-4216-90C0-64C0D4F60355}" presName="aSpace" presStyleCnt="0"/>
      <dgm:spPr/>
    </dgm:pt>
    <dgm:pt modelId="{19F0BBBF-8807-47AC-A449-13A2F63BF2AC}" type="pres">
      <dgm:prSet presAssocID="{29E6E22B-C19E-45EB-AF0E-DD5EF62C3472}" presName="aNode" presStyleLbl="fgAcc1" presStyleIdx="2" presStyleCnt="5" custScaleX="176784" custScaleY="182136" custLinFactY="-32746" custLinFactNeighborX="-3244" custLinFactNeighborY="-100000">
        <dgm:presLayoutVars>
          <dgm:bulletEnabled val="1"/>
        </dgm:presLayoutVars>
      </dgm:prSet>
      <dgm:spPr/>
    </dgm:pt>
    <dgm:pt modelId="{F5129DFF-EACC-4553-8539-9EC4B5156064}" type="pres">
      <dgm:prSet presAssocID="{29E6E22B-C19E-45EB-AF0E-DD5EF62C3472}" presName="aSpace" presStyleCnt="0"/>
      <dgm:spPr/>
    </dgm:pt>
    <dgm:pt modelId="{9094063F-3B7A-4301-9574-45BE40D1EFB5}" type="pres">
      <dgm:prSet presAssocID="{017E3723-139F-40D2-B530-F7F1C0075B2F}" presName="aNode" presStyleLbl="fgAcc1" presStyleIdx="3" presStyleCnt="5" custScaleX="198563" custScaleY="231250" custLinFactNeighborX="-8144" custLinFactNeighborY="-58471">
        <dgm:presLayoutVars>
          <dgm:bulletEnabled val="1"/>
        </dgm:presLayoutVars>
      </dgm:prSet>
      <dgm:spPr/>
    </dgm:pt>
    <dgm:pt modelId="{2F8F9323-864A-4E14-A17F-732FB9E84B75}" type="pres">
      <dgm:prSet presAssocID="{017E3723-139F-40D2-B530-F7F1C0075B2F}" presName="aSpace" presStyleCnt="0"/>
      <dgm:spPr/>
    </dgm:pt>
    <dgm:pt modelId="{A0E5B44B-74E4-4238-8756-74163790C2A1}" type="pres">
      <dgm:prSet presAssocID="{03C44F1B-CF1E-45EE-B658-AE6C37156144}" presName="aNode" presStyleLbl="fgAcc1" presStyleIdx="4" presStyleCnt="5" custScaleX="198563" custScaleY="209740" custLinFactY="66504" custLinFactNeighborX="-5097" custLinFactNeighborY="100000">
        <dgm:presLayoutVars>
          <dgm:bulletEnabled val="1"/>
        </dgm:presLayoutVars>
      </dgm:prSet>
      <dgm:spPr/>
    </dgm:pt>
    <dgm:pt modelId="{4C219797-CB91-4B51-80AD-F2ED0D99F811}" type="pres">
      <dgm:prSet presAssocID="{03C44F1B-CF1E-45EE-B658-AE6C37156144}" presName="aSpace" presStyleCnt="0"/>
      <dgm:spPr/>
    </dgm:pt>
  </dgm:ptLst>
  <dgm:cxnLst>
    <dgm:cxn modelId="{E120A102-C8EB-47D4-BF87-2E4A10A1A7CE}" type="presOf" srcId="{176CA754-98B9-489F-8A02-B4FE0F791B7E}" destId="{719E42C4-FD03-45A5-B957-E18EFAA442BD}" srcOrd="0" destOrd="0" presId="urn:microsoft.com/office/officeart/2005/8/layout/pyramid2"/>
    <dgm:cxn modelId="{CA411F2A-B1D7-4B7B-B276-6BE33C84FEF8}" srcId="{176CA754-98B9-489F-8A02-B4FE0F791B7E}" destId="{29E6E22B-C19E-45EB-AF0E-DD5EF62C3472}" srcOrd="2" destOrd="0" parTransId="{E2D40A21-9259-4034-AECE-AEF867C76269}" sibTransId="{164B145D-EFFC-479C-A83E-9902C9F38185}"/>
    <dgm:cxn modelId="{6E7CA83A-F3FB-4231-91FE-049F36570D29}" srcId="{176CA754-98B9-489F-8A02-B4FE0F791B7E}" destId="{DC1B3F9D-8923-48DA-8F4D-01096AA0A8BA}" srcOrd="0" destOrd="0" parTransId="{75EC276D-54C5-4E96-9CCB-F182179997B4}" sibTransId="{69999AE2-356F-448E-9FD1-65134E07C134}"/>
    <dgm:cxn modelId="{3700C75A-2CF2-4902-A417-FE086BE290B4}" srcId="{176CA754-98B9-489F-8A02-B4FE0F791B7E}" destId="{03C44F1B-CF1E-45EE-B658-AE6C37156144}" srcOrd="4" destOrd="0" parTransId="{8F1ACF73-5BBA-423B-A89E-0931E90E57E4}" sibTransId="{8B1081C2-C7BA-41A3-B4C4-6EADC1B4C0E3}"/>
    <dgm:cxn modelId="{64149694-47E8-454E-8AF7-C32881981099}" type="presOf" srcId="{29E6E22B-C19E-45EB-AF0E-DD5EF62C3472}" destId="{19F0BBBF-8807-47AC-A449-13A2F63BF2AC}" srcOrd="0" destOrd="0" presId="urn:microsoft.com/office/officeart/2005/8/layout/pyramid2"/>
    <dgm:cxn modelId="{469F6BAF-91F3-4E78-87E3-0298389ADFF4}" srcId="{176CA754-98B9-489F-8A02-B4FE0F791B7E}" destId="{0002758D-0455-4216-90C0-64C0D4F60355}" srcOrd="1" destOrd="0" parTransId="{82048EF9-1C80-4340-9182-142E5D336531}" sibTransId="{F2E9D1DB-C3D0-4E08-B064-AF544F246C55}"/>
    <dgm:cxn modelId="{2DBEB7C3-1CE2-438D-80A4-3532D7FBB7D2}" type="presOf" srcId="{03C44F1B-CF1E-45EE-B658-AE6C37156144}" destId="{A0E5B44B-74E4-4238-8756-74163790C2A1}" srcOrd="0" destOrd="0" presId="urn:microsoft.com/office/officeart/2005/8/layout/pyramid2"/>
    <dgm:cxn modelId="{9DA06DDB-4B29-45C0-97B9-AF3DC9B02767}" type="presOf" srcId="{DC1B3F9D-8923-48DA-8F4D-01096AA0A8BA}" destId="{6D2C8122-7522-4470-A829-5574B2F42D3F}" srcOrd="0" destOrd="0" presId="urn:microsoft.com/office/officeart/2005/8/layout/pyramid2"/>
    <dgm:cxn modelId="{7A8725EC-879C-47E6-85FD-F55ED33BEC22}" srcId="{176CA754-98B9-489F-8A02-B4FE0F791B7E}" destId="{017E3723-139F-40D2-B530-F7F1C0075B2F}" srcOrd="3" destOrd="0" parTransId="{380972A6-B44E-4E06-B906-9968150B8037}" sibTransId="{1A71B54F-8742-49AA-8B92-3C836D15420D}"/>
    <dgm:cxn modelId="{E6D5ABF0-20B2-41E2-A49D-C44135E0E1D2}" type="presOf" srcId="{0002758D-0455-4216-90C0-64C0D4F60355}" destId="{C7E8006E-B927-4839-B9FC-299123C661AA}" srcOrd="0" destOrd="0" presId="urn:microsoft.com/office/officeart/2005/8/layout/pyramid2"/>
    <dgm:cxn modelId="{B1C1BFF2-4B29-4221-8F08-5F9C77F35D6D}" type="presOf" srcId="{017E3723-139F-40D2-B530-F7F1C0075B2F}" destId="{9094063F-3B7A-4301-9574-45BE40D1EFB5}" srcOrd="0" destOrd="0" presId="urn:microsoft.com/office/officeart/2005/8/layout/pyramid2"/>
    <dgm:cxn modelId="{0CF58B50-5FFF-46D5-80F1-3DEA88350F25}" type="presParOf" srcId="{719E42C4-FD03-45A5-B957-E18EFAA442BD}" destId="{E779C8E2-8BED-49D5-A868-518FE1103927}" srcOrd="0" destOrd="0" presId="urn:microsoft.com/office/officeart/2005/8/layout/pyramid2"/>
    <dgm:cxn modelId="{94999E59-1889-4FD5-96E1-EF3C960E1BEC}" type="presParOf" srcId="{719E42C4-FD03-45A5-B957-E18EFAA442BD}" destId="{F8E1C3DC-6B7B-4FBC-BE9D-BDAA4FF8F8A4}" srcOrd="1" destOrd="0" presId="urn:microsoft.com/office/officeart/2005/8/layout/pyramid2"/>
    <dgm:cxn modelId="{954F8A9F-0C4E-445D-9D0B-1121D90BA6B9}" type="presParOf" srcId="{F8E1C3DC-6B7B-4FBC-BE9D-BDAA4FF8F8A4}" destId="{6D2C8122-7522-4470-A829-5574B2F42D3F}" srcOrd="0" destOrd="0" presId="urn:microsoft.com/office/officeart/2005/8/layout/pyramid2"/>
    <dgm:cxn modelId="{E8BD2F06-92D4-400D-B3EE-27DD1BFFE47F}" type="presParOf" srcId="{F8E1C3DC-6B7B-4FBC-BE9D-BDAA4FF8F8A4}" destId="{D6A0C8D8-9386-45D4-A2ED-33192AB92E7C}" srcOrd="1" destOrd="0" presId="urn:microsoft.com/office/officeart/2005/8/layout/pyramid2"/>
    <dgm:cxn modelId="{559DF736-16CA-41D5-8CF2-C51450EE9E79}" type="presParOf" srcId="{F8E1C3DC-6B7B-4FBC-BE9D-BDAA4FF8F8A4}" destId="{C7E8006E-B927-4839-B9FC-299123C661AA}" srcOrd="2" destOrd="0" presId="urn:microsoft.com/office/officeart/2005/8/layout/pyramid2"/>
    <dgm:cxn modelId="{06B84FAB-E89B-4CBA-8417-4B1E2D9E6DB5}" type="presParOf" srcId="{F8E1C3DC-6B7B-4FBC-BE9D-BDAA4FF8F8A4}" destId="{B46E0808-486F-42DA-ABB7-E66E1F4EAF93}" srcOrd="3" destOrd="0" presId="urn:microsoft.com/office/officeart/2005/8/layout/pyramid2"/>
    <dgm:cxn modelId="{4481F55B-9D4F-49CF-BB8F-D0E8A0D766BE}" type="presParOf" srcId="{F8E1C3DC-6B7B-4FBC-BE9D-BDAA4FF8F8A4}" destId="{19F0BBBF-8807-47AC-A449-13A2F63BF2AC}" srcOrd="4" destOrd="0" presId="urn:microsoft.com/office/officeart/2005/8/layout/pyramid2"/>
    <dgm:cxn modelId="{444CD293-0615-40BE-B7DE-55064D382548}" type="presParOf" srcId="{F8E1C3DC-6B7B-4FBC-BE9D-BDAA4FF8F8A4}" destId="{F5129DFF-EACC-4553-8539-9EC4B5156064}" srcOrd="5" destOrd="0" presId="urn:microsoft.com/office/officeart/2005/8/layout/pyramid2"/>
    <dgm:cxn modelId="{4A9D3CB9-FCC8-47B2-98BA-4A7DE4C2A707}" type="presParOf" srcId="{F8E1C3DC-6B7B-4FBC-BE9D-BDAA4FF8F8A4}" destId="{9094063F-3B7A-4301-9574-45BE40D1EFB5}" srcOrd="6" destOrd="0" presId="urn:microsoft.com/office/officeart/2005/8/layout/pyramid2"/>
    <dgm:cxn modelId="{20D4F1F6-F0DC-4543-9403-B4571BA05F6A}" type="presParOf" srcId="{F8E1C3DC-6B7B-4FBC-BE9D-BDAA4FF8F8A4}" destId="{2F8F9323-864A-4E14-A17F-732FB9E84B75}" srcOrd="7" destOrd="0" presId="urn:microsoft.com/office/officeart/2005/8/layout/pyramid2"/>
    <dgm:cxn modelId="{9B099FDB-3BDE-46FC-A978-3F4FEB553CAF}" type="presParOf" srcId="{F8E1C3DC-6B7B-4FBC-BE9D-BDAA4FF8F8A4}" destId="{A0E5B44B-74E4-4238-8756-74163790C2A1}" srcOrd="8" destOrd="0" presId="urn:microsoft.com/office/officeart/2005/8/layout/pyramid2"/>
    <dgm:cxn modelId="{7835A7D4-7C30-444A-B25B-550F6DBDAE27}" type="presParOf" srcId="{F8E1C3DC-6B7B-4FBC-BE9D-BDAA4FF8F8A4}" destId="{4C219797-CB91-4B51-80AD-F2ED0D99F811}" srcOrd="9" destOrd="0" presId="urn:microsoft.com/office/officeart/2005/8/layout/pyramid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76CA754-98B9-489F-8A02-B4FE0F791B7E}" type="doc">
      <dgm:prSet loTypeId="urn:microsoft.com/office/officeart/2005/8/layout/pyramid2" loCatId="pyramid" qsTypeId="urn:microsoft.com/office/officeart/2005/8/quickstyle/simple1" qsCatId="simple" csTypeId="urn:microsoft.com/office/officeart/2005/8/colors/accent1_2" csCatId="accent1" phldr="1"/>
      <dgm:spPr/>
      <dgm:t>
        <a:bodyPr/>
        <a:lstStyle/>
        <a:p>
          <a:endParaRPr lang="en-US"/>
        </a:p>
      </dgm:t>
    </dgm:pt>
    <dgm:pt modelId="{DC1B3F9D-8923-48DA-8F4D-01096AA0A8BA}">
      <dgm:prSet custT="1"/>
      <dgm:spPr/>
      <dgm:t>
        <a:bodyPr/>
        <a:lstStyle/>
        <a:p>
          <a:r>
            <a:rPr lang="en-US" sz="1600" b="1" dirty="0">
              <a:solidFill>
                <a:schemeClr val="accent4">
                  <a:lumMod val="75000"/>
                </a:schemeClr>
              </a:solidFill>
              <a:latin typeface="Bricolage Grotesque Semi Bold" panose="020B0604020202020204" charset="0"/>
            </a:rPr>
            <a:t>Summary of the Research</a:t>
          </a:r>
          <a:endParaRPr lang="en-US" sz="1600" dirty="0">
            <a:solidFill>
              <a:schemeClr val="accent4">
                <a:lumMod val="75000"/>
              </a:schemeClr>
            </a:solidFill>
            <a:latin typeface="Bricolage Grotesque Semi Bold" panose="020B0604020202020204" charset="0"/>
          </a:endParaRPr>
        </a:p>
      </dgm:t>
    </dgm:pt>
    <dgm:pt modelId="{75EC276D-54C5-4E96-9CCB-F182179997B4}" type="parTrans" cxnId="{6E7CA83A-F3FB-4231-91FE-049F36570D29}">
      <dgm:prSet/>
      <dgm:spPr/>
      <dgm:t>
        <a:bodyPr/>
        <a:lstStyle/>
        <a:p>
          <a:endParaRPr lang="en-US"/>
        </a:p>
      </dgm:t>
    </dgm:pt>
    <dgm:pt modelId="{69999AE2-356F-448E-9FD1-65134E07C134}" type="sibTrans" cxnId="{6E7CA83A-F3FB-4231-91FE-049F36570D29}">
      <dgm:prSet/>
      <dgm:spPr/>
      <dgm:t>
        <a:bodyPr/>
        <a:lstStyle/>
        <a:p>
          <a:endParaRPr lang="en-US"/>
        </a:p>
      </dgm:t>
    </dgm:pt>
    <dgm:pt modelId="{0002758D-0455-4216-90C0-64C0D4F60355}">
      <dgm:prSet custT="1">
        <dgm:style>
          <a:lnRef idx="1">
            <a:schemeClr val="accent5"/>
          </a:lnRef>
          <a:fillRef idx="3">
            <a:schemeClr val="accent5"/>
          </a:fillRef>
          <a:effectRef idx="2">
            <a:schemeClr val="accent5"/>
          </a:effectRef>
          <a:fontRef idx="minor">
            <a:schemeClr val="lt1"/>
          </a:fontRef>
        </dgm:style>
      </dgm:prSet>
      <dgm:spPr/>
      <dgm:t>
        <a:bodyPr/>
        <a:lstStyle/>
        <a:p>
          <a:r>
            <a:rPr lang="en-US" sz="1400" dirty="0">
              <a:latin typeface="Bricolage Grotesque Semi Bold" panose="020B0604020202020204" charset="0"/>
            </a:rPr>
            <a:t>This research addressed the critical challenge of decarbonizing the aviation sector, specifically within the Nigerian context, by developing a novel mathematical model to analyze and optimize the production of Sustainable Aviation Fuel (SAF) from microalgae.</a:t>
          </a:r>
        </a:p>
      </dgm:t>
    </dgm:pt>
    <dgm:pt modelId="{82048EF9-1C80-4340-9182-142E5D336531}" type="parTrans" cxnId="{469F6BAF-91F3-4E78-87E3-0298389ADFF4}">
      <dgm:prSet/>
      <dgm:spPr/>
      <dgm:t>
        <a:bodyPr/>
        <a:lstStyle/>
        <a:p>
          <a:endParaRPr lang="en-US"/>
        </a:p>
      </dgm:t>
    </dgm:pt>
    <dgm:pt modelId="{F2E9D1DB-C3D0-4E08-B064-AF544F246C55}" type="sibTrans" cxnId="{469F6BAF-91F3-4E78-87E3-0298389ADFF4}">
      <dgm:prSet/>
      <dgm:spPr/>
      <dgm:t>
        <a:bodyPr/>
        <a:lstStyle/>
        <a:p>
          <a:endParaRPr lang="en-US"/>
        </a:p>
      </dgm:t>
    </dgm:pt>
    <dgm:pt modelId="{29E6E22B-C19E-45EB-AF0E-DD5EF62C3472}">
      <dgm:prSet custT="1">
        <dgm:style>
          <a:lnRef idx="0">
            <a:schemeClr val="accent5"/>
          </a:lnRef>
          <a:fillRef idx="3">
            <a:schemeClr val="accent5"/>
          </a:fillRef>
          <a:effectRef idx="3">
            <a:schemeClr val="accent5"/>
          </a:effectRef>
          <a:fontRef idx="minor">
            <a:schemeClr val="lt1"/>
          </a:fontRef>
        </dgm:style>
      </dgm:prSet>
      <dgm:spPr/>
      <dgm:t>
        <a:bodyPr/>
        <a:lstStyle/>
        <a:p>
          <a:r>
            <a:rPr lang="en-US" sz="1600" dirty="0">
              <a:latin typeface="Bricolage Grotesque Semi Bold" panose="020B0604020202020204" charset="0"/>
            </a:rPr>
            <a:t>The study formulated a deterministic compartmental model by extending the SIR-compartmental model approach to simulate the dynamics of algae lipid production. </a:t>
          </a:r>
        </a:p>
      </dgm:t>
    </dgm:pt>
    <dgm:pt modelId="{E2D40A21-9259-4034-AECE-AEF867C76269}" type="parTrans" cxnId="{CA411F2A-B1D7-4B7B-B276-6BE33C84FEF8}">
      <dgm:prSet/>
      <dgm:spPr/>
      <dgm:t>
        <a:bodyPr/>
        <a:lstStyle/>
        <a:p>
          <a:endParaRPr lang="en-US"/>
        </a:p>
      </dgm:t>
    </dgm:pt>
    <dgm:pt modelId="{164B145D-EFFC-479C-A83E-9902C9F38185}" type="sibTrans" cxnId="{CA411F2A-B1D7-4B7B-B276-6BE33C84FEF8}">
      <dgm:prSet/>
      <dgm:spPr/>
      <dgm:t>
        <a:bodyPr/>
        <a:lstStyle/>
        <a:p>
          <a:endParaRPr lang="en-US"/>
        </a:p>
      </dgm:t>
    </dgm:pt>
    <dgm:pt modelId="{017E3723-139F-40D2-B530-F7F1C0075B2F}">
      <dgm:prSet custT="1">
        <dgm:style>
          <a:lnRef idx="0">
            <a:schemeClr val="accent5"/>
          </a:lnRef>
          <a:fillRef idx="3">
            <a:schemeClr val="accent5"/>
          </a:fillRef>
          <a:effectRef idx="3">
            <a:schemeClr val="accent5"/>
          </a:effectRef>
          <a:fontRef idx="minor">
            <a:schemeClr val="lt1"/>
          </a:fontRef>
        </dgm:style>
      </dgm:prSet>
      <dgm:spPr/>
      <dgm:t>
        <a:bodyPr/>
        <a:lstStyle/>
        <a:p>
          <a:r>
            <a:rPr lang="en-US" sz="1600" dirty="0">
              <a:latin typeface="Bricolage Grotesque Semi Bold" panose="020B0604020202020204" charset="0"/>
            </a:rPr>
            <a:t>The population was divided into five key compartments: Algae capable of growth (A), Algae exposed to lipid-triggering stressors (E), Lipid-rich algae ready for harvest (H), Algae converted to biofuel (B), and Genetically modified algae (G). </a:t>
          </a:r>
        </a:p>
      </dgm:t>
    </dgm:pt>
    <dgm:pt modelId="{380972A6-B44E-4E06-B906-9968150B8037}" type="parTrans" cxnId="{7A8725EC-879C-47E6-85FD-F55ED33BEC22}">
      <dgm:prSet/>
      <dgm:spPr/>
      <dgm:t>
        <a:bodyPr/>
        <a:lstStyle/>
        <a:p>
          <a:endParaRPr lang="en-US"/>
        </a:p>
      </dgm:t>
    </dgm:pt>
    <dgm:pt modelId="{1A71B54F-8742-49AA-8B92-3C836D15420D}" type="sibTrans" cxnId="{7A8725EC-879C-47E6-85FD-F55ED33BEC22}">
      <dgm:prSet/>
      <dgm:spPr/>
      <dgm:t>
        <a:bodyPr/>
        <a:lstStyle/>
        <a:p>
          <a:endParaRPr lang="en-US"/>
        </a:p>
      </dgm:t>
    </dgm:pt>
    <dgm:pt modelId="{03C44F1B-CF1E-45EE-B658-AE6C37156144}">
      <dgm:prSet custT="1">
        <dgm:style>
          <a:lnRef idx="1">
            <a:schemeClr val="accent5"/>
          </a:lnRef>
          <a:fillRef idx="3">
            <a:schemeClr val="accent5"/>
          </a:fillRef>
          <a:effectRef idx="2">
            <a:schemeClr val="accent5"/>
          </a:effectRef>
          <a:fontRef idx="minor">
            <a:schemeClr val="lt1"/>
          </a:fontRef>
        </dgm:style>
      </dgm:prSet>
      <dgm:spPr>
        <a:blipFill>
          <a:blip xmlns:r="http://schemas.openxmlformats.org/officeDocument/2006/relationships" r:embed="rId1"/>
          <a:stretch>
            <a:fillRect l="-174" r="-870" b="-3571"/>
          </a:stretch>
        </a:blipFill>
      </dgm:spPr>
      <dgm:t>
        <a:bodyPr/>
        <a:lstStyle/>
        <a:p>
          <a:r>
            <a:rPr lang="en-US">
              <a:noFill/>
            </a:rPr>
            <a:t> </a:t>
          </a:r>
        </a:p>
      </dgm:t>
    </dgm:pt>
    <dgm:pt modelId="{8F1ACF73-5BBA-423B-A89E-0931E90E57E4}" type="parTrans" cxnId="{3700C75A-2CF2-4902-A417-FE086BE290B4}">
      <dgm:prSet/>
      <dgm:spPr/>
      <dgm:t>
        <a:bodyPr/>
        <a:lstStyle/>
        <a:p>
          <a:endParaRPr lang="en-US"/>
        </a:p>
      </dgm:t>
    </dgm:pt>
    <dgm:pt modelId="{8B1081C2-C7BA-41A3-B4C4-6EADC1B4C0E3}" type="sibTrans" cxnId="{3700C75A-2CF2-4902-A417-FE086BE290B4}">
      <dgm:prSet/>
      <dgm:spPr/>
      <dgm:t>
        <a:bodyPr/>
        <a:lstStyle/>
        <a:p>
          <a:endParaRPr lang="en-US"/>
        </a:p>
      </dgm:t>
    </dgm:pt>
    <dgm:pt modelId="{719E42C4-FD03-45A5-B957-E18EFAA442BD}" type="pres">
      <dgm:prSet presAssocID="{176CA754-98B9-489F-8A02-B4FE0F791B7E}" presName="compositeShape" presStyleCnt="0">
        <dgm:presLayoutVars>
          <dgm:dir/>
          <dgm:resizeHandles/>
        </dgm:presLayoutVars>
      </dgm:prSet>
      <dgm:spPr/>
    </dgm:pt>
    <dgm:pt modelId="{E779C8E2-8BED-49D5-A868-518FE1103927}" type="pres">
      <dgm:prSet presAssocID="{176CA754-98B9-489F-8A02-B4FE0F791B7E}" presName="pyramid" presStyleLbl="node1" presStyleIdx="0" presStyleCnt="1" custLinFactNeighborX="602" custLinFactNeighborY="-3012"/>
      <dgm:spPr/>
    </dgm:pt>
    <dgm:pt modelId="{F8E1C3DC-6B7B-4FBC-BE9D-BDAA4FF8F8A4}" type="pres">
      <dgm:prSet presAssocID="{176CA754-98B9-489F-8A02-B4FE0F791B7E}" presName="theList" presStyleCnt="0"/>
      <dgm:spPr/>
    </dgm:pt>
    <dgm:pt modelId="{6D2C8122-7522-4470-A829-5574B2F42D3F}" type="pres">
      <dgm:prSet presAssocID="{DC1B3F9D-8923-48DA-8F4D-01096AA0A8BA}" presName="aNode" presStyleLbl="fgAcc1" presStyleIdx="0" presStyleCnt="5" custLinFactY="-57898" custLinFactNeighborX="-2966" custLinFactNeighborY="-100000">
        <dgm:presLayoutVars>
          <dgm:bulletEnabled val="1"/>
        </dgm:presLayoutVars>
      </dgm:prSet>
      <dgm:spPr/>
    </dgm:pt>
    <dgm:pt modelId="{D6A0C8D8-9386-45D4-A2ED-33192AB92E7C}" type="pres">
      <dgm:prSet presAssocID="{DC1B3F9D-8923-48DA-8F4D-01096AA0A8BA}" presName="aSpace" presStyleCnt="0"/>
      <dgm:spPr/>
    </dgm:pt>
    <dgm:pt modelId="{C7E8006E-B927-4839-B9FC-299123C661AA}" type="pres">
      <dgm:prSet presAssocID="{0002758D-0455-4216-90C0-64C0D4F60355}" presName="aNode" presStyleLbl="fgAcc1" presStyleIdx="1" presStyleCnt="5" custScaleX="179241" custScaleY="294637" custLinFactY="-47473" custLinFactNeighborX="-2966" custLinFactNeighborY="-100000">
        <dgm:presLayoutVars>
          <dgm:bulletEnabled val="1"/>
        </dgm:presLayoutVars>
      </dgm:prSet>
      <dgm:spPr/>
    </dgm:pt>
    <dgm:pt modelId="{B46E0808-486F-42DA-ABB7-E66E1F4EAF93}" type="pres">
      <dgm:prSet presAssocID="{0002758D-0455-4216-90C0-64C0D4F60355}" presName="aSpace" presStyleCnt="0"/>
      <dgm:spPr/>
    </dgm:pt>
    <dgm:pt modelId="{19F0BBBF-8807-47AC-A449-13A2F63BF2AC}" type="pres">
      <dgm:prSet presAssocID="{29E6E22B-C19E-45EB-AF0E-DD5EF62C3472}" presName="aNode" presStyleLbl="fgAcc1" presStyleIdx="2" presStyleCnt="5" custScaleX="176784" custScaleY="182136" custLinFactY="-32746" custLinFactNeighborX="-3244" custLinFactNeighborY="-100000">
        <dgm:presLayoutVars>
          <dgm:bulletEnabled val="1"/>
        </dgm:presLayoutVars>
      </dgm:prSet>
      <dgm:spPr/>
    </dgm:pt>
    <dgm:pt modelId="{F5129DFF-EACC-4553-8539-9EC4B5156064}" type="pres">
      <dgm:prSet presAssocID="{29E6E22B-C19E-45EB-AF0E-DD5EF62C3472}" presName="aSpace" presStyleCnt="0"/>
      <dgm:spPr/>
    </dgm:pt>
    <dgm:pt modelId="{9094063F-3B7A-4301-9574-45BE40D1EFB5}" type="pres">
      <dgm:prSet presAssocID="{017E3723-139F-40D2-B530-F7F1C0075B2F}" presName="aNode" presStyleLbl="fgAcc1" presStyleIdx="3" presStyleCnt="5" custScaleX="198563" custScaleY="231250" custLinFactNeighborX="-8144" custLinFactNeighborY="-58471">
        <dgm:presLayoutVars>
          <dgm:bulletEnabled val="1"/>
        </dgm:presLayoutVars>
      </dgm:prSet>
      <dgm:spPr/>
    </dgm:pt>
    <dgm:pt modelId="{2F8F9323-864A-4E14-A17F-732FB9E84B75}" type="pres">
      <dgm:prSet presAssocID="{017E3723-139F-40D2-B530-F7F1C0075B2F}" presName="aSpace" presStyleCnt="0"/>
      <dgm:spPr/>
    </dgm:pt>
    <dgm:pt modelId="{A0E5B44B-74E4-4238-8756-74163790C2A1}" type="pres">
      <dgm:prSet presAssocID="{03C44F1B-CF1E-45EE-B658-AE6C37156144}" presName="aNode" presStyleLbl="fgAcc1" presStyleIdx="4" presStyleCnt="5" custScaleX="198563" custScaleY="209740" custLinFactY="66504" custLinFactNeighborX="-5097" custLinFactNeighborY="100000">
        <dgm:presLayoutVars>
          <dgm:bulletEnabled val="1"/>
        </dgm:presLayoutVars>
      </dgm:prSet>
      <dgm:spPr/>
    </dgm:pt>
    <dgm:pt modelId="{4C219797-CB91-4B51-80AD-F2ED0D99F811}" type="pres">
      <dgm:prSet presAssocID="{03C44F1B-CF1E-45EE-B658-AE6C37156144}" presName="aSpace" presStyleCnt="0"/>
      <dgm:spPr/>
    </dgm:pt>
  </dgm:ptLst>
  <dgm:cxnLst>
    <dgm:cxn modelId="{E120A102-C8EB-47D4-BF87-2E4A10A1A7CE}" type="presOf" srcId="{176CA754-98B9-489F-8A02-B4FE0F791B7E}" destId="{719E42C4-FD03-45A5-B957-E18EFAA442BD}" srcOrd="0" destOrd="0" presId="urn:microsoft.com/office/officeart/2005/8/layout/pyramid2"/>
    <dgm:cxn modelId="{CA411F2A-B1D7-4B7B-B276-6BE33C84FEF8}" srcId="{176CA754-98B9-489F-8A02-B4FE0F791B7E}" destId="{29E6E22B-C19E-45EB-AF0E-DD5EF62C3472}" srcOrd="2" destOrd="0" parTransId="{E2D40A21-9259-4034-AECE-AEF867C76269}" sibTransId="{164B145D-EFFC-479C-A83E-9902C9F38185}"/>
    <dgm:cxn modelId="{6E7CA83A-F3FB-4231-91FE-049F36570D29}" srcId="{176CA754-98B9-489F-8A02-B4FE0F791B7E}" destId="{DC1B3F9D-8923-48DA-8F4D-01096AA0A8BA}" srcOrd="0" destOrd="0" parTransId="{75EC276D-54C5-4E96-9CCB-F182179997B4}" sibTransId="{69999AE2-356F-448E-9FD1-65134E07C134}"/>
    <dgm:cxn modelId="{3700C75A-2CF2-4902-A417-FE086BE290B4}" srcId="{176CA754-98B9-489F-8A02-B4FE0F791B7E}" destId="{03C44F1B-CF1E-45EE-B658-AE6C37156144}" srcOrd="4" destOrd="0" parTransId="{8F1ACF73-5BBA-423B-A89E-0931E90E57E4}" sibTransId="{8B1081C2-C7BA-41A3-B4C4-6EADC1B4C0E3}"/>
    <dgm:cxn modelId="{64149694-47E8-454E-8AF7-C32881981099}" type="presOf" srcId="{29E6E22B-C19E-45EB-AF0E-DD5EF62C3472}" destId="{19F0BBBF-8807-47AC-A449-13A2F63BF2AC}" srcOrd="0" destOrd="0" presId="urn:microsoft.com/office/officeart/2005/8/layout/pyramid2"/>
    <dgm:cxn modelId="{469F6BAF-91F3-4E78-87E3-0298389ADFF4}" srcId="{176CA754-98B9-489F-8A02-B4FE0F791B7E}" destId="{0002758D-0455-4216-90C0-64C0D4F60355}" srcOrd="1" destOrd="0" parTransId="{82048EF9-1C80-4340-9182-142E5D336531}" sibTransId="{F2E9D1DB-C3D0-4E08-B064-AF544F246C55}"/>
    <dgm:cxn modelId="{2DBEB7C3-1CE2-438D-80A4-3532D7FBB7D2}" type="presOf" srcId="{03C44F1B-CF1E-45EE-B658-AE6C37156144}" destId="{A0E5B44B-74E4-4238-8756-74163790C2A1}" srcOrd="0" destOrd="0" presId="urn:microsoft.com/office/officeart/2005/8/layout/pyramid2"/>
    <dgm:cxn modelId="{9DA06DDB-4B29-45C0-97B9-AF3DC9B02767}" type="presOf" srcId="{DC1B3F9D-8923-48DA-8F4D-01096AA0A8BA}" destId="{6D2C8122-7522-4470-A829-5574B2F42D3F}" srcOrd="0" destOrd="0" presId="urn:microsoft.com/office/officeart/2005/8/layout/pyramid2"/>
    <dgm:cxn modelId="{7A8725EC-879C-47E6-85FD-F55ED33BEC22}" srcId="{176CA754-98B9-489F-8A02-B4FE0F791B7E}" destId="{017E3723-139F-40D2-B530-F7F1C0075B2F}" srcOrd="3" destOrd="0" parTransId="{380972A6-B44E-4E06-B906-9968150B8037}" sibTransId="{1A71B54F-8742-49AA-8B92-3C836D15420D}"/>
    <dgm:cxn modelId="{E6D5ABF0-20B2-41E2-A49D-C44135E0E1D2}" type="presOf" srcId="{0002758D-0455-4216-90C0-64C0D4F60355}" destId="{C7E8006E-B927-4839-B9FC-299123C661AA}" srcOrd="0" destOrd="0" presId="urn:microsoft.com/office/officeart/2005/8/layout/pyramid2"/>
    <dgm:cxn modelId="{B1C1BFF2-4B29-4221-8F08-5F9C77F35D6D}" type="presOf" srcId="{017E3723-139F-40D2-B530-F7F1C0075B2F}" destId="{9094063F-3B7A-4301-9574-45BE40D1EFB5}" srcOrd="0" destOrd="0" presId="urn:microsoft.com/office/officeart/2005/8/layout/pyramid2"/>
    <dgm:cxn modelId="{0CF58B50-5FFF-46D5-80F1-3DEA88350F25}" type="presParOf" srcId="{719E42C4-FD03-45A5-B957-E18EFAA442BD}" destId="{E779C8E2-8BED-49D5-A868-518FE1103927}" srcOrd="0" destOrd="0" presId="urn:microsoft.com/office/officeart/2005/8/layout/pyramid2"/>
    <dgm:cxn modelId="{94999E59-1889-4FD5-96E1-EF3C960E1BEC}" type="presParOf" srcId="{719E42C4-FD03-45A5-B957-E18EFAA442BD}" destId="{F8E1C3DC-6B7B-4FBC-BE9D-BDAA4FF8F8A4}" srcOrd="1" destOrd="0" presId="urn:microsoft.com/office/officeart/2005/8/layout/pyramid2"/>
    <dgm:cxn modelId="{954F8A9F-0C4E-445D-9D0B-1121D90BA6B9}" type="presParOf" srcId="{F8E1C3DC-6B7B-4FBC-BE9D-BDAA4FF8F8A4}" destId="{6D2C8122-7522-4470-A829-5574B2F42D3F}" srcOrd="0" destOrd="0" presId="urn:microsoft.com/office/officeart/2005/8/layout/pyramid2"/>
    <dgm:cxn modelId="{E8BD2F06-92D4-400D-B3EE-27DD1BFFE47F}" type="presParOf" srcId="{F8E1C3DC-6B7B-4FBC-BE9D-BDAA4FF8F8A4}" destId="{D6A0C8D8-9386-45D4-A2ED-33192AB92E7C}" srcOrd="1" destOrd="0" presId="urn:microsoft.com/office/officeart/2005/8/layout/pyramid2"/>
    <dgm:cxn modelId="{559DF736-16CA-41D5-8CF2-C51450EE9E79}" type="presParOf" srcId="{F8E1C3DC-6B7B-4FBC-BE9D-BDAA4FF8F8A4}" destId="{C7E8006E-B927-4839-B9FC-299123C661AA}" srcOrd="2" destOrd="0" presId="urn:microsoft.com/office/officeart/2005/8/layout/pyramid2"/>
    <dgm:cxn modelId="{06B84FAB-E89B-4CBA-8417-4B1E2D9E6DB5}" type="presParOf" srcId="{F8E1C3DC-6B7B-4FBC-BE9D-BDAA4FF8F8A4}" destId="{B46E0808-486F-42DA-ABB7-E66E1F4EAF93}" srcOrd="3" destOrd="0" presId="urn:microsoft.com/office/officeart/2005/8/layout/pyramid2"/>
    <dgm:cxn modelId="{4481F55B-9D4F-49CF-BB8F-D0E8A0D766BE}" type="presParOf" srcId="{F8E1C3DC-6B7B-4FBC-BE9D-BDAA4FF8F8A4}" destId="{19F0BBBF-8807-47AC-A449-13A2F63BF2AC}" srcOrd="4" destOrd="0" presId="urn:microsoft.com/office/officeart/2005/8/layout/pyramid2"/>
    <dgm:cxn modelId="{444CD293-0615-40BE-B7DE-55064D382548}" type="presParOf" srcId="{F8E1C3DC-6B7B-4FBC-BE9D-BDAA4FF8F8A4}" destId="{F5129DFF-EACC-4553-8539-9EC4B5156064}" srcOrd="5" destOrd="0" presId="urn:microsoft.com/office/officeart/2005/8/layout/pyramid2"/>
    <dgm:cxn modelId="{4A9D3CB9-FCC8-47B2-98BA-4A7DE4C2A707}" type="presParOf" srcId="{F8E1C3DC-6B7B-4FBC-BE9D-BDAA4FF8F8A4}" destId="{9094063F-3B7A-4301-9574-45BE40D1EFB5}" srcOrd="6" destOrd="0" presId="urn:microsoft.com/office/officeart/2005/8/layout/pyramid2"/>
    <dgm:cxn modelId="{20D4F1F6-F0DC-4543-9403-B4571BA05F6A}" type="presParOf" srcId="{F8E1C3DC-6B7B-4FBC-BE9D-BDAA4FF8F8A4}" destId="{2F8F9323-864A-4E14-A17F-732FB9E84B75}" srcOrd="7" destOrd="0" presId="urn:microsoft.com/office/officeart/2005/8/layout/pyramid2"/>
    <dgm:cxn modelId="{9B099FDB-3BDE-46FC-A978-3F4FEB553CAF}" type="presParOf" srcId="{F8E1C3DC-6B7B-4FBC-BE9D-BDAA4FF8F8A4}" destId="{A0E5B44B-74E4-4238-8756-74163790C2A1}" srcOrd="8" destOrd="0" presId="urn:microsoft.com/office/officeart/2005/8/layout/pyramid2"/>
    <dgm:cxn modelId="{7835A7D4-7C30-444A-B25B-550F6DBDAE27}" type="presParOf" srcId="{F8E1C3DC-6B7B-4FBC-BE9D-BDAA4FF8F8A4}" destId="{4C219797-CB91-4B51-80AD-F2ED0D99F811}" srcOrd="9" destOrd="0" presId="urn:microsoft.com/office/officeart/2005/8/layout/pyramid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79C8E2-8BED-49D5-A868-518FE1103927}">
      <dsp:nvSpPr>
        <dsp:cNvPr id="0" name=""/>
        <dsp:cNvSpPr/>
      </dsp:nvSpPr>
      <dsp:spPr>
        <a:xfrm>
          <a:off x="-454360" y="0"/>
          <a:ext cx="5421085" cy="5421085"/>
        </a:xfrm>
        <a:prstGeom prst="triangle">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D2C8122-7522-4470-A829-5574B2F42D3F}">
      <dsp:nvSpPr>
        <dsp:cNvPr id="0" name=""/>
        <dsp:cNvSpPr/>
      </dsp:nvSpPr>
      <dsp:spPr>
        <a:xfrm>
          <a:off x="2119033" y="260564"/>
          <a:ext cx="3523705" cy="401287"/>
        </a:xfrm>
        <a:prstGeom prst="roundRect">
          <a:avLst/>
        </a:prstGeom>
        <a:solidFill>
          <a:schemeClr val="lt1">
            <a:alpha val="90000"/>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chemeClr val="accent4">
                  <a:lumMod val="75000"/>
                </a:schemeClr>
              </a:solidFill>
              <a:latin typeface="Bricolage Grotesque Semi Bold" panose="020B0604020202020204" charset="0"/>
            </a:rPr>
            <a:t>Summary of the Research</a:t>
          </a:r>
          <a:endParaRPr lang="en-US" sz="1600" kern="1200" dirty="0">
            <a:solidFill>
              <a:schemeClr val="accent4">
                <a:lumMod val="75000"/>
              </a:schemeClr>
            </a:solidFill>
            <a:latin typeface="Bricolage Grotesque Semi Bold" panose="020B0604020202020204" charset="0"/>
          </a:endParaRPr>
        </a:p>
      </dsp:txBody>
      <dsp:txXfrm>
        <a:off x="2138622" y="280153"/>
        <a:ext cx="3484527" cy="362109"/>
      </dsp:txXfrm>
    </dsp:sp>
    <dsp:sp modelId="{C7E8006E-B927-4839-B9FC-299123C661AA}">
      <dsp:nvSpPr>
        <dsp:cNvPr id="0" name=""/>
        <dsp:cNvSpPr/>
      </dsp:nvSpPr>
      <dsp:spPr>
        <a:xfrm>
          <a:off x="722923" y="753847"/>
          <a:ext cx="6315924" cy="1182340"/>
        </a:xfrm>
        <a:prstGeom prst="roundRect">
          <a:avLst/>
        </a:prstGeom>
        <a:gradFill rotWithShape="1">
          <a:gsLst>
            <a:gs pos="0">
              <a:schemeClr val="accent5">
                <a:tint val="98000"/>
                <a:lumMod val="110000"/>
              </a:schemeClr>
            </a:gs>
            <a:gs pos="84000">
              <a:schemeClr val="accent5">
                <a:shade val="90000"/>
                <a:lumMod val="88000"/>
              </a:schemeClr>
            </a:gs>
          </a:gsLst>
          <a:lin ang="5400000" scaled="0"/>
        </a:gradFill>
        <a:ln w="12700" cap="rnd" cmpd="sng" algn="ctr">
          <a:solidFill>
            <a:schemeClr val="accent5">
              <a:lumMod val="90000"/>
            </a:schemeClr>
          </a:solidFill>
          <a:prstDash val="solid"/>
        </a:ln>
        <a:effectLst>
          <a:outerShdw blurRad="38100" dist="25400" dir="5400000" rotWithShape="0">
            <a:srgbClr val="000000">
              <a:alpha val="55000"/>
            </a:srgbClr>
          </a:outerShdw>
        </a:effectLst>
      </dsp:spPr>
      <dsp:style>
        <a:lnRef idx="1">
          <a:schemeClr val="accent5"/>
        </a:lnRef>
        <a:fillRef idx="3">
          <a:schemeClr val="accent5"/>
        </a:fillRef>
        <a:effectRef idx="2">
          <a:schemeClr val="accent5"/>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Bricolage Grotesque Semi Bold" panose="020B0604020202020204" charset="0"/>
            </a:rPr>
            <a:t>This research addressed the critical challenge of decarbonizing the aviation sector, specifically within the Nigerian context, by developing a novel mathematical model to analyze and optimize the production of Sustainable Aviation Fuel (SAF) from microalgae.</a:t>
          </a:r>
        </a:p>
      </dsp:txBody>
      <dsp:txXfrm>
        <a:off x="780640" y="811564"/>
        <a:ext cx="6200490" cy="1066906"/>
      </dsp:txXfrm>
    </dsp:sp>
    <dsp:sp modelId="{19F0BBBF-8807-47AC-A449-13A2F63BF2AC}">
      <dsp:nvSpPr>
        <dsp:cNvPr id="0" name=""/>
        <dsp:cNvSpPr/>
      </dsp:nvSpPr>
      <dsp:spPr>
        <a:xfrm>
          <a:off x="756416" y="2045446"/>
          <a:ext cx="6229347" cy="730888"/>
        </a:xfrm>
        <a:prstGeom prst="roundRect">
          <a:avLst/>
        </a:prstGeom>
        <a:gradFill rotWithShape="1">
          <a:gsLst>
            <a:gs pos="0">
              <a:schemeClr val="accent5">
                <a:tint val="98000"/>
                <a:lumMod val="110000"/>
              </a:schemeClr>
            </a:gs>
            <a:gs pos="84000">
              <a:schemeClr val="accent5">
                <a:shade val="90000"/>
                <a:lumMod val="88000"/>
              </a:schemeClr>
            </a:gs>
          </a:gsLst>
          <a:lin ang="5400000" scaled="0"/>
        </a:gradFill>
        <a:ln>
          <a:noFill/>
        </a:ln>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dsp:spPr>
      <dsp:style>
        <a:lnRef idx="0">
          <a:schemeClr val="accent5"/>
        </a:lnRef>
        <a:fillRef idx="3">
          <a:schemeClr val="accent5"/>
        </a:fillRef>
        <a:effectRef idx="3">
          <a:schemeClr val="accent5"/>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Bricolage Grotesque Semi Bold" panose="020B0604020202020204" charset="0"/>
            </a:rPr>
            <a:t>The study formulated a deterministic compartmental model by extending the SIR-compartmental model approach to simulate the dynamics of algae lipid production. </a:t>
          </a:r>
        </a:p>
      </dsp:txBody>
      <dsp:txXfrm>
        <a:off x="792095" y="2081125"/>
        <a:ext cx="6157989" cy="659530"/>
      </dsp:txXfrm>
    </dsp:sp>
    <dsp:sp modelId="{9094063F-3B7A-4301-9574-45BE40D1EFB5}">
      <dsp:nvSpPr>
        <dsp:cNvPr id="0" name=""/>
        <dsp:cNvSpPr/>
      </dsp:nvSpPr>
      <dsp:spPr>
        <a:xfrm>
          <a:off x="200041" y="2978733"/>
          <a:ext cx="6996774" cy="927976"/>
        </a:xfrm>
        <a:prstGeom prst="roundRect">
          <a:avLst/>
        </a:prstGeom>
        <a:gradFill rotWithShape="1">
          <a:gsLst>
            <a:gs pos="0">
              <a:schemeClr val="accent5">
                <a:tint val="98000"/>
                <a:lumMod val="110000"/>
              </a:schemeClr>
            </a:gs>
            <a:gs pos="84000">
              <a:schemeClr val="accent5">
                <a:shade val="90000"/>
                <a:lumMod val="88000"/>
              </a:schemeClr>
            </a:gs>
          </a:gsLst>
          <a:lin ang="5400000" scaled="0"/>
        </a:gradFill>
        <a:ln>
          <a:noFill/>
        </a:ln>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dsp:spPr>
      <dsp:style>
        <a:lnRef idx="0">
          <a:schemeClr val="accent5"/>
        </a:lnRef>
        <a:fillRef idx="3">
          <a:schemeClr val="accent5"/>
        </a:fillRef>
        <a:effectRef idx="3">
          <a:schemeClr val="accent5"/>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Bricolage Grotesque Semi Bold" panose="020B0604020202020204" charset="0"/>
            </a:rPr>
            <a:t>The population was divided into five key compartments: Algae capable of growth (A), Algae exposed to lipid-triggering stressors (E), Lipid-rich algae ready for harvest (H), Algae converted to biofuel (B), and Genetically modified algae (G). </a:t>
          </a:r>
        </a:p>
      </dsp:txBody>
      <dsp:txXfrm>
        <a:off x="245341" y="3024033"/>
        <a:ext cx="6906174" cy="837376"/>
      </dsp:txXfrm>
    </dsp:sp>
    <dsp:sp modelId="{A0E5B44B-74E4-4238-8756-74163790C2A1}">
      <dsp:nvSpPr>
        <dsp:cNvPr id="0" name=""/>
        <dsp:cNvSpPr/>
      </dsp:nvSpPr>
      <dsp:spPr>
        <a:xfrm>
          <a:off x="307408" y="4303233"/>
          <a:ext cx="6996774" cy="841660"/>
        </a:xfrm>
        <a:prstGeom prst="roundRect">
          <a:avLst/>
        </a:prstGeom>
        <a:gradFill rotWithShape="1">
          <a:gsLst>
            <a:gs pos="0">
              <a:schemeClr val="accent5">
                <a:tint val="98000"/>
                <a:lumMod val="110000"/>
              </a:schemeClr>
            </a:gs>
            <a:gs pos="84000">
              <a:schemeClr val="accent5">
                <a:shade val="90000"/>
                <a:lumMod val="88000"/>
              </a:schemeClr>
            </a:gs>
          </a:gsLst>
          <a:lin ang="5400000" scaled="0"/>
        </a:gradFill>
        <a:ln w="12700" cap="rnd" cmpd="sng" algn="ctr">
          <a:solidFill>
            <a:schemeClr val="accent5">
              <a:lumMod val="90000"/>
            </a:schemeClr>
          </a:solidFill>
          <a:prstDash val="solid"/>
        </a:ln>
        <a:effectLst>
          <a:outerShdw blurRad="38100" dist="25400" dir="5400000" rotWithShape="0">
            <a:srgbClr val="000000">
              <a:alpha val="55000"/>
            </a:srgbClr>
          </a:outerShdw>
        </a:effectLst>
      </dsp:spPr>
      <dsp:style>
        <a:lnRef idx="1">
          <a:schemeClr val="accent5"/>
        </a:lnRef>
        <a:fillRef idx="3">
          <a:schemeClr val="accent5"/>
        </a:fillRef>
        <a:effectRef idx="2">
          <a:schemeClr val="accent5"/>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Bricolage Grotesque Semi Bold" panose="020B0604020202020204" charset="0"/>
            </a:rPr>
            <a:t>A core component of the model was the force of lipid accumulation, λ, which depends on the algae contact rate (β), lipid capacity (</a:t>
          </a:r>
          <a14:m xmlns:a14="http://schemas.microsoft.com/office/drawing/2010/main">
            <m:oMath xmlns:m="http://schemas.openxmlformats.org/officeDocument/2006/math">
              <m:sSub>
                <m:sSubPr>
                  <m:ctrlPr>
                    <a:rPr lang="en-US" sz="1600" b="1" i="1" kern="1200">
                      <a:latin typeface="Cambria Math" panose="02040503050406030204" pitchFamily="18" charset="0"/>
                    </a:rPr>
                  </m:ctrlPr>
                </m:sSubPr>
                <m:e>
                  <m:r>
                    <a:rPr lang="en-US" sz="1600" b="1" i="1" kern="1200">
                      <a:latin typeface="Cambria Math" panose="02040503050406030204" pitchFamily="18" charset="0"/>
                    </a:rPr>
                    <m:t>𝒏</m:t>
                  </m:r>
                </m:e>
                <m:sub>
                  <m:r>
                    <a:rPr lang="en-US" sz="1600" b="1" i="1" kern="1200">
                      <a:latin typeface="Cambria Math" panose="02040503050406030204" pitchFamily="18" charset="0"/>
                    </a:rPr>
                    <m:t>𝟏</m:t>
                  </m:r>
                </m:sub>
              </m:sSub>
            </m:oMath>
          </a14:m>
          <a:r>
            <a:rPr lang="en-US" sz="1600" kern="1200" dirty="0">
              <a:latin typeface="Bricolage Grotesque Semi Bold" panose="020B0604020202020204" charset="0"/>
            </a:rPr>
            <a:t>), and maximum lipid production rate (Lₘ).</a:t>
          </a:r>
        </a:p>
      </dsp:txBody>
      <dsp:txXfrm>
        <a:off x="348494" y="4344319"/>
        <a:ext cx="6914602" cy="759488"/>
      </dsp:txXfrm>
    </dsp:sp>
  </dsp:spTree>
</dsp:drawing>
</file>

<file path=ppt/diagrams/layout1.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10.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165182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35491534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endParaRPr lang="en-US" dirty="0"/>
          </a:p>
        </p:txBody>
      </p:sp>
    </p:spTree>
    <p:extLst>
      <p:ext uri="{BB962C8B-B14F-4D97-AF65-F5344CB8AC3E}">
        <p14:creationId xmlns:p14="http://schemas.microsoft.com/office/powerpoint/2010/main" val="11937051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29300322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535841" y="3702918"/>
            <a:ext cx="13515439" cy="39657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697430" y="1224518"/>
            <a:ext cx="13192259" cy="1770016"/>
          </a:xfrm>
          <a:effectLst/>
        </p:spPr>
        <p:txBody>
          <a:bodyPr anchor="b">
            <a:normAutofit/>
          </a:bodyPr>
          <a:lstStyle>
            <a:lvl1pPr>
              <a:defRPr sz="432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697433" y="2994535"/>
            <a:ext cx="13192255" cy="708385"/>
          </a:xfrm>
        </p:spPr>
        <p:txBody>
          <a:bodyPr anchor="t">
            <a:normAutofit/>
          </a:bodyPr>
          <a:lstStyle>
            <a:lvl1pPr marL="0" indent="0" algn="l">
              <a:buNone/>
              <a:defRPr sz="1920" cap="all">
                <a:solidFill>
                  <a:schemeClr val="accent2"/>
                </a:solidFill>
              </a:defRPr>
            </a:lvl1pPr>
            <a:lvl2pPr marL="548640" indent="0" algn="ctr">
              <a:buNone/>
              <a:defRPr>
                <a:solidFill>
                  <a:schemeClr val="tx1">
                    <a:tint val="75000"/>
                  </a:schemeClr>
                </a:solidFill>
              </a:defRPr>
            </a:lvl2pPr>
            <a:lvl3pPr marL="1097280" indent="0" algn="ctr">
              <a:buNone/>
              <a:defRPr>
                <a:solidFill>
                  <a:schemeClr val="tx1">
                    <a:tint val="75000"/>
                  </a:schemeClr>
                </a:solidFill>
              </a:defRPr>
            </a:lvl3pPr>
            <a:lvl4pPr marL="1645920" indent="0" algn="ctr">
              <a:buNone/>
              <a:defRPr>
                <a:solidFill>
                  <a:schemeClr val="tx1">
                    <a:tint val="75000"/>
                  </a:schemeClr>
                </a:solidFill>
              </a:defRPr>
            </a:lvl4pPr>
            <a:lvl5pPr marL="2194560" indent="0" algn="ctr">
              <a:buNone/>
              <a:defRPr>
                <a:solidFill>
                  <a:schemeClr val="tx1">
                    <a:tint val="75000"/>
                  </a:schemeClr>
                </a:solidFill>
              </a:defRPr>
            </a:lvl5pPr>
            <a:lvl6pPr marL="2743200" indent="0" algn="ctr">
              <a:buNone/>
              <a:defRPr>
                <a:solidFill>
                  <a:schemeClr val="tx1">
                    <a:tint val="75000"/>
                  </a:schemeClr>
                </a:solidFill>
              </a:defRPr>
            </a:lvl6pPr>
            <a:lvl7pPr marL="3291840" indent="0" algn="ctr">
              <a:buNone/>
              <a:defRPr>
                <a:solidFill>
                  <a:schemeClr val="tx1">
                    <a:tint val="75000"/>
                  </a:schemeClr>
                </a:solidFill>
              </a:defRPr>
            </a:lvl7pPr>
            <a:lvl8pPr marL="3840480" indent="0" algn="ctr">
              <a:buNone/>
              <a:defRPr>
                <a:solidFill>
                  <a:schemeClr val="tx1">
                    <a:tint val="75000"/>
                  </a:schemeClr>
                </a:solidFill>
              </a:defRPr>
            </a:lvl8pPr>
            <a:lvl9pPr marL="438912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9127141" y="7147365"/>
            <a:ext cx="3413760" cy="438150"/>
          </a:xfrm>
        </p:spPr>
        <p:txBody>
          <a:bodyPr/>
          <a:lstStyle>
            <a:lvl1pPr>
              <a:defRPr>
                <a:solidFill>
                  <a:schemeClr val="accent1">
                    <a:lumMod val="75000"/>
                    <a:lumOff val="25000"/>
                  </a:schemeClr>
                </a:solidFill>
              </a:defRPr>
            </a:lvl1pPr>
          </a:lstStyle>
          <a:p>
            <a:fld id="{B61BEF0D-F0BB-DE4B-95CE-6DB70DBA9567}" type="datetimeFigureOut">
              <a:rPr lang="en-US" smtClean="0"/>
              <a:pPr/>
              <a:t>6/22/2026</a:t>
            </a:fld>
            <a:endParaRPr lang="en-US" dirty="0"/>
          </a:p>
        </p:txBody>
      </p:sp>
      <p:sp>
        <p:nvSpPr>
          <p:cNvPr id="5" name="Footer Placeholder 4"/>
          <p:cNvSpPr>
            <a:spLocks noGrp="1"/>
          </p:cNvSpPr>
          <p:nvPr>
            <p:ph type="ftr" sz="quarter" idx="11"/>
          </p:nvPr>
        </p:nvSpPr>
        <p:spPr>
          <a:xfrm>
            <a:off x="697430" y="7142174"/>
            <a:ext cx="8300652" cy="438150"/>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2669960" y="7147365"/>
            <a:ext cx="1219728" cy="438150"/>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4518488"/>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528343" y="737288"/>
            <a:ext cx="13571206" cy="142715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697431" y="842587"/>
            <a:ext cx="13235539" cy="1216560"/>
          </a:xfrm>
        </p:spPr>
        <p:txBody>
          <a:bodyPr/>
          <a:lstStyle/>
          <a:p>
            <a:r>
              <a:rPr lang="en-US"/>
              <a:t>Click to edit Master title style</a:t>
            </a:r>
            <a:endParaRPr lang="en-US" dirty="0"/>
          </a:p>
        </p:txBody>
      </p:sp>
      <p:sp>
        <p:nvSpPr>
          <p:cNvPr id="3" name="Content Placeholder 2"/>
          <p:cNvSpPr>
            <a:spLocks noGrp="1"/>
          </p:cNvSpPr>
          <p:nvPr>
            <p:ph idx="1"/>
          </p:nvPr>
        </p:nvSpPr>
        <p:spPr>
          <a:xfrm>
            <a:off x="697431" y="2616596"/>
            <a:ext cx="13235538" cy="44139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6/22/2026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2669960" y="7147365"/>
            <a:ext cx="1263010" cy="438150"/>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26106647"/>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537380" y="6170370"/>
            <a:ext cx="13549032" cy="151059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697432" y="3652693"/>
            <a:ext cx="13235538" cy="1797008"/>
          </a:xfrm>
        </p:spPr>
        <p:txBody>
          <a:bodyPr anchor="b">
            <a:normAutofit/>
          </a:bodyPr>
          <a:lstStyle>
            <a:lvl1pPr algn="l">
              <a:defRPr sz="432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697431" y="5449701"/>
            <a:ext cx="13235538" cy="720667"/>
          </a:xfrm>
        </p:spPr>
        <p:txBody>
          <a:bodyPr anchor="t">
            <a:normAutofit/>
          </a:bodyPr>
          <a:lstStyle>
            <a:lvl1pPr marL="0" indent="0" algn="l">
              <a:buNone/>
              <a:defRPr sz="2160" cap="all">
                <a:solidFill>
                  <a:schemeClr val="accent2"/>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6/22/2026</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54846600"/>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535179" y="727866"/>
            <a:ext cx="13560043" cy="151059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697432" y="875590"/>
            <a:ext cx="13235539" cy="1185998"/>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97432" y="2673604"/>
            <a:ext cx="6506868" cy="435965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426101" y="2673604"/>
            <a:ext cx="6506870" cy="435965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6/22/2026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28487143"/>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535179" y="727866"/>
            <a:ext cx="13560043" cy="151059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697432" y="875590"/>
            <a:ext cx="13235539" cy="1185998"/>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64663" y="2701071"/>
            <a:ext cx="6104490" cy="643206"/>
          </a:xfrm>
        </p:spPr>
        <p:txBody>
          <a:bodyPr anchor="b">
            <a:noAutofit/>
          </a:bodyPr>
          <a:lstStyle>
            <a:lvl1pPr marL="0" indent="0">
              <a:buNone/>
              <a:defRPr sz="2640" b="0">
                <a:solidFill>
                  <a:schemeClr val="accent2"/>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p:cNvSpPr>
            <a:spLocks noGrp="1"/>
          </p:cNvSpPr>
          <p:nvPr>
            <p:ph sz="half" idx="2"/>
          </p:nvPr>
        </p:nvSpPr>
        <p:spPr>
          <a:xfrm>
            <a:off x="697433" y="3511263"/>
            <a:ext cx="6471720" cy="3521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828482" y="2701071"/>
            <a:ext cx="6104488" cy="664048"/>
          </a:xfrm>
        </p:spPr>
        <p:txBody>
          <a:bodyPr anchor="b">
            <a:noAutofit/>
          </a:bodyPr>
          <a:lstStyle>
            <a:lvl1pPr marL="0" indent="0">
              <a:buNone/>
              <a:defRPr sz="2640" b="0">
                <a:solidFill>
                  <a:schemeClr val="accent2"/>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6" name="Content Placeholder 5"/>
          <p:cNvSpPr>
            <a:spLocks noGrp="1"/>
          </p:cNvSpPr>
          <p:nvPr>
            <p:ph sz="quarter" idx="4"/>
          </p:nvPr>
        </p:nvSpPr>
        <p:spPr>
          <a:xfrm>
            <a:off x="7461251" y="3511263"/>
            <a:ext cx="6471720" cy="3521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6/22/2026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93579698"/>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528820" y="727866"/>
            <a:ext cx="13560043" cy="151059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691073" y="875590"/>
            <a:ext cx="13235539" cy="1185998"/>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6/22/2026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25228941"/>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6/22/2026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53092332"/>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537380" y="6170368"/>
            <a:ext cx="13557840" cy="152964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697431" y="6314755"/>
            <a:ext cx="5891334" cy="827417"/>
          </a:xfrm>
        </p:spPr>
        <p:txBody>
          <a:bodyPr anchor="ctr"/>
          <a:lstStyle>
            <a:lvl1pPr algn="l">
              <a:defRPr sz="24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537379" y="721440"/>
            <a:ext cx="13551408" cy="5045760"/>
          </a:xfrm>
        </p:spPr>
        <p:txBody>
          <a:bodyPr anchor="ctr">
            <a:normAutofit/>
          </a:bodyPr>
          <a:lstStyle>
            <a:lvl1pPr>
              <a:defRPr sz="2400">
                <a:solidFill>
                  <a:schemeClr val="tx2"/>
                </a:solidFill>
              </a:defRPr>
            </a:lvl1pPr>
            <a:lvl2pPr>
              <a:defRPr sz="2160">
                <a:solidFill>
                  <a:schemeClr val="tx2"/>
                </a:solidFill>
              </a:defRPr>
            </a:lvl2pPr>
            <a:lvl3pPr>
              <a:defRPr sz="1920">
                <a:solidFill>
                  <a:schemeClr val="tx2"/>
                </a:solidFill>
              </a:defRPr>
            </a:lvl3pPr>
            <a:lvl4pPr>
              <a:defRPr sz="1680">
                <a:solidFill>
                  <a:schemeClr val="tx2"/>
                </a:solidFill>
              </a:defRPr>
            </a:lvl4pPr>
            <a:lvl5pPr>
              <a:defRPr sz="1680">
                <a:solidFill>
                  <a:schemeClr val="tx2"/>
                </a:solidFill>
              </a:defRPr>
            </a:lvl5pPr>
            <a:lvl6pPr>
              <a:defRPr sz="1680">
                <a:solidFill>
                  <a:schemeClr val="tx2"/>
                </a:solidFill>
              </a:defRPr>
            </a:lvl6pPr>
            <a:lvl7pPr>
              <a:defRPr sz="1680">
                <a:solidFill>
                  <a:schemeClr val="tx2"/>
                </a:solidFill>
              </a:defRPr>
            </a:lvl7pPr>
            <a:lvl8pPr>
              <a:defRPr sz="1680">
                <a:solidFill>
                  <a:schemeClr val="tx2"/>
                </a:solidFill>
              </a:defRPr>
            </a:lvl8pPr>
            <a:lvl9pPr>
              <a:defRPr sz="168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88988" y="6314756"/>
            <a:ext cx="7043984" cy="827418"/>
          </a:xfrm>
        </p:spPr>
        <p:txBody>
          <a:bodyPr anchor="ctr">
            <a:normAutofit/>
          </a:bodyPr>
          <a:lstStyle>
            <a:lvl1pPr marL="0" indent="0" algn="r">
              <a:buNone/>
              <a:defRPr sz="1320">
                <a:solidFill>
                  <a:schemeClr val="bg1"/>
                </a:solidFill>
              </a:defRPr>
            </a:lvl1pPr>
            <a:lvl2pPr marL="548640" indent="0">
              <a:buNone/>
              <a:defRPr sz="132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6/22/2026</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74514722"/>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7432" y="5632067"/>
            <a:ext cx="13235539" cy="680086"/>
          </a:xfrm>
        </p:spPr>
        <p:txBody>
          <a:bodyPr anchor="b">
            <a:normAutofit/>
          </a:bodyPr>
          <a:lstStyle>
            <a:lvl1pPr algn="l">
              <a:defRPr sz="288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537381" y="719670"/>
            <a:ext cx="13549031" cy="4268702"/>
          </a:xfrm>
        </p:spPr>
        <p:txBody>
          <a:bodyPr anchor="t">
            <a:normAutofit/>
          </a:bodyPr>
          <a:lstStyle>
            <a:lvl1pPr marL="0" indent="0" algn="ctr">
              <a:buNone/>
              <a:defRPr sz="1920"/>
            </a:lvl1pPr>
            <a:lvl2pPr marL="548640" indent="0">
              <a:buNone/>
              <a:defRPr sz="1920"/>
            </a:lvl2pPr>
            <a:lvl3pPr marL="1097280" indent="0">
              <a:buNone/>
              <a:defRPr sz="1920"/>
            </a:lvl3pPr>
            <a:lvl4pPr marL="1645920" indent="0">
              <a:buNone/>
              <a:defRPr sz="1920"/>
            </a:lvl4pPr>
            <a:lvl5pPr marL="2194560" indent="0">
              <a:buNone/>
              <a:defRPr sz="1920"/>
            </a:lvl5pPr>
            <a:lvl6pPr marL="2743200" indent="0">
              <a:buNone/>
              <a:defRPr sz="1920"/>
            </a:lvl6pPr>
            <a:lvl7pPr marL="3291840" indent="0">
              <a:buNone/>
              <a:defRPr sz="1920"/>
            </a:lvl7pPr>
            <a:lvl8pPr marL="3840480" indent="0">
              <a:buNone/>
              <a:defRPr sz="1920"/>
            </a:lvl8pPr>
            <a:lvl9pPr marL="4389120" indent="0">
              <a:buNone/>
              <a:defRPr sz="1920"/>
            </a:lvl9pPr>
          </a:lstStyle>
          <a:p>
            <a:r>
              <a:rPr lang="en-US"/>
              <a:t>Click icon to add picture</a:t>
            </a:r>
            <a:endParaRPr lang="en-US" dirty="0"/>
          </a:p>
        </p:txBody>
      </p:sp>
      <p:sp>
        <p:nvSpPr>
          <p:cNvPr id="4" name="Text Placeholder 3"/>
          <p:cNvSpPr>
            <a:spLocks noGrp="1"/>
          </p:cNvSpPr>
          <p:nvPr>
            <p:ph type="body" sz="half" idx="2"/>
          </p:nvPr>
        </p:nvSpPr>
        <p:spPr>
          <a:xfrm>
            <a:off x="697431" y="6312153"/>
            <a:ext cx="13235540" cy="718405"/>
          </a:xfrm>
        </p:spPr>
        <p:txBody>
          <a:bodyPr>
            <a:normAutofit/>
          </a:bodyPr>
          <a:lstStyle>
            <a:lvl1pPr marL="0" indent="0">
              <a:buNone/>
              <a:defRPr sz="144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6/22/2026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44218410"/>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528343" y="737288"/>
            <a:ext cx="13571206" cy="142715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697431" y="842587"/>
            <a:ext cx="13235539" cy="121656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6/22/2026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0064183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10607042" y="719670"/>
            <a:ext cx="3488180" cy="69803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10607041" y="810872"/>
            <a:ext cx="2404997" cy="621968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929908" y="810872"/>
            <a:ext cx="9475535" cy="6219688"/>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792408" y="7147365"/>
            <a:ext cx="1593769" cy="438150"/>
          </a:xfrm>
        </p:spPr>
        <p:txBody>
          <a:bodyPr/>
          <a:lstStyle>
            <a:lvl1pPr>
              <a:defRPr>
                <a:solidFill>
                  <a:schemeClr val="accent1">
                    <a:lumMod val="75000"/>
                    <a:lumOff val="25000"/>
                  </a:schemeClr>
                </a:solidFill>
              </a:defRPr>
            </a:lvl1pPr>
          </a:lstStyle>
          <a:p>
            <a:fld id="{B61BEF0D-F0BB-DE4B-95CE-6DB70DBA9567}" type="datetimeFigureOut">
              <a:rPr lang="en-US" smtClean="0"/>
              <a:pPr/>
              <a:t>6/22/2026</a:t>
            </a:fld>
            <a:endParaRPr lang="en-US" dirty="0"/>
          </a:p>
        </p:txBody>
      </p:sp>
      <p:sp>
        <p:nvSpPr>
          <p:cNvPr id="5" name="Footer Placeholder 4"/>
          <p:cNvSpPr>
            <a:spLocks noGrp="1"/>
          </p:cNvSpPr>
          <p:nvPr>
            <p:ph type="ftr" sz="quarter" idx="11"/>
          </p:nvPr>
        </p:nvSpPr>
        <p:spPr>
          <a:xfrm>
            <a:off x="929908" y="7142174"/>
            <a:ext cx="9475535" cy="438150"/>
          </a:xfrm>
        </p:spPr>
        <p:txBody>
          <a:bodyPr/>
          <a:lstStyle/>
          <a:p>
            <a:endParaRPr lang="en-US" dirty="0"/>
          </a:p>
        </p:txBody>
      </p:sp>
      <p:sp>
        <p:nvSpPr>
          <p:cNvPr id="6" name="Slide Number Placeholder 5"/>
          <p:cNvSpPr>
            <a:spLocks noGrp="1"/>
          </p:cNvSpPr>
          <p:nvPr>
            <p:ph type="sldNum" sz="quarter" idx="12"/>
          </p:nvPr>
        </p:nvSpPr>
        <p:spPr>
          <a:xfrm>
            <a:off x="12535939" y="7147365"/>
            <a:ext cx="1397034" cy="438150"/>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15269745"/>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59479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75816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080133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8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5990760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7431" y="846149"/>
            <a:ext cx="13235539" cy="1427465"/>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697431" y="2803204"/>
            <a:ext cx="13235539" cy="422735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127142" y="7147365"/>
            <a:ext cx="3413759" cy="438150"/>
          </a:xfrm>
          <a:prstGeom prst="rect">
            <a:avLst/>
          </a:prstGeom>
        </p:spPr>
        <p:txBody>
          <a:bodyPr vert="horz" lIns="91440" tIns="45720" rIns="91440" bIns="45720" rtlCol="0" anchor="ctr"/>
          <a:lstStyle>
            <a:lvl1pPr algn="r">
              <a:defRPr sz="1080">
                <a:solidFill>
                  <a:schemeClr val="accent2"/>
                </a:solidFill>
              </a:defRPr>
            </a:lvl1pPr>
          </a:lstStyle>
          <a:p>
            <a:fld id="{B61BEF0D-F0BB-DE4B-95CE-6DB70DBA9567}" type="datetimeFigureOut">
              <a:rPr lang="en-US" smtClean="0"/>
              <a:pPr/>
              <a:t>6/22/2026</a:t>
            </a:fld>
            <a:endParaRPr lang="en-US" dirty="0"/>
          </a:p>
        </p:txBody>
      </p:sp>
      <p:sp>
        <p:nvSpPr>
          <p:cNvPr id="5" name="Footer Placeholder 4"/>
          <p:cNvSpPr>
            <a:spLocks noGrp="1"/>
          </p:cNvSpPr>
          <p:nvPr>
            <p:ph type="ftr" sz="quarter" idx="3"/>
          </p:nvPr>
        </p:nvSpPr>
        <p:spPr>
          <a:xfrm>
            <a:off x="697430" y="7142174"/>
            <a:ext cx="8300652" cy="438150"/>
          </a:xfrm>
          <a:prstGeom prst="rect">
            <a:avLst/>
          </a:prstGeom>
        </p:spPr>
        <p:txBody>
          <a:bodyPr vert="horz" lIns="91440" tIns="45720" rIns="91440" bIns="45720" rtlCol="0" anchor="ctr"/>
          <a:lstStyle>
            <a:lvl1pPr algn="l">
              <a:defRPr sz="108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2669960" y="7147365"/>
            <a:ext cx="1263012" cy="438150"/>
          </a:xfrm>
          <a:prstGeom prst="rect">
            <a:avLst/>
          </a:prstGeom>
        </p:spPr>
        <p:txBody>
          <a:bodyPr vert="horz" lIns="91440" tIns="45720" rIns="91440" bIns="45720" rtlCol="0" anchor="ctr"/>
          <a:lstStyle>
            <a:lvl1pPr algn="r">
              <a:defRPr sz="1080">
                <a:solidFill>
                  <a:schemeClr val="accent2"/>
                </a:solidFill>
              </a:defRPr>
            </a:lvl1pPr>
          </a:lstStyle>
          <a:p>
            <a:fld id="{D57F1E4F-1CFF-5643-939E-217C01CDF565}" type="slidenum">
              <a:rPr lang="en-US" smtClean="0"/>
              <a:pPr/>
              <a:t>‹#›</a:t>
            </a:fld>
            <a:endParaRPr lang="en-US" dirty="0"/>
          </a:p>
        </p:txBody>
      </p:sp>
      <p:sp>
        <p:nvSpPr>
          <p:cNvPr id="9" name="Rectangle 8"/>
          <p:cNvSpPr/>
          <p:nvPr/>
        </p:nvSpPr>
        <p:spPr>
          <a:xfrm>
            <a:off x="535841" y="548641"/>
            <a:ext cx="4443984" cy="11399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9650576" y="544372"/>
            <a:ext cx="4443984" cy="118265"/>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5090196" y="548640"/>
            <a:ext cx="4443984" cy="109728"/>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828603883"/>
      </p:ext>
    </p:extLst>
  </p:cSld>
  <p:clrMap bg1="lt1" tx1="dk1" bg2="lt2" tx2="dk2" accent1="accent1" accent2="accent2" accent3="accent3" accent4="accent4" accent5="accent5" accent6="accent6" hlink="hlink" folHlink="folHlink"/>
  <p:sldLayoutIdLst>
    <p:sldLayoutId id="2147483790" r:id="rId1"/>
    <p:sldLayoutId id="2147483791" r:id="rId2"/>
    <p:sldLayoutId id="2147483792" r:id="rId3"/>
    <p:sldLayoutId id="2147483793" r:id="rId4"/>
    <p:sldLayoutId id="2147483794" r:id="rId5"/>
    <p:sldLayoutId id="2147483795" r:id="rId6"/>
    <p:sldLayoutId id="2147483796" r:id="rId7"/>
    <p:sldLayoutId id="2147483797" r:id="rId8"/>
    <p:sldLayoutId id="2147483798" r:id="rId9"/>
    <p:sldLayoutId id="2147483799" r:id="rId10"/>
    <p:sldLayoutId id="2147483800" r:id="rId11"/>
    <p:sldLayoutId id="2147483801" r:id="rId12"/>
    <p:sldLayoutId id="2147483802" r:id="rId13"/>
    <p:sldLayoutId id="2147483803" r:id="rId14"/>
    <p:sldLayoutId id="2147483804" r:id="rId15"/>
  </p:sldLayoutIdLst>
  <p:hf sldNum="0" hdr="0" ftr="0" dt="0"/>
  <p:txStyles>
    <p:titleStyle>
      <a:lvl1pPr algn="l" defTabSz="548640" rtl="0" eaLnBrk="1" latinLnBrk="0" hangingPunct="1">
        <a:spcBef>
          <a:spcPct val="0"/>
        </a:spcBef>
        <a:buNone/>
        <a:defRPr sz="336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67200" indent="-367200" algn="l" defTabSz="548640" rtl="0" eaLnBrk="1" latinLnBrk="0" hangingPunct="1">
        <a:spcBef>
          <a:spcPct val="20000"/>
        </a:spcBef>
        <a:spcAft>
          <a:spcPts val="720"/>
        </a:spcAft>
        <a:buClr>
          <a:schemeClr val="accent2"/>
        </a:buClr>
        <a:buSzPct val="92000"/>
        <a:buFont typeface="Wingdings 2" panose="05020102010507070707" pitchFamily="18" charset="2"/>
        <a:buChar char=""/>
        <a:defRPr sz="2160" kern="1200">
          <a:solidFill>
            <a:schemeClr val="tx2"/>
          </a:solidFill>
          <a:latin typeface="+mn-lt"/>
          <a:ea typeface="+mn-ea"/>
          <a:cs typeface="+mn-cs"/>
        </a:defRPr>
      </a:lvl1pPr>
      <a:lvl2pPr marL="756000" indent="-367200" algn="l" defTabSz="548640" rtl="0" eaLnBrk="1" latinLnBrk="0" hangingPunct="1">
        <a:spcBef>
          <a:spcPct val="20000"/>
        </a:spcBef>
        <a:spcAft>
          <a:spcPts val="720"/>
        </a:spcAft>
        <a:buClr>
          <a:schemeClr val="accent2"/>
        </a:buClr>
        <a:buSzPct val="92000"/>
        <a:buFont typeface="Wingdings 2" panose="05020102010507070707" pitchFamily="18" charset="2"/>
        <a:buChar char=""/>
        <a:defRPr sz="1920" kern="1200">
          <a:solidFill>
            <a:schemeClr val="tx2"/>
          </a:solidFill>
          <a:latin typeface="+mn-lt"/>
          <a:ea typeface="+mn-ea"/>
          <a:cs typeface="+mn-cs"/>
        </a:defRPr>
      </a:lvl2pPr>
      <a:lvl3pPr marL="1080000" indent="-324000" algn="l" defTabSz="548640" rtl="0" eaLnBrk="1" latinLnBrk="0" hangingPunct="1">
        <a:spcBef>
          <a:spcPct val="20000"/>
        </a:spcBef>
        <a:spcAft>
          <a:spcPts val="720"/>
        </a:spcAft>
        <a:buClr>
          <a:schemeClr val="accent2"/>
        </a:buClr>
        <a:buSzPct val="92000"/>
        <a:buFont typeface="Wingdings 2" panose="05020102010507070707" pitchFamily="18" charset="2"/>
        <a:buChar char=""/>
        <a:defRPr sz="1680" kern="1200">
          <a:solidFill>
            <a:schemeClr val="tx2"/>
          </a:solidFill>
          <a:latin typeface="+mn-lt"/>
          <a:ea typeface="+mn-ea"/>
          <a:cs typeface="+mn-cs"/>
        </a:defRPr>
      </a:lvl3pPr>
      <a:lvl4pPr marL="1490400" indent="-280800" algn="l" defTabSz="548640" rtl="0" eaLnBrk="1" latinLnBrk="0" hangingPunct="1">
        <a:spcBef>
          <a:spcPct val="20000"/>
        </a:spcBef>
        <a:spcAft>
          <a:spcPts val="720"/>
        </a:spcAft>
        <a:buClr>
          <a:schemeClr val="accent2"/>
        </a:buClr>
        <a:buSzPct val="92000"/>
        <a:buFont typeface="Wingdings 2" panose="05020102010507070707" pitchFamily="18" charset="2"/>
        <a:buChar char=""/>
        <a:defRPr sz="1440" kern="1200">
          <a:solidFill>
            <a:schemeClr val="tx2"/>
          </a:solidFill>
          <a:latin typeface="+mn-lt"/>
          <a:ea typeface="+mn-ea"/>
          <a:cs typeface="+mn-cs"/>
        </a:defRPr>
      </a:lvl4pPr>
      <a:lvl5pPr marL="1922400" indent="-280800" algn="l" defTabSz="548640" rtl="0" eaLnBrk="1" latinLnBrk="0" hangingPunct="1">
        <a:spcBef>
          <a:spcPct val="20000"/>
        </a:spcBef>
        <a:spcAft>
          <a:spcPts val="720"/>
        </a:spcAft>
        <a:buClr>
          <a:schemeClr val="accent2"/>
        </a:buClr>
        <a:buSzPct val="92000"/>
        <a:buFont typeface="Wingdings 2" panose="05020102010507070707" pitchFamily="18" charset="2"/>
        <a:buChar char=""/>
        <a:defRPr sz="1440" kern="1200">
          <a:solidFill>
            <a:schemeClr val="tx2"/>
          </a:solidFill>
          <a:latin typeface="+mn-lt"/>
          <a:ea typeface="+mn-ea"/>
          <a:cs typeface="+mn-cs"/>
        </a:defRPr>
      </a:lvl5pPr>
      <a:lvl6pPr marL="2280000" indent="-274320" algn="l" defTabSz="548640" rtl="0" eaLnBrk="1" latinLnBrk="0" hangingPunct="1">
        <a:spcBef>
          <a:spcPct val="20000"/>
        </a:spcBef>
        <a:spcAft>
          <a:spcPts val="720"/>
        </a:spcAft>
        <a:buClr>
          <a:schemeClr val="accent2"/>
        </a:buClr>
        <a:buSzPct val="92000"/>
        <a:buFont typeface="Wingdings 2" panose="05020102010507070707" pitchFamily="18" charset="2"/>
        <a:buChar char=""/>
        <a:defRPr sz="1440" kern="1200">
          <a:solidFill>
            <a:schemeClr val="tx2"/>
          </a:solidFill>
          <a:latin typeface="+mn-lt"/>
          <a:ea typeface="+mn-ea"/>
          <a:cs typeface="+mn-cs"/>
        </a:defRPr>
      </a:lvl6pPr>
      <a:lvl7pPr marL="2640000" indent="-274320" algn="l" defTabSz="548640" rtl="0" eaLnBrk="1" latinLnBrk="0" hangingPunct="1">
        <a:spcBef>
          <a:spcPct val="20000"/>
        </a:spcBef>
        <a:spcAft>
          <a:spcPts val="720"/>
        </a:spcAft>
        <a:buClr>
          <a:schemeClr val="accent2"/>
        </a:buClr>
        <a:buSzPct val="92000"/>
        <a:buFont typeface="Wingdings 2" panose="05020102010507070707" pitchFamily="18" charset="2"/>
        <a:buChar char=""/>
        <a:defRPr sz="1440" kern="1200">
          <a:solidFill>
            <a:schemeClr val="tx2"/>
          </a:solidFill>
          <a:latin typeface="+mn-lt"/>
          <a:ea typeface="+mn-ea"/>
          <a:cs typeface="+mn-cs"/>
        </a:defRPr>
      </a:lvl7pPr>
      <a:lvl8pPr marL="3000000" indent="-274320" algn="l" defTabSz="548640" rtl="0" eaLnBrk="1" latinLnBrk="0" hangingPunct="1">
        <a:spcBef>
          <a:spcPct val="20000"/>
        </a:spcBef>
        <a:spcAft>
          <a:spcPts val="720"/>
        </a:spcAft>
        <a:buClr>
          <a:schemeClr val="accent2"/>
        </a:buClr>
        <a:buSzPct val="92000"/>
        <a:buFont typeface="Wingdings 2" panose="05020102010507070707" pitchFamily="18" charset="2"/>
        <a:buChar char=""/>
        <a:defRPr sz="1440" kern="1200">
          <a:solidFill>
            <a:schemeClr val="tx2"/>
          </a:solidFill>
          <a:latin typeface="+mn-lt"/>
          <a:ea typeface="+mn-ea"/>
          <a:cs typeface="+mn-cs"/>
        </a:defRPr>
      </a:lvl8pPr>
      <a:lvl9pPr marL="3360000" indent="-274320" algn="l" defTabSz="548640" rtl="0" eaLnBrk="1" latinLnBrk="0" hangingPunct="1">
        <a:spcBef>
          <a:spcPct val="20000"/>
        </a:spcBef>
        <a:spcAft>
          <a:spcPts val="720"/>
        </a:spcAft>
        <a:buClr>
          <a:schemeClr val="accent2"/>
        </a:buClr>
        <a:buSzPct val="92000"/>
        <a:buFont typeface="Wingdings 2" panose="05020102010507070707" pitchFamily="18" charset="2"/>
        <a:buChar char=""/>
        <a:defRPr sz="1440" kern="1200">
          <a:solidFill>
            <a:schemeClr val="tx2"/>
          </a:solidFill>
          <a:latin typeface="+mn-lt"/>
          <a:ea typeface="+mn-ea"/>
          <a:cs typeface="+mn-cs"/>
        </a:defRPr>
      </a:lvl9pPr>
    </p:bodyStyle>
    <p:otherStyle>
      <a:defPPr>
        <a:defRPr lang="en-US"/>
      </a:defPPr>
      <a:lvl1pPr marL="0" algn="l" defTabSz="548640" rtl="0" eaLnBrk="1" latinLnBrk="0" hangingPunct="1">
        <a:defRPr sz="2160" kern="1200">
          <a:solidFill>
            <a:schemeClr val="tx1"/>
          </a:solidFill>
          <a:latin typeface="+mn-lt"/>
          <a:ea typeface="+mn-ea"/>
          <a:cs typeface="+mn-cs"/>
        </a:defRPr>
      </a:lvl1pPr>
      <a:lvl2pPr marL="548640" algn="l" defTabSz="548640" rtl="0" eaLnBrk="1" latinLnBrk="0" hangingPunct="1">
        <a:defRPr sz="2160" kern="1200">
          <a:solidFill>
            <a:schemeClr val="tx1"/>
          </a:solidFill>
          <a:latin typeface="+mn-lt"/>
          <a:ea typeface="+mn-ea"/>
          <a:cs typeface="+mn-cs"/>
        </a:defRPr>
      </a:lvl2pPr>
      <a:lvl3pPr marL="1097280" algn="l" defTabSz="548640" rtl="0" eaLnBrk="1" latinLnBrk="0" hangingPunct="1">
        <a:defRPr sz="2160" kern="1200">
          <a:solidFill>
            <a:schemeClr val="tx1"/>
          </a:solidFill>
          <a:latin typeface="+mn-lt"/>
          <a:ea typeface="+mn-ea"/>
          <a:cs typeface="+mn-cs"/>
        </a:defRPr>
      </a:lvl3pPr>
      <a:lvl4pPr marL="1645920" algn="l" defTabSz="548640" rtl="0" eaLnBrk="1" latinLnBrk="0" hangingPunct="1">
        <a:defRPr sz="2160" kern="1200">
          <a:solidFill>
            <a:schemeClr val="tx1"/>
          </a:solidFill>
          <a:latin typeface="+mn-lt"/>
          <a:ea typeface="+mn-ea"/>
          <a:cs typeface="+mn-cs"/>
        </a:defRPr>
      </a:lvl4pPr>
      <a:lvl5pPr marL="2194560" algn="l" defTabSz="548640" rtl="0" eaLnBrk="1" latinLnBrk="0" hangingPunct="1">
        <a:defRPr sz="2160" kern="1200">
          <a:solidFill>
            <a:schemeClr val="tx1"/>
          </a:solidFill>
          <a:latin typeface="+mn-lt"/>
          <a:ea typeface="+mn-ea"/>
          <a:cs typeface="+mn-cs"/>
        </a:defRPr>
      </a:lvl5pPr>
      <a:lvl6pPr marL="2743200" algn="l" defTabSz="548640" rtl="0" eaLnBrk="1" latinLnBrk="0" hangingPunct="1">
        <a:defRPr sz="2160" kern="1200">
          <a:solidFill>
            <a:schemeClr val="tx1"/>
          </a:solidFill>
          <a:latin typeface="+mn-lt"/>
          <a:ea typeface="+mn-ea"/>
          <a:cs typeface="+mn-cs"/>
        </a:defRPr>
      </a:lvl6pPr>
      <a:lvl7pPr marL="3291840" algn="l" defTabSz="548640" rtl="0" eaLnBrk="1" latinLnBrk="0" hangingPunct="1">
        <a:defRPr sz="2160" kern="1200">
          <a:solidFill>
            <a:schemeClr val="tx1"/>
          </a:solidFill>
          <a:latin typeface="+mn-lt"/>
          <a:ea typeface="+mn-ea"/>
          <a:cs typeface="+mn-cs"/>
        </a:defRPr>
      </a:lvl7pPr>
      <a:lvl8pPr marL="3840480" algn="l" defTabSz="548640" rtl="0" eaLnBrk="1" latinLnBrk="0" hangingPunct="1">
        <a:defRPr sz="2160" kern="1200">
          <a:solidFill>
            <a:schemeClr val="tx1"/>
          </a:solidFill>
          <a:latin typeface="+mn-lt"/>
          <a:ea typeface="+mn-ea"/>
          <a:cs typeface="+mn-cs"/>
        </a:defRPr>
      </a:lvl8pPr>
      <a:lvl9pPr marL="4389120" algn="l" defTabSz="54864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3.xml"/><Relationship Id="rId4" Type="http://schemas.openxmlformats.org/officeDocument/2006/relationships/comments" Target="../comments/comment1.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4.xml"/><Relationship Id="rId6" Type="http://schemas.openxmlformats.org/officeDocument/2006/relationships/image" Target="../media/image5.png"/><Relationship Id="rId11" Type="http://schemas.openxmlformats.org/officeDocument/2006/relationships/image" Target="../media/image17.png"/><Relationship Id="rId5" Type="http://schemas.openxmlformats.org/officeDocument/2006/relationships/image" Target="../media/image4.png"/><Relationship Id="rId10" Type="http://schemas.openxmlformats.org/officeDocument/2006/relationships/image" Target="../media/image16.png"/><Relationship Id="rId4" Type="http://schemas.openxmlformats.org/officeDocument/2006/relationships/image" Target="../media/image3.png"/><Relationship Id="rId9" Type="http://schemas.openxmlformats.org/officeDocument/2006/relationships/image" Target="../media/image15.png"/></Relationships>
</file>

<file path=ppt/slides/_rels/slide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3.xml"/><Relationship Id="rId4" Type="http://schemas.openxmlformats.org/officeDocument/2006/relationships/image" Target="../media/image20.png"/></Relationships>
</file>

<file path=ppt/slides/_rels/slide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3.xml"/><Relationship Id="rId5" Type="http://schemas.openxmlformats.org/officeDocument/2006/relationships/image" Target="../media/image24.png"/><Relationship Id="rId4" Type="http://schemas.openxmlformats.org/officeDocument/2006/relationships/image" Target="../media/image23.png"/></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image" Target="../media/image13.wmf"/><Relationship Id="rId3" Type="http://schemas.openxmlformats.org/officeDocument/2006/relationships/image" Target="../media/image8.wmf"/><Relationship Id="rId7" Type="http://schemas.openxmlformats.org/officeDocument/2006/relationships/image" Target="../media/image10.wmf"/><Relationship Id="rId12" Type="http://schemas.openxmlformats.org/officeDocument/2006/relationships/oleObject" Target="../embeddings/oleObject6.bin"/><Relationship Id="rId17" Type="http://schemas.openxmlformats.org/officeDocument/2006/relationships/image" Target="../media/image15.wmf"/><Relationship Id="rId2" Type="http://schemas.openxmlformats.org/officeDocument/2006/relationships/oleObject" Target="../embeddings/oleObject1.bin"/><Relationship Id="rId16" Type="http://schemas.openxmlformats.org/officeDocument/2006/relationships/oleObject" Target="../embeddings/oleObject8.bin"/><Relationship Id="rId1" Type="http://schemas.openxmlformats.org/officeDocument/2006/relationships/slideLayout" Target="../slideLayouts/slideLayout15.xml"/><Relationship Id="rId6" Type="http://schemas.openxmlformats.org/officeDocument/2006/relationships/oleObject" Target="../embeddings/oleObject3.bin"/><Relationship Id="rId11" Type="http://schemas.openxmlformats.org/officeDocument/2006/relationships/image" Target="../media/image12.wmf"/><Relationship Id="rId5" Type="http://schemas.openxmlformats.org/officeDocument/2006/relationships/image" Target="../media/image9.wmf"/><Relationship Id="rId15" Type="http://schemas.openxmlformats.org/officeDocument/2006/relationships/image" Target="../media/image14.wmf"/><Relationship Id="rId10" Type="http://schemas.openxmlformats.org/officeDocument/2006/relationships/oleObject" Target="../embeddings/oleObject5.bin"/><Relationship Id="rId4" Type="http://schemas.openxmlformats.org/officeDocument/2006/relationships/oleObject" Target="../embeddings/oleObject2.bin"/><Relationship Id="rId9" Type="http://schemas.openxmlformats.org/officeDocument/2006/relationships/image" Target="../media/image11.wmf"/><Relationship Id="rId14" Type="http://schemas.openxmlformats.org/officeDocument/2006/relationships/oleObject" Target="../embeddings/oleObject7.bin"/></Relationships>
</file>

<file path=ppt/slides/_rels/slide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26.png"/><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image" Target="../media/image27.png"/><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30.png"/><Relationship Id="rId1" Type="http://schemas.openxmlformats.org/officeDocument/2006/relationships/slideLayout" Target="../slideLayouts/slideLayout15.xml"/><Relationship Id="rId4" Type="http://schemas.openxmlformats.org/officeDocument/2006/relationships/image" Target="../media/image112.png"/></Relationships>
</file>

<file path=ppt/slides/_rels/slide1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8" Type="http://schemas.openxmlformats.org/officeDocument/2006/relationships/diagramLayout" Target="../diagrams/layout10.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15.xml"/><Relationship Id="rId6" Type="http://schemas.microsoft.com/office/2007/relationships/diagramDrawing" Target="../diagrams/drawing1.xml"/><Relationship Id="rId5" Type="http://schemas.openxmlformats.org/officeDocument/2006/relationships/diagramColors" Target="../diagrams/colors1.xml"/><Relationship Id="rId10" Type="http://schemas.openxmlformats.org/officeDocument/2006/relationships/diagramColors" Target="../diagrams/colors10.xml"/><Relationship Id="rId4" Type="http://schemas.openxmlformats.org/officeDocument/2006/relationships/diagramQuickStyle" Target="../diagrams/quickStyle1.xml"/><Relationship Id="rId9" Type="http://schemas.openxmlformats.org/officeDocument/2006/relationships/diagramQuickStyle" Target="../diagrams/quickStyle10.xml"/></Relationships>
</file>

<file path=ppt/slides/_rels/slide1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21D3E62-1EB1-4BC2-87AB-31D04F954B77}"/>
              </a:ext>
            </a:extLst>
          </p:cNvPr>
          <p:cNvSpPr/>
          <p:nvPr/>
        </p:nvSpPr>
        <p:spPr>
          <a:xfrm>
            <a:off x="1207698" y="557608"/>
            <a:ext cx="11904453" cy="5853013"/>
          </a:xfrm>
          <a:prstGeom prst="rect">
            <a:avLst/>
          </a:prstGeom>
        </p:spPr>
        <p:txBody>
          <a:bodyPr wrap="square">
            <a:spAutoFit/>
          </a:bodyPr>
          <a:lstStyle/>
          <a:p>
            <a:pPr algn="ctr">
              <a:lnSpc>
                <a:spcPct val="150000"/>
              </a:lnSpc>
            </a:pPr>
            <a:r>
              <a:rPr lang="en-US" sz="2400" b="1" dirty="0">
                <a:solidFill>
                  <a:schemeClr val="accent2">
                    <a:lumMod val="75000"/>
                  </a:schemeClr>
                </a:solidFill>
                <a:effectLst/>
                <a:latin typeface="Arial Black" panose="020B0A04020102020204" pitchFamily="34" charset="0"/>
                <a:ea typeface="Times New Roman" panose="02020603050405020304" pitchFamily="18" charset="0"/>
                <a:cs typeface="Times New Roman" panose="02020603050405020304" pitchFamily="18" charset="0"/>
              </a:rPr>
              <a:t>AN INSIGHT INTO ALGAE LIPID PRODUCTION DYNAMICS USING COMPARTMENTAL MODEL APPROACH.</a:t>
            </a:r>
            <a:endParaRPr lang="en-US" sz="2400" dirty="0">
              <a:solidFill>
                <a:schemeClr val="accent2">
                  <a:lumMod val="75000"/>
                </a:schemeClr>
              </a:solidFill>
              <a:effectLst/>
              <a:latin typeface="Arial Black" panose="020B0A04020102020204" pitchFamily="34" charset="0"/>
              <a:ea typeface="Calibri" panose="020F0502020204030204" pitchFamily="34" charset="0"/>
              <a:cs typeface="Times New Roman" panose="02020603050405020304" pitchFamily="18" charset="0"/>
            </a:endParaRPr>
          </a:p>
          <a:p>
            <a:pPr algn="ctr">
              <a:lnSpc>
                <a:spcPct val="150000"/>
              </a:lnSpc>
            </a:pPr>
            <a:endParaRPr lang="en-US" sz="2400" dirty="0">
              <a:solidFill>
                <a:schemeClr val="accent3">
                  <a:lumMod val="75000"/>
                </a:schemeClr>
              </a:solidFill>
              <a:effectLst/>
              <a:latin typeface="Arial Black" panose="020B0A04020102020204" pitchFamily="34" charset="0"/>
              <a:ea typeface="Calibri" panose="020F0502020204030204" pitchFamily="34" charset="0"/>
              <a:cs typeface="Times New Roman" panose="02020603050405020304" pitchFamily="18" charset="0"/>
            </a:endParaRPr>
          </a:p>
          <a:p>
            <a:pPr algn="ctr">
              <a:lnSpc>
                <a:spcPct val="150000"/>
              </a:lnSpc>
            </a:pPr>
            <a:r>
              <a:rPr lang="en-US" sz="2400" dirty="0">
                <a:solidFill>
                  <a:schemeClr val="accent3">
                    <a:lumMod val="75000"/>
                  </a:schemeClr>
                </a:solidFill>
                <a:effectLst/>
                <a:latin typeface="Bahnschrift SemiBold" panose="020B0502040204020203" pitchFamily="34" charset="0"/>
                <a:ea typeface="Calibri" panose="020F0502020204030204" pitchFamily="34" charset="0"/>
                <a:cs typeface="Times New Roman" panose="02020603050405020304" pitchFamily="18" charset="0"/>
              </a:rPr>
              <a:t>PAPER PRESENTED </a:t>
            </a:r>
          </a:p>
          <a:p>
            <a:pPr algn="ctr">
              <a:lnSpc>
                <a:spcPct val="150000"/>
              </a:lnSpc>
            </a:pPr>
            <a:r>
              <a:rPr lang="en-GB" sz="2400" dirty="0">
                <a:solidFill>
                  <a:schemeClr val="accent3">
                    <a:lumMod val="75000"/>
                  </a:schemeClr>
                </a:solidFill>
                <a:latin typeface="Bahnschrift SemiBold" panose="020B0502040204020203" pitchFamily="34" charset="0"/>
              </a:rPr>
              <a:t>BY </a:t>
            </a:r>
          </a:p>
          <a:p>
            <a:pPr algn="ctr">
              <a:lnSpc>
                <a:spcPct val="150000"/>
              </a:lnSpc>
            </a:pPr>
            <a:r>
              <a:rPr lang="en-GB" sz="2400" dirty="0">
                <a:solidFill>
                  <a:schemeClr val="accent3">
                    <a:lumMod val="75000"/>
                  </a:schemeClr>
                </a:solidFill>
                <a:latin typeface="Bahnschrift SemiBold" panose="020B0502040204020203" pitchFamily="34" charset="0"/>
              </a:rPr>
              <a:t>Engr. Onyia Chibuzo John. </a:t>
            </a:r>
          </a:p>
          <a:p>
            <a:pPr algn="ctr">
              <a:lnSpc>
                <a:spcPct val="150000"/>
              </a:lnSpc>
            </a:pPr>
            <a:r>
              <a:rPr lang="en-GB" sz="2400" dirty="0">
                <a:solidFill>
                  <a:schemeClr val="accent3">
                    <a:lumMod val="75000"/>
                  </a:schemeClr>
                </a:solidFill>
                <a:latin typeface="Bahnschrift SemiBold" panose="020B0502040204020203" pitchFamily="34" charset="0"/>
              </a:rPr>
              <a:t>NATIONAL CENTRE FOR TECHNOLOGY MANAGEMENT</a:t>
            </a:r>
          </a:p>
          <a:p>
            <a:pPr algn="ctr">
              <a:lnSpc>
                <a:spcPct val="150000"/>
              </a:lnSpc>
            </a:pPr>
            <a:r>
              <a:rPr lang="en-GB" sz="2000" dirty="0">
                <a:solidFill>
                  <a:schemeClr val="accent4">
                    <a:lumMod val="75000"/>
                  </a:schemeClr>
                </a:solidFill>
                <a:latin typeface="Arial Black" panose="020B0A04020102020204" pitchFamily="34" charset="0"/>
              </a:rPr>
              <a:t>15</a:t>
            </a:r>
            <a:r>
              <a:rPr lang="en-GB" sz="2000" baseline="30000" dirty="0">
                <a:solidFill>
                  <a:schemeClr val="accent4">
                    <a:lumMod val="75000"/>
                  </a:schemeClr>
                </a:solidFill>
                <a:latin typeface="Arial Black" panose="020B0A04020102020204" pitchFamily="34" charset="0"/>
              </a:rPr>
              <a:t>TH</a:t>
            </a:r>
            <a:r>
              <a:rPr lang="en-GB" sz="2000" dirty="0">
                <a:solidFill>
                  <a:schemeClr val="accent4">
                    <a:lumMod val="75000"/>
                  </a:schemeClr>
                </a:solidFill>
                <a:latin typeface="Arial Black" panose="020B0A04020102020204" pitchFamily="34" charset="0"/>
              </a:rPr>
              <a:t> JANUARY, 2026</a:t>
            </a:r>
          </a:p>
          <a:p>
            <a:pPr algn="ctr">
              <a:lnSpc>
                <a:spcPct val="150000"/>
              </a:lnSpc>
            </a:pPr>
            <a:r>
              <a:rPr lang="en-GB" sz="2800" dirty="0">
                <a:solidFill>
                  <a:schemeClr val="accent2">
                    <a:lumMod val="50000"/>
                  </a:schemeClr>
                </a:solidFill>
                <a:latin typeface="Bahnschrift SemiBold" panose="020B0502040204020203" pitchFamily="34" charset="0"/>
              </a:rPr>
              <a:t> </a:t>
            </a:r>
          </a:p>
          <a:p>
            <a:pPr algn="ctr">
              <a:lnSpc>
                <a:spcPct val="150000"/>
              </a:lnSpc>
            </a:pPr>
            <a:r>
              <a:rPr lang="en-GB" dirty="0">
                <a:solidFill>
                  <a:schemeClr val="accent2">
                    <a:lumMod val="50000"/>
                  </a:schemeClr>
                </a:solidFill>
                <a:latin typeface="Bahnschrift SemiBold" panose="020B0502040204020203" pitchFamily="34" charset="0"/>
              </a:rPr>
              <a:t>Managing Technology for sustainable Development</a:t>
            </a:r>
          </a:p>
          <a:p>
            <a:pPr algn="ctr">
              <a:lnSpc>
                <a:spcPct val="150000"/>
              </a:lnSpc>
            </a:pPr>
            <a:r>
              <a:rPr lang="en-GB" dirty="0">
                <a:solidFill>
                  <a:schemeClr val="accent2">
                    <a:lumMod val="50000"/>
                  </a:schemeClr>
                </a:solidFill>
                <a:latin typeface="Bahnschrift SemiBold" panose="020B0502040204020203" pitchFamily="34" charset="0"/>
              </a:rPr>
              <a:t> </a:t>
            </a:r>
            <a:endParaRPr lang="en-US" dirty="0">
              <a:solidFill>
                <a:schemeClr val="accent2">
                  <a:lumMod val="50000"/>
                </a:schemeClr>
              </a:solidFill>
              <a:latin typeface="Bahnschrift SemiBold" panose="020B0502040204020203" pitchFamily="34" charset="0"/>
            </a:endParaRPr>
          </a:p>
        </p:txBody>
      </p:sp>
    </p:spTree>
    <p:extLst>
      <p:ext uri="{BB962C8B-B14F-4D97-AF65-F5344CB8AC3E}">
        <p14:creationId xmlns:p14="http://schemas.microsoft.com/office/powerpoint/2010/main" val="2721849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10386" y="855130"/>
            <a:ext cx="1553252" cy="2381415"/>
          </a:xfrm>
          <a:prstGeom prst="rect">
            <a:avLst/>
          </a:prstGeom>
        </p:spPr>
      </p:pic>
      <p:sp>
        <p:nvSpPr>
          <p:cNvPr id="3" name="Text 0"/>
          <p:cNvSpPr/>
          <p:nvPr/>
        </p:nvSpPr>
        <p:spPr>
          <a:xfrm>
            <a:off x="5106996" y="0"/>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2C2926"/>
                </a:solidFill>
                <a:latin typeface="Bricolage Grotesque Semi Bold" pitchFamily="34" charset="0"/>
                <a:ea typeface="Bricolage Grotesque Semi Bold" pitchFamily="34" charset="-122"/>
                <a:cs typeface="Bricolage Grotesque Semi Bold" pitchFamily="34" charset="-120"/>
              </a:rPr>
              <a:t>Introduction</a:t>
            </a:r>
            <a:endParaRPr lang="en-US" sz="4450" dirty="0"/>
          </a:p>
        </p:txBody>
      </p:sp>
      <p:sp>
        <p:nvSpPr>
          <p:cNvPr id="7" name="Text 1">
            <a:extLst>
              <a:ext uri="{FF2B5EF4-FFF2-40B4-BE49-F238E27FC236}">
                <a16:creationId xmlns:a16="http://schemas.microsoft.com/office/drawing/2014/main" id="{11147117-0692-3CFD-949E-9134B06833FC}"/>
              </a:ext>
            </a:extLst>
          </p:cNvPr>
          <p:cNvSpPr/>
          <p:nvPr/>
        </p:nvSpPr>
        <p:spPr>
          <a:xfrm>
            <a:off x="5106996" y="883220"/>
            <a:ext cx="4226785" cy="708660"/>
          </a:xfrm>
          <a:prstGeom prst="rect">
            <a:avLst/>
          </a:prstGeom>
          <a:noFill/>
          <a:ln/>
        </p:spPr>
        <p:txBody>
          <a:bodyPr wrap="square" lIns="0" tIns="0" rIns="0" bIns="0" rtlCol="0" anchor="t"/>
          <a:lstStyle/>
          <a:p>
            <a:pPr marL="342900" indent="-342900" algn="l">
              <a:lnSpc>
                <a:spcPts val="2750"/>
              </a:lnSpc>
              <a:buFont typeface="Wingdings" panose="05000000000000000000" pitchFamily="2" charset="2"/>
              <a:buChar char="q"/>
            </a:pPr>
            <a:r>
              <a:rPr lang="en-US" sz="2200" dirty="0">
                <a:solidFill>
                  <a:schemeClr val="accent4">
                    <a:lumMod val="75000"/>
                  </a:schemeClr>
                </a:solidFill>
                <a:latin typeface="Bricolage Grotesque Semi Bold" pitchFamily="34" charset="0"/>
                <a:ea typeface="Bricolage Grotesque Semi Bold" pitchFamily="34" charset="-122"/>
                <a:cs typeface="Bricolage Grotesque Semi Bold" pitchFamily="34" charset="-120"/>
              </a:rPr>
              <a:t>Global Aviation Emissions</a:t>
            </a:r>
            <a:endParaRPr lang="en-US" sz="2200" dirty="0">
              <a:solidFill>
                <a:schemeClr val="accent4">
                  <a:lumMod val="75000"/>
                </a:schemeClr>
              </a:solidFill>
            </a:endParaRPr>
          </a:p>
        </p:txBody>
      </p:sp>
      <p:sp>
        <p:nvSpPr>
          <p:cNvPr id="8" name="Text 2">
            <a:extLst>
              <a:ext uri="{FF2B5EF4-FFF2-40B4-BE49-F238E27FC236}">
                <a16:creationId xmlns:a16="http://schemas.microsoft.com/office/drawing/2014/main" id="{5D4FE189-1196-523E-93C3-DC870CCF9F1E}"/>
              </a:ext>
            </a:extLst>
          </p:cNvPr>
          <p:cNvSpPr/>
          <p:nvPr/>
        </p:nvSpPr>
        <p:spPr>
          <a:xfrm>
            <a:off x="2363638" y="1309733"/>
            <a:ext cx="11456375" cy="708660"/>
          </a:xfrm>
          <a:prstGeom prst="rect">
            <a:avLst/>
          </a:prstGeom>
          <a:noFill/>
          <a:ln/>
        </p:spPr>
        <p:txBody>
          <a:bodyPr wrap="square" lIns="0" tIns="0" rIns="0" bIns="0" rtlCol="0" anchor="t"/>
          <a:lstStyle/>
          <a:p>
            <a:pPr marL="0" indent="0" algn="l">
              <a:lnSpc>
                <a:spcPts val="2850"/>
              </a:lnSpc>
              <a:buNone/>
            </a:pPr>
            <a:r>
              <a:rPr lang="en-US" sz="1750" dirty="0">
                <a:solidFill>
                  <a:schemeClr val="accent5">
                    <a:lumMod val="75000"/>
                  </a:schemeClr>
                </a:solidFill>
                <a:latin typeface="Inter" pitchFamily="34" charset="0"/>
                <a:ea typeface="Inter" pitchFamily="34" charset="-122"/>
                <a:cs typeface="Inter" pitchFamily="34" charset="-120"/>
              </a:rPr>
              <a:t>The aviation industry contributes 2.5% of global CO2 emissions, projected to triple by 2050. IATA mandates carbon-neutral growth from 2020 and a 50% reduction by 2050.</a:t>
            </a:r>
            <a:endParaRPr lang="en-US" sz="1750" dirty="0">
              <a:solidFill>
                <a:schemeClr val="accent5">
                  <a:lumMod val="75000"/>
                </a:schemeClr>
              </a:solidFill>
            </a:endParaRPr>
          </a:p>
        </p:txBody>
      </p:sp>
      <p:sp>
        <p:nvSpPr>
          <p:cNvPr id="10" name="Text 4">
            <a:extLst>
              <a:ext uri="{FF2B5EF4-FFF2-40B4-BE49-F238E27FC236}">
                <a16:creationId xmlns:a16="http://schemas.microsoft.com/office/drawing/2014/main" id="{70002F9C-1B2A-A87F-7906-CF4EA49FE67F}"/>
              </a:ext>
            </a:extLst>
          </p:cNvPr>
          <p:cNvSpPr/>
          <p:nvPr/>
        </p:nvSpPr>
        <p:spPr>
          <a:xfrm>
            <a:off x="1466490" y="5632669"/>
            <a:ext cx="12396576" cy="1698209"/>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wrap="square" lIns="0" tIns="0" rIns="0" bIns="0" rtlCol="0" anchor="t"/>
          <a:lstStyle/>
          <a:p>
            <a:pPr marL="285750" marR="0" indent="-285750" algn="just">
              <a:lnSpc>
                <a:spcPct val="150000"/>
              </a:lnSpc>
              <a:spcBef>
                <a:spcPts val="0"/>
              </a:spcBef>
              <a:spcAft>
                <a:spcPts val="0"/>
              </a:spcAft>
              <a:buFont typeface="Arial" panose="020B0604020202020204" pitchFamily="34" charset="0"/>
              <a:buChar char="•"/>
            </a:pPr>
            <a:r>
              <a:rPr lang="en-US" sz="1800" dirty="0">
                <a:solidFill>
                  <a:srgbClr val="C00000"/>
                </a:solidFill>
                <a:effectLst/>
                <a:latin typeface="Bricolage Grotesque Semi Bold" panose="020B0604020202020204" charset="0"/>
                <a:ea typeface="Times New Roman" panose="02020603050405020304" pitchFamily="18" charset="0"/>
                <a:cs typeface="Times New Roman" panose="02020603050405020304" pitchFamily="18" charset="0"/>
              </a:rPr>
              <a:t>Overall Aim: </a:t>
            </a:r>
            <a:r>
              <a:rPr lang="en-US" sz="1800" dirty="0">
                <a:solidFill>
                  <a:srgbClr val="0070C0"/>
                </a:solidFill>
                <a:effectLst/>
                <a:latin typeface="Bricolage Grotesque Semi Bold" panose="020B0604020202020204" charset="0"/>
                <a:ea typeface="Times New Roman" panose="02020603050405020304" pitchFamily="18" charset="0"/>
                <a:cs typeface="Times New Roman" panose="02020603050405020304" pitchFamily="18" charset="0"/>
              </a:rPr>
              <a:t>The research aims to create a computational model that accurately represents the entire process of algae cultivation, harvest, and conversion into SAF, filling a critical gap for tropical climates</a:t>
            </a:r>
            <a:r>
              <a:rPr lang="en-US" sz="1800" dirty="0">
                <a:solidFill>
                  <a:srgbClr val="000000"/>
                </a:solidFill>
                <a:effectLst/>
                <a:latin typeface="Bricolage Grotesque Semi Bold" panose="020B0604020202020204" charset="0"/>
                <a:ea typeface="Times New Roman" panose="02020603050405020304" pitchFamily="18" charset="0"/>
                <a:cs typeface="Times New Roman" panose="02020603050405020304" pitchFamily="18" charset="0"/>
              </a:rPr>
              <a:t>.</a:t>
            </a:r>
          </a:p>
          <a:p>
            <a:pPr marL="285750" marR="0" indent="-285750" algn="just">
              <a:lnSpc>
                <a:spcPct val="150000"/>
              </a:lnSpc>
              <a:spcBef>
                <a:spcPts val="0"/>
              </a:spcBef>
              <a:spcAft>
                <a:spcPts val="0"/>
              </a:spcAft>
              <a:buFont typeface="Wingdings" panose="05000000000000000000" pitchFamily="2" charset="2"/>
              <a:buChar char="§"/>
            </a:pPr>
            <a:r>
              <a:rPr lang="en-US" sz="1800" dirty="0">
                <a:solidFill>
                  <a:srgbClr val="C00000"/>
                </a:solidFill>
                <a:effectLst/>
                <a:latin typeface="Bricolage Grotesque Semi Bold" panose="020B0604020202020204" charset="0"/>
                <a:ea typeface="Times New Roman" panose="02020603050405020304" pitchFamily="18" charset="0"/>
                <a:cs typeface="Times New Roman" panose="02020603050405020304" pitchFamily="18" charset="0"/>
              </a:rPr>
              <a:t>Novel Modeling Approach: </a:t>
            </a:r>
            <a:r>
              <a:rPr lang="en-US" sz="1800" dirty="0">
                <a:solidFill>
                  <a:srgbClr val="0070C0"/>
                </a:solidFill>
                <a:effectLst/>
                <a:latin typeface="Bricolage Grotesque Semi Bold" panose="020B0604020202020204" charset="0"/>
                <a:ea typeface="Times New Roman" panose="02020603050405020304" pitchFamily="18" charset="0"/>
                <a:cs typeface="Times New Roman" panose="02020603050405020304" pitchFamily="18" charset="0"/>
              </a:rPr>
              <a:t>This study develops a new five-compartment model (A, E, H, B, G) tailored specifically for simulating the dynamics of algae-based SAF production systems.</a:t>
            </a:r>
          </a:p>
          <a:p>
            <a:pPr marL="0" indent="0" algn="l">
              <a:lnSpc>
                <a:spcPts val="2850"/>
              </a:lnSpc>
              <a:buNone/>
            </a:pPr>
            <a:endParaRPr lang="en-US" sz="1750" dirty="0"/>
          </a:p>
        </p:txBody>
      </p:sp>
      <p:sp>
        <p:nvSpPr>
          <p:cNvPr id="5" name="Rectangle: Rounded Corners 4">
            <a:extLst>
              <a:ext uri="{FF2B5EF4-FFF2-40B4-BE49-F238E27FC236}">
                <a16:creationId xmlns:a16="http://schemas.microsoft.com/office/drawing/2014/main" id="{62C6ADF2-1C97-14AB-3B61-C9503FA4C0B6}"/>
              </a:ext>
            </a:extLst>
          </p:cNvPr>
          <p:cNvSpPr/>
          <p:nvPr/>
        </p:nvSpPr>
        <p:spPr>
          <a:xfrm>
            <a:off x="2260120" y="2999890"/>
            <a:ext cx="11559893" cy="923683"/>
          </a:xfrm>
          <a:prstGeom prst="round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marL="285750" marR="0" indent="-285750" algn="just">
              <a:lnSpc>
                <a:spcPct val="150000"/>
              </a:lnSpc>
              <a:spcBef>
                <a:spcPts val="0"/>
              </a:spcBef>
              <a:spcAft>
                <a:spcPts val="0"/>
              </a:spcAft>
              <a:buFont typeface="Wingdings" panose="05000000000000000000" pitchFamily="2" charset="2"/>
              <a:buChar char="§"/>
            </a:pPr>
            <a:r>
              <a:rPr lang="en-US" sz="1800" dirty="0">
                <a:solidFill>
                  <a:srgbClr val="C00000"/>
                </a:solidFill>
                <a:effectLst/>
                <a:latin typeface="Bricolage Grotesque Semi Bold" panose="020B0604020202020204" charset="0"/>
                <a:ea typeface="Times New Roman" panose="02020603050405020304" pitchFamily="18" charset="0"/>
                <a:cs typeface="Times New Roman" panose="02020603050405020304" pitchFamily="18" charset="0"/>
              </a:rPr>
              <a:t>High Potential of Microalgae: </a:t>
            </a:r>
            <a:r>
              <a:rPr lang="en-US" sz="1800" dirty="0">
                <a:solidFill>
                  <a:srgbClr val="0070C0"/>
                </a:solidFill>
                <a:effectLst/>
                <a:latin typeface="Bricolage Grotesque Semi Bold" panose="020B0604020202020204" charset="0"/>
                <a:ea typeface="Times New Roman" panose="02020603050405020304" pitchFamily="18" charset="0"/>
                <a:cs typeface="Times New Roman" panose="02020603050405020304" pitchFamily="18" charset="0"/>
              </a:rPr>
              <a:t>Microalgae are a highly efficient oil source, capable of yielding 10-20 times more oil per unit area than land-based crops, with some strains exceeding 50% lipid content.</a:t>
            </a:r>
          </a:p>
        </p:txBody>
      </p:sp>
      <p:sp>
        <p:nvSpPr>
          <p:cNvPr id="11" name="Rectangle: Rounded Corners 10">
            <a:extLst>
              <a:ext uri="{FF2B5EF4-FFF2-40B4-BE49-F238E27FC236}">
                <a16:creationId xmlns:a16="http://schemas.microsoft.com/office/drawing/2014/main" id="{737BF2A9-F68E-DB02-08D8-F56D3F96F2FD}"/>
              </a:ext>
            </a:extLst>
          </p:cNvPr>
          <p:cNvSpPr/>
          <p:nvPr/>
        </p:nvSpPr>
        <p:spPr>
          <a:xfrm>
            <a:off x="1242541" y="3914550"/>
            <a:ext cx="12594566" cy="832926"/>
          </a:xfrm>
          <a:prstGeom prst="round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marL="285750" marR="0" indent="-285750" algn="just">
              <a:lnSpc>
                <a:spcPct val="150000"/>
              </a:lnSpc>
              <a:spcBef>
                <a:spcPts val="0"/>
              </a:spcBef>
              <a:spcAft>
                <a:spcPts val="0"/>
              </a:spcAft>
              <a:buFont typeface="Wingdings" panose="05000000000000000000" pitchFamily="2" charset="2"/>
              <a:buChar char="§"/>
            </a:pPr>
            <a:r>
              <a:rPr lang="en-US" sz="1800" dirty="0">
                <a:solidFill>
                  <a:srgbClr val="C00000"/>
                </a:solidFill>
                <a:effectLst/>
                <a:latin typeface="Bricolage Grotesque Semi Bold" panose="020B0604020202020204" charset="0"/>
                <a:ea typeface="Times New Roman" panose="02020603050405020304" pitchFamily="18" charset="0"/>
                <a:cs typeface="Times New Roman" panose="02020603050405020304" pitchFamily="18" charset="0"/>
              </a:rPr>
              <a:t>Addressing a Research Gap: </a:t>
            </a:r>
            <a:r>
              <a:rPr lang="en-US" sz="1800" dirty="0">
                <a:solidFill>
                  <a:srgbClr val="0070C0"/>
                </a:solidFill>
                <a:effectLst/>
                <a:latin typeface="Bricolage Grotesque Semi Bold" panose="020B0604020202020204" charset="0"/>
                <a:ea typeface="Times New Roman" panose="02020603050405020304" pitchFamily="18" charset="0"/>
                <a:cs typeface="Times New Roman" panose="02020603050405020304" pitchFamily="18" charset="0"/>
              </a:rPr>
              <a:t>While compartmental and SIR models have been used for algae growth, their application to Sustainable Aviation Fuel (SAF) production under tropical conditions remains unexplored.</a:t>
            </a:r>
          </a:p>
        </p:txBody>
      </p:sp>
      <p:sp>
        <p:nvSpPr>
          <p:cNvPr id="12" name="Rectangle: Rounded Corners 11">
            <a:extLst>
              <a:ext uri="{FF2B5EF4-FFF2-40B4-BE49-F238E27FC236}">
                <a16:creationId xmlns:a16="http://schemas.microsoft.com/office/drawing/2014/main" id="{85B537DF-8FCC-F955-6D0A-53AFFEB06E32}"/>
              </a:ext>
            </a:extLst>
          </p:cNvPr>
          <p:cNvSpPr/>
          <p:nvPr/>
        </p:nvSpPr>
        <p:spPr>
          <a:xfrm>
            <a:off x="1242541" y="4708986"/>
            <a:ext cx="12646484" cy="923683"/>
          </a:xfrm>
          <a:prstGeom prst="round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marL="285750" marR="0" indent="-285750" algn="just">
              <a:lnSpc>
                <a:spcPct val="150000"/>
              </a:lnSpc>
              <a:spcBef>
                <a:spcPts val="0"/>
              </a:spcBef>
              <a:spcAft>
                <a:spcPts val="0"/>
              </a:spcAft>
              <a:buFont typeface="Wingdings" panose="05000000000000000000" pitchFamily="2" charset="2"/>
              <a:buChar char="§"/>
            </a:pPr>
            <a:r>
              <a:rPr lang="en-US" sz="1800" dirty="0">
                <a:solidFill>
                  <a:srgbClr val="C00000"/>
                </a:solidFill>
                <a:effectLst/>
                <a:latin typeface="Bricolage Grotesque Semi Bold" panose="020B0604020202020204" charset="0"/>
                <a:ea typeface="Times New Roman" panose="02020603050405020304" pitchFamily="18" charset="0"/>
                <a:cs typeface="Times New Roman" panose="02020603050405020304" pitchFamily="18" charset="0"/>
              </a:rPr>
              <a:t>·Focus on Nigeria: </a:t>
            </a:r>
            <a:r>
              <a:rPr lang="en-US" sz="1800" dirty="0">
                <a:solidFill>
                  <a:srgbClr val="0070C0"/>
                </a:solidFill>
                <a:effectLst/>
                <a:latin typeface="Bricolage Grotesque Semi Bold" panose="020B0604020202020204" charset="0"/>
                <a:ea typeface="Times New Roman" panose="02020603050405020304" pitchFamily="18" charset="0"/>
                <a:cs typeface="Times New Roman" panose="02020603050405020304" pitchFamily="18" charset="0"/>
              </a:rPr>
              <a:t>Nigeria's SAF industry is in early stages, but it is identified as a strategic component for the country's energy transition, creating a need for localized research.</a:t>
            </a:r>
          </a:p>
        </p:txBody>
      </p:sp>
      <p:sp>
        <p:nvSpPr>
          <p:cNvPr id="13" name="Rectangle: Rounded Corners 12">
            <a:extLst>
              <a:ext uri="{FF2B5EF4-FFF2-40B4-BE49-F238E27FC236}">
                <a16:creationId xmlns:a16="http://schemas.microsoft.com/office/drawing/2014/main" id="{C55B67E0-047D-6858-4F47-7800976ECAB4}"/>
              </a:ext>
            </a:extLst>
          </p:cNvPr>
          <p:cNvSpPr/>
          <p:nvPr/>
        </p:nvSpPr>
        <p:spPr>
          <a:xfrm>
            <a:off x="2363638" y="2121422"/>
            <a:ext cx="8660920" cy="675998"/>
          </a:xfrm>
          <a:prstGeom prst="round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marL="342900" indent="-342900" algn="ctr">
              <a:buFont typeface="Wingdings" panose="05000000000000000000" pitchFamily="2" charset="2"/>
              <a:buChar char="q"/>
            </a:pPr>
            <a:r>
              <a:rPr lang="en-US" sz="2000" b="1" dirty="0">
                <a:solidFill>
                  <a:schemeClr val="accent4">
                    <a:lumMod val="50000"/>
                  </a:schemeClr>
                </a:solidFill>
                <a:latin typeface="Bricolage Grotesque Semi Bold" panose="020B0604020202020204" charset="0"/>
              </a:rPr>
              <a:t>Sustainable Aviation Fuel, SAF From Microalgae the Promise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6049045" y="63862"/>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2C2926"/>
                </a:solidFill>
                <a:latin typeface="Bricolage Grotesque Semi Bold" pitchFamily="34" charset="0"/>
                <a:ea typeface="Bricolage Grotesque Semi Bold" pitchFamily="34" charset="-122"/>
                <a:cs typeface="Bricolage Grotesque Semi Bold" pitchFamily="34" charset="-120"/>
              </a:rPr>
              <a:t>Model Formulations</a:t>
            </a:r>
            <a:endParaRPr lang="en-US" sz="4450" dirty="0"/>
          </a:p>
        </p:txBody>
      </p:sp>
      <p:sp>
        <p:nvSpPr>
          <p:cNvPr id="44" name="Rectangle 37">
            <a:extLst>
              <a:ext uri="{FF2B5EF4-FFF2-40B4-BE49-F238E27FC236}">
                <a16:creationId xmlns:a16="http://schemas.microsoft.com/office/drawing/2014/main" id="{41429CDB-3B82-C1BB-4FF9-DC3FF11D0777}"/>
              </a:ext>
            </a:extLst>
          </p:cNvPr>
          <p:cNvSpPr>
            <a:spLocks noChangeArrowheads="1"/>
          </p:cNvSpPr>
          <p:nvPr/>
        </p:nvSpPr>
        <p:spPr bwMode="auto">
          <a:xfrm>
            <a:off x="152400" y="152400"/>
            <a:ext cx="14630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79160" tIns="1218816" rIns="358662" bIns="6474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000" b="1"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br>
            <a:endParaRPr kumimoji="0" lang="en-US" altLang="en-US" sz="13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5" name="Rectangle 47">
            <a:extLst>
              <a:ext uri="{FF2B5EF4-FFF2-40B4-BE49-F238E27FC236}">
                <a16:creationId xmlns:a16="http://schemas.microsoft.com/office/drawing/2014/main" id="{6867BFF2-DB45-CE5D-7005-4BF00DF1A7AB}"/>
              </a:ext>
            </a:extLst>
          </p:cNvPr>
          <p:cNvSpPr>
            <a:spLocks noChangeArrowheads="1"/>
          </p:cNvSpPr>
          <p:nvPr/>
        </p:nvSpPr>
        <p:spPr bwMode="auto">
          <a:xfrm>
            <a:off x="9471602" y="335166"/>
            <a:ext cx="1749197" cy="27853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1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br>
            <a:endParaRPr kumimoji="0" lang="en-US" altLang="en-US" sz="13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1"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200" i="1" dirty="0">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1"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200" i="1" dirty="0">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1"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1"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αE</a:t>
            </a:r>
            <a:r>
              <a:rPr kumimoji="0" lang="en-US" altLang="en-US" sz="12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t>
            </a:r>
            <a:r>
              <a:rPr kumimoji="0" lang="en-US" altLang="en-US" sz="1200" b="0" i="1"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a:t>
            </a:r>
            <a:r>
              <a:rPr kumimoji="0" lang="en-US" altLang="en-US" sz="12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t>
            </a:r>
            <a:endParaRPr kumimoji="0" lang="en-US" altLang="en-US" sz="11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1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br>
            <a:endParaRPr kumimoji="0" lang="en-US" altLang="en-US" sz="13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1"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sz="1200" b="0" i="1"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ηH</a:t>
            </a:r>
            <a:r>
              <a:rPr kumimoji="0" lang="en-US" altLang="en-US" sz="12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t>
            </a:r>
            <a:r>
              <a:rPr kumimoji="0" lang="en-US" altLang="en-US" sz="1200" b="0" i="1"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a:t>
            </a:r>
            <a:r>
              <a:rPr kumimoji="0" lang="en-US" altLang="en-US" sz="12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2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br>
            <a:endParaRPr kumimoji="0" lang="en-US" altLang="en-US" sz="13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pSp>
        <p:nvGrpSpPr>
          <p:cNvPr id="50" name="Group 49">
            <a:extLst>
              <a:ext uri="{FF2B5EF4-FFF2-40B4-BE49-F238E27FC236}">
                <a16:creationId xmlns:a16="http://schemas.microsoft.com/office/drawing/2014/main" id="{C5EF8F07-6DE8-B9E1-C22E-D0104F8E7795}"/>
              </a:ext>
            </a:extLst>
          </p:cNvPr>
          <p:cNvGrpSpPr/>
          <p:nvPr/>
        </p:nvGrpSpPr>
        <p:grpSpPr>
          <a:xfrm>
            <a:off x="6458758" y="1524200"/>
            <a:ext cx="6663354" cy="2278429"/>
            <a:chOff x="7157421" y="2419183"/>
            <a:chExt cx="6663354" cy="2518654"/>
          </a:xfrm>
        </p:grpSpPr>
        <p:grpSp>
          <p:nvGrpSpPr>
            <p:cNvPr id="8" name="Group 7">
              <a:extLst>
                <a:ext uri="{FF2B5EF4-FFF2-40B4-BE49-F238E27FC236}">
                  <a16:creationId xmlns:a16="http://schemas.microsoft.com/office/drawing/2014/main" id="{EE88FAC4-2834-4AAB-0800-12438C61C69C}"/>
                </a:ext>
              </a:extLst>
            </p:cNvPr>
            <p:cNvGrpSpPr>
              <a:grpSpLocks/>
            </p:cNvGrpSpPr>
            <p:nvPr/>
          </p:nvGrpSpPr>
          <p:grpSpPr>
            <a:xfrm>
              <a:off x="7157421" y="2759553"/>
              <a:ext cx="4866005" cy="1667510"/>
              <a:chOff x="0" y="0"/>
              <a:chExt cx="4866005" cy="1667510"/>
            </a:xfrm>
          </p:grpSpPr>
          <p:sp>
            <p:nvSpPr>
              <p:cNvPr id="9" name="Graphic 12">
                <a:extLst>
                  <a:ext uri="{FF2B5EF4-FFF2-40B4-BE49-F238E27FC236}">
                    <a16:creationId xmlns:a16="http://schemas.microsoft.com/office/drawing/2014/main" id="{B867E5E6-29E4-1AF1-111A-CF0170D2113A}"/>
                  </a:ext>
                </a:extLst>
              </p:cNvPr>
              <p:cNvSpPr/>
              <p:nvPr/>
            </p:nvSpPr>
            <p:spPr>
              <a:xfrm>
                <a:off x="542537" y="1267606"/>
                <a:ext cx="720090" cy="360045"/>
              </a:xfrm>
              <a:custGeom>
                <a:avLst/>
                <a:gdLst/>
                <a:ahLst/>
                <a:cxnLst/>
                <a:rect l="l" t="t" r="r" b="b"/>
                <a:pathLst>
                  <a:path w="720090" h="360045">
                    <a:moveTo>
                      <a:pt x="0" y="360004"/>
                    </a:moveTo>
                    <a:lnTo>
                      <a:pt x="720008" y="360004"/>
                    </a:lnTo>
                    <a:lnTo>
                      <a:pt x="720008" y="0"/>
                    </a:lnTo>
                    <a:lnTo>
                      <a:pt x="0" y="0"/>
                    </a:lnTo>
                    <a:lnTo>
                      <a:pt x="0" y="360004"/>
                    </a:lnTo>
                    <a:close/>
                  </a:path>
                </a:pathLst>
              </a:custGeom>
              <a:ln w="5060">
                <a:solidFill>
                  <a:srgbClr val="000000"/>
                </a:solidFill>
                <a:prstDash val="solid"/>
              </a:ln>
            </p:spPr>
            <p:txBody>
              <a:bodyPr wrap="square" lIns="0" tIns="0" rIns="0" bIns="0" rtlCol="0">
                <a:prstTxWarp prst="textNoShape">
                  <a:avLst/>
                </a:prstTxWarp>
                <a:noAutofit/>
              </a:bodyPr>
              <a:lstStyle/>
              <a:p>
                <a:endParaRPr lang="en-US"/>
              </a:p>
            </p:txBody>
          </p:sp>
          <p:pic>
            <p:nvPicPr>
              <p:cNvPr id="10" name="Image 13">
                <a:extLst>
                  <a:ext uri="{FF2B5EF4-FFF2-40B4-BE49-F238E27FC236}">
                    <a16:creationId xmlns:a16="http://schemas.microsoft.com/office/drawing/2014/main" id="{E5DC54E7-BFE3-E357-6784-D5C77A7D47CE}"/>
                  </a:ext>
                </a:extLst>
              </p:cNvPr>
              <p:cNvPicPr/>
              <p:nvPr/>
            </p:nvPicPr>
            <p:blipFill>
              <a:blip r:embed="rId3" cstate="print"/>
              <a:stretch>
                <a:fillRect/>
              </a:stretch>
            </p:blipFill>
            <p:spPr>
              <a:xfrm>
                <a:off x="861876" y="0"/>
                <a:ext cx="81330" cy="170649"/>
              </a:xfrm>
              <a:prstGeom prst="rect">
                <a:avLst/>
              </a:prstGeom>
            </p:spPr>
          </p:pic>
          <p:sp>
            <p:nvSpPr>
              <p:cNvPr id="11" name="Graphic 14">
                <a:extLst>
                  <a:ext uri="{FF2B5EF4-FFF2-40B4-BE49-F238E27FC236}">
                    <a16:creationId xmlns:a16="http://schemas.microsoft.com/office/drawing/2014/main" id="{32F9F700-579A-2D21-6A45-3AB2F96366CB}"/>
                  </a:ext>
                </a:extLst>
              </p:cNvPr>
              <p:cNvSpPr/>
              <p:nvPr/>
            </p:nvSpPr>
            <p:spPr>
              <a:xfrm>
                <a:off x="1265076" y="362534"/>
                <a:ext cx="640080" cy="1270"/>
              </a:xfrm>
              <a:custGeom>
                <a:avLst/>
                <a:gdLst/>
                <a:ahLst/>
                <a:cxnLst/>
                <a:rect l="l" t="t" r="r" b="b"/>
                <a:pathLst>
                  <a:path w="640080">
                    <a:moveTo>
                      <a:pt x="0" y="0"/>
                    </a:moveTo>
                    <a:lnTo>
                      <a:pt x="639623" y="0"/>
                    </a:lnTo>
                  </a:path>
                </a:pathLst>
              </a:custGeom>
              <a:ln w="10122">
                <a:solidFill>
                  <a:srgbClr val="000000"/>
                </a:solidFill>
                <a:prstDash val="solid"/>
              </a:ln>
            </p:spPr>
            <p:txBody>
              <a:bodyPr wrap="square" lIns="0" tIns="0" rIns="0" bIns="0" rtlCol="0">
                <a:prstTxWarp prst="textNoShape">
                  <a:avLst/>
                </a:prstTxWarp>
                <a:noAutofit/>
              </a:bodyPr>
              <a:lstStyle/>
              <a:p>
                <a:endParaRPr lang="en-US"/>
              </a:p>
            </p:txBody>
          </p:sp>
          <p:pic>
            <p:nvPicPr>
              <p:cNvPr id="12" name="Image 15">
                <a:extLst>
                  <a:ext uri="{FF2B5EF4-FFF2-40B4-BE49-F238E27FC236}">
                    <a16:creationId xmlns:a16="http://schemas.microsoft.com/office/drawing/2014/main" id="{945609B2-59D2-271B-3F96-BEA4A26ACE7A}"/>
                  </a:ext>
                </a:extLst>
              </p:cNvPr>
              <p:cNvPicPr/>
              <p:nvPr/>
            </p:nvPicPr>
            <p:blipFill>
              <a:blip r:embed="rId4" cstate="print"/>
              <a:stretch>
                <a:fillRect/>
              </a:stretch>
            </p:blipFill>
            <p:spPr>
              <a:xfrm>
                <a:off x="1871107" y="321869"/>
                <a:ext cx="104625" cy="81330"/>
              </a:xfrm>
              <a:prstGeom prst="rect">
                <a:avLst/>
              </a:prstGeom>
            </p:spPr>
          </p:pic>
          <p:sp>
            <p:nvSpPr>
              <p:cNvPr id="13" name="Graphic 16">
                <a:extLst>
                  <a:ext uri="{FF2B5EF4-FFF2-40B4-BE49-F238E27FC236}">
                    <a16:creationId xmlns:a16="http://schemas.microsoft.com/office/drawing/2014/main" id="{ACDDAD2A-D646-68B3-DEB2-F2BAF94168B5}"/>
                  </a:ext>
                </a:extLst>
              </p:cNvPr>
              <p:cNvSpPr/>
              <p:nvPr/>
            </p:nvSpPr>
            <p:spPr>
              <a:xfrm>
                <a:off x="2710155" y="362534"/>
                <a:ext cx="640080" cy="1270"/>
              </a:xfrm>
              <a:custGeom>
                <a:avLst/>
                <a:gdLst/>
                <a:ahLst/>
                <a:cxnLst/>
                <a:rect l="l" t="t" r="r" b="b"/>
                <a:pathLst>
                  <a:path w="640080">
                    <a:moveTo>
                      <a:pt x="0" y="0"/>
                    </a:moveTo>
                    <a:lnTo>
                      <a:pt x="639623" y="0"/>
                    </a:lnTo>
                  </a:path>
                </a:pathLst>
              </a:custGeom>
              <a:ln w="10122">
                <a:solidFill>
                  <a:srgbClr val="000000"/>
                </a:solidFill>
                <a:prstDash val="solid"/>
              </a:ln>
            </p:spPr>
            <p:txBody>
              <a:bodyPr wrap="square" lIns="0" tIns="0" rIns="0" bIns="0" rtlCol="0">
                <a:prstTxWarp prst="textNoShape">
                  <a:avLst/>
                </a:prstTxWarp>
                <a:noAutofit/>
              </a:bodyPr>
              <a:lstStyle/>
              <a:p>
                <a:endParaRPr lang="en-US"/>
              </a:p>
            </p:txBody>
          </p:sp>
          <p:pic>
            <p:nvPicPr>
              <p:cNvPr id="14" name="Image 17">
                <a:extLst>
                  <a:ext uri="{FF2B5EF4-FFF2-40B4-BE49-F238E27FC236}">
                    <a16:creationId xmlns:a16="http://schemas.microsoft.com/office/drawing/2014/main" id="{099EE2D1-3617-CD37-7120-BA32446CE823}"/>
                  </a:ext>
                </a:extLst>
              </p:cNvPr>
              <p:cNvPicPr/>
              <p:nvPr/>
            </p:nvPicPr>
            <p:blipFill>
              <a:blip r:embed="rId4" cstate="print"/>
              <a:stretch>
                <a:fillRect/>
              </a:stretch>
            </p:blipFill>
            <p:spPr>
              <a:xfrm>
                <a:off x="3316186" y="321869"/>
                <a:ext cx="104625" cy="81330"/>
              </a:xfrm>
              <a:prstGeom prst="rect">
                <a:avLst/>
              </a:prstGeom>
            </p:spPr>
          </p:pic>
          <p:sp>
            <p:nvSpPr>
              <p:cNvPr id="15" name="Graphic 18">
                <a:extLst>
                  <a:ext uri="{FF2B5EF4-FFF2-40B4-BE49-F238E27FC236}">
                    <a16:creationId xmlns:a16="http://schemas.microsoft.com/office/drawing/2014/main" id="{6C9CCBDA-83D1-38B0-3571-8FF120322F4F}"/>
                  </a:ext>
                </a:extLst>
              </p:cNvPr>
              <p:cNvSpPr/>
              <p:nvPr/>
            </p:nvSpPr>
            <p:spPr>
              <a:xfrm>
                <a:off x="4155234" y="362534"/>
                <a:ext cx="640080" cy="1270"/>
              </a:xfrm>
              <a:custGeom>
                <a:avLst/>
                <a:gdLst/>
                <a:ahLst/>
                <a:cxnLst/>
                <a:rect l="l" t="t" r="r" b="b"/>
                <a:pathLst>
                  <a:path w="640080">
                    <a:moveTo>
                      <a:pt x="0" y="0"/>
                    </a:moveTo>
                    <a:lnTo>
                      <a:pt x="639623" y="0"/>
                    </a:lnTo>
                  </a:path>
                </a:pathLst>
              </a:custGeom>
              <a:ln w="10122">
                <a:solidFill>
                  <a:srgbClr val="000000"/>
                </a:solidFill>
                <a:prstDash val="solid"/>
              </a:ln>
            </p:spPr>
            <p:txBody>
              <a:bodyPr wrap="square" lIns="0" tIns="0" rIns="0" bIns="0" rtlCol="0">
                <a:prstTxWarp prst="textNoShape">
                  <a:avLst/>
                </a:prstTxWarp>
                <a:noAutofit/>
              </a:bodyPr>
              <a:lstStyle/>
              <a:p>
                <a:endParaRPr lang="en-US"/>
              </a:p>
            </p:txBody>
          </p:sp>
          <p:pic>
            <p:nvPicPr>
              <p:cNvPr id="16" name="Image 19">
                <a:extLst>
                  <a:ext uri="{FF2B5EF4-FFF2-40B4-BE49-F238E27FC236}">
                    <a16:creationId xmlns:a16="http://schemas.microsoft.com/office/drawing/2014/main" id="{CD418C6D-B45C-3FD8-D07A-07BEC871FB5A}"/>
                  </a:ext>
                </a:extLst>
              </p:cNvPr>
              <p:cNvPicPr/>
              <p:nvPr/>
            </p:nvPicPr>
            <p:blipFill>
              <a:blip r:embed="rId4" cstate="print"/>
              <a:stretch>
                <a:fillRect/>
              </a:stretch>
            </p:blipFill>
            <p:spPr>
              <a:xfrm>
                <a:off x="4761265" y="321869"/>
                <a:ext cx="104625" cy="81330"/>
              </a:xfrm>
              <a:prstGeom prst="rect">
                <a:avLst/>
              </a:prstGeom>
            </p:spPr>
          </p:pic>
          <p:sp>
            <p:nvSpPr>
              <p:cNvPr id="17" name="Graphic 20">
                <a:extLst>
                  <a:ext uri="{FF2B5EF4-FFF2-40B4-BE49-F238E27FC236}">
                    <a16:creationId xmlns:a16="http://schemas.microsoft.com/office/drawing/2014/main" id="{EF7808E6-7BED-954E-B91B-C1BA0F7D0EEE}"/>
                  </a:ext>
                </a:extLst>
              </p:cNvPr>
              <p:cNvSpPr/>
              <p:nvPr/>
            </p:nvSpPr>
            <p:spPr>
              <a:xfrm>
                <a:off x="1265076" y="362534"/>
                <a:ext cx="1270" cy="280035"/>
              </a:xfrm>
              <a:custGeom>
                <a:avLst/>
                <a:gdLst/>
                <a:ahLst/>
                <a:cxnLst/>
                <a:rect l="l" t="t" r="r" b="b"/>
                <a:pathLst>
                  <a:path h="280035">
                    <a:moveTo>
                      <a:pt x="0" y="0"/>
                    </a:moveTo>
                    <a:lnTo>
                      <a:pt x="0" y="279618"/>
                    </a:lnTo>
                  </a:path>
                </a:pathLst>
              </a:custGeom>
              <a:ln w="10122">
                <a:solidFill>
                  <a:srgbClr val="000000"/>
                </a:solidFill>
                <a:prstDash val="solid"/>
              </a:ln>
            </p:spPr>
            <p:txBody>
              <a:bodyPr wrap="square" lIns="0" tIns="0" rIns="0" bIns="0" rtlCol="0">
                <a:prstTxWarp prst="textNoShape">
                  <a:avLst/>
                </a:prstTxWarp>
                <a:noAutofit/>
              </a:bodyPr>
              <a:lstStyle/>
              <a:p>
                <a:endParaRPr lang="en-US"/>
              </a:p>
            </p:txBody>
          </p:sp>
          <p:pic>
            <p:nvPicPr>
              <p:cNvPr id="18" name="Image 21">
                <a:extLst>
                  <a:ext uri="{FF2B5EF4-FFF2-40B4-BE49-F238E27FC236}">
                    <a16:creationId xmlns:a16="http://schemas.microsoft.com/office/drawing/2014/main" id="{DAAC95AF-77F8-D2E0-6E4E-943DF6704732}"/>
                  </a:ext>
                </a:extLst>
              </p:cNvPr>
              <p:cNvPicPr/>
              <p:nvPr/>
            </p:nvPicPr>
            <p:blipFill>
              <a:blip r:embed="rId5" cstate="print"/>
              <a:stretch>
                <a:fillRect/>
              </a:stretch>
            </p:blipFill>
            <p:spPr>
              <a:xfrm>
                <a:off x="1224411" y="608560"/>
                <a:ext cx="81330" cy="104625"/>
              </a:xfrm>
              <a:prstGeom prst="rect">
                <a:avLst/>
              </a:prstGeom>
            </p:spPr>
          </p:pic>
          <p:sp>
            <p:nvSpPr>
              <p:cNvPr id="19" name="Graphic 22">
                <a:extLst>
                  <a:ext uri="{FF2B5EF4-FFF2-40B4-BE49-F238E27FC236}">
                    <a16:creationId xmlns:a16="http://schemas.microsoft.com/office/drawing/2014/main" id="{F6C90741-24DD-8DCE-6EBC-02DE3DCF5322}"/>
                  </a:ext>
                </a:extLst>
              </p:cNvPr>
              <p:cNvSpPr/>
              <p:nvPr/>
            </p:nvSpPr>
            <p:spPr>
              <a:xfrm>
                <a:off x="2347620" y="545067"/>
                <a:ext cx="1270" cy="280035"/>
              </a:xfrm>
              <a:custGeom>
                <a:avLst/>
                <a:gdLst/>
                <a:ahLst/>
                <a:cxnLst/>
                <a:rect l="l" t="t" r="r" b="b"/>
                <a:pathLst>
                  <a:path h="280035">
                    <a:moveTo>
                      <a:pt x="0" y="0"/>
                    </a:moveTo>
                    <a:lnTo>
                      <a:pt x="0" y="279618"/>
                    </a:lnTo>
                  </a:path>
                </a:pathLst>
              </a:custGeom>
              <a:ln w="10122">
                <a:solidFill>
                  <a:srgbClr val="000000"/>
                </a:solidFill>
                <a:prstDash val="solid"/>
              </a:ln>
            </p:spPr>
            <p:txBody>
              <a:bodyPr wrap="square" lIns="0" tIns="0" rIns="0" bIns="0" rtlCol="0">
                <a:prstTxWarp prst="textNoShape">
                  <a:avLst/>
                </a:prstTxWarp>
                <a:noAutofit/>
              </a:bodyPr>
              <a:lstStyle/>
              <a:p>
                <a:endParaRPr lang="en-US"/>
              </a:p>
            </p:txBody>
          </p:sp>
          <p:pic>
            <p:nvPicPr>
              <p:cNvPr id="20" name="Image 23">
                <a:extLst>
                  <a:ext uri="{FF2B5EF4-FFF2-40B4-BE49-F238E27FC236}">
                    <a16:creationId xmlns:a16="http://schemas.microsoft.com/office/drawing/2014/main" id="{D2B9BC4B-1F50-E3A1-1CBE-310090DAAE05}"/>
                  </a:ext>
                </a:extLst>
              </p:cNvPr>
              <p:cNvPicPr/>
              <p:nvPr/>
            </p:nvPicPr>
            <p:blipFill>
              <a:blip r:embed="rId6" cstate="print"/>
              <a:stretch>
                <a:fillRect/>
              </a:stretch>
            </p:blipFill>
            <p:spPr>
              <a:xfrm>
                <a:off x="2306955" y="791093"/>
                <a:ext cx="81330" cy="104625"/>
              </a:xfrm>
              <a:prstGeom prst="rect">
                <a:avLst/>
              </a:prstGeom>
            </p:spPr>
          </p:pic>
          <p:sp>
            <p:nvSpPr>
              <p:cNvPr id="21" name="Graphic 24">
                <a:extLst>
                  <a:ext uri="{FF2B5EF4-FFF2-40B4-BE49-F238E27FC236}">
                    <a16:creationId xmlns:a16="http://schemas.microsoft.com/office/drawing/2014/main" id="{5E778AE5-1654-0127-8AAA-1A69CA4F8B2D}"/>
                  </a:ext>
                </a:extLst>
              </p:cNvPr>
              <p:cNvSpPr/>
              <p:nvPr/>
            </p:nvSpPr>
            <p:spPr>
              <a:xfrm>
                <a:off x="3792699" y="545067"/>
                <a:ext cx="1270" cy="280035"/>
              </a:xfrm>
              <a:custGeom>
                <a:avLst/>
                <a:gdLst/>
                <a:ahLst/>
                <a:cxnLst/>
                <a:rect l="l" t="t" r="r" b="b"/>
                <a:pathLst>
                  <a:path h="280035">
                    <a:moveTo>
                      <a:pt x="0" y="0"/>
                    </a:moveTo>
                    <a:lnTo>
                      <a:pt x="0" y="279618"/>
                    </a:lnTo>
                  </a:path>
                </a:pathLst>
              </a:custGeom>
              <a:ln w="10122">
                <a:solidFill>
                  <a:srgbClr val="000000"/>
                </a:solidFill>
                <a:prstDash val="solid"/>
              </a:ln>
            </p:spPr>
            <p:txBody>
              <a:bodyPr wrap="square" lIns="0" tIns="0" rIns="0" bIns="0" rtlCol="0">
                <a:prstTxWarp prst="textNoShape">
                  <a:avLst/>
                </a:prstTxWarp>
                <a:noAutofit/>
              </a:bodyPr>
              <a:lstStyle/>
              <a:p>
                <a:endParaRPr lang="en-US"/>
              </a:p>
            </p:txBody>
          </p:sp>
          <p:pic>
            <p:nvPicPr>
              <p:cNvPr id="22" name="Image 25">
                <a:extLst>
                  <a:ext uri="{FF2B5EF4-FFF2-40B4-BE49-F238E27FC236}">
                    <a16:creationId xmlns:a16="http://schemas.microsoft.com/office/drawing/2014/main" id="{83F71486-6393-4E35-CA85-C08A49C58EB7}"/>
                  </a:ext>
                </a:extLst>
              </p:cNvPr>
              <p:cNvPicPr/>
              <p:nvPr/>
            </p:nvPicPr>
            <p:blipFill>
              <a:blip r:embed="rId5" cstate="print"/>
              <a:stretch>
                <a:fillRect/>
              </a:stretch>
            </p:blipFill>
            <p:spPr>
              <a:xfrm>
                <a:off x="3752034" y="791093"/>
                <a:ext cx="81330" cy="104625"/>
              </a:xfrm>
              <a:prstGeom prst="rect">
                <a:avLst/>
              </a:prstGeom>
            </p:spPr>
          </p:pic>
          <p:sp>
            <p:nvSpPr>
              <p:cNvPr id="23" name="Graphic 26">
                <a:extLst>
                  <a:ext uri="{FF2B5EF4-FFF2-40B4-BE49-F238E27FC236}">
                    <a16:creationId xmlns:a16="http://schemas.microsoft.com/office/drawing/2014/main" id="{853B037F-C8DA-027D-D90B-4C67BDC5750A}"/>
                  </a:ext>
                </a:extLst>
              </p:cNvPr>
              <p:cNvSpPr/>
              <p:nvPr/>
            </p:nvSpPr>
            <p:spPr>
              <a:xfrm>
                <a:off x="902541" y="545067"/>
                <a:ext cx="2890520" cy="855980"/>
              </a:xfrm>
              <a:custGeom>
                <a:avLst/>
                <a:gdLst/>
                <a:ahLst/>
                <a:cxnLst/>
                <a:rect l="l" t="t" r="r" b="b"/>
                <a:pathLst>
                  <a:path w="2890520" h="855980">
                    <a:moveTo>
                      <a:pt x="2890158" y="0"/>
                    </a:moveTo>
                    <a:lnTo>
                      <a:pt x="2886736" y="66272"/>
                    </a:lnTo>
                    <a:lnTo>
                      <a:pt x="2876655" y="129844"/>
                    </a:lnTo>
                    <a:lnTo>
                      <a:pt x="2860193" y="190718"/>
                    </a:lnTo>
                    <a:lnTo>
                      <a:pt x="2837626" y="248900"/>
                    </a:lnTo>
                    <a:lnTo>
                      <a:pt x="2809233" y="304391"/>
                    </a:lnTo>
                    <a:lnTo>
                      <a:pt x="2775291" y="357197"/>
                    </a:lnTo>
                    <a:lnTo>
                      <a:pt x="2736078" y="407321"/>
                    </a:lnTo>
                    <a:lnTo>
                      <a:pt x="2691870" y="454767"/>
                    </a:lnTo>
                    <a:lnTo>
                      <a:pt x="2642945" y="499539"/>
                    </a:lnTo>
                    <a:lnTo>
                      <a:pt x="2589581" y="541640"/>
                    </a:lnTo>
                    <a:lnTo>
                      <a:pt x="2532056" y="581075"/>
                    </a:lnTo>
                    <a:lnTo>
                      <a:pt x="2470646" y="617848"/>
                    </a:lnTo>
                    <a:lnTo>
                      <a:pt x="2405629" y="651962"/>
                    </a:lnTo>
                    <a:lnTo>
                      <a:pt x="2337282" y="683421"/>
                    </a:lnTo>
                    <a:lnTo>
                      <a:pt x="2301947" y="698156"/>
                    </a:lnTo>
                    <a:lnTo>
                      <a:pt x="2265884" y="712229"/>
                    </a:lnTo>
                    <a:lnTo>
                      <a:pt x="2229127" y="725640"/>
                    </a:lnTo>
                    <a:lnTo>
                      <a:pt x="2191711" y="738390"/>
                    </a:lnTo>
                    <a:lnTo>
                      <a:pt x="2153670" y="750479"/>
                    </a:lnTo>
                    <a:lnTo>
                      <a:pt x="2115040" y="761908"/>
                    </a:lnTo>
                    <a:lnTo>
                      <a:pt x="2075856" y="772677"/>
                    </a:lnTo>
                    <a:lnTo>
                      <a:pt x="2036151" y="782786"/>
                    </a:lnTo>
                    <a:lnTo>
                      <a:pt x="1995960" y="792237"/>
                    </a:lnTo>
                    <a:lnTo>
                      <a:pt x="1955319" y="801029"/>
                    </a:lnTo>
                    <a:lnTo>
                      <a:pt x="1914261" y="809164"/>
                    </a:lnTo>
                    <a:lnTo>
                      <a:pt x="1872822" y="816640"/>
                    </a:lnTo>
                    <a:lnTo>
                      <a:pt x="1831036" y="823460"/>
                    </a:lnTo>
                    <a:lnTo>
                      <a:pt x="1788938" y="829624"/>
                    </a:lnTo>
                    <a:lnTo>
                      <a:pt x="1746563" y="835131"/>
                    </a:lnTo>
                    <a:lnTo>
                      <a:pt x="1703944" y="839983"/>
                    </a:lnTo>
                    <a:lnTo>
                      <a:pt x="1661118" y="844180"/>
                    </a:lnTo>
                    <a:lnTo>
                      <a:pt x="1618118" y="847723"/>
                    </a:lnTo>
                    <a:lnTo>
                      <a:pt x="1574980" y="850611"/>
                    </a:lnTo>
                    <a:lnTo>
                      <a:pt x="1531737" y="852846"/>
                    </a:lnTo>
                    <a:lnTo>
                      <a:pt x="1488425" y="854427"/>
                    </a:lnTo>
                    <a:lnTo>
                      <a:pt x="1445079" y="855356"/>
                    </a:lnTo>
                    <a:lnTo>
                      <a:pt x="1401732" y="855633"/>
                    </a:lnTo>
                    <a:lnTo>
                      <a:pt x="1358420" y="855259"/>
                    </a:lnTo>
                    <a:lnTo>
                      <a:pt x="1315178" y="854233"/>
                    </a:lnTo>
                    <a:lnTo>
                      <a:pt x="1272039" y="852556"/>
                    </a:lnTo>
                    <a:lnTo>
                      <a:pt x="1229039" y="850229"/>
                    </a:lnTo>
                    <a:lnTo>
                      <a:pt x="1186213" y="847253"/>
                    </a:lnTo>
                    <a:lnTo>
                      <a:pt x="1143595" y="843627"/>
                    </a:lnTo>
                    <a:lnTo>
                      <a:pt x="1101219" y="839352"/>
                    </a:lnTo>
                    <a:lnTo>
                      <a:pt x="1059121" y="834430"/>
                    </a:lnTo>
                    <a:lnTo>
                      <a:pt x="1017335" y="828859"/>
                    </a:lnTo>
                    <a:lnTo>
                      <a:pt x="975896" y="822641"/>
                    </a:lnTo>
                    <a:lnTo>
                      <a:pt x="934839" y="815777"/>
                    </a:lnTo>
                    <a:lnTo>
                      <a:pt x="894197" y="808266"/>
                    </a:lnTo>
                    <a:lnTo>
                      <a:pt x="854007" y="800109"/>
                    </a:lnTo>
                    <a:lnTo>
                      <a:pt x="814302" y="791306"/>
                    </a:lnTo>
                    <a:lnTo>
                      <a:pt x="775117" y="781859"/>
                    </a:lnTo>
                    <a:lnTo>
                      <a:pt x="736487" y="771768"/>
                    </a:lnTo>
                    <a:lnTo>
                      <a:pt x="698447" y="761032"/>
                    </a:lnTo>
                    <a:lnTo>
                      <a:pt x="661031" y="749653"/>
                    </a:lnTo>
                    <a:lnTo>
                      <a:pt x="624274" y="737631"/>
                    </a:lnTo>
                    <a:lnTo>
                      <a:pt x="588210" y="724967"/>
                    </a:lnTo>
                    <a:lnTo>
                      <a:pt x="518303" y="697712"/>
                    </a:lnTo>
                    <a:lnTo>
                      <a:pt x="451587" y="667894"/>
                    </a:lnTo>
                    <a:lnTo>
                      <a:pt x="388339" y="635515"/>
                    </a:lnTo>
                    <a:lnTo>
                      <a:pt x="328836" y="600580"/>
                    </a:lnTo>
                    <a:lnTo>
                      <a:pt x="273356" y="563092"/>
                    </a:lnTo>
                    <a:lnTo>
                      <a:pt x="222178" y="523055"/>
                    </a:lnTo>
                    <a:lnTo>
                      <a:pt x="175577" y="480474"/>
                    </a:lnTo>
                    <a:lnTo>
                      <a:pt x="133831" y="435352"/>
                    </a:lnTo>
                    <a:lnTo>
                      <a:pt x="97219" y="387692"/>
                    </a:lnTo>
                    <a:lnTo>
                      <a:pt x="66016" y="337499"/>
                    </a:lnTo>
                    <a:lnTo>
                      <a:pt x="40502" y="284777"/>
                    </a:lnTo>
                    <a:lnTo>
                      <a:pt x="20953" y="229529"/>
                    </a:lnTo>
                    <a:lnTo>
                      <a:pt x="7647" y="171760"/>
                    </a:lnTo>
                    <a:lnTo>
                      <a:pt x="861" y="111472"/>
                    </a:lnTo>
                    <a:lnTo>
                      <a:pt x="0" y="80386"/>
                    </a:lnTo>
                  </a:path>
                </a:pathLst>
              </a:custGeom>
              <a:ln w="10122">
                <a:solidFill>
                  <a:srgbClr val="000000"/>
                </a:solidFill>
                <a:prstDash val="solid"/>
              </a:ln>
            </p:spPr>
            <p:txBody>
              <a:bodyPr wrap="square" lIns="0" tIns="0" rIns="0" bIns="0" rtlCol="0">
                <a:prstTxWarp prst="textNoShape">
                  <a:avLst/>
                </a:prstTxWarp>
                <a:noAutofit/>
              </a:bodyPr>
              <a:lstStyle/>
              <a:p>
                <a:endParaRPr lang="en-US"/>
              </a:p>
            </p:txBody>
          </p:sp>
          <p:pic>
            <p:nvPicPr>
              <p:cNvPr id="24" name="Image 27">
                <a:extLst>
                  <a:ext uri="{FF2B5EF4-FFF2-40B4-BE49-F238E27FC236}">
                    <a16:creationId xmlns:a16="http://schemas.microsoft.com/office/drawing/2014/main" id="{DE680E71-62CF-8133-B05A-2172D89FA4C5}"/>
                  </a:ext>
                </a:extLst>
              </p:cNvPr>
              <p:cNvPicPr/>
              <p:nvPr/>
            </p:nvPicPr>
            <p:blipFill>
              <a:blip r:embed="rId7" cstate="print"/>
              <a:stretch>
                <a:fillRect/>
              </a:stretch>
            </p:blipFill>
            <p:spPr>
              <a:xfrm>
                <a:off x="861876" y="554420"/>
                <a:ext cx="81330" cy="104625"/>
              </a:xfrm>
              <a:prstGeom prst="rect">
                <a:avLst/>
              </a:prstGeom>
            </p:spPr>
          </p:pic>
          <p:sp>
            <p:nvSpPr>
              <p:cNvPr id="25" name="Graphic 28">
                <a:extLst>
                  <a:ext uri="{FF2B5EF4-FFF2-40B4-BE49-F238E27FC236}">
                    <a16:creationId xmlns:a16="http://schemas.microsoft.com/office/drawing/2014/main" id="{8C784A36-B6FF-05A9-0573-16C91C7A29AF}"/>
                  </a:ext>
                </a:extLst>
              </p:cNvPr>
              <p:cNvSpPr/>
              <p:nvPr/>
            </p:nvSpPr>
            <p:spPr>
              <a:xfrm>
                <a:off x="902541" y="625453"/>
                <a:ext cx="1270" cy="640080"/>
              </a:xfrm>
              <a:custGeom>
                <a:avLst/>
                <a:gdLst/>
                <a:ahLst/>
                <a:cxnLst/>
                <a:rect l="l" t="t" r="r" b="b"/>
                <a:pathLst>
                  <a:path h="640080">
                    <a:moveTo>
                      <a:pt x="0" y="639623"/>
                    </a:moveTo>
                    <a:lnTo>
                      <a:pt x="0" y="0"/>
                    </a:lnTo>
                  </a:path>
                </a:pathLst>
              </a:custGeom>
              <a:ln w="10122">
                <a:solidFill>
                  <a:srgbClr val="000000"/>
                </a:solidFill>
                <a:prstDash val="solid"/>
              </a:ln>
            </p:spPr>
            <p:txBody>
              <a:bodyPr wrap="square" lIns="0" tIns="0" rIns="0" bIns="0" rtlCol="0">
                <a:prstTxWarp prst="textNoShape">
                  <a:avLst/>
                </a:prstTxWarp>
                <a:noAutofit/>
              </a:bodyPr>
              <a:lstStyle/>
              <a:p>
                <a:endParaRPr lang="en-US"/>
              </a:p>
            </p:txBody>
          </p:sp>
          <p:pic>
            <p:nvPicPr>
              <p:cNvPr id="26" name="Image 29">
                <a:extLst>
                  <a:ext uri="{FF2B5EF4-FFF2-40B4-BE49-F238E27FC236}">
                    <a16:creationId xmlns:a16="http://schemas.microsoft.com/office/drawing/2014/main" id="{38FB4392-51E2-7B1A-9C36-546A1C5C0439}"/>
                  </a:ext>
                </a:extLst>
              </p:cNvPr>
              <p:cNvPicPr/>
              <p:nvPr/>
            </p:nvPicPr>
            <p:blipFill>
              <a:blip r:embed="rId7" cstate="print"/>
              <a:stretch>
                <a:fillRect/>
              </a:stretch>
            </p:blipFill>
            <p:spPr>
              <a:xfrm>
                <a:off x="861876" y="554420"/>
                <a:ext cx="81330" cy="104625"/>
              </a:xfrm>
              <a:prstGeom prst="rect">
                <a:avLst/>
              </a:prstGeom>
            </p:spPr>
          </p:pic>
          <p:sp>
            <p:nvSpPr>
              <p:cNvPr id="27" name="Graphic 30">
                <a:extLst>
                  <a:ext uri="{FF2B5EF4-FFF2-40B4-BE49-F238E27FC236}">
                    <a16:creationId xmlns:a16="http://schemas.microsoft.com/office/drawing/2014/main" id="{3FD7F56F-7FDB-4667-339E-32EF465C6355}"/>
                  </a:ext>
                </a:extLst>
              </p:cNvPr>
              <p:cNvSpPr/>
              <p:nvPr/>
            </p:nvSpPr>
            <p:spPr>
              <a:xfrm>
                <a:off x="0" y="1447609"/>
                <a:ext cx="459740" cy="1270"/>
              </a:xfrm>
              <a:custGeom>
                <a:avLst/>
                <a:gdLst/>
                <a:ahLst/>
                <a:cxnLst/>
                <a:rect l="l" t="t" r="r" b="b"/>
                <a:pathLst>
                  <a:path w="459740">
                    <a:moveTo>
                      <a:pt x="0" y="0"/>
                    </a:moveTo>
                    <a:lnTo>
                      <a:pt x="459620" y="0"/>
                    </a:lnTo>
                  </a:path>
                </a:pathLst>
              </a:custGeom>
              <a:ln w="10122">
                <a:solidFill>
                  <a:srgbClr val="000000"/>
                </a:solidFill>
                <a:prstDash val="solid"/>
              </a:ln>
            </p:spPr>
            <p:txBody>
              <a:bodyPr wrap="square" lIns="0" tIns="0" rIns="0" bIns="0" rtlCol="0">
                <a:prstTxWarp prst="textNoShape">
                  <a:avLst/>
                </a:prstTxWarp>
                <a:noAutofit/>
              </a:bodyPr>
              <a:lstStyle/>
              <a:p>
                <a:endParaRPr lang="en-US"/>
              </a:p>
            </p:txBody>
          </p:sp>
          <p:pic>
            <p:nvPicPr>
              <p:cNvPr id="28" name="Image 31">
                <a:extLst>
                  <a:ext uri="{FF2B5EF4-FFF2-40B4-BE49-F238E27FC236}">
                    <a16:creationId xmlns:a16="http://schemas.microsoft.com/office/drawing/2014/main" id="{69D89372-0128-A1B5-6FFE-CE0C0308EC77}"/>
                  </a:ext>
                </a:extLst>
              </p:cNvPr>
              <p:cNvPicPr/>
              <p:nvPr/>
            </p:nvPicPr>
            <p:blipFill>
              <a:blip r:embed="rId8" cstate="print"/>
              <a:stretch>
                <a:fillRect/>
              </a:stretch>
            </p:blipFill>
            <p:spPr>
              <a:xfrm>
                <a:off x="426028" y="1406943"/>
                <a:ext cx="104625" cy="81330"/>
              </a:xfrm>
              <a:prstGeom prst="rect">
                <a:avLst/>
              </a:prstGeom>
            </p:spPr>
          </p:pic>
          <p:sp>
            <p:nvSpPr>
              <p:cNvPr id="29" name="Graphic 32">
                <a:extLst>
                  <a:ext uri="{FF2B5EF4-FFF2-40B4-BE49-F238E27FC236}">
                    <a16:creationId xmlns:a16="http://schemas.microsoft.com/office/drawing/2014/main" id="{BF39D011-BCC9-0126-63D9-057D328ACCCF}"/>
                  </a:ext>
                </a:extLst>
              </p:cNvPr>
              <p:cNvSpPr/>
              <p:nvPr/>
            </p:nvSpPr>
            <p:spPr>
              <a:xfrm>
                <a:off x="1265076" y="1447609"/>
                <a:ext cx="459740" cy="1270"/>
              </a:xfrm>
              <a:custGeom>
                <a:avLst/>
                <a:gdLst/>
                <a:ahLst/>
                <a:cxnLst/>
                <a:rect l="l" t="t" r="r" b="b"/>
                <a:pathLst>
                  <a:path w="459740">
                    <a:moveTo>
                      <a:pt x="0" y="0"/>
                    </a:moveTo>
                    <a:lnTo>
                      <a:pt x="459620" y="0"/>
                    </a:lnTo>
                  </a:path>
                </a:pathLst>
              </a:custGeom>
              <a:ln w="10122">
                <a:solidFill>
                  <a:srgbClr val="000000"/>
                </a:solidFill>
                <a:prstDash val="solid"/>
              </a:ln>
            </p:spPr>
            <p:txBody>
              <a:bodyPr wrap="square" lIns="0" tIns="0" rIns="0" bIns="0" rtlCol="0">
                <a:prstTxWarp prst="textNoShape">
                  <a:avLst/>
                </a:prstTxWarp>
                <a:noAutofit/>
              </a:bodyPr>
              <a:lstStyle/>
              <a:p>
                <a:endParaRPr lang="en-US"/>
              </a:p>
            </p:txBody>
          </p:sp>
          <p:pic>
            <p:nvPicPr>
              <p:cNvPr id="30" name="Image 33">
                <a:extLst>
                  <a:ext uri="{FF2B5EF4-FFF2-40B4-BE49-F238E27FC236}">
                    <a16:creationId xmlns:a16="http://schemas.microsoft.com/office/drawing/2014/main" id="{E82C1BB2-3171-FF24-CAA5-538FA9ED37E3}"/>
                  </a:ext>
                </a:extLst>
              </p:cNvPr>
              <p:cNvPicPr/>
              <p:nvPr/>
            </p:nvPicPr>
            <p:blipFill>
              <a:blip r:embed="rId4" cstate="print"/>
              <a:stretch>
                <a:fillRect/>
              </a:stretch>
            </p:blipFill>
            <p:spPr>
              <a:xfrm>
                <a:off x="1691104" y="1406943"/>
                <a:ext cx="104625" cy="81330"/>
              </a:xfrm>
              <a:prstGeom prst="rect">
                <a:avLst/>
              </a:prstGeom>
            </p:spPr>
          </p:pic>
          <p:sp>
            <p:nvSpPr>
              <p:cNvPr id="31" name="Textbox 34">
                <a:extLst>
                  <a:ext uri="{FF2B5EF4-FFF2-40B4-BE49-F238E27FC236}">
                    <a16:creationId xmlns:a16="http://schemas.microsoft.com/office/drawing/2014/main" id="{3D42F0F8-A664-2ECF-CFF5-EBE218533096}"/>
                  </a:ext>
                </a:extLst>
              </p:cNvPr>
              <p:cNvSpPr txBox="1"/>
              <p:nvPr/>
            </p:nvSpPr>
            <p:spPr>
              <a:xfrm>
                <a:off x="1319685" y="466618"/>
                <a:ext cx="382905" cy="152400"/>
              </a:xfrm>
              <a:prstGeom prst="rect">
                <a:avLst/>
              </a:prstGeom>
            </p:spPr>
            <p:txBody>
              <a:bodyPr wrap="square" lIns="0" tIns="0" rIns="0" bIns="0" rtlCol="0">
                <a:noAutofit/>
              </a:bodyPr>
              <a:lstStyle/>
              <a:p>
                <a:pPr marL="0" marR="0">
                  <a:lnSpc>
                    <a:spcPts val="1195"/>
                  </a:lnSpc>
                  <a:spcBef>
                    <a:spcPts val="0"/>
                  </a:spcBef>
                  <a:spcAft>
                    <a:spcPts val="800"/>
                  </a:spcAft>
                </a:pPr>
                <a:r>
                  <a:rPr lang="en-US" sz="1200" i="1" spc="-10">
                    <a:effectLst/>
                    <a:latin typeface="Calibri" panose="020F0502020204030204" pitchFamily="34" charset="0"/>
                    <a:ea typeface="Calibri" panose="020F0502020204030204" pitchFamily="34" charset="0"/>
                    <a:cs typeface="Times New Roman" panose="02020603050405020304" pitchFamily="18" charset="0"/>
                  </a:rPr>
                  <a:t>µA</a:t>
                </a:r>
                <a:r>
                  <a:rPr lang="en-US" sz="1200" spc="-10">
                    <a:effectLst/>
                    <a:latin typeface="Calibri" panose="020F0502020204030204" pitchFamily="34" charset="0"/>
                    <a:ea typeface="Calibri" panose="020F0502020204030204" pitchFamily="34" charset="0"/>
                    <a:cs typeface="Times New Roman" panose="02020603050405020304" pitchFamily="18" charset="0"/>
                  </a:rPr>
                  <a:t>(</a:t>
                </a:r>
                <a:r>
                  <a:rPr lang="en-US" sz="1200" i="1" spc="-10">
                    <a:effectLst/>
                    <a:latin typeface="Calibri" panose="020F0502020204030204" pitchFamily="34" charset="0"/>
                    <a:ea typeface="Calibri" panose="020F0502020204030204" pitchFamily="34" charset="0"/>
                    <a:cs typeface="Times New Roman" panose="02020603050405020304" pitchFamily="18" charset="0"/>
                  </a:rPr>
                  <a:t>t</a:t>
                </a:r>
                <a:r>
                  <a:rPr lang="en-US" sz="1200" spc="-10">
                    <a:effectLst/>
                    <a:latin typeface="Calibri" panose="020F0502020204030204" pitchFamily="34" charset="0"/>
                    <a:ea typeface="Calibri" panose="020F0502020204030204" pitchFamily="34" charset="0"/>
                    <a:cs typeface="Times New Roman" panose="02020603050405020304" pitchFamily="18" charset="0"/>
                  </a:rPr>
                  <a: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2" name="Textbox 35">
                <a:extLst>
                  <a:ext uri="{FF2B5EF4-FFF2-40B4-BE49-F238E27FC236}">
                    <a16:creationId xmlns:a16="http://schemas.microsoft.com/office/drawing/2014/main" id="{377984C6-422A-3679-A5A7-9874B2ADE8F4}"/>
                  </a:ext>
                </a:extLst>
              </p:cNvPr>
              <p:cNvSpPr txBox="1"/>
              <p:nvPr/>
            </p:nvSpPr>
            <p:spPr>
              <a:xfrm>
                <a:off x="2402208" y="649143"/>
                <a:ext cx="815340" cy="162560"/>
              </a:xfrm>
              <a:prstGeom prst="rect">
                <a:avLst/>
              </a:prstGeom>
            </p:spPr>
            <p:txBody>
              <a:bodyPr wrap="square" lIns="0" tIns="0" rIns="0" bIns="0" rtlCol="0">
                <a:noAutofit/>
              </a:bodyPr>
              <a:lstStyle/>
              <a:p>
                <a:pPr marL="0" marR="0">
                  <a:lnSpc>
                    <a:spcPts val="1220"/>
                  </a:lnSpc>
                  <a:spcBef>
                    <a:spcPts val="0"/>
                  </a:spcBef>
                  <a:spcAft>
                    <a:spcPts val="800"/>
                  </a:spcAft>
                </a:pPr>
                <a:r>
                  <a:rPr lang="en-US" sz="1200">
                    <a:effectLst/>
                    <a:latin typeface="Calibri" panose="020F0502020204030204" pitchFamily="34" charset="0"/>
                    <a:ea typeface="Calibri" panose="020F0502020204030204" pitchFamily="34" charset="0"/>
                    <a:cs typeface="Times New Roman" panose="02020603050405020304" pitchFamily="18" charset="0"/>
                  </a:rPr>
                  <a:t>(</a:t>
                </a:r>
                <a:r>
                  <a:rPr lang="en-US" sz="1200" i="1">
                    <a:effectLst/>
                    <a:latin typeface="Calibri" panose="020F0502020204030204" pitchFamily="34" charset="0"/>
                    <a:ea typeface="Calibri" panose="020F0502020204030204" pitchFamily="34" charset="0"/>
                    <a:cs typeface="Times New Roman" panose="02020603050405020304" pitchFamily="18" charset="0"/>
                  </a:rPr>
                  <a:t>µ</a:t>
                </a:r>
                <a:r>
                  <a:rPr lang="en-US" sz="1200" i="1" spc="-55">
                    <a:effectLst/>
                    <a:latin typeface="Calibri" panose="020F0502020204030204" pitchFamily="34" charset="0"/>
                    <a:ea typeface="Calibri" panose="020F0502020204030204" pitchFamily="34" charset="0"/>
                    <a:cs typeface="Times New Roman" panose="02020603050405020304" pitchFamily="18" charset="0"/>
                  </a:rPr>
                  <a:t> </a:t>
                </a:r>
                <a:r>
                  <a:rPr lang="en-US" sz="1200">
                    <a:effectLst/>
                    <a:latin typeface="Calibri" panose="020F0502020204030204" pitchFamily="34" charset="0"/>
                    <a:ea typeface="Calibri" panose="020F0502020204030204" pitchFamily="34" charset="0"/>
                    <a:cs typeface="Times New Roman" panose="02020603050405020304" pitchFamily="18" charset="0"/>
                  </a:rPr>
                  <a:t>+</a:t>
                </a:r>
                <a:r>
                  <a:rPr lang="en-US" sz="1200" spc="-45">
                    <a:effectLst/>
                    <a:latin typeface="Calibri" panose="020F0502020204030204" pitchFamily="34" charset="0"/>
                    <a:ea typeface="Calibri" panose="020F0502020204030204" pitchFamily="34" charset="0"/>
                    <a:cs typeface="Times New Roman" panose="02020603050405020304" pitchFamily="18" charset="0"/>
                  </a:rPr>
                  <a:t> </a:t>
                </a:r>
                <a:r>
                  <a:rPr lang="en-US" sz="1200" i="1" spc="-10">
                    <a:effectLst/>
                    <a:latin typeface="Calibri" panose="020F0502020204030204" pitchFamily="34" charset="0"/>
                    <a:ea typeface="Calibri" panose="020F0502020204030204" pitchFamily="34" charset="0"/>
                    <a:cs typeface="Times New Roman" panose="02020603050405020304" pitchFamily="18" charset="0"/>
                  </a:rPr>
                  <a:t>δ</a:t>
                </a:r>
                <a:r>
                  <a:rPr lang="en-US" sz="1200" spc="-10" baseline="-25000">
                    <a:effectLst/>
                    <a:latin typeface="Calibri" panose="020F0502020204030204" pitchFamily="34" charset="0"/>
                    <a:ea typeface="Calibri" panose="020F0502020204030204" pitchFamily="34" charset="0"/>
                    <a:cs typeface="Times New Roman" panose="02020603050405020304" pitchFamily="18" charset="0"/>
                  </a:rPr>
                  <a:t>1</a:t>
                </a:r>
                <a:r>
                  <a:rPr lang="en-US" sz="1200" spc="-10">
                    <a:effectLst/>
                    <a:latin typeface="Calibri" panose="020F0502020204030204" pitchFamily="34" charset="0"/>
                    <a:ea typeface="Calibri" panose="020F0502020204030204" pitchFamily="34" charset="0"/>
                    <a:cs typeface="Times New Roman" panose="02020603050405020304" pitchFamily="18" charset="0"/>
                  </a:rPr>
                  <a:t>)</a:t>
                </a:r>
                <a:r>
                  <a:rPr lang="en-US" sz="1200" i="1" spc="-10">
                    <a:effectLst/>
                    <a:latin typeface="Calibri" panose="020F0502020204030204" pitchFamily="34" charset="0"/>
                    <a:ea typeface="Calibri" panose="020F0502020204030204" pitchFamily="34" charset="0"/>
                    <a:cs typeface="Times New Roman" panose="02020603050405020304" pitchFamily="18" charset="0"/>
                  </a:rPr>
                  <a:t>E</a:t>
                </a:r>
                <a:r>
                  <a:rPr lang="en-US" sz="1200" spc="-10">
                    <a:effectLst/>
                    <a:latin typeface="Calibri" panose="020F0502020204030204" pitchFamily="34" charset="0"/>
                    <a:ea typeface="Calibri" panose="020F0502020204030204" pitchFamily="34" charset="0"/>
                    <a:cs typeface="Times New Roman" panose="02020603050405020304" pitchFamily="18" charset="0"/>
                  </a:rPr>
                  <a:t>(</a:t>
                </a:r>
                <a:r>
                  <a:rPr lang="en-US" sz="1200" i="1" spc="-10">
                    <a:effectLst/>
                    <a:latin typeface="Calibri" panose="020F0502020204030204" pitchFamily="34" charset="0"/>
                    <a:ea typeface="Calibri" panose="020F0502020204030204" pitchFamily="34" charset="0"/>
                    <a:cs typeface="Times New Roman" panose="02020603050405020304" pitchFamily="18" charset="0"/>
                  </a:rPr>
                  <a:t>t</a:t>
                </a:r>
                <a:r>
                  <a:rPr lang="en-US" sz="1200" spc="-10">
                    <a:effectLst/>
                    <a:latin typeface="Calibri" panose="020F0502020204030204" pitchFamily="34" charset="0"/>
                    <a:ea typeface="Calibri" panose="020F0502020204030204" pitchFamily="34" charset="0"/>
                    <a:cs typeface="Times New Roman" panose="02020603050405020304" pitchFamily="18" charset="0"/>
                  </a:rPr>
                  <a: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3" name="Textbox 36">
                <a:extLst>
                  <a:ext uri="{FF2B5EF4-FFF2-40B4-BE49-F238E27FC236}">
                    <a16:creationId xmlns:a16="http://schemas.microsoft.com/office/drawing/2014/main" id="{7AEB9BC2-0838-038F-F694-A95531DBB419}"/>
                  </a:ext>
                </a:extLst>
              </p:cNvPr>
              <p:cNvSpPr txBox="1"/>
              <p:nvPr/>
            </p:nvSpPr>
            <p:spPr>
              <a:xfrm>
                <a:off x="195012" y="829140"/>
                <a:ext cx="666115" cy="152400"/>
              </a:xfrm>
              <a:prstGeom prst="rect">
                <a:avLst/>
              </a:prstGeom>
            </p:spPr>
            <p:txBody>
              <a:bodyPr wrap="square" lIns="0" tIns="0" rIns="0" bIns="0" rtlCol="0">
                <a:noAutofit/>
              </a:bodyPr>
              <a:lstStyle/>
              <a:p>
                <a:pPr marL="0" marR="0">
                  <a:lnSpc>
                    <a:spcPts val="1195"/>
                  </a:lnSpc>
                  <a:spcBef>
                    <a:spcPts val="0"/>
                  </a:spcBef>
                  <a:spcAft>
                    <a:spcPts val="800"/>
                  </a:spcAft>
                </a:pPr>
                <a:r>
                  <a:rPr lang="en-US" sz="1200" i="1" spc="-10">
                    <a:effectLst/>
                    <a:latin typeface="Calibri" panose="020F0502020204030204" pitchFamily="34" charset="0"/>
                    <a:ea typeface="Calibri" panose="020F0502020204030204" pitchFamily="34" charset="0"/>
                    <a:cs typeface="Times New Roman" panose="02020603050405020304" pitchFamily="18" charset="0"/>
                  </a:rPr>
                  <a:t>κA</a:t>
                </a:r>
                <a:r>
                  <a:rPr lang="en-US" sz="1200" spc="-10">
                    <a:effectLst/>
                    <a:latin typeface="Calibri" panose="020F0502020204030204" pitchFamily="34" charset="0"/>
                    <a:ea typeface="Calibri" panose="020F0502020204030204" pitchFamily="34" charset="0"/>
                    <a:cs typeface="Times New Roman" panose="02020603050405020304" pitchFamily="18" charset="0"/>
                  </a:rPr>
                  <a:t>(</a:t>
                </a:r>
                <a:r>
                  <a:rPr lang="en-US" sz="1200" i="1" spc="-10">
                    <a:effectLst/>
                    <a:latin typeface="Calibri" panose="020F0502020204030204" pitchFamily="34" charset="0"/>
                    <a:ea typeface="Calibri" panose="020F0502020204030204" pitchFamily="34" charset="0"/>
                    <a:cs typeface="Times New Roman" panose="02020603050405020304" pitchFamily="18" charset="0"/>
                  </a:rPr>
                  <a:t>t</a:t>
                </a:r>
                <a:r>
                  <a:rPr lang="en-US" sz="1200" spc="-10">
                    <a:effectLst/>
                    <a:latin typeface="Calibri" panose="020F0502020204030204" pitchFamily="34" charset="0"/>
                    <a:ea typeface="Calibri" panose="020F0502020204030204" pitchFamily="34" charset="0"/>
                    <a:cs typeface="Times New Roman" panose="02020603050405020304" pitchFamily="18" charset="0"/>
                  </a:rPr>
                  <a:t>)</a:t>
                </a:r>
                <a:r>
                  <a:rPr lang="en-US" sz="1200" i="1" spc="-10">
                    <a:effectLst/>
                    <a:latin typeface="Calibri" panose="020F0502020204030204" pitchFamily="34" charset="0"/>
                    <a:ea typeface="Calibri" panose="020F0502020204030204" pitchFamily="34" charset="0"/>
                    <a:cs typeface="Times New Roman" panose="02020603050405020304" pitchFamily="18" charset="0"/>
                  </a:rPr>
                  <a:t>G</a:t>
                </a:r>
                <a:r>
                  <a:rPr lang="en-US" sz="1200" spc="-10">
                    <a:effectLst/>
                    <a:latin typeface="Calibri" panose="020F0502020204030204" pitchFamily="34" charset="0"/>
                    <a:ea typeface="Calibri" panose="020F0502020204030204" pitchFamily="34" charset="0"/>
                    <a:cs typeface="Times New Roman" panose="02020603050405020304" pitchFamily="18" charset="0"/>
                  </a:rPr>
                  <a:t>(</a:t>
                </a:r>
                <a:r>
                  <a:rPr lang="en-US" sz="1200" i="1" spc="-10">
                    <a:effectLst/>
                    <a:latin typeface="Calibri" panose="020F0502020204030204" pitchFamily="34" charset="0"/>
                    <a:ea typeface="Calibri" panose="020F0502020204030204" pitchFamily="34" charset="0"/>
                    <a:cs typeface="Times New Roman" panose="02020603050405020304" pitchFamily="18" charset="0"/>
                  </a:rPr>
                  <a:t>t</a:t>
                </a:r>
                <a:r>
                  <a:rPr lang="en-US" sz="1200" spc="-10">
                    <a:effectLst/>
                    <a:latin typeface="Calibri" panose="020F0502020204030204" pitchFamily="34" charset="0"/>
                    <a:ea typeface="Calibri" panose="020F0502020204030204" pitchFamily="34" charset="0"/>
                    <a:cs typeface="Times New Roman" panose="02020603050405020304" pitchFamily="18" charset="0"/>
                  </a:rPr>
                  <a: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4" name="Textbox 37">
                <a:extLst>
                  <a:ext uri="{FF2B5EF4-FFF2-40B4-BE49-F238E27FC236}">
                    <a16:creationId xmlns:a16="http://schemas.microsoft.com/office/drawing/2014/main" id="{D93AF838-0F78-C518-417A-2CF1AF43406A}"/>
                  </a:ext>
                </a:extLst>
              </p:cNvPr>
              <p:cNvSpPr txBox="1"/>
              <p:nvPr/>
            </p:nvSpPr>
            <p:spPr>
              <a:xfrm>
                <a:off x="214620" y="1441000"/>
                <a:ext cx="133350" cy="177800"/>
              </a:xfrm>
              <a:prstGeom prst="rect">
                <a:avLst/>
              </a:prstGeom>
            </p:spPr>
            <p:txBody>
              <a:bodyPr wrap="square" lIns="0" tIns="0" rIns="0" bIns="0" rtlCol="0">
                <a:noAutofit/>
              </a:bodyPr>
              <a:lstStyle/>
              <a:p>
                <a:pPr marL="12700" marR="0">
                  <a:lnSpc>
                    <a:spcPts val="1320"/>
                  </a:lnSpc>
                  <a:spcBef>
                    <a:spcPts val="0"/>
                  </a:spcBef>
                  <a:spcAft>
                    <a:spcPts val="800"/>
                  </a:spcAft>
                </a:pPr>
                <a:r>
                  <a:rPr lang="en-US" sz="1200" i="1" spc="-50">
                    <a:effectLst/>
                    <a:latin typeface="Calibri" panose="020F0502020204030204" pitchFamily="34" charset="0"/>
                    <a:ea typeface="Calibri" panose="020F0502020204030204" pitchFamily="34" charset="0"/>
                    <a:cs typeface="Times New Roman" panose="02020603050405020304" pitchFamily="18" charset="0"/>
                  </a:rPr>
                  <a:t>γ</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5" name="Textbox 38">
                <a:extLst>
                  <a:ext uri="{FF2B5EF4-FFF2-40B4-BE49-F238E27FC236}">
                    <a16:creationId xmlns:a16="http://schemas.microsoft.com/office/drawing/2014/main" id="{02C5B393-29E3-0471-9FED-F5F38FC1865F}"/>
                  </a:ext>
                </a:extLst>
              </p:cNvPr>
              <p:cNvSpPr txBox="1"/>
              <p:nvPr/>
            </p:nvSpPr>
            <p:spPr>
              <a:xfrm>
                <a:off x="1349061" y="1489502"/>
                <a:ext cx="384810" cy="177800"/>
              </a:xfrm>
              <a:prstGeom prst="rect">
                <a:avLst/>
              </a:prstGeom>
            </p:spPr>
            <p:txBody>
              <a:bodyPr wrap="square" lIns="0" tIns="0" rIns="0" bIns="0" rtlCol="0">
                <a:noAutofit/>
              </a:bodyPr>
              <a:lstStyle/>
              <a:p>
                <a:pPr marL="12700" marR="0">
                  <a:lnSpc>
                    <a:spcPts val="1320"/>
                  </a:lnSpc>
                  <a:spcBef>
                    <a:spcPts val="0"/>
                  </a:spcBef>
                  <a:spcAft>
                    <a:spcPts val="800"/>
                  </a:spcAft>
                </a:pPr>
                <a:r>
                  <a:rPr lang="en-US" sz="1200" i="1" spc="-10">
                    <a:effectLst/>
                    <a:latin typeface="Calibri" panose="020F0502020204030204" pitchFamily="34" charset="0"/>
                    <a:ea typeface="Calibri" panose="020F0502020204030204" pitchFamily="34" charset="0"/>
                    <a:cs typeface="Times New Roman" panose="02020603050405020304" pitchFamily="18" charset="0"/>
                  </a:rPr>
                  <a:t>ϵG</a:t>
                </a:r>
                <a:r>
                  <a:rPr lang="en-US" sz="1200" spc="-10">
                    <a:effectLst/>
                    <a:latin typeface="Calibri" panose="020F0502020204030204" pitchFamily="34" charset="0"/>
                    <a:ea typeface="Calibri" panose="020F0502020204030204" pitchFamily="34" charset="0"/>
                    <a:cs typeface="Times New Roman" panose="02020603050405020304" pitchFamily="18" charset="0"/>
                  </a:rPr>
                  <a:t>(</a:t>
                </a:r>
                <a:r>
                  <a:rPr lang="en-US" sz="1200" i="1" spc="-10">
                    <a:effectLst/>
                    <a:latin typeface="Calibri" panose="020F0502020204030204" pitchFamily="34" charset="0"/>
                    <a:ea typeface="Calibri" panose="020F0502020204030204" pitchFamily="34" charset="0"/>
                    <a:cs typeface="Times New Roman" panose="02020603050405020304" pitchFamily="18" charset="0"/>
                  </a:rPr>
                  <a:t>t</a:t>
                </a:r>
                <a:r>
                  <a:rPr lang="en-US" sz="1200" spc="-10">
                    <a:effectLst/>
                    <a:latin typeface="Calibri" panose="020F0502020204030204" pitchFamily="34" charset="0"/>
                    <a:ea typeface="Calibri" panose="020F0502020204030204" pitchFamily="34" charset="0"/>
                    <a:cs typeface="Times New Roman" panose="02020603050405020304" pitchFamily="18" charset="0"/>
                  </a:rPr>
                  <a: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6" name="Textbox 39">
                <a:extLst>
                  <a:ext uri="{FF2B5EF4-FFF2-40B4-BE49-F238E27FC236}">
                    <a16:creationId xmlns:a16="http://schemas.microsoft.com/office/drawing/2014/main" id="{66B42408-5318-1079-82D7-CB2684C2C9A2}"/>
                  </a:ext>
                </a:extLst>
              </p:cNvPr>
              <p:cNvSpPr txBox="1"/>
              <p:nvPr/>
            </p:nvSpPr>
            <p:spPr>
              <a:xfrm>
                <a:off x="545067" y="1270137"/>
                <a:ext cx="715010" cy="354965"/>
              </a:xfrm>
              <a:prstGeom prst="rect">
                <a:avLst/>
              </a:prstGeom>
            </p:spPr>
            <p:txBody>
              <a:bodyPr wrap="square" lIns="0" tIns="0" rIns="0" bIns="0" rtlCol="0">
                <a:noAutofit/>
              </a:bodyPr>
              <a:lstStyle/>
              <a:p>
                <a:pPr marL="213995" marR="0">
                  <a:lnSpc>
                    <a:spcPct val="107000"/>
                  </a:lnSpc>
                  <a:spcBef>
                    <a:spcPts val="550"/>
                  </a:spcBef>
                  <a:spcAft>
                    <a:spcPts val="800"/>
                  </a:spcAft>
                </a:pPr>
                <a:r>
                  <a:rPr lang="en-US" sz="1200" i="1" spc="-20">
                    <a:effectLst/>
                    <a:latin typeface="Calibri" panose="020F0502020204030204" pitchFamily="34" charset="0"/>
                    <a:ea typeface="Calibri" panose="020F0502020204030204" pitchFamily="34" charset="0"/>
                    <a:cs typeface="Times New Roman" panose="02020603050405020304" pitchFamily="18" charset="0"/>
                  </a:rPr>
                  <a:t>G</a:t>
                </a:r>
                <a:r>
                  <a:rPr lang="en-US" sz="1200" spc="-20">
                    <a:effectLst/>
                    <a:latin typeface="Calibri" panose="020F0502020204030204" pitchFamily="34" charset="0"/>
                    <a:ea typeface="Calibri" panose="020F0502020204030204" pitchFamily="34" charset="0"/>
                    <a:cs typeface="Times New Roman" panose="02020603050405020304" pitchFamily="18" charset="0"/>
                  </a:rPr>
                  <a:t>(</a:t>
                </a:r>
                <a:r>
                  <a:rPr lang="en-US" sz="1200" i="1" spc="-20">
                    <a:effectLst/>
                    <a:latin typeface="Calibri" panose="020F0502020204030204" pitchFamily="34" charset="0"/>
                    <a:ea typeface="Calibri" panose="020F0502020204030204" pitchFamily="34" charset="0"/>
                    <a:cs typeface="Times New Roman" panose="02020603050405020304" pitchFamily="18" charset="0"/>
                  </a:rPr>
                  <a:t>t</a:t>
                </a:r>
                <a:r>
                  <a:rPr lang="en-US" sz="1200" spc="-20">
                    <a:effectLst/>
                    <a:latin typeface="Calibri" panose="020F0502020204030204" pitchFamily="34" charset="0"/>
                    <a:ea typeface="Calibri" panose="020F0502020204030204" pitchFamily="34" charset="0"/>
                    <a:cs typeface="Times New Roman" panose="02020603050405020304" pitchFamily="18" charset="0"/>
                  </a:rPr>
                  <a: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7" name="Textbox 40">
                <a:extLst>
                  <a:ext uri="{FF2B5EF4-FFF2-40B4-BE49-F238E27FC236}">
                    <a16:creationId xmlns:a16="http://schemas.microsoft.com/office/drawing/2014/main" id="{DD5D2416-6760-45DE-8AD1-C9F0EC17122E}"/>
                  </a:ext>
                </a:extLst>
              </p:cNvPr>
              <p:cNvSpPr txBox="1"/>
              <p:nvPr/>
            </p:nvSpPr>
            <p:spPr>
              <a:xfrm>
                <a:off x="3432695" y="182532"/>
                <a:ext cx="720090" cy="360045"/>
              </a:xfrm>
              <a:prstGeom prst="rect">
                <a:avLst/>
              </a:prstGeom>
              <a:ln w="5060">
                <a:solidFill>
                  <a:srgbClr val="000000"/>
                </a:solidFill>
                <a:prstDash val="solid"/>
              </a:ln>
            </p:spPr>
            <p:txBody>
              <a:bodyPr wrap="square" lIns="0" tIns="0" rIns="0" bIns="0" rtlCol="0">
                <a:noAutofit/>
              </a:bodyPr>
              <a:lstStyle/>
              <a:p>
                <a:pPr marL="205105" marR="0">
                  <a:lnSpc>
                    <a:spcPct val="107000"/>
                  </a:lnSpc>
                  <a:spcBef>
                    <a:spcPts val="550"/>
                  </a:spcBef>
                  <a:spcAft>
                    <a:spcPts val="800"/>
                  </a:spcAft>
                </a:pPr>
                <a:r>
                  <a:rPr lang="en-US" sz="1200" i="1" spc="-20">
                    <a:effectLst/>
                    <a:latin typeface="Calibri" panose="020F0502020204030204" pitchFamily="34" charset="0"/>
                    <a:ea typeface="Calibri" panose="020F0502020204030204" pitchFamily="34" charset="0"/>
                    <a:cs typeface="Times New Roman" panose="02020603050405020304" pitchFamily="18" charset="0"/>
                  </a:rPr>
                  <a:t>H</a:t>
                </a:r>
                <a:r>
                  <a:rPr lang="en-US" sz="1200" spc="-20">
                    <a:effectLst/>
                    <a:latin typeface="Calibri" panose="020F0502020204030204" pitchFamily="34" charset="0"/>
                    <a:ea typeface="Calibri" panose="020F0502020204030204" pitchFamily="34" charset="0"/>
                    <a:cs typeface="Times New Roman" panose="02020603050405020304" pitchFamily="18" charset="0"/>
                  </a:rPr>
                  <a:t>(</a:t>
                </a:r>
                <a:r>
                  <a:rPr lang="en-US" sz="1200" i="1" spc="-20">
                    <a:effectLst/>
                    <a:latin typeface="Calibri" panose="020F0502020204030204" pitchFamily="34" charset="0"/>
                    <a:ea typeface="Calibri" panose="020F0502020204030204" pitchFamily="34" charset="0"/>
                    <a:cs typeface="Times New Roman" panose="02020603050405020304" pitchFamily="18" charset="0"/>
                  </a:rPr>
                  <a:t>t</a:t>
                </a:r>
                <a:r>
                  <a:rPr lang="en-US" sz="1200" spc="-20">
                    <a:effectLst/>
                    <a:latin typeface="Calibri" panose="020F0502020204030204" pitchFamily="34" charset="0"/>
                    <a:ea typeface="Calibri" panose="020F0502020204030204" pitchFamily="34" charset="0"/>
                    <a:cs typeface="Times New Roman" panose="02020603050405020304" pitchFamily="18" charset="0"/>
                  </a:rPr>
                  <a: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8" name="Textbox 41">
                <a:extLst>
                  <a:ext uri="{FF2B5EF4-FFF2-40B4-BE49-F238E27FC236}">
                    <a16:creationId xmlns:a16="http://schemas.microsoft.com/office/drawing/2014/main" id="{EB0DFC5F-031F-DC0E-3B56-FF5E2D6767B3}"/>
                  </a:ext>
                </a:extLst>
              </p:cNvPr>
              <p:cNvSpPr txBox="1"/>
              <p:nvPr/>
            </p:nvSpPr>
            <p:spPr>
              <a:xfrm>
                <a:off x="1987616" y="182532"/>
                <a:ext cx="720090" cy="360045"/>
              </a:xfrm>
              <a:prstGeom prst="rect">
                <a:avLst/>
              </a:prstGeom>
              <a:ln w="5060">
                <a:solidFill>
                  <a:srgbClr val="000000"/>
                </a:solidFill>
                <a:prstDash val="solid"/>
              </a:ln>
            </p:spPr>
            <p:txBody>
              <a:bodyPr wrap="square" lIns="0" tIns="0" rIns="0" bIns="0" rtlCol="0">
                <a:noAutofit/>
              </a:bodyPr>
              <a:lstStyle/>
              <a:p>
                <a:pPr marL="212725" marR="0">
                  <a:lnSpc>
                    <a:spcPct val="107000"/>
                  </a:lnSpc>
                  <a:spcBef>
                    <a:spcPts val="550"/>
                  </a:spcBef>
                  <a:spcAft>
                    <a:spcPts val="800"/>
                  </a:spcAft>
                </a:pPr>
                <a:r>
                  <a:rPr lang="en-US" sz="1200" i="1" spc="-20">
                    <a:effectLst/>
                    <a:latin typeface="Calibri" panose="020F0502020204030204" pitchFamily="34" charset="0"/>
                    <a:ea typeface="Calibri" panose="020F0502020204030204" pitchFamily="34" charset="0"/>
                    <a:cs typeface="Times New Roman" panose="02020603050405020304" pitchFamily="18" charset="0"/>
                  </a:rPr>
                  <a:t>E</a:t>
                </a:r>
                <a:r>
                  <a:rPr lang="en-US" sz="1200" spc="-20">
                    <a:effectLst/>
                    <a:latin typeface="Calibri" panose="020F0502020204030204" pitchFamily="34" charset="0"/>
                    <a:ea typeface="Calibri" panose="020F0502020204030204" pitchFamily="34" charset="0"/>
                    <a:cs typeface="Times New Roman" panose="02020603050405020304" pitchFamily="18" charset="0"/>
                  </a:rPr>
                  <a:t>(</a:t>
                </a:r>
                <a:r>
                  <a:rPr lang="en-US" sz="1200" i="1" spc="-20">
                    <a:effectLst/>
                    <a:latin typeface="Calibri" panose="020F0502020204030204" pitchFamily="34" charset="0"/>
                    <a:ea typeface="Calibri" panose="020F0502020204030204" pitchFamily="34" charset="0"/>
                    <a:cs typeface="Times New Roman" panose="02020603050405020304" pitchFamily="18" charset="0"/>
                  </a:rPr>
                  <a:t>t</a:t>
                </a:r>
                <a:r>
                  <a:rPr lang="en-US" sz="1200" spc="-20">
                    <a:effectLst/>
                    <a:latin typeface="Calibri" panose="020F0502020204030204" pitchFamily="34" charset="0"/>
                    <a:ea typeface="Calibri" panose="020F0502020204030204" pitchFamily="34" charset="0"/>
                    <a:cs typeface="Times New Roman" panose="02020603050405020304" pitchFamily="18" charset="0"/>
                  </a:rPr>
                  <a: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9" name="Textbox 42">
                <a:extLst>
                  <a:ext uri="{FF2B5EF4-FFF2-40B4-BE49-F238E27FC236}">
                    <a16:creationId xmlns:a16="http://schemas.microsoft.com/office/drawing/2014/main" id="{464ACB0B-55AF-EBBF-7780-9ECCCDBF48C9}"/>
                  </a:ext>
                </a:extLst>
              </p:cNvPr>
              <p:cNvSpPr txBox="1"/>
              <p:nvPr/>
            </p:nvSpPr>
            <p:spPr>
              <a:xfrm>
                <a:off x="542537" y="182532"/>
                <a:ext cx="722630" cy="360045"/>
              </a:xfrm>
              <a:prstGeom prst="rect">
                <a:avLst/>
              </a:prstGeom>
              <a:ln w="5060">
                <a:solidFill>
                  <a:srgbClr val="000000"/>
                </a:solidFill>
                <a:prstDash val="solid"/>
              </a:ln>
            </p:spPr>
            <p:txBody>
              <a:bodyPr wrap="square" lIns="0" tIns="0" rIns="0" bIns="0" rtlCol="0">
                <a:noAutofit/>
              </a:bodyPr>
              <a:lstStyle/>
              <a:p>
                <a:pPr marL="3810" marR="5080" algn="ctr">
                  <a:lnSpc>
                    <a:spcPts val="1215"/>
                  </a:lnSpc>
                  <a:spcBef>
                    <a:spcPts val="550"/>
                  </a:spcBef>
                  <a:spcAft>
                    <a:spcPts val="800"/>
                  </a:spcAft>
                </a:pPr>
                <a:r>
                  <a:rPr lang="en-US" sz="1200" i="1" spc="-20">
                    <a:effectLst/>
                    <a:latin typeface="Calibri" panose="020F0502020204030204" pitchFamily="34" charset="0"/>
                    <a:ea typeface="Calibri" panose="020F0502020204030204" pitchFamily="34" charset="0"/>
                    <a:cs typeface="Times New Roman" panose="02020603050405020304" pitchFamily="18" charset="0"/>
                  </a:rPr>
                  <a:t>A</a:t>
                </a:r>
                <a:r>
                  <a:rPr lang="en-US" sz="1200" spc="-20">
                    <a:effectLst/>
                    <a:latin typeface="Calibri" panose="020F0502020204030204" pitchFamily="34" charset="0"/>
                    <a:ea typeface="Calibri" panose="020F0502020204030204" pitchFamily="34" charset="0"/>
                    <a:cs typeface="Times New Roman" panose="02020603050405020304" pitchFamily="18" charset="0"/>
                  </a:rPr>
                  <a:t>(</a:t>
                </a:r>
                <a:r>
                  <a:rPr lang="en-US" sz="1200" i="1" spc="-20">
                    <a:effectLst/>
                    <a:latin typeface="Calibri" panose="020F0502020204030204" pitchFamily="34" charset="0"/>
                    <a:ea typeface="Calibri" panose="020F0502020204030204" pitchFamily="34" charset="0"/>
                    <a:cs typeface="Times New Roman" panose="02020603050405020304" pitchFamily="18" charset="0"/>
                  </a:rPr>
                  <a:t>t</a:t>
                </a:r>
                <a:r>
                  <a:rPr lang="en-US" sz="1200" spc="-20">
                    <a:effectLst/>
                    <a:latin typeface="Calibri" panose="020F0502020204030204" pitchFamily="34" charset="0"/>
                    <a:ea typeface="Calibri" panose="020F0502020204030204" pitchFamily="34" charset="0"/>
                    <a:cs typeface="Times New Roman" panose="02020603050405020304" pitchFamily="18" charset="0"/>
                  </a:rPr>
                  <a: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5080" algn="ctr">
                  <a:lnSpc>
                    <a:spcPts val="1030"/>
                  </a:lnSpc>
                  <a:spcBef>
                    <a:spcPts val="0"/>
                  </a:spcBef>
                  <a:spcAft>
                    <a:spcPts val="800"/>
                  </a:spcAft>
                </a:pPr>
                <a:r>
                  <a:rPr lang="en-US" sz="1200" i="1" spc="-50">
                    <a:effectLst/>
                    <a:latin typeface="Calibri" panose="020F0502020204030204" pitchFamily="34" charset="0"/>
                    <a:ea typeface="Calibri" panose="020F0502020204030204" pitchFamily="34" charset="0"/>
                    <a:cs typeface="Times New Roman" panose="02020603050405020304" pitchFamily="18" charset="0"/>
                  </a:rPr>
                  <a:t>θ</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grpSp>
        <p:grpSp>
          <p:nvGrpSpPr>
            <p:cNvPr id="40" name="Group 39">
              <a:extLst>
                <a:ext uri="{FF2B5EF4-FFF2-40B4-BE49-F238E27FC236}">
                  <a16:creationId xmlns:a16="http://schemas.microsoft.com/office/drawing/2014/main" id="{F7018ED9-A766-5406-4D7D-E18E91084210}"/>
                </a:ext>
              </a:extLst>
            </p:cNvPr>
            <p:cNvGrpSpPr>
              <a:grpSpLocks/>
            </p:cNvGrpSpPr>
            <p:nvPr/>
          </p:nvGrpSpPr>
          <p:grpSpPr>
            <a:xfrm>
              <a:off x="12424120" y="3314398"/>
              <a:ext cx="81915" cy="351155"/>
              <a:chOff x="0" y="0"/>
              <a:chExt cx="81915" cy="351155"/>
            </a:xfrm>
          </p:grpSpPr>
          <p:sp>
            <p:nvSpPr>
              <p:cNvPr id="41" name="Graphic 44">
                <a:extLst>
                  <a:ext uri="{FF2B5EF4-FFF2-40B4-BE49-F238E27FC236}">
                    <a16:creationId xmlns:a16="http://schemas.microsoft.com/office/drawing/2014/main" id="{99913174-B6FF-4629-64EC-DF392127587E}"/>
                  </a:ext>
                </a:extLst>
              </p:cNvPr>
              <p:cNvSpPr/>
              <p:nvPr/>
            </p:nvSpPr>
            <p:spPr>
              <a:xfrm>
                <a:off x="40665" y="0"/>
                <a:ext cx="1270" cy="280035"/>
              </a:xfrm>
              <a:custGeom>
                <a:avLst/>
                <a:gdLst/>
                <a:ahLst/>
                <a:cxnLst/>
                <a:rect l="l" t="t" r="r" b="b"/>
                <a:pathLst>
                  <a:path h="280035">
                    <a:moveTo>
                      <a:pt x="0" y="0"/>
                    </a:moveTo>
                    <a:lnTo>
                      <a:pt x="0" y="279618"/>
                    </a:lnTo>
                  </a:path>
                </a:pathLst>
              </a:custGeom>
              <a:ln w="10122">
                <a:solidFill>
                  <a:srgbClr val="000000"/>
                </a:solidFill>
                <a:prstDash val="solid"/>
              </a:ln>
            </p:spPr>
            <p:txBody>
              <a:bodyPr wrap="square" lIns="0" tIns="0" rIns="0" bIns="0" rtlCol="0">
                <a:prstTxWarp prst="textNoShape">
                  <a:avLst/>
                </a:prstTxWarp>
                <a:noAutofit/>
              </a:bodyPr>
              <a:lstStyle/>
              <a:p>
                <a:endParaRPr lang="en-US"/>
              </a:p>
            </p:txBody>
          </p:sp>
          <p:pic>
            <p:nvPicPr>
              <p:cNvPr id="42" name="Image 45">
                <a:extLst>
                  <a:ext uri="{FF2B5EF4-FFF2-40B4-BE49-F238E27FC236}">
                    <a16:creationId xmlns:a16="http://schemas.microsoft.com/office/drawing/2014/main" id="{1E21C4B6-54FE-EA90-6931-BCF04BE0A05F}"/>
                  </a:ext>
                </a:extLst>
              </p:cNvPr>
              <p:cNvPicPr/>
              <p:nvPr/>
            </p:nvPicPr>
            <p:blipFill>
              <a:blip r:embed="rId5" cstate="print"/>
              <a:stretch>
                <a:fillRect/>
              </a:stretch>
            </p:blipFill>
            <p:spPr>
              <a:xfrm>
                <a:off x="0" y="246026"/>
                <a:ext cx="81330" cy="104625"/>
              </a:xfrm>
              <a:prstGeom prst="rect">
                <a:avLst/>
              </a:prstGeom>
            </p:spPr>
          </p:pic>
        </p:grpSp>
        <p:sp>
          <p:nvSpPr>
            <p:cNvPr id="43" name="Textbox 46">
              <a:extLst>
                <a:ext uri="{FF2B5EF4-FFF2-40B4-BE49-F238E27FC236}">
                  <a16:creationId xmlns:a16="http://schemas.microsoft.com/office/drawing/2014/main" id="{AC0B7A2A-EE77-CEAD-3749-A83BA3B9AAB4}"/>
                </a:ext>
              </a:extLst>
            </p:cNvPr>
            <p:cNvSpPr txBox="1">
              <a:spLocks/>
            </p:cNvSpPr>
            <p:nvPr/>
          </p:nvSpPr>
          <p:spPr bwMode="auto">
            <a:xfrm>
              <a:off x="12035195" y="2944257"/>
              <a:ext cx="720725" cy="360363"/>
            </a:xfrm>
            <a:prstGeom prst="rect">
              <a:avLst/>
            </a:prstGeom>
            <a:noFill/>
            <a:ln w="506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0" tIns="0" rIns="0" bIns="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1"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B</a:t>
              </a:r>
              <a:r>
                <a:rPr kumimoji="0" lang="en-US" altLang="en-US" sz="12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r>
                <a:rPr kumimoji="0" lang="en-US" altLang="en-US" sz="1200" b="0" i="1"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a:t>
              </a:r>
              <a:r>
                <a:rPr kumimoji="0" lang="en-US" altLang="en-US" sz="12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6" name="Rectangle 48">
              <a:extLst>
                <a:ext uri="{FF2B5EF4-FFF2-40B4-BE49-F238E27FC236}">
                  <a16:creationId xmlns:a16="http://schemas.microsoft.com/office/drawing/2014/main" id="{DA880855-9A15-54EA-44C6-A2023DDBA3CD}"/>
                </a:ext>
              </a:extLst>
            </p:cNvPr>
            <p:cNvSpPr>
              <a:spLocks noChangeArrowheads="1"/>
            </p:cNvSpPr>
            <p:nvPr/>
          </p:nvSpPr>
          <p:spPr bwMode="auto">
            <a:xfrm>
              <a:off x="10826605" y="3508673"/>
              <a:ext cx="2304158" cy="738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12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δ</a:t>
              </a:r>
              <a:r>
                <a:rPr kumimoji="0" lang="en-US" altLang="en-US" sz="1200" b="0" i="0" u="none" strike="noStrike" cap="none" normalizeH="0" baseline="-30000" dirty="0">
                  <a:ln>
                    <a:noFill/>
                  </a:ln>
                  <a:solidFill>
                    <a:schemeClr val="tx1"/>
                  </a:solidFill>
                  <a:effectLst/>
                  <a:latin typeface="Times New Roman" panose="02020603050405020304" pitchFamily="18" charset="0"/>
                  <a:cs typeface="Times New Roman" panose="02020603050405020304" pitchFamily="18" charset="0"/>
                </a:rPr>
                <a:t>2</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kumimoji="0" lang="en-US" altLang="en-US" sz="12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θ</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12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12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2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δ</a:t>
              </a:r>
              <a:r>
                <a:rPr kumimoji="0" lang="en-US" altLang="en-US" sz="1200" b="0" i="0" u="none" strike="noStrike" cap="none" normalizeH="0" baseline="-30000" dirty="0">
                  <a:ln>
                    <a:noFill/>
                  </a:ln>
                  <a:solidFill>
                    <a:schemeClr val="tx1"/>
                  </a:solidFill>
                  <a:effectLst/>
                  <a:latin typeface="Times New Roman" panose="02020603050405020304" pitchFamily="18" charset="0"/>
                  <a:cs typeface="Times New Roman" panose="02020603050405020304" pitchFamily="18" charset="0"/>
                </a:rPr>
                <a:t>3</a:t>
              </a:r>
              <a:r>
                <a:rPr kumimoji="0" lang="en-US" altLang="en-US" sz="12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12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endParaRPr kumimoji="0" lang="en-US" altLang="en-US" sz="13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8" name="TextBox 47">
              <a:extLst>
                <a:ext uri="{FF2B5EF4-FFF2-40B4-BE49-F238E27FC236}">
                  <a16:creationId xmlns:a16="http://schemas.microsoft.com/office/drawing/2014/main" id="{9FA4349C-31DA-5CED-31A4-2E9109ADA6FF}"/>
                </a:ext>
              </a:extLst>
            </p:cNvPr>
            <p:cNvSpPr txBox="1"/>
            <p:nvPr/>
          </p:nvSpPr>
          <p:spPr>
            <a:xfrm>
              <a:off x="7835597" y="2419183"/>
              <a:ext cx="4823016" cy="646331"/>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Λ</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1"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sz="1800" b="0" i="1"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λA</a:t>
              </a:r>
              <a:r>
                <a:rPr kumimoji="0" lang="en-US" altLang="en-US" sz="18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t>
              </a:r>
              <a:r>
                <a:rPr kumimoji="0" lang="en-US" altLang="en-US" sz="1800" b="0" i="1"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a:t>
              </a:r>
              <a:r>
                <a:rPr kumimoji="0" lang="en-US" altLang="en-US" sz="18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t>
              </a:r>
              <a:endParaRPr kumimoji="0" lang="en-US" altLang="en-US" sz="16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9" name="Rectangle 48">
              <a:extLst>
                <a:ext uri="{FF2B5EF4-FFF2-40B4-BE49-F238E27FC236}">
                  <a16:creationId xmlns:a16="http://schemas.microsoft.com/office/drawing/2014/main" id="{18BC501A-58D0-918B-2135-13B9E63741C0}"/>
                </a:ext>
              </a:extLst>
            </p:cNvPr>
            <p:cNvSpPr/>
            <p:nvPr/>
          </p:nvSpPr>
          <p:spPr>
            <a:xfrm>
              <a:off x="7250795" y="4686300"/>
              <a:ext cx="6569980" cy="2515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262255" algn="ctr">
                <a:spcBef>
                  <a:spcPts val="0"/>
                </a:spcBef>
                <a:spcAft>
                  <a:spcPts val="0"/>
                </a:spcAft>
              </a:pPr>
              <a:r>
                <a:rPr lang="en-US" sz="1800" dirty="0">
                  <a:effectLst/>
                  <a:latin typeface="Times New Roman" panose="02020603050405020304" pitchFamily="18" charset="0"/>
                  <a:ea typeface="Calibri" panose="020F0502020204030204" pitchFamily="34" charset="0"/>
                </a:rPr>
                <a:t>Figure</a:t>
              </a:r>
              <a:r>
                <a:rPr lang="en-US" sz="1800" spc="205" dirty="0">
                  <a:effectLst/>
                  <a:latin typeface="Times New Roman" panose="02020603050405020304" pitchFamily="18" charset="0"/>
                  <a:ea typeface="Calibri" panose="020F0502020204030204" pitchFamily="34" charset="0"/>
                </a:rPr>
                <a:t> </a:t>
              </a:r>
              <a:r>
                <a:rPr lang="en-US" sz="1800" dirty="0">
                  <a:effectLst/>
                  <a:latin typeface="Times New Roman" panose="02020603050405020304" pitchFamily="18" charset="0"/>
                  <a:ea typeface="Calibri" panose="020F0502020204030204" pitchFamily="34" charset="0"/>
                </a:rPr>
                <a:t>3.1:</a:t>
              </a:r>
              <a:r>
                <a:rPr lang="en-US" sz="1800" spc="365" dirty="0">
                  <a:effectLst/>
                  <a:latin typeface="Times New Roman" panose="02020603050405020304" pitchFamily="18" charset="0"/>
                  <a:ea typeface="Calibri" panose="020F0502020204030204" pitchFamily="34" charset="0"/>
                </a:rPr>
                <a:t> </a:t>
              </a:r>
              <a:r>
                <a:rPr lang="en-US" sz="1800" dirty="0">
                  <a:effectLst/>
                  <a:latin typeface="Times New Roman" panose="02020603050405020304" pitchFamily="18" charset="0"/>
                  <a:ea typeface="Calibri" panose="020F0502020204030204" pitchFamily="34" charset="0"/>
                </a:rPr>
                <a:t>Flow</a:t>
              </a:r>
              <a:r>
                <a:rPr lang="en-US" sz="1800" spc="205" dirty="0">
                  <a:effectLst/>
                  <a:latin typeface="Times New Roman" panose="02020603050405020304" pitchFamily="18" charset="0"/>
                  <a:ea typeface="Calibri" panose="020F0502020204030204" pitchFamily="34" charset="0"/>
                </a:rPr>
                <a:t> </a:t>
              </a:r>
              <a:r>
                <a:rPr lang="en-US" sz="1800" dirty="0">
                  <a:effectLst/>
                  <a:latin typeface="Times New Roman" panose="02020603050405020304" pitchFamily="18" charset="0"/>
                  <a:ea typeface="Calibri" panose="020F0502020204030204" pitchFamily="34" charset="0"/>
                </a:rPr>
                <a:t>diagram</a:t>
              </a:r>
              <a:r>
                <a:rPr lang="en-US" sz="1800" spc="210" dirty="0">
                  <a:effectLst/>
                  <a:latin typeface="Times New Roman" panose="02020603050405020304" pitchFamily="18" charset="0"/>
                  <a:ea typeface="Calibri" panose="020F0502020204030204" pitchFamily="34" charset="0"/>
                </a:rPr>
                <a:t> </a:t>
              </a:r>
              <a:r>
                <a:rPr lang="en-US" sz="1800" dirty="0">
                  <a:effectLst/>
                  <a:latin typeface="Times New Roman" panose="02020603050405020304" pitchFamily="18" charset="0"/>
                  <a:ea typeface="Calibri" panose="020F0502020204030204" pitchFamily="34" charset="0"/>
                </a:rPr>
                <a:t>of</a:t>
              </a:r>
              <a:r>
                <a:rPr lang="en-US" sz="1800" spc="205" dirty="0">
                  <a:effectLst/>
                  <a:latin typeface="Times New Roman" panose="02020603050405020304" pitchFamily="18" charset="0"/>
                  <a:ea typeface="Calibri" panose="020F0502020204030204" pitchFamily="34" charset="0"/>
                </a:rPr>
                <a:t> </a:t>
              </a:r>
              <a:r>
                <a:rPr lang="en-US" sz="1800" dirty="0">
                  <a:effectLst/>
                  <a:latin typeface="Times New Roman" panose="02020603050405020304" pitchFamily="18" charset="0"/>
                  <a:ea typeface="Calibri" panose="020F0502020204030204" pitchFamily="34" charset="0"/>
                </a:rPr>
                <a:t>algae</a:t>
              </a:r>
              <a:r>
                <a:rPr lang="en-US" sz="1800" spc="205" dirty="0">
                  <a:effectLst/>
                  <a:latin typeface="Times New Roman" panose="02020603050405020304" pitchFamily="18" charset="0"/>
                  <a:ea typeface="Calibri" panose="020F0502020204030204" pitchFamily="34" charset="0"/>
                </a:rPr>
                <a:t> </a:t>
              </a:r>
              <a:r>
                <a:rPr lang="en-US" sz="1800" dirty="0">
                  <a:effectLst/>
                  <a:latin typeface="Times New Roman" panose="02020603050405020304" pitchFamily="18" charset="0"/>
                  <a:ea typeface="Calibri" panose="020F0502020204030204" pitchFamily="34" charset="0"/>
                </a:rPr>
                <a:t>lipid</a:t>
              </a:r>
              <a:r>
                <a:rPr lang="en-US" sz="1800" spc="210" dirty="0">
                  <a:effectLst/>
                  <a:latin typeface="Times New Roman" panose="02020603050405020304" pitchFamily="18" charset="0"/>
                  <a:ea typeface="Calibri" panose="020F0502020204030204" pitchFamily="34" charset="0"/>
                </a:rPr>
                <a:t> </a:t>
              </a:r>
              <a:r>
                <a:rPr lang="en-US" sz="1800" dirty="0">
                  <a:effectLst/>
                  <a:latin typeface="Times New Roman" panose="02020603050405020304" pitchFamily="18" charset="0"/>
                  <a:ea typeface="Calibri" panose="020F0502020204030204" pitchFamily="34" charset="0"/>
                </a:rPr>
                <a:t>production</a:t>
              </a:r>
              <a:r>
                <a:rPr lang="en-US" sz="1800" spc="205" dirty="0">
                  <a:effectLst/>
                  <a:latin typeface="Times New Roman" panose="02020603050405020304" pitchFamily="18" charset="0"/>
                  <a:ea typeface="Calibri" panose="020F0502020204030204" pitchFamily="34" charset="0"/>
                </a:rPr>
                <a:t> </a:t>
              </a:r>
              <a:r>
                <a:rPr lang="en-US" sz="1800" spc="-10" dirty="0">
                  <a:effectLst/>
                  <a:latin typeface="Times New Roman" panose="02020603050405020304" pitchFamily="18" charset="0"/>
                  <a:ea typeface="Calibri" panose="020F0502020204030204" pitchFamily="34" charset="0"/>
                </a:rPr>
                <a:t>dynamics</a:t>
              </a:r>
              <a:endParaRPr lang="en-US" sz="1800" dirty="0">
                <a:effectLst/>
                <a:latin typeface="Calibri" panose="020F0502020204030204" pitchFamily="34" charset="0"/>
                <a:ea typeface="Calibri" panose="020F0502020204030204" pitchFamily="34" charset="0"/>
              </a:endParaRPr>
            </a:p>
          </p:txBody>
        </p:sp>
      </p:grpSp>
      <p:sp>
        <p:nvSpPr>
          <p:cNvPr id="52" name="TextBox 51">
            <a:extLst>
              <a:ext uri="{FF2B5EF4-FFF2-40B4-BE49-F238E27FC236}">
                <a16:creationId xmlns:a16="http://schemas.microsoft.com/office/drawing/2014/main" id="{2A2DB2C3-128F-DA65-9EA9-47F36D14E1E3}"/>
              </a:ext>
            </a:extLst>
          </p:cNvPr>
          <p:cNvSpPr txBox="1"/>
          <p:nvPr/>
        </p:nvSpPr>
        <p:spPr>
          <a:xfrm>
            <a:off x="-401205" y="705007"/>
            <a:ext cx="7470320" cy="1320874"/>
          </a:xfrm>
          <a:prstGeom prst="rect">
            <a:avLst/>
          </a:prstGeom>
          <a:noFill/>
        </p:spPr>
        <p:txBody>
          <a:bodyPr wrap="square">
            <a:spAutoFit/>
          </a:bodyPr>
          <a:lstStyle/>
          <a:p>
            <a:pPr marL="1143000" marR="0" lvl="2" indent="-228600">
              <a:spcBef>
                <a:spcPts val="1185"/>
              </a:spcBef>
              <a:spcAft>
                <a:spcPts val="0"/>
              </a:spcAft>
              <a:buSzPts val="1200"/>
              <a:buFont typeface="Times New Roman" panose="02020603050405020304" pitchFamily="18" charset="0"/>
              <a:buAutoNum type="arabicPeriod"/>
              <a:tabLst>
                <a:tab pos="918210" algn="l"/>
              </a:tabLst>
            </a:pPr>
            <a:r>
              <a:rPr lang="en-US" sz="1600" b="1" spc="0" dirty="0">
                <a:solidFill>
                  <a:srgbClr val="FF0000"/>
                </a:solidFill>
                <a:effectLst/>
                <a:latin typeface="Arial Black" panose="020B0A04020102020204" pitchFamily="34" charset="0"/>
                <a:ea typeface="Calibri" panose="020F0502020204030204" pitchFamily="34" charset="0"/>
              </a:rPr>
              <a:t>Model</a:t>
            </a:r>
            <a:r>
              <a:rPr lang="en-US" sz="1600" b="1" spc="70" dirty="0">
                <a:solidFill>
                  <a:srgbClr val="FF0000"/>
                </a:solidFill>
                <a:effectLst/>
                <a:latin typeface="Arial Black" panose="020B0A04020102020204" pitchFamily="34" charset="0"/>
                <a:ea typeface="Calibri" panose="020F0502020204030204" pitchFamily="34" charset="0"/>
              </a:rPr>
              <a:t> </a:t>
            </a:r>
            <a:r>
              <a:rPr lang="en-US" sz="1600" b="1" spc="-10" dirty="0">
                <a:solidFill>
                  <a:srgbClr val="FF0000"/>
                </a:solidFill>
                <a:effectLst/>
                <a:latin typeface="Arial Black" panose="020B0A04020102020204" pitchFamily="34" charset="0"/>
                <a:ea typeface="Calibri" panose="020F0502020204030204" pitchFamily="34" charset="0"/>
              </a:rPr>
              <a:t>Assumptions</a:t>
            </a:r>
            <a:endParaRPr lang="en-US" sz="1600" b="1" spc="0" dirty="0">
              <a:solidFill>
                <a:srgbClr val="FF0000"/>
              </a:solidFill>
              <a:effectLst/>
              <a:latin typeface="Arial Black" panose="020B0A04020102020204" pitchFamily="34" charset="0"/>
              <a:ea typeface="Calibri" panose="020F0502020204030204" pitchFamily="34" charset="0"/>
            </a:endParaRPr>
          </a:p>
          <a:p>
            <a:pPr marR="0" lvl="3">
              <a:spcBef>
                <a:spcPts val="700"/>
              </a:spcBef>
              <a:spcAft>
                <a:spcPts val="0"/>
              </a:spcAft>
              <a:buSzPts val="1200"/>
              <a:tabLst>
                <a:tab pos="662940" algn="l"/>
              </a:tabLst>
            </a:pPr>
            <a:r>
              <a:rPr lang="en-US" sz="1400" spc="0" dirty="0">
                <a:solidFill>
                  <a:schemeClr val="accent4">
                    <a:lumMod val="75000"/>
                  </a:schemeClr>
                </a:solidFill>
                <a:effectLst/>
                <a:latin typeface="Bricolage Grotesque Semi Bold" panose="020B0604020202020204" charset="0"/>
                <a:ea typeface="Georgia" panose="02040502050405020303" pitchFamily="18" charset="0"/>
                <a:cs typeface="Georgia" panose="02040502050405020303" pitchFamily="18" charset="0"/>
              </a:rPr>
              <a:t>Homogeneous</a:t>
            </a:r>
            <a:r>
              <a:rPr lang="en-US" sz="1400" spc="180" dirty="0">
                <a:solidFill>
                  <a:schemeClr val="accent4">
                    <a:lumMod val="75000"/>
                  </a:schemeClr>
                </a:solidFill>
                <a:effectLst/>
                <a:latin typeface="Bricolage Grotesque Semi Bold" panose="020B0604020202020204" charset="0"/>
                <a:ea typeface="Georgia" panose="02040502050405020303" pitchFamily="18" charset="0"/>
                <a:cs typeface="Georgia" panose="02040502050405020303" pitchFamily="18" charset="0"/>
              </a:rPr>
              <a:t> </a:t>
            </a:r>
            <a:r>
              <a:rPr lang="en-US" sz="1400" i="1" spc="0" dirty="0">
                <a:solidFill>
                  <a:schemeClr val="accent4">
                    <a:lumMod val="75000"/>
                  </a:schemeClr>
                </a:solidFill>
                <a:effectLst/>
                <a:latin typeface="Bricolage Grotesque Semi Bold" panose="020B0604020202020204" charset="0"/>
                <a:ea typeface="Georgia" panose="02040502050405020303" pitchFamily="18" charset="0"/>
                <a:cs typeface="Georgia" panose="02040502050405020303" pitchFamily="18" charset="0"/>
              </a:rPr>
              <a:t>Chlorella</a:t>
            </a:r>
            <a:r>
              <a:rPr lang="en-US" sz="1400" i="1" spc="210" dirty="0">
                <a:solidFill>
                  <a:schemeClr val="accent4">
                    <a:lumMod val="75000"/>
                  </a:schemeClr>
                </a:solidFill>
                <a:effectLst/>
                <a:latin typeface="Bricolage Grotesque Semi Bold" panose="020B0604020202020204" charset="0"/>
                <a:ea typeface="Georgia" panose="02040502050405020303" pitchFamily="18" charset="0"/>
                <a:cs typeface="Georgia" panose="02040502050405020303" pitchFamily="18" charset="0"/>
              </a:rPr>
              <a:t> </a:t>
            </a:r>
            <a:r>
              <a:rPr lang="en-US" sz="1400" i="1" spc="0" dirty="0">
                <a:solidFill>
                  <a:schemeClr val="accent4">
                    <a:lumMod val="75000"/>
                  </a:schemeClr>
                </a:solidFill>
                <a:effectLst/>
                <a:latin typeface="Bricolage Grotesque Semi Bold" panose="020B0604020202020204" charset="0"/>
                <a:ea typeface="Georgia" panose="02040502050405020303" pitchFamily="18" charset="0"/>
                <a:cs typeface="Georgia" panose="02040502050405020303" pitchFamily="18" charset="0"/>
              </a:rPr>
              <a:t>vulgaris</a:t>
            </a:r>
            <a:r>
              <a:rPr lang="en-US" sz="1400" i="1" spc="290" dirty="0">
                <a:solidFill>
                  <a:schemeClr val="accent4">
                    <a:lumMod val="75000"/>
                  </a:schemeClr>
                </a:solidFill>
                <a:effectLst/>
                <a:latin typeface="Bricolage Grotesque Semi Bold" panose="020B0604020202020204" charset="0"/>
                <a:ea typeface="Georgia" panose="02040502050405020303" pitchFamily="18" charset="0"/>
                <a:cs typeface="Georgia" panose="02040502050405020303" pitchFamily="18" charset="0"/>
              </a:rPr>
              <a:t> </a:t>
            </a:r>
            <a:r>
              <a:rPr lang="en-US" sz="1400" spc="-10" dirty="0">
                <a:solidFill>
                  <a:schemeClr val="accent4">
                    <a:lumMod val="75000"/>
                  </a:schemeClr>
                </a:solidFill>
                <a:effectLst/>
                <a:latin typeface="Bricolage Grotesque Semi Bold" panose="020B0604020202020204" charset="0"/>
                <a:ea typeface="Georgia" panose="02040502050405020303" pitchFamily="18" charset="0"/>
                <a:cs typeface="Georgia" panose="02040502050405020303" pitchFamily="18" charset="0"/>
              </a:rPr>
              <a:t>population.</a:t>
            </a:r>
            <a:r>
              <a:rPr lang="en-US" sz="1400" dirty="0">
                <a:solidFill>
                  <a:schemeClr val="accent4">
                    <a:lumMod val="75000"/>
                  </a:schemeClr>
                </a:solidFill>
                <a:latin typeface="Bricolage Grotesque Semi Bold" panose="020B0604020202020204" charset="0"/>
                <a:ea typeface="Georgia" panose="02040502050405020303" pitchFamily="18" charset="0"/>
                <a:cs typeface="Georgia" panose="02040502050405020303" pitchFamily="18" charset="0"/>
              </a:rPr>
              <a:t> </a:t>
            </a:r>
            <a:r>
              <a:rPr lang="en-US" sz="1400" spc="0" dirty="0">
                <a:solidFill>
                  <a:schemeClr val="accent4">
                    <a:lumMod val="75000"/>
                  </a:schemeClr>
                </a:solidFill>
                <a:effectLst/>
                <a:latin typeface="Bricolage Grotesque Semi Bold" panose="020B0604020202020204" charset="0"/>
                <a:ea typeface="Georgia" panose="02040502050405020303" pitchFamily="18" charset="0"/>
                <a:cs typeface="Georgia" panose="02040502050405020303" pitchFamily="18" charset="0"/>
              </a:rPr>
              <a:t>Algae can die naturally or as a result of environmental factors. Nutrient-dependent</a:t>
            </a:r>
            <a:r>
              <a:rPr lang="en-US" sz="1400" spc="255" dirty="0">
                <a:solidFill>
                  <a:schemeClr val="accent4">
                    <a:lumMod val="75000"/>
                  </a:schemeClr>
                </a:solidFill>
                <a:effectLst/>
                <a:latin typeface="Bricolage Grotesque Semi Bold" panose="020B0604020202020204" charset="0"/>
                <a:ea typeface="Georgia" panose="02040502050405020303" pitchFamily="18" charset="0"/>
                <a:cs typeface="Georgia" panose="02040502050405020303" pitchFamily="18" charset="0"/>
              </a:rPr>
              <a:t> </a:t>
            </a:r>
            <a:r>
              <a:rPr lang="en-US" sz="1400" spc="0" dirty="0">
                <a:solidFill>
                  <a:schemeClr val="accent4">
                    <a:lumMod val="75000"/>
                  </a:schemeClr>
                </a:solidFill>
                <a:effectLst/>
                <a:latin typeface="Bricolage Grotesque Semi Bold" panose="020B0604020202020204" charset="0"/>
                <a:ea typeface="Georgia" panose="02040502050405020303" pitchFamily="18" charset="0"/>
                <a:cs typeface="Georgia" panose="02040502050405020303" pitchFamily="18" charset="0"/>
              </a:rPr>
              <a:t>lipid</a:t>
            </a:r>
            <a:r>
              <a:rPr lang="en-US" sz="1400" spc="245" dirty="0">
                <a:solidFill>
                  <a:schemeClr val="accent4">
                    <a:lumMod val="75000"/>
                  </a:schemeClr>
                </a:solidFill>
                <a:effectLst/>
                <a:latin typeface="Bricolage Grotesque Semi Bold" panose="020B0604020202020204" charset="0"/>
                <a:ea typeface="Georgia" panose="02040502050405020303" pitchFamily="18" charset="0"/>
                <a:cs typeface="Georgia" panose="02040502050405020303" pitchFamily="18" charset="0"/>
              </a:rPr>
              <a:t> </a:t>
            </a:r>
            <a:r>
              <a:rPr lang="en-US" sz="1400" spc="-10" dirty="0">
                <a:solidFill>
                  <a:schemeClr val="accent4">
                    <a:lumMod val="75000"/>
                  </a:schemeClr>
                </a:solidFill>
                <a:effectLst/>
                <a:latin typeface="Bricolage Grotesque Semi Bold" panose="020B0604020202020204" charset="0"/>
                <a:ea typeface="Georgia" panose="02040502050405020303" pitchFamily="18" charset="0"/>
                <a:cs typeface="Georgia" panose="02040502050405020303" pitchFamily="18" charset="0"/>
              </a:rPr>
              <a:t>accumulation.</a:t>
            </a:r>
            <a:r>
              <a:rPr lang="en-US" sz="1400" dirty="0">
                <a:solidFill>
                  <a:schemeClr val="accent4">
                    <a:lumMod val="75000"/>
                  </a:schemeClr>
                </a:solidFill>
                <a:latin typeface="Bricolage Grotesque Semi Bold" panose="020B0604020202020204" charset="0"/>
                <a:ea typeface="Georgia" panose="02040502050405020303" pitchFamily="18" charset="0"/>
                <a:cs typeface="Georgia" panose="02040502050405020303" pitchFamily="18" charset="0"/>
              </a:rPr>
              <a:t> </a:t>
            </a:r>
            <a:r>
              <a:rPr lang="en-US" sz="1400" spc="0" dirty="0">
                <a:solidFill>
                  <a:schemeClr val="accent4">
                    <a:lumMod val="75000"/>
                  </a:schemeClr>
                </a:solidFill>
                <a:effectLst/>
                <a:latin typeface="Bricolage Grotesque Semi Bold" panose="020B0604020202020204" charset="0"/>
                <a:ea typeface="Georgia" panose="02040502050405020303" pitchFamily="18" charset="0"/>
                <a:cs typeface="Georgia" panose="02040502050405020303" pitchFamily="18" charset="0"/>
              </a:rPr>
              <a:t>Transplanted algae can be introduced into the total algae community (farm). Some algae can be genetically modified</a:t>
            </a:r>
            <a:r>
              <a:rPr lang="en-US" sz="1600" spc="0" dirty="0">
                <a:effectLst/>
                <a:latin typeface="Bricolage Grotesque Semi Bold" panose="020B0604020202020204" charset="0"/>
                <a:ea typeface="Georgia" panose="02040502050405020303" pitchFamily="18" charset="0"/>
                <a:cs typeface="Georgia" panose="02040502050405020303" pitchFamily="18" charset="0"/>
              </a:rPr>
              <a:t>.</a:t>
            </a:r>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D86CE5D5-1A67-352B-3336-A5F216520EDA}"/>
                  </a:ext>
                </a:extLst>
              </p:cNvPr>
              <p:cNvSpPr txBox="1"/>
              <p:nvPr/>
            </p:nvSpPr>
            <p:spPr>
              <a:xfrm>
                <a:off x="7864789" y="3840120"/>
                <a:ext cx="8628289" cy="3273268"/>
              </a:xfrm>
              <a:prstGeom prst="rect">
                <a:avLst/>
              </a:prstGeom>
              <a:noFill/>
            </p:spPr>
            <p:txBody>
              <a:bodyPr wrap="square" rtlCol="0">
                <a:spAutoFit/>
              </a:bodyPr>
              <a:lstStyle/>
              <a:p>
                <a:pPr marL="1143000" marR="0" lvl="2" indent="-228600">
                  <a:spcBef>
                    <a:spcPts val="170"/>
                  </a:spcBef>
                  <a:spcAft>
                    <a:spcPts val="0"/>
                  </a:spcAft>
                  <a:buSzPts val="1200"/>
                  <a:buFont typeface="Times New Roman" panose="02020603050405020304" pitchFamily="18" charset="0"/>
                  <a:buAutoNum type="arabicPeriod"/>
                  <a:tabLst>
                    <a:tab pos="918210" algn="l"/>
                  </a:tabLst>
                </a:pPr>
                <a:r>
                  <a:rPr lang="en-US" sz="1400" b="1" spc="0" dirty="0">
                    <a:effectLst/>
                    <a:latin typeface="Times New Roman" panose="02020603050405020304" pitchFamily="18" charset="0"/>
                    <a:ea typeface="Calibri" panose="020F0502020204030204" pitchFamily="34" charset="0"/>
                  </a:rPr>
                  <a:t>Model</a:t>
                </a:r>
                <a:r>
                  <a:rPr lang="en-US" sz="1400" b="1" spc="70" dirty="0">
                    <a:effectLst/>
                    <a:latin typeface="Times New Roman" panose="02020603050405020304" pitchFamily="18" charset="0"/>
                    <a:ea typeface="Calibri" panose="020F0502020204030204" pitchFamily="34" charset="0"/>
                  </a:rPr>
                  <a:t> </a:t>
                </a:r>
                <a:r>
                  <a:rPr lang="en-US" sz="1400" b="1" spc="-10" dirty="0">
                    <a:effectLst/>
                    <a:latin typeface="Times New Roman" panose="02020603050405020304" pitchFamily="18" charset="0"/>
                    <a:ea typeface="Calibri" panose="020F0502020204030204" pitchFamily="34" charset="0"/>
                  </a:rPr>
                  <a:t>Equations</a:t>
                </a:r>
                <a:endParaRPr lang="en-US" sz="1400" b="1" spc="0" dirty="0">
                  <a:effectLst/>
                  <a:latin typeface="Calibri" panose="020F0502020204030204" pitchFamily="34" charset="0"/>
                  <a:ea typeface="Calibri" panose="020F0502020204030204" pitchFamily="34" charset="0"/>
                </a:endParaRPr>
              </a:p>
              <a:p>
                <a:pPr marL="292100" marR="0">
                  <a:spcBef>
                    <a:spcPts val="700"/>
                  </a:spcBef>
                  <a:spcAft>
                    <a:spcPts val="0"/>
                  </a:spcAft>
                </a:pPr>
                <a:r>
                  <a:rPr lang="en-US" sz="1200" dirty="0">
                    <a:effectLst/>
                    <a:latin typeface="Times New Roman" panose="02020603050405020304" pitchFamily="18" charset="0"/>
                    <a:ea typeface="Calibri" panose="020F0502020204030204" pitchFamily="34" charset="0"/>
                  </a:rPr>
                  <a:t>The model assumptions, together with the model flow diagram, enable us to formulate </a:t>
                </a:r>
              </a:p>
              <a:p>
                <a:pPr marL="292100" marR="0">
                  <a:spcBef>
                    <a:spcPts val="700"/>
                  </a:spcBef>
                  <a:spcAft>
                    <a:spcPts val="0"/>
                  </a:spcAft>
                </a:pPr>
                <a:r>
                  <a:rPr lang="en-US" sz="1200" dirty="0">
                    <a:effectLst/>
                    <a:latin typeface="Times New Roman" panose="02020603050405020304" pitchFamily="18" charset="0"/>
                    <a:ea typeface="Calibri" panose="020F0502020204030204" pitchFamily="34" charset="0"/>
                  </a:rPr>
                  <a:t>the given</a:t>
                </a:r>
                <a:r>
                  <a:rPr lang="en-US" sz="1200" spc="15" dirty="0">
                    <a:effectLst/>
                    <a:latin typeface="Times New Roman" panose="02020603050405020304" pitchFamily="18" charset="0"/>
                    <a:ea typeface="Calibri" panose="020F0502020204030204" pitchFamily="34" charset="0"/>
                  </a:rPr>
                  <a:t> </a:t>
                </a:r>
                <a:r>
                  <a:rPr lang="en-US" sz="1200" dirty="0">
                    <a:effectLst/>
                    <a:latin typeface="Times New Roman" panose="02020603050405020304" pitchFamily="18" charset="0"/>
                    <a:ea typeface="Calibri" panose="020F0502020204030204" pitchFamily="34" charset="0"/>
                  </a:rPr>
                  <a:t>system</a:t>
                </a:r>
                <a:r>
                  <a:rPr lang="en-US" sz="1200" spc="20" dirty="0">
                    <a:effectLst/>
                    <a:latin typeface="Times New Roman" panose="02020603050405020304" pitchFamily="18" charset="0"/>
                    <a:ea typeface="Calibri" panose="020F0502020204030204" pitchFamily="34" charset="0"/>
                  </a:rPr>
                  <a:t> </a:t>
                </a:r>
                <a:r>
                  <a:rPr lang="en-US" sz="1200" dirty="0">
                    <a:effectLst/>
                    <a:latin typeface="Times New Roman" panose="02020603050405020304" pitchFamily="18" charset="0"/>
                    <a:ea typeface="Calibri" panose="020F0502020204030204" pitchFamily="34" charset="0"/>
                  </a:rPr>
                  <a:t>dynamics for our proposed model, which</a:t>
                </a:r>
                <a:r>
                  <a:rPr lang="en-US" sz="1200" spc="20" dirty="0">
                    <a:effectLst/>
                    <a:latin typeface="Times New Roman" panose="02020603050405020304" pitchFamily="18" charset="0"/>
                    <a:ea typeface="Calibri" panose="020F0502020204030204" pitchFamily="34" charset="0"/>
                  </a:rPr>
                  <a:t> is </a:t>
                </a:r>
                <a:r>
                  <a:rPr lang="en-US" sz="1200" dirty="0">
                    <a:effectLst/>
                    <a:latin typeface="Times New Roman" panose="02020603050405020304" pitchFamily="18" charset="0"/>
                    <a:ea typeface="Calibri" panose="020F0502020204030204" pitchFamily="34" charset="0"/>
                  </a:rPr>
                  <a:t>described</a:t>
                </a:r>
                <a:r>
                  <a:rPr lang="en-US" sz="1200" spc="20" dirty="0">
                    <a:effectLst/>
                    <a:latin typeface="Times New Roman" panose="02020603050405020304" pitchFamily="18" charset="0"/>
                    <a:ea typeface="Calibri" panose="020F0502020204030204" pitchFamily="34" charset="0"/>
                  </a:rPr>
                  <a:t> </a:t>
                </a:r>
                <a:r>
                  <a:rPr lang="en-US" sz="1200" spc="-25" dirty="0">
                    <a:effectLst/>
                    <a:latin typeface="Times New Roman" panose="02020603050405020304" pitchFamily="18" charset="0"/>
                    <a:ea typeface="Calibri" panose="020F0502020204030204" pitchFamily="34" charset="0"/>
                  </a:rPr>
                  <a:t>by:</a:t>
                </a: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f>
                      <m:fPr>
                        <m:ctrlPr>
                          <a:rPr lang="en-US" sz="11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100" i="1">
                            <a:effectLst/>
                            <a:latin typeface="Cambria Math" panose="02040503050406030204" pitchFamily="18" charset="0"/>
                            <a:ea typeface="Calibri" panose="020F0502020204030204" pitchFamily="34" charset="0"/>
                            <a:cs typeface="Times New Roman" panose="02020603050405020304" pitchFamily="18" charset="0"/>
                          </a:rPr>
                          <m:t>𝑑𝐴</m:t>
                        </m:r>
                      </m:num>
                      <m:den>
                        <m:r>
                          <a:rPr lang="en-US" sz="1100" i="1">
                            <a:effectLst/>
                            <a:latin typeface="Cambria Math" panose="02040503050406030204" pitchFamily="18" charset="0"/>
                            <a:ea typeface="Calibri" panose="020F0502020204030204" pitchFamily="34" charset="0"/>
                            <a:cs typeface="Times New Roman" panose="02020603050405020304" pitchFamily="18" charset="0"/>
                          </a:rPr>
                          <m:t>𝑑𝑡</m:t>
                        </m:r>
                      </m:den>
                    </m:f>
                    <m:r>
                      <a:rPr lang="en-US" sz="1100" i="1">
                        <a:effectLst/>
                        <a:latin typeface="Cambria Math" panose="02040503050406030204" pitchFamily="18" charset="0"/>
                        <a:ea typeface="Calibri" panose="020F0502020204030204" pitchFamily="34" charset="0"/>
                        <a:cs typeface="Times New Roman" panose="02020603050405020304" pitchFamily="18" charset="0"/>
                      </a:rPr>
                      <m:t>= </m:t>
                    </m:r>
                    <m:r>
                      <m:rPr>
                        <m:sty m:val="p"/>
                      </m:rPr>
                      <a:rPr lang="en-US" sz="1100">
                        <a:effectLst/>
                        <a:latin typeface="Cambria Math" panose="02040503050406030204" pitchFamily="18" charset="0"/>
                        <a:ea typeface="Calibri" panose="020F0502020204030204" pitchFamily="34" charset="0"/>
                        <a:cs typeface="Times New Roman" panose="02020603050405020304" pitchFamily="18" charset="0"/>
                      </a:rPr>
                      <m:t>Λ</m:t>
                    </m:r>
                    <m:r>
                      <a:rPr lang="en-US" sz="1100" i="1">
                        <a:effectLst/>
                        <a:latin typeface="Cambria Math" panose="02040503050406030204" pitchFamily="18" charset="0"/>
                        <a:ea typeface="Calibri" panose="020F0502020204030204" pitchFamily="34" charset="0"/>
                        <a:cs typeface="Times New Roman" panose="02020603050405020304" pitchFamily="18" charset="0"/>
                      </a:rPr>
                      <m:t>+</m:t>
                    </m:r>
                    <m:r>
                      <a:rPr lang="en-US" sz="1100" i="1">
                        <a:effectLst/>
                        <a:latin typeface="Cambria Math" panose="02040503050406030204" pitchFamily="18" charset="0"/>
                        <a:ea typeface="Calibri" panose="020F0502020204030204" pitchFamily="34" charset="0"/>
                        <a:cs typeface="Times New Roman" panose="02020603050405020304" pitchFamily="18" charset="0"/>
                      </a:rPr>
                      <m:t>𝑘𝐺</m:t>
                    </m:r>
                    <m:r>
                      <a:rPr lang="en-US" sz="1100" i="1">
                        <a:effectLst/>
                        <a:latin typeface="Cambria Math" panose="02040503050406030204" pitchFamily="18" charset="0"/>
                        <a:ea typeface="Calibri" panose="020F0502020204030204" pitchFamily="34" charset="0"/>
                        <a:cs typeface="Times New Roman" panose="02020603050405020304" pitchFamily="18" charset="0"/>
                      </a:rPr>
                      <m:t>+</m:t>
                    </m:r>
                    <m:r>
                      <a:rPr lang="en-US" sz="1100" i="1">
                        <a:effectLst/>
                        <a:latin typeface="Cambria Math" panose="02040503050406030204" pitchFamily="18" charset="0"/>
                        <a:ea typeface="Calibri" panose="020F0502020204030204" pitchFamily="34" charset="0"/>
                        <a:cs typeface="Times New Roman" panose="02020603050405020304" pitchFamily="18" charset="0"/>
                      </a:rPr>
                      <m:t>𝜃</m:t>
                    </m:r>
                    <m:r>
                      <a:rPr lang="en-US" sz="1100" i="1">
                        <a:effectLst/>
                        <a:latin typeface="Cambria Math" panose="02040503050406030204" pitchFamily="18" charset="0"/>
                        <a:ea typeface="Calibri" panose="020F0502020204030204" pitchFamily="34" charset="0"/>
                        <a:cs typeface="Times New Roman" panose="02020603050405020304" pitchFamily="18" charset="0"/>
                      </a:rPr>
                      <m:t>𝐻</m:t>
                    </m:r>
                    <m:r>
                      <a:rPr lang="en-US" sz="1100" i="1">
                        <a:effectLst/>
                        <a:latin typeface="Cambria Math" panose="02040503050406030204" pitchFamily="18" charset="0"/>
                        <a:ea typeface="Calibri" panose="020F0502020204030204" pitchFamily="34" charset="0"/>
                        <a:cs typeface="Times New Roman" panose="02020603050405020304" pitchFamily="18" charset="0"/>
                      </a:rPr>
                      <m:t>−</m:t>
                    </m:r>
                    <m:r>
                      <m:rPr>
                        <m:sty m:val="p"/>
                      </m:rPr>
                      <a:rPr lang="en-US" sz="1100">
                        <a:effectLst/>
                        <a:latin typeface="Cambria Math" panose="02040503050406030204" pitchFamily="18" charset="0"/>
                        <a:ea typeface="Calibri" panose="020F0502020204030204" pitchFamily="34" charset="0"/>
                        <a:cs typeface="Times New Roman" panose="02020603050405020304" pitchFamily="18" charset="0"/>
                      </a:rPr>
                      <m:t>λ</m:t>
                    </m:r>
                    <m:r>
                      <a:rPr lang="en-US" sz="1100" i="1">
                        <a:effectLst/>
                        <a:latin typeface="Cambria Math" panose="02040503050406030204" pitchFamily="18" charset="0"/>
                        <a:ea typeface="Calibri" panose="020F0502020204030204" pitchFamily="34" charset="0"/>
                        <a:cs typeface="Times New Roman" panose="02020603050405020304" pitchFamily="18" charset="0"/>
                      </a:rPr>
                      <m:t>𝐴</m:t>
                    </m:r>
                    <m:r>
                      <a:rPr lang="en-US" sz="1200" i="1">
                        <a:effectLst/>
                        <a:latin typeface="Cambria Math" panose="02040503050406030204" pitchFamily="18" charset="0"/>
                        <a:ea typeface="Calibri" panose="020F0502020204030204" pitchFamily="34" charset="0"/>
                        <a:cs typeface="Times New Roman" panose="02020603050405020304" pitchFamily="18" charset="0"/>
                      </a:rPr>
                      <m:t>−</m:t>
                    </m:r>
                    <m:r>
                      <a:rPr lang="en-US" sz="1200" i="1">
                        <a:effectLst/>
                        <a:latin typeface="Cambria Math" panose="02040503050406030204" pitchFamily="18" charset="0"/>
                        <a:ea typeface="Calibri" panose="020F0502020204030204" pitchFamily="34" charset="0"/>
                        <a:cs typeface="Times New Roman" panose="02020603050405020304" pitchFamily="18" charset="0"/>
                      </a:rPr>
                      <m:t>𝜇</m:t>
                    </m:r>
                    <m:r>
                      <a:rPr lang="en-US" sz="1200" i="1">
                        <a:effectLst/>
                        <a:latin typeface="Cambria Math" panose="02040503050406030204" pitchFamily="18" charset="0"/>
                        <a:ea typeface="Calibri" panose="020F0502020204030204" pitchFamily="34" charset="0"/>
                        <a:cs typeface="Times New Roman" panose="02020603050405020304" pitchFamily="18" charset="0"/>
                      </a:rPr>
                      <m:t>𝐴</m:t>
                    </m:r>
                  </m:oMath>
                </a14:m>
                <a:r>
                  <a:rPr lang="en-US" sz="1200" dirty="0">
                    <a:effectLst/>
                    <a:latin typeface="Times New Roman" panose="02020603050405020304" pitchFamily="18" charset="0"/>
                    <a:ea typeface="Calibri" panose="020F0502020204030204" pitchFamily="34" charset="0"/>
                    <a:cs typeface="Times New Roman" panose="02020603050405020304" pitchFamily="18" charset="0"/>
                  </a:rPr>
                  <a:t>  	 	(2)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457200" algn="just">
                  <a:lnSpc>
                    <a:spcPct val="107000"/>
                  </a:lnSpc>
                  <a:spcBef>
                    <a:spcPts val="0"/>
                  </a:spcBef>
                  <a:spcAft>
                    <a:spcPts val="800"/>
                  </a:spcAft>
                </a:pPr>
                <a14:m>
                  <m:oMath xmlns:m="http://schemas.openxmlformats.org/officeDocument/2006/math">
                    <m:f>
                      <m:fPr>
                        <m:ctrlPr>
                          <a:rPr lang="en-US" sz="11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100" i="1">
                            <a:effectLst/>
                            <a:latin typeface="Cambria Math" panose="02040503050406030204" pitchFamily="18" charset="0"/>
                            <a:ea typeface="Calibri" panose="020F0502020204030204" pitchFamily="34" charset="0"/>
                            <a:cs typeface="Times New Roman" panose="02020603050405020304" pitchFamily="18" charset="0"/>
                          </a:rPr>
                          <m:t>𝑑𝐸</m:t>
                        </m:r>
                      </m:num>
                      <m:den>
                        <m:r>
                          <a:rPr lang="en-US" sz="1100" i="1">
                            <a:effectLst/>
                            <a:latin typeface="Cambria Math" panose="02040503050406030204" pitchFamily="18" charset="0"/>
                            <a:ea typeface="Calibri" panose="020F0502020204030204" pitchFamily="34" charset="0"/>
                            <a:cs typeface="Times New Roman" panose="02020603050405020304" pitchFamily="18" charset="0"/>
                          </a:rPr>
                          <m:t>𝑑𝑡</m:t>
                        </m:r>
                      </m:den>
                    </m:f>
                    <m:r>
                      <a:rPr lang="en-US" sz="1100" i="1">
                        <a:effectLst/>
                        <a:latin typeface="Cambria Math" panose="02040503050406030204" pitchFamily="18" charset="0"/>
                        <a:ea typeface="Calibri" panose="020F0502020204030204" pitchFamily="34" charset="0"/>
                        <a:cs typeface="Times New Roman" panose="02020603050405020304" pitchFamily="18" charset="0"/>
                      </a:rPr>
                      <m:t>= </m:t>
                    </m:r>
                    <m:r>
                      <m:rPr>
                        <m:sty m:val="p"/>
                      </m:rPr>
                      <a:rPr lang="en-US" sz="1100">
                        <a:effectLst/>
                        <a:latin typeface="Cambria Math" panose="02040503050406030204" pitchFamily="18" charset="0"/>
                        <a:ea typeface="Calibri" panose="020F0502020204030204" pitchFamily="34" charset="0"/>
                        <a:cs typeface="Times New Roman" panose="02020603050405020304" pitchFamily="18" charset="0"/>
                      </a:rPr>
                      <m:t>λ</m:t>
                    </m:r>
                    <m:r>
                      <a:rPr lang="en-US" sz="1100" i="1">
                        <a:effectLst/>
                        <a:latin typeface="Cambria Math" panose="02040503050406030204" pitchFamily="18" charset="0"/>
                        <a:ea typeface="Calibri" panose="020F0502020204030204" pitchFamily="34" charset="0"/>
                        <a:cs typeface="Times New Roman" panose="02020603050405020304" pitchFamily="18" charset="0"/>
                      </a:rPr>
                      <m:t>𝐴</m:t>
                    </m:r>
                    <m:r>
                      <a:rPr lang="en-US" sz="1100" i="1">
                        <a:effectLst/>
                        <a:latin typeface="Cambria Math" panose="02040503050406030204" pitchFamily="18" charset="0"/>
                        <a:ea typeface="Calibri" panose="020F0502020204030204" pitchFamily="34" charset="0"/>
                        <a:cs typeface="Times New Roman" panose="02020603050405020304" pitchFamily="18" charset="0"/>
                      </a:rPr>
                      <m:t> −[</m:t>
                    </m:r>
                    <m:r>
                      <a:rPr lang="en-US" sz="1100" i="1">
                        <a:effectLst/>
                        <a:latin typeface="Cambria Math" panose="02040503050406030204" pitchFamily="18" charset="0"/>
                        <a:ea typeface="Calibri" panose="020F0502020204030204" pitchFamily="34" charset="0"/>
                        <a:cs typeface="Times New Roman" panose="02020603050405020304" pitchFamily="18" charset="0"/>
                      </a:rPr>
                      <m:t>𝛼</m:t>
                    </m:r>
                    <m:r>
                      <a:rPr lang="en-US" sz="11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1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100" i="1">
                            <a:effectLst/>
                            <a:latin typeface="Cambria Math" panose="02040503050406030204" pitchFamily="18" charset="0"/>
                            <a:ea typeface="Calibri" panose="020F0502020204030204" pitchFamily="34" charset="0"/>
                            <a:cs typeface="Times New Roman" panose="02020603050405020304" pitchFamily="18" charset="0"/>
                          </a:rPr>
                          <m:t>𝛿</m:t>
                        </m:r>
                      </m:e>
                      <m:sub>
                        <m:r>
                          <a:rPr lang="en-US" sz="1100" i="1">
                            <a:effectLst/>
                            <a:latin typeface="Cambria Math" panose="02040503050406030204" pitchFamily="18" charset="0"/>
                            <a:ea typeface="Calibri" panose="020F0502020204030204" pitchFamily="34" charset="0"/>
                            <a:cs typeface="Times New Roman" panose="02020603050405020304" pitchFamily="18" charset="0"/>
                          </a:rPr>
                          <m:t>1</m:t>
                        </m:r>
                      </m:sub>
                    </m:sSub>
                    <m:r>
                      <a:rPr lang="en-US" sz="1100" i="1">
                        <a:effectLst/>
                        <a:latin typeface="Cambria Math" panose="02040503050406030204" pitchFamily="18" charset="0"/>
                        <a:ea typeface="Calibri" panose="020F0502020204030204" pitchFamily="34" charset="0"/>
                        <a:cs typeface="Times New Roman" panose="02020603050405020304" pitchFamily="18" charset="0"/>
                      </a:rPr>
                      <m:t>+</m:t>
                    </m:r>
                    <m:r>
                      <a:rPr lang="en-US" sz="1100" i="1">
                        <a:effectLst/>
                        <a:latin typeface="Cambria Math" panose="02040503050406030204" pitchFamily="18" charset="0"/>
                        <a:ea typeface="Calibri" panose="020F0502020204030204" pitchFamily="34" charset="0"/>
                        <a:cs typeface="Times New Roman" panose="02020603050405020304" pitchFamily="18" charset="0"/>
                      </a:rPr>
                      <m:t>𝜇</m:t>
                    </m:r>
                    <m:r>
                      <a:rPr lang="en-US" sz="1100" i="1">
                        <a:effectLst/>
                        <a:latin typeface="Cambria Math" panose="02040503050406030204" pitchFamily="18" charset="0"/>
                        <a:ea typeface="Calibri" panose="020F0502020204030204" pitchFamily="34" charset="0"/>
                        <a:cs typeface="Times New Roman" panose="02020603050405020304" pitchFamily="18" charset="0"/>
                      </a:rPr>
                      <m:t> ]</m:t>
                    </m:r>
                    <m:r>
                      <a:rPr lang="en-US" sz="1100" i="1">
                        <a:effectLst/>
                        <a:latin typeface="Cambria Math" panose="02040503050406030204" pitchFamily="18" charset="0"/>
                        <a:ea typeface="Calibri" panose="020F0502020204030204" pitchFamily="34" charset="0"/>
                        <a:cs typeface="Times New Roman" panose="02020603050405020304" pitchFamily="18" charset="0"/>
                      </a:rPr>
                      <m:t>𝐸</m:t>
                    </m:r>
                    <m:r>
                      <a:rPr lang="en-US" sz="1100" i="1">
                        <a:effectLst/>
                        <a:latin typeface="Cambria Math" panose="02040503050406030204" pitchFamily="18" charset="0"/>
                        <a:ea typeface="Calibri" panose="020F0502020204030204" pitchFamily="34" charset="0"/>
                        <a:cs typeface="Times New Roman" panose="02020603050405020304" pitchFamily="18" charset="0"/>
                      </a:rPr>
                      <m:t> </m:t>
                    </m:r>
                  </m:oMath>
                </a14:m>
                <a:r>
                  <a:rPr lang="en-US" sz="1200" dirty="0">
                    <a:effectLst/>
                    <a:latin typeface="Times New Roman" panose="02020603050405020304" pitchFamily="18" charset="0"/>
                    <a:ea typeface="Calibri" panose="020F0502020204030204" pitchFamily="34" charset="0"/>
                    <a:cs typeface="Times New Roman" panose="02020603050405020304" pitchFamily="18" charset="0"/>
                  </a:rPr>
                  <a:t>   			(3)</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457200" algn="just">
                  <a:lnSpc>
                    <a:spcPct val="107000"/>
                  </a:lnSpc>
                  <a:spcBef>
                    <a:spcPts val="0"/>
                  </a:spcBef>
                  <a:spcAft>
                    <a:spcPts val="800"/>
                  </a:spcAft>
                </a:pPr>
                <a14:m>
                  <m:oMath xmlns:m="http://schemas.openxmlformats.org/officeDocument/2006/math">
                    <m:f>
                      <m:fPr>
                        <m:ctrlPr>
                          <a:rPr lang="en-US" sz="11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100" i="1">
                            <a:effectLst/>
                            <a:latin typeface="Cambria Math" panose="02040503050406030204" pitchFamily="18" charset="0"/>
                            <a:ea typeface="Calibri" panose="020F0502020204030204" pitchFamily="34" charset="0"/>
                            <a:cs typeface="Times New Roman" panose="02020603050405020304" pitchFamily="18" charset="0"/>
                          </a:rPr>
                          <m:t>𝑑𝐻</m:t>
                        </m:r>
                      </m:num>
                      <m:den>
                        <m:r>
                          <a:rPr lang="en-US" sz="1100" i="1">
                            <a:effectLst/>
                            <a:latin typeface="Cambria Math" panose="02040503050406030204" pitchFamily="18" charset="0"/>
                            <a:ea typeface="Calibri" panose="020F0502020204030204" pitchFamily="34" charset="0"/>
                            <a:cs typeface="Times New Roman" panose="02020603050405020304" pitchFamily="18" charset="0"/>
                          </a:rPr>
                          <m:t>𝑑𝑡</m:t>
                        </m:r>
                      </m:den>
                    </m:f>
                    <m:r>
                      <a:rPr lang="en-US" sz="1100" i="1">
                        <a:effectLst/>
                        <a:latin typeface="Cambria Math" panose="02040503050406030204" pitchFamily="18" charset="0"/>
                        <a:ea typeface="Calibri" panose="020F0502020204030204" pitchFamily="34" charset="0"/>
                        <a:cs typeface="Times New Roman" panose="02020603050405020304" pitchFamily="18" charset="0"/>
                      </a:rPr>
                      <m:t>=  </m:t>
                    </m:r>
                    <m:r>
                      <a:rPr lang="en-US" sz="1100" i="1">
                        <a:effectLst/>
                        <a:latin typeface="Cambria Math" panose="02040503050406030204" pitchFamily="18" charset="0"/>
                        <a:ea typeface="Calibri" panose="020F0502020204030204" pitchFamily="34" charset="0"/>
                        <a:cs typeface="Times New Roman" panose="02020603050405020304" pitchFamily="18" charset="0"/>
                      </a:rPr>
                      <m:t>𝛼</m:t>
                    </m:r>
                    <m:r>
                      <a:rPr lang="en-US" sz="1100" i="1">
                        <a:effectLst/>
                        <a:latin typeface="Cambria Math" panose="02040503050406030204" pitchFamily="18" charset="0"/>
                        <a:ea typeface="Calibri" panose="020F0502020204030204" pitchFamily="34" charset="0"/>
                        <a:cs typeface="Times New Roman" panose="02020603050405020304" pitchFamily="18" charset="0"/>
                      </a:rPr>
                      <m:t>𝐸</m:t>
                    </m:r>
                    <m:r>
                      <a:rPr lang="en-US" sz="11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1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100" i="1">
                            <a:effectLst/>
                            <a:latin typeface="Cambria Math" panose="02040503050406030204" pitchFamily="18" charset="0"/>
                            <a:ea typeface="Calibri" panose="020F0502020204030204" pitchFamily="34" charset="0"/>
                            <a:cs typeface="Times New Roman" panose="02020603050405020304" pitchFamily="18" charset="0"/>
                          </a:rPr>
                          <m:t>𝛿</m:t>
                        </m:r>
                      </m:e>
                      <m:sub>
                        <m:r>
                          <a:rPr lang="en-US" sz="1100" i="1">
                            <a:effectLst/>
                            <a:latin typeface="Cambria Math" panose="02040503050406030204" pitchFamily="18" charset="0"/>
                            <a:ea typeface="Calibri" panose="020F0502020204030204" pitchFamily="34" charset="0"/>
                            <a:cs typeface="Times New Roman" panose="02020603050405020304" pitchFamily="18" charset="0"/>
                          </a:rPr>
                          <m:t>2</m:t>
                        </m:r>
                      </m:sub>
                    </m:sSub>
                    <m:r>
                      <a:rPr lang="en-US" sz="1100" i="1">
                        <a:effectLst/>
                        <a:latin typeface="Cambria Math" panose="02040503050406030204" pitchFamily="18" charset="0"/>
                        <a:ea typeface="Calibri" panose="020F0502020204030204" pitchFamily="34" charset="0"/>
                        <a:cs typeface="Times New Roman" panose="02020603050405020304" pitchFamily="18" charset="0"/>
                      </a:rPr>
                      <m:t>+</m:t>
                    </m:r>
                    <m:r>
                      <a:rPr lang="en-US" sz="1100" i="1">
                        <a:effectLst/>
                        <a:latin typeface="Cambria Math" panose="02040503050406030204" pitchFamily="18" charset="0"/>
                        <a:ea typeface="Calibri" panose="020F0502020204030204" pitchFamily="34" charset="0"/>
                        <a:cs typeface="Times New Roman" panose="02020603050405020304" pitchFamily="18" charset="0"/>
                      </a:rPr>
                      <m:t>𝜃</m:t>
                    </m:r>
                    <m:r>
                      <a:rPr lang="en-US" sz="1100" i="1">
                        <a:effectLst/>
                        <a:latin typeface="Cambria Math" panose="02040503050406030204" pitchFamily="18" charset="0"/>
                        <a:ea typeface="Calibri" panose="020F0502020204030204" pitchFamily="34" charset="0"/>
                        <a:cs typeface="Times New Roman" panose="02020603050405020304" pitchFamily="18" charset="0"/>
                      </a:rPr>
                      <m:t>+</m:t>
                    </m:r>
                    <m:r>
                      <a:rPr lang="en-US" sz="1100" i="1">
                        <a:effectLst/>
                        <a:latin typeface="Cambria Math" panose="02040503050406030204" pitchFamily="18" charset="0"/>
                        <a:ea typeface="Calibri" panose="020F0502020204030204" pitchFamily="34" charset="0"/>
                        <a:cs typeface="Times New Roman" panose="02020603050405020304" pitchFamily="18" charset="0"/>
                      </a:rPr>
                      <m:t>𝜂</m:t>
                    </m:r>
                    <m:r>
                      <a:rPr lang="en-US" sz="1100" i="1">
                        <a:effectLst/>
                        <a:latin typeface="Cambria Math" panose="02040503050406030204" pitchFamily="18" charset="0"/>
                        <a:ea typeface="Calibri" panose="020F0502020204030204" pitchFamily="34" charset="0"/>
                        <a:cs typeface="Times New Roman" panose="02020603050405020304" pitchFamily="18" charset="0"/>
                      </a:rPr>
                      <m:t>]</m:t>
                    </m:r>
                    <m:r>
                      <a:rPr lang="en-US" sz="1100" i="1">
                        <a:effectLst/>
                        <a:latin typeface="Cambria Math" panose="02040503050406030204" pitchFamily="18" charset="0"/>
                        <a:ea typeface="Calibri" panose="020F0502020204030204" pitchFamily="34" charset="0"/>
                        <a:cs typeface="Times New Roman" panose="02020603050405020304" pitchFamily="18" charset="0"/>
                      </a:rPr>
                      <m:t>𝐻</m:t>
                    </m:r>
                    <m:r>
                      <a:rPr lang="en-US" sz="1100" i="1">
                        <a:effectLst/>
                        <a:latin typeface="Cambria Math" panose="02040503050406030204" pitchFamily="18" charset="0"/>
                        <a:ea typeface="Calibri" panose="020F0502020204030204" pitchFamily="34" charset="0"/>
                        <a:cs typeface="Times New Roman" panose="02020603050405020304" pitchFamily="18" charset="0"/>
                      </a:rPr>
                      <m:t> </m:t>
                    </m:r>
                  </m:oMath>
                </a14:m>
                <a:r>
                  <a:rPr lang="en-US" sz="1200" dirty="0">
                    <a:effectLst/>
                    <a:latin typeface="Times New Roman" panose="02020603050405020304" pitchFamily="18" charset="0"/>
                    <a:ea typeface="Calibri" panose="020F0502020204030204" pitchFamily="34" charset="0"/>
                    <a:cs typeface="Times New Roman" panose="02020603050405020304" pitchFamily="18" charset="0"/>
                  </a:rPr>
                  <a:t>	  		(4)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f>
                      <m:fPr>
                        <m:ctrlPr>
                          <a:rPr lang="en-US" sz="11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100" i="1">
                            <a:effectLst/>
                            <a:latin typeface="Cambria Math" panose="02040503050406030204" pitchFamily="18" charset="0"/>
                            <a:ea typeface="Calibri" panose="020F0502020204030204" pitchFamily="34" charset="0"/>
                            <a:cs typeface="Times New Roman" panose="02020603050405020304" pitchFamily="18" charset="0"/>
                          </a:rPr>
                          <m:t>𝑑𝐵</m:t>
                        </m:r>
                      </m:num>
                      <m:den>
                        <m:r>
                          <a:rPr lang="en-US" sz="1100" i="1">
                            <a:effectLst/>
                            <a:latin typeface="Cambria Math" panose="02040503050406030204" pitchFamily="18" charset="0"/>
                            <a:ea typeface="Calibri" panose="020F0502020204030204" pitchFamily="34" charset="0"/>
                            <a:cs typeface="Times New Roman" panose="02020603050405020304" pitchFamily="18" charset="0"/>
                          </a:rPr>
                          <m:t>𝑑𝑡</m:t>
                        </m:r>
                      </m:den>
                    </m:f>
                    <m:r>
                      <a:rPr lang="en-US" sz="1100" i="1">
                        <a:effectLst/>
                        <a:latin typeface="Cambria Math" panose="02040503050406030204" pitchFamily="18" charset="0"/>
                        <a:ea typeface="Calibri" panose="020F0502020204030204" pitchFamily="34" charset="0"/>
                        <a:cs typeface="Times New Roman" panose="02020603050405020304" pitchFamily="18" charset="0"/>
                      </a:rPr>
                      <m:t>=  </m:t>
                    </m:r>
                    <m:r>
                      <a:rPr lang="en-US" sz="1100" i="1">
                        <a:effectLst/>
                        <a:latin typeface="Cambria Math" panose="02040503050406030204" pitchFamily="18" charset="0"/>
                        <a:ea typeface="Calibri" panose="020F0502020204030204" pitchFamily="34" charset="0"/>
                        <a:cs typeface="Times New Roman" panose="02020603050405020304" pitchFamily="18" charset="0"/>
                      </a:rPr>
                      <m:t>𝜂</m:t>
                    </m:r>
                    <m:r>
                      <a:rPr lang="en-US" sz="1100" i="1">
                        <a:effectLst/>
                        <a:latin typeface="Cambria Math" panose="02040503050406030204" pitchFamily="18" charset="0"/>
                        <a:ea typeface="Calibri" panose="020F0502020204030204" pitchFamily="34" charset="0"/>
                        <a:cs typeface="Times New Roman" panose="02020603050405020304" pitchFamily="18" charset="0"/>
                      </a:rPr>
                      <m:t>𝐻</m:t>
                    </m:r>
                    <m:r>
                      <a:rPr lang="en-US" sz="11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1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100" i="1">
                            <a:effectLst/>
                            <a:latin typeface="Cambria Math" panose="02040503050406030204" pitchFamily="18" charset="0"/>
                            <a:ea typeface="Calibri" panose="020F0502020204030204" pitchFamily="34" charset="0"/>
                            <a:cs typeface="Times New Roman" panose="02020603050405020304" pitchFamily="18" charset="0"/>
                          </a:rPr>
                          <m:t>𝛿</m:t>
                        </m:r>
                      </m:e>
                      <m:sub>
                        <m:r>
                          <a:rPr lang="en-US" sz="1100" i="1">
                            <a:effectLst/>
                            <a:latin typeface="Cambria Math" panose="02040503050406030204" pitchFamily="18" charset="0"/>
                            <a:ea typeface="Calibri" panose="020F0502020204030204" pitchFamily="34" charset="0"/>
                            <a:cs typeface="Times New Roman" panose="02020603050405020304" pitchFamily="18" charset="0"/>
                          </a:rPr>
                          <m:t>3</m:t>
                        </m:r>
                      </m:sub>
                    </m:sSub>
                    <m:r>
                      <a:rPr lang="en-US" sz="1100" i="1">
                        <a:effectLst/>
                        <a:latin typeface="Cambria Math" panose="02040503050406030204" pitchFamily="18" charset="0"/>
                        <a:ea typeface="Calibri" panose="020F0502020204030204" pitchFamily="34" charset="0"/>
                        <a:cs typeface="Times New Roman" panose="02020603050405020304" pitchFamily="18" charset="0"/>
                      </a:rPr>
                      <m:t>𝐵</m:t>
                    </m:r>
                    <m:r>
                      <a:rPr lang="en-US" sz="1100" i="1">
                        <a:effectLst/>
                        <a:latin typeface="Cambria Math" panose="02040503050406030204" pitchFamily="18" charset="0"/>
                        <a:ea typeface="Calibri" panose="020F0502020204030204" pitchFamily="34" charset="0"/>
                        <a:cs typeface="Times New Roman" panose="02020603050405020304" pitchFamily="18" charset="0"/>
                      </a:rPr>
                      <m:t> </m:t>
                    </m:r>
                  </m:oMath>
                </a14:m>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	  			(5)</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f>
                      <m:fPr>
                        <m:ctrlPr>
                          <a:rPr lang="en-US" sz="11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100" i="1">
                            <a:effectLst/>
                            <a:latin typeface="Cambria Math" panose="02040503050406030204" pitchFamily="18" charset="0"/>
                            <a:ea typeface="Calibri" panose="020F0502020204030204" pitchFamily="34" charset="0"/>
                            <a:cs typeface="Times New Roman" panose="02020603050405020304" pitchFamily="18" charset="0"/>
                          </a:rPr>
                          <m:t>𝑑𝐺</m:t>
                        </m:r>
                      </m:num>
                      <m:den>
                        <m:r>
                          <a:rPr lang="en-US" sz="1100" i="1">
                            <a:effectLst/>
                            <a:latin typeface="Cambria Math" panose="02040503050406030204" pitchFamily="18" charset="0"/>
                            <a:ea typeface="Calibri" panose="020F0502020204030204" pitchFamily="34" charset="0"/>
                            <a:cs typeface="Times New Roman" panose="02020603050405020304" pitchFamily="18" charset="0"/>
                          </a:rPr>
                          <m:t>𝑑𝑡</m:t>
                        </m:r>
                      </m:den>
                    </m:f>
                    <m:r>
                      <a:rPr lang="en-US" sz="1100" i="1">
                        <a:effectLst/>
                        <a:latin typeface="Cambria Math" panose="02040503050406030204" pitchFamily="18" charset="0"/>
                        <a:ea typeface="Calibri" panose="020F0502020204030204" pitchFamily="34" charset="0"/>
                        <a:cs typeface="Times New Roman" panose="02020603050405020304" pitchFamily="18" charset="0"/>
                      </a:rPr>
                      <m:t>=  </m:t>
                    </m:r>
                    <m:r>
                      <a:rPr lang="en-US" sz="1100" i="1">
                        <a:effectLst/>
                        <a:latin typeface="Cambria Math" panose="02040503050406030204" pitchFamily="18" charset="0"/>
                        <a:ea typeface="Calibri" panose="020F0502020204030204" pitchFamily="34" charset="0"/>
                        <a:cs typeface="Times New Roman" panose="02020603050405020304" pitchFamily="18" charset="0"/>
                      </a:rPr>
                      <m:t>𝛾</m:t>
                    </m:r>
                    <m:r>
                      <a:rPr lang="en-US" sz="1100" i="1">
                        <a:effectLst/>
                        <a:latin typeface="Cambria Math" panose="02040503050406030204" pitchFamily="18" charset="0"/>
                        <a:ea typeface="Calibri" panose="020F0502020204030204" pitchFamily="34" charset="0"/>
                        <a:cs typeface="Times New Roman" panose="02020603050405020304" pitchFamily="18" charset="0"/>
                      </a:rPr>
                      <m:t>𝐺</m:t>
                    </m:r>
                    <m:r>
                      <a:rPr lang="en-US" sz="1100" i="1">
                        <a:effectLst/>
                        <a:latin typeface="Cambria Math" panose="02040503050406030204" pitchFamily="18" charset="0"/>
                        <a:ea typeface="Calibri" panose="020F0502020204030204" pitchFamily="34" charset="0"/>
                        <a:cs typeface="Times New Roman" panose="02020603050405020304" pitchFamily="18" charset="0"/>
                      </a:rPr>
                      <m:t>−[</m:t>
                    </m:r>
                    <m:r>
                      <a:rPr lang="en-US" sz="1100" i="1">
                        <a:effectLst/>
                        <a:latin typeface="Cambria Math" panose="02040503050406030204" pitchFamily="18" charset="0"/>
                        <a:ea typeface="Calibri" panose="020F0502020204030204" pitchFamily="34" charset="0"/>
                        <a:cs typeface="Times New Roman" panose="02020603050405020304" pitchFamily="18" charset="0"/>
                      </a:rPr>
                      <m:t>𝜖</m:t>
                    </m:r>
                    <m:r>
                      <a:rPr lang="en-US" sz="1100" i="1">
                        <a:effectLst/>
                        <a:latin typeface="Cambria Math" panose="02040503050406030204" pitchFamily="18" charset="0"/>
                        <a:ea typeface="Calibri" panose="020F0502020204030204" pitchFamily="34" charset="0"/>
                        <a:cs typeface="Times New Roman" panose="02020603050405020304" pitchFamily="18" charset="0"/>
                      </a:rPr>
                      <m:t>+</m:t>
                    </m:r>
                    <m:r>
                      <a:rPr lang="en-US" sz="1100" i="1">
                        <a:effectLst/>
                        <a:latin typeface="Cambria Math" panose="02040503050406030204" pitchFamily="18" charset="0"/>
                        <a:ea typeface="Calibri" panose="020F0502020204030204" pitchFamily="34" charset="0"/>
                        <a:cs typeface="Times New Roman" panose="02020603050405020304" pitchFamily="18" charset="0"/>
                      </a:rPr>
                      <m:t>𝑘</m:t>
                    </m:r>
                    <m:r>
                      <a:rPr lang="en-US" sz="1100" i="1">
                        <a:effectLst/>
                        <a:latin typeface="Cambria Math" panose="02040503050406030204" pitchFamily="18" charset="0"/>
                        <a:ea typeface="Calibri" panose="020F0502020204030204" pitchFamily="34" charset="0"/>
                        <a:cs typeface="Times New Roman" panose="02020603050405020304" pitchFamily="18" charset="0"/>
                      </a:rPr>
                      <m:t>+</m:t>
                    </m:r>
                    <m:r>
                      <a:rPr lang="en-US" sz="1100" i="1">
                        <a:effectLst/>
                        <a:latin typeface="Cambria Math" panose="02040503050406030204" pitchFamily="18" charset="0"/>
                        <a:ea typeface="Calibri" panose="020F0502020204030204" pitchFamily="34" charset="0"/>
                        <a:cs typeface="Times New Roman" panose="02020603050405020304" pitchFamily="18" charset="0"/>
                      </a:rPr>
                      <m:t>𝜇</m:t>
                    </m:r>
                    <m:r>
                      <a:rPr lang="en-US" sz="1100" i="1">
                        <a:effectLst/>
                        <a:latin typeface="Cambria Math" panose="02040503050406030204" pitchFamily="18" charset="0"/>
                        <a:ea typeface="Calibri" panose="020F0502020204030204" pitchFamily="34" charset="0"/>
                        <a:cs typeface="Times New Roman" panose="02020603050405020304" pitchFamily="18" charset="0"/>
                      </a:rPr>
                      <m:t>]</m:t>
                    </m:r>
                    <m:r>
                      <a:rPr lang="en-US" sz="1100" i="1">
                        <a:effectLst/>
                        <a:latin typeface="Cambria Math" panose="02040503050406030204" pitchFamily="18" charset="0"/>
                        <a:ea typeface="Calibri" panose="020F0502020204030204" pitchFamily="34" charset="0"/>
                        <a:cs typeface="Times New Roman" panose="02020603050405020304" pitchFamily="18" charset="0"/>
                      </a:rPr>
                      <m:t>𝐺</m:t>
                    </m:r>
                  </m:oMath>
                </a14:m>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   			(6)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The forces of algae lipid production is given as: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14:m>
                  <m:oMath xmlns:m="http://schemas.openxmlformats.org/officeDocument/2006/math">
                    <m:r>
                      <m:rPr>
                        <m:sty m:val="p"/>
                      </m:rPr>
                      <a:rPr lang="en-US" sz="1100">
                        <a:effectLst/>
                        <a:latin typeface="Cambria Math" panose="02040503050406030204" pitchFamily="18" charset="0"/>
                        <a:ea typeface="Calibri" panose="020F0502020204030204" pitchFamily="34" charset="0"/>
                        <a:cs typeface="Times New Roman" panose="02020603050405020304" pitchFamily="18" charset="0"/>
                      </a:rPr>
                      <m:t>λ</m:t>
                    </m:r>
                    <m:r>
                      <a:rPr lang="en-US" sz="1200" i="1">
                        <a:effectLst/>
                        <a:latin typeface="Cambria Math" panose="02040503050406030204" pitchFamily="18" charset="0"/>
                        <a:ea typeface="Calibri" panose="020F0502020204030204" pitchFamily="34" charset="0"/>
                        <a:cs typeface="Times New Roman" panose="02020603050405020304" pitchFamily="18" charset="0"/>
                      </a:rPr>
                      <m:t>=</m:t>
                    </m:r>
                    <m:r>
                      <a:rPr lang="en-US" sz="1200" i="1">
                        <a:effectLst/>
                        <a:latin typeface="Cambria Math" panose="02040503050406030204" pitchFamily="18" charset="0"/>
                        <a:ea typeface="Calibri" panose="020F0502020204030204" pitchFamily="34" charset="0"/>
                        <a:cs typeface="Times New Roman" panose="02020603050405020304" pitchFamily="18" charset="0"/>
                      </a:rPr>
                      <m:t>𝛽</m:t>
                    </m:r>
                    <m:d>
                      <m:dPr>
                        <m:ctrlPr>
                          <a:rPr lang="en-US" sz="12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1200" i="1">
                            <a:effectLst/>
                            <a:latin typeface="Cambria Math" panose="02040503050406030204" pitchFamily="18" charset="0"/>
                            <a:ea typeface="Calibri" panose="020F0502020204030204" pitchFamily="34" charset="0"/>
                            <a:cs typeface="Times New Roman" panose="02020603050405020304" pitchFamily="18" charset="0"/>
                          </a:rPr>
                          <m:t>1− </m:t>
                        </m:r>
                        <m:f>
                          <m:fPr>
                            <m:ctrlPr>
                              <a:rPr lang="en-US" sz="12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200" i="1">
                                <a:effectLst/>
                                <a:latin typeface="Cambria Math" panose="02040503050406030204" pitchFamily="18" charset="0"/>
                                <a:ea typeface="Calibri" panose="020F0502020204030204" pitchFamily="34" charset="0"/>
                                <a:cs typeface="Times New Roman" panose="02020603050405020304" pitchFamily="18" charset="0"/>
                              </a:rPr>
                              <m:t>𝑛</m:t>
                            </m:r>
                            <m:d>
                              <m:dPr>
                                <m:ctrlPr>
                                  <a:rPr lang="en-US" sz="12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1200" i="1">
                                    <a:effectLst/>
                                    <a:latin typeface="Cambria Math" panose="02040503050406030204" pitchFamily="18" charset="0"/>
                                    <a:ea typeface="Calibri" panose="020F0502020204030204" pitchFamily="34" charset="0"/>
                                    <a:cs typeface="Times New Roman" panose="02020603050405020304" pitchFamily="18" charset="0"/>
                                  </a:rPr>
                                  <m:t>𝑡</m:t>
                                </m:r>
                              </m:e>
                            </m:d>
                          </m:num>
                          <m:den>
                            <m:sSub>
                              <m:sSubPr>
                                <m:ctrlPr>
                                  <a:rPr lang="en-US" sz="12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200" i="1">
                                    <a:effectLst/>
                                    <a:latin typeface="Cambria Math" panose="02040503050406030204" pitchFamily="18" charset="0"/>
                                    <a:ea typeface="Calibri" panose="020F0502020204030204" pitchFamily="34" charset="0"/>
                                    <a:cs typeface="Times New Roman" panose="02020603050405020304" pitchFamily="18" charset="0"/>
                                  </a:rPr>
                                  <m:t>𝑛</m:t>
                                </m:r>
                              </m:e>
                              <m:sub>
                                <m:r>
                                  <a:rPr lang="en-US" sz="1200" i="1">
                                    <a:effectLst/>
                                    <a:latin typeface="Cambria Math" panose="02040503050406030204" pitchFamily="18" charset="0"/>
                                    <a:ea typeface="Calibri" panose="020F0502020204030204" pitchFamily="34" charset="0"/>
                                    <a:cs typeface="Times New Roman" panose="02020603050405020304" pitchFamily="18" charset="0"/>
                                  </a:rPr>
                                  <m:t>1</m:t>
                                </m:r>
                              </m:sub>
                            </m:sSub>
                          </m:den>
                        </m:f>
                      </m:e>
                    </m:d>
                    <m:r>
                      <a:rPr lang="en-US" sz="1200" i="1">
                        <a:effectLst/>
                        <a:latin typeface="Cambria Math" panose="02040503050406030204" pitchFamily="18" charset="0"/>
                        <a:ea typeface="Calibri" panose="020F0502020204030204" pitchFamily="34" charset="0"/>
                        <a:cs typeface="Times New Roman" panose="02020603050405020304" pitchFamily="18" charset="0"/>
                      </a:rPr>
                      <m:t> </m:t>
                    </m:r>
                    <m:r>
                      <a:rPr lang="en-US" sz="1200" i="1">
                        <a:effectLst/>
                        <a:latin typeface="Cambria Math" panose="02040503050406030204" pitchFamily="18" charset="0"/>
                        <a:ea typeface="Calibri" panose="020F0502020204030204" pitchFamily="34" charset="0"/>
                        <a:cs typeface="Times New Roman" panose="02020603050405020304" pitchFamily="18" charset="0"/>
                      </a:rPr>
                      <m:t>𝐸</m:t>
                    </m:r>
                    <m:d>
                      <m:dPr>
                        <m:ctrlPr>
                          <a:rPr lang="en-US" sz="12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1200" i="1">
                            <a:effectLst/>
                            <a:latin typeface="Cambria Math" panose="02040503050406030204" pitchFamily="18" charset="0"/>
                            <a:ea typeface="Calibri" panose="020F0502020204030204" pitchFamily="34" charset="0"/>
                            <a:cs typeface="Times New Roman" panose="02020603050405020304" pitchFamily="18" charset="0"/>
                          </a:rPr>
                          <m:t>𝑡</m:t>
                        </m:r>
                      </m:e>
                    </m:d>
                    <m:sSub>
                      <m:sSubPr>
                        <m:ctrlPr>
                          <a:rPr lang="en-US" sz="12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200" i="1">
                            <a:effectLst/>
                            <a:latin typeface="Cambria Math" panose="02040503050406030204" pitchFamily="18" charset="0"/>
                            <a:ea typeface="Calibri" panose="020F0502020204030204" pitchFamily="34" charset="0"/>
                            <a:cs typeface="Times New Roman" panose="02020603050405020304" pitchFamily="18" charset="0"/>
                          </a:rPr>
                          <m:t>𝐿</m:t>
                        </m:r>
                      </m:e>
                      <m:sub>
                        <m:r>
                          <a:rPr lang="en-US" sz="1200" i="1">
                            <a:effectLst/>
                            <a:latin typeface="Cambria Math" panose="02040503050406030204" pitchFamily="18" charset="0"/>
                            <a:ea typeface="Calibri" panose="020F0502020204030204" pitchFamily="34" charset="0"/>
                            <a:cs typeface="Times New Roman" panose="02020603050405020304" pitchFamily="18" charset="0"/>
                          </a:rPr>
                          <m:t>𝑚</m:t>
                        </m:r>
                      </m:sub>
                    </m:sSub>
                    <m:r>
                      <a:rPr lang="en-US" sz="1200" i="1">
                        <a:effectLst/>
                        <a:latin typeface="Cambria Math" panose="02040503050406030204" pitchFamily="18" charset="0"/>
                        <a:ea typeface="Calibri" panose="020F0502020204030204" pitchFamily="34" charset="0"/>
                        <a:cs typeface="Times New Roman" panose="02020603050405020304" pitchFamily="18" charset="0"/>
                      </a:rPr>
                      <m:t> </m:t>
                    </m:r>
                  </m:oMath>
                </a14:m>
                <a:r>
                  <a:rPr lang="en-US" sz="1300" dirty="0">
                    <a:effectLst/>
                    <a:latin typeface="Times New Roman" panose="02020603050405020304" pitchFamily="18" charset="0"/>
                    <a:ea typeface="Calibri" panose="020F0502020204030204" pitchFamily="34" charset="0"/>
                    <a:cs typeface="Times New Roman" panose="02020603050405020304" pitchFamily="18" charset="0"/>
                  </a:rPr>
                  <a:t>  				(7)</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53" name="TextBox 52">
                <a:extLst>
                  <a:ext uri="{FF2B5EF4-FFF2-40B4-BE49-F238E27FC236}">
                    <a16:creationId xmlns:a16="http://schemas.microsoft.com/office/drawing/2014/main" id="{D86CE5D5-1A67-352B-3336-A5F216520EDA}"/>
                  </a:ext>
                </a:extLst>
              </p:cNvPr>
              <p:cNvSpPr txBox="1">
                <a:spLocks noRot="1" noChangeAspect="1" noMove="1" noResize="1" noEditPoints="1" noAdjustHandles="1" noChangeArrowheads="1" noChangeShapeType="1" noTextEdit="1"/>
              </p:cNvSpPr>
              <p:nvPr/>
            </p:nvSpPr>
            <p:spPr>
              <a:xfrm>
                <a:off x="7864789" y="3840120"/>
                <a:ext cx="8628289" cy="3273268"/>
              </a:xfrm>
              <a:prstGeom prst="rect">
                <a:avLst/>
              </a:prstGeom>
              <a:blipFill>
                <a:blip r:embed="rId9"/>
                <a:stretch>
                  <a:fillRect t="-55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498DE7C5-88E9-6E6F-A17A-4790F84CA50B}"/>
                  </a:ext>
                </a:extLst>
              </p:cNvPr>
              <p:cNvGraphicFramePr>
                <a:graphicFrameLocks noGrp="1"/>
              </p:cNvGraphicFramePr>
              <p:nvPr>
                <p:extLst>
                  <p:ext uri="{D42A27DB-BD31-4B8C-83A1-F6EECF244321}">
                    <p14:modId xmlns:p14="http://schemas.microsoft.com/office/powerpoint/2010/main" val="3031686465"/>
                  </p:ext>
                </p:extLst>
              </p:nvPr>
            </p:nvGraphicFramePr>
            <p:xfrm>
              <a:off x="679209" y="2063372"/>
              <a:ext cx="5315552" cy="2216094"/>
            </p:xfrm>
            <a:graphic>
              <a:graphicData uri="http://schemas.openxmlformats.org/drawingml/2006/table">
                <a:tbl>
                  <a:tblPr firstRow="1" firstCol="1" bandRow="1">
                    <a:tableStyleId>{5C22544A-7EE6-4342-B048-85BDC9FD1C3A}</a:tableStyleId>
                  </a:tblPr>
                  <a:tblGrid>
                    <a:gridCol w="739909">
                      <a:extLst>
                        <a:ext uri="{9D8B030D-6E8A-4147-A177-3AD203B41FA5}">
                          <a16:colId xmlns:a16="http://schemas.microsoft.com/office/drawing/2014/main" val="3347509876"/>
                        </a:ext>
                      </a:extLst>
                    </a:gridCol>
                    <a:gridCol w="4575643">
                      <a:extLst>
                        <a:ext uri="{9D8B030D-6E8A-4147-A177-3AD203B41FA5}">
                          <a16:colId xmlns:a16="http://schemas.microsoft.com/office/drawing/2014/main" val="3331567104"/>
                        </a:ext>
                      </a:extLst>
                    </a:gridCol>
                  </a:tblGrid>
                  <a:tr h="324702">
                    <a:tc>
                      <a:txBody>
                        <a:bodyPr/>
                        <a:lstStyle/>
                        <a:p>
                          <a:pPr marL="0" marR="0">
                            <a:lnSpc>
                              <a:spcPct val="107000"/>
                            </a:lnSpc>
                            <a:spcBef>
                              <a:spcPts val="0"/>
                            </a:spcBef>
                            <a:spcAft>
                              <a:spcPts val="0"/>
                            </a:spcAft>
                          </a:pPr>
                          <a:r>
                            <a:rPr lang="en-US" sz="1200">
                              <a:effectLst/>
                            </a:rPr>
                            <a:t>Variables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dirty="0">
                              <a:effectLst/>
                            </a:rPr>
                            <a:t>Description</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88538195"/>
                      </a:ext>
                    </a:extLst>
                  </a:tr>
                  <a:tr h="377702">
                    <a:tc>
                      <a:txBody>
                        <a:bodyPr/>
                        <a:lstStyle/>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200">
                                    <a:effectLst/>
                                    <a:latin typeface="Cambria Math" panose="02040503050406030204" pitchFamily="18" charset="0"/>
                                  </a:rPr>
                                  <m:t>𝐴</m:t>
                                </m:r>
                              </m:oMath>
                            </m:oMathPara>
                          </a14:m>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400" dirty="0">
                              <a:effectLst/>
                              <a:latin typeface="Bricolage Grotesque Semi Bold" panose="020B0604020202020204" charset="0"/>
                            </a:rPr>
                            <a:t>The population</a:t>
                          </a:r>
                          <a:r>
                            <a:rPr lang="en-US" sz="1400" spc="185" dirty="0">
                              <a:effectLst/>
                              <a:latin typeface="Bricolage Grotesque Semi Bold" panose="020B0604020202020204" charset="0"/>
                            </a:rPr>
                            <a:t> </a:t>
                          </a:r>
                          <a:r>
                            <a:rPr lang="en-US" sz="1400" dirty="0">
                              <a:effectLst/>
                              <a:latin typeface="Bricolage Grotesque Semi Bold" panose="020B0604020202020204" charset="0"/>
                            </a:rPr>
                            <a:t>of</a:t>
                          </a:r>
                          <a:r>
                            <a:rPr lang="en-US" sz="1400" spc="195" dirty="0">
                              <a:effectLst/>
                              <a:latin typeface="Bricolage Grotesque Semi Bold" panose="020B0604020202020204" charset="0"/>
                            </a:rPr>
                            <a:t> </a:t>
                          </a:r>
                          <a:r>
                            <a:rPr lang="en-US" sz="1400" dirty="0">
                              <a:effectLst/>
                              <a:latin typeface="Bricolage Grotesque Semi Bold" panose="020B0604020202020204" charset="0"/>
                            </a:rPr>
                            <a:t>algae</a:t>
                          </a:r>
                          <a:r>
                            <a:rPr lang="en-US" sz="1400" spc="185" dirty="0">
                              <a:effectLst/>
                              <a:latin typeface="Bricolage Grotesque Semi Bold" panose="020B0604020202020204" charset="0"/>
                            </a:rPr>
                            <a:t> </a:t>
                          </a:r>
                          <a:r>
                            <a:rPr lang="en-US" sz="1400" dirty="0">
                              <a:effectLst/>
                              <a:latin typeface="Bricolage Grotesque Semi Bold" panose="020B0604020202020204" charset="0"/>
                            </a:rPr>
                            <a:t>capable of</a:t>
                          </a:r>
                          <a:r>
                            <a:rPr lang="en-US" sz="1400" spc="185" dirty="0">
                              <a:effectLst/>
                              <a:latin typeface="Bricolage Grotesque Semi Bold" panose="020B0604020202020204" charset="0"/>
                            </a:rPr>
                            <a:t> </a:t>
                          </a:r>
                          <a:r>
                            <a:rPr lang="en-US" sz="1400" dirty="0">
                              <a:effectLst/>
                              <a:latin typeface="Bricolage Grotesque Semi Bold" panose="020B0604020202020204" charset="0"/>
                            </a:rPr>
                            <a:t>growth</a:t>
                          </a:r>
                          <a:r>
                            <a:rPr lang="en-US" sz="1400" spc="190" dirty="0">
                              <a:effectLst/>
                              <a:latin typeface="Bricolage Grotesque Semi Bold" panose="020B0604020202020204" charset="0"/>
                            </a:rPr>
                            <a:t> </a:t>
                          </a:r>
                          <a:r>
                            <a:rPr lang="en-US" sz="1400" dirty="0">
                              <a:effectLst/>
                              <a:latin typeface="Bricolage Grotesque Semi Bold" panose="020B0604020202020204" charset="0"/>
                            </a:rPr>
                            <a:t>and</a:t>
                          </a:r>
                          <a:r>
                            <a:rPr lang="en-US" sz="1400" spc="195" dirty="0">
                              <a:effectLst/>
                              <a:latin typeface="Bricolage Grotesque Semi Bold" panose="020B0604020202020204" charset="0"/>
                            </a:rPr>
                            <a:t> </a:t>
                          </a:r>
                          <a:r>
                            <a:rPr lang="en-US" sz="1400" spc="-10" dirty="0">
                              <a:effectLst/>
                              <a:latin typeface="Bricolage Grotesque Semi Bold" panose="020B0604020202020204" charset="0"/>
                            </a:rPr>
                            <a:t>reproduction</a:t>
                          </a:r>
                          <a:r>
                            <a:rPr lang="en-US" sz="1400" dirty="0">
                              <a:effectLst/>
                              <a:latin typeface="Bricolage Grotesque Semi Bold" panose="020B0604020202020204" charset="0"/>
                            </a:rPr>
                            <a:t> </a:t>
                          </a:r>
                          <a:endParaRPr lang="en-US" sz="1400" dirty="0">
                            <a:effectLst/>
                            <a:latin typeface="Bricolage Grotesque Semi Bold" panose="020B060402020202020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83828628"/>
                      </a:ext>
                    </a:extLst>
                  </a:tr>
                  <a:tr h="570359">
                    <a:tc>
                      <a:txBody>
                        <a:bodyPr/>
                        <a:lstStyle/>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100">
                                    <a:effectLst/>
                                    <a:latin typeface="Cambria Math" panose="02040503050406030204" pitchFamily="18" charset="0"/>
                                  </a:rPr>
                                  <m:t>𝐸</m:t>
                                </m:r>
                              </m:oMath>
                            </m:oMathPara>
                          </a14:m>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400" dirty="0">
                              <a:effectLst/>
                              <a:latin typeface="Bricolage Grotesque Semi Bold" panose="020B0604020202020204" charset="0"/>
                            </a:rPr>
                            <a:t>The population of algae exposed to environmental stressors that trigger lipid accumulation</a:t>
                          </a:r>
                          <a:endParaRPr lang="en-US" sz="1400" dirty="0">
                            <a:effectLst/>
                            <a:latin typeface="Bricolage Grotesque Semi Bold" panose="020B060402020202020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44085021"/>
                      </a:ext>
                    </a:extLst>
                  </a:tr>
                  <a:tr h="377702">
                    <a:tc>
                      <a:txBody>
                        <a:bodyPr/>
                        <a:lstStyle/>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100">
                                    <a:effectLst/>
                                    <a:latin typeface="Cambria Math" panose="02040503050406030204" pitchFamily="18" charset="0"/>
                                  </a:rPr>
                                  <m:t>𝐻</m:t>
                                </m:r>
                              </m:oMath>
                            </m:oMathPara>
                          </a14:m>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400" dirty="0">
                              <a:effectLst/>
                              <a:latin typeface="Bricolage Grotesque Semi Bold" panose="020B0604020202020204" charset="0"/>
                            </a:rPr>
                            <a:t>Population</a:t>
                          </a:r>
                          <a:r>
                            <a:rPr lang="en-US" sz="1400" spc="100" dirty="0">
                              <a:effectLst/>
                              <a:latin typeface="Bricolage Grotesque Semi Bold" panose="020B0604020202020204" charset="0"/>
                            </a:rPr>
                            <a:t> </a:t>
                          </a:r>
                          <a:r>
                            <a:rPr lang="en-US" sz="1400" dirty="0">
                              <a:effectLst/>
                              <a:latin typeface="Bricolage Grotesque Semi Bold" panose="020B0604020202020204" charset="0"/>
                            </a:rPr>
                            <a:t>of</a:t>
                          </a:r>
                          <a:r>
                            <a:rPr lang="en-US" sz="1400" spc="105" dirty="0">
                              <a:effectLst/>
                              <a:latin typeface="Bricolage Grotesque Semi Bold" panose="020B0604020202020204" charset="0"/>
                            </a:rPr>
                            <a:t> </a:t>
                          </a:r>
                          <a:r>
                            <a:rPr lang="en-US" sz="1400" dirty="0">
                              <a:effectLst/>
                              <a:latin typeface="Bricolage Grotesque Semi Bold" panose="020B0604020202020204" charset="0"/>
                            </a:rPr>
                            <a:t>lipid-rich</a:t>
                          </a:r>
                          <a:r>
                            <a:rPr lang="en-US" sz="1400" spc="100" dirty="0">
                              <a:effectLst/>
                              <a:latin typeface="Bricolage Grotesque Semi Bold" panose="020B0604020202020204" charset="0"/>
                            </a:rPr>
                            <a:t> </a:t>
                          </a:r>
                          <a:r>
                            <a:rPr lang="en-US" sz="1400" dirty="0">
                              <a:effectLst/>
                              <a:latin typeface="Bricolage Grotesque Semi Bold" panose="020B0604020202020204" charset="0"/>
                            </a:rPr>
                            <a:t>algae</a:t>
                          </a:r>
                          <a:r>
                            <a:rPr lang="en-US" sz="1400" spc="100" dirty="0">
                              <a:effectLst/>
                              <a:latin typeface="Bricolage Grotesque Semi Bold" panose="020B0604020202020204" charset="0"/>
                            </a:rPr>
                            <a:t>, </a:t>
                          </a:r>
                          <a:r>
                            <a:rPr lang="en-US" sz="1400" dirty="0">
                              <a:effectLst/>
                              <a:latin typeface="Bricolage Grotesque Semi Bold" panose="020B0604020202020204" charset="0"/>
                            </a:rPr>
                            <a:t>ready</a:t>
                          </a:r>
                          <a:r>
                            <a:rPr lang="en-US" sz="1400" spc="100" dirty="0">
                              <a:effectLst/>
                              <a:latin typeface="Bricolage Grotesque Semi Bold" panose="020B0604020202020204" charset="0"/>
                            </a:rPr>
                            <a:t> </a:t>
                          </a:r>
                          <a:r>
                            <a:rPr lang="en-US" sz="1400" dirty="0">
                              <a:effectLst/>
                              <a:latin typeface="Bricolage Grotesque Semi Bold" panose="020B0604020202020204" charset="0"/>
                            </a:rPr>
                            <a:t>for</a:t>
                          </a:r>
                          <a:r>
                            <a:rPr lang="en-US" sz="1400" spc="100" dirty="0">
                              <a:effectLst/>
                              <a:latin typeface="Bricolage Grotesque Semi Bold" panose="020B0604020202020204" charset="0"/>
                            </a:rPr>
                            <a:t> </a:t>
                          </a:r>
                          <a:r>
                            <a:rPr lang="en-US" sz="1400" spc="-10" dirty="0">
                              <a:effectLst/>
                              <a:latin typeface="Bricolage Grotesque Semi Bold" panose="020B0604020202020204" charset="0"/>
                            </a:rPr>
                            <a:t>harvesting.</a:t>
                          </a:r>
                          <a:endParaRPr lang="en-US" sz="1400" dirty="0">
                            <a:effectLst/>
                            <a:latin typeface="Bricolage Grotesque Semi Bold" panose="020B060402020202020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897798981"/>
                      </a:ext>
                    </a:extLst>
                  </a:tr>
                  <a:tr h="185047">
                    <a:tc>
                      <a:txBody>
                        <a:bodyPr/>
                        <a:lstStyle/>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100">
                                    <a:effectLst/>
                                    <a:latin typeface="Cambria Math" panose="02040503050406030204" pitchFamily="18" charset="0"/>
                                  </a:rPr>
                                  <m:t>𝐵</m:t>
                                </m:r>
                              </m:oMath>
                            </m:oMathPara>
                          </a14:m>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400" dirty="0">
                              <a:effectLst/>
                              <a:latin typeface="Bricolage Grotesque Semi Bold" panose="020B0604020202020204" charset="0"/>
                            </a:rPr>
                            <a:t>Population</a:t>
                          </a:r>
                          <a:r>
                            <a:rPr lang="en-US" sz="1400" spc="60" dirty="0">
                              <a:effectLst/>
                              <a:latin typeface="Bricolage Grotesque Semi Bold" panose="020B0604020202020204" charset="0"/>
                            </a:rPr>
                            <a:t> </a:t>
                          </a:r>
                          <a:r>
                            <a:rPr lang="en-US" sz="1400" dirty="0">
                              <a:effectLst/>
                              <a:latin typeface="Bricolage Grotesque Semi Bold" panose="020B0604020202020204" charset="0"/>
                            </a:rPr>
                            <a:t>of</a:t>
                          </a:r>
                          <a:r>
                            <a:rPr lang="en-US" sz="1400" spc="55" dirty="0">
                              <a:effectLst/>
                              <a:latin typeface="Bricolage Grotesque Semi Bold" panose="020B0604020202020204" charset="0"/>
                            </a:rPr>
                            <a:t> </a:t>
                          </a:r>
                          <a:r>
                            <a:rPr lang="en-US" sz="1400" dirty="0">
                              <a:effectLst/>
                              <a:latin typeface="Bricolage Grotesque Semi Bold" panose="020B0604020202020204" charset="0"/>
                            </a:rPr>
                            <a:t>algae</a:t>
                          </a:r>
                          <a:r>
                            <a:rPr lang="en-US" sz="1400" spc="60" dirty="0">
                              <a:effectLst/>
                              <a:latin typeface="Bricolage Grotesque Semi Bold" panose="020B0604020202020204" charset="0"/>
                            </a:rPr>
                            <a:t> </a:t>
                          </a:r>
                          <a:r>
                            <a:rPr lang="en-US" sz="1400" dirty="0">
                              <a:effectLst/>
                              <a:latin typeface="Bricolage Grotesque Semi Bold" panose="020B0604020202020204" charset="0"/>
                            </a:rPr>
                            <a:t>converted</a:t>
                          </a:r>
                          <a:r>
                            <a:rPr lang="en-US" sz="1400" spc="60" dirty="0">
                              <a:effectLst/>
                              <a:latin typeface="Bricolage Grotesque Semi Bold" panose="020B0604020202020204" charset="0"/>
                            </a:rPr>
                            <a:t> </a:t>
                          </a:r>
                          <a:r>
                            <a:rPr lang="en-US" sz="1400" dirty="0">
                              <a:effectLst/>
                              <a:latin typeface="Bricolage Grotesque Semi Bold" panose="020B0604020202020204" charset="0"/>
                            </a:rPr>
                            <a:t>into</a:t>
                          </a:r>
                          <a:r>
                            <a:rPr lang="en-US" sz="1400" spc="65" dirty="0">
                              <a:effectLst/>
                              <a:latin typeface="Bricolage Grotesque Semi Bold" panose="020B0604020202020204" charset="0"/>
                            </a:rPr>
                            <a:t> </a:t>
                          </a:r>
                          <a:r>
                            <a:rPr lang="en-US" sz="1400" spc="-10" dirty="0">
                              <a:effectLst/>
                              <a:latin typeface="Bricolage Grotesque Semi Bold" panose="020B0604020202020204" charset="0"/>
                            </a:rPr>
                            <a:t>biofuel</a:t>
                          </a:r>
                          <a:endParaRPr lang="en-US" sz="1400" dirty="0">
                            <a:effectLst/>
                            <a:latin typeface="Bricolage Grotesque Semi Bold" panose="020B060402020202020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27685725"/>
                      </a:ext>
                    </a:extLst>
                  </a:tr>
                  <a:tr h="185047">
                    <a:tc>
                      <a:txBody>
                        <a:bodyPr/>
                        <a:lstStyle/>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100">
                                    <a:effectLst/>
                                    <a:latin typeface="Cambria Math" panose="02040503050406030204" pitchFamily="18" charset="0"/>
                                  </a:rPr>
                                  <m:t>𝐺</m:t>
                                </m:r>
                              </m:oMath>
                            </m:oMathPara>
                          </a14:m>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400" dirty="0">
                              <a:effectLst/>
                              <a:latin typeface="Bricolage Grotesque Semi Bold" panose="020B0604020202020204" charset="0"/>
                            </a:rPr>
                            <a:t>Population of genetically grown algae.</a:t>
                          </a:r>
                          <a:endParaRPr lang="en-US" sz="1400" dirty="0">
                            <a:effectLst/>
                            <a:latin typeface="Bricolage Grotesque Semi Bold" panose="020B060402020202020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5435751"/>
                      </a:ext>
                    </a:extLst>
                  </a:tr>
                </a:tbl>
              </a:graphicData>
            </a:graphic>
          </p:graphicFrame>
        </mc:Choice>
        <mc:Fallback xmlns="">
          <p:graphicFrame>
            <p:nvGraphicFramePr>
              <p:cNvPr id="5" name="Table 4">
                <a:extLst>
                  <a:ext uri="{FF2B5EF4-FFF2-40B4-BE49-F238E27FC236}">
                    <a16:creationId xmlns:a16="http://schemas.microsoft.com/office/drawing/2014/main" id="{498DE7C5-88E9-6E6F-A17A-4790F84CA50B}"/>
                  </a:ext>
                </a:extLst>
              </p:cNvPr>
              <p:cNvGraphicFramePr>
                <a:graphicFrameLocks noGrp="1"/>
              </p:cNvGraphicFramePr>
              <p:nvPr>
                <p:extLst>
                  <p:ext uri="{D42A27DB-BD31-4B8C-83A1-F6EECF244321}">
                    <p14:modId xmlns:p14="http://schemas.microsoft.com/office/powerpoint/2010/main" val="3031686465"/>
                  </p:ext>
                </p:extLst>
              </p:nvPr>
            </p:nvGraphicFramePr>
            <p:xfrm>
              <a:off x="679209" y="2063372"/>
              <a:ext cx="5315552" cy="2158843"/>
            </p:xfrm>
            <a:graphic>
              <a:graphicData uri="http://schemas.openxmlformats.org/drawingml/2006/table">
                <a:tbl>
                  <a:tblPr firstRow="1" firstCol="1" bandRow="1">
                    <a:tableStyleId>{5C22544A-7EE6-4342-B048-85BDC9FD1C3A}</a:tableStyleId>
                  </a:tblPr>
                  <a:tblGrid>
                    <a:gridCol w="739909">
                      <a:extLst>
                        <a:ext uri="{9D8B030D-6E8A-4147-A177-3AD203B41FA5}">
                          <a16:colId xmlns:a16="http://schemas.microsoft.com/office/drawing/2014/main" val="3347509876"/>
                        </a:ext>
                      </a:extLst>
                    </a:gridCol>
                    <a:gridCol w="4575643">
                      <a:extLst>
                        <a:ext uri="{9D8B030D-6E8A-4147-A177-3AD203B41FA5}">
                          <a16:colId xmlns:a16="http://schemas.microsoft.com/office/drawing/2014/main" val="3331567104"/>
                        </a:ext>
                      </a:extLst>
                    </a:gridCol>
                  </a:tblGrid>
                  <a:tr h="324702">
                    <a:tc>
                      <a:txBody>
                        <a:bodyPr/>
                        <a:lstStyle/>
                        <a:p>
                          <a:pPr marL="0" marR="0">
                            <a:lnSpc>
                              <a:spcPct val="107000"/>
                            </a:lnSpc>
                            <a:spcBef>
                              <a:spcPts val="0"/>
                            </a:spcBef>
                            <a:spcAft>
                              <a:spcPts val="0"/>
                            </a:spcAft>
                          </a:pPr>
                          <a:r>
                            <a:rPr lang="en-US" sz="1200">
                              <a:effectLst/>
                            </a:rPr>
                            <a:t>Variables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dirty="0">
                              <a:effectLst/>
                            </a:rPr>
                            <a:t>Description</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88538195"/>
                      </a:ext>
                    </a:extLst>
                  </a:tr>
                  <a:tr h="447548">
                    <a:tc>
                      <a:txBody>
                        <a:bodyPr/>
                        <a:lstStyle/>
                        <a:p>
                          <a:endParaRPr lang="en-US"/>
                        </a:p>
                      </a:txBody>
                      <a:tcPr marL="68580" marR="68580" marT="0" marB="0">
                        <a:blipFill>
                          <a:blip r:embed="rId10"/>
                          <a:stretch>
                            <a:fillRect l="-820" t="-81081" r="-618852" b="-332432"/>
                          </a:stretch>
                        </a:blipFill>
                      </a:tcPr>
                    </a:tc>
                    <a:tc>
                      <a:txBody>
                        <a:bodyPr/>
                        <a:lstStyle/>
                        <a:p>
                          <a:pPr marL="0" marR="0">
                            <a:lnSpc>
                              <a:spcPct val="107000"/>
                            </a:lnSpc>
                            <a:spcBef>
                              <a:spcPts val="0"/>
                            </a:spcBef>
                            <a:spcAft>
                              <a:spcPts val="0"/>
                            </a:spcAft>
                          </a:pPr>
                          <a:r>
                            <a:rPr lang="en-US" sz="1400" dirty="0">
                              <a:effectLst/>
                              <a:latin typeface="Bricolage Grotesque Semi Bold" panose="020B0604020202020204" charset="0"/>
                            </a:rPr>
                            <a:t>The population</a:t>
                          </a:r>
                          <a:r>
                            <a:rPr lang="en-US" sz="1400" spc="185" dirty="0">
                              <a:effectLst/>
                              <a:latin typeface="Bricolage Grotesque Semi Bold" panose="020B0604020202020204" charset="0"/>
                            </a:rPr>
                            <a:t> </a:t>
                          </a:r>
                          <a:r>
                            <a:rPr lang="en-US" sz="1400" dirty="0">
                              <a:effectLst/>
                              <a:latin typeface="Bricolage Grotesque Semi Bold" panose="020B0604020202020204" charset="0"/>
                            </a:rPr>
                            <a:t>of</a:t>
                          </a:r>
                          <a:r>
                            <a:rPr lang="en-US" sz="1400" spc="195" dirty="0">
                              <a:effectLst/>
                              <a:latin typeface="Bricolage Grotesque Semi Bold" panose="020B0604020202020204" charset="0"/>
                            </a:rPr>
                            <a:t> </a:t>
                          </a:r>
                          <a:r>
                            <a:rPr lang="en-US" sz="1400" dirty="0">
                              <a:effectLst/>
                              <a:latin typeface="Bricolage Grotesque Semi Bold" panose="020B0604020202020204" charset="0"/>
                            </a:rPr>
                            <a:t>algae</a:t>
                          </a:r>
                          <a:r>
                            <a:rPr lang="en-US" sz="1400" spc="185" dirty="0">
                              <a:effectLst/>
                              <a:latin typeface="Bricolage Grotesque Semi Bold" panose="020B0604020202020204" charset="0"/>
                            </a:rPr>
                            <a:t> </a:t>
                          </a:r>
                          <a:r>
                            <a:rPr lang="en-US" sz="1400" dirty="0">
                              <a:effectLst/>
                              <a:latin typeface="Bricolage Grotesque Semi Bold" panose="020B0604020202020204" charset="0"/>
                            </a:rPr>
                            <a:t>capable of</a:t>
                          </a:r>
                          <a:r>
                            <a:rPr lang="en-US" sz="1400" spc="185" dirty="0">
                              <a:effectLst/>
                              <a:latin typeface="Bricolage Grotesque Semi Bold" panose="020B0604020202020204" charset="0"/>
                            </a:rPr>
                            <a:t> </a:t>
                          </a:r>
                          <a:r>
                            <a:rPr lang="en-US" sz="1400" dirty="0">
                              <a:effectLst/>
                              <a:latin typeface="Bricolage Grotesque Semi Bold" panose="020B0604020202020204" charset="0"/>
                            </a:rPr>
                            <a:t>growth</a:t>
                          </a:r>
                          <a:r>
                            <a:rPr lang="en-US" sz="1400" spc="190" dirty="0">
                              <a:effectLst/>
                              <a:latin typeface="Bricolage Grotesque Semi Bold" panose="020B0604020202020204" charset="0"/>
                            </a:rPr>
                            <a:t> </a:t>
                          </a:r>
                          <a:r>
                            <a:rPr lang="en-US" sz="1400" dirty="0">
                              <a:effectLst/>
                              <a:latin typeface="Bricolage Grotesque Semi Bold" panose="020B0604020202020204" charset="0"/>
                            </a:rPr>
                            <a:t>and</a:t>
                          </a:r>
                          <a:r>
                            <a:rPr lang="en-US" sz="1400" spc="195" dirty="0">
                              <a:effectLst/>
                              <a:latin typeface="Bricolage Grotesque Semi Bold" panose="020B0604020202020204" charset="0"/>
                            </a:rPr>
                            <a:t> </a:t>
                          </a:r>
                          <a:r>
                            <a:rPr lang="en-US" sz="1400" spc="-10" dirty="0">
                              <a:effectLst/>
                              <a:latin typeface="Bricolage Grotesque Semi Bold" panose="020B0604020202020204" charset="0"/>
                            </a:rPr>
                            <a:t>reproduction</a:t>
                          </a:r>
                          <a:r>
                            <a:rPr lang="en-US" sz="1400" dirty="0">
                              <a:effectLst/>
                              <a:latin typeface="Bricolage Grotesque Semi Bold" panose="020B0604020202020204" charset="0"/>
                            </a:rPr>
                            <a:t> </a:t>
                          </a:r>
                          <a:endParaRPr lang="en-US" sz="1400" dirty="0">
                            <a:effectLst/>
                            <a:latin typeface="Bricolage Grotesque Semi Bold" panose="020B060402020202020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83828628"/>
                      </a:ext>
                    </a:extLst>
                  </a:tr>
                  <a:tr h="570359">
                    <a:tc>
                      <a:txBody>
                        <a:bodyPr/>
                        <a:lstStyle/>
                        <a:p>
                          <a:endParaRPr lang="en-US"/>
                        </a:p>
                      </a:txBody>
                      <a:tcPr marL="68580" marR="68580" marT="0" marB="0">
                        <a:blipFill>
                          <a:blip r:embed="rId10"/>
                          <a:stretch>
                            <a:fillRect l="-820" t="-142553" r="-618852" b="-161702"/>
                          </a:stretch>
                        </a:blipFill>
                      </a:tcPr>
                    </a:tc>
                    <a:tc>
                      <a:txBody>
                        <a:bodyPr/>
                        <a:lstStyle/>
                        <a:p>
                          <a:pPr marL="0" marR="0">
                            <a:lnSpc>
                              <a:spcPct val="107000"/>
                            </a:lnSpc>
                            <a:spcBef>
                              <a:spcPts val="0"/>
                            </a:spcBef>
                            <a:spcAft>
                              <a:spcPts val="0"/>
                            </a:spcAft>
                          </a:pPr>
                          <a:r>
                            <a:rPr lang="en-US" sz="1400" dirty="0">
                              <a:effectLst/>
                              <a:latin typeface="Bricolage Grotesque Semi Bold" panose="020B0604020202020204" charset="0"/>
                            </a:rPr>
                            <a:t>The population of algae exposed to environmental stressors that trigger lipid accumulation</a:t>
                          </a:r>
                          <a:endParaRPr lang="en-US" sz="1400" dirty="0">
                            <a:effectLst/>
                            <a:latin typeface="Bricolage Grotesque Semi Bold" panose="020B060402020202020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44085021"/>
                      </a:ext>
                    </a:extLst>
                  </a:tr>
                  <a:tr h="377702">
                    <a:tc>
                      <a:txBody>
                        <a:bodyPr/>
                        <a:lstStyle/>
                        <a:p>
                          <a:endParaRPr lang="en-US"/>
                        </a:p>
                      </a:txBody>
                      <a:tcPr marL="68580" marR="68580" marT="0" marB="0">
                        <a:blipFill>
                          <a:blip r:embed="rId10"/>
                          <a:stretch>
                            <a:fillRect l="-820" t="-367742" r="-618852" b="-145161"/>
                          </a:stretch>
                        </a:blipFill>
                      </a:tcPr>
                    </a:tc>
                    <a:tc>
                      <a:txBody>
                        <a:bodyPr/>
                        <a:lstStyle/>
                        <a:p>
                          <a:pPr marL="0" marR="0">
                            <a:lnSpc>
                              <a:spcPct val="107000"/>
                            </a:lnSpc>
                            <a:spcBef>
                              <a:spcPts val="0"/>
                            </a:spcBef>
                            <a:spcAft>
                              <a:spcPts val="0"/>
                            </a:spcAft>
                          </a:pPr>
                          <a:r>
                            <a:rPr lang="en-US" sz="1400" dirty="0">
                              <a:effectLst/>
                              <a:latin typeface="Bricolage Grotesque Semi Bold" panose="020B0604020202020204" charset="0"/>
                            </a:rPr>
                            <a:t>Population</a:t>
                          </a:r>
                          <a:r>
                            <a:rPr lang="en-US" sz="1400" spc="100" dirty="0">
                              <a:effectLst/>
                              <a:latin typeface="Bricolage Grotesque Semi Bold" panose="020B0604020202020204" charset="0"/>
                            </a:rPr>
                            <a:t> </a:t>
                          </a:r>
                          <a:r>
                            <a:rPr lang="en-US" sz="1400" dirty="0">
                              <a:effectLst/>
                              <a:latin typeface="Bricolage Grotesque Semi Bold" panose="020B0604020202020204" charset="0"/>
                            </a:rPr>
                            <a:t>of</a:t>
                          </a:r>
                          <a:r>
                            <a:rPr lang="en-US" sz="1400" spc="105" dirty="0">
                              <a:effectLst/>
                              <a:latin typeface="Bricolage Grotesque Semi Bold" panose="020B0604020202020204" charset="0"/>
                            </a:rPr>
                            <a:t> </a:t>
                          </a:r>
                          <a:r>
                            <a:rPr lang="en-US" sz="1400" dirty="0">
                              <a:effectLst/>
                              <a:latin typeface="Bricolage Grotesque Semi Bold" panose="020B0604020202020204" charset="0"/>
                            </a:rPr>
                            <a:t>lipid-rich</a:t>
                          </a:r>
                          <a:r>
                            <a:rPr lang="en-US" sz="1400" spc="100" dirty="0">
                              <a:effectLst/>
                              <a:latin typeface="Bricolage Grotesque Semi Bold" panose="020B0604020202020204" charset="0"/>
                            </a:rPr>
                            <a:t> </a:t>
                          </a:r>
                          <a:r>
                            <a:rPr lang="en-US" sz="1400" dirty="0">
                              <a:effectLst/>
                              <a:latin typeface="Bricolage Grotesque Semi Bold" panose="020B0604020202020204" charset="0"/>
                            </a:rPr>
                            <a:t>algae</a:t>
                          </a:r>
                          <a:r>
                            <a:rPr lang="en-US" sz="1400" spc="100" dirty="0">
                              <a:effectLst/>
                              <a:latin typeface="Bricolage Grotesque Semi Bold" panose="020B0604020202020204" charset="0"/>
                            </a:rPr>
                            <a:t>, </a:t>
                          </a:r>
                          <a:r>
                            <a:rPr lang="en-US" sz="1400" dirty="0">
                              <a:effectLst/>
                              <a:latin typeface="Bricolage Grotesque Semi Bold" panose="020B0604020202020204" charset="0"/>
                            </a:rPr>
                            <a:t>ready</a:t>
                          </a:r>
                          <a:r>
                            <a:rPr lang="en-US" sz="1400" spc="100" dirty="0">
                              <a:effectLst/>
                              <a:latin typeface="Bricolage Grotesque Semi Bold" panose="020B0604020202020204" charset="0"/>
                            </a:rPr>
                            <a:t> </a:t>
                          </a:r>
                          <a:r>
                            <a:rPr lang="en-US" sz="1400" dirty="0">
                              <a:effectLst/>
                              <a:latin typeface="Bricolage Grotesque Semi Bold" panose="020B0604020202020204" charset="0"/>
                            </a:rPr>
                            <a:t>for</a:t>
                          </a:r>
                          <a:r>
                            <a:rPr lang="en-US" sz="1400" spc="100" dirty="0">
                              <a:effectLst/>
                              <a:latin typeface="Bricolage Grotesque Semi Bold" panose="020B0604020202020204" charset="0"/>
                            </a:rPr>
                            <a:t> </a:t>
                          </a:r>
                          <a:r>
                            <a:rPr lang="en-US" sz="1400" spc="-10" dirty="0">
                              <a:effectLst/>
                              <a:latin typeface="Bricolage Grotesque Semi Bold" panose="020B0604020202020204" charset="0"/>
                            </a:rPr>
                            <a:t>harvesting.</a:t>
                          </a:r>
                          <a:endParaRPr lang="en-US" sz="1400" dirty="0">
                            <a:effectLst/>
                            <a:latin typeface="Bricolage Grotesque Semi Bold" panose="020B060402020202020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897798981"/>
                      </a:ext>
                    </a:extLst>
                  </a:tr>
                  <a:tr h="219266">
                    <a:tc>
                      <a:txBody>
                        <a:bodyPr/>
                        <a:lstStyle/>
                        <a:p>
                          <a:endParaRPr lang="en-US"/>
                        </a:p>
                      </a:txBody>
                      <a:tcPr marL="68580" marR="68580" marT="0" marB="0">
                        <a:blipFill>
                          <a:blip r:embed="rId10"/>
                          <a:stretch>
                            <a:fillRect l="-820" t="-805556" r="-618852" b="-150000"/>
                          </a:stretch>
                        </a:blipFill>
                      </a:tcPr>
                    </a:tc>
                    <a:tc>
                      <a:txBody>
                        <a:bodyPr/>
                        <a:lstStyle/>
                        <a:p>
                          <a:pPr marL="0" marR="0">
                            <a:lnSpc>
                              <a:spcPct val="107000"/>
                            </a:lnSpc>
                            <a:spcBef>
                              <a:spcPts val="0"/>
                            </a:spcBef>
                            <a:spcAft>
                              <a:spcPts val="0"/>
                            </a:spcAft>
                          </a:pPr>
                          <a:r>
                            <a:rPr lang="en-US" sz="1400" dirty="0">
                              <a:effectLst/>
                              <a:latin typeface="Bricolage Grotesque Semi Bold" panose="020B0604020202020204" charset="0"/>
                            </a:rPr>
                            <a:t>Population</a:t>
                          </a:r>
                          <a:r>
                            <a:rPr lang="en-US" sz="1400" spc="60" dirty="0">
                              <a:effectLst/>
                              <a:latin typeface="Bricolage Grotesque Semi Bold" panose="020B0604020202020204" charset="0"/>
                            </a:rPr>
                            <a:t> </a:t>
                          </a:r>
                          <a:r>
                            <a:rPr lang="en-US" sz="1400" dirty="0">
                              <a:effectLst/>
                              <a:latin typeface="Bricolage Grotesque Semi Bold" panose="020B0604020202020204" charset="0"/>
                            </a:rPr>
                            <a:t>of</a:t>
                          </a:r>
                          <a:r>
                            <a:rPr lang="en-US" sz="1400" spc="55" dirty="0">
                              <a:effectLst/>
                              <a:latin typeface="Bricolage Grotesque Semi Bold" panose="020B0604020202020204" charset="0"/>
                            </a:rPr>
                            <a:t> </a:t>
                          </a:r>
                          <a:r>
                            <a:rPr lang="en-US" sz="1400" dirty="0">
                              <a:effectLst/>
                              <a:latin typeface="Bricolage Grotesque Semi Bold" panose="020B0604020202020204" charset="0"/>
                            </a:rPr>
                            <a:t>algae</a:t>
                          </a:r>
                          <a:r>
                            <a:rPr lang="en-US" sz="1400" spc="60" dirty="0">
                              <a:effectLst/>
                              <a:latin typeface="Bricolage Grotesque Semi Bold" panose="020B0604020202020204" charset="0"/>
                            </a:rPr>
                            <a:t> </a:t>
                          </a:r>
                          <a:r>
                            <a:rPr lang="en-US" sz="1400" dirty="0">
                              <a:effectLst/>
                              <a:latin typeface="Bricolage Grotesque Semi Bold" panose="020B0604020202020204" charset="0"/>
                            </a:rPr>
                            <a:t>converted</a:t>
                          </a:r>
                          <a:r>
                            <a:rPr lang="en-US" sz="1400" spc="60" dirty="0">
                              <a:effectLst/>
                              <a:latin typeface="Bricolage Grotesque Semi Bold" panose="020B0604020202020204" charset="0"/>
                            </a:rPr>
                            <a:t> </a:t>
                          </a:r>
                          <a:r>
                            <a:rPr lang="en-US" sz="1400" dirty="0">
                              <a:effectLst/>
                              <a:latin typeface="Bricolage Grotesque Semi Bold" panose="020B0604020202020204" charset="0"/>
                            </a:rPr>
                            <a:t>into</a:t>
                          </a:r>
                          <a:r>
                            <a:rPr lang="en-US" sz="1400" spc="65" dirty="0">
                              <a:effectLst/>
                              <a:latin typeface="Bricolage Grotesque Semi Bold" panose="020B0604020202020204" charset="0"/>
                            </a:rPr>
                            <a:t> </a:t>
                          </a:r>
                          <a:r>
                            <a:rPr lang="en-US" sz="1400" spc="-10" dirty="0">
                              <a:effectLst/>
                              <a:latin typeface="Bricolage Grotesque Semi Bold" panose="020B0604020202020204" charset="0"/>
                            </a:rPr>
                            <a:t>biofuel</a:t>
                          </a:r>
                          <a:endParaRPr lang="en-US" sz="1400" dirty="0">
                            <a:effectLst/>
                            <a:latin typeface="Bricolage Grotesque Semi Bold" panose="020B060402020202020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27685725"/>
                      </a:ext>
                    </a:extLst>
                  </a:tr>
                  <a:tr h="219266">
                    <a:tc>
                      <a:txBody>
                        <a:bodyPr/>
                        <a:lstStyle/>
                        <a:p>
                          <a:endParaRPr lang="en-US"/>
                        </a:p>
                      </a:txBody>
                      <a:tcPr marL="68580" marR="68580" marT="0" marB="0">
                        <a:blipFill>
                          <a:blip r:embed="rId10"/>
                          <a:stretch>
                            <a:fillRect l="-820" t="-905556" r="-618852" b="-50000"/>
                          </a:stretch>
                        </a:blipFill>
                      </a:tcPr>
                    </a:tc>
                    <a:tc>
                      <a:txBody>
                        <a:bodyPr/>
                        <a:lstStyle/>
                        <a:p>
                          <a:pPr marL="0" marR="0">
                            <a:lnSpc>
                              <a:spcPct val="107000"/>
                            </a:lnSpc>
                            <a:spcBef>
                              <a:spcPts val="0"/>
                            </a:spcBef>
                            <a:spcAft>
                              <a:spcPts val="0"/>
                            </a:spcAft>
                          </a:pPr>
                          <a:r>
                            <a:rPr lang="en-US" sz="1400" dirty="0">
                              <a:effectLst/>
                              <a:latin typeface="Bricolage Grotesque Semi Bold" panose="020B0604020202020204" charset="0"/>
                            </a:rPr>
                            <a:t>Population of genetically grown algae.</a:t>
                          </a:r>
                          <a:endParaRPr lang="en-US" sz="1400" dirty="0">
                            <a:effectLst/>
                            <a:latin typeface="Bricolage Grotesque Semi Bold" panose="020B060402020202020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5435751"/>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id="{1A58B92E-39C9-2990-3608-B2B7DC6A2EE9}"/>
                  </a:ext>
                </a:extLst>
              </p:cNvPr>
              <p:cNvGraphicFramePr>
                <a:graphicFrameLocks noGrp="1"/>
              </p:cNvGraphicFramePr>
              <p:nvPr>
                <p:extLst>
                  <p:ext uri="{D42A27DB-BD31-4B8C-83A1-F6EECF244321}">
                    <p14:modId xmlns:p14="http://schemas.microsoft.com/office/powerpoint/2010/main" val="2868878061"/>
                  </p:ext>
                </p:extLst>
              </p:nvPr>
            </p:nvGraphicFramePr>
            <p:xfrm>
              <a:off x="581431" y="4317013"/>
              <a:ext cx="6555503" cy="3200400"/>
            </p:xfrm>
            <a:graphic>
              <a:graphicData uri="http://schemas.openxmlformats.org/drawingml/2006/table">
                <a:tbl>
                  <a:tblPr firstRow="1" firstCol="1" bandRow="1">
                    <a:tableStyleId>{5C22544A-7EE6-4342-B048-85BDC9FD1C3A}</a:tableStyleId>
                  </a:tblPr>
                  <a:tblGrid>
                    <a:gridCol w="1015726">
                      <a:extLst>
                        <a:ext uri="{9D8B030D-6E8A-4147-A177-3AD203B41FA5}">
                          <a16:colId xmlns:a16="http://schemas.microsoft.com/office/drawing/2014/main" val="3758333314"/>
                        </a:ext>
                      </a:extLst>
                    </a:gridCol>
                    <a:gridCol w="5539777">
                      <a:extLst>
                        <a:ext uri="{9D8B030D-6E8A-4147-A177-3AD203B41FA5}">
                          <a16:colId xmlns:a16="http://schemas.microsoft.com/office/drawing/2014/main" val="709713808"/>
                        </a:ext>
                      </a:extLst>
                    </a:gridCol>
                  </a:tblGrid>
                  <a:tr h="389211">
                    <a:tc>
                      <a:txBody>
                        <a:bodyPr/>
                        <a:lstStyle/>
                        <a:p>
                          <a:pPr marL="0" marR="0">
                            <a:lnSpc>
                              <a:spcPct val="100000"/>
                            </a:lnSpc>
                            <a:spcBef>
                              <a:spcPts val="0"/>
                            </a:spcBef>
                            <a:spcAft>
                              <a:spcPts val="0"/>
                            </a:spcAft>
                          </a:pPr>
                          <a:r>
                            <a:rPr lang="en-US" sz="1400" dirty="0">
                              <a:effectLst/>
                              <a:latin typeface="Bricolage Grotesque Semi Bold" panose="020B0604020202020204" charset="0"/>
                            </a:rPr>
                            <a:t>Parameters</a:t>
                          </a:r>
                          <a:endParaRPr lang="en-US" sz="1400" dirty="0">
                            <a:effectLst/>
                            <a:latin typeface="Bricolage Grotesque Semi Bold" panose="020B060402020202020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0000"/>
                            </a:lnSpc>
                            <a:spcBef>
                              <a:spcPts val="0"/>
                            </a:spcBef>
                            <a:spcAft>
                              <a:spcPts val="0"/>
                            </a:spcAft>
                          </a:pPr>
                          <a:r>
                            <a:rPr lang="en-US" sz="1400" dirty="0">
                              <a:effectLst/>
                              <a:latin typeface="Bricolage Grotesque Semi Bold" panose="020B0604020202020204" charset="0"/>
                            </a:rPr>
                            <a:t>Description</a:t>
                          </a:r>
                          <a:endParaRPr lang="en-US" sz="1400" dirty="0">
                            <a:effectLst/>
                            <a:latin typeface="Bricolage Grotesque Semi Bold" panose="020B060402020202020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68042885"/>
                      </a:ext>
                    </a:extLst>
                  </a:tr>
                  <a:tr h="198527">
                    <a:tc>
                      <a:txBody>
                        <a:bodyPr/>
                        <a:lstStyle/>
                        <a:p>
                          <a:pPr marL="0" marR="0">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r>
                                  <m:rPr>
                                    <m:sty m:val="p"/>
                                  </m:rPr>
                                  <a:rPr lang="en-US" sz="1400">
                                    <a:effectLst/>
                                    <a:latin typeface="Cambria Math" panose="02040503050406030204" pitchFamily="18" charset="0"/>
                                  </a:rPr>
                                  <m:t>Λ</m:t>
                                </m:r>
                              </m:oMath>
                            </m:oMathPara>
                          </a14:m>
                          <a:endParaRPr lang="en-US" sz="1400" dirty="0">
                            <a:effectLst/>
                            <a:latin typeface="Bricolage Grotesque Semi Bold" panose="020B060402020202020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0000"/>
                            </a:lnSpc>
                            <a:spcBef>
                              <a:spcPts val="0"/>
                            </a:spcBef>
                            <a:spcAft>
                              <a:spcPts val="0"/>
                            </a:spcAft>
                          </a:pPr>
                          <a:r>
                            <a:rPr lang="en-US" sz="1400">
                              <a:effectLst/>
                              <a:latin typeface="Bricolage Grotesque Semi Bold" panose="020B0604020202020204" charset="0"/>
                            </a:rPr>
                            <a:t>Algae purchased or transplanted proportion</a:t>
                          </a:r>
                          <a:endParaRPr lang="en-US" sz="1400">
                            <a:effectLst/>
                            <a:latin typeface="Bricolage Grotesque Semi Bold" panose="020B060402020202020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25318654"/>
                      </a:ext>
                    </a:extLst>
                  </a:tr>
                  <a:tr h="198527">
                    <a:tc>
                      <a:txBody>
                        <a:bodyPr/>
                        <a:lstStyle/>
                        <a:p>
                          <a:pPr marL="0" marR="0">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r>
                                  <a:rPr lang="en-US" sz="1400">
                                    <a:effectLst/>
                                    <a:latin typeface="Cambria Math" panose="02040503050406030204" pitchFamily="18" charset="0"/>
                                  </a:rPr>
                                  <m:t>𝑘</m:t>
                                </m:r>
                              </m:oMath>
                            </m:oMathPara>
                          </a14:m>
                          <a:endParaRPr lang="en-US" sz="1400" dirty="0">
                            <a:effectLst/>
                            <a:latin typeface="Bricolage Grotesque Semi Bold" panose="020B060402020202020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0000"/>
                            </a:lnSpc>
                            <a:spcBef>
                              <a:spcPts val="0"/>
                            </a:spcBef>
                            <a:spcAft>
                              <a:spcPts val="0"/>
                            </a:spcAft>
                          </a:pPr>
                          <a:r>
                            <a:rPr lang="en-US" sz="1400">
                              <a:effectLst/>
                              <a:latin typeface="Bricolage Grotesque Semi Bold" panose="020B0604020202020204" charset="0"/>
                            </a:rPr>
                            <a:t>Rate of acceptance of genetically grown algae. </a:t>
                          </a:r>
                          <a:endParaRPr lang="en-US" sz="1400">
                            <a:effectLst/>
                            <a:latin typeface="Bricolage Grotesque Semi Bold" panose="020B060402020202020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73917066"/>
                      </a:ext>
                    </a:extLst>
                  </a:tr>
                  <a:tr h="198527">
                    <a:tc>
                      <a:txBody>
                        <a:bodyPr/>
                        <a:lstStyle/>
                        <a:p>
                          <a:pPr marL="0" marR="0">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r>
                                  <a:rPr lang="en-US" sz="1400">
                                    <a:effectLst/>
                                    <a:latin typeface="Cambria Math" panose="02040503050406030204" pitchFamily="18" charset="0"/>
                                  </a:rPr>
                                  <m:t>𝜇</m:t>
                                </m:r>
                              </m:oMath>
                            </m:oMathPara>
                          </a14:m>
                          <a:endParaRPr lang="en-US" sz="1400">
                            <a:effectLst/>
                            <a:latin typeface="Bricolage Grotesque Semi Bold" panose="020B060402020202020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0000"/>
                            </a:lnSpc>
                            <a:spcBef>
                              <a:spcPts val="0"/>
                            </a:spcBef>
                            <a:spcAft>
                              <a:spcPts val="0"/>
                            </a:spcAft>
                          </a:pPr>
                          <a:r>
                            <a:rPr lang="en-US" sz="1400" dirty="0">
                              <a:effectLst/>
                              <a:latin typeface="Bricolage Grotesque Semi Bold" panose="020B0604020202020204" charset="0"/>
                            </a:rPr>
                            <a:t>Natural</a:t>
                          </a:r>
                          <a:r>
                            <a:rPr lang="en-US" sz="1400" spc="60" dirty="0">
                              <a:effectLst/>
                              <a:latin typeface="Bricolage Grotesque Semi Bold" panose="020B0604020202020204" charset="0"/>
                            </a:rPr>
                            <a:t> </a:t>
                          </a:r>
                          <a:r>
                            <a:rPr lang="en-US" sz="1400" dirty="0">
                              <a:effectLst/>
                              <a:latin typeface="Bricolage Grotesque Semi Bold" panose="020B0604020202020204" charset="0"/>
                            </a:rPr>
                            <a:t>algae</a:t>
                          </a:r>
                          <a:r>
                            <a:rPr lang="en-US" sz="1400" spc="60" dirty="0">
                              <a:effectLst/>
                              <a:latin typeface="Bricolage Grotesque Semi Bold" panose="020B0604020202020204" charset="0"/>
                            </a:rPr>
                            <a:t> </a:t>
                          </a:r>
                          <a:r>
                            <a:rPr lang="en-US" sz="1400" dirty="0">
                              <a:effectLst/>
                              <a:latin typeface="Bricolage Grotesque Semi Bold" panose="020B0604020202020204" charset="0"/>
                            </a:rPr>
                            <a:t>death</a:t>
                          </a:r>
                          <a:r>
                            <a:rPr lang="en-US" sz="1400" spc="60" dirty="0">
                              <a:effectLst/>
                              <a:latin typeface="Bricolage Grotesque Semi Bold" panose="020B0604020202020204" charset="0"/>
                            </a:rPr>
                            <a:t> </a:t>
                          </a:r>
                          <a:r>
                            <a:rPr lang="en-US" sz="1400" spc="-20" dirty="0">
                              <a:effectLst/>
                              <a:latin typeface="Bricolage Grotesque Semi Bold" panose="020B0604020202020204" charset="0"/>
                            </a:rPr>
                            <a:t>rate</a:t>
                          </a:r>
                          <a:endParaRPr lang="en-US" sz="1400" dirty="0">
                            <a:effectLst/>
                            <a:latin typeface="Bricolage Grotesque Semi Bold" panose="020B060402020202020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0709667"/>
                      </a:ext>
                    </a:extLst>
                  </a:tr>
                  <a:tr h="198527">
                    <a:tc>
                      <a:txBody>
                        <a:bodyPr/>
                        <a:lstStyle/>
                        <a:p>
                          <a:pPr marL="0" marR="0">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r>
                                  <a:rPr lang="en-US" sz="1400">
                                    <a:effectLst/>
                                    <a:latin typeface="Cambria Math" panose="02040503050406030204" pitchFamily="18" charset="0"/>
                                  </a:rPr>
                                  <m:t>𝛼</m:t>
                                </m:r>
                              </m:oMath>
                            </m:oMathPara>
                          </a14:m>
                          <a:endParaRPr lang="en-US" sz="1400">
                            <a:effectLst/>
                            <a:latin typeface="Bricolage Grotesque Semi Bold" panose="020B060402020202020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0000"/>
                            </a:lnSpc>
                            <a:spcBef>
                              <a:spcPts val="0"/>
                            </a:spcBef>
                            <a:spcAft>
                              <a:spcPts val="0"/>
                            </a:spcAft>
                          </a:pPr>
                          <a:r>
                            <a:rPr lang="en-US" sz="1400" dirty="0">
                              <a:effectLst/>
                              <a:latin typeface="Bricolage Grotesque Semi Bold" panose="020B0604020202020204" charset="0"/>
                            </a:rPr>
                            <a:t>Lipid accumulation rate due to exposure</a:t>
                          </a:r>
                          <a:endParaRPr lang="en-US" sz="1400" dirty="0">
                            <a:effectLst/>
                            <a:latin typeface="Bricolage Grotesque Semi Bold" panose="020B060402020202020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40169089"/>
                      </a:ext>
                    </a:extLst>
                  </a:tr>
                  <a:tr h="198527">
                    <a:tc>
                      <a:txBody>
                        <a:bodyPr/>
                        <a:lstStyle/>
                        <a:p>
                          <a:pPr marL="0" marR="0">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sSub>
                                  <m:sSubPr>
                                    <m:ctrlPr>
                                      <a:rPr lang="en-US" sz="1400" i="1">
                                        <a:effectLst/>
                                        <a:latin typeface="Cambria Math" panose="02040503050406030204" pitchFamily="18" charset="0"/>
                                      </a:rPr>
                                    </m:ctrlPr>
                                  </m:sSubPr>
                                  <m:e>
                                    <m:r>
                                      <a:rPr lang="en-US" sz="1400">
                                        <a:effectLst/>
                                        <a:latin typeface="Cambria Math" panose="02040503050406030204" pitchFamily="18" charset="0"/>
                                      </a:rPr>
                                      <m:t>𝛿</m:t>
                                    </m:r>
                                  </m:e>
                                  <m:sub>
                                    <m:r>
                                      <a:rPr lang="en-US" sz="1400">
                                        <a:effectLst/>
                                        <a:latin typeface="Cambria Math" panose="02040503050406030204" pitchFamily="18" charset="0"/>
                                      </a:rPr>
                                      <m:t>1</m:t>
                                    </m:r>
                                  </m:sub>
                                </m:sSub>
                              </m:oMath>
                            </m:oMathPara>
                          </a14:m>
                          <a:endParaRPr lang="en-US" sz="1400" dirty="0">
                            <a:effectLst/>
                            <a:latin typeface="Bricolage Grotesque Semi Bold" panose="020B060402020202020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0000"/>
                            </a:lnSpc>
                            <a:spcBef>
                              <a:spcPts val="0"/>
                            </a:spcBef>
                            <a:spcAft>
                              <a:spcPts val="0"/>
                            </a:spcAft>
                          </a:pPr>
                          <a:r>
                            <a:rPr lang="en-US" sz="1400" dirty="0">
                              <a:effectLst/>
                              <a:latin typeface="Bricolage Grotesque Semi Bold" panose="020B0604020202020204" charset="0"/>
                            </a:rPr>
                            <a:t>Algae</a:t>
                          </a:r>
                          <a:r>
                            <a:rPr lang="en-US" sz="1400" spc="130" dirty="0">
                              <a:effectLst/>
                              <a:latin typeface="Bricolage Grotesque Semi Bold" panose="020B0604020202020204" charset="0"/>
                            </a:rPr>
                            <a:t> </a:t>
                          </a:r>
                          <a:r>
                            <a:rPr lang="en-US" sz="1400" dirty="0">
                              <a:effectLst/>
                              <a:latin typeface="Bricolage Grotesque Semi Bold" panose="020B0604020202020204" charset="0"/>
                            </a:rPr>
                            <a:t>death</a:t>
                          </a:r>
                          <a:r>
                            <a:rPr lang="en-US" sz="1400" spc="125" dirty="0">
                              <a:effectLst/>
                              <a:latin typeface="Bricolage Grotesque Semi Bold" panose="020B0604020202020204" charset="0"/>
                            </a:rPr>
                            <a:t> </a:t>
                          </a:r>
                          <a:r>
                            <a:rPr lang="en-US" sz="1400" dirty="0">
                              <a:effectLst/>
                              <a:latin typeface="Bricolage Grotesque Semi Bold" panose="020B0604020202020204" charset="0"/>
                            </a:rPr>
                            <a:t>rate</a:t>
                          </a:r>
                          <a:r>
                            <a:rPr lang="en-US" sz="1400" spc="125" dirty="0">
                              <a:effectLst/>
                              <a:latin typeface="Bricolage Grotesque Semi Bold" panose="020B0604020202020204" charset="0"/>
                            </a:rPr>
                            <a:t> </a:t>
                          </a:r>
                          <a:r>
                            <a:rPr lang="en-US" sz="1400" dirty="0">
                              <a:effectLst/>
                              <a:latin typeface="Bricolage Grotesque Semi Bold" panose="020B0604020202020204" charset="0"/>
                            </a:rPr>
                            <a:t>due</a:t>
                          </a:r>
                          <a:r>
                            <a:rPr lang="en-US" sz="1400" spc="130" dirty="0">
                              <a:effectLst/>
                              <a:latin typeface="Bricolage Grotesque Semi Bold" panose="020B0604020202020204" charset="0"/>
                            </a:rPr>
                            <a:t> </a:t>
                          </a:r>
                          <a:r>
                            <a:rPr lang="en-US" sz="1400" dirty="0">
                              <a:effectLst/>
                              <a:latin typeface="Bricolage Grotesque Semi Bold" panose="020B0604020202020204" charset="0"/>
                            </a:rPr>
                            <a:t>to</a:t>
                          </a:r>
                          <a:r>
                            <a:rPr lang="en-US" sz="1400" spc="125" dirty="0">
                              <a:effectLst/>
                              <a:latin typeface="Bricolage Grotesque Semi Bold" panose="020B0604020202020204" charset="0"/>
                            </a:rPr>
                            <a:t> </a:t>
                          </a:r>
                          <a:r>
                            <a:rPr lang="en-US" sz="1400" dirty="0">
                              <a:effectLst/>
                              <a:latin typeface="Bricolage Grotesque Semi Bold" panose="020B0604020202020204" charset="0"/>
                            </a:rPr>
                            <a:t>environmental</a:t>
                          </a:r>
                          <a:r>
                            <a:rPr lang="en-US" sz="1400" spc="135" dirty="0">
                              <a:effectLst/>
                              <a:latin typeface="Bricolage Grotesque Semi Bold" panose="020B0604020202020204" charset="0"/>
                            </a:rPr>
                            <a:t> </a:t>
                          </a:r>
                          <a:r>
                            <a:rPr lang="en-US" sz="1400" spc="-10" dirty="0">
                              <a:effectLst/>
                              <a:latin typeface="Bricolage Grotesque Semi Bold" panose="020B0604020202020204" charset="0"/>
                            </a:rPr>
                            <a:t>factors</a:t>
                          </a:r>
                          <a:endParaRPr lang="en-US" sz="1400" dirty="0">
                            <a:effectLst/>
                            <a:latin typeface="Bricolage Grotesque Semi Bold" panose="020B060402020202020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48008969"/>
                      </a:ext>
                    </a:extLst>
                  </a:tr>
                  <a:tr h="198527">
                    <a:tc>
                      <a:txBody>
                        <a:bodyPr/>
                        <a:lstStyle/>
                        <a:p>
                          <a:pPr marL="0" marR="0">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sSub>
                                  <m:sSubPr>
                                    <m:ctrlPr>
                                      <a:rPr lang="en-US" sz="1400" i="1">
                                        <a:effectLst/>
                                        <a:latin typeface="Cambria Math" panose="02040503050406030204" pitchFamily="18" charset="0"/>
                                      </a:rPr>
                                    </m:ctrlPr>
                                  </m:sSubPr>
                                  <m:e>
                                    <m:r>
                                      <a:rPr lang="en-US" sz="1400">
                                        <a:effectLst/>
                                        <a:latin typeface="Cambria Math" panose="02040503050406030204" pitchFamily="18" charset="0"/>
                                      </a:rPr>
                                      <m:t>𝛿</m:t>
                                    </m:r>
                                  </m:e>
                                  <m:sub>
                                    <m:r>
                                      <a:rPr lang="en-US" sz="1400">
                                        <a:effectLst/>
                                        <a:latin typeface="Cambria Math" panose="02040503050406030204" pitchFamily="18" charset="0"/>
                                      </a:rPr>
                                      <m:t>2</m:t>
                                    </m:r>
                                  </m:sub>
                                </m:sSub>
                              </m:oMath>
                            </m:oMathPara>
                          </a14:m>
                          <a:endParaRPr lang="en-US" sz="1400">
                            <a:effectLst/>
                            <a:latin typeface="Bricolage Grotesque Semi Bold" panose="020B060402020202020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0000"/>
                            </a:lnSpc>
                            <a:spcBef>
                              <a:spcPts val="0"/>
                            </a:spcBef>
                            <a:spcAft>
                              <a:spcPts val="0"/>
                            </a:spcAft>
                          </a:pPr>
                          <a:r>
                            <a:rPr lang="en-US" sz="1400" dirty="0">
                              <a:effectLst/>
                              <a:latin typeface="Bricolage Grotesque Semi Bold" panose="020B0604020202020204" charset="0"/>
                            </a:rPr>
                            <a:t>Harvest rate</a:t>
                          </a:r>
                          <a:endParaRPr lang="en-US" sz="1400" dirty="0">
                            <a:effectLst/>
                            <a:latin typeface="Bricolage Grotesque Semi Bold" panose="020B060402020202020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03645397"/>
                      </a:ext>
                    </a:extLst>
                  </a:tr>
                  <a:tr h="198527">
                    <a:tc>
                      <a:txBody>
                        <a:bodyPr/>
                        <a:lstStyle/>
                        <a:p>
                          <a:pPr marL="0" marR="0">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r>
                                  <m:rPr>
                                    <m:sty m:val="p"/>
                                  </m:rPr>
                                  <a:rPr lang="en-US" sz="1400">
                                    <a:effectLst/>
                                    <a:latin typeface="Cambria Math" panose="02040503050406030204" pitchFamily="18" charset="0"/>
                                  </a:rPr>
                                  <m:t>λ</m:t>
                                </m:r>
                              </m:oMath>
                            </m:oMathPara>
                          </a14:m>
                          <a:endParaRPr lang="en-US" sz="1400">
                            <a:effectLst/>
                            <a:latin typeface="Bricolage Grotesque Semi Bold" panose="020B060402020202020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0000"/>
                            </a:lnSpc>
                            <a:spcBef>
                              <a:spcPts val="0"/>
                            </a:spcBef>
                            <a:spcAft>
                              <a:spcPts val="0"/>
                            </a:spcAft>
                          </a:pPr>
                          <a:r>
                            <a:rPr lang="en-US" sz="1400" dirty="0">
                              <a:effectLst/>
                              <a:latin typeface="Bricolage Grotesque Semi Bold" panose="020B0604020202020204" charset="0"/>
                            </a:rPr>
                            <a:t>Lipid</a:t>
                          </a:r>
                          <a:r>
                            <a:rPr lang="en-US" sz="1400" spc="15" dirty="0">
                              <a:effectLst/>
                              <a:latin typeface="Bricolage Grotesque Semi Bold" panose="020B0604020202020204" charset="0"/>
                            </a:rPr>
                            <a:t> </a:t>
                          </a:r>
                          <a:r>
                            <a:rPr lang="en-US" sz="1400" dirty="0">
                              <a:effectLst/>
                              <a:latin typeface="Bricolage Grotesque Semi Bold" panose="020B0604020202020204" charset="0"/>
                            </a:rPr>
                            <a:t>accumulation</a:t>
                          </a:r>
                          <a:r>
                            <a:rPr lang="en-US" sz="1400" spc="10" dirty="0">
                              <a:effectLst/>
                              <a:latin typeface="Bricolage Grotesque Semi Bold" panose="020B0604020202020204" charset="0"/>
                            </a:rPr>
                            <a:t> </a:t>
                          </a:r>
                          <a:r>
                            <a:rPr lang="en-US" sz="1400" spc="-20" dirty="0">
                              <a:effectLst/>
                              <a:latin typeface="Bricolage Grotesque Semi Bold" panose="020B0604020202020204" charset="0"/>
                            </a:rPr>
                            <a:t>rate</a:t>
                          </a:r>
                          <a:endParaRPr lang="en-US" sz="1400" dirty="0">
                            <a:effectLst/>
                            <a:latin typeface="Bricolage Grotesque Semi Bold" panose="020B060402020202020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27673593"/>
                      </a:ext>
                    </a:extLst>
                  </a:tr>
                  <a:tr h="198527">
                    <a:tc>
                      <a:txBody>
                        <a:bodyPr/>
                        <a:lstStyle/>
                        <a:p>
                          <a:pPr marL="0" marR="0">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r>
                                  <a:rPr lang="en-US" sz="1400">
                                    <a:effectLst/>
                                    <a:latin typeface="Cambria Math" panose="02040503050406030204" pitchFamily="18" charset="0"/>
                                  </a:rPr>
                                  <m:t>𝜂</m:t>
                                </m:r>
                              </m:oMath>
                            </m:oMathPara>
                          </a14:m>
                          <a:endParaRPr lang="en-US" sz="1400">
                            <a:effectLst/>
                            <a:latin typeface="Bricolage Grotesque Semi Bold" panose="020B060402020202020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0000"/>
                            </a:lnSpc>
                            <a:spcBef>
                              <a:spcPts val="0"/>
                            </a:spcBef>
                            <a:spcAft>
                              <a:spcPts val="0"/>
                            </a:spcAft>
                          </a:pPr>
                          <a:r>
                            <a:rPr lang="en-US" sz="1400" dirty="0">
                              <a:effectLst/>
                              <a:latin typeface="Bricolage Grotesque Semi Bold" panose="020B0604020202020204" charset="0"/>
                            </a:rPr>
                            <a:t>Rate of conversion of algae lipid to biofuel</a:t>
                          </a:r>
                          <a:endParaRPr lang="en-US" sz="1400" dirty="0">
                            <a:effectLst/>
                            <a:latin typeface="Bricolage Grotesque Semi Bold" panose="020B060402020202020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89966305"/>
                      </a:ext>
                    </a:extLst>
                  </a:tr>
                  <a:tr h="198527">
                    <a:tc>
                      <a:txBody>
                        <a:bodyPr/>
                        <a:lstStyle/>
                        <a:p>
                          <a:pPr marL="0" marR="0">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sSub>
                                  <m:sSubPr>
                                    <m:ctrlPr>
                                      <a:rPr lang="en-US" sz="1400" i="1">
                                        <a:effectLst/>
                                        <a:latin typeface="Cambria Math" panose="02040503050406030204" pitchFamily="18" charset="0"/>
                                      </a:rPr>
                                    </m:ctrlPr>
                                  </m:sSubPr>
                                  <m:e>
                                    <m:r>
                                      <a:rPr lang="en-US" sz="1400">
                                        <a:effectLst/>
                                        <a:latin typeface="Cambria Math" panose="02040503050406030204" pitchFamily="18" charset="0"/>
                                      </a:rPr>
                                      <m:t>𝛿</m:t>
                                    </m:r>
                                  </m:e>
                                  <m:sub>
                                    <m:r>
                                      <a:rPr lang="en-US" sz="1400">
                                        <a:effectLst/>
                                        <a:latin typeface="Cambria Math" panose="02040503050406030204" pitchFamily="18" charset="0"/>
                                      </a:rPr>
                                      <m:t>3</m:t>
                                    </m:r>
                                  </m:sub>
                                </m:sSub>
                              </m:oMath>
                            </m:oMathPara>
                          </a14:m>
                          <a:endParaRPr lang="en-US" sz="1400">
                            <a:effectLst/>
                            <a:latin typeface="Bricolage Grotesque Semi Bold" panose="020B060402020202020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0000"/>
                            </a:lnSpc>
                            <a:spcBef>
                              <a:spcPts val="0"/>
                            </a:spcBef>
                            <a:spcAft>
                              <a:spcPts val="0"/>
                            </a:spcAft>
                          </a:pPr>
                          <a:r>
                            <a:rPr lang="en-US" sz="1400">
                              <a:effectLst/>
                              <a:latin typeface="Bricolage Grotesque Semi Bold" panose="020B0604020202020204" charset="0"/>
                            </a:rPr>
                            <a:t>Biofuel conversion rate</a:t>
                          </a:r>
                          <a:endParaRPr lang="en-US" sz="1400">
                            <a:effectLst/>
                            <a:latin typeface="Bricolage Grotesque Semi Bold" panose="020B060402020202020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18986229"/>
                      </a:ext>
                    </a:extLst>
                  </a:tr>
                  <a:tr h="198527">
                    <a:tc>
                      <a:txBody>
                        <a:bodyPr/>
                        <a:lstStyle/>
                        <a:p>
                          <a:pPr marL="0" marR="0">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r>
                                  <a:rPr lang="en-US" sz="1400">
                                    <a:effectLst/>
                                    <a:latin typeface="Cambria Math" panose="02040503050406030204" pitchFamily="18" charset="0"/>
                                  </a:rPr>
                                  <m:t>𝜖</m:t>
                                </m:r>
                              </m:oMath>
                            </m:oMathPara>
                          </a14:m>
                          <a:endParaRPr lang="en-US" sz="1400">
                            <a:effectLst/>
                            <a:latin typeface="Bricolage Grotesque Semi Bold" panose="020B060402020202020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0000"/>
                            </a:lnSpc>
                            <a:spcBef>
                              <a:spcPts val="0"/>
                            </a:spcBef>
                            <a:spcAft>
                              <a:spcPts val="0"/>
                            </a:spcAft>
                          </a:pPr>
                          <a:r>
                            <a:rPr lang="en-US" sz="1400" dirty="0">
                              <a:effectLst/>
                              <a:latin typeface="Bricolage Grotesque Semi Bold" panose="020B0604020202020204" charset="0"/>
                            </a:rPr>
                            <a:t>Induced environmental exposure</a:t>
                          </a:r>
                          <a:endParaRPr lang="en-US" sz="1400" dirty="0">
                            <a:effectLst/>
                            <a:latin typeface="Bricolage Grotesque Semi Bold" panose="020B060402020202020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62422801"/>
                      </a:ext>
                    </a:extLst>
                  </a:tr>
                  <a:tr h="198527">
                    <a:tc>
                      <a:txBody>
                        <a:bodyPr/>
                        <a:lstStyle/>
                        <a:p>
                          <a:pPr marL="0" marR="0">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r>
                                  <a:rPr lang="en-US" sz="1400">
                                    <a:effectLst/>
                                    <a:latin typeface="Cambria Math" panose="02040503050406030204" pitchFamily="18" charset="0"/>
                                  </a:rPr>
                                  <m:t>𝜃</m:t>
                                </m:r>
                              </m:oMath>
                            </m:oMathPara>
                          </a14:m>
                          <a:endParaRPr lang="en-US" sz="1400">
                            <a:effectLst/>
                            <a:latin typeface="Bricolage Grotesque Semi Bold" panose="020B060402020202020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0000"/>
                            </a:lnSpc>
                            <a:spcBef>
                              <a:spcPts val="0"/>
                            </a:spcBef>
                            <a:spcAft>
                              <a:spcPts val="0"/>
                            </a:spcAft>
                          </a:pPr>
                          <a:r>
                            <a:rPr lang="en-US" sz="1400" dirty="0">
                              <a:effectLst/>
                              <a:latin typeface="Bricolage Grotesque Semi Bold" panose="020B0604020202020204" charset="0"/>
                            </a:rPr>
                            <a:t>Spore</a:t>
                          </a:r>
                          <a:r>
                            <a:rPr lang="en-US" sz="1400" spc="110" dirty="0">
                              <a:effectLst/>
                              <a:latin typeface="Bricolage Grotesque Semi Bold" panose="020B0604020202020204" charset="0"/>
                            </a:rPr>
                            <a:t> </a:t>
                          </a:r>
                          <a:r>
                            <a:rPr lang="en-US" sz="1400" dirty="0">
                              <a:effectLst/>
                              <a:latin typeface="Bricolage Grotesque Semi Bold" panose="020B0604020202020204" charset="0"/>
                            </a:rPr>
                            <a:t>formation</a:t>
                          </a:r>
                          <a:r>
                            <a:rPr lang="en-US" sz="1400" spc="110" dirty="0">
                              <a:effectLst/>
                              <a:latin typeface="Bricolage Grotesque Semi Bold" panose="020B0604020202020204" charset="0"/>
                            </a:rPr>
                            <a:t> </a:t>
                          </a:r>
                          <a:r>
                            <a:rPr lang="en-US" sz="1400" spc="-20" dirty="0">
                              <a:effectLst/>
                              <a:latin typeface="Bricolage Grotesque Semi Bold" panose="020B0604020202020204" charset="0"/>
                            </a:rPr>
                            <a:t>rate</a:t>
                          </a:r>
                          <a:endParaRPr lang="en-US" sz="1400" dirty="0">
                            <a:effectLst/>
                            <a:latin typeface="Bricolage Grotesque Semi Bold" panose="020B060402020202020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42170039"/>
                      </a:ext>
                    </a:extLst>
                  </a:tr>
                  <a:tr h="198527">
                    <a:tc>
                      <a:txBody>
                        <a:bodyPr/>
                        <a:lstStyle/>
                        <a:p>
                          <a:pPr marL="0" marR="0">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r>
                                  <a:rPr lang="en-US" sz="1400">
                                    <a:effectLst/>
                                    <a:latin typeface="Cambria Math" panose="02040503050406030204" pitchFamily="18" charset="0"/>
                                  </a:rPr>
                                  <m:t>𝛽</m:t>
                                </m:r>
                              </m:oMath>
                            </m:oMathPara>
                          </a14:m>
                          <a:endParaRPr lang="en-US" sz="1400">
                            <a:effectLst/>
                            <a:latin typeface="Bricolage Grotesque Semi Bold" panose="020B060402020202020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0000"/>
                            </a:lnSpc>
                            <a:spcBef>
                              <a:spcPts val="0"/>
                            </a:spcBef>
                            <a:spcAft>
                              <a:spcPts val="0"/>
                            </a:spcAft>
                          </a:pPr>
                          <a:r>
                            <a:rPr lang="en-US" sz="1400" dirty="0">
                              <a:effectLst/>
                              <a:latin typeface="Bricolage Grotesque Semi Bold" panose="020B0604020202020204" charset="0"/>
                            </a:rPr>
                            <a:t>Algae</a:t>
                          </a:r>
                          <a:r>
                            <a:rPr lang="en-US" sz="1400" spc="80" dirty="0">
                              <a:effectLst/>
                              <a:latin typeface="Bricolage Grotesque Semi Bold" panose="020B0604020202020204" charset="0"/>
                            </a:rPr>
                            <a:t> </a:t>
                          </a:r>
                          <a:r>
                            <a:rPr lang="en-US" sz="1400" dirty="0">
                              <a:effectLst/>
                              <a:latin typeface="Bricolage Grotesque Semi Bold" panose="020B0604020202020204" charset="0"/>
                            </a:rPr>
                            <a:t>contact</a:t>
                          </a:r>
                          <a:r>
                            <a:rPr lang="en-US" sz="1400" spc="75" dirty="0">
                              <a:effectLst/>
                              <a:latin typeface="Bricolage Grotesque Semi Bold" panose="020B0604020202020204" charset="0"/>
                            </a:rPr>
                            <a:t> </a:t>
                          </a:r>
                          <a:r>
                            <a:rPr lang="en-US" sz="1400" spc="-20" dirty="0">
                              <a:effectLst/>
                              <a:latin typeface="Bricolage Grotesque Semi Bold" panose="020B0604020202020204" charset="0"/>
                            </a:rPr>
                            <a:t>rate</a:t>
                          </a:r>
                          <a:endParaRPr lang="en-US" sz="1400" dirty="0">
                            <a:effectLst/>
                            <a:latin typeface="Bricolage Grotesque Semi Bold" panose="020B060402020202020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40052226"/>
                      </a:ext>
                    </a:extLst>
                  </a:tr>
                  <a:tr h="198527">
                    <a:tc>
                      <a:txBody>
                        <a:bodyPr/>
                        <a:lstStyle/>
                        <a:p>
                          <a:pPr marL="0" marR="0">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r>
                                  <a:rPr lang="en-US" sz="1400">
                                    <a:effectLst/>
                                    <a:latin typeface="Cambria Math" panose="02040503050406030204" pitchFamily="18" charset="0"/>
                                  </a:rPr>
                                  <m:t>𝛾</m:t>
                                </m:r>
                              </m:oMath>
                            </m:oMathPara>
                          </a14:m>
                          <a:endParaRPr lang="en-US" sz="1400">
                            <a:effectLst/>
                            <a:latin typeface="Bricolage Grotesque Semi Bold" panose="020B060402020202020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0000"/>
                            </a:lnSpc>
                            <a:spcBef>
                              <a:spcPts val="0"/>
                            </a:spcBef>
                            <a:spcAft>
                              <a:spcPts val="0"/>
                            </a:spcAft>
                          </a:pPr>
                          <a:r>
                            <a:rPr lang="en-US" sz="1400" dirty="0">
                              <a:effectLst/>
                              <a:latin typeface="Bricolage Grotesque Semi Bold" panose="020B0604020202020204" charset="0"/>
                            </a:rPr>
                            <a:t>Proportion of newly introduced genetically grown algae</a:t>
                          </a:r>
                          <a:endParaRPr lang="en-US" sz="1400" dirty="0">
                            <a:effectLst/>
                            <a:latin typeface="Bricolage Grotesque Semi Bold" panose="020B060402020202020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35663153"/>
                      </a:ext>
                    </a:extLst>
                  </a:tr>
                </a:tbl>
              </a:graphicData>
            </a:graphic>
          </p:graphicFrame>
        </mc:Choice>
        <mc:Fallback xmlns="">
          <p:graphicFrame>
            <p:nvGraphicFramePr>
              <p:cNvPr id="7" name="Table 6">
                <a:extLst>
                  <a:ext uri="{FF2B5EF4-FFF2-40B4-BE49-F238E27FC236}">
                    <a16:creationId xmlns:a16="http://schemas.microsoft.com/office/drawing/2014/main" id="{1A58B92E-39C9-2990-3608-B2B7DC6A2EE9}"/>
                  </a:ext>
                </a:extLst>
              </p:cNvPr>
              <p:cNvGraphicFramePr>
                <a:graphicFrameLocks noGrp="1"/>
              </p:cNvGraphicFramePr>
              <p:nvPr>
                <p:extLst>
                  <p:ext uri="{D42A27DB-BD31-4B8C-83A1-F6EECF244321}">
                    <p14:modId xmlns:p14="http://schemas.microsoft.com/office/powerpoint/2010/main" val="2868878061"/>
                  </p:ext>
                </p:extLst>
              </p:nvPr>
            </p:nvGraphicFramePr>
            <p:xfrm>
              <a:off x="581431" y="4317013"/>
              <a:ext cx="6555503" cy="3200400"/>
            </p:xfrm>
            <a:graphic>
              <a:graphicData uri="http://schemas.openxmlformats.org/drawingml/2006/table">
                <a:tbl>
                  <a:tblPr firstRow="1" firstCol="1" bandRow="1">
                    <a:tableStyleId>{5C22544A-7EE6-4342-B048-85BDC9FD1C3A}</a:tableStyleId>
                  </a:tblPr>
                  <a:tblGrid>
                    <a:gridCol w="1015726">
                      <a:extLst>
                        <a:ext uri="{9D8B030D-6E8A-4147-A177-3AD203B41FA5}">
                          <a16:colId xmlns:a16="http://schemas.microsoft.com/office/drawing/2014/main" val="3758333314"/>
                        </a:ext>
                      </a:extLst>
                    </a:gridCol>
                    <a:gridCol w="5539777">
                      <a:extLst>
                        <a:ext uri="{9D8B030D-6E8A-4147-A177-3AD203B41FA5}">
                          <a16:colId xmlns:a16="http://schemas.microsoft.com/office/drawing/2014/main" val="709713808"/>
                        </a:ext>
                      </a:extLst>
                    </a:gridCol>
                  </a:tblGrid>
                  <a:tr h="426720">
                    <a:tc>
                      <a:txBody>
                        <a:bodyPr/>
                        <a:lstStyle/>
                        <a:p>
                          <a:pPr marL="0" marR="0">
                            <a:lnSpc>
                              <a:spcPct val="100000"/>
                            </a:lnSpc>
                            <a:spcBef>
                              <a:spcPts val="0"/>
                            </a:spcBef>
                            <a:spcAft>
                              <a:spcPts val="0"/>
                            </a:spcAft>
                          </a:pPr>
                          <a:r>
                            <a:rPr lang="en-US" sz="1400" dirty="0">
                              <a:effectLst/>
                              <a:latin typeface="Bricolage Grotesque Semi Bold" panose="020B0604020202020204" charset="0"/>
                            </a:rPr>
                            <a:t>Parameters</a:t>
                          </a:r>
                          <a:endParaRPr lang="en-US" sz="1400" dirty="0">
                            <a:effectLst/>
                            <a:latin typeface="Bricolage Grotesque Semi Bold" panose="020B060402020202020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0000"/>
                            </a:lnSpc>
                            <a:spcBef>
                              <a:spcPts val="0"/>
                            </a:spcBef>
                            <a:spcAft>
                              <a:spcPts val="0"/>
                            </a:spcAft>
                          </a:pPr>
                          <a:r>
                            <a:rPr lang="en-US" sz="1400" dirty="0">
                              <a:effectLst/>
                              <a:latin typeface="Bricolage Grotesque Semi Bold" panose="020B0604020202020204" charset="0"/>
                            </a:rPr>
                            <a:t>Description</a:t>
                          </a:r>
                          <a:endParaRPr lang="en-US" sz="1400" dirty="0">
                            <a:effectLst/>
                            <a:latin typeface="Bricolage Grotesque Semi Bold" panose="020B060402020202020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68042885"/>
                      </a:ext>
                    </a:extLst>
                  </a:tr>
                  <a:tr h="213360">
                    <a:tc>
                      <a:txBody>
                        <a:bodyPr/>
                        <a:lstStyle/>
                        <a:p>
                          <a:endParaRPr lang="en-US"/>
                        </a:p>
                      </a:txBody>
                      <a:tcPr marL="68580" marR="68580" marT="0" marB="0">
                        <a:blipFill>
                          <a:blip r:embed="rId11"/>
                          <a:stretch>
                            <a:fillRect l="-599" t="-225714" r="-546707" b="-1251429"/>
                          </a:stretch>
                        </a:blipFill>
                      </a:tcPr>
                    </a:tc>
                    <a:tc>
                      <a:txBody>
                        <a:bodyPr/>
                        <a:lstStyle/>
                        <a:p>
                          <a:pPr marL="0" marR="0">
                            <a:lnSpc>
                              <a:spcPct val="100000"/>
                            </a:lnSpc>
                            <a:spcBef>
                              <a:spcPts val="0"/>
                            </a:spcBef>
                            <a:spcAft>
                              <a:spcPts val="0"/>
                            </a:spcAft>
                          </a:pPr>
                          <a:r>
                            <a:rPr lang="en-US" sz="1400">
                              <a:effectLst/>
                              <a:latin typeface="Bricolage Grotesque Semi Bold" panose="020B0604020202020204" charset="0"/>
                            </a:rPr>
                            <a:t>Algae purchased or transplanted proportion</a:t>
                          </a:r>
                          <a:endParaRPr lang="en-US" sz="1400">
                            <a:effectLst/>
                            <a:latin typeface="Bricolage Grotesque Semi Bold" panose="020B060402020202020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25318654"/>
                      </a:ext>
                    </a:extLst>
                  </a:tr>
                  <a:tr h="213360">
                    <a:tc>
                      <a:txBody>
                        <a:bodyPr/>
                        <a:lstStyle/>
                        <a:p>
                          <a:endParaRPr lang="en-US"/>
                        </a:p>
                      </a:txBody>
                      <a:tcPr marL="68580" marR="68580" marT="0" marB="0">
                        <a:blipFill>
                          <a:blip r:embed="rId11"/>
                          <a:stretch>
                            <a:fillRect l="-599" t="-325714" r="-546707" b="-1151429"/>
                          </a:stretch>
                        </a:blipFill>
                      </a:tcPr>
                    </a:tc>
                    <a:tc>
                      <a:txBody>
                        <a:bodyPr/>
                        <a:lstStyle/>
                        <a:p>
                          <a:pPr marL="0" marR="0">
                            <a:lnSpc>
                              <a:spcPct val="100000"/>
                            </a:lnSpc>
                            <a:spcBef>
                              <a:spcPts val="0"/>
                            </a:spcBef>
                            <a:spcAft>
                              <a:spcPts val="0"/>
                            </a:spcAft>
                          </a:pPr>
                          <a:r>
                            <a:rPr lang="en-US" sz="1400">
                              <a:effectLst/>
                              <a:latin typeface="Bricolage Grotesque Semi Bold" panose="020B0604020202020204" charset="0"/>
                            </a:rPr>
                            <a:t>Rate of acceptance of genetically grown algae. </a:t>
                          </a:r>
                          <a:endParaRPr lang="en-US" sz="1400">
                            <a:effectLst/>
                            <a:latin typeface="Bricolage Grotesque Semi Bold" panose="020B060402020202020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73917066"/>
                      </a:ext>
                    </a:extLst>
                  </a:tr>
                  <a:tr h="213360">
                    <a:tc>
                      <a:txBody>
                        <a:bodyPr/>
                        <a:lstStyle/>
                        <a:p>
                          <a:endParaRPr lang="en-US"/>
                        </a:p>
                      </a:txBody>
                      <a:tcPr marL="68580" marR="68580" marT="0" marB="0">
                        <a:blipFill>
                          <a:blip r:embed="rId11"/>
                          <a:stretch>
                            <a:fillRect l="-599" t="-425714" r="-546707" b="-1051429"/>
                          </a:stretch>
                        </a:blipFill>
                      </a:tcPr>
                    </a:tc>
                    <a:tc>
                      <a:txBody>
                        <a:bodyPr/>
                        <a:lstStyle/>
                        <a:p>
                          <a:pPr marL="0" marR="0">
                            <a:lnSpc>
                              <a:spcPct val="100000"/>
                            </a:lnSpc>
                            <a:spcBef>
                              <a:spcPts val="0"/>
                            </a:spcBef>
                            <a:spcAft>
                              <a:spcPts val="0"/>
                            </a:spcAft>
                          </a:pPr>
                          <a:r>
                            <a:rPr lang="en-US" sz="1400" dirty="0">
                              <a:effectLst/>
                              <a:latin typeface="Bricolage Grotesque Semi Bold" panose="020B0604020202020204" charset="0"/>
                            </a:rPr>
                            <a:t>Natural</a:t>
                          </a:r>
                          <a:r>
                            <a:rPr lang="en-US" sz="1400" spc="60" dirty="0">
                              <a:effectLst/>
                              <a:latin typeface="Bricolage Grotesque Semi Bold" panose="020B0604020202020204" charset="0"/>
                            </a:rPr>
                            <a:t> </a:t>
                          </a:r>
                          <a:r>
                            <a:rPr lang="en-US" sz="1400" dirty="0">
                              <a:effectLst/>
                              <a:latin typeface="Bricolage Grotesque Semi Bold" panose="020B0604020202020204" charset="0"/>
                            </a:rPr>
                            <a:t>algae</a:t>
                          </a:r>
                          <a:r>
                            <a:rPr lang="en-US" sz="1400" spc="60" dirty="0">
                              <a:effectLst/>
                              <a:latin typeface="Bricolage Grotesque Semi Bold" panose="020B0604020202020204" charset="0"/>
                            </a:rPr>
                            <a:t> </a:t>
                          </a:r>
                          <a:r>
                            <a:rPr lang="en-US" sz="1400" dirty="0">
                              <a:effectLst/>
                              <a:latin typeface="Bricolage Grotesque Semi Bold" panose="020B0604020202020204" charset="0"/>
                            </a:rPr>
                            <a:t>death</a:t>
                          </a:r>
                          <a:r>
                            <a:rPr lang="en-US" sz="1400" spc="60" dirty="0">
                              <a:effectLst/>
                              <a:latin typeface="Bricolage Grotesque Semi Bold" panose="020B0604020202020204" charset="0"/>
                            </a:rPr>
                            <a:t> </a:t>
                          </a:r>
                          <a:r>
                            <a:rPr lang="en-US" sz="1400" spc="-20" dirty="0">
                              <a:effectLst/>
                              <a:latin typeface="Bricolage Grotesque Semi Bold" panose="020B0604020202020204" charset="0"/>
                            </a:rPr>
                            <a:t>rate</a:t>
                          </a:r>
                          <a:endParaRPr lang="en-US" sz="1400" dirty="0">
                            <a:effectLst/>
                            <a:latin typeface="Bricolage Grotesque Semi Bold" panose="020B060402020202020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0709667"/>
                      </a:ext>
                    </a:extLst>
                  </a:tr>
                  <a:tr h="213360">
                    <a:tc>
                      <a:txBody>
                        <a:bodyPr/>
                        <a:lstStyle/>
                        <a:p>
                          <a:endParaRPr lang="en-US"/>
                        </a:p>
                      </a:txBody>
                      <a:tcPr marL="68580" marR="68580" marT="0" marB="0">
                        <a:blipFill>
                          <a:blip r:embed="rId11"/>
                          <a:stretch>
                            <a:fillRect l="-599" t="-525714" r="-546707" b="-951429"/>
                          </a:stretch>
                        </a:blipFill>
                      </a:tcPr>
                    </a:tc>
                    <a:tc>
                      <a:txBody>
                        <a:bodyPr/>
                        <a:lstStyle/>
                        <a:p>
                          <a:pPr marL="0" marR="0">
                            <a:lnSpc>
                              <a:spcPct val="100000"/>
                            </a:lnSpc>
                            <a:spcBef>
                              <a:spcPts val="0"/>
                            </a:spcBef>
                            <a:spcAft>
                              <a:spcPts val="0"/>
                            </a:spcAft>
                          </a:pPr>
                          <a:r>
                            <a:rPr lang="en-US" sz="1400" dirty="0">
                              <a:effectLst/>
                              <a:latin typeface="Bricolage Grotesque Semi Bold" panose="020B0604020202020204" charset="0"/>
                            </a:rPr>
                            <a:t>Lipid accumulation rate due to exposure</a:t>
                          </a:r>
                          <a:endParaRPr lang="en-US" sz="1400" dirty="0">
                            <a:effectLst/>
                            <a:latin typeface="Bricolage Grotesque Semi Bold" panose="020B060402020202020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40169089"/>
                      </a:ext>
                    </a:extLst>
                  </a:tr>
                  <a:tr h="213360">
                    <a:tc>
                      <a:txBody>
                        <a:bodyPr/>
                        <a:lstStyle/>
                        <a:p>
                          <a:endParaRPr lang="en-US"/>
                        </a:p>
                      </a:txBody>
                      <a:tcPr marL="68580" marR="68580" marT="0" marB="0">
                        <a:blipFill>
                          <a:blip r:embed="rId11"/>
                          <a:stretch>
                            <a:fillRect l="-599" t="-625714" r="-546707" b="-851429"/>
                          </a:stretch>
                        </a:blipFill>
                      </a:tcPr>
                    </a:tc>
                    <a:tc>
                      <a:txBody>
                        <a:bodyPr/>
                        <a:lstStyle/>
                        <a:p>
                          <a:pPr marL="0" marR="0">
                            <a:lnSpc>
                              <a:spcPct val="100000"/>
                            </a:lnSpc>
                            <a:spcBef>
                              <a:spcPts val="0"/>
                            </a:spcBef>
                            <a:spcAft>
                              <a:spcPts val="0"/>
                            </a:spcAft>
                          </a:pPr>
                          <a:r>
                            <a:rPr lang="en-US" sz="1400" dirty="0">
                              <a:effectLst/>
                              <a:latin typeface="Bricolage Grotesque Semi Bold" panose="020B0604020202020204" charset="0"/>
                            </a:rPr>
                            <a:t>Algae</a:t>
                          </a:r>
                          <a:r>
                            <a:rPr lang="en-US" sz="1400" spc="130" dirty="0">
                              <a:effectLst/>
                              <a:latin typeface="Bricolage Grotesque Semi Bold" panose="020B0604020202020204" charset="0"/>
                            </a:rPr>
                            <a:t> </a:t>
                          </a:r>
                          <a:r>
                            <a:rPr lang="en-US" sz="1400" dirty="0">
                              <a:effectLst/>
                              <a:latin typeface="Bricolage Grotesque Semi Bold" panose="020B0604020202020204" charset="0"/>
                            </a:rPr>
                            <a:t>death</a:t>
                          </a:r>
                          <a:r>
                            <a:rPr lang="en-US" sz="1400" spc="125" dirty="0">
                              <a:effectLst/>
                              <a:latin typeface="Bricolage Grotesque Semi Bold" panose="020B0604020202020204" charset="0"/>
                            </a:rPr>
                            <a:t> </a:t>
                          </a:r>
                          <a:r>
                            <a:rPr lang="en-US" sz="1400" dirty="0">
                              <a:effectLst/>
                              <a:latin typeface="Bricolage Grotesque Semi Bold" panose="020B0604020202020204" charset="0"/>
                            </a:rPr>
                            <a:t>rate</a:t>
                          </a:r>
                          <a:r>
                            <a:rPr lang="en-US" sz="1400" spc="125" dirty="0">
                              <a:effectLst/>
                              <a:latin typeface="Bricolage Grotesque Semi Bold" panose="020B0604020202020204" charset="0"/>
                            </a:rPr>
                            <a:t> </a:t>
                          </a:r>
                          <a:r>
                            <a:rPr lang="en-US" sz="1400" dirty="0">
                              <a:effectLst/>
                              <a:latin typeface="Bricolage Grotesque Semi Bold" panose="020B0604020202020204" charset="0"/>
                            </a:rPr>
                            <a:t>due</a:t>
                          </a:r>
                          <a:r>
                            <a:rPr lang="en-US" sz="1400" spc="130" dirty="0">
                              <a:effectLst/>
                              <a:latin typeface="Bricolage Grotesque Semi Bold" panose="020B0604020202020204" charset="0"/>
                            </a:rPr>
                            <a:t> </a:t>
                          </a:r>
                          <a:r>
                            <a:rPr lang="en-US" sz="1400" dirty="0">
                              <a:effectLst/>
                              <a:latin typeface="Bricolage Grotesque Semi Bold" panose="020B0604020202020204" charset="0"/>
                            </a:rPr>
                            <a:t>to</a:t>
                          </a:r>
                          <a:r>
                            <a:rPr lang="en-US" sz="1400" spc="125" dirty="0">
                              <a:effectLst/>
                              <a:latin typeface="Bricolage Grotesque Semi Bold" panose="020B0604020202020204" charset="0"/>
                            </a:rPr>
                            <a:t> </a:t>
                          </a:r>
                          <a:r>
                            <a:rPr lang="en-US" sz="1400" dirty="0">
                              <a:effectLst/>
                              <a:latin typeface="Bricolage Grotesque Semi Bold" panose="020B0604020202020204" charset="0"/>
                            </a:rPr>
                            <a:t>environmental</a:t>
                          </a:r>
                          <a:r>
                            <a:rPr lang="en-US" sz="1400" spc="135" dirty="0">
                              <a:effectLst/>
                              <a:latin typeface="Bricolage Grotesque Semi Bold" panose="020B0604020202020204" charset="0"/>
                            </a:rPr>
                            <a:t> </a:t>
                          </a:r>
                          <a:r>
                            <a:rPr lang="en-US" sz="1400" spc="-10" dirty="0">
                              <a:effectLst/>
                              <a:latin typeface="Bricolage Grotesque Semi Bold" panose="020B0604020202020204" charset="0"/>
                            </a:rPr>
                            <a:t>factors</a:t>
                          </a:r>
                          <a:endParaRPr lang="en-US" sz="1400" dirty="0">
                            <a:effectLst/>
                            <a:latin typeface="Bricolage Grotesque Semi Bold" panose="020B060402020202020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48008969"/>
                      </a:ext>
                    </a:extLst>
                  </a:tr>
                  <a:tr h="213360">
                    <a:tc>
                      <a:txBody>
                        <a:bodyPr/>
                        <a:lstStyle/>
                        <a:p>
                          <a:endParaRPr lang="en-US"/>
                        </a:p>
                      </a:txBody>
                      <a:tcPr marL="68580" marR="68580" marT="0" marB="0">
                        <a:blipFill>
                          <a:blip r:embed="rId11"/>
                          <a:stretch>
                            <a:fillRect l="-599" t="-705556" r="-546707" b="-727778"/>
                          </a:stretch>
                        </a:blipFill>
                      </a:tcPr>
                    </a:tc>
                    <a:tc>
                      <a:txBody>
                        <a:bodyPr/>
                        <a:lstStyle/>
                        <a:p>
                          <a:pPr marL="0" marR="0">
                            <a:lnSpc>
                              <a:spcPct val="100000"/>
                            </a:lnSpc>
                            <a:spcBef>
                              <a:spcPts val="0"/>
                            </a:spcBef>
                            <a:spcAft>
                              <a:spcPts val="0"/>
                            </a:spcAft>
                          </a:pPr>
                          <a:r>
                            <a:rPr lang="en-US" sz="1400" dirty="0">
                              <a:effectLst/>
                              <a:latin typeface="Bricolage Grotesque Semi Bold" panose="020B0604020202020204" charset="0"/>
                            </a:rPr>
                            <a:t>Harvest rate</a:t>
                          </a:r>
                          <a:endParaRPr lang="en-US" sz="1400" dirty="0">
                            <a:effectLst/>
                            <a:latin typeface="Bricolage Grotesque Semi Bold" panose="020B060402020202020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03645397"/>
                      </a:ext>
                    </a:extLst>
                  </a:tr>
                  <a:tr h="213360">
                    <a:tc>
                      <a:txBody>
                        <a:bodyPr/>
                        <a:lstStyle/>
                        <a:p>
                          <a:endParaRPr lang="en-US"/>
                        </a:p>
                      </a:txBody>
                      <a:tcPr marL="68580" marR="68580" marT="0" marB="0">
                        <a:blipFill>
                          <a:blip r:embed="rId11"/>
                          <a:stretch>
                            <a:fillRect l="-599" t="-828571" r="-546707" b="-648571"/>
                          </a:stretch>
                        </a:blipFill>
                      </a:tcPr>
                    </a:tc>
                    <a:tc>
                      <a:txBody>
                        <a:bodyPr/>
                        <a:lstStyle/>
                        <a:p>
                          <a:pPr marL="0" marR="0">
                            <a:lnSpc>
                              <a:spcPct val="100000"/>
                            </a:lnSpc>
                            <a:spcBef>
                              <a:spcPts val="0"/>
                            </a:spcBef>
                            <a:spcAft>
                              <a:spcPts val="0"/>
                            </a:spcAft>
                          </a:pPr>
                          <a:r>
                            <a:rPr lang="en-US" sz="1400" dirty="0">
                              <a:effectLst/>
                              <a:latin typeface="Bricolage Grotesque Semi Bold" panose="020B0604020202020204" charset="0"/>
                            </a:rPr>
                            <a:t>Lipid</a:t>
                          </a:r>
                          <a:r>
                            <a:rPr lang="en-US" sz="1400" spc="15" dirty="0">
                              <a:effectLst/>
                              <a:latin typeface="Bricolage Grotesque Semi Bold" panose="020B0604020202020204" charset="0"/>
                            </a:rPr>
                            <a:t> </a:t>
                          </a:r>
                          <a:r>
                            <a:rPr lang="en-US" sz="1400" dirty="0">
                              <a:effectLst/>
                              <a:latin typeface="Bricolage Grotesque Semi Bold" panose="020B0604020202020204" charset="0"/>
                            </a:rPr>
                            <a:t>accumulation</a:t>
                          </a:r>
                          <a:r>
                            <a:rPr lang="en-US" sz="1400" spc="10" dirty="0">
                              <a:effectLst/>
                              <a:latin typeface="Bricolage Grotesque Semi Bold" panose="020B0604020202020204" charset="0"/>
                            </a:rPr>
                            <a:t> </a:t>
                          </a:r>
                          <a:r>
                            <a:rPr lang="en-US" sz="1400" spc="-20" dirty="0">
                              <a:effectLst/>
                              <a:latin typeface="Bricolage Grotesque Semi Bold" panose="020B0604020202020204" charset="0"/>
                            </a:rPr>
                            <a:t>rate</a:t>
                          </a:r>
                          <a:endParaRPr lang="en-US" sz="1400" dirty="0">
                            <a:effectLst/>
                            <a:latin typeface="Bricolage Grotesque Semi Bold" panose="020B060402020202020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27673593"/>
                      </a:ext>
                    </a:extLst>
                  </a:tr>
                  <a:tr h="213360">
                    <a:tc>
                      <a:txBody>
                        <a:bodyPr/>
                        <a:lstStyle/>
                        <a:p>
                          <a:endParaRPr lang="en-US"/>
                        </a:p>
                      </a:txBody>
                      <a:tcPr marL="68580" marR="68580" marT="0" marB="0">
                        <a:blipFill>
                          <a:blip r:embed="rId11"/>
                          <a:stretch>
                            <a:fillRect l="-599" t="-928571" r="-546707" b="-548571"/>
                          </a:stretch>
                        </a:blipFill>
                      </a:tcPr>
                    </a:tc>
                    <a:tc>
                      <a:txBody>
                        <a:bodyPr/>
                        <a:lstStyle/>
                        <a:p>
                          <a:pPr marL="0" marR="0">
                            <a:lnSpc>
                              <a:spcPct val="100000"/>
                            </a:lnSpc>
                            <a:spcBef>
                              <a:spcPts val="0"/>
                            </a:spcBef>
                            <a:spcAft>
                              <a:spcPts val="0"/>
                            </a:spcAft>
                          </a:pPr>
                          <a:r>
                            <a:rPr lang="en-US" sz="1400" dirty="0">
                              <a:effectLst/>
                              <a:latin typeface="Bricolage Grotesque Semi Bold" panose="020B0604020202020204" charset="0"/>
                            </a:rPr>
                            <a:t>Rate of conversion of algae lipid to biofuel</a:t>
                          </a:r>
                          <a:endParaRPr lang="en-US" sz="1400" dirty="0">
                            <a:effectLst/>
                            <a:latin typeface="Bricolage Grotesque Semi Bold" panose="020B060402020202020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89966305"/>
                      </a:ext>
                    </a:extLst>
                  </a:tr>
                  <a:tr h="213360">
                    <a:tc>
                      <a:txBody>
                        <a:bodyPr/>
                        <a:lstStyle/>
                        <a:p>
                          <a:endParaRPr lang="en-US"/>
                        </a:p>
                      </a:txBody>
                      <a:tcPr marL="68580" marR="68580" marT="0" marB="0">
                        <a:blipFill>
                          <a:blip r:embed="rId11"/>
                          <a:stretch>
                            <a:fillRect l="-599" t="-1028571" r="-546707" b="-448571"/>
                          </a:stretch>
                        </a:blipFill>
                      </a:tcPr>
                    </a:tc>
                    <a:tc>
                      <a:txBody>
                        <a:bodyPr/>
                        <a:lstStyle/>
                        <a:p>
                          <a:pPr marL="0" marR="0">
                            <a:lnSpc>
                              <a:spcPct val="100000"/>
                            </a:lnSpc>
                            <a:spcBef>
                              <a:spcPts val="0"/>
                            </a:spcBef>
                            <a:spcAft>
                              <a:spcPts val="0"/>
                            </a:spcAft>
                          </a:pPr>
                          <a:r>
                            <a:rPr lang="en-US" sz="1400">
                              <a:effectLst/>
                              <a:latin typeface="Bricolage Grotesque Semi Bold" panose="020B0604020202020204" charset="0"/>
                            </a:rPr>
                            <a:t>Biofuel conversion rate</a:t>
                          </a:r>
                          <a:endParaRPr lang="en-US" sz="1400">
                            <a:effectLst/>
                            <a:latin typeface="Bricolage Grotesque Semi Bold" panose="020B060402020202020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18986229"/>
                      </a:ext>
                    </a:extLst>
                  </a:tr>
                  <a:tr h="213360">
                    <a:tc>
                      <a:txBody>
                        <a:bodyPr/>
                        <a:lstStyle/>
                        <a:p>
                          <a:endParaRPr lang="en-US"/>
                        </a:p>
                      </a:txBody>
                      <a:tcPr marL="68580" marR="68580" marT="0" marB="0">
                        <a:blipFill>
                          <a:blip r:embed="rId11"/>
                          <a:stretch>
                            <a:fillRect l="-599" t="-1128571" r="-546707" b="-348571"/>
                          </a:stretch>
                        </a:blipFill>
                      </a:tcPr>
                    </a:tc>
                    <a:tc>
                      <a:txBody>
                        <a:bodyPr/>
                        <a:lstStyle/>
                        <a:p>
                          <a:pPr marL="0" marR="0">
                            <a:lnSpc>
                              <a:spcPct val="100000"/>
                            </a:lnSpc>
                            <a:spcBef>
                              <a:spcPts val="0"/>
                            </a:spcBef>
                            <a:spcAft>
                              <a:spcPts val="0"/>
                            </a:spcAft>
                          </a:pPr>
                          <a:r>
                            <a:rPr lang="en-US" sz="1400" dirty="0">
                              <a:effectLst/>
                              <a:latin typeface="Bricolage Grotesque Semi Bold" panose="020B0604020202020204" charset="0"/>
                            </a:rPr>
                            <a:t>Induced environmental exposure</a:t>
                          </a:r>
                          <a:endParaRPr lang="en-US" sz="1400" dirty="0">
                            <a:effectLst/>
                            <a:latin typeface="Bricolage Grotesque Semi Bold" panose="020B060402020202020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62422801"/>
                      </a:ext>
                    </a:extLst>
                  </a:tr>
                  <a:tr h="213360">
                    <a:tc>
                      <a:txBody>
                        <a:bodyPr/>
                        <a:lstStyle/>
                        <a:p>
                          <a:endParaRPr lang="en-US"/>
                        </a:p>
                      </a:txBody>
                      <a:tcPr marL="68580" marR="68580" marT="0" marB="0">
                        <a:blipFill>
                          <a:blip r:embed="rId11"/>
                          <a:stretch>
                            <a:fillRect l="-599" t="-1228571" r="-546707" b="-248571"/>
                          </a:stretch>
                        </a:blipFill>
                      </a:tcPr>
                    </a:tc>
                    <a:tc>
                      <a:txBody>
                        <a:bodyPr/>
                        <a:lstStyle/>
                        <a:p>
                          <a:pPr marL="0" marR="0">
                            <a:lnSpc>
                              <a:spcPct val="100000"/>
                            </a:lnSpc>
                            <a:spcBef>
                              <a:spcPts val="0"/>
                            </a:spcBef>
                            <a:spcAft>
                              <a:spcPts val="0"/>
                            </a:spcAft>
                          </a:pPr>
                          <a:r>
                            <a:rPr lang="en-US" sz="1400" dirty="0">
                              <a:effectLst/>
                              <a:latin typeface="Bricolage Grotesque Semi Bold" panose="020B0604020202020204" charset="0"/>
                            </a:rPr>
                            <a:t>Spore</a:t>
                          </a:r>
                          <a:r>
                            <a:rPr lang="en-US" sz="1400" spc="110" dirty="0">
                              <a:effectLst/>
                              <a:latin typeface="Bricolage Grotesque Semi Bold" panose="020B0604020202020204" charset="0"/>
                            </a:rPr>
                            <a:t> </a:t>
                          </a:r>
                          <a:r>
                            <a:rPr lang="en-US" sz="1400" dirty="0">
                              <a:effectLst/>
                              <a:latin typeface="Bricolage Grotesque Semi Bold" panose="020B0604020202020204" charset="0"/>
                            </a:rPr>
                            <a:t>formation</a:t>
                          </a:r>
                          <a:r>
                            <a:rPr lang="en-US" sz="1400" spc="110" dirty="0">
                              <a:effectLst/>
                              <a:latin typeface="Bricolage Grotesque Semi Bold" panose="020B0604020202020204" charset="0"/>
                            </a:rPr>
                            <a:t> </a:t>
                          </a:r>
                          <a:r>
                            <a:rPr lang="en-US" sz="1400" spc="-20" dirty="0">
                              <a:effectLst/>
                              <a:latin typeface="Bricolage Grotesque Semi Bold" panose="020B0604020202020204" charset="0"/>
                            </a:rPr>
                            <a:t>rate</a:t>
                          </a:r>
                          <a:endParaRPr lang="en-US" sz="1400" dirty="0">
                            <a:effectLst/>
                            <a:latin typeface="Bricolage Grotesque Semi Bold" panose="020B060402020202020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42170039"/>
                      </a:ext>
                    </a:extLst>
                  </a:tr>
                  <a:tr h="213360">
                    <a:tc>
                      <a:txBody>
                        <a:bodyPr/>
                        <a:lstStyle/>
                        <a:p>
                          <a:endParaRPr lang="en-US"/>
                        </a:p>
                      </a:txBody>
                      <a:tcPr marL="68580" marR="68580" marT="0" marB="0">
                        <a:blipFill>
                          <a:blip r:embed="rId11"/>
                          <a:stretch>
                            <a:fillRect l="-599" t="-1328571" r="-546707" b="-148571"/>
                          </a:stretch>
                        </a:blipFill>
                      </a:tcPr>
                    </a:tc>
                    <a:tc>
                      <a:txBody>
                        <a:bodyPr/>
                        <a:lstStyle/>
                        <a:p>
                          <a:pPr marL="0" marR="0">
                            <a:lnSpc>
                              <a:spcPct val="100000"/>
                            </a:lnSpc>
                            <a:spcBef>
                              <a:spcPts val="0"/>
                            </a:spcBef>
                            <a:spcAft>
                              <a:spcPts val="0"/>
                            </a:spcAft>
                          </a:pPr>
                          <a:r>
                            <a:rPr lang="en-US" sz="1400" dirty="0">
                              <a:effectLst/>
                              <a:latin typeface="Bricolage Grotesque Semi Bold" panose="020B0604020202020204" charset="0"/>
                            </a:rPr>
                            <a:t>Algae</a:t>
                          </a:r>
                          <a:r>
                            <a:rPr lang="en-US" sz="1400" spc="80" dirty="0">
                              <a:effectLst/>
                              <a:latin typeface="Bricolage Grotesque Semi Bold" panose="020B0604020202020204" charset="0"/>
                            </a:rPr>
                            <a:t> </a:t>
                          </a:r>
                          <a:r>
                            <a:rPr lang="en-US" sz="1400" dirty="0">
                              <a:effectLst/>
                              <a:latin typeface="Bricolage Grotesque Semi Bold" panose="020B0604020202020204" charset="0"/>
                            </a:rPr>
                            <a:t>contact</a:t>
                          </a:r>
                          <a:r>
                            <a:rPr lang="en-US" sz="1400" spc="75" dirty="0">
                              <a:effectLst/>
                              <a:latin typeface="Bricolage Grotesque Semi Bold" panose="020B0604020202020204" charset="0"/>
                            </a:rPr>
                            <a:t> </a:t>
                          </a:r>
                          <a:r>
                            <a:rPr lang="en-US" sz="1400" spc="-20" dirty="0">
                              <a:effectLst/>
                              <a:latin typeface="Bricolage Grotesque Semi Bold" panose="020B0604020202020204" charset="0"/>
                            </a:rPr>
                            <a:t>rate</a:t>
                          </a:r>
                          <a:endParaRPr lang="en-US" sz="1400" dirty="0">
                            <a:effectLst/>
                            <a:latin typeface="Bricolage Grotesque Semi Bold" panose="020B060402020202020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40052226"/>
                      </a:ext>
                    </a:extLst>
                  </a:tr>
                  <a:tr h="213360">
                    <a:tc>
                      <a:txBody>
                        <a:bodyPr/>
                        <a:lstStyle/>
                        <a:p>
                          <a:endParaRPr lang="en-US"/>
                        </a:p>
                      </a:txBody>
                      <a:tcPr marL="68580" marR="68580" marT="0" marB="0">
                        <a:blipFill>
                          <a:blip r:embed="rId11"/>
                          <a:stretch>
                            <a:fillRect l="-599" t="-1428571" r="-546707" b="-48571"/>
                          </a:stretch>
                        </a:blipFill>
                      </a:tcPr>
                    </a:tc>
                    <a:tc>
                      <a:txBody>
                        <a:bodyPr/>
                        <a:lstStyle/>
                        <a:p>
                          <a:pPr marL="0" marR="0">
                            <a:lnSpc>
                              <a:spcPct val="100000"/>
                            </a:lnSpc>
                            <a:spcBef>
                              <a:spcPts val="0"/>
                            </a:spcBef>
                            <a:spcAft>
                              <a:spcPts val="0"/>
                            </a:spcAft>
                          </a:pPr>
                          <a:r>
                            <a:rPr lang="en-US" sz="1400" dirty="0">
                              <a:effectLst/>
                              <a:latin typeface="Bricolage Grotesque Semi Bold" panose="020B0604020202020204" charset="0"/>
                            </a:rPr>
                            <a:t>Proportion of newly introduced genetically grown algae</a:t>
                          </a:r>
                          <a:endParaRPr lang="en-US" sz="1400" dirty="0">
                            <a:effectLst/>
                            <a:latin typeface="Bricolage Grotesque Semi Bold" panose="020B060402020202020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35663153"/>
                      </a:ext>
                    </a:extLst>
                  </a:tr>
                </a:tbl>
              </a:graphicData>
            </a:graphic>
          </p:graphicFrame>
        </mc:Fallback>
      </mc:AlternateContent>
    </p:spTree>
    <p:extLst>
      <p:ext uri="{BB962C8B-B14F-4D97-AF65-F5344CB8AC3E}">
        <p14:creationId xmlns:p14="http://schemas.microsoft.com/office/powerpoint/2010/main" val="31995358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F42A712-C837-5EE7-837A-B6C22E5F4CEA}"/>
              </a:ext>
            </a:extLst>
          </p:cNvPr>
          <p:cNvSpPr/>
          <p:nvPr/>
        </p:nvSpPr>
        <p:spPr>
          <a:xfrm>
            <a:off x="800951" y="733061"/>
            <a:ext cx="5110843" cy="50618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852170" marR="0" indent="-560070">
              <a:lnSpc>
                <a:spcPct val="200000"/>
              </a:lnSpc>
              <a:spcBef>
                <a:spcPts val="0"/>
              </a:spcBef>
              <a:spcAft>
                <a:spcPts val="0"/>
              </a:spcAft>
            </a:pPr>
            <a:r>
              <a:rPr lang="en-US" sz="1800" b="1" dirty="0">
                <a:solidFill>
                  <a:schemeClr val="accent5">
                    <a:lumMod val="50000"/>
                  </a:schemeClr>
                </a:solidFill>
                <a:effectLst/>
                <a:latin typeface="Calibri" panose="020F0502020204030204" pitchFamily="34" charset="0"/>
                <a:ea typeface="Calibri" panose="020F0502020204030204" pitchFamily="34" charset="0"/>
              </a:rPr>
              <a:t>Invariant Region Solution</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241B05D6-D84D-5068-6B50-7675FE48CFE9}"/>
                  </a:ext>
                </a:extLst>
              </p:cNvPr>
              <p:cNvSpPr txBox="1"/>
              <p:nvPr/>
            </p:nvSpPr>
            <p:spPr>
              <a:xfrm>
                <a:off x="718457" y="1221378"/>
                <a:ext cx="5617029" cy="2848152"/>
              </a:xfrm>
              <a:prstGeom prst="rect">
                <a:avLst/>
              </a:prstGeom>
              <a:noFill/>
            </p:spPr>
            <p:txBody>
              <a:bodyPr wrap="square" rtlCol="0">
                <a:spAutoFit/>
              </a:bodyPr>
              <a:lstStyle/>
              <a:p>
                <a:pPr marL="0" marR="0">
                  <a:lnSpc>
                    <a:spcPct val="200000"/>
                  </a:lnSpc>
                  <a:spcBef>
                    <a:spcPts val="0"/>
                  </a:spcBef>
                  <a:spcAft>
                    <a:spcPts val="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From equations (2 to 6), which reflect the general algae population. It is also necessary to state the fact that the associated algae population can never be negative. Thus, we establish the invariance of Ω is: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200000"/>
                  </a:lnSpc>
                </a:pPr>
                <a14:m>
                  <m:oMath xmlns:m="http://schemas.openxmlformats.org/officeDocument/2006/math">
                    <m:r>
                      <a:rPr lang="en-US">
                        <a:latin typeface="Cambria Math" panose="02040503050406030204" pitchFamily="18" charset="0"/>
                        <a:ea typeface="Calibri" panose="020F0502020204030204" pitchFamily="34" charset="0"/>
                        <a:cs typeface="Times New Roman" panose="02020603050405020304" pitchFamily="18" charset="0"/>
                      </a:rPr>
                      <m:t>Ω=</m:t>
                    </m:r>
                    <m:d>
                      <m:dPr>
                        <m:begChr m:val="{"/>
                        <m:endChr m:val="}"/>
                        <m:ctrlPr>
                          <a:rPr lang="en-US" i="1">
                            <a:latin typeface="Cambria Math" panose="02040503050406030204" pitchFamily="18" charset="0"/>
                            <a:ea typeface="Calibri" panose="020F0502020204030204" pitchFamily="34" charset="0"/>
                            <a:cs typeface="Times New Roman" panose="02020603050405020304" pitchFamily="18" charset="0"/>
                          </a:rPr>
                        </m:ctrlPr>
                      </m:dPr>
                      <m:e>
                        <m:d>
                          <m:dPr>
                            <m:ctrlPr>
                              <a:rPr lang="en-US" i="1">
                                <a:latin typeface="Cambria Math" panose="02040503050406030204" pitchFamily="18" charset="0"/>
                                <a:ea typeface="Calibri" panose="020F0502020204030204" pitchFamily="34" charset="0"/>
                                <a:cs typeface="Times New Roman" panose="02020603050405020304" pitchFamily="18" charset="0"/>
                              </a:rPr>
                            </m:ctrlPr>
                          </m:dPr>
                          <m:e>
                            <m:r>
                              <a:rPr lang="en-US" i="1">
                                <a:latin typeface="Cambria Math" panose="02040503050406030204" pitchFamily="18" charset="0"/>
                                <a:ea typeface="Calibri" panose="020F0502020204030204" pitchFamily="34" charset="0"/>
                                <a:cs typeface="Times New Roman" panose="02020603050405020304" pitchFamily="18" charset="0"/>
                              </a:rPr>
                              <m:t>𝐴</m:t>
                            </m:r>
                            <m:r>
                              <a:rPr lang="en-US" i="1">
                                <a:latin typeface="Cambria Math" panose="02040503050406030204" pitchFamily="18" charset="0"/>
                                <a:ea typeface="Calibri" panose="020F0502020204030204" pitchFamily="34" charset="0"/>
                                <a:cs typeface="Times New Roman" panose="02020603050405020304" pitchFamily="18" charset="0"/>
                              </a:rPr>
                              <m:t>, </m:t>
                            </m:r>
                            <m:r>
                              <a:rPr lang="en-US" i="1">
                                <a:latin typeface="Cambria Math" panose="02040503050406030204" pitchFamily="18" charset="0"/>
                                <a:ea typeface="Calibri" panose="020F0502020204030204" pitchFamily="34" charset="0"/>
                                <a:cs typeface="Times New Roman" panose="02020603050405020304" pitchFamily="18" charset="0"/>
                              </a:rPr>
                              <m:t>𝐸</m:t>
                            </m:r>
                            <m:r>
                              <a:rPr lang="en-US" i="1">
                                <a:latin typeface="Cambria Math" panose="02040503050406030204" pitchFamily="18" charset="0"/>
                                <a:ea typeface="Calibri" panose="020F0502020204030204" pitchFamily="34" charset="0"/>
                                <a:cs typeface="Times New Roman" panose="02020603050405020304" pitchFamily="18" charset="0"/>
                              </a:rPr>
                              <m:t>, </m:t>
                            </m:r>
                            <m:r>
                              <a:rPr lang="en-US" i="1">
                                <a:latin typeface="Cambria Math" panose="02040503050406030204" pitchFamily="18" charset="0"/>
                                <a:ea typeface="Calibri" panose="020F0502020204030204" pitchFamily="34" charset="0"/>
                                <a:cs typeface="Times New Roman" panose="02020603050405020304" pitchFamily="18" charset="0"/>
                              </a:rPr>
                              <m:t>𝐻</m:t>
                            </m:r>
                            <m:r>
                              <a:rPr lang="en-US" i="1">
                                <a:latin typeface="Cambria Math" panose="02040503050406030204" pitchFamily="18" charset="0"/>
                                <a:ea typeface="Calibri" panose="020F0502020204030204" pitchFamily="34" charset="0"/>
                                <a:cs typeface="Times New Roman" panose="02020603050405020304" pitchFamily="18" charset="0"/>
                              </a:rPr>
                              <m:t>, </m:t>
                            </m:r>
                            <m:r>
                              <a:rPr lang="en-US" i="1">
                                <a:latin typeface="Cambria Math" panose="02040503050406030204" pitchFamily="18" charset="0"/>
                                <a:ea typeface="Calibri" panose="020F0502020204030204" pitchFamily="34" charset="0"/>
                                <a:cs typeface="Times New Roman" panose="02020603050405020304" pitchFamily="18" charset="0"/>
                              </a:rPr>
                              <m:t>𝐵</m:t>
                            </m:r>
                            <m:r>
                              <a:rPr lang="en-US" i="1">
                                <a:latin typeface="Cambria Math" panose="02040503050406030204" pitchFamily="18" charset="0"/>
                                <a:ea typeface="Calibri" panose="020F0502020204030204" pitchFamily="34" charset="0"/>
                                <a:cs typeface="Times New Roman" panose="02020603050405020304" pitchFamily="18" charset="0"/>
                              </a:rPr>
                              <m:t>, </m:t>
                            </m:r>
                            <m:r>
                              <a:rPr lang="en-US" i="1">
                                <a:latin typeface="Cambria Math" panose="02040503050406030204" pitchFamily="18" charset="0"/>
                                <a:ea typeface="Calibri" panose="020F0502020204030204" pitchFamily="34" charset="0"/>
                                <a:cs typeface="Times New Roman" panose="02020603050405020304" pitchFamily="18" charset="0"/>
                              </a:rPr>
                              <m:t>𝐺</m:t>
                            </m:r>
                          </m:e>
                        </m:d>
                        <m:r>
                          <a:rPr lang="en-US">
                            <a:latin typeface="Cambria Math" panose="02040503050406030204" pitchFamily="18" charset="0"/>
                            <a:ea typeface="Calibri" panose="020F0502020204030204" pitchFamily="34" charset="0"/>
                            <a:cs typeface="Times New Roman" panose="02020603050405020304" pitchFamily="18" charset="0"/>
                          </a:rPr>
                          <m:t> ∈ </m:t>
                        </m:r>
                        <m:sSubSup>
                          <m:sSubSupPr>
                            <m:ctrlPr>
                              <a:rPr lang="en-US" i="1">
                                <a:latin typeface="Cambria Math" panose="02040503050406030204" pitchFamily="18" charset="0"/>
                                <a:ea typeface="Calibri" panose="020F0502020204030204" pitchFamily="34" charset="0"/>
                                <a:cs typeface="Times New Roman" panose="02020603050405020304" pitchFamily="18" charset="0"/>
                              </a:rPr>
                            </m:ctrlPr>
                          </m:sSubSupPr>
                          <m:e>
                            <m:r>
                              <a:rPr lang="en-US" i="1">
                                <a:latin typeface="Cambria Math" panose="02040503050406030204" pitchFamily="18" charset="0"/>
                                <a:ea typeface="Calibri" panose="020F0502020204030204" pitchFamily="34" charset="0"/>
                                <a:cs typeface="Times New Roman" panose="02020603050405020304" pitchFamily="18" charset="0"/>
                              </a:rPr>
                              <m:t>𝑅</m:t>
                            </m:r>
                          </m:e>
                          <m:sub>
                            <m:r>
                              <a:rPr lang="en-US" i="1">
                                <a:latin typeface="Cambria Math" panose="02040503050406030204" pitchFamily="18" charset="0"/>
                                <a:ea typeface="Calibri" panose="020F0502020204030204" pitchFamily="34" charset="0"/>
                                <a:cs typeface="Times New Roman" panose="02020603050405020304" pitchFamily="18" charset="0"/>
                              </a:rPr>
                              <m:t>+</m:t>
                            </m:r>
                          </m:sub>
                          <m:sup>
                            <m:r>
                              <a:rPr lang="en-US" i="1">
                                <a:latin typeface="Cambria Math" panose="02040503050406030204" pitchFamily="18" charset="0"/>
                                <a:ea typeface="Calibri" panose="020F0502020204030204" pitchFamily="34" charset="0"/>
                                <a:cs typeface="Times New Roman" panose="02020603050405020304" pitchFamily="18" charset="0"/>
                              </a:rPr>
                              <m:t>5</m:t>
                            </m:r>
                          </m:sup>
                        </m:sSubSup>
                      </m:e>
                    </m:d>
                    <m:r>
                      <a:rPr lang="en-US" i="1">
                        <a:latin typeface="Cambria Math" panose="02040503050406030204" pitchFamily="18" charset="0"/>
                        <a:ea typeface="Calibri" panose="020F0502020204030204" pitchFamily="34" charset="0"/>
                        <a:cs typeface="Times New Roman" panose="02020603050405020304" pitchFamily="18" charset="0"/>
                      </a:rPr>
                      <m:t>≥0 </m:t>
                    </m:r>
                  </m:oMath>
                </a14:m>
                <a:r>
                  <a:rPr lang="en-US" dirty="0">
                    <a:latin typeface="Times New Roman" panose="02020603050405020304" pitchFamily="18" charset="0"/>
                    <a:ea typeface="Calibri" panose="020F0502020204030204" pitchFamily="34" charset="0"/>
                    <a:cs typeface="Times New Roman" panose="02020603050405020304" pitchFamily="18" charset="0"/>
                  </a:rPr>
                  <a:t> 				(8)</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3" name="TextBox 2">
                <a:extLst>
                  <a:ext uri="{FF2B5EF4-FFF2-40B4-BE49-F238E27FC236}">
                    <a16:creationId xmlns:a16="http://schemas.microsoft.com/office/drawing/2014/main" id="{241B05D6-D84D-5068-6B50-7675FE48CFE9}"/>
                  </a:ext>
                </a:extLst>
              </p:cNvPr>
              <p:cNvSpPr txBox="1">
                <a:spLocks noRot="1" noChangeAspect="1" noMove="1" noResize="1" noEditPoints="1" noAdjustHandles="1" noChangeArrowheads="1" noChangeShapeType="1" noTextEdit="1"/>
              </p:cNvSpPr>
              <p:nvPr/>
            </p:nvSpPr>
            <p:spPr>
              <a:xfrm>
                <a:off x="718457" y="1221378"/>
                <a:ext cx="5617029" cy="2848152"/>
              </a:xfrm>
              <a:prstGeom prst="rect">
                <a:avLst/>
              </a:prstGeom>
              <a:blipFill>
                <a:blip r:embed="rId2"/>
                <a:stretch>
                  <a:fillRect l="-977" b="-1709"/>
                </a:stretch>
              </a:blipFill>
            </p:spPr>
            <p:txBody>
              <a:bodyPr/>
              <a:lstStyle/>
              <a:p>
                <a:r>
                  <a:rPr lang="en-NG">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81F6208-8A2B-FB69-2D29-0B14B63BA074}"/>
                  </a:ext>
                </a:extLst>
              </p:cNvPr>
              <p:cNvSpPr txBox="1"/>
              <p:nvPr/>
            </p:nvSpPr>
            <p:spPr>
              <a:xfrm>
                <a:off x="7135587" y="1608691"/>
                <a:ext cx="6833090" cy="3749360"/>
              </a:xfrm>
              <a:prstGeom prst="rect">
                <a:avLst/>
              </a:prstGeom>
              <a:noFill/>
            </p:spPr>
            <p:txBody>
              <a:bodyPr wrap="square" rtlCol="0">
                <a:spAutoFit/>
              </a:bodyPr>
              <a:lstStyle/>
              <a:p>
                <a:pPr marL="0" marR="0">
                  <a:lnSpc>
                    <a:spcPct val="200000"/>
                  </a:lnSpc>
                  <a:spcBef>
                    <a:spcPts val="0"/>
                  </a:spcBef>
                  <a:spcAft>
                    <a:spcPts val="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In this </a:t>
                </a:r>
                <a:r>
                  <a:rPr lang="en-US" dirty="0">
                    <a:latin typeface="Times New Roman" panose="02020603050405020304" pitchFamily="18" charset="0"/>
                    <a:ea typeface="Calibri" panose="020F0502020204030204" pitchFamily="34" charset="0"/>
                    <a:cs typeface="Times New Roman" panose="02020603050405020304" pitchFamily="18" charset="0"/>
                  </a:rPr>
                  <a:t>section</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we try to study a situation where the number of algae in each compartment (A, E, H, B, G) does not change over time. We then have</a:t>
                </a:r>
                <a:r>
                  <a:rPr lang="en-US" dirty="0">
                    <a:latin typeface="Times New Roman" panose="02020603050405020304" pitchFamily="18" charset="0"/>
                    <a:ea typeface="Calibri" panose="020F0502020204030204" pitchFamily="34" charset="0"/>
                    <a:cs typeface="Times New Roman" panose="02020603050405020304" pitchFamily="18" charset="0"/>
                  </a:rPr>
                  <a:t> the algae-lipid-free equilibrium (ALFE) state for the ALP model to be:</a:t>
                </a:r>
                <a:endParaRPr lang="en-US"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14:m>
                  <m:oMath xmlns:m="http://schemas.openxmlformats.org/officeDocument/2006/math">
                    <m:d>
                      <m:dPr>
                        <m:ctrlPr>
                          <a:rPr lang="en-US" i="1">
                            <a:latin typeface="Cambria Math" panose="02040503050406030204" pitchFamily="18" charset="0"/>
                            <a:ea typeface="Calibri" panose="020F0502020204030204" pitchFamily="34" charset="0"/>
                            <a:cs typeface="Times New Roman" panose="02020603050405020304" pitchFamily="18" charset="0"/>
                          </a:rPr>
                        </m:ctrlPr>
                      </m:dPr>
                      <m:e>
                        <m:sSup>
                          <m:sSupPr>
                            <m:ctrlPr>
                              <a:rPr lang="en-US" i="1">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latin typeface="Cambria Math" panose="02040503050406030204" pitchFamily="18" charset="0"/>
                                <a:ea typeface="Calibri" panose="020F0502020204030204" pitchFamily="34" charset="0"/>
                                <a:cs typeface="Times New Roman" panose="02020603050405020304" pitchFamily="18" charset="0"/>
                              </a:rPr>
                              <m:t>𝐴</m:t>
                            </m:r>
                          </m:e>
                          <m:sup>
                            <m:r>
                              <a:rPr lang="en-US" i="1">
                                <a:latin typeface="Cambria Math" panose="02040503050406030204" pitchFamily="18" charset="0"/>
                                <a:ea typeface="Calibri" panose="020F0502020204030204" pitchFamily="34" charset="0"/>
                                <a:cs typeface="Times New Roman" panose="02020603050405020304" pitchFamily="18" charset="0"/>
                              </a:rPr>
                              <m:t>0</m:t>
                            </m:r>
                          </m:sup>
                        </m:sSup>
                        <m:r>
                          <a:rPr lang="en-US" i="1">
                            <a:latin typeface="Cambria Math" panose="02040503050406030204" pitchFamily="18" charset="0"/>
                            <a:ea typeface="Calibri" panose="020F0502020204030204" pitchFamily="34" charset="0"/>
                            <a:cs typeface="Times New Roman" panose="02020603050405020304" pitchFamily="18" charset="0"/>
                          </a:rPr>
                          <m:t>, </m:t>
                        </m:r>
                        <m:sSup>
                          <m:sSupPr>
                            <m:ctrlPr>
                              <a:rPr lang="en-US" i="1">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latin typeface="Cambria Math" panose="02040503050406030204" pitchFamily="18" charset="0"/>
                                <a:ea typeface="Calibri" panose="020F0502020204030204" pitchFamily="34" charset="0"/>
                                <a:cs typeface="Times New Roman" panose="02020603050405020304" pitchFamily="18" charset="0"/>
                              </a:rPr>
                              <m:t>𝐸</m:t>
                            </m:r>
                          </m:e>
                          <m:sup>
                            <m:r>
                              <a:rPr lang="en-US" i="1">
                                <a:latin typeface="Cambria Math" panose="02040503050406030204" pitchFamily="18" charset="0"/>
                                <a:ea typeface="Calibri" panose="020F0502020204030204" pitchFamily="34" charset="0"/>
                                <a:cs typeface="Times New Roman" panose="02020603050405020304" pitchFamily="18" charset="0"/>
                              </a:rPr>
                              <m:t>0</m:t>
                            </m:r>
                          </m:sup>
                        </m:sSup>
                        <m:r>
                          <a:rPr lang="en-US" i="1">
                            <a:latin typeface="Cambria Math" panose="02040503050406030204" pitchFamily="18" charset="0"/>
                            <a:ea typeface="Calibri" panose="020F0502020204030204" pitchFamily="34" charset="0"/>
                            <a:cs typeface="Times New Roman" panose="02020603050405020304" pitchFamily="18" charset="0"/>
                          </a:rPr>
                          <m:t>, </m:t>
                        </m:r>
                        <m:sSup>
                          <m:sSupPr>
                            <m:ctrlPr>
                              <a:rPr lang="en-US" i="1">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latin typeface="Cambria Math" panose="02040503050406030204" pitchFamily="18" charset="0"/>
                                <a:ea typeface="Calibri" panose="020F0502020204030204" pitchFamily="34" charset="0"/>
                                <a:cs typeface="Times New Roman" panose="02020603050405020304" pitchFamily="18" charset="0"/>
                              </a:rPr>
                              <m:t>𝐻</m:t>
                            </m:r>
                          </m:e>
                          <m:sup>
                            <m:r>
                              <a:rPr lang="en-US" i="1">
                                <a:latin typeface="Cambria Math" panose="02040503050406030204" pitchFamily="18" charset="0"/>
                                <a:ea typeface="Calibri" panose="020F0502020204030204" pitchFamily="34" charset="0"/>
                                <a:cs typeface="Times New Roman" panose="02020603050405020304" pitchFamily="18" charset="0"/>
                              </a:rPr>
                              <m:t>0</m:t>
                            </m:r>
                          </m:sup>
                        </m:sSup>
                        <m:r>
                          <a:rPr lang="en-US" i="1">
                            <a:latin typeface="Cambria Math" panose="02040503050406030204" pitchFamily="18" charset="0"/>
                            <a:ea typeface="Calibri" panose="020F0502020204030204" pitchFamily="34" charset="0"/>
                            <a:cs typeface="Times New Roman" panose="02020603050405020304" pitchFamily="18" charset="0"/>
                          </a:rPr>
                          <m:t>, </m:t>
                        </m:r>
                        <m:sSup>
                          <m:sSupPr>
                            <m:ctrlPr>
                              <a:rPr lang="en-US" i="1">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latin typeface="Cambria Math" panose="02040503050406030204" pitchFamily="18" charset="0"/>
                                <a:ea typeface="Calibri" panose="020F0502020204030204" pitchFamily="34" charset="0"/>
                                <a:cs typeface="Times New Roman" panose="02020603050405020304" pitchFamily="18" charset="0"/>
                              </a:rPr>
                              <m:t>𝐵</m:t>
                            </m:r>
                          </m:e>
                          <m:sup>
                            <m:r>
                              <a:rPr lang="en-US" i="1">
                                <a:latin typeface="Cambria Math" panose="02040503050406030204" pitchFamily="18" charset="0"/>
                                <a:ea typeface="Calibri" panose="020F0502020204030204" pitchFamily="34" charset="0"/>
                                <a:cs typeface="Times New Roman" panose="02020603050405020304" pitchFamily="18" charset="0"/>
                              </a:rPr>
                              <m:t>0</m:t>
                            </m:r>
                          </m:sup>
                        </m:sSup>
                        <m:r>
                          <a:rPr lang="en-US" i="1">
                            <a:latin typeface="Cambria Math" panose="02040503050406030204" pitchFamily="18" charset="0"/>
                            <a:ea typeface="Calibri" panose="020F0502020204030204" pitchFamily="34" charset="0"/>
                            <a:cs typeface="Times New Roman" panose="02020603050405020304" pitchFamily="18" charset="0"/>
                          </a:rPr>
                          <m:t>, </m:t>
                        </m:r>
                        <m:sSup>
                          <m:sSupPr>
                            <m:ctrlPr>
                              <a:rPr lang="en-US" i="1">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latin typeface="Cambria Math" panose="02040503050406030204" pitchFamily="18" charset="0"/>
                                <a:ea typeface="Calibri" panose="020F0502020204030204" pitchFamily="34" charset="0"/>
                                <a:cs typeface="Times New Roman" panose="02020603050405020304" pitchFamily="18" charset="0"/>
                              </a:rPr>
                              <m:t>𝐺</m:t>
                            </m:r>
                          </m:e>
                          <m:sup>
                            <m:r>
                              <a:rPr lang="en-US" i="1">
                                <a:latin typeface="Cambria Math" panose="02040503050406030204" pitchFamily="18" charset="0"/>
                                <a:ea typeface="Calibri" panose="020F0502020204030204" pitchFamily="34" charset="0"/>
                                <a:cs typeface="Times New Roman" panose="02020603050405020304" pitchFamily="18" charset="0"/>
                              </a:rPr>
                              <m:t>0</m:t>
                            </m:r>
                          </m:sup>
                        </m:sSup>
                      </m:e>
                    </m:d>
                    <m:r>
                      <a:rPr lang="en-US" i="1">
                        <a:latin typeface="Cambria Math" panose="02040503050406030204" pitchFamily="18" charset="0"/>
                        <a:ea typeface="Calibri" panose="020F0502020204030204" pitchFamily="34" charset="0"/>
                        <a:cs typeface="Times New Roman" panose="02020603050405020304" pitchFamily="18" charset="0"/>
                      </a:rPr>
                      <m:t>=</m:t>
                    </m:r>
                    <m:d>
                      <m:dPr>
                        <m:ctrlPr>
                          <a:rPr lang="en-US" i="1">
                            <a:latin typeface="Cambria Math" panose="02040503050406030204" pitchFamily="18" charset="0"/>
                            <a:ea typeface="Calibri" panose="020F0502020204030204" pitchFamily="34" charset="0"/>
                            <a:cs typeface="Times New Roman" panose="02020603050405020304" pitchFamily="18" charset="0"/>
                          </a:rPr>
                        </m:ctrlPr>
                      </m:dPr>
                      <m:e>
                        <m:f>
                          <m:fPr>
                            <m:ctrlPr>
                              <a:rPr lang="en-US" i="1">
                                <a:latin typeface="Cambria Math" panose="02040503050406030204" pitchFamily="18" charset="0"/>
                                <a:ea typeface="Calibri" panose="020F0502020204030204" pitchFamily="34" charset="0"/>
                                <a:cs typeface="Times New Roman" panose="02020603050405020304" pitchFamily="18" charset="0"/>
                              </a:rPr>
                            </m:ctrlPr>
                          </m:fPr>
                          <m:num>
                            <m:r>
                              <m:rPr>
                                <m:sty m:val="p"/>
                              </m:rPr>
                              <a:rPr lang="en-US">
                                <a:latin typeface="Cambria Math" panose="02040503050406030204" pitchFamily="18" charset="0"/>
                                <a:ea typeface="Calibri" panose="020F0502020204030204" pitchFamily="34" charset="0"/>
                                <a:cs typeface="Times New Roman" panose="02020603050405020304" pitchFamily="18" charset="0"/>
                              </a:rPr>
                              <m:t>Λ</m:t>
                            </m:r>
                            <m:r>
                              <a:rPr lang="en-US" i="1">
                                <a:latin typeface="Cambria Math" panose="02040503050406030204" pitchFamily="18" charset="0"/>
                                <a:ea typeface="Calibri" panose="020F0502020204030204" pitchFamily="34" charset="0"/>
                                <a:cs typeface="Times New Roman" panose="02020603050405020304" pitchFamily="18" charset="0"/>
                              </a:rPr>
                              <m:t>  </m:t>
                            </m:r>
                          </m:num>
                          <m:den>
                            <m:r>
                              <a:rPr lang="en-US" i="1">
                                <a:latin typeface="Cambria Math" panose="02040503050406030204" pitchFamily="18" charset="0"/>
                                <a:ea typeface="Calibri" panose="020F0502020204030204" pitchFamily="34" charset="0"/>
                                <a:cs typeface="Times New Roman" panose="02020603050405020304" pitchFamily="18" charset="0"/>
                              </a:rPr>
                              <m:t>𝜇</m:t>
                            </m:r>
                          </m:den>
                        </m:f>
                        <m:r>
                          <a:rPr lang="en-US" i="1">
                            <a:latin typeface="Cambria Math" panose="02040503050406030204" pitchFamily="18" charset="0"/>
                            <a:ea typeface="Calibri" panose="020F0502020204030204" pitchFamily="34" charset="0"/>
                            <a:cs typeface="Times New Roman" panose="02020603050405020304" pitchFamily="18" charset="0"/>
                          </a:rPr>
                          <m:t>, 0, 0, 0, 0 </m:t>
                        </m:r>
                      </m:e>
                    </m:d>
                  </m:oMath>
                </a14:m>
                <a:r>
                  <a:rPr lang="en-US" dirty="0">
                    <a:latin typeface="Times New Roman" panose="02020603050405020304" pitchFamily="18" charset="0"/>
                    <a:ea typeface="Calibri" panose="020F0502020204030204" pitchFamily="34" charset="0"/>
                    <a:cs typeface="Times New Roman" panose="02020603050405020304" pitchFamily="18" charset="0"/>
                  </a:rPr>
                  <a:t>     		</a:t>
                </a:r>
                <a:endParaRPr lang="en-US"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US" dirty="0">
                    <a:latin typeface="Times New Roman" panose="02020603050405020304" pitchFamily="18" charset="0"/>
                    <a:ea typeface="Calibri" panose="020F0502020204030204" pitchFamily="34" charset="0"/>
                    <a:cs typeface="Times New Roman" panose="02020603050405020304" pitchFamily="18" charset="0"/>
                  </a:rPr>
                  <a:t>Therefore, the ALFE for our ALP model is given as: </a:t>
                </a:r>
                <a:endParaRPr lang="en-US"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14:m>
                  <m:oMath xmlns:m="http://schemas.openxmlformats.org/officeDocument/2006/math">
                    <m:sSup>
                      <m:sSupPr>
                        <m:ctrlPr>
                          <a:rPr lang="en-US" i="1">
                            <a:latin typeface="Cambria Math" panose="02040503050406030204" pitchFamily="18" charset="0"/>
                            <a:ea typeface="Calibri" panose="020F0502020204030204" pitchFamily="34" charset="0"/>
                            <a:cs typeface="Times New Roman" panose="02020603050405020304" pitchFamily="18" charset="0"/>
                          </a:rPr>
                        </m:ctrlPr>
                      </m:sSupPr>
                      <m:e>
                        <m:r>
                          <a:rPr lang="en-US" i="1">
                            <a:latin typeface="Cambria Math" panose="02040503050406030204" pitchFamily="18" charset="0"/>
                            <a:ea typeface="Calibri" panose="020F0502020204030204" pitchFamily="34" charset="0"/>
                            <a:cs typeface="Times New Roman" panose="02020603050405020304" pitchFamily="18" charset="0"/>
                          </a:rPr>
                          <m:t>𝑇</m:t>
                        </m:r>
                      </m:e>
                      <m:sup>
                        <m:r>
                          <a:rPr lang="en-US" i="1">
                            <a:latin typeface="Cambria Math" panose="02040503050406030204" pitchFamily="18" charset="0"/>
                            <a:ea typeface="Calibri" panose="020F0502020204030204" pitchFamily="34" charset="0"/>
                            <a:cs typeface="Times New Roman" panose="02020603050405020304" pitchFamily="18" charset="0"/>
                          </a:rPr>
                          <m:t>0</m:t>
                        </m:r>
                      </m:sup>
                    </m:sSup>
                    <m:r>
                      <a:rPr lang="en-US" i="1">
                        <a:latin typeface="Cambria Math" panose="02040503050406030204" pitchFamily="18" charset="0"/>
                        <a:ea typeface="Calibri" panose="020F0502020204030204" pitchFamily="34" charset="0"/>
                        <a:cs typeface="Times New Roman" panose="02020603050405020304" pitchFamily="18" charset="0"/>
                      </a:rPr>
                      <m:t>= </m:t>
                    </m:r>
                    <m:d>
                      <m:dPr>
                        <m:ctrlPr>
                          <a:rPr lang="en-US" i="1">
                            <a:latin typeface="Cambria Math" panose="02040503050406030204" pitchFamily="18" charset="0"/>
                            <a:ea typeface="Calibri" panose="020F0502020204030204" pitchFamily="34" charset="0"/>
                            <a:cs typeface="Times New Roman" panose="02020603050405020304" pitchFamily="18" charset="0"/>
                          </a:rPr>
                        </m:ctrlPr>
                      </m:dPr>
                      <m:e>
                        <m:sSup>
                          <m:sSupPr>
                            <m:ctrlPr>
                              <a:rPr lang="en-US" i="1">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latin typeface="Cambria Math" panose="02040503050406030204" pitchFamily="18" charset="0"/>
                                <a:ea typeface="Calibri" panose="020F0502020204030204" pitchFamily="34" charset="0"/>
                                <a:cs typeface="Times New Roman" panose="02020603050405020304" pitchFamily="18" charset="0"/>
                              </a:rPr>
                              <m:t>𝐴</m:t>
                            </m:r>
                          </m:e>
                          <m:sup>
                            <m:r>
                              <a:rPr lang="en-US" i="1">
                                <a:latin typeface="Cambria Math" panose="02040503050406030204" pitchFamily="18" charset="0"/>
                                <a:ea typeface="Calibri" panose="020F0502020204030204" pitchFamily="34" charset="0"/>
                                <a:cs typeface="Times New Roman" panose="02020603050405020304" pitchFamily="18" charset="0"/>
                              </a:rPr>
                              <m:t>0</m:t>
                            </m:r>
                          </m:sup>
                        </m:sSup>
                        <m:r>
                          <a:rPr lang="en-US" i="1">
                            <a:latin typeface="Cambria Math" panose="02040503050406030204" pitchFamily="18" charset="0"/>
                            <a:ea typeface="Calibri" panose="020F0502020204030204" pitchFamily="34" charset="0"/>
                            <a:cs typeface="Times New Roman" panose="02020603050405020304" pitchFamily="18" charset="0"/>
                          </a:rPr>
                          <m:t>, </m:t>
                        </m:r>
                        <m:sSup>
                          <m:sSupPr>
                            <m:ctrlPr>
                              <a:rPr lang="en-US" i="1">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latin typeface="Cambria Math" panose="02040503050406030204" pitchFamily="18" charset="0"/>
                                <a:ea typeface="Calibri" panose="020F0502020204030204" pitchFamily="34" charset="0"/>
                                <a:cs typeface="Times New Roman" panose="02020603050405020304" pitchFamily="18" charset="0"/>
                              </a:rPr>
                              <m:t>𝐸</m:t>
                            </m:r>
                          </m:e>
                          <m:sup>
                            <m:r>
                              <a:rPr lang="en-US" i="1">
                                <a:latin typeface="Cambria Math" panose="02040503050406030204" pitchFamily="18" charset="0"/>
                                <a:ea typeface="Calibri" panose="020F0502020204030204" pitchFamily="34" charset="0"/>
                                <a:cs typeface="Times New Roman" panose="02020603050405020304" pitchFamily="18" charset="0"/>
                              </a:rPr>
                              <m:t>0</m:t>
                            </m:r>
                          </m:sup>
                        </m:sSup>
                        <m:r>
                          <a:rPr lang="en-US" i="1">
                            <a:latin typeface="Cambria Math" panose="02040503050406030204" pitchFamily="18" charset="0"/>
                            <a:ea typeface="Calibri" panose="020F0502020204030204" pitchFamily="34" charset="0"/>
                            <a:cs typeface="Times New Roman" panose="02020603050405020304" pitchFamily="18" charset="0"/>
                          </a:rPr>
                          <m:t>, </m:t>
                        </m:r>
                        <m:sSup>
                          <m:sSupPr>
                            <m:ctrlPr>
                              <a:rPr lang="en-US" i="1">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latin typeface="Cambria Math" panose="02040503050406030204" pitchFamily="18" charset="0"/>
                                <a:ea typeface="Calibri" panose="020F0502020204030204" pitchFamily="34" charset="0"/>
                                <a:cs typeface="Times New Roman" panose="02020603050405020304" pitchFamily="18" charset="0"/>
                              </a:rPr>
                              <m:t>𝐻</m:t>
                            </m:r>
                          </m:e>
                          <m:sup>
                            <m:r>
                              <a:rPr lang="en-US" i="1">
                                <a:latin typeface="Cambria Math" panose="02040503050406030204" pitchFamily="18" charset="0"/>
                                <a:ea typeface="Calibri" panose="020F0502020204030204" pitchFamily="34" charset="0"/>
                                <a:cs typeface="Times New Roman" panose="02020603050405020304" pitchFamily="18" charset="0"/>
                              </a:rPr>
                              <m:t>0</m:t>
                            </m:r>
                          </m:sup>
                        </m:sSup>
                        <m:r>
                          <a:rPr lang="en-US" i="1">
                            <a:latin typeface="Cambria Math" panose="02040503050406030204" pitchFamily="18" charset="0"/>
                            <a:ea typeface="Calibri" panose="020F0502020204030204" pitchFamily="34" charset="0"/>
                            <a:cs typeface="Times New Roman" panose="02020603050405020304" pitchFamily="18" charset="0"/>
                          </a:rPr>
                          <m:t>, </m:t>
                        </m:r>
                        <m:sSubSup>
                          <m:sSubSupPr>
                            <m:ctrlPr>
                              <a:rPr lang="en-US" i="1">
                                <a:latin typeface="Cambria Math" panose="02040503050406030204" pitchFamily="18" charset="0"/>
                                <a:ea typeface="Calibri" panose="020F0502020204030204" pitchFamily="34" charset="0"/>
                                <a:cs typeface="Times New Roman" panose="02020603050405020304" pitchFamily="18" charset="0"/>
                              </a:rPr>
                            </m:ctrlPr>
                          </m:sSubSupPr>
                          <m:e>
                            <m:r>
                              <a:rPr lang="en-US" i="1">
                                <a:latin typeface="Cambria Math" panose="02040503050406030204" pitchFamily="18" charset="0"/>
                                <a:ea typeface="Calibri" panose="020F0502020204030204" pitchFamily="34" charset="0"/>
                                <a:cs typeface="Times New Roman" panose="02020603050405020304" pitchFamily="18" charset="0"/>
                              </a:rPr>
                              <m:t>𝐵</m:t>
                            </m:r>
                          </m:e>
                          <m:sub>
                            <m:r>
                              <a:rPr lang="en-US" i="1">
                                <a:latin typeface="Cambria Math" panose="02040503050406030204" pitchFamily="18" charset="0"/>
                                <a:ea typeface="Calibri" panose="020F0502020204030204" pitchFamily="34" charset="0"/>
                                <a:cs typeface="Times New Roman" panose="02020603050405020304" pitchFamily="18" charset="0"/>
                              </a:rPr>
                              <m:t>𝑡</m:t>
                            </m:r>
                          </m:sub>
                          <m:sup>
                            <m:r>
                              <a:rPr lang="en-US" i="1">
                                <a:latin typeface="Cambria Math" panose="02040503050406030204" pitchFamily="18" charset="0"/>
                                <a:ea typeface="Calibri" panose="020F0502020204030204" pitchFamily="34" charset="0"/>
                                <a:cs typeface="Times New Roman" panose="02020603050405020304" pitchFamily="18" charset="0"/>
                              </a:rPr>
                              <m:t>0</m:t>
                            </m:r>
                          </m:sup>
                        </m:sSubSup>
                        <m:r>
                          <a:rPr lang="en-US" i="1">
                            <a:latin typeface="Cambria Math" panose="02040503050406030204" pitchFamily="18" charset="0"/>
                            <a:ea typeface="Calibri" panose="020F0502020204030204" pitchFamily="34" charset="0"/>
                            <a:cs typeface="Times New Roman" panose="02020603050405020304" pitchFamily="18" charset="0"/>
                          </a:rPr>
                          <m:t>, </m:t>
                        </m:r>
                        <m:sSup>
                          <m:sSupPr>
                            <m:ctrlPr>
                              <a:rPr lang="en-US" i="1">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latin typeface="Cambria Math" panose="02040503050406030204" pitchFamily="18" charset="0"/>
                                <a:ea typeface="Calibri" panose="020F0502020204030204" pitchFamily="34" charset="0"/>
                                <a:cs typeface="Times New Roman" panose="02020603050405020304" pitchFamily="18" charset="0"/>
                              </a:rPr>
                              <m:t>𝐺</m:t>
                            </m:r>
                          </m:e>
                          <m:sup>
                            <m:r>
                              <a:rPr lang="en-US" i="1">
                                <a:latin typeface="Cambria Math" panose="02040503050406030204" pitchFamily="18" charset="0"/>
                                <a:ea typeface="Calibri" panose="020F0502020204030204" pitchFamily="34" charset="0"/>
                                <a:cs typeface="Times New Roman" panose="02020603050405020304" pitchFamily="18" charset="0"/>
                              </a:rPr>
                              <m:t>0</m:t>
                            </m:r>
                          </m:sup>
                        </m:sSup>
                      </m:e>
                    </m:d>
                    <m:r>
                      <a:rPr lang="en-US" i="1">
                        <a:latin typeface="Cambria Math" panose="02040503050406030204" pitchFamily="18" charset="0"/>
                        <a:ea typeface="Calibri" panose="020F0502020204030204" pitchFamily="34" charset="0"/>
                        <a:cs typeface="Times New Roman" panose="02020603050405020304" pitchFamily="18" charset="0"/>
                      </a:rPr>
                      <m:t>=</m:t>
                    </m:r>
                    <m:d>
                      <m:dPr>
                        <m:ctrlPr>
                          <a:rPr lang="en-US" i="1">
                            <a:latin typeface="Cambria Math" panose="02040503050406030204" pitchFamily="18" charset="0"/>
                            <a:ea typeface="Calibri" panose="020F0502020204030204" pitchFamily="34" charset="0"/>
                            <a:cs typeface="Times New Roman" panose="02020603050405020304" pitchFamily="18" charset="0"/>
                          </a:rPr>
                        </m:ctrlPr>
                      </m:dPr>
                      <m:e>
                        <m:f>
                          <m:fPr>
                            <m:ctrlPr>
                              <a:rPr lang="en-US" i="1">
                                <a:latin typeface="Cambria Math" panose="02040503050406030204" pitchFamily="18" charset="0"/>
                                <a:ea typeface="Calibri" panose="020F0502020204030204" pitchFamily="34" charset="0"/>
                                <a:cs typeface="Times New Roman" panose="02020603050405020304" pitchFamily="18" charset="0"/>
                              </a:rPr>
                            </m:ctrlPr>
                          </m:fPr>
                          <m:num>
                            <m:r>
                              <m:rPr>
                                <m:sty m:val="p"/>
                              </m:rPr>
                              <a:rPr lang="en-US">
                                <a:latin typeface="Cambria Math" panose="02040503050406030204" pitchFamily="18" charset="0"/>
                                <a:ea typeface="Calibri" panose="020F0502020204030204" pitchFamily="34" charset="0"/>
                                <a:cs typeface="Times New Roman" panose="02020603050405020304" pitchFamily="18" charset="0"/>
                              </a:rPr>
                              <m:t>Λ</m:t>
                            </m:r>
                            <m:r>
                              <a:rPr lang="en-US" i="1">
                                <a:latin typeface="Cambria Math" panose="02040503050406030204" pitchFamily="18" charset="0"/>
                                <a:ea typeface="Calibri" panose="020F0502020204030204" pitchFamily="34" charset="0"/>
                                <a:cs typeface="Times New Roman" panose="02020603050405020304" pitchFamily="18" charset="0"/>
                              </a:rPr>
                              <m:t>  </m:t>
                            </m:r>
                          </m:num>
                          <m:den>
                            <m:r>
                              <a:rPr lang="en-US" i="1">
                                <a:latin typeface="Cambria Math" panose="02040503050406030204" pitchFamily="18" charset="0"/>
                                <a:ea typeface="Calibri" panose="020F0502020204030204" pitchFamily="34" charset="0"/>
                                <a:cs typeface="Times New Roman" panose="02020603050405020304" pitchFamily="18" charset="0"/>
                              </a:rPr>
                              <m:t>𝜇</m:t>
                            </m:r>
                          </m:den>
                        </m:f>
                        <m:r>
                          <a:rPr lang="en-US" i="1">
                            <a:latin typeface="Cambria Math" panose="02040503050406030204" pitchFamily="18" charset="0"/>
                            <a:ea typeface="Calibri" panose="020F0502020204030204" pitchFamily="34" charset="0"/>
                            <a:cs typeface="Times New Roman" panose="02020603050405020304" pitchFamily="18" charset="0"/>
                          </a:rPr>
                          <m:t>, 0, 0, 0, 0 , 0</m:t>
                        </m:r>
                      </m:e>
                    </m:d>
                  </m:oMath>
                </a14:m>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9)</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4" name="TextBox 3">
                <a:extLst>
                  <a:ext uri="{FF2B5EF4-FFF2-40B4-BE49-F238E27FC236}">
                    <a16:creationId xmlns:a16="http://schemas.microsoft.com/office/drawing/2014/main" id="{181F6208-8A2B-FB69-2D29-0B14B63BA074}"/>
                  </a:ext>
                </a:extLst>
              </p:cNvPr>
              <p:cNvSpPr txBox="1">
                <a:spLocks noRot="1" noChangeAspect="1" noMove="1" noResize="1" noEditPoints="1" noAdjustHandles="1" noChangeArrowheads="1" noChangeShapeType="1" noTextEdit="1"/>
              </p:cNvSpPr>
              <p:nvPr/>
            </p:nvSpPr>
            <p:spPr>
              <a:xfrm>
                <a:off x="7135587" y="1608691"/>
                <a:ext cx="6833090" cy="3749360"/>
              </a:xfrm>
              <a:prstGeom prst="rect">
                <a:avLst/>
              </a:prstGeom>
              <a:blipFill>
                <a:blip r:embed="rId3"/>
                <a:stretch>
                  <a:fillRect l="-804" r="-982"/>
                </a:stretch>
              </a:blipFill>
            </p:spPr>
            <p:txBody>
              <a:bodyPr/>
              <a:lstStyle/>
              <a:p>
                <a:r>
                  <a:rPr lang="en-NG">
                    <a:noFill/>
                  </a:rPr>
                  <a:t> </a:t>
                </a:r>
              </a:p>
            </p:txBody>
          </p:sp>
        </mc:Fallback>
      </mc:AlternateContent>
      <p:sp>
        <p:nvSpPr>
          <p:cNvPr id="5" name="TextBox 4">
            <a:extLst>
              <a:ext uri="{FF2B5EF4-FFF2-40B4-BE49-F238E27FC236}">
                <a16:creationId xmlns:a16="http://schemas.microsoft.com/office/drawing/2014/main" id="{BA190ED5-6513-F7DC-CC2F-A19A083A508E}"/>
              </a:ext>
            </a:extLst>
          </p:cNvPr>
          <p:cNvSpPr txBox="1"/>
          <p:nvPr/>
        </p:nvSpPr>
        <p:spPr>
          <a:xfrm>
            <a:off x="1818094" y="143550"/>
            <a:ext cx="7356020" cy="772391"/>
          </a:xfrm>
          <a:prstGeom prst="rect">
            <a:avLst/>
          </a:prstGeom>
          <a:noFill/>
        </p:spPr>
        <p:txBody>
          <a:bodyPr wrap="square">
            <a:spAutoFit/>
          </a:bodyPr>
          <a:lstStyle/>
          <a:p>
            <a:pPr>
              <a:lnSpc>
                <a:spcPts val="2750"/>
              </a:lnSpc>
            </a:pPr>
            <a:r>
              <a:rPr lang="en-US" sz="2400" b="1" kern="0" dirty="0">
                <a:solidFill>
                  <a:schemeClr val="accent3">
                    <a:lumMod val="75000"/>
                  </a:schemeClr>
                </a:solidFill>
                <a:effectLst/>
                <a:latin typeface="Bricolage Grotesque Semi Bold" panose="020B0604020202020204" charset="0"/>
                <a:ea typeface="Calibri" panose="020F0502020204030204" pitchFamily="34" charset="0"/>
              </a:rPr>
              <a:t>Analysis, Discussion Of Results, And Simulations</a:t>
            </a:r>
          </a:p>
          <a:p>
            <a:pPr marL="0" indent="0" algn="l">
              <a:lnSpc>
                <a:spcPts val="2750"/>
              </a:lnSpc>
              <a:buNone/>
            </a:pPr>
            <a:endParaRPr lang="en-US" sz="1800" dirty="0"/>
          </a:p>
        </p:txBody>
      </p:sp>
      <p:sp>
        <p:nvSpPr>
          <p:cNvPr id="6" name="Rectangle 5">
            <a:extLst>
              <a:ext uri="{FF2B5EF4-FFF2-40B4-BE49-F238E27FC236}">
                <a16:creationId xmlns:a16="http://schemas.microsoft.com/office/drawing/2014/main" id="{BBD56453-1BAE-4725-97A1-10D8DB6F36A4}"/>
              </a:ext>
            </a:extLst>
          </p:cNvPr>
          <p:cNvSpPr/>
          <p:nvPr/>
        </p:nvSpPr>
        <p:spPr>
          <a:xfrm>
            <a:off x="989927" y="4140725"/>
            <a:ext cx="3380905" cy="50618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852170" marR="0" indent="-560070">
              <a:lnSpc>
                <a:spcPct val="200000"/>
              </a:lnSpc>
              <a:spcBef>
                <a:spcPts val="0"/>
              </a:spcBef>
              <a:spcAft>
                <a:spcPts val="0"/>
              </a:spcAft>
            </a:pPr>
            <a:r>
              <a:rPr lang="en-US" sz="1800" b="1" dirty="0">
                <a:solidFill>
                  <a:schemeClr val="accent5">
                    <a:lumMod val="50000"/>
                  </a:schemeClr>
                </a:solidFill>
                <a:effectLst/>
                <a:latin typeface="Calibri" panose="020F0502020204030204" pitchFamily="34" charset="0"/>
                <a:ea typeface="Calibri" panose="020F0502020204030204" pitchFamily="34" charset="0"/>
              </a:rPr>
              <a:t>Positivity of Solution</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15CE9C8-A91B-4617-8940-EC00F2838270}"/>
                  </a:ext>
                </a:extLst>
              </p:cNvPr>
              <p:cNvSpPr txBox="1"/>
              <p:nvPr/>
            </p:nvSpPr>
            <p:spPr>
              <a:xfrm>
                <a:off x="661723" y="4629015"/>
                <a:ext cx="6345848" cy="3337260"/>
              </a:xfrm>
              <a:prstGeom prst="rect">
                <a:avLst/>
              </a:prstGeom>
              <a:noFill/>
            </p:spPr>
            <p:txBody>
              <a:bodyPr wrap="square" rtlCol="0">
                <a:spAutoFit/>
              </a:bodyPr>
              <a:lstStyle/>
              <a:p>
                <a:pPr marL="0" marR="0">
                  <a:lnSpc>
                    <a:spcPct val="200000"/>
                  </a:lnSpc>
                  <a:spcBef>
                    <a:spcPts val="0"/>
                  </a:spcBef>
                  <a:spcAft>
                    <a:spcPts val="0"/>
                  </a:spcAft>
                </a:pPr>
                <a:r>
                  <a:rPr lang="en-US" sz="1800" dirty="0">
                    <a:solidFill>
                      <a:schemeClr val="accent3">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There is a need to prove that all the state variables of the model are non-negative for all time (t), for the model (2 to 6) to be epidemiologically meaningful. In other words, the solutions of the model (2 to 6) with positive initial data will remain positive for all. </a:t>
                </a:r>
                <a14:m>
                  <m:oMath xmlns:m="http://schemas.openxmlformats.org/officeDocument/2006/math">
                    <m:r>
                      <a:rPr lang="en-US" b="0" i="0" smtClean="0">
                        <a:latin typeface="Cambria Math" panose="02040503050406030204" pitchFamily="18" charset="0"/>
                        <a:ea typeface="Calibri" panose="020F0502020204030204" pitchFamily="34" charset="0"/>
                        <a:cs typeface="Times New Roman" panose="02020603050405020304" pitchFamily="18" charset="0"/>
                      </a:rPr>
                      <m:t> </m:t>
                    </m:r>
                    <m:r>
                      <m:rPr>
                        <m:sty m:val="p"/>
                      </m:rPr>
                      <a:rPr lang="en-US" b="0" i="0" smtClean="0">
                        <a:latin typeface="Cambria Math" panose="02040503050406030204" pitchFamily="18" charset="0"/>
                        <a:ea typeface="Calibri" panose="020F0502020204030204" pitchFamily="34" charset="0"/>
                        <a:cs typeface="Times New Roman" panose="02020603050405020304" pitchFamily="18" charset="0"/>
                      </a:rPr>
                      <m:t>t</m:t>
                    </m:r>
                    <m:r>
                      <a:rPr lang="en-US" i="1">
                        <a:latin typeface="Cambria Math" panose="02040503050406030204" pitchFamily="18" charset="0"/>
                        <a:ea typeface="Calibri" panose="020F0502020204030204" pitchFamily="34" charset="0"/>
                        <a:cs typeface="Times New Roman" panose="02020603050405020304" pitchFamily="18" charset="0"/>
                      </a:rPr>
                      <m:t>≥0 </m:t>
                    </m:r>
                  </m:oMath>
                </a14:m>
                <a:r>
                  <a:rPr lang="en-US" dirty="0">
                    <a:latin typeface="Times New Roman" panose="02020603050405020304" pitchFamily="18"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200000"/>
                  </a:lnSpc>
                  <a:spcBef>
                    <a:spcPts val="0"/>
                  </a:spcBef>
                  <a:spcAft>
                    <a:spcPts val="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7" name="TextBox 6">
                <a:extLst>
                  <a:ext uri="{FF2B5EF4-FFF2-40B4-BE49-F238E27FC236}">
                    <a16:creationId xmlns:a16="http://schemas.microsoft.com/office/drawing/2014/main" id="{D15CE9C8-A91B-4617-8940-EC00F2838270}"/>
                  </a:ext>
                </a:extLst>
              </p:cNvPr>
              <p:cNvSpPr txBox="1">
                <a:spLocks noRot="1" noChangeAspect="1" noMove="1" noResize="1" noEditPoints="1" noAdjustHandles="1" noChangeArrowheads="1" noChangeShapeType="1" noTextEdit="1"/>
              </p:cNvSpPr>
              <p:nvPr/>
            </p:nvSpPr>
            <p:spPr>
              <a:xfrm>
                <a:off x="661723" y="4629015"/>
                <a:ext cx="6345848" cy="3337260"/>
              </a:xfrm>
              <a:prstGeom prst="rect">
                <a:avLst/>
              </a:prstGeom>
              <a:blipFill>
                <a:blip r:embed="rId4"/>
                <a:stretch>
                  <a:fillRect l="-865" r="-1249"/>
                </a:stretch>
              </a:blipFill>
            </p:spPr>
            <p:txBody>
              <a:bodyPr/>
              <a:lstStyle/>
              <a:p>
                <a:r>
                  <a:rPr lang="en-NG">
                    <a:noFill/>
                  </a:rPr>
                  <a:t> </a:t>
                </a:r>
              </a:p>
            </p:txBody>
          </p:sp>
        </mc:Fallback>
      </mc:AlternateContent>
      <p:sp>
        <p:nvSpPr>
          <p:cNvPr id="8" name="Rectangle 7">
            <a:extLst>
              <a:ext uri="{FF2B5EF4-FFF2-40B4-BE49-F238E27FC236}">
                <a16:creationId xmlns:a16="http://schemas.microsoft.com/office/drawing/2014/main" id="{4CCD1DC6-B5DE-432F-B85D-A09D92B96B92}"/>
              </a:ext>
            </a:extLst>
          </p:cNvPr>
          <p:cNvSpPr/>
          <p:nvPr/>
        </p:nvSpPr>
        <p:spPr>
          <a:xfrm>
            <a:off x="7007571" y="1110059"/>
            <a:ext cx="6904372" cy="50618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852170" marR="0" indent="-560070">
              <a:lnSpc>
                <a:spcPct val="200000"/>
              </a:lnSpc>
              <a:spcBef>
                <a:spcPts val="0"/>
              </a:spcBef>
              <a:spcAft>
                <a:spcPts val="0"/>
              </a:spcAft>
            </a:pPr>
            <a:r>
              <a:rPr lang="en-US" sz="1800" b="1" dirty="0">
                <a:solidFill>
                  <a:schemeClr val="accent5">
                    <a:lumMod val="50000"/>
                  </a:schemeClr>
                </a:solidFill>
                <a:effectLst/>
                <a:latin typeface="Calibri" panose="020F0502020204030204" pitchFamily="34" charset="0"/>
                <a:ea typeface="Calibri" panose="020F0502020204030204" pitchFamily="34" charset="0"/>
              </a:rPr>
              <a:t>Establishing the algae-lipid-free equilibrium (ALFE) points for the General Model</a:t>
            </a:r>
          </a:p>
          <a:p>
            <a:pPr marL="852170" marR="0" indent="-560070">
              <a:lnSpc>
                <a:spcPct val="200000"/>
              </a:lnSpc>
              <a:spcBef>
                <a:spcPts val="0"/>
              </a:spcBef>
              <a:spcAft>
                <a:spcPts val="0"/>
              </a:spcAft>
            </a:pPr>
            <a:endParaRPr lang="en-US" sz="1800" b="1" dirty="0">
              <a:solidFill>
                <a:schemeClr val="accent5">
                  <a:lumMod val="50000"/>
                </a:schemeClr>
              </a:solidFill>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14704842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F42A712-C837-5EE7-837A-B6C22E5F4CEA}"/>
              </a:ext>
            </a:extLst>
          </p:cNvPr>
          <p:cNvSpPr/>
          <p:nvPr/>
        </p:nvSpPr>
        <p:spPr>
          <a:xfrm>
            <a:off x="800951" y="1018811"/>
            <a:ext cx="5110843" cy="50618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852170" indent="-560070">
              <a:lnSpc>
                <a:spcPct val="200000"/>
              </a:lnSpc>
            </a:pPr>
            <a:r>
              <a:rPr lang="en-US" sz="1800" b="1" dirty="0">
                <a:solidFill>
                  <a:schemeClr val="accent5">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The Basic Lipid Reproduction Number (R</a:t>
            </a:r>
            <a:r>
              <a:rPr lang="en-US" sz="1800" b="1" baseline="-25000" dirty="0">
                <a:solidFill>
                  <a:schemeClr val="accent5">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0</a:t>
            </a:r>
            <a:r>
              <a:rPr lang="en-US" sz="1800" b="1" dirty="0">
                <a:solidFill>
                  <a:schemeClr val="accent5">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 for the Study</a:t>
            </a:r>
            <a:endParaRPr lang="en-US" sz="1800" dirty="0">
              <a:solidFill>
                <a:schemeClr val="accent5">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852170" marR="0" indent="-560070">
              <a:lnSpc>
                <a:spcPct val="200000"/>
              </a:lnSpc>
              <a:spcBef>
                <a:spcPts val="0"/>
              </a:spcBef>
              <a:spcAft>
                <a:spcPts val="0"/>
              </a:spcAft>
            </a:pPr>
            <a:endParaRPr lang="en-US" sz="1800" b="1" dirty="0">
              <a:solidFill>
                <a:schemeClr val="accent5">
                  <a:lumMod val="50000"/>
                </a:schemeClr>
              </a:solidFill>
              <a:effectLst/>
              <a:latin typeface="Calibri" panose="020F0502020204030204" pitchFamily="34" charset="0"/>
              <a:ea typeface="Calibri" panose="020F0502020204030204" pitchFamily="34" charset="0"/>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241B05D6-D84D-5068-6B50-7675FE48CFE9}"/>
                  </a:ext>
                </a:extLst>
              </p:cNvPr>
              <p:cNvSpPr txBox="1"/>
              <p:nvPr/>
            </p:nvSpPr>
            <p:spPr>
              <a:xfrm>
                <a:off x="718457" y="1602378"/>
                <a:ext cx="5617029" cy="1985800"/>
              </a:xfrm>
              <a:prstGeom prst="rect">
                <a:avLst/>
              </a:prstGeom>
              <a:noFill/>
            </p:spPr>
            <p:txBody>
              <a:bodyPr wrap="square" rtlCol="0">
                <a:spAutoFit/>
              </a:bodyPr>
              <a:lstStyle/>
              <a:p>
                <a:pPr marL="0" marR="0">
                  <a:lnSpc>
                    <a:spcPct val="200000"/>
                  </a:lnSpc>
                  <a:spcBef>
                    <a:spcPts val="0"/>
                  </a:spcBef>
                  <a:spcAft>
                    <a:spcPts val="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Here we try to understand the average number that one lipid-producing cell generates over its lifetime in an algae population. </a:t>
                </a:r>
                <a14:m>
                  <m:oMath xmlns:m="http://schemas.openxmlformats.org/officeDocument/2006/math">
                    <m:sSub>
                      <m:sSubPr>
                        <m:ctrlPr>
                          <a:rPr lang="en-NG" i="1">
                            <a:latin typeface="Cambria Math" panose="02040503050406030204" pitchFamily="18" charset="0"/>
                          </a:rPr>
                        </m:ctrlPr>
                      </m:sSubPr>
                      <m:e>
                        <m:r>
                          <a:rPr lang="en-IN" i="1">
                            <a:latin typeface="Cambria Math" panose="02040503050406030204" pitchFamily="18" charset="0"/>
                          </a:rPr>
                          <m:t>𝑅</m:t>
                        </m:r>
                      </m:e>
                      <m:sub>
                        <m:r>
                          <a:rPr lang="en-IN" i="1">
                            <a:latin typeface="Cambria Math" panose="02040503050406030204" pitchFamily="18" charset="0"/>
                          </a:rPr>
                          <m:t>0</m:t>
                        </m:r>
                      </m:sub>
                    </m:sSub>
                    <m:r>
                      <a:rPr lang="en-IN" i="1">
                        <a:latin typeface="Cambria Math" panose="02040503050406030204" pitchFamily="18" charset="0"/>
                      </a:rPr>
                      <m:t>  = </m:t>
                    </m:r>
                    <m:f>
                      <m:fPr>
                        <m:ctrlPr>
                          <a:rPr lang="en-NG" i="1">
                            <a:latin typeface="Cambria Math" panose="02040503050406030204" pitchFamily="18" charset="0"/>
                          </a:rPr>
                        </m:ctrlPr>
                      </m:fPr>
                      <m:num>
                        <m:r>
                          <a:rPr lang="en-IN" i="1">
                            <a:latin typeface="Cambria Math" panose="02040503050406030204" pitchFamily="18" charset="0"/>
                          </a:rPr>
                          <m:t>𝛽</m:t>
                        </m:r>
                        <m:d>
                          <m:dPr>
                            <m:ctrlPr>
                              <a:rPr lang="en-NG" i="1">
                                <a:latin typeface="Cambria Math" panose="02040503050406030204" pitchFamily="18" charset="0"/>
                              </a:rPr>
                            </m:ctrlPr>
                          </m:dPr>
                          <m:e>
                            <m:sSub>
                              <m:sSubPr>
                                <m:ctrlPr>
                                  <a:rPr lang="en-NG" i="1">
                                    <a:latin typeface="Cambria Math" panose="02040503050406030204" pitchFamily="18" charset="0"/>
                                  </a:rPr>
                                </m:ctrlPr>
                              </m:sSubPr>
                              <m:e>
                                <m:r>
                                  <a:rPr lang="en-IN" i="1">
                                    <a:latin typeface="Cambria Math" panose="02040503050406030204" pitchFamily="18" charset="0"/>
                                  </a:rPr>
                                  <m:t>𝑛</m:t>
                                </m:r>
                              </m:e>
                              <m:sub>
                                <m:r>
                                  <a:rPr lang="en-IN" i="1">
                                    <a:latin typeface="Cambria Math" panose="02040503050406030204" pitchFamily="18" charset="0"/>
                                  </a:rPr>
                                  <m:t>1</m:t>
                                </m:r>
                              </m:sub>
                            </m:sSub>
                            <m:r>
                              <a:rPr lang="en-IN" i="1">
                                <a:latin typeface="Cambria Math" panose="02040503050406030204" pitchFamily="18" charset="0"/>
                              </a:rPr>
                              <m:t> −</m:t>
                            </m:r>
                            <m:r>
                              <a:rPr lang="en-IN" i="1">
                                <a:latin typeface="Cambria Math" panose="02040503050406030204" pitchFamily="18" charset="0"/>
                              </a:rPr>
                              <m:t>𝑛</m:t>
                            </m:r>
                          </m:e>
                        </m:d>
                        <m:sSub>
                          <m:sSubPr>
                            <m:ctrlPr>
                              <a:rPr lang="en-NG" i="1">
                                <a:latin typeface="Cambria Math" panose="02040503050406030204" pitchFamily="18" charset="0"/>
                              </a:rPr>
                            </m:ctrlPr>
                          </m:sSubPr>
                          <m:e>
                            <m:r>
                              <a:rPr lang="en-IN" i="1">
                                <a:latin typeface="Cambria Math" panose="02040503050406030204" pitchFamily="18" charset="0"/>
                              </a:rPr>
                              <m:t>𝐿</m:t>
                            </m:r>
                          </m:e>
                          <m:sub>
                            <m:r>
                              <a:rPr lang="en-IN" i="1">
                                <a:latin typeface="Cambria Math" panose="02040503050406030204" pitchFamily="18" charset="0"/>
                              </a:rPr>
                              <m:t>𝑚</m:t>
                            </m:r>
                          </m:sub>
                        </m:sSub>
                        <m:r>
                          <a:rPr lang="en-IN" i="1">
                            <a:latin typeface="Cambria Math" panose="02040503050406030204" pitchFamily="18" charset="0"/>
                          </a:rPr>
                          <m:t>𝛬</m:t>
                        </m:r>
                      </m:num>
                      <m:den>
                        <m:r>
                          <a:rPr lang="en-IN" i="1">
                            <a:latin typeface="Cambria Math" panose="02040503050406030204" pitchFamily="18" charset="0"/>
                          </a:rPr>
                          <m:t> </m:t>
                        </m:r>
                        <m:sSub>
                          <m:sSubPr>
                            <m:ctrlPr>
                              <a:rPr lang="en-NG" i="1">
                                <a:latin typeface="Cambria Math" panose="02040503050406030204" pitchFamily="18" charset="0"/>
                              </a:rPr>
                            </m:ctrlPr>
                          </m:sSubPr>
                          <m:e>
                            <m:r>
                              <a:rPr lang="en-IN" i="1">
                                <a:latin typeface="Cambria Math" panose="02040503050406030204" pitchFamily="18" charset="0"/>
                              </a:rPr>
                              <m:t>𝑛</m:t>
                            </m:r>
                          </m:e>
                          <m:sub>
                            <m:r>
                              <a:rPr lang="en-IN" i="1">
                                <a:latin typeface="Cambria Math" panose="02040503050406030204" pitchFamily="18" charset="0"/>
                              </a:rPr>
                              <m:t>1</m:t>
                            </m:r>
                          </m:sub>
                        </m:sSub>
                        <m:r>
                          <a:rPr lang="en-IN" i="1">
                            <a:latin typeface="Cambria Math" panose="02040503050406030204" pitchFamily="18" charset="0"/>
                          </a:rPr>
                          <m:t>  [</m:t>
                        </m:r>
                        <m:r>
                          <a:rPr lang="en-IN" i="1">
                            <a:latin typeface="Cambria Math" panose="02040503050406030204" pitchFamily="18" charset="0"/>
                          </a:rPr>
                          <m:t>𝜑</m:t>
                        </m:r>
                        <m:r>
                          <a:rPr lang="en-IN" i="1">
                            <a:latin typeface="Cambria Math" panose="02040503050406030204" pitchFamily="18" charset="0"/>
                          </a:rPr>
                          <m:t> + </m:t>
                        </m:r>
                        <m:r>
                          <a:rPr lang="en-IN" i="1">
                            <a:latin typeface="Cambria Math" panose="02040503050406030204" pitchFamily="18" charset="0"/>
                          </a:rPr>
                          <m:t>𝛼</m:t>
                        </m:r>
                        <m:r>
                          <a:rPr lang="en-IN" i="1">
                            <a:latin typeface="Cambria Math" panose="02040503050406030204" pitchFamily="18" charset="0"/>
                          </a:rPr>
                          <m:t>+</m:t>
                        </m:r>
                        <m:sSub>
                          <m:sSubPr>
                            <m:ctrlPr>
                              <a:rPr lang="en-NG" i="1">
                                <a:latin typeface="Cambria Math" panose="02040503050406030204" pitchFamily="18" charset="0"/>
                              </a:rPr>
                            </m:ctrlPr>
                          </m:sSubPr>
                          <m:e>
                            <m:r>
                              <a:rPr lang="en-IN" i="1">
                                <a:latin typeface="Cambria Math" panose="02040503050406030204" pitchFamily="18" charset="0"/>
                              </a:rPr>
                              <m:t>𝛿</m:t>
                            </m:r>
                          </m:e>
                          <m:sub>
                            <m:r>
                              <a:rPr lang="en-IN" i="1">
                                <a:latin typeface="Cambria Math" panose="02040503050406030204" pitchFamily="18" charset="0"/>
                              </a:rPr>
                              <m:t>1</m:t>
                            </m:r>
                          </m:sub>
                        </m:sSub>
                        <m:r>
                          <a:rPr lang="en-IN" i="1">
                            <a:latin typeface="Cambria Math" panose="02040503050406030204" pitchFamily="18" charset="0"/>
                          </a:rPr>
                          <m:t>+</m:t>
                        </m:r>
                        <m:r>
                          <a:rPr lang="en-IN" i="1">
                            <a:latin typeface="Cambria Math" panose="02040503050406030204" pitchFamily="18" charset="0"/>
                          </a:rPr>
                          <m:t>𝜇</m:t>
                        </m:r>
                        <m:r>
                          <a:rPr lang="en-IN" i="1">
                            <a:latin typeface="Cambria Math" panose="02040503050406030204" pitchFamily="18" charset="0"/>
                          </a:rPr>
                          <m:t> ]  </m:t>
                        </m:r>
                        <m:r>
                          <a:rPr lang="en-IN" i="1">
                            <a:latin typeface="Cambria Math" panose="02040503050406030204" pitchFamily="18" charset="0"/>
                          </a:rPr>
                          <m:t>𝜇</m:t>
                        </m:r>
                      </m:den>
                    </m:f>
                  </m:oMath>
                </a14:m>
                <a:r>
                  <a:rPr lang="en-US" dirty="0"/>
                  <a:t>  </a:t>
                </a:r>
                <a:r>
                  <a:rPr lang="en-IN" dirty="0"/>
                  <a:t>		</a:t>
                </a:r>
                <a:r>
                  <a:rPr lang="en-US" dirty="0">
                    <a:latin typeface="Times New Roman" panose="02020603050405020304" pitchFamily="18" charset="0"/>
                    <a:ea typeface="Calibri" panose="020F0502020204030204" pitchFamily="34" charset="0"/>
                    <a:cs typeface="Times New Roman" panose="02020603050405020304" pitchFamily="18" charset="0"/>
                  </a:rPr>
                  <a:t>	(10)</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3" name="TextBox 2">
                <a:extLst>
                  <a:ext uri="{FF2B5EF4-FFF2-40B4-BE49-F238E27FC236}">
                    <a16:creationId xmlns:a16="http://schemas.microsoft.com/office/drawing/2014/main" id="{241B05D6-D84D-5068-6B50-7675FE48CFE9}"/>
                  </a:ext>
                </a:extLst>
              </p:cNvPr>
              <p:cNvSpPr txBox="1">
                <a:spLocks noRot="1" noChangeAspect="1" noMove="1" noResize="1" noEditPoints="1" noAdjustHandles="1" noChangeArrowheads="1" noChangeShapeType="1" noTextEdit="1"/>
              </p:cNvSpPr>
              <p:nvPr/>
            </p:nvSpPr>
            <p:spPr>
              <a:xfrm>
                <a:off x="718457" y="1602378"/>
                <a:ext cx="5617029" cy="1985800"/>
              </a:xfrm>
              <a:prstGeom prst="rect">
                <a:avLst/>
              </a:prstGeom>
              <a:blipFill>
                <a:blip r:embed="rId2"/>
                <a:stretch>
                  <a:fillRect l="-977" b="-920"/>
                </a:stretch>
              </a:blipFill>
            </p:spPr>
            <p:txBody>
              <a:bodyPr/>
              <a:lstStyle/>
              <a:p>
                <a:r>
                  <a:rPr lang="en-NG">
                    <a:noFill/>
                  </a:rPr>
                  <a:t> </a:t>
                </a:r>
              </a:p>
            </p:txBody>
          </p:sp>
        </mc:Fallback>
      </mc:AlternateContent>
      <p:sp>
        <p:nvSpPr>
          <p:cNvPr id="5" name="TextBox 4">
            <a:extLst>
              <a:ext uri="{FF2B5EF4-FFF2-40B4-BE49-F238E27FC236}">
                <a16:creationId xmlns:a16="http://schemas.microsoft.com/office/drawing/2014/main" id="{BA190ED5-6513-F7DC-CC2F-A19A083A508E}"/>
              </a:ext>
            </a:extLst>
          </p:cNvPr>
          <p:cNvSpPr txBox="1"/>
          <p:nvPr/>
        </p:nvSpPr>
        <p:spPr>
          <a:xfrm>
            <a:off x="1818094" y="143550"/>
            <a:ext cx="7356020" cy="772391"/>
          </a:xfrm>
          <a:prstGeom prst="rect">
            <a:avLst/>
          </a:prstGeom>
          <a:noFill/>
        </p:spPr>
        <p:txBody>
          <a:bodyPr wrap="square">
            <a:spAutoFit/>
          </a:bodyPr>
          <a:lstStyle/>
          <a:p>
            <a:pPr>
              <a:lnSpc>
                <a:spcPts val="2750"/>
              </a:lnSpc>
            </a:pPr>
            <a:r>
              <a:rPr lang="en-US" sz="2400" b="1" kern="0" dirty="0">
                <a:solidFill>
                  <a:schemeClr val="accent3">
                    <a:lumMod val="75000"/>
                  </a:schemeClr>
                </a:solidFill>
                <a:effectLst/>
                <a:latin typeface="Bricolage Grotesque Semi Bold" panose="020B0604020202020204" charset="0"/>
                <a:ea typeface="Calibri" panose="020F0502020204030204" pitchFamily="34" charset="0"/>
              </a:rPr>
              <a:t>Analysis, Discussion Of Results, And Simulations</a:t>
            </a:r>
          </a:p>
          <a:p>
            <a:pPr marL="0" indent="0" algn="l">
              <a:lnSpc>
                <a:spcPts val="2750"/>
              </a:lnSpc>
              <a:buNone/>
            </a:pPr>
            <a:endParaRPr lang="en-US" sz="1800" dirty="0"/>
          </a:p>
        </p:txBody>
      </p:sp>
      <p:sp>
        <p:nvSpPr>
          <p:cNvPr id="6" name="Rectangle 5">
            <a:extLst>
              <a:ext uri="{FF2B5EF4-FFF2-40B4-BE49-F238E27FC236}">
                <a16:creationId xmlns:a16="http://schemas.microsoft.com/office/drawing/2014/main" id="{BBD56453-1BAE-4725-97A1-10D8DB6F36A4}"/>
              </a:ext>
            </a:extLst>
          </p:cNvPr>
          <p:cNvSpPr/>
          <p:nvPr/>
        </p:nvSpPr>
        <p:spPr>
          <a:xfrm>
            <a:off x="989927" y="3893075"/>
            <a:ext cx="5617029" cy="50618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852170" marR="0" indent="-560070">
              <a:lnSpc>
                <a:spcPct val="200000"/>
              </a:lnSpc>
              <a:spcBef>
                <a:spcPts val="0"/>
              </a:spcBef>
              <a:spcAft>
                <a:spcPts val="0"/>
              </a:spcAft>
            </a:pPr>
            <a:r>
              <a:rPr lang="en-US" sz="1800" b="1" dirty="0">
                <a:solidFill>
                  <a:schemeClr val="accent5">
                    <a:lumMod val="50000"/>
                  </a:schemeClr>
                </a:solidFill>
                <a:effectLst/>
                <a:latin typeface="Calibri" panose="020F0502020204030204" pitchFamily="34" charset="0"/>
                <a:ea typeface="Calibri" panose="020F0502020204030204" pitchFamily="34" charset="0"/>
              </a:rPr>
              <a:t>Local Stability Analysis of Algae-Lipid Free Equilibrium (ALFE) State of the General Model</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15CE9C8-A91B-4617-8940-EC00F2838270}"/>
                  </a:ext>
                </a:extLst>
              </p:cNvPr>
              <p:cNvSpPr txBox="1"/>
              <p:nvPr/>
            </p:nvSpPr>
            <p:spPr>
              <a:xfrm>
                <a:off x="661723" y="4629015"/>
                <a:ext cx="6345848" cy="3614259"/>
              </a:xfrm>
              <a:prstGeom prst="rect">
                <a:avLst/>
              </a:prstGeom>
              <a:noFill/>
            </p:spPr>
            <p:txBody>
              <a:bodyPr wrap="square" rtlCol="0">
                <a:spAutoFit/>
              </a:bodyPr>
              <a:lstStyle/>
              <a:p>
                <a:r>
                  <a:rPr lang="en-US" sz="1800" dirty="0">
                    <a:solidFill>
                      <a:schemeClr val="accent3">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In this section we try to see under which condition would our basic Lipid Production Number, </a:t>
                </a:r>
                <a14:m>
                  <m:oMath xmlns:m="http://schemas.openxmlformats.org/officeDocument/2006/math">
                    <m:sSub>
                      <m:sSubPr>
                        <m:ctrlPr>
                          <a:rPr lang="en-NG" i="1" smtClean="0">
                            <a:latin typeface="Cambria Math" panose="02040503050406030204" pitchFamily="18" charset="0"/>
                          </a:rPr>
                        </m:ctrlPr>
                      </m:sSubPr>
                      <m:e>
                        <m:r>
                          <a:rPr lang="en-IN" i="1">
                            <a:latin typeface="Cambria Math" panose="02040503050406030204" pitchFamily="18" charset="0"/>
                          </a:rPr>
                          <m:t>𝑅</m:t>
                        </m:r>
                      </m:e>
                      <m:sub>
                        <m:r>
                          <a:rPr lang="en-IN" i="1">
                            <a:latin typeface="Cambria Math" panose="02040503050406030204" pitchFamily="18" charset="0"/>
                          </a:rPr>
                          <m:t>0</m:t>
                        </m:r>
                      </m:sub>
                    </m:sSub>
                  </m:oMath>
                </a14:m>
                <a:r>
                  <a:rPr lang="en-NG" b="1" dirty="0"/>
                  <a:t> &lt; 1</a:t>
                </a:r>
                <a:r>
                  <a:rPr lang="en-US" sz="1800" dirty="0">
                    <a:solidFill>
                      <a:schemeClr val="accent3">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p>
              <a:p>
                <a:endParaRPr lang="en-US" dirty="0">
                  <a:solidFill>
                    <a:schemeClr val="accent3">
                      <a:lumMod val="50000"/>
                    </a:schemeClr>
                  </a:solidFill>
                  <a:latin typeface="Times New Roman" panose="02020603050405020304" pitchFamily="18" charset="0"/>
                  <a:cs typeface="Times New Roman" panose="02020603050405020304" pitchFamily="18" charset="0"/>
                </a:endParaRPr>
              </a:p>
              <a:p>
                <a:r>
                  <a:rPr lang="en-IN" dirty="0"/>
                  <a:t>Therefore, since all our parameters   (</a:t>
                </a:r>
                <a14:m>
                  <m:oMath xmlns:m="http://schemas.openxmlformats.org/officeDocument/2006/math">
                    <m:r>
                      <a:rPr lang="en-IN" i="1">
                        <a:latin typeface="Cambria Math" panose="02040503050406030204" pitchFamily="18" charset="0"/>
                      </a:rPr>
                      <m:t>(</m:t>
                    </m:r>
                    <m:r>
                      <a:rPr lang="en-IN" i="1">
                        <a:latin typeface="Cambria Math" panose="02040503050406030204" pitchFamily="18" charset="0"/>
                      </a:rPr>
                      <m:t>𝛾</m:t>
                    </m:r>
                    <m:r>
                      <a:rPr lang="en-IN" i="1">
                        <a:latin typeface="Cambria Math" panose="02040503050406030204" pitchFamily="18" charset="0"/>
                      </a:rPr>
                      <m:t>,</m:t>
                    </m:r>
                    <m:r>
                      <a:rPr lang="en-IN" i="1">
                        <a:latin typeface="Cambria Math" panose="02040503050406030204" pitchFamily="18" charset="0"/>
                      </a:rPr>
                      <m:t>𝜇</m:t>
                    </m:r>
                    <m:r>
                      <a:rPr lang="en-IN" i="1">
                        <a:latin typeface="Cambria Math" panose="02040503050406030204" pitchFamily="18" charset="0"/>
                      </a:rPr>
                      <m:t>, </m:t>
                    </m:r>
                    <m:r>
                      <a:rPr lang="en-IN" i="1">
                        <a:latin typeface="Cambria Math" panose="02040503050406030204" pitchFamily="18" charset="0"/>
                      </a:rPr>
                      <m:t>𝜖</m:t>
                    </m:r>
                    <m:r>
                      <a:rPr lang="en-IN" i="1">
                        <a:latin typeface="Cambria Math" panose="02040503050406030204" pitchFamily="18" charset="0"/>
                      </a:rPr>
                      <m:t>,</m:t>
                    </m:r>
                    <m:r>
                      <a:rPr lang="en-IN" i="1">
                        <a:latin typeface="Cambria Math" panose="02040503050406030204" pitchFamily="18" charset="0"/>
                      </a:rPr>
                      <m:t>𝑘</m:t>
                    </m:r>
                    <m:r>
                      <a:rPr lang="en-IN" i="1">
                        <a:latin typeface="Cambria Math" panose="02040503050406030204" pitchFamily="18" charset="0"/>
                      </a:rPr>
                      <m:t>,</m:t>
                    </m:r>
                    <m:sSub>
                      <m:sSubPr>
                        <m:ctrlPr>
                          <a:rPr lang="en-NG" i="1">
                            <a:latin typeface="Cambria Math" panose="02040503050406030204" pitchFamily="18" charset="0"/>
                          </a:rPr>
                        </m:ctrlPr>
                      </m:sSubPr>
                      <m:e>
                        <m:r>
                          <a:rPr lang="en-IN" i="1">
                            <a:latin typeface="Cambria Math" panose="02040503050406030204" pitchFamily="18" charset="0"/>
                          </a:rPr>
                          <m:t>𝑛</m:t>
                        </m:r>
                      </m:e>
                      <m:sub>
                        <m:r>
                          <a:rPr lang="en-IN" i="1">
                            <a:latin typeface="Cambria Math" panose="02040503050406030204" pitchFamily="18" charset="0"/>
                          </a:rPr>
                          <m:t>1</m:t>
                        </m:r>
                      </m:sub>
                    </m:sSub>
                    <m:r>
                      <a:rPr lang="en-IN" i="1">
                        <a:latin typeface="Cambria Math" panose="02040503050406030204" pitchFamily="18" charset="0"/>
                      </a:rPr>
                      <m:t>,</m:t>
                    </m:r>
                    <m:r>
                      <a:rPr lang="en-IN" i="1">
                        <a:latin typeface="Cambria Math" panose="02040503050406030204" pitchFamily="18" charset="0"/>
                      </a:rPr>
                      <m:t>𝑛</m:t>
                    </m:r>
                    <m:r>
                      <a:rPr lang="en-IN" i="1">
                        <a:latin typeface="Cambria Math" panose="02040503050406030204" pitchFamily="18" charset="0"/>
                      </a:rPr>
                      <m:t>, </m:t>
                    </m:r>
                    <m:r>
                      <a:rPr lang="en-IN" i="1">
                        <a:latin typeface="Cambria Math" panose="02040503050406030204" pitchFamily="18" charset="0"/>
                      </a:rPr>
                      <m:t>𝜂</m:t>
                    </m:r>
                    <m:r>
                      <a:rPr lang="en-IN" i="1">
                        <a:latin typeface="Cambria Math" panose="02040503050406030204" pitchFamily="18" charset="0"/>
                      </a:rPr>
                      <m:t>, </m:t>
                    </m:r>
                    <m:sSub>
                      <m:sSubPr>
                        <m:ctrlPr>
                          <a:rPr lang="en-NG" i="1">
                            <a:latin typeface="Cambria Math" panose="02040503050406030204" pitchFamily="18" charset="0"/>
                          </a:rPr>
                        </m:ctrlPr>
                      </m:sSubPr>
                      <m:e>
                        <m:r>
                          <a:rPr lang="en-IN" i="1">
                            <a:latin typeface="Cambria Math" panose="02040503050406030204" pitchFamily="18" charset="0"/>
                          </a:rPr>
                          <m:t>𝛿</m:t>
                        </m:r>
                      </m:e>
                      <m:sub>
                        <m:r>
                          <a:rPr lang="en-IN" i="1">
                            <a:latin typeface="Cambria Math" panose="02040503050406030204" pitchFamily="18" charset="0"/>
                          </a:rPr>
                          <m:t>1</m:t>
                        </m:r>
                      </m:sub>
                    </m:sSub>
                    <m:r>
                      <a:rPr lang="en-IN" i="1">
                        <a:latin typeface="Cambria Math" panose="02040503050406030204" pitchFamily="18" charset="0"/>
                      </a:rPr>
                      <m:t>,</m:t>
                    </m:r>
                    <m:sSub>
                      <m:sSubPr>
                        <m:ctrlPr>
                          <a:rPr lang="en-NG" i="1">
                            <a:latin typeface="Cambria Math" panose="02040503050406030204" pitchFamily="18" charset="0"/>
                          </a:rPr>
                        </m:ctrlPr>
                      </m:sSubPr>
                      <m:e>
                        <m:r>
                          <a:rPr lang="en-IN" i="1">
                            <a:latin typeface="Cambria Math" panose="02040503050406030204" pitchFamily="18" charset="0"/>
                          </a:rPr>
                          <m:t>𝛿</m:t>
                        </m:r>
                      </m:e>
                      <m:sub>
                        <m:r>
                          <a:rPr lang="en-IN" i="1">
                            <a:latin typeface="Cambria Math" panose="02040503050406030204" pitchFamily="18" charset="0"/>
                          </a:rPr>
                          <m:t>2</m:t>
                        </m:r>
                      </m:sub>
                    </m:sSub>
                    <m:r>
                      <a:rPr lang="en-IN" i="1">
                        <a:latin typeface="Cambria Math" panose="02040503050406030204" pitchFamily="18" charset="0"/>
                      </a:rPr>
                      <m:t>,</m:t>
                    </m:r>
                    <m:sSub>
                      <m:sSubPr>
                        <m:ctrlPr>
                          <a:rPr lang="en-NG" i="1">
                            <a:latin typeface="Cambria Math" panose="02040503050406030204" pitchFamily="18" charset="0"/>
                          </a:rPr>
                        </m:ctrlPr>
                      </m:sSubPr>
                      <m:e>
                        <m:r>
                          <a:rPr lang="en-IN" i="1">
                            <a:latin typeface="Cambria Math" panose="02040503050406030204" pitchFamily="18" charset="0"/>
                          </a:rPr>
                          <m:t>𝛿</m:t>
                        </m:r>
                      </m:e>
                      <m:sub>
                        <m:r>
                          <a:rPr lang="en-IN" i="1">
                            <a:latin typeface="Cambria Math" panose="02040503050406030204" pitchFamily="18" charset="0"/>
                          </a:rPr>
                          <m:t>3</m:t>
                        </m:r>
                      </m:sub>
                    </m:sSub>
                    <m:r>
                      <a:rPr lang="en-IN" i="1">
                        <a:latin typeface="Cambria Math" panose="02040503050406030204" pitchFamily="18" charset="0"/>
                      </a:rPr>
                      <m:t>, </m:t>
                    </m:r>
                    <m:r>
                      <a:rPr lang="en-IN" i="1">
                        <a:latin typeface="Cambria Math" panose="02040503050406030204" pitchFamily="18" charset="0"/>
                      </a:rPr>
                      <m:t>𝜃</m:t>
                    </m:r>
                    <m:r>
                      <a:rPr lang="en-IN" i="1">
                        <a:latin typeface="Cambria Math" panose="02040503050406030204" pitchFamily="18" charset="0"/>
                      </a:rPr>
                      <m:t>,</m:t>
                    </m:r>
                    <m:r>
                      <a:rPr lang="en-IN" i="1">
                        <a:latin typeface="Cambria Math" panose="02040503050406030204" pitchFamily="18" charset="0"/>
                      </a:rPr>
                      <m:t>𝛼</m:t>
                    </m:r>
                    <m:r>
                      <a:rPr lang="en-IN" i="1">
                        <a:latin typeface="Cambria Math" panose="02040503050406030204" pitchFamily="18" charset="0"/>
                      </a:rPr>
                      <m:t>,</m:t>
                    </m:r>
                    <m:r>
                      <a:rPr lang="en-IN" i="1">
                        <a:latin typeface="Cambria Math" panose="02040503050406030204" pitchFamily="18" charset="0"/>
                      </a:rPr>
                      <m:t>𝛽</m:t>
                    </m:r>
                    <m:r>
                      <a:rPr lang="en-IN" i="1">
                        <a:latin typeface="Cambria Math" panose="02040503050406030204" pitchFamily="18" charset="0"/>
                      </a:rPr>
                      <m:t>,</m:t>
                    </m:r>
                    <m:r>
                      <a:rPr lang="en-IN" i="1">
                        <a:latin typeface="Cambria Math" panose="02040503050406030204" pitchFamily="18" charset="0"/>
                      </a:rPr>
                      <m:t>𝜑</m:t>
                    </m:r>
                    <m:r>
                      <a:rPr lang="en-IN" i="1">
                        <a:latin typeface="Cambria Math" panose="02040503050406030204" pitchFamily="18" charset="0"/>
                      </a:rPr>
                      <m:t>,</m:t>
                    </m:r>
                    <m:r>
                      <m:rPr>
                        <m:sty m:val="p"/>
                      </m:rPr>
                      <a:rPr lang="en-IN">
                        <a:latin typeface="Cambria Math" panose="02040503050406030204" pitchFamily="18" charset="0"/>
                      </a:rPr>
                      <m:t>Λ</m:t>
                    </m:r>
                    <m:r>
                      <a:rPr lang="en-IN" i="1">
                        <a:latin typeface="Cambria Math" panose="02040503050406030204" pitchFamily="18" charset="0"/>
                      </a:rPr>
                      <m:t>)&gt;0</m:t>
                    </m:r>
                  </m:oMath>
                </a14:m>
                <a:r>
                  <a:rPr lang="en-IN" dirty="0"/>
                  <a:t>)</a:t>
                </a:r>
                <a:endParaRPr lang="en-NG" dirty="0"/>
              </a:p>
              <a:p>
                <a:r>
                  <a:rPr lang="en-IN" dirty="0"/>
                  <a:t>We the say that the </a:t>
                </a:r>
                <a:r>
                  <a:rPr lang="en-US" dirty="0"/>
                  <a:t>algae lipid</a:t>
                </a:r>
                <a:r>
                  <a:rPr lang="en-IN" dirty="0"/>
                  <a:t>-free</a:t>
                </a:r>
                <a:r>
                  <a:rPr lang="en-US" dirty="0"/>
                  <a:t> equilibrium</a:t>
                </a:r>
                <a:r>
                  <a:rPr lang="en-IN" dirty="0"/>
                  <a:t> (</a:t>
                </a:r>
                <a:r>
                  <a:rPr lang="en-US" dirty="0"/>
                  <a:t>AL</a:t>
                </a:r>
                <a:r>
                  <a:rPr lang="en-IN" dirty="0"/>
                  <a:t>FE) of the general system is locally asymptotically stable. This result mathematically implies that the </a:t>
                </a:r>
                <a:r>
                  <a:rPr lang="en-US" dirty="0"/>
                  <a:t>lipid production from algae</a:t>
                </a:r>
                <a:r>
                  <a:rPr lang="en-IN" dirty="0"/>
                  <a:t> can be </a:t>
                </a:r>
                <a:r>
                  <a:rPr lang="en-US" dirty="0"/>
                  <a:t>sustained within</a:t>
                </a:r>
                <a:r>
                  <a:rPr lang="en-IN" dirty="0"/>
                  <a:t> the</a:t>
                </a:r>
                <a:r>
                  <a:rPr lang="en-US" dirty="0"/>
                  <a:t> algae</a:t>
                </a:r>
                <a:r>
                  <a:rPr lang="en-IN" dirty="0"/>
                  <a:t> population with respect to the initial condition (population).   </a:t>
                </a:r>
                <a:endParaRPr lang="en-NG" dirty="0"/>
              </a:p>
              <a:p>
                <a:pPr marL="0" marR="0">
                  <a:lnSpc>
                    <a:spcPct val="200000"/>
                  </a:lnSpc>
                  <a:spcBef>
                    <a:spcPts val="0"/>
                  </a:spcBef>
                  <a:spcAft>
                    <a:spcPts val="0"/>
                  </a:spcAft>
                </a:pPr>
                <a14:m>
                  <m:oMath xmlns:m="http://schemas.openxmlformats.org/officeDocument/2006/math">
                    <m:r>
                      <a:rPr lang="en-US" i="1">
                        <a:latin typeface="Cambria Math" panose="02040503050406030204" pitchFamily="18" charset="0"/>
                        <a:ea typeface="Calibri" panose="020F0502020204030204" pitchFamily="34" charset="0"/>
                        <a:cs typeface="Times New Roman" panose="02020603050405020304" pitchFamily="18" charset="0"/>
                      </a:rPr>
                      <m:t> </m:t>
                    </m:r>
                  </m:oMath>
                </a14:m>
                <a:r>
                  <a:rPr lang="en-US" dirty="0">
                    <a:latin typeface="Times New Roman" panose="02020603050405020304" pitchFamily="18"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200000"/>
                  </a:lnSpc>
                  <a:spcBef>
                    <a:spcPts val="0"/>
                  </a:spcBef>
                  <a:spcAft>
                    <a:spcPts val="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7" name="TextBox 6">
                <a:extLst>
                  <a:ext uri="{FF2B5EF4-FFF2-40B4-BE49-F238E27FC236}">
                    <a16:creationId xmlns:a16="http://schemas.microsoft.com/office/drawing/2014/main" id="{D15CE9C8-A91B-4617-8940-EC00F2838270}"/>
                  </a:ext>
                </a:extLst>
              </p:cNvPr>
              <p:cNvSpPr txBox="1">
                <a:spLocks noRot="1" noChangeAspect="1" noMove="1" noResize="1" noEditPoints="1" noAdjustHandles="1" noChangeArrowheads="1" noChangeShapeType="1" noTextEdit="1"/>
              </p:cNvSpPr>
              <p:nvPr/>
            </p:nvSpPr>
            <p:spPr>
              <a:xfrm>
                <a:off x="661723" y="4629015"/>
                <a:ext cx="6345848" cy="3614259"/>
              </a:xfrm>
              <a:prstGeom prst="rect">
                <a:avLst/>
              </a:prstGeom>
              <a:blipFill>
                <a:blip r:embed="rId3"/>
                <a:stretch>
                  <a:fillRect l="-865" t="-843" r="-3074"/>
                </a:stretch>
              </a:blipFill>
            </p:spPr>
            <p:txBody>
              <a:bodyPr/>
              <a:lstStyle/>
              <a:p>
                <a:r>
                  <a:rPr lang="en-NG">
                    <a:noFill/>
                  </a:rPr>
                  <a:t> </a:t>
                </a:r>
              </a:p>
            </p:txBody>
          </p:sp>
        </mc:Fallback>
      </mc:AlternateContent>
      <p:sp>
        <p:nvSpPr>
          <p:cNvPr id="8" name="Rectangle 7">
            <a:extLst>
              <a:ext uri="{FF2B5EF4-FFF2-40B4-BE49-F238E27FC236}">
                <a16:creationId xmlns:a16="http://schemas.microsoft.com/office/drawing/2014/main" id="{4CCD1DC6-B5DE-432F-B85D-A09D92B96B92}"/>
              </a:ext>
            </a:extLst>
          </p:cNvPr>
          <p:cNvSpPr/>
          <p:nvPr/>
        </p:nvSpPr>
        <p:spPr>
          <a:xfrm>
            <a:off x="6606956" y="1110059"/>
            <a:ext cx="7304987" cy="50618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852170" marR="0" indent="-560070" algn="ctr">
              <a:lnSpc>
                <a:spcPct val="200000"/>
              </a:lnSpc>
              <a:spcBef>
                <a:spcPts val="0"/>
              </a:spcBef>
              <a:spcAft>
                <a:spcPts val="0"/>
              </a:spcAft>
            </a:pPr>
            <a:r>
              <a:rPr lang="en-US" sz="1800" b="1" dirty="0">
                <a:solidFill>
                  <a:schemeClr val="accent5">
                    <a:lumMod val="50000"/>
                  </a:schemeClr>
                </a:solidFill>
                <a:effectLst/>
                <a:latin typeface="Calibri" panose="020F0502020204030204" pitchFamily="34" charset="0"/>
                <a:ea typeface="Calibri" panose="020F0502020204030204" pitchFamily="34" charset="0"/>
              </a:rPr>
              <a:t>Sensitivity Analysis of the General Algae Lipid Production (ALP) Model with respect to R0</a:t>
            </a:r>
          </a:p>
        </p:txBody>
      </p:sp>
      <mc:AlternateContent xmlns:mc="http://schemas.openxmlformats.org/markup-compatibility/2006" xmlns:a14="http://schemas.microsoft.com/office/drawing/2010/main">
        <mc:Choice Requires="a14">
          <p:graphicFrame>
            <p:nvGraphicFramePr>
              <p:cNvPr id="13" name="Table 12">
                <a:extLst>
                  <a:ext uri="{FF2B5EF4-FFF2-40B4-BE49-F238E27FC236}">
                    <a16:creationId xmlns:a16="http://schemas.microsoft.com/office/drawing/2014/main" id="{6B1087A1-E01B-4A28-BF96-7C460F7B6525}"/>
                  </a:ext>
                </a:extLst>
              </p:cNvPr>
              <p:cNvGraphicFramePr>
                <a:graphicFrameLocks noGrp="1"/>
              </p:cNvGraphicFramePr>
              <p:nvPr>
                <p:extLst>
                  <p:ext uri="{D42A27DB-BD31-4B8C-83A1-F6EECF244321}">
                    <p14:modId xmlns:p14="http://schemas.microsoft.com/office/powerpoint/2010/main" val="4156043708"/>
                  </p:ext>
                </p:extLst>
              </p:nvPr>
            </p:nvGraphicFramePr>
            <p:xfrm>
              <a:off x="7622831" y="2560320"/>
              <a:ext cx="5861931" cy="4723813"/>
            </p:xfrm>
            <a:graphic>
              <a:graphicData uri="http://schemas.openxmlformats.org/drawingml/2006/table">
                <a:tbl>
                  <a:tblPr firstRow="1" firstCol="1" bandRow="1">
                    <a:tableStyleId>{5C22544A-7EE6-4342-B048-85BDC9FD1C3A}</a:tableStyleId>
                  </a:tblPr>
                  <a:tblGrid>
                    <a:gridCol w="1955711">
                      <a:extLst>
                        <a:ext uri="{9D8B030D-6E8A-4147-A177-3AD203B41FA5}">
                          <a16:colId xmlns:a16="http://schemas.microsoft.com/office/drawing/2014/main" val="2275365750"/>
                        </a:ext>
                      </a:extLst>
                    </a:gridCol>
                    <a:gridCol w="1953110">
                      <a:extLst>
                        <a:ext uri="{9D8B030D-6E8A-4147-A177-3AD203B41FA5}">
                          <a16:colId xmlns:a16="http://schemas.microsoft.com/office/drawing/2014/main" val="3314720156"/>
                        </a:ext>
                      </a:extLst>
                    </a:gridCol>
                    <a:gridCol w="1953110">
                      <a:extLst>
                        <a:ext uri="{9D8B030D-6E8A-4147-A177-3AD203B41FA5}">
                          <a16:colId xmlns:a16="http://schemas.microsoft.com/office/drawing/2014/main" val="2298450025"/>
                        </a:ext>
                      </a:extLst>
                    </a:gridCol>
                  </a:tblGrid>
                  <a:tr h="314677">
                    <a:tc>
                      <a:txBody>
                        <a:bodyPr/>
                        <a:lstStyle/>
                        <a:p>
                          <a:pPr marL="0" marR="342900" algn="just">
                            <a:lnSpc>
                              <a:spcPct val="107000"/>
                            </a:lnSpc>
                            <a:spcBef>
                              <a:spcPts val="0"/>
                            </a:spcBef>
                            <a:spcAft>
                              <a:spcPts val="800"/>
                            </a:spcAft>
                          </a:pPr>
                          <a:r>
                            <a:rPr lang="en-IN" sz="900">
                              <a:effectLst/>
                            </a:rPr>
                            <a:t>Parameters</a:t>
                          </a:r>
                          <a:endParaRPr lang="en-NG"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342900" algn="just">
                            <a:lnSpc>
                              <a:spcPct val="107000"/>
                            </a:lnSpc>
                            <a:spcBef>
                              <a:spcPts val="0"/>
                            </a:spcBef>
                            <a:spcAft>
                              <a:spcPts val="800"/>
                            </a:spcAft>
                          </a:pPr>
                          <a:r>
                            <a:rPr lang="en-IN" sz="900">
                              <a:effectLst/>
                            </a:rPr>
                            <a:t>Numerical value</a:t>
                          </a:r>
                          <a:endParaRPr lang="en-NG"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342900" algn="just">
                            <a:lnSpc>
                              <a:spcPct val="107000"/>
                            </a:lnSpc>
                            <a:spcBef>
                              <a:spcPts val="0"/>
                            </a:spcBef>
                            <a:spcAft>
                              <a:spcPts val="800"/>
                            </a:spcAft>
                          </a:pPr>
                          <a:r>
                            <a:rPr lang="en-IN" sz="900">
                              <a:effectLst/>
                            </a:rPr>
                            <a:t>Sensitivity index</a:t>
                          </a:r>
                          <a:endParaRPr lang="en-NG"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1690328972"/>
                      </a:ext>
                    </a:extLst>
                  </a:tr>
                  <a:tr h="551142">
                    <a:tc>
                      <a:txBody>
                        <a:bodyPr/>
                        <a:lstStyle/>
                        <a:p>
                          <a:pPr marL="0" marR="342900" algn="just">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IN" sz="900">
                                    <a:effectLst/>
                                    <a:latin typeface="Cambria Math" panose="02040503050406030204" pitchFamily="18" charset="0"/>
                                  </a:rPr>
                                  <m:t>𝜇</m:t>
                                </m:r>
                              </m:oMath>
                            </m:oMathPara>
                          </a14:m>
                          <a:endParaRPr lang="en-NG"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342900" algn="just">
                            <a:lnSpc>
                              <a:spcPct val="107000"/>
                            </a:lnSpc>
                            <a:spcBef>
                              <a:spcPts val="0"/>
                            </a:spcBef>
                            <a:spcAft>
                              <a:spcPts val="800"/>
                            </a:spcAft>
                          </a:pPr>
                          <a:r>
                            <a:rPr lang="en-IN" sz="900">
                              <a:effectLst/>
                            </a:rPr>
                            <a:t>0.0000421</a:t>
                          </a:r>
                          <a:endParaRPr lang="en-NG"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342900" algn="just">
                            <a:lnSpc>
                              <a:spcPct val="107000"/>
                            </a:lnSpc>
                            <a:spcBef>
                              <a:spcPts val="0"/>
                            </a:spcBef>
                            <a:spcAft>
                              <a:spcPts val="800"/>
                            </a:spcAft>
                          </a:pPr>
                          <a:r>
                            <a:rPr lang="en-IN" sz="900">
                              <a:effectLst/>
                            </a:rPr>
                            <a:t>-0.998201</a:t>
                          </a:r>
                          <a:endParaRPr lang="en-NG"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1210569686"/>
                      </a:ext>
                    </a:extLst>
                  </a:tr>
                  <a:tr h="551142">
                    <a:tc>
                      <a:txBody>
                        <a:bodyPr/>
                        <a:lstStyle/>
                        <a:p>
                          <a:pPr marL="0" marR="342900" algn="just">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IN" sz="900">
                                    <a:effectLst/>
                                    <a:latin typeface="Cambria Math" panose="02040503050406030204" pitchFamily="18" charset="0"/>
                                  </a:rPr>
                                  <m:t>𝜂</m:t>
                                </m:r>
                              </m:oMath>
                            </m:oMathPara>
                          </a14:m>
                          <a:endParaRPr lang="en-NG"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342900" algn="just">
                            <a:lnSpc>
                              <a:spcPct val="107000"/>
                            </a:lnSpc>
                            <a:spcBef>
                              <a:spcPts val="0"/>
                            </a:spcBef>
                            <a:spcAft>
                              <a:spcPts val="800"/>
                            </a:spcAft>
                          </a:pPr>
                          <a:r>
                            <a:rPr lang="en-IN" sz="900">
                              <a:effectLst/>
                            </a:rPr>
                            <a:t>0.0001</a:t>
                          </a:r>
                          <a:endParaRPr lang="en-NG"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342900" algn="just">
                            <a:lnSpc>
                              <a:spcPct val="107000"/>
                            </a:lnSpc>
                            <a:spcBef>
                              <a:spcPts val="0"/>
                            </a:spcBef>
                            <a:spcAft>
                              <a:spcPts val="800"/>
                            </a:spcAft>
                          </a:pPr>
                          <a:r>
                            <a:rPr lang="en-IN" sz="900">
                              <a:effectLst/>
                            </a:rPr>
                            <a:t>1</a:t>
                          </a:r>
                          <a:endParaRPr lang="en-NG"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841431957"/>
                      </a:ext>
                    </a:extLst>
                  </a:tr>
                  <a:tr h="551142">
                    <a:tc>
                      <a:txBody>
                        <a:bodyPr/>
                        <a:lstStyle/>
                        <a:p>
                          <a:pPr marL="0" marR="342900" algn="just">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IN" sz="900">
                                    <a:effectLst/>
                                    <a:latin typeface="Cambria Math" panose="02040503050406030204" pitchFamily="18" charset="0"/>
                                  </a:rPr>
                                  <m:t>𝛽</m:t>
                                </m:r>
                              </m:oMath>
                            </m:oMathPara>
                          </a14:m>
                          <a:endParaRPr lang="en-NG"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342900" algn="just">
                            <a:lnSpc>
                              <a:spcPct val="107000"/>
                            </a:lnSpc>
                            <a:spcBef>
                              <a:spcPts val="0"/>
                            </a:spcBef>
                            <a:spcAft>
                              <a:spcPts val="800"/>
                            </a:spcAft>
                          </a:pPr>
                          <a:r>
                            <a:rPr lang="en-IN" sz="900">
                              <a:effectLst/>
                            </a:rPr>
                            <a:t>0.0002</a:t>
                          </a:r>
                          <a:endParaRPr lang="en-NG"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342900" algn="just">
                            <a:lnSpc>
                              <a:spcPct val="107000"/>
                            </a:lnSpc>
                            <a:spcBef>
                              <a:spcPts val="0"/>
                            </a:spcBef>
                            <a:spcAft>
                              <a:spcPts val="800"/>
                            </a:spcAft>
                          </a:pPr>
                          <a:r>
                            <a:rPr lang="en-IN" sz="900">
                              <a:effectLst/>
                            </a:rPr>
                            <a:t>1</a:t>
                          </a:r>
                          <a:endParaRPr lang="en-NG"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2149338512"/>
                      </a:ext>
                    </a:extLst>
                  </a:tr>
                  <a:tr h="551142">
                    <a:tc>
                      <a:txBody>
                        <a:bodyPr/>
                        <a:lstStyle/>
                        <a:p>
                          <a:pPr marL="0" marR="342900" algn="just">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sSub>
                                  <m:sSubPr>
                                    <m:ctrlPr>
                                      <a:rPr lang="en-NG" sz="900" i="1">
                                        <a:effectLst/>
                                        <a:latin typeface="Cambria Math" panose="02040503050406030204" pitchFamily="18" charset="0"/>
                                      </a:rPr>
                                    </m:ctrlPr>
                                  </m:sSubPr>
                                  <m:e>
                                    <m:r>
                                      <a:rPr lang="en-IN" sz="900">
                                        <a:effectLst/>
                                        <a:latin typeface="Cambria Math" panose="02040503050406030204" pitchFamily="18" charset="0"/>
                                      </a:rPr>
                                      <m:t>𝛾</m:t>
                                    </m:r>
                                  </m:e>
                                  <m:sub>
                                    <m:r>
                                      <a:rPr lang="en-IN" sz="900">
                                        <a:effectLst/>
                                        <a:latin typeface="Cambria Math" panose="02040503050406030204" pitchFamily="18" charset="0"/>
                                      </a:rPr>
                                      <m:t>1</m:t>
                                    </m:r>
                                  </m:sub>
                                </m:sSub>
                              </m:oMath>
                            </m:oMathPara>
                          </a14:m>
                          <a:endParaRPr lang="en-NG"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342900" algn="just">
                            <a:lnSpc>
                              <a:spcPct val="107000"/>
                            </a:lnSpc>
                            <a:spcBef>
                              <a:spcPts val="0"/>
                            </a:spcBef>
                            <a:spcAft>
                              <a:spcPts val="800"/>
                            </a:spcAft>
                          </a:pPr>
                          <a:r>
                            <a:rPr lang="en-IN" sz="900">
                              <a:effectLst/>
                            </a:rPr>
                            <a:t>0.58</a:t>
                          </a:r>
                          <a:endParaRPr lang="en-NG"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342900" algn="just">
                            <a:lnSpc>
                              <a:spcPct val="107000"/>
                            </a:lnSpc>
                            <a:spcBef>
                              <a:spcPts val="0"/>
                            </a:spcBef>
                            <a:spcAft>
                              <a:spcPts val="800"/>
                            </a:spcAft>
                          </a:pPr>
                          <a:r>
                            <a:rPr lang="en-IN" sz="900">
                              <a:effectLst/>
                            </a:rPr>
                            <a:t>-0.3365</a:t>
                          </a:r>
                          <a:endParaRPr lang="en-NG"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804144201"/>
                      </a:ext>
                    </a:extLst>
                  </a:tr>
                  <a:tr h="551142">
                    <a:tc>
                      <a:txBody>
                        <a:bodyPr/>
                        <a:lstStyle/>
                        <a:p>
                          <a:pPr marL="0" marR="342900" algn="just">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IN" sz="900">
                                    <a:effectLst/>
                                    <a:latin typeface="Cambria Math" panose="02040503050406030204" pitchFamily="18" charset="0"/>
                                  </a:rPr>
                                  <m:t>𝛬</m:t>
                                </m:r>
                              </m:oMath>
                            </m:oMathPara>
                          </a14:m>
                          <a:endParaRPr lang="en-NG"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342900" algn="just">
                            <a:lnSpc>
                              <a:spcPct val="107000"/>
                            </a:lnSpc>
                            <a:spcBef>
                              <a:spcPts val="0"/>
                            </a:spcBef>
                            <a:spcAft>
                              <a:spcPts val="800"/>
                            </a:spcAft>
                          </a:pPr>
                          <a:r>
                            <a:rPr lang="en-IN" sz="900">
                              <a:effectLst/>
                            </a:rPr>
                            <a:t>20</a:t>
                          </a:r>
                          <a:endParaRPr lang="en-NG"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342900" algn="just">
                            <a:lnSpc>
                              <a:spcPct val="107000"/>
                            </a:lnSpc>
                            <a:spcBef>
                              <a:spcPts val="0"/>
                            </a:spcBef>
                            <a:spcAft>
                              <a:spcPts val="800"/>
                            </a:spcAft>
                          </a:pPr>
                          <a:r>
                            <a:rPr lang="en-IN" sz="900">
                              <a:effectLst/>
                            </a:rPr>
                            <a:t>1</a:t>
                          </a:r>
                          <a:endParaRPr lang="en-NG"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2876769427"/>
                      </a:ext>
                    </a:extLst>
                  </a:tr>
                  <a:tr h="551142">
                    <a:tc>
                      <a:txBody>
                        <a:bodyPr/>
                        <a:lstStyle/>
                        <a:p>
                          <a:pPr marL="0" marR="342900" algn="just">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sSub>
                                  <m:sSubPr>
                                    <m:ctrlPr>
                                      <a:rPr lang="en-NG" sz="900" i="1">
                                        <a:effectLst/>
                                        <a:latin typeface="Cambria Math" panose="02040503050406030204" pitchFamily="18" charset="0"/>
                                      </a:rPr>
                                    </m:ctrlPr>
                                  </m:sSubPr>
                                  <m:e>
                                    <m:r>
                                      <a:rPr lang="en-IN" sz="900">
                                        <a:effectLst/>
                                        <a:latin typeface="Cambria Math" panose="02040503050406030204" pitchFamily="18" charset="0"/>
                                      </a:rPr>
                                      <m:t>𝛿</m:t>
                                    </m:r>
                                  </m:e>
                                  <m:sub>
                                    <m:r>
                                      <a:rPr lang="en-IN" sz="900">
                                        <a:effectLst/>
                                        <a:latin typeface="Cambria Math" panose="02040503050406030204" pitchFamily="18" charset="0"/>
                                      </a:rPr>
                                      <m:t>1</m:t>
                                    </m:r>
                                  </m:sub>
                                </m:sSub>
                              </m:oMath>
                            </m:oMathPara>
                          </a14:m>
                          <a:endParaRPr lang="en-NG"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342900" algn="just">
                            <a:lnSpc>
                              <a:spcPct val="107000"/>
                            </a:lnSpc>
                            <a:spcBef>
                              <a:spcPts val="0"/>
                            </a:spcBef>
                            <a:spcAft>
                              <a:spcPts val="800"/>
                            </a:spcAft>
                          </a:pPr>
                          <a:r>
                            <a:rPr lang="en-IN" sz="900">
                              <a:effectLst/>
                            </a:rPr>
                            <a:t>0.000001</a:t>
                          </a:r>
                          <a:endParaRPr lang="en-NG"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342900" algn="just">
                            <a:lnSpc>
                              <a:spcPct val="107000"/>
                            </a:lnSpc>
                            <a:spcBef>
                              <a:spcPts val="0"/>
                            </a:spcBef>
                            <a:spcAft>
                              <a:spcPts val="800"/>
                            </a:spcAft>
                          </a:pPr>
                          <a:r>
                            <a:rPr lang="en-IN" sz="900">
                              <a:effectLst/>
                            </a:rPr>
                            <a:t>-0.5274</a:t>
                          </a:r>
                          <a:endParaRPr lang="en-NG"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1457615186"/>
                      </a:ext>
                    </a:extLst>
                  </a:tr>
                  <a:tr h="551142">
                    <a:tc>
                      <a:txBody>
                        <a:bodyPr/>
                        <a:lstStyle/>
                        <a:p>
                          <a:pPr marL="0" marR="342900" algn="just">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IN" sz="900">
                                    <a:effectLst/>
                                    <a:latin typeface="Cambria Math" panose="02040503050406030204" pitchFamily="18" charset="0"/>
                                  </a:rPr>
                                  <m:t>𝛼</m:t>
                                </m:r>
                              </m:oMath>
                            </m:oMathPara>
                          </a14:m>
                          <a:endParaRPr lang="en-NG"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342900" algn="just">
                            <a:lnSpc>
                              <a:spcPct val="107000"/>
                            </a:lnSpc>
                            <a:spcBef>
                              <a:spcPts val="0"/>
                            </a:spcBef>
                            <a:spcAft>
                              <a:spcPts val="800"/>
                            </a:spcAft>
                          </a:pPr>
                          <a:r>
                            <a:rPr lang="en-IN" sz="900">
                              <a:effectLst/>
                            </a:rPr>
                            <a:t>0.0001</a:t>
                          </a:r>
                          <a:endParaRPr lang="en-NG"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342900" algn="just">
                            <a:lnSpc>
                              <a:spcPct val="107000"/>
                            </a:lnSpc>
                            <a:spcBef>
                              <a:spcPts val="0"/>
                            </a:spcBef>
                            <a:spcAft>
                              <a:spcPts val="800"/>
                            </a:spcAft>
                          </a:pPr>
                          <a:r>
                            <a:rPr lang="en-IN" sz="900">
                              <a:effectLst/>
                            </a:rPr>
                            <a:t>-0.0007234</a:t>
                          </a:r>
                          <a:endParaRPr lang="en-NG"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1306656812"/>
                      </a:ext>
                    </a:extLst>
                  </a:tr>
                  <a:tr h="551142">
                    <a:tc>
                      <a:txBody>
                        <a:bodyPr/>
                        <a:lstStyle/>
                        <a:p>
                          <a:pPr marL="0" marR="342900" algn="just">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IN" sz="900">
                                    <a:effectLst/>
                                    <a:latin typeface="Cambria Math" panose="02040503050406030204" pitchFamily="18" charset="0"/>
                                  </a:rPr>
                                  <m:t>𝜃</m:t>
                                </m:r>
                              </m:oMath>
                            </m:oMathPara>
                          </a14:m>
                          <a:endParaRPr lang="en-NG"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342900" algn="just">
                            <a:lnSpc>
                              <a:spcPct val="107000"/>
                            </a:lnSpc>
                            <a:spcBef>
                              <a:spcPts val="0"/>
                            </a:spcBef>
                            <a:spcAft>
                              <a:spcPts val="800"/>
                            </a:spcAft>
                          </a:pPr>
                          <a:r>
                            <a:rPr lang="en-IN" sz="900">
                              <a:effectLst/>
                            </a:rPr>
                            <a:t>0.76</a:t>
                          </a:r>
                          <a:endParaRPr lang="en-NG"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342900" algn="just">
                            <a:lnSpc>
                              <a:spcPct val="107000"/>
                            </a:lnSpc>
                            <a:spcBef>
                              <a:spcPts val="0"/>
                            </a:spcBef>
                            <a:spcAft>
                              <a:spcPts val="800"/>
                            </a:spcAft>
                          </a:pPr>
                          <a:r>
                            <a:rPr lang="en-IN" sz="900" dirty="0">
                              <a:effectLst/>
                            </a:rPr>
                            <a:t>-1</a:t>
                          </a:r>
                          <a:endParaRPr lang="en-NG" sz="11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3784664010"/>
                      </a:ext>
                    </a:extLst>
                  </a:tr>
                </a:tbl>
              </a:graphicData>
            </a:graphic>
          </p:graphicFrame>
        </mc:Choice>
        <mc:Fallback xmlns="">
          <p:graphicFrame>
            <p:nvGraphicFramePr>
              <p:cNvPr id="13" name="Table 12">
                <a:extLst>
                  <a:ext uri="{FF2B5EF4-FFF2-40B4-BE49-F238E27FC236}">
                    <a16:creationId xmlns:a16="http://schemas.microsoft.com/office/drawing/2014/main" id="{6B1087A1-E01B-4A28-BF96-7C460F7B6525}"/>
                  </a:ext>
                </a:extLst>
              </p:cNvPr>
              <p:cNvGraphicFramePr>
                <a:graphicFrameLocks noGrp="1"/>
              </p:cNvGraphicFramePr>
              <p:nvPr>
                <p:extLst>
                  <p:ext uri="{D42A27DB-BD31-4B8C-83A1-F6EECF244321}">
                    <p14:modId xmlns:p14="http://schemas.microsoft.com/office/powerpoint/2010/main" val="4156043708"/>
                  </p:ext>
                </p:extLst>
              </p:nvPr>
            </p:nvGraphicFramePr>
            <p:xfrm>
              <a:off x="7622831" y="2560320"/>
              <a:ext cx="5861931" cy="4723813"/>
            </p:xfrm>
            <a:graphic>
              <a:graphicData uri="http://schemas.openxmlformats.org/drawingml/2006/table">
                <a:tbl>
                  <a:tblPr firstRow="1" firstCol="1" bandRow="1">
                    <a:tableStyleId>{5C22544A-7EE6-4342-B048-85BDC9FD1C3A}</a:tableStyleId>
                  </a:tblPr>
                  <a:tblGrid>
                    <a:gridCol w="1955711">
                      <a:extLst>
                        <a:ext uri="{9D8B030D-6E8A-4147-A177-3AD203B41FA5}">
                          <a16:colId xmlns:a16="http://schemas.microsoft.com/office/drawing/2014/main" val="2275365750"/>
                        </a:ext>
                      </a:extLst>
                    </a:gridCol>
                    <a:gridCol w="1953110">
                      <a:extLst>
                        <a:ext uri="{9D8B030D-6E8A-4147-A177-3AD203B41FA5}">
                          <a16:colId xmlns:a16="http://schemas.microsoft.com/office/drawing/2014/main" val="3314720156"/>
                        </a:ext>
                      </a:extLst>
                    </a:gridCol>
                    <a:gridCol w="1953110">
                      <a:extLst>
                        <a:ext uri="{9D8B030D-6E8A-4147-A177-3AD203B41FA5}">
                          <a16:colId xmlns:a16="http://schemas.microsoft.com/office/drawing/2014/main" val="2298450025"/>
                        </a:ext>
                      </a:extLst>
                    </a:gridCol>
                  </a:tblGrid>
                  <a:tr h="314677">
                    <a:tc>
                      <a:txBody>
                        <a:bodyPr/>
                        <a:lstStyle/>
                        <a:p>
                          <a:pPr marL="0" marR="342900" algn="just">
                            <a:lnSpc>
                              <a:spcPct val="107000"/>
                            </a:lnSpc>
                            <a:spcBef>
                              <a:spcPts val="0"/>
                            </a:spcBef>
                            <a:spcAft>
                              <a:spcPts val="800"/>
                            </a:spcAft>
                          </a:pPr>
                          <a:r>
                            <a:rPr lang="en-IN" sz="900">
                              <a:effectLst/>
                            </a:rPr>
                            <a:t>Parameters</a:t>
                          </a:r>
                          <a:endParaRPr lang="en-NG"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342900" algn="just">
                            <a:lnSpc>
                              <a:spcPct val="107000"/>
                            </a:lnSpc>
                            <a:spcBef>
                              <a:spcPts val="0"/>
                            </a:spcBef>
                            <a:spcAft>
                              <a:spcPts val="800"/>
                            </a:spcAft>
                          </a:pPr>
                          <a:r>
                            <a:rPr lang="en-IN" sz="900">
                              <a:effectLst/>
                            </a:rPr>
                            <a:t>Numerical value</a:t>
                          </a:r>
                          <a:endParaRPr lang="en-NG"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342900" algn="just">
                            <a:lnSpc>
                              <a:spcPct val="107000"/>
                            </a:lnSpc>
                            <a:spcBef>
                              <a:spcPts val="0"/>
                            </a:spcBef>
                            <a:spcAft>
                              <a:spcPts val="800"/>
                            </a:spcAft>
                          </a:pPr>
                          <a:r>
                            <a:rPr lang="en-IN" sz="900">
                              <a:effectLst/>
                            </a:rPr>
                            <a:t>Sensitivity index</a:t>
                          </a:r>
                          <a:endParaRPr lang="en-NG"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1690328972"/>
                      </a:ext>
                    </a:extLst>
                  </a:tr>
                  <a:tr h="551142">
                    <a:tc>
                      <a:txBody>
                        <a:bodyPr/>
                        <a:lstStyle/>
                        <a:p>
                          <a:endParaRPr lang="en-NG"/>
                        </a:p>
                      </a:txBody>
                      <a:tcPr marL="68580" marR="68580" marT="0" marB="0">
                        <a:blipFill>
                          <a:blip r:embed="rId4"/>
                          <a:stretch>
                            <a:fillRect l="-312" t="-64444" r="-201246" b="-705556"/>
                          </a:stretch>
                        </a:blipFill>
                      </a:tcPr>
                    </a:tc>
                    <a:tc>
                      <a:txBody>
                        <a:bodyPr/>
                        <a:lstStyle/>
                        <a:p>
                          <a:pPr marL="0" marR="342900" algn="just">
                            <a:lnSpc>
                              <a:spcPct val="107000"/>
                            </a:lnSpc>
                            <a:spcBef>
                              <a:spcPts val="0"/>
                            </a:spcBef>
                            <a:spcAft>
                              <a:spcPts val="800"/>
                            </a:spcAft>
                          </a:pPr>
                          <a:r>
                            <a:rPr lang="en-IN" sz="900">
                              <a:effectLst/>
                            </a:rPr>
                            <a:t>0.0000421</a:t>
                          </a:r>
                          <a:endParaRPr lang="en-NG"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342900" algn="just">
                            <a:lnSpc>
                              <a:spcPct val="107000"/>
                            </a:lnSpc>
                            <a:spcBef>
                              <a:spcPts val="0"/>
                            </a:spcBef>
                            <a:spcAft>
                              <a:spcPts val="800"/>
                            </a:spcAft>
                          </a:pPr>
                          <a:r>
                            <a:rPr lang="en-IN" sz="900">
                              <a:effectLst/>
                            </a:rPr>
                            <a:t>-0.998201</a:t>
                          </a:r>
                          <a:endParaRPr lang="en-NG"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1210569686"/>
                      </a:ext>
                    </a:extLst>
                  </a:tr>
                  <a:tr h="551142">
                    <a:tc>
                      <a:txBody>
                        <a:bodyPr/>
                        <a:lstStyle/>
                        <a:p>
                          <a:endParaRPr lang="en-NG"/>
                        </a:p>
                      </a:txBody>
                      <a:tcPr marL="68580" marR="68580" marT="0" marB="0">
                        <a:blipFill>
                          <a:blip r:embed="rId4"/>
                          <a:stretch>
                            <a:fillRect l="-312" t="-164444" r="-201246" b="-605556"/>
                          </a:stretch>
                        </a:blipFill>
                      </a:tcPr>
                    </a:tc>
                    <a:tc>
                      <a:txBody>
                        <a:bodyPr/>
                        <a:lstStyle/>
                        <a:p>
                          <a:pPr marL="0" marR="342900" algn="just">
                            <a:lnSpc>
                              <a:spcPct val="107000"/>
                            </a:lnSpc>
                            <a:spcBef>
                              <a:spcPts val="0"/>
                            </a:spcBef>
                            <a:spcAft>
                              <a:spcPts val="800"/>
                            </a:spcAft>
                          </a:pPr>
                          <a:r>
                            <a:rPr lang="en-IN" sz="900">
                              <a:effectLst/>
                            </a:rPr>
                            <a:t>0.0001</a:t>
                          </a:r>
                          <a:endParaRPr lang="en-NG"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342900" algn="just">
                            <a:lnSpc>
                              <a:spcPct val="107000"/>
                            </a:lnSpc>
                            <a:spcBef>
                              <a:spcPts val="0"/>
                            </a:spcBef>
                            <a:spcAft>
                              <a:spcPts val="800"/>
                            </a:spcAft>
                          </a:pPr>
                          <a:r>
                            <a:rPr lang="en-IN" sz="900">
                              <a:effectLst/>
                            </a:rPr>
                            <a:t>1</a:t>
                          </a:r>
                          <a:endParaRPr lang="en-NG"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841431957"/>
                      </a:ext>
                    </a:extLst>
                  </a:tr>
                  <a:tr h="551142">
                    <a:tc>
                      <a:txBody>
                        <a:bodyPr/>
                        <a:lstStyle/>
                        <a:p>
                          <a:endParaRPr lang="en-NG"/>
                        </a:p>
                      </a:txBody>
                      <a:tcPr marL="68580" marR="68580" marT="0" marB="0">
                        <a:blipFill>
                          <a:blip r:embed="rId4"/>
                          <a:stretch>
                            <a:fillRect l="-312" t="-261538" r="-201246" b="-498901"/>
                          </a:stretch>
                        </a:blipFill>
                      </a:tcPr>
                    </a:tc>
                    <a:tc>
                      <a:txBody>
                        <a:bodyPr/>
                        <a:lstStyle/>
                        <a:p>
                          <a:pPr marL="0" marR="342900" algn="just">
                            <a:lnSpc>
                              <a:spcPct val="107000"/>
                            </a:lnSpc>
                            <a:spcBef>
                              <a:spcPts val="0"/>
                            </a:spcBef>
                            <a:spcAft>
                              <a:spcPts val="800"/>
                            </a:spcAft>
                          </a:pPr>
                          <a:r>
                            <a:rPr lang="en-IN" sz="900">
                              <a:effectLst/>
                            </a:rPr>
                            <a:t>0.0002</a:t>
                          </a:r>
                          <a:endParaRPr lang="en-NG"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342900" algn="just">
                            <a:lnSpc>
                              <a:spcPct val="107000"/>
                            </a:lnSpc>
                            <a:spcBef>
                              <a:spcPts val="0"/>
                            </a:spcBef>
                            <a:spcAft>
                              <a:spcPts val="800"/>
                            </a:spcAft>
                          </a:pPr>
                          <a:r>
                            <a:rPr lang="en-IN" sz="900">
                              <a:effectLst/>
                            </a:rPr>
                            <a:t>1</a:t>
                          </a:r>
                          <a:endParaRPr lang="en-NG"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2149338512"/>
                      </a:ext>
                    </a:extLst>
                  </a:tr>
                  <a:tr h="551142">
                    <a:tc>
                      <a:txBody>
                        <a:bodyPr/>
                        <a:lstStyle/>
                        <a:p>
                          <a:endParaRPr lang="en-NG"/>
                        </a:p>
                      </a:txBody>
                      <a:tcPr marL="68580" marR="68580" marT="0" marB="0">
                        <a:blipFill>
                          <a:blip r:embed="rId4"/>
                          <a:stretch>
                            <a:fillRect l="-312" t="-365556" r="-201246" b="-404444"/>
                          </a:stretch>
                        </a:blipFill>
                      </a:tcPr>
                    </a:tc>
                    <a:tc>
                      <a:txBody>
                        <a:bodyPr/>
                        <a:lstStyle/>
                        <a:p>
                          <a:pPr marL="0" marR="342900" algn="just">
                            <a:lnSpc>
                              <a:spcPct val="107000"/>
                            </a:lnSpc>
                            <a:spcBef>
                              <a:spcPts val="0"/>
                            </a:spcBef>
                            <a:spcAft>
                              <a:spcPts val="800"/>
                            </a:spcAft>
                          </a:pPr>
                          <a:r>
                            <a:rPr lang="en-IN" sz="900">
                              <a:effectLst/>
                            </a:rPr>
                            <a:t>0.58</a:t>
                          </a:r>
                          <a:endParaRPr lang="en-NG"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342900" algn="just">
                            <a:lnSpc>
                              <a:spcPct val="107000"/>
                            </a:lnSpc>
                            <a:spcBef>
                              <a:spcPts val="0"/>
                            </a:spcBef>
                            <a:spcAft>
                              <a:spcPts val="800"/>
                            </a:spcAft>
                          </a:pPr>
                          <a:r>
                            <a:rPr lang="en-IN" sz="900">
                              <a:effectLst/>
                            </a:rPr>
                            <a:t>-0.3365</a:t>
                          </a:r>
                          <a:endParaRPr lang="en-NG"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804144201"/>
                      </a:ext>
                    </a:extLst>
                  </a:tr>
                  <a:tr h="551142">
                    <a:tc>
                      <a:txBody>
                        <a:bodyPr/>
                        <a:lstStyle/>
                        <a:p>
                          <a:endParaRPr lang="en-NG"/>
                        </a:p>
                      </a:txBody>
                      <a:tcPr marL="68580" marR="68580" marT="0" marB="0">
                        <a:blipFill>
                          <a:blip r:embed="rId4"/>
                          <a:stretch>
                            <a:fillRect l="-312" t="-460440" r="-201246" b="-300000"/>
                          </a:stretch>
                        </a:blipFill>
                      </a:tcPr>
                    </a:tc>
                    <a:tc>
                      <a:txBody>
                        <a:bodyPr/>
                        <a:lstStyle/>
                        <a:p>
                          <a:pPr marL="0" marR="342900" algn="just">
                            <a:lnSpc>
                              <a:spcPct val="107000"/>
                            </a:lnSpc>
                            <a:spcBef>
                              <a:spcPts val="0"/>
                            </a:spcBef>
                            <a:spcAft>
                              <a:spcPts val="800"/>
                            </a:spcAft>
                          </a:pPr>
                          <a:r>
                            <a:rPr lang="en-IN" sz="900">
                              <a:effectLst/>
                            </a:rPr>
                            <a:t>20</a:t>
                          </a:r>
                          <a:endParaRPr lang="en-NG"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342900" algn="just">
                            <a:lnSpc>
                              <a:spcPct val="107000"/>
                            </a:lnSpc>
                            <a:spcBef>
                              <a:spcPts val="0"/>
                            </a:spcBef>
                            <a:spcAft>
                              <a:spcPts val="800"/>
                            </a:spcAft>
                          </a:pPr>
                          <a:r>
                            <a:rPr lang="en-IN" sz="900">
                              <a:effectLst/>
                            </a:rPr>
                            <a:t>1</a:t>
                          </a:r>
                          <a:endParaRPr lang="en-NG"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2876769427"/>
                      </a:ext>
                    </a:extLst>
                  </a:tr>
                  <a:tr h="551142">
                    <a:tc>
                      <a:txBody>
                        <a:bodyPr/>
                        <a:lstStyle/>
                        <a:p>
                          <a:endParaRPr lang="en-NG"/>
                        </a:p>
                      </a:txBody>
                      <a:tcPr marL="68580" marR="68580" marT="0" marB="0">
                        <a:blipFill>
                          <a:blip r:embed="rId4"/>
                          <a:stretch>
                            <a:fillRect l="-312" t="-566667" r="-201246" b="-203333"/>
                          </a:stretch>
                        </a:blipFill>
                      </a:tcPr>
                    </a:tc>
                    <a:tc>
                      <a:txBody>
                        <a:bodyPr/>
                        <a:lstStyle/>
                        <a:p>
                          <a:pPr marL="0" marR="342900" algn="just">
                            <a:lnSpc>
                              <a:spcPct val="107000"/>
                            </a:lnSpc>
                            <a:spcBef>
                              <a:spcPts val="0"/>
                            </a:spcBef>
                            <a:spcAft>
                              <a:spcPts val="800"/>
                            </a:spcAft>
                          </a:pPr>
                          <a:r>
                            <a:rPr lang="en-IN" sz="900">
                              <a:effectLst/>
                            </a:rPr>
                            <a:t>0.000001</a:t>
                          </a:r>
                          <a:endParaRPr lang="en-NG"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342900" algn="just">
                            <a:lnSpc>
                              <a:spcPct val="107000"/>
                            </a:lnSpc>
                            <a:spcBef>
                              <a:spcPts val="0"/>
                            </a:spcBef>
                            <a:spcAft>
                              <a:spcPts val="800"/>
                            </a:spcAft>
                          </a:pPr>
                          <a:r>
                            <a:rPr lang="en-IN" sz="900">
                              <a:effectLst/>
                            </a:rPr>
                            <a:t>-0.5274</a:t>
                          </a:r>
                          <a:endParaRPr lang="en-NG"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1457615186"/>
                      </a:ext>
                    </a:extLst>
                  </a:tr>
                  <a:tr h="551142">
                    <a:tc>
                      <a:txBody>
                        <a:bodyPr/>
                        <a:lstStyle/>
                        <a:p>
                          <a:endParaRPr lang="en-NG"/>
                        </a:p>
                      </a:txBody>
                      <a:tcPr marL="68580" marR="68580" marT="0" marB="0">
                        <a:blipFill>
                          <a:blip r:embed="rId4"/>
                          <a:stretch>
                            <a:fillRect l="-312" t="-659341" r="-201246" b="-101099"/>
                          </a:stretch>
                        </a:blipFill>
                      </a:tcPr>
                    </a:tc>
                    <a:tc>
                      <a:txBody>
                        <a:bodyPr/>
                        <a:lstStyle/>
                        <a:p>
                          <a:pPr marL="0" marR="342900" algn="just">
                            <a:lnSpc>
                              <a:spcPct val="107000"/>
                            </a:lnSpc>
                            <a:spcBef>
                              <a:spcPts val="0"/>
                            </a:spcBef>
                            <a:spcAft>
                              <a:spcPts val="800"/>
                            </a:spcAft>
                          </a:pPr>
                          <a:r>
                            <a:rPr lang="en-IN" sz="900">
                              <a:effectLst/>
                            </a:rPr>
                            <a:t>0.0001</a:t>
                          </a:r>
                          <a:endParaRPr lang="en-NG"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342900" algn="just">
                            <a:lnSpc>
                              <a:spcPct val="107000"/>
                            </a:lnSpc>
                            <a:spcBef>
                              <a:spcPts val="0"/>
                            </a:spcBef>
                            <a:spcAft>
                              <a:spcPts val="800"/>
                            </a:spcAft>
                          </a:pPr>
                          <a:r>
                            <a:rPr lang="en-IN" sz="900">
                              <a:effectLst/>
                            </a:rPr>
                            <a:t>-0.0007234</a:t>
                          </a:r>
                          <a:endParaRPr lang="en-NG"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1306656812"/>
                      </a:ext>
                    </a:extLst>
                  </a:tr>
                  <a:tr h="551142">
                    <a:tc>
                      <a:txBody>
                        <a:bodyPr/>
                        <a:lstStyle/>
                        <a:p>
                          <a:endParaRPr lang="en-NG"/>
                        </a:p>
                      </a:txBody>
                      <a:tcPr marL="68580" marR="68580" marT="0" marB="0">
                        <a:blipFill>
                          <a:blip r:embed="rId4"/>
                          <a:stretch>
                            <a:fillRect l="-312" t="-767778" r="-201246" b="-2222"/>
                          </a:stretch>
                        </a:blipFill>
                      </a:tcPr>
                    </a:tc>
                    <a:tc>
                      <a:txBody>
                        <a:bodyPr/>
                        <a:lstStyle/>
                        <a:p>
                          <a:pPr marL="0" marR="342900" algn="just">
                            <a:lnSpc>
                              <a:spcPct val="107000"/>
                            </a:lnSpc>
                            <a:spcBef>
                              <a:spcPts val="0"/>
                            </a:spcBef>
                            <a:spcAft>
                              <a:spcPts val="800"/>
                            </a:spcAft>
                          </a:pPr>
                          <a:r>
                            <a:rPr lang="en-IN" sz="900">
                              <a:effectLst/>
                            </a:rPr>
                            <a:t>0.76</a:t>
                          </a:r>
                          <a:endParaRPr lang="en-NG"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342900" algn="just">
                            <a:lnSpc>
                              <a:spcPct val="107000"/>
                            </a:lnSpc>
                            <a:spcBef>
                              <a:spcPts val="0"/>
                            </a:spcBef>
                            <a:spcAft>
                              <a:spcPts val="800"/>
                            </a:spcAft>
                          </a:pPr>
                          <a:r>
                            <a:rPr lang="en-IN" sz="900" dirty="0">
                              <a:effectLst/>
                            </a:rPr>
                            <a:t>-1</a:t>
                          </a:r>
                          <a:endParaRPr lang="en-NG" sz="11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3784664010"/>
                      </a:ext>
                    </a:extLst>
                  </a:tr>
                </a:tbl>
              </a:graphicData>
            </a:graphic>
          </p:graphicFrame>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16D480EC-796C-4AD4-8D38-7374A38607E3}"/>
                  </a:ext>
                </a:extLst>
              </p:cNvPr>
              <p:cNvSpPr txBox="1"/>
              <p:nvPr/>
            </p:nvSpPr>
            <p:spPr>
              <a:xfrm>
                <a:off x="7355043" y="1873591"/>
                <a:ext cx="6345848" cy="646331"/>
              </a:xfrm>
              <a:prstGeom prst="rect">
                <a:avLst/>
              </a:prstGeom>
              <a:noFill/>
            </p:spPr>
            <p:txBody>
              <a:bodyPr wrap="square" rtlCol="0">
                <a:spAutoFit/>
              </a:bodyPr>
              <a:lstStyle/>
              <a:p>
                <a:r>
                  <a:rPr lang="en-IN" dirty="0"/>
                  <a:t>Table 4.1: Sensitivity index of </a:t>
                </a:r>
                <a14:m>
                  <m:oMath xmlns:m="http://schemas.openxmlformats.org/officeDocument/2006/math">
                    <m:sSub>
                      <m:sSubPr>
                        <m:ctrlPr>
                          <a:rPr lang="en-NG" i="1">
                            <a:latin typeface="Cambria Math" panose="02040503050406030204" pitchFamily="18" charset="0"/>
                          </a:rPr>
                        </m:ctrlPr>
                      </m:sSubPr>
                      <m:e>
                        <m:r>
                          <a:rPr lang="en-IN" i="1">
                            <a:latin typeface="Cambria Math" panose="02040503050406030204" pitchFamily="18" charset="0"/>
                          </a:rPr>
                          <m:t>𝑅</m:t>
                        </m:r>
                      </m:e>
                      <m:sub>
                        <m:r>
                          <a:rPr lang="en-IN" i="1">
                            <a:latin typeface="Cambria Math" panose="02040503050406030204" pitchFamily="18" charset="0"/>
                          </a:rPr>
                          <m:t>0</m:t>
                        </m:r>
                      </m:sub>
                    </m:sSub>
                  </m:oMath>
                </a14:m>
                <a:r>
                  <a:rPr lang="en-IN" dirty="0"/>
                  <a:t> with respect to parameters of the model</a:t>
                </a:r>
                <a:endParaRPr lang="en-NG" dirty="0"/>
              </a:p>
            </p:txBody>
          </p:sp>
        </mc:Choice>
        <mc:Fallback xmlns="">
          <p:sp>
            <p:nvSpPr>
              <p:cNvPr id="14" name="TextBox 13">
                <a:extLst>
                  <a:ext uri="{FF2B5EF4-FFF2-40B4-BE49-F238E27FC236}">
                    <a16:creationId xmlns:a16="http://schemas.microsoft.com/office/drawing/2014/main" id="{16D480EC-796C-4AD4-8D38-7374A38607E3}"/>
                  </a:ext>
                </a:extLst>
              </p:cNvPr>
              <p:cNvSpPr txBox="1">
                <a:spLocks noRot="1" noChangeAspect="1" noMove="1" noResize="1" noEditPoints="1" noAdjustHandles="1" noChangeArrowheads="1" noChangeShapeType="1" noTextEdit="1"/>
              </p:cNvSpPr>
              <p:nvPr/>
            </p:nvSpPr>
            <p:spPr>
              <a:xfrm>
                <a:off x="7355043" y="1873591"/>
                <a:ext cx="6345848" cy="646331"/>
              </a:xfrm>
              <a:prstGeom prst="rect">
                <a:avLst/>
              </a:prstGeom>
              <a:blipFill>
                <a:blip r:embed="rId5"/>
                <a:stretch>
                  <a:fillRect l="-865" t="-3774" b="-14151"/>
                </a:stretch>
              </a:blipFill>
            </p:spPr>
            <p:txBody>
              <a:bodyPr/>
              <a:lstStyle/>
              <a:p>
                <a:r>
                  <a:rPr lang="en-NG">
                    <a:noFill/>
                  </a:rPr>
                  <a:t> </a:t>
                </a:r>
              </a:p>
            </p:txBody>
          </p:sp>
        </mc:Fallback>
      </mc:AlternateContent>
    </p:spTree>
    <p:extLst>
      <p:ext uri="{BB962C8B-B14F-4D97-AF65-F5344CB8AC3E}">
        <p14:creationId xmlns:p14="http://schemas.microsoft.com/office/powerpoint/2010/main" val="35488362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Single Corner Rounded 1">
            <a:extLst>
              <a:ext uri="{FF2B5EF4-FFF2-40B4-BE49-F238E27FC236}">
                <a16:creationId xmlns:a16="http://schemas.microsoft.com/office/drawing/2014/main" id="{89703FFE-59EF-6DF8-E9F4-60D106756CE5}"/>
              </a:ext>
            </a:extLst>
          </p:cNvPr>
          <p:cNvSpPr/>
          <p:nvPr/>
        </p:nvSpPr>
        <p:spPr>
          <a:xfrm>
            <a:off x="2495550" y="285750"/>
            <a:ext cx="7924800" cy="952500"/>
          </a:xfrm>
          <a:prstGeom prst="round1Rect">
            <a:avLst/>
          </a:prstGeom>
        </p:spPr>
        <p:style>
          <a:lnRef idx="3">
            <a:schemeClr val="lt1"/>
          </a:lnRef>
          <a:fillRef idx="1">
            <a:schemeClr val="accent5"/>
          </a:fillRef>
          <a:effectRef idx="1">
            <a:schemeClr val="accent5"/>
          </a:effectRef>
          <a:fontRef idx="minor">
            <a:schemeClr val="lt1"/>
          </a:fontRef>
        </p:style>
        <p:txBody>
          <a:bodyPr rtlCol="0" anchor="ctr"/>
          <a:lstStyle/>
          <a:p>
            <a:pPr marL="0" marR="0">
              <a:lnSpc>
                <a:spcPct val="150000"/>
              </a:lnSpc>
              <a:spcBef>
                <a:spcPts val="0"/>
              </a:spcBef>
              <a:spcAft>
                <a:spcPts val="0"/>
              </a:spcAft>
            </a:pPr>
            <a:r>
              <a:rPr lang="en-US" sz="1800" b="1" spc="-20" dirty="0">
                <a:effectLst/>
                <a:latin typeface="Lucida Sans Typewriter" panose="020B0509030504030204" pitchFamily="49" charset="0"/>
                <a:ea typeface="Calibri" panose="020F0502020204030204" pitchFamily="34" charset="0"/>
                <a:cs typeface="Calibri" panose="020F0502020204030204" pitchFamily="34" charset="0"/>
              </a:rPr>
              <a:t>4.8 	</a:t>
            </a:r>
            <a:r>
              <a:rPr lang="en-US" sz="1800" b="1" dirty="0">
                <a:effectLst/>
                <a:latin typeface="Lucida Sans Typewriter" panose="020B0509030504030204" pitchFamily="49" charset="0"/>
                <a:ea typeface="Calibri" panose="020F0502020204030204" pitchFamily="34" charset="0"/>
                <a:cs typeface="Calibri" panose="020F0502020204030204" pitchFamily="34" charset="0"/>
              </a:rPr>
              <a:t>Sensitivity Analysis of the General Algae Lipid Production (ALP) Model with respect to R</a:t>
            </a:r>
            <a:r>
              <a:rPr lang="en-US" sz="1800" b="1" baseline="-25000" dirty="0">
                <a:effectLst/>
                <a:latin typeface="Lucida Sans Typewriter" panose="020B0509030504030204" pitchFamily="49" charset="0"/>
                <a:ea typeface="Calibri" panose="020F0502020204030204" pitchFamily="34" charset="0"/>
                <a:cs typeface="Calibri" panose="020F0502020204030204" pitchFamily="34" charset="0"/>
              </a:rPr>
              <a:t>0</a:t>
            </a:r>
            <a:endParaRPr lang="en-US" sz="1800" dirty="0">
              <a:effectLst/>
              <a:latin typeface="Lucida Sans Typewriter" panose="020B0509030504030204" pitchFamily="49" charset="0"/>
              <a:ea typeface="Calibri" panose="020F0502020204030204" pitchFamily="34" charset="0"/>
            </a:endParaRPr>
          </a:p>
        </p:txBody>
      </p:sp>
      <p:graphicFrame>
        <p:nvGraphicFramePr>
          <p:cNvPr id="4" name="Object 3">
            <a:extLst>
              <a:ext uri="{FF2B5EF4-FFF2-40B4-BE49-F238E27FC236}">
                <a16:creationId xmlns:a16="http://schemas.microsoft.com/office/drawing/2014/main" id="{9AB0899E-4955-DC63-5C87-D105054B1806}"/>
              </a:ext>
            </a:extLst>
          </p:cNvPr>
          <p:cNvGraphicFramePr>
            <a:graphicFrameLocks noChangeAspect="1"/>
          </p:cNvGraphicFramePr>
          <p:nvPr>
            <p:extLst>
              <p:ext uri="{D42A27DB-BD31-4B8C-83A1-F6EECF244321}">
                <p14:modId xmlns:p14="http://schemas.microsoft.com/office/powerpoint/2010/main" val="2178016775"/>
              </p:ext>
            </p:extLst>
          </p:nvPr>
        </p:nvGraphicFramePr>
        <p:xfrm>
          <a:off x="7473119" y="1465141"/>
          <a:ext cx="438150" cy="463924"/>
        </p:xfrm>
        <a:graphic>
          <a:graphicData uri="http://schemas.openxmlformats.org/presentationml/2006/ole">
            <mc:AlternateContent xmlns:mc="http://schemas.openxmlformats.org/markup-compatibility/2006">
              <mc:Choice xmlns:v="urn:schemas-microsoft-com:vml" Requires="v">
                <p:oleObj r:id="rId2" imgW="114201" imgH="139579" progId="Equation.3">
                  <p:embed/>
                </p:oleObj>
              </mc:Choice>
              <mc:Fallback>
                <p:oleObj r:id="rId2" imgW="114201" imgH="139579" progId="Equation.3">
                  <p:embed/>
                  <p:pic>
                    <p:nvPicPr>
                      <p:cNvPr id="4" name="Object 3">
                        <a:extLst>
                          <a:ext uri="{FF2B5EF4-FFF2-40B4-BE49-F238E27FC236}">
                            <a16:creationId xmlns:a16="http://schemas.microsoft.com/office/drawing/2014/main" id="{9AB0899E-4955-DC63-5C87-D105054B18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73119" y="1465141"/>
                        <a:ext cx="438150" cy="463924"/>
                      </a:xfrm>
                      <a:prstGeom prst="rect">
                        <a:avLst/>
                      </a:prstGeom>
                      <a:noFill/>
                    </p:spPr>
                  </p:pic>
                </p:oleObj>
              </mc:Fallback>
            </mc:AlternateContent>
          </a:graphicData>
        </a:graphic>
      </p:graphicFrame>
      <p:graphicFrame>
        <p:nvGraphicFramePr>
          <p:cNvPr id="5" name="Object 4">
            <a:extLst>
              <a:ext uri="{FF2B5EF4-FFF2-40B4-BE49-F238E27FC236}">
                <a16:creationId xmlns:a16="http://schemas.microsoft.com/office/drawing/2014/main" id="{2B0CBBE5-007C-A37D-E35F-2FD026FD7B2D}"/>
              </a:ext>
            </a:extLst>
          </p:cNvPr>
          <p:cNvGraphicFramePr>
            <a:graphicFrameLocks noChangeAspect="1"/>
          </p:cNvGraphicFramePr>
          <p:nvPr>
            <p:extLst>
              <p:ext uri="{D42A27DB-BD31-4B8C-83A1-F6EECF244321}">
                <p14:modId xmlns:p14="http://schemas.microsoft.com/office/powerpoint/2010/main" val="1315819215"/>
              </p:ext>
            </p:extLst>
          </p:nvPr>
        </p:nvGraphicFramePr>
        <p:xfrm>
          <a:off x="11810457" y="1430535"/>
          <a:ext cx="438150" cy="463924"/>
        </p:xfrm>
        <a:graphic>
          <a:graphicData uri="http://schemas.openxmlformats.org/presentationml/2006/ole">
            <mc:AlternateContent xmlns:mc="http://schemas.openxmlformats.org/markup-compatibility/2006">
              <mc:Choice xmlns:v="urn:schemas-microsoft-com:vml" Requires="v">
                <p:oleObj r:id="rId4" imgW="152268" imgH="164957" progId="Equation.3">
                  <p:embed/>
                </p:oleObj>
              </mc:Choice>
              <mc:Fallback>
                <p:oleObj r:id="rId4" imgW="152268" imgH="164957" progId="Equation.3">
                  <p:embed/>
                  <p:pic>
                    <p:nvPicPr>
                      <p:cNvPr id="5" name="Object 4">
                        <a:extLst>
                          <a:ext uri="{FF2B5EF4-FFF2-40B4-BE49-F238E27FC236}">
                            <a16:creationId xmlns:a16="http://schemas.microsoft.com/office/drawing/2014/main" id="{2B0CBBE5-007C-A37D-E35F-2FD026FD7B2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810457" y="1430535"/>
                        <a:ext cx="438150" cy="463924"/>
                      </a:xfrm>
                      <a:prstGeom prst="rect">
                        <a:avLst/>
                      </a:prstGeom>
                      <a:noFill/>
                    </p:spPr>
                  </p:pic>
                </p:oleObj>
              </mc:Fallback>
            </mc:AlternateContent>
          </a:graphicData>
        </a:graphic>
      </p:graphicFrame>
      <p:graphicFrame>
        <p:nvGraphicFramePr>
          <p:cNvPr id="6" name="Object 5">
            <a:extLst>
              <a:ext uri="{FF2B5EF4-FFF2-40B4-BE49-F238E27FC236}">
                <a16:creationId xmlns:a16="http://schemas.microsoft.com/office/drawing/2014/main" id="{454C4DDD-E0A1-E4D5-6004-A20C2AF5E99F}"/>
              </a:ext>
            </a:extLst>
          </p:cNvPr>
          <p:cNvGraphicFramePr>
            <a:graphicFrameLocks noChangeAspect="1"/>
          </p:cNvGraphicFramePr>
          <p:nvPr>
            <p:extLst>
              <p:ext uri="{D42A27DB-BD31-4B8C-83A1-F6EECF244321}">
                <p14:modId xmlns:p14="http://schemas.microsoft.com/office/powerpoint/2010/main" val="3811177253"/>
              </p:ext>
            </p:extLst>
          </p:nvPr>
        </p:nvGraphicFramePr>
        <p:xfrm>
          <a:off x="3899026" y="2070119"/>
          <a:ext cx="948941" cy="652462"/>
        </p:xfrm>
        <a:graphic>
          <a:graphicData uri="http://schemas.openxmlformats.org/presentationml/2006/ole">
            <mc:AlternateContent xmlns:mc="http://schemas.openxmlformats.org/markup-compatibility/2006">
              <mc:Choice xmlns:v="urn:schemas-microsoft-com:vml" Requires="v">
                <p:oleObj r:id="rId6" imgW="800100" imgH="419100" progId="Equation.3">
                  <p:embed/>
                </p:oleObj>
              </mc:Choice>
              <mc:Fallback>
                <p:oleObj r:id="rId6" imgW="800100" imgH="419100" progId="Equation.3">
                  <p:embed/>
                  <p:pic>
                    <p:nvPicPr>
                      <p:cNvPr id="6" name="Object 5">
                        <a:extLst>
                          <a:ext uri="{FF2B5EF4-FFF2-40B4-BE49-F238E27FC236}">
                            <a16:creationId xmlns:a16="http://schemas.microsoft.com/office/drawing/2014/main" id="{454C4DDD-E0A1-E4D5-6004-A20C2AF5E99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99026" y="2070119"/>
                        <a:ext cx="948941" cy="652462"/>
                      </a:xfrm>
                      <a:prstGeom prst="rect">
                        <a:avLst/>
                      </a:prstGeom>
                      <a:noFill/>
                    </p:spPr>
                  </p:pic>
                </p:oleObj>
              </mc:Fallback>
            </mc:AlternateContent>
          </a:graphicData>
        </a:graphic>
      </p:graphicFrame>
      <p:graphicFrame>
        <p:nvGraphicFramePr>
          <p:cNvPr id="7" name="Object 6">
            <a:extLst>
              <a:ext uri="{FF2B5EF4-FFF2-40B4-BE49-F238E27FC236}">
                <a16:creationId xmlns:a16="http://schemas.microsoft.com/office/drawing/2014/main" id="{1D28018A-5C83-33C0-2E3D-34B7BA01FF28}"/>
              </a:ext>
            </a:extLst>
          </p:cNvPr>
          <p:cNvGraphicFramePr>
            <a:graphicFrameLocks noChangeAspect="1"/>
          </p:cNvGraphicFramePr>
          <p:nvPr>
            <p:extLst>
              <p:ext uri="{D42A27DB-BD31-4B8C-83A1-F6EECF244321}">
                <p14:modId xmlns:p14="http://schemas.microsoft.com/office/powerpoint/2010/main" val="3358708533"/>
              </p:ext>
            </p:extLst>
          </p:nvPr>
        </p:nvGraphicFramePr>
        <p:xfrm>
          <a:off x="10731375" y="2612810"/>
          <a:ext cx="522039" cy="561975"/>
        </p:xfrm>
        <a:graphic>
          <a:graphicData uri="http://schemas.openxmlformats.org/presentationml/2006/ole">
            <mc:AlternateContent xmlns:mc="http://schemas.openxmlformats.org/markup-compatibility/2006">
              <mc:Choice xmlns:v="urn:schemas-microsoft-com:vml" Requires="v">
                <p:oleObj r:id="rId8" imgW="190500" imgH="228600" progId="Equation.3">
                  <p:embed/>
                </p:oleObj>
              </mc:Choice>
              <mc:Fallback>
                <p:oleObj r:id="rId8" imgW="190500" imgH="228600" progId="Equation.3">
                  <p:embed/>
                  <p:pic>
                    <p:nvPicPr>
                      <p:cNvPr id="7" name="Object 6">
                        <a:extLst>
                          <a:ext uri="{FF2B5EF4-FFF2-40B4-BE49-F238E27FC236}">
                            <a16:creationId xmlns:a16="http://schemas.microsoft.com/office/drawing/2014/main" id="{1D28018A-5C83-33C0-2E3D-34B7BA01FF2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731375" y="2612810"/>
                        <a:ext cx="522039" cy="561975"/>
                      </a:xfrm>
                      <a:prstGeom prst="rect">
                        <a:avLst/>
                      </a:prstGeom>
                      <a:noFill/>
                    </p:spPr>
                  </p:pic>
                </p:oleObj>
              </mc:Fallback>
            </mc:AlternateContent>
          </a:graphicData>
        </a:graphic>
      </p:graphicFrame>
      <p:graphicFrame>
        <p:nvGraphicFramePr>
          <p:cNvPr id="8" name="Object 7">
            <a:extLst>
              <a:ext uri="{FF2B5EF4-FFF2-40B4-BE49-F238E27FC236}">
                <a16:creationId xmlns:a16="http://schemas.microsoft.com/office/drawing/2014/main" id="{395843B4-7E35-32FA-1596-566BDA7F29A3}"/>
              </a:ext>
            </a:extLst>
          </p:cNvPr>
          <p:cNvGraphicFramePr>
            <a:graphicFrameLocks noChangeAspect="1"/>
          </p:cNvGraphicFramePr>
          <p:nvPr>
            <p:extLst>
              <p:ext uri="{D42A27DB-BD31-4B8C-83A1-F6EECF244321}">
                <p14:modId xmlns:p14="http://schemas.microsoft.com/office/powerpoint/2010/main" val="584492774"/>
              </p:ext>
            </p:extLst>
          </p:nvPr>
        </p:nvGraphicFramePr>
        <p:xfrm>
          <a:off x="119163" y="3832773"/>
          <a:ext cx="397618" cy="400050"/>
        </p:xfrm>
        <a:graphic>
          <a:graphicData uri="http://schemas.openxmlformats.org/presentationml/2006/ole">
            <mc:AlternateContent xmlns:mc="http://schemas.openxmlformats.org/markup-compatibility/2006">
              <mc:Choice xmlns:v="urn:schemas-microsoft-com:vml" Requires="v">
                <p:oleObj r:id="rId10" imgW="190500" imgH="228600" progId="Equation.3">
                  <p:embed/>
                </p:oleObj>
              </mc:Choice>
              <mc:Fallback>
                <p:oleObj r:id="rId10" imgW="190500" imgH="228600" progId="Equation.3">
                  <p:embed/>
                  <p:pic>
                    <p:nvPicPr>
                      <p:cNvPr id="8" name="Object 7">
                        <a:extLst>
                          <a:ext uri="{FF2B5EF4-FFF2-40B4-BE49-F238E27FC236}">
                            <a16:creationId xmlns:a16="http://schemas.microsoft.com/office/drawing/2014/main" id="{395843B4-7E35-32FA-1596-566BDA7F29A3}"/>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19163" y="3832773"/>
                        <a:ext cx="397618" cy="400050"/>
                      </a:xfrm>
                      <a:prstGeom prst="rect">
                        <a:avLst/>
                      </a:prstGeom>
                      <a:noFill/>
                    </p:spPr>
                  </p:pic>
                </p:oleObj>
              </mc:Fallback>
            </mc:AlternateContent>
          </a:graphicData>
        </a:graphic>
      </p:graphicFrame>
      <p:graphicFrame>
        <p:nvGraphicFramePr>
          <p:cNvPr id="9" name="Object 8">
            <a:extLst>
              <a:ext uri="{FF2B5EF4-FFF2-40B4-BE49-F238E27FC236}">
                <a16:creationId xmlns:a16="http://schemas.microsoft.com/office/drawing/2014/main" id="{AB6C60A2-6359-B224-523D-3126748CFA32}"/>
              </a:ext>
            </a:extLst>
          </p:cNvPr>
          <p:cNvGraphicFramePr>
            <a:graphicFrameLocks noChangeAspect="1"/>
          </p:cNvGraphicFramePr>
          <p:nvPr>
            <p:extLst>
              <p:ext uri="{D42A27DB-BD31-4B8C-83A1-F6EECF244321}">
                <p14:modId xmlns:p14="http://schemas.microsoft.com/office/powerpoint/2010/main" val="134554271"/>
              </p:ext>
            </p:extLst>
          </p:nvPr>
        </p:nvGraphicFramePr>
        <p:xfrm>
          <a:off x="119163" y="4519551"/>
          <a:ext cx="480912" cy="475842"/>
        </p:xfrm>
        <a:graphic>
          <a:graphicData uri="http://schemas.openxmlformats.org/presentationml/2006/ole">
            <mc:AlternateContent xmlns:mc="http://schemas.openxmlformats.org/markup-compatibility/2006">
              <mc:Choice xmlns:v="urn:schemas-microsoft-com:vml" Requires="v">
                <p:oleObj r:id="rId12" imgW="190500" imgH="228600" progId="Equation.3">
                  <p:embed/>
                </p:oleObj>
              </mc:Choice>
              <mc:Fallback>
                <p:oleObj r:id="rId12" imgW="190500" imgH="228600" progId="Equation.3">
                  <p:embed/>
                  <p:pic>
                    <p:nvPicPr>
                      <p:cNvPr id="9" name="Object 8">
                        <a:extLst>
                          <a:ext uri="{FF2B5EF4-FFF2-40B4-BE49-F238E27FC236}">
                            <a16:creationId xmlns:a16="http://schemas.microsoft.com/office/drawing/2014/main" id="{AB6C60A2-6359-B224-523D-3126748CFA32}"/>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19163" y="4519551"/>
                        <a:ext cx="480912" cy="475842"/>
                      </a:xfrm>
                      <a:prstGeom prst="rect">
                        <a:avLst/>
                      </a:prstGeom>
                      <a:noFill/>
                    </p:spPr>
                  </p:pic>
                </p:oleObj>
              </mc:Fallback>
            </mc:AlternateContent>
          </a:graphicData>
        </a:graphic>
      </p:graphicFrame>
      <p:graphicFrame>
        <p:nvGraphicFramePr>
          <p:cNvPr id="10" name="Object 9">
            <a:extLst>
              <a:ext uri="{FF2B5EF4-FFF2-40B4-BE49-F238E27FC236}">
                <a16:creationId xmlns:a16="http://schemas.microsoft.com/office/drawing/2014/main" id="{4477F2D5-8630-A998-E3B8-6586DF1F42F5}"/>
              </a:ext>
            </a:extLst>
          </p:cNvPr>
          <p:cNvGraphicFramePr>
            <a:graphicFrameLocks noChangeAspect="1"/>
          </p:cNvGraphicFramePr>
          <p:nvPr>
            <p:extLst>
              <p:ext uri="{D42A27DB-BD31-4B8C-83A1-F6EECF244321}">
                <p14:modId xmlns:p14="http://schemas.microsoft.com/office/powerpoint/2010/main" val="2556757381"/>
              </p:ext>
            </p:extLst>
          </p:nvPr>
        </p:nvGraphicFramePr>
        <p:xfrm>
          <a:off x="90889" y="5277994"/>
          <a:ext cx="414033" cy="397891"/>
        </p:xfrm>
        <a:graphic>
          <a:graphicData uri="http://schemas.openxmlformats.org/presentationml/2006/ole">
            <mc:AlternateContent xmlns:mc="http://schemas.openxmlformats.org/markup-compatibility/2006">
              <mc:Choice xmlns:v="urn:schemas-microsoft-com:vml" Requires="v">
                <p:oleObj r:id="rId14" imgW="190500" imgH="228600" progId="Equation.3">
                  <p:embed/>
                </p:oleObj>
              </mc:Choice>
              <mc:Fallback>
                <p:oleObj r:id="rId14" imgW="190500" imgH="228600" progId="Equation.3">
                  <p:embed/>
                  <p:pic>
                    <p:nvPicPr>
                      <p:cNvPr id="10" name="Object 9">
                        <a:extLst>
                          <a:ext uri="{FF2B5EF4-FFF2-40B4-BE49-F238E27FC236}">
                            <a16:creationId xmlns:a16="http://schemas.microsoft.com/office/drawing/2014/main" id="{4477F2D5-8630-A998-E3B8-6586DF1F42F5}"/>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90889" y="5277994"/>
                        <a:ext cx="414033" cy="397891"/>
                      </a:xfrm>
                      <a:prstGeom prst="rect">
                        <a:avLst/>
                      </a:prstGeom>
                      <a:noFill/>
                    </p:spPr>
                  </p:pic>
                </p:oleObj>
              </mc:Fallback>
            </mc:AlternateContent>
          </a:graphicData>
        </a:graphic>
      </p:graphicFrame>
      <p:graphicFrame>
        <p:nvGraphicFramePr>
          <p:cNvPr id="11" name="Object 10">
            <a:extLst>
              <a:ext uri="{FF2B5EF4-FFF2-40B4-BE49-F238E27FC236}">
                <a16:creationId xmlns:a16="http://schemas.microsoft.com/office/drawing/2014/main" id="{1444C179-9A92-7C74-38DD-093E6A6A65B1}"/>
              </a:ext>
            </a:extLst>
          </p:cNvPr>
          <p:cNvGraphicFramePr>
            <a:graphicFrameLocks noChangeAspect="1"/>
          </p:cNvGraphicFramePr>
          <p:nvPr>
            <p:extLst>
              <p:ext uri="{D42A27DB-BD31-4B8C-83A1-F6EECF244321}">
                <p14:modId xmlns:p14="http://schemas.microsoft.com/office/powerpoint/2010/main" val="2238078378"/>
              </p:ext>
            </p:extLst>
          </p:nvPr>
        </p:nvGraphicFramePr>
        <p:xfrm>
          <a:off x="251093" y="6007193"/>
          <a:ext cx="414033" cy="431025"/>
        </p:xfrm>
        <a:graphic>
          <a:graphicData uri="http://schemas.openxmlformats.org/presentationml/2006/ole">
            <mc:AlternateContent xmlns:mc="http://schemas.openxmlformats.org/markup-compatibility/2006">
              <mc:Choice xmlns:v="urn:schemas-microsoft-com:vml" Requires="v">
                <p:oleObj r:id="rId16" imgW="190500" imgH="228600" progId="Equation.3">
                  <p:embed/>
                </p:oleObj>
              </mc:Choice>
              <mc:Fallback>
                <p:oleObj r:id="rId16" imgW="190500" imgH="228600" progId="Equation.3">
                  <p:embed/>
                  <p:pic>
                    <p:nvPicPr>
                      <p:cNvPr id="11" name="Object 10">
                        <a:extLst>
                          <a:ext uri="{FF2B5EF4-FFF2-40B4-BE49-F238E27FC236}">
                            <a16:creationId xmlns:a16="http://schemas.microsoft.com/office/drawing/2014/main" id="{1444C179-9A92-7C74-38DD-093E6A6A65B1}"/>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51093" y="6007193"/>
                        <a:ext cx="414033" cy="431025"/>
                      </a:xfrm>
                      <a:prstGeom prst="rect">
                        <a:avLst/>
                      </a:prstGeom>
                      <a:noFill/>
                    </p:spPr>
                  </p:pic>
                </p:oleObj>
              </mc:Fallback>
            </mc:AlternateContent>
          </a:graphicData>
        </a:graphic>
      </p:graphicFrame>
      <p:sp>
        <p:nvSpPr>
          <p:cNvPr id="12" name="Rectangle 9">
            <a:extLst>
              <a:ext uri="{FF2B5EF4-FFF2-40B4-BE49-F238E27FC236}">
                <a16:creationId xmlns:a16="http://schemas.microsoft.com/office/drawing/2014/main" id="{B93CA923-3F87-08CD-6F6B-6E70CAA1C6B1}"/>
              </a:ext>
            </a:extLst>
          </p:cNvPr>
          <p:cNvSpPr>
            <a:spLocks noChangeArrowheads="1"/>
          </p:cNvSpPr>
          <p:nvPr/>
        </p:nvSpPr>
        <p:spPr bwMode="auto">
          <a:xfrm>
            <a:off x="604997" y="1495628"/>
            <a:ext cx="708719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Bricolage Grotesque Semi Bold" panose="020B0604020202020204" charset="0"/>
                <a:ea typeface="Calibri" panose="020F0502020204030204" pitchFamily="34" charset="0"/>
                <a:cs typeface="Times New Roman" panose="02020603050405020304" pitchFamily="18" charset="0"/>
              </a:rPr>
              <a:t>We use the normalized forward-sensitivity index of a variable, </a:t>
            </a:r>
            <a:endParaRPr kumimoji="0" lang="en-US" altLang="en-US" b="0" i="0" u="none" strike="noStrike" cap="none" normalizeH="0" baseline="0" dirty="0">
              <a:ln>
                <a:noFill/>
              </a:ln>
              <a:solidFill>
                <a:schemeClr val="tx1"/>
              </a:solidFill>
              <a:effectLst/>
              <a:latin typeface="Bricolage Grotesque Semi Bold" panose="020B0604020202020204" charset="0"/>
            </a:endParaRPr>
          </a:p>
        </p:txBody>
      </p:sp>
      <p:sp>
        <p:nvSpPr>
          <p:cNvPr id="13" name="Rectangle 10">
            <a:extLst>
              <a:ext uri="{FF2B5EF4-FFF2-40B4-BE49-F238E27FC236}">
                <a16:creationId xmlns:a16="http://schemas.microsoft.com/office/drawing/2014/main" id="{C49B9DFC-62C0-86C5-E3DE-892A656129EF}"/>
              </a:ext>
            </a:extLst>
          </p:cNvPr>
          <p:cNvSpPr>
            <a:spLocks noChangeArrowheads="1"/>
          </p:cNvSpPr>
          <p:nvPr/>
        </p:nvSpPr>
        <p:spPr bwMode="auto">
          <a:xfrm>
            <a:off x="8221013" y="1426008"/>
            <a:ext cx="358944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Bricolage Grotesque Semi Bold" panose="020B0604020202020204" charset="0"/>
                <a:ea typeface="Calibri" panose="020F0502020204030204" pitchFamily="34" charset="0"/>
                <a:cs typeface="Times New Roman" panose="02020603050405020304" pitchFamily="18" charset="0"/>
              </a:rPr>
              <a:t>, that depends on a parameter</a:t>
            </a:r>
            <a:r>
              <a:rPr kumimoji="0" lang="en-US" altLang="en-US" sz="12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4" name="Rectangle 11">
            <a:extLst>
              <a:ext uri="{FF2B5EF4-FFF2-40B4-BE49-F238E27FC236}">
                <a16:creationId xmlns:a16="http://schemas.microsoft.com/office/drawing/2014/main" id="{0DAC404B-5B97-D681-C114-1A89B7FD42A6}"/>
              </a:ext>
            </a:extLst>
          </p:cNvPr>
          <p:cNvSpPr>
            <a:spLocks noChangeArrowheads="1"/>
          </p:cNvSpPr>
          <p:nvPr/>
        </p:nvSpPr>
        <p:spPr bwMode="auto">
          <a:xfrm>
            <a:off x="841501" y="2203407"/>
            <a:ext cx="6115050"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Bricolage Grotesque Semi Bold" panose="020B0604020202020204" charset="0"/>
                <a:ea typeface="Calibri" panose="020F0502020204030204" pitchFamily="34" charset="0"/>
                <a:cs typeface="Times New Roman" panose="02020603050405020304" pitchFamily="18" charset="0"/>
              </a:rPr>
              <a:t>, which  is expressed as</a:t>
            </a:r>
            <a:r>
              <a:rPr kumimoji="0" lang="en-US" altLang="en-US" sz="12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t>
            </a:r>
            <a:endParaRPr kumimoji="0" lang="en-US" altLang="en-US" sz="13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5" name="Rectangle 12">
            <a:extLst>
              <a:ext uri="{FF2B5EF4-FFF2-40B4-BE49-F238E27FC236}">
                <a16:creationId xmlns:a16="http://schemas.microsoft.com/office/drawing/2014/main" id="{125E7F69-630B-923D-F5B4-C709E66E0A6C}"/>
              </a:ext>
            </a:extLst>
          </p:cNvPr>
          <p:cNvSpPr>
            <a:spLocks noChangeArrowheads="1"/>
          </p:cNvSpPr>
          <p:nvPr/>
        </p:nvSpPr>
        <p:spPr bwMode="auto">
          <a:xfrm>
            <a:off x="600075" y="2751421"/>
            <a:ext cx="101313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Bricolage Grotesque Semi Bold" panose="020B0604020202020204" charset="0"/>
                <a:ea typeface="Calibri" panose="020F0502020204030204" pitchFamily="34" charset="0"/>
                <a:cs typeface="Times New Roman" panose="02020603050405020304" pitchFamily="18" charset="0"/>
              </a:rPr>
              <a:t>In particular, this analysis sought the sensitivity indices of </a:t>
            </a:r>
            <a:r>
              <a:rPr kumimoji="0" lang="en-US" altLang="en-US" b="0" i="0" u="none" strike="noStrike" cap="none" normalizeH="0" baseline="0" dirty="0" err="1">
                <a:ln>
                  <a:noFill/>
                </a:ln>
                <a:solidFill>
                  <a:schemeClr val="tx1"/>
                </a:solidFill>
                <a:effectLst/>
                <a:latin typeface="Bricolage Grotesque Semi Bold" panose="020B0604020202020204" charset="0"/>
                <a:ea typeface="Calibri" panose="020F0502020204030204" pitchFamily="34" charset="0"/>
                <a:cs typeface="Times New Roman" panose="02020603050405020304" pitchFamily="18" charset="0"/>
              </a:rPr>
              <a:t>thebasic</a:t>
            </a:r>
            <a:r>
              <a:rPr kumimoji="0" lang="en-US" altLang="en-US" b="0" i="0" u="none" strike="noStrike" cap="none" normalizeH="0" baseline="0" dirty="0">
                <a:ln>
                  <a:noFill/>
                </a:ln>
                <a:solidFill>
                  <a:schemeClr val="tx1"/>
                </a:solidFill>
                <a:effectLst/>
                <a:latin typeface="Bricolage Grotesque Semi Bold" panose="020B0604020202020204" charset="0"/>
                <a:ea typeface="Calibri" panose="020F0502020204030204" pitchFamily="34" charset="0"/>
                <a:cs typeface="Times New Roman" panose="02020603050405020304" pitchFamily="18" charset="0"/>
              </a:rPr>
              <a:t> reproduction number,</a:t>
            </a:r>
            <a:endParaRPr kumimoji="0" lang="en-US" altLang="en-US" b="0" i="0" u="none" strike="noStrike" cap="none" normalizeH="0" baseline="0" dirty="0">
              <a:ln>
                <a:noFill/>
              </a:ln>
              <a:solidFill>
                <a:schemeClr val="tx1"/>
              </a:solidFill>
              <a:effectLst/>
              <a:latin typeface="Bricolage Grotesque Semi Bold" panose="020B0604020202020204" charset="0"/>
            </a:endParaRPr>
          </a:p>
        </p:txBody>
      </p:sp>
      <p:sp>
        <p:nvSpPr>
          <p:cNvPr id="16" name="Rectangle 13">
            <a:extLst>
              <a:ext uri="{FF2B5EF4-FFF2-40B4-BE49-F238E27FC236}">
                <a16:creationId xmlns:a16="http://schemas.microsoft.com/office/drawing/2014/main" id="{7CC900A6-5197-F0CE-7260-52B1FAAC72C1}"/>
              </a:ext>
            </a:extLst>
          </p:cNvPr>
          <p:cNvSpPr>
            <a:spLocks noChangeArrowheads="1"/>
          </p:cNvSpPr>
          <p:nvPr/>
        </p:nvSpPr>
        <p:spPr bwMode="auto">
          <a:xfrm>
            <a:off x="317972" y="3153219"/>
            <a:ext cx="774923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indent="13335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13335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Bricolage Grotesque Semi Bold" panose="020B0604020202020204" charset="0"/>
                <a:ea typeface="Calibri" panose="020F0502020204030204" pitchFamily="34" charset="0"/>
                <a:cs typeface="Times New Roman" panose="02020603050405020304" pitchFamily="18" charset="0"/>
              </a:rPr>
              <a:t>, with respect to the model parameter of interest to be examined </a:t>
            </a:r>
            <a:endParaRPr kumimoji="0" lang="en-US" altLang="en-US" b="0" i="0" u="none" strike="noStrike" cap="none" normalizeH="0" baseline="0" dirty="0">
              <a:ln>
                <a:noFill/>
              </a:ln>
              <a:solidFill>
                <a:schemeClr val="tx1"/>
              </a:solidFill>
              <a:effectLst/>
              <a:latin typeface="Bricolage Grotesque Semi Bold" panose="020B0604020202020204" charset="0"/>
            </a:endParaRPr>
          </a:p>
          <a:p>
            <a:pPr marL="0" marR="0" lvl="0" indent="133350" algn="just" defTabSz="914400" rtl="0" eaLnBrk="0" fontAlgn="base" latinLnBrk="0" hangingPunct="0">
              <a:lnSpc>
                <a:spcPct val="100000"/>
              </a:lnSpc>
              <a:spcBef>
                <a:spcPct val="0"/>
              </a:spcBef>
              <a:spcAft>
                <a:spcPct val="0"/>
              </a:spcAft>
              <a:buClrTx/>
              <a:buSzTx/>
              <a:buFontTx/>
              <a:buNone/>
              <a:tabLst/>
            </a:pPr>
            <a:r>
              <a:rPr kumimoji="0" lang="en-GB" altLang="en-US" b="0" i="0" u="none" strike="noStrike" cap="none" normalizeH="0" baseline="0" dirty="0">
                <a:ln>
                  <a:noFill/>
                </a:ln>
                <a:solidFill>
                  <a:schemeClr val="tx1"/>
                </a:solidFill>
                <a:effectLst/>
                <a:latin typeface="Bricolage Grotesque Semi Bold" panose="020B0604020202020204" charset="0"/>
                <a:ea typeface="Calibri" panose="020F0502020204030204" pitchFamily="34" charset="0"/>
                <a:cs typeface="Times New Roman" panose="02020603050405020304" pitchFamily="18" charset="0"/>
              </a:rPr>
              <a:t>The positive sign of sensitivity indices of </a:t>
            </a:r>
            <a:endParaRPr kumimoji="0" lang="en-GB" altLang="en-US" b="0" i="0" u="none" strike="noStrike" cap="none" normalizeH="0" baseline="0" dirty="0">
              <a:ln>
                <a:noFill/>
              </a:ln>
              <a:solidFill>
                <a:schemeClr val="tx1"/>
              </a:solidFill>
              <a:effectLst/>
              <a:latin typeface="Bricolage Grotesque Semi Bold" panose="020B0604020202020204" charset="0"/>
            </a:endParaRPr>
          </a:p>
        </p:txBody>
      </p:sp>
      <p:sp>
        <p:nvSpPr>
          <p:cNvPr id="17" name="Rectangle 14">
            <a:extLst>
              <a:ext uri="{FF2B5EF4-FFF2-40B4-BE49-F238E27FC236}">
                <a16:creationId xmlns:a16="http://schemas.microsoft.com/office/drawing/2014/main" id="{8599DC35-38DE-86B7-4113-3A31C9A532F2}"/>
              </a:ext>
            </a:extLst>
          </p:cNvPr>
          <p:cNvSpPr>
            <a:spLocks noChangeArrowheads="1"/>
          </p:cNvSpPr>
          <p:nvPr/>
        </p:nvSpPr>
        <p:spPr bwMode="auto">
          <a:xfrm>
            <a:off x="422747" y="3865600"/>
            <a:ext cx="1446847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133350" algn="just" defTabSz="914400" rtl="0" eaLnBrk="0" fontAlgn="base" latinLnBrk="0" hangingPunct="0">
              <a:lnSpc>
                <a:spcPct val="100000"/>
              </a:lnSpc>
              <a:spcBef>
                <a:spcPct val="0"/>
              </a:spcBef>
              <a:spcAft>
                <a:spcPct val="0"/>
              </a:spcAft>
              <a:buClrTx/>
              <a:buSzTx/>
              <a:buFontTx/>
              <a:buNone/>
              <a:tabLst/>
            </a:pPr>
            <a:r>
              <a:rPr kumimoji="0" lang="en-GB" altLang="en-US" b="0" i="0" u="none" strike="noStrike" cap="none" normalizeH="0" baseline="0" dirty="0">
                <a:ln>
                  <a:noFill/>
                </a:ln>
                <a:solidFill>
                  <a:schemeClr val="tx1"/>
                </a:solidFill>
                <a:effectLst/>
                <a:latin typeface="Bricolage Grotesque Semi Bold" panose="020B0604020202020204" charset="0"/>
                <a:ea typeface="Calibri" panose="020F0502020204030204" pitchFamily="34" charset="0"/>
                <a:cs typeface="Times New Roman" panose="02020603050405020304" pitchFamily="18" charset="0"/>
              </a:rPr>
              <a:t>to the model parameters illustrates that an increase (or decrease) in the value of each of the parameter in the model, </a:t>
            </a:r>
          </a:p>
          <a:p>
            <a:pPr marL="0" marR="0" lvl="0" indent="133350" algn="just" defTabSz="914400" rtl="0" eaLnBrk="0" fontAlgn="base" latinLnBrk="0" hangingPunct="0">
              <a:lnSpc>
                <a:spcPct val="100000"/>
              </a:lnSpc>
              <a:spcBef>
                <a:spcPct val="0"/>
              </a:spcBef>
              <a:spcAft>
                <a:spcPct val="0"/>
              </a:spcAft>
              <a:buClrTx/>
              <a:buSzTx/>
              <a:buFontTx/>
              <a:buNone/>
              <a:tabLst/>
            </a:pPr>
            <a:r>
              <a:rPr kumimoji="0" lang="en-GB" altLang="en-US" b="0" i="0" u="none" strike="noStrike" cap="none" normalizeH="0" baseline="0" dirty="0">
                <a:ln>
                  <a:noFill/>
                </a:ln>
                <a:solidFill>
                  <a:schemeClr val="tx1"/>
                </a:solidFill>
                <a:effectLst/>
                <a:latin typeface="Bricolage Grotesque Semi Bold" panose="020B0604020202020204" charset="0"/>
                <a:ea typeface="Calibri" panose="020F0502020204030204" pitchFamily="34" charset="0"/>
                <a:cs typeface="Times New Roman" panose="02020603050405020304" pitchFamily="18" charset="0"/>
              </a:rPr>
              <a:t>may lead to an increase (or decrease) in </a:t>
            </a:r>
            <a:endParaRPr kumimoji="0" lang="en-GB" altLang="en-US" b="0" i="0" u="none" strike="noStrike" cap="none" normalizeH="0" baseline="0" dirty="0">
              <a:ln>
                <a:noFill/>
              </a:ln>
              <a:solidFill>
                <a:schemeClr val="tx1"/>
              </a:solidFill>
              <a:effectLst/>
              <a:latin typeface="Bricolage Grotesque Semi Bold" panose="020B0604020202020204" charset="0"/>
            </a:endParaRPr>
          </a:p>
        </p:txBody>
      </p:sp>
      <p:sp>
        <p:nvSpPr>
          <p:cNvPr id="18" name="Rectangle 15">
            <a:extLst>
              <a:ext uri="{FF2B5EF4-FFF2-40B4-BE49-F238E27FC236}">
                <a16:creationId xmlns:a16="http://schemas.microsoft.com/office/drawing/2014/main" id="{12A8DDE7-6002-2AE1-745A-45080D48E37F}"/>
              </a:ext>
            </a:extLst>
          </p:cNvPr>
          <p:cNvSpPr>
            <a:spLocks noChangeArrowheads="1"/>
          </p:cNvSpPr>
          <p:nvPr/>
        </p:nvSpPr>
        <p:spPr bwMode="auto">
          <a:xfrm>
            <a:off x="422747" y="4591863"/>
            <a:ext cx="1355531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133350" algn="just" defTabSz="914400" rtl="0" eaLnBrk="0" fontAlgn="base" latinLnBrk="0" hangingPunct="0">
              <a:lnSpc>
                <a:spcPct val="100000"/>
              </a:lnSpc>
              <a:spcBef>
                <a:spcPct val="0"/>
              </a:spcBef>
              <a:spcAft>
                <a:spcPct val="0"/>
              </a:spcAft>
              <a:buClrTx/>
              <a:buSzTx/>
              <a:buFontTx/>
              <a:buNone/>
              <a:tabLst/>
            </a:pPr>
            <a:r>
              <a:rPr kumimoji="0" lang="en-GB" altLang="en-US" sz="12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GB" altLang="en-US" b="0" i="0" u="none" strike="noStrike" cap="none" normalizeH="0" baseline="0" dirty="0">
                <a:ln>
                  <a:noFill/>
                </a:ln>
                <a:solidFill>
                  <a:schemeClr val="tx1"/>
                </a:solidFill>
                <a:effectLst/>
                <a:latin typeface="Bricolage Grotesque Semi Bold" panose="020B0604020202020204" charset="0"/>
                <a:ea typeface="Calibri" panose="020F0502020204030204" pitchFamily="34" charset="0"/>
                <a:cs typeface="Times New Roman" panose="02020603050405020304" pitchFamily="18" charset="0"/>
              </a:rPr>
              <a:t>of the model (2) to (6) and asymptotically result into persistency (or elimination) of the algae lipid produced in the area. </a:t>
            </a:r>
          </a:p>
          <a:p>
            <a:pPr marL="0" marR="0" lvl="0" indent="133350" algn="just" defTabSz="914400" rtl="0" eaLnBrk="0" fontAlgn="base" latinLnBrk="0" hangingPunct="0">
              <a:lnSpc>
                <a:spcPct val="100000"/>
              </a:lnSpc>
              <a:spcBef>
                <a:spcPct val="0"/>
              </a:spcBef>
              <a:spcAft>
                <a:spcPct val="0"/>
              </a:spcAft>
              <a:buClrTx/>
              <a:buSzTx/>
              <a:buFontTx/>
              <a:buNone/>
              <a:tabLst/>
            </a:pPr>
            <a:r>
              <a:rPr kumimoji="0" lang="en-GB" altLang="en-US" b="0" i="0" u="none" strike="noStrike" cap="none" normalizeH="0" baseline="0" dirty="0">
                <a:ln>
                  <a:noFill/>
                </a:ln>
                <a:solidFill>
                  <a:schemeClr val="tx1"/>
                </a:solidFill>
                <a:effectLst/>
                <a:latin typeface="Bricolage Grotesque Semi Bold" panose="020B0604020202020204" charset="0"/>
                <a:ea typeface="Calibri" panose="020F0502020204030204" pitchFamily="34" charset="0"/>
                <a:cs typeface="Times New Roman" panose="02020603050405020304" pitchFamily="18" charset="0"/>
              </a:rPr>
              <a:t>On the contrary, the negative sign of S.I of </a:t>
            </a:r>
            <a:endParaRPr kumimoji="0" lang="en-GB" altLang="en-US" b="0" i="0" u="none" strike="noStrike" cap="none" normalizeH="0" baseline="0" dirty="0">
              <a:ln>
                <a:noFill/>
              </a:ln>
              <a:solidFill>
                <a:schemeClr val="tx1"/>
              </a:solidFill>
              <a:effectLst/>
              <a:latin typeface="Bricolage Grotesque Semi Bold" panose="020B0604020202020204" charset="0"/>
            </a:endParaRPr>
          </a:p>
        </p:txBody>
      </p:sp>
      <p:sp>
        <p:nvSpPr>
          <p:cNvPr id="19" name="Rectangle 16">
            <a:extLst>
              <a:ext uri="{FF2B5EF4-FFF2-40B4-BE49-F238E27FC236}">
                <a16:creationId xmlns:a16="http://schemas.microsoft.com/office/drawing/2014/main" id="{5648CEE5-F65D-8CDB-9A81-3F05B318F090}"/>
              </a:ext>
            </a:extLst>
          </p:cNvPr>
          <p:cNvSpPr>
            <a:spLocks noChangeArrowheads="1"/>
          </p:cNvSpPr>
          <p:nvPr/>
        </p:nvSpPr>
        <p:spPr bwMode="auto">
          <a:xfrm>
            <a:off x="364784" y="5299528"/>
            <a:ext cx="1296380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133350" algn="just" defTabSz="914400" rtl="0" eaLnBrk="0" fontAlgn="base" latinLnBrk="0" hangingPunct="0">
              <a:lnSpc>
                <a:spcPct val="100000"/>
              </a:lnSpc>
              <a:spcBef>
                <a:spcPct val="0"/>
              </a:spcBef>
              <a:spcAft>
                <a:spcPct val="0"/>
              </a:spcAft>
              <a:buClrTx/>
              <a:buSzTx/>
              <a:buFontTx/>
              <a:buNone/>
              <a:tabLst/>
            </a:pPr>
            <a:r>
              <a:rPr kumimoji="0" lang="en-GB" altLang="en-US" b="0" i="0" u="none" strike="noStrike" cap="none" normalizeH="0" baseline="0" dirty="0">
                <a:ln>
                  <a:noFill/>
                </a:ln>
                <a:solidFill>
                  <a:schemeClr val="tx1"/>
                </a:solidFill>
                <a:effectLst/>
                <a:latin typeface="Bricolage Grotesque Semi Bold" panose="020B0604020202020204" charset="0"/>
                <a:ea typeface="Calibri" panose="020F0502020204030204" pitchFamily="34" charset="0"/>
                <a:cs typeface="Times New Roman" panose="02020603050405020304" pitchFamily="18" charset="0"/>
              </a:rPr>
              <a:t>to the model parameter indicates that an increase (or decrease) in the value of each of the parameter in each case</a:t>
            </a:r>
          </a:p>
          <a:p>
            <a:pPr marL="0" marR="0" lvl="0" indent="133350" algn="just" defTabSz="914400" rtl="0" eaLnBrk="0" fontAlgn="base" latinLnBrk="0" hangingPunct="0">
              <a:lnSpc>
                <a:spcPct val="100000"/>
              </a:lnSpc>
              <a:spcBef>
                <a:spcPct val="0"/>
              </a:spcBef>
              <a:spcAft>
                <a:spcPct val="0"/>
              </a:spcAft>
              <a:buClrTx/>
              <a:buSzTx/>
              <a:buFontTx/>
              <a:buNone/>
              <a:tabLst/>
            </a:pPr>
            <a:r>
              <a:rPr kumimoji="0" lang="en-GB" altLang="en-US" b="0" i="0" u="none" strike="noStrike" cap="none" normalizeH="0" baseline="0" dirty="0">
                <a:ln>
                  <a:noFill/>
                </a:ln>
                <a:solidFill>
                  <a:schemeClr val="tx1"/>
                </a:solidFill>
                <a:effectLst/>
                <a:latin typeface="Bricolage Grotesque Semi Bold" panose="020B0604020202020204" charset="0"/>
                <a:ea typeface="Calibri" panose="020F0502020204030204" pitchFamily="34" charset="0"/>
                <a:cs typeface="Times New Roman" panose="02020603050405020304" pitchFamily="18" charset="0"/>
              </a:rPr>
              <a:t> leads to a corresponding decrease (or increase) in </a:t>
            </a:r>
            <a:endParaRPr kumimoji="0" lang="en-GB" altLang="en-US" b="0" i="0" u="none" strike="noStrike" cap="none" normalizeH="0" baseline="0" dirty="0">
              <a:ln>
                <a:noFill/>
              </a:ln>
              <a:solidFill>
                <a:schemeClr val="tx1"/>
              </a:solidFill>
              <a:effectLst/>
              <a:latin typeface="Bricolage Grotesque Semi Bold" panose="020B0604020202020204" charset="0"/>
            </a:endParaRPr>
          </a:p>
        </p:txBody>
      </p:sp>
      <p:sp>
        <p:nvSpPr>
          <p:cNvPr id="20" name="Rectangle 17">
            <a:extLst>
              <a:ext uri="{FF2B5EF4-FFF2-40B4-BE49-F238E27FC236}">
                <a16:creationId xmlns:a16="http://schemas.microsoft.com/office/drawing/2014/main" id="{A744AC4F-FA2D-93BA-D40F-E8A8CE594DBF}"/>
              </a:ext>
            </a:extLst>
          </p:cNvPr>
          <p:cNvSpPr>
            <a:spLocks noChangeArrowheads="1"/>
          </p:cNvSpPr>
          <p:nvPr/>
        </p:nvSpPr>
        <p:spPr bwMode="auto">
          <a:xfrm>
            <a:off x="433182" y="5983041"/>
            <a:ext cx="13580962" cy="881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133350" algn="just" defTabSz="914400" rtl="0" eaLnBrk="0" fontAlgn="base" latinLnBrk="0" hangingPunct="0">
              <a:lnSpc>
                <a:spcPct val="150000"/>
              </a:lnSpc>
              <a:spcBef>
                <a:spcPct val="0"/>
              </a:spcBef>
              <a:spcAft>
                <a:spcPct val="0"/>
              </a:spcAft>
              <a:buClrTx/>
              <a:buSzTx/>
              <a:buFontTx/>
              <a:buNone/>
              <a:tabLst/>
            </a:pPr>
            <a:r>
              <a:rPr kumimoji="0" lang="en-GB" altLang="en-US" sz="14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GB" altLang="en-US" b="0" i="0" u="none" strike="noStrike" cap="none" normalizeH="0" baseline="0" dirty="0">
                <a:ln>
                  <a:noFill/>
                </a:ln>
                <a:solidFill>
                  <a:schemeClr val="tx1"/>
                </a:solidFill>
                <a:effectLst/>
                <a:latin typeface="Bricolage Grotesque Semi Bold" panose="020B0604020202020204" charset="0"/>
                <a:ea typeface="Calibri" panose="020F0502020204030204" pitchFamily="34" charset="0"/>
                <a:cs typeface="Times New Roman" panose="02020603050405020304" pitchFamily="18" charset="0"/>
              </a:rPr>
              <a:t>of the model of (2) to (6). Hence, with sensitivity analysis, one can get insight on the appropriate intervention strategies </a:t>
            </a:r>
          </a:p>
          <a:p>
            <a:pPr marL="0" marR="0" lvl="0" indent="133350" algn="just" defTabSz="914400" rtl="0" eaLnBrk="0" fontAlgn="base" latinLnBrk="0" hangingPunct="0">
              <a:lnSpc>
                <a:spcPct val="150000"/>
              </a:lnSpc>
              <a:spcBef>
                <a:spcPct val="0"/>
              </a:spcBef>
              <a:spcAft>
                <a:spcPct val="0"/>
              </a:spcAft>
              <a:buClrTx/>
              <a:buSzTx/>
              <a:buFontTx/>
              <a:buNone/>
              <a:tabLst/>
            </a:pPr>
            <a:r>
              <a:rPr kumimoji="0" lang="en-GB" altLang="en-US" b="0" i="0" u="none" strike="noStrike" cap="none" normalizeH="0" baseline="0" dirty="0">
                <a:ln>
                  <a:noFill/>
                </a:ln>
                <a:solidFill>
                  <a:schemeClr val="tx1"/>
                </a:solidFill>
                <a:effectLst/>
                <a:latin typeface="Bricolage Grotesque Semi Bold" panose="020B0604020202020204" charset="0"/>
                <a:ea typeface="Calibri" panose="020F0502020204030204" pitchFamily="34" charset="0"/>
                <a:cs typeface="Times New Roman" panose="02020603050405020304" pitchFamily="18" charset="0"/>
              </a:rPr>
              <a:t>to prevent and control the algae lipid production described in the model in equations (2) to (6). </a:t>
            </a:r>
            <a:endParaRPr kumimoji="0" lang="en-GB" altLang="en-US" b="0" i="0" u="none" strike="noStrike" cap="none" normalizeH="0" baseline="0" dirty="0">
              <a:ln>
                <a:noFill/>
              </a:ln>
              <a:solidFill>
                <a:schemeClr val="tx1"/>
              </a:solidFill>
              <a:effectLst/>
              <a:latin typeface="Bricolage Grotesque Semi Bold" panose="020B0604020202020204" charset="0"/>
            </a:endParaRPr>
          </a:p>
        </p:txBody>
      </p:sp>
    </p:spTree>
    <p:extLst>
      <p:ext uri="{BB962C8B-B14F-4D97-AF65-F5344CB8AC3E}">
        <p14:creationId xmlns:p14="http://schemas.microsoft.com/office/powerpoint/2010/main" val="28903167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Single Corner Rounded 1">
            <a:extLst>
              <a:ext uri="{FF2B5EF4-FFF2-40B4-BE49-F238E27FC236}">
                <a16:creationId xmlns:a16="http://schemas.microsoft.com/office/drawing/2014/main" id="{ABA63EB7-E97D-4870-0BE1-D3BD96395BAC}"/>
              </a:ext>
            </a:extLst>
          </p:cNvPr>
          <p:cNvSpPr/>
          <p:nvPr/>
        </p:nvSpPr>
        <p:spPr>
          <a:xfrm>
            <a:off x="293915" y="228599"/>
            <a:ext cx="5159828" cy="816429"/>
          </a:xfrm>
          <a:prstGeom prst="round1Rect">
            <a:avLst/>
          </a:prstGeom>
        </p:spPr>
        <p:style>
          <a:lnRef idx="3">
            <a:schemeClr val="lt1"/>
          </a:lnRef>
          <a:fillRef idx="1">
            <a:schemeClr val="accent2"/>
          </a:fillRef>
          <a:effectRef idx="1">
            <a:schemeClr val="accent2"/>
          </a:effectRef>
          <a:fontRef idx="minor">
            <a:schemeClr val="lt1"/>
          </a:fontRef>
        </p:style>
        <p:txBody>
          <a:bodyPr rtlCol="0" anchor="ctr"/>
          <a:lstStyle/>
          <a:p>
            <a:pPr marL="0" marR="0">
              <a:lnSpc>
                <a:spcPct val="200000"/>
              </a:lnSpc>
              <a:spcBef>
                <a:spcPts val="0"/>
              </a:spcBef>
              <a:spcAft>
                <a:spcPts val="0"/>
              </a:spcAft>
            </a:pPr>
            <a:r>
              <a:rPr lang="en-US" sz="1800" b="1" spc="-20" dirty="0">
                <a:solidFill>
                  <a:schemeClr val="accent5">
                    <a:lumMod val="75000"/>
                  </a:schemeClr>
                </a:solidFill>
                <a:effectLst/>
                <a:latin typeface="Bricolage Grotesque Semi Bold" panose="020B0604020202020204" charset="0"/>
                <a:ea typeface="Calibri" panose="020F0502020204030204" pitchFamily="34" charset="0"/>
                <a:cs typeface="Calibri" panose="020F0502020204030204" pitchFamily="34" charset="0"/>
              </a:rPr>
              <a:t>4.9 	Model Simulation and Explanation</a:t>
            </a:r>
            <a:endParaRPr lang="en-US" sz="1800" dirty="0">
              <a:solidFill>
                <a:schemeClr val="accent5">
                  <a:lumMod val="75000"/>
                </a:schemeClr>
              </a:solidFill>
              <a:effectLst/>
              <a:latin typeface="Bricolage Grotesque Semi Bold" panose="020B0604020202020204" charset="0"/>
              <a:ea typeface="Calibri" panose="020F0502020204030204" pitchFamily="34" charset="0"/>
            </a:endParaRPr>
          </a:p>
        </p:txBody>
      </p:sp>
      <p:sp>
        <p:nvSpPr>
          <p:cNvPr id="3" name="Rectangle: Single Corner Rounded 2">
            <a:extLst>
              <a:ext uri="{FF2B5EF4-FFF2-40B4-BE49-F238E27FC236}">
                <a16:creationId xmlns:a16="http://schemas.microsoft.com/office/drawing/2014/main" id="{D2B71B2B-D144-496B-2396-F1DC9F72A533}"/>
              </a:ext>
            </a:extLst>
          </p:cNvPr>
          <p:cNvSpPr/>
          <p:nvPr/>
        </p:nvSpPr>
        <p:spPr>
          <a:xfrm>
            <a:off x="0" y="1045028"/>
            <a:ext cx="13569043" cy="1110342"/>
          </a:xfrm>
          <a:prstGeom prst="round1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228600" algn="just">
              <a:spcBef>
                <a:spcPts val="0"/>
              </a:spcBef>
              <a:spcAft>
                <a:spcPts val="0"/>
              </a:spcAft>
            </a:pPr>
            <a:r>
              <a:rPr lang="en-US" sz="1800" dirty="0">
                <a:effectLst/>
                <a:latin typeface="Bricolage Grotesque Semi Bold" panose="020B0604020202020204" charset="0"/>
                <a:ea typeface="Calibri" panose="020F0502020204030204" pitchFamily="34" charset="0"/>
                <a:cs typeface="Calibri" panose="020F0502020204030204" pitchFamily="34" charset="0"/>
              </a:rPr>
              <a:t>Here, we verified the mathematical representation for our algae lipid production dynamics by varying parameters to get a deeper understanding of how different parameters influence the production of algae lipid.</a:t>
            </a:r>
            <a:endParaRPr lang="en-US" sz="1800" dirty="0">
              <a:effectLst/>
              <a:latin typeface="Bricolage Grotesque Semi Bold" panose="020B0604020202020204" charset="0"/>
              <a:ea typeface="Calibri" panose="020F0502020204030204" pitchFamily="34" charset="0"/>
            </a:endParaRPr>
          </a:p>
        </p:txBody>
      </p:sp>
      <p:pic>
        <p:nvPicPr>
          <p:cNvPr id="4" name="Picture 3">
            <a:extLst>
              <a:ext uri="{FF2B5EF4-FFF2-40B4-BE49-F238E27FC236}">
                <a16:creationId xmlns:a16="http://schemas.microsoft.com/office/drawing/2014/main" id="{099A17CB-6210-17DF-043E-2A2745AAD470}"/>
              </a:ext>
            </a:extLst>
          </p:cNvPr>
          <p:cNvPicPr>
            <a:picLocks noChangeAspect="1"/>
          </p:cNvPicPr>
          <p:nvPr/>
        </p:nvPicPr>
        <p:blipFill>
          <a:blip r:embed="rId3"/>
          <a:stretch>
            <a:fillRect/>
          </a:stretch>
        </p:blipFill>
        <p:spPr>
          <a:xfrm>
            <a:off x="694781" y="2428738"/>
            <a:ext cx="8416562" cy="4200662"/>
          </a:xfrm>
          <a:prstGeom prst="rect">
            <a:avLst/>
          </a:prstGeom>
        </p:spPr>
      </p:pic>
      <p:sp>
        <p:nvSpPr>
          <p:cNvPr id="5" name="Text Box 129">
            <a:extLst>
              <a:ext uri="{FF2B5EF4-FFF2-40B4-BE49-F238E27FC236}">
                <a16:creationId xmlns:a16="http://schemas.microsoft.com/office/drawing/2014/main" id="{902EFF40-E0EA-F135-E150-84FA91160594}"/>
              </a:ext>
            </a:extLst>
          </p:cNvPr>
          <p:cNvSpPr txBox="1"/>
          <p:nvPr/>
        </p:nvSpPr>
        <p:spPr>
          <a:xfrm>
            <a:off x="1009379" y="6902768"/>
            <a:ext cx="6145530" cy="42926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Figure 4.1: Graph showing the Sensitivity index analysis of the R</a:t>
            </a:r>
            <a:r>
              <a:rPr lang="en-US" sz="1100" baseline="-25000" dirty="0">
                <a:effectLst/>
                <a:latin typeface="Calibri" panose="020F0502020204030204" pitchFamily="34" charset="0"/>
                <a:ea typeface="Calibri" panose="020F0502020204030204" pitchFamily="34" charset="0"/>
                <a:cs typeface="Times New Roman" panose="02020603050405020304" pitchFamily="18" charset="0"/>
              </a:rPr>
              <a:t>0</a:t>
            </a:r>
            <a:r>
              <a:rPr lang="en-US" sz="1100" dirty="0">
                <a:effectLst/>
                <a:latin typeface="Calibri" panose="020F0502020204030204" pitchFamily="34" charset="0"/>
                <a:ea typeface="Calibri" panose="020F0502020204030204" pitchFamily="34" charset="0"/>
                <a:cs typeface="Times New Roman" panose="02020603050405020304" pitchFamily="18" charset="0"/>
              </a:rPr>
              <a:t> for our proposed model. </a:t>
            </a:r>
          </a:p>
        </p:txBody>
      </p:sp>
      <p:sp>
        <p:nvSpPr>
          <p:cNvPr id="6" name="Rectangle: Single Corner Rounded 5">
            <a:extLst>
              <a:ext uri="{FF2B5EF4-FFF2-40B4-BE49-F238E27FC236}">
                <a16:creationId xmlns:a16="http://schemas.microsoft.com/office/drawing/2014/main" id="{780AEAEB-EF5F-360B-8859-40C2EBD0C042}"/>
              </a:ext>
            </a:extLst>
          </p:cNvPr>
          <p:cNvSpPr/>
          <p:nvPr/>
        </p:nvSpPr>
        <p:spPr>
          <a:xfrm>
            <a:off x="9381582" y="2200136"/>
            <a:ext cx="4171133" cy="5376322"/>
          </a:xfrm>
          <a:prstGeom prst="round1Rect">
            <a:avLst>
              <a:gd name="adj" fmla="val 1627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285750" algn="just">
              <a:lnSpc>
                <a:spcPct val="150000"/>
              </a:lnSpc>
              <a:spcBef>
                <a:spcPts val="0"/>
              </a:spcBef>
              <a:spcAft>
                <a:spcPts val="0"/>
              </a:spcAft>
            </a:pPr>
            <a:r>
              <a:rPr lang="en-US" sz="1800" spc="-20" dirty="0">
                <a:effectLst/>
                <a:latin typeface="Times New Roman" panose="02020603050405020304" pitchFamily="18" charset="0"/>
                <a:ea typeface="Calibri" panose="020F0502020204030204" pitchFamily="34" charset="0"/>
                <a:cs typeface="Calibri" panose="020F0502020204030204" pitchFamily="34" charset="0"/>
              </a:rPr>
              <a:t>Figure 4.1 presents a bar plot graph of the sensitivity index, illustrating how small changes in different model parameters can help predict their impact on the average lipid production output (R₀) in algae. The green represents positive bar plots, which indicate that increasing these positive parameters will increase lipid production. In contrast, the negative bar plots are given a red color, meaning that increasing this parameter will decrease lipid production, and vice versa.</a:t>
            </a:r>
            <a:endParaRPr lang="en-US" sz="1800" dirty="0">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41455502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841048C-B048-34A6-F5BB-D7EBF59A3A5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10201" y="597308"/>
            <a:ext cx="6180455" cy="5770835"/>
          </a:xfrm>
          <a:prstGeom prst="rect">
            <a:avLst/>
          </a:prstGeom>
          <a:noFill/>
          <a:ln>
            <a:noFill/>
          </a:ln>
        </p:spPr>
      </p:pic>
      <mc:AlternateContent xmlns:mc="http://schemas.openxmlformats.org/markup-compatibility/2006" xmlns:a14="http://schemas.microsoft.com/office/drawing/2010/main">
        <mc:Choice Requires="a14">
          <p:sp>
            <p:nvSpPr>
              <p:cNvPr id="3" name="Text Box 116">
                <a:extLst>
                  <a:ext uri="{FF2B5EF4-FFF2-40B4-BE49-F238E27FC236}">
                    <a16:creationId xmlns:a16="http://schemas.microsoft.com/office/drawing/2014/main" id="{B15AD655-5336-DD29-CF5D-87BFA0A3685E}"/>
                  </a:ext>
                </a:extLst>
              </p:cNvPr>
              <p:cNvSpPr txBox="1">
                <a:spLocks noChangeArrowheads="1"/>
              </p:cNvSpPr>
              <p:nvPr/>
            </p:nvSpPr>
            <p:spPr bwMode="auto">
              <a:xfrm>
                <a:off x="1300843" y="6840992"/>
                <a:ext cx="3276600" cy="295275"/>
              </a:xfrm>
              <a:prstGeom prst="rect">
                <a:avLst/>
              </a:prstGeom>
              <a:solidFill>
                <a:srgbClr val="FFFFFF"/>
              </a:solidFill>
              <a:ln w="9525">
                <a:solidFill>
                  <a:srgbClr val="FFFFFF"/>
                </a:solidFill>
                <a:miter lim="800000"/>
                <a:headEnd/>
                <a:tailEnd/>
              </a:ln>
            </p:spPr>
            <p:txBody>
              <a:bodyPr rot="0" vert="horz" wrap="square" lIns="91440" tIns="45720" rIns="91440" bIns="45720" anchor="t" anchorCtr="0" upright="1">
                <a:noAutofit/>
              </a:bodyPr>
              <a:lstStyle/>
              <a:p>
                <a:pPr marL="0" marR="0">
                  <a:lnSpc>
                    <a:spcPct val="107000"/>
                  </a:lnSpc>
                  <a:spcBef>
                    <a:spcPts val="0"/>
                  </a:spcBef>
                  <a:spcAft>
                    <a:spcPts val="800"/>
                  </a:spcAft>
                </a:pPr>
                <a:r>
                  <a:rPr lang="en-US" sz="1300">
                    <a:effectLst/>
                    <a:latin typeface="Calibri" panose="020F0502020204030204" pitchFamily="34" charset="0"/>
                    <a:ea typeface="Calibri" panose="020F0502020204030204" pitchFamily="34" charset="0"/>
                    <a:cs typeface="Times New Roman" panose="02020603050405020304" pitchFamily="18" charset="0"/>
                  </a:rPr>
                  <a:t>Fig 2: Relationship between </a:t>
                </a:r>
                <a14:m>
                  <m:oMath xmlns:m="http://schemas.openxmlformats.org/officeDocument/2006/math">
                    <m:r>
                      <a:rPr lang="en-US" sz="1300" i="1">
                        <a:effectLst/>
                        <a:latin typeface="Cambria Math" panose="02040503050406030204" pitchFamily="18" charset="0"/>
                        <a:ea typeface="Calibri" panose="020F0502020204030204" pitchFamily="34" charset="0"/>
                        <a:cs typeface="Times New Roman" panose="02020603050405020304" pitchFamily="18" charset="0"/>
                      </a:rPr>
                      <m:t>Ʌ , </m:t>
                    </m:r>
                    <m:r>
                      <a:rPr lang="en-US" sz="1300" i="1">
                        <a:effectLst/>
                        <a:latin typeface="Cambria Math" panose="02040503050406030204" pitchFamily="18" charset="0"/>
                        <a:ea typeface="Calibri" panose="020F0502020204030204" pitchFamily="34" charset="0"/>
                        <a:cs typeface="Times New Roman" panose="02020603050405020304" pitchFamily="18" charset="0"/>
                      </a:rPr>
                      <m:t>𝛽</m:t>
                    </m:r>
                  </m:oMath>
                </a14:m>
                <a:r>
                  <a:rPr lang="en-US" sz="1300">
                    <a:effectLst/>
                    <a:latin typeface="Calibri" panose="020F0502020204030204" pitchFamily="34" charset="0"/>
                    <a:ea typeface="Calibri" panose="020F0502020204030204" pitchFamily="34" charset="0"/>
                    <a:cs typeface="Times New Roman" panose="02020603050405020304" pitchFamily="18" charset="0"/>
                  </a:rPr>
                  <a:t> and R</a:t>
                </a:r>
                <a:r>
                  <a:rPr lang="en-US" sz="1300" baseline="-25000">
                    <a:effectLst/>
                    <a:latin typeface="Calibri" panose="020F0502020204030204" pitchFamily="34" charset="0"/>
                    <a:ea typeface="Calibri" panose="020F0502020204030204" pitchFamily="34" charset="0"/>
                    <a:cs typeface="Times New Roman" panose="02020603050405020304" pitchFamily="18" charset="0"/>
                  </a:rPr>
                  <a:t>0</a:t>
                </a:r>
                <a:r>
                  <a:rPr lang="en-US" sz="1300">
                    <a:effectLst/>
                    <a:latin typeface="Calibri" panose="020F0502020204030204" pitchFamily="34" charset="0"/>
                    <a:ea typeface="Calibri" panose="020F0502020204030204" pitchFamily="34" charset="0"/>
                    <a:cs typeface="Times New Roman" panose="02020603050405020304" pitchFamily="18" charset="0"/>
                  </a:rPr>
                  <a: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3" name="Text Box 116">
                <a:extLst>
                  <a:ext uri="{FF2B5EF4-FFF2-40B4-BE49-F238E27FC236}">
                    <a16:creationId xmlns:a16="http://schemas.microsoft.com/office/drawing/2014/main" id="{B15AD655-5336-DD29-CF5D-87BFA0A3685E}"/>
                  </a:ext>
                </a:extLst>
              </p:cNvPr>
              <p:cNvSpPr txBox="1">
                <a:spLocks noRot="1" noChangeAspect="1" noMove="1" noResize="1" noEditPoints="1" noAdjustHandles="1" noChangeArrowheads="1" noChangeShapeType="1" noTextEdit="1"/>
              </p:cNvSpPr>
              <p:nvPr/>
            </p:nvSpPr>
            <p:spPr bwMode="auto">
              <a:xfrm>
                <a:off x="1300843" y="6840992"/>
                <a:ext cx="3276600" cy="295275"/>
              </a:xfrm>
              <a:prstGeom prst="rect">
                <a:avLst/>
              </a:prstGeom>
              <a:blipFill>
                <a:blip r:embed="rId3"/>
                <a:stretch>
                  <a:fillRect b="-13725"/>
                </a:stretch>
              </a:blipFill>
              <a:ln w="9525">
                <a:solidFill>
                  <a:srgbClr val="FFFFFF"/>
                </a:solidFill>
                <a:miter lim="800000"/>
                <a:headEnd/>
                <a:tailEnd/>
              </a:ln>
            </p:spPr>
            <p:txBody>
              <a:bodyPr/>
              <a:lstStyle/>
              <a:p>
                <a:r>
                  <a:rPr lang="en-US">
                    <a:noFill/>
                  </a:rPr>
                  <a:t> </a:t>
                </a:r>
              </a:p>
            </p:txBody>
          </p:sp>
        </mc:Fallback>
      </mc:AlternateContent>
      <p:sp>
        <p:nvSpPr>
          <p:cNvPr id="4" name="Rectangle: Single Corner Rounded 3">
            <a:extLst>
              <a:ext uri="{FF2B5EF4-FFF2-40B4-BE49-F238E27FC236}">
                <a16:creationId xmlns:a16="http://schemas.microsoft.com/office/drawing/2014/main" id="{67DF3FCF-6FF0-57DB-F4D8-2F590ED325A1}"/>
              </a:ext>
            </a:extLst>
          </p:cNvPr>
          <p:cNvSpPr/>
          <p:nvPr/>
        </p:nvSpPr>
        <p:spPr>
          <a:xfrm>
            <a:off x="7402286" y="359911"/>
            <a:ext cx="5927271" cy="6628718"/>
          </a:xfrm>
          <a:prstGeom prst="round1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347345" algn="just">
              <a:lnSpc>
                <a:spcPct val="200000"/>
              </a:lnSpc>
              <a:spcBef>
                <a:spcPts val="0"/>
              </a:spcBef>
              <a:spcAft>
                <a:spcPts val="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In Fig. 2, we try to visualize the relationship between the parameters, Ʌ and β with respect to a given R0 value. The graph then shows us how β, which is the lipid transmission rate, makes us understand how efficient the algae are at producing lipid oil. Also, Λ, which is the new algae recruitment rate, tells us how many new algae contribute to the production of lipid in the lipid production system each day. Once either Ʌ, or β value goes down, Lipid production will decline over time because each productive algae cell does not replace itself with at least one equally productive cell. Eventually, production will stop.</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113788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32077F0-7D6E-4576-AE27-4DEBC14753B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36814" y="353786"/>
            <a:ext cx="6947898" cy="5900057"/>
          </a:xfrm>
          <a:prstGeom prst="rect">
            <a:avLst/>
          </a:prstGeom>
          <a:noFill/>
          <a:ln>
            <a:noFill/>
          </a:ln>
        </p:spPr>
      </p:pic>
      <mc:AlternateContent xmlns:mc="http://schemas.openxmlformats.org/markup-compatibility/2006" xmlns:a14="http://schemas.microsoft.com/office/drawing/2010/main">
        <mc:Choice Requires="a14">
          <p:sp>
            <p:nvSpPr>
              <p:cNvPr id="3" name="Text Box 52">
                <a:extLst>
                  <a:ext uri="{FF2B5EF4-FFF2-40B4-BE49-F238E27FC236}">
                    <a16:creationId xmlns:a16="http://schemas.microsoft.com/office/drawing/2014/main" id="{06C51250-2C50-E3E8-9076-732325CDA575}"/>
                  </a:ext>
                </a:extLst>
              </p:cNvPr>
              <p:cNvSpPr txBox="1">
                <a:spLocks noChangeArrowheads="1"/>
              </p:cNvSpPr>
              <p:nvPr/>
            </p:nvSpPr>
            <p:spPr bwMode="auto">
              <a:xfrm>
                <a:off x="834163" y="6383792"/>
                <a:ext cx="3276600" cy="295275"/>
              </a:xfrm>
              <a:prstGeom prst="rect">
                <a:avLst/>
              </a:prstGeom>
              <a:solidFill>
                <a:srgbClr val="FFFFFF"/>
              </a:solidFill>
              <a:ln w="9525">
                <a:solidFill>
                  <a:srgbClr val="FFFFFF"/>
                </a:solidFill>
                <a:miter lim="800000"/>
                <a:headEnd/>
                <a:tailEnd/>
              </a:ln>
            </p:spPr>
            <p:txBody>
              <a:bodyPr rot="0" vert="horz" wrap="square" lIns="91440" tIns="45720" rIns="91440" bIns="45720" anchor="t" anchorCtr="0" upright="1">
                <a:noAutofit/>
              </a:bodyPr>
              <a:lstStyle/>
              <a:p>
                <a:pPr marL="0" marR="0">
                  <a:lnSpc>
                    <a:spcPct val="107000"/>
                  </a:lnSpc>
                  <a:spcBef>
                    <a:spcPts val="0"/>
                  </a:spcBef>
                  <a:spcAft>
                    <a:spcPts val="800"/>
                  </a:spcAft>
                </a:pPr>
                <a:r>
                  <a:rPr lang="en-US" sz="1300">
                    <a:effectLst/>
                    <a:latin typeface="Calibri" panose="020F0502020204030204" pitchFamily="34" charset="0"/>
                    <a:ea typeface="Calibri" panose="020F0502020204030204" pitchFamily="34" charset="0"/>
                    <a:cs typeface="Times New Roman" panose="02020603050405020304" pitchFamily="18" charset="0"/>
                  </a:rPr>
                  <a:t>Fig 3: Relationship between </a:t>
                </a:r>
                <a14:m>
                  <m:oMath xmlns:m="http://schemas.openxmlformats.org/officeDocument/2006/math">
                    <m:r>
                      <a:rPr lang="en-US" sz="1300" i="1">
                        <a:effectLst/>
                        <a:latin typeface="Cambria Math" panose="02040503050406030204" pitchFamily="18" charset="0"/>
                        <a:ea typeface="Calibri" panose="020F0502020204030204" pitchFamily="34" charset="0"/>
                        <a:cs typeface="Times New Roman" panose="02020603050405020304" pitchFamily="18" charset="0"/>
                      </a:rPr>
                      <m:t> </m:t>
                    </m:r>
                    <m:r>
                      <a:rPr lang="en-US" sz="1200" i="1">
                        <a:effectLst/>
                        <a:latin typeface="Cambria Math" panose="02040503050406030204" pitchFamily="18" charset="0"/>
                        <a:ea typeface="Calibri" panose="020F0502020204030204" pitchFamily="34" charset="0"/>
                        <a:cs typeface="Times New Roman" panose="02020603050405020304" pitchFamily="18" charset="0"/>
                      </a:rPr>
                      <m:t>𝜇</m:t>
                    </m:r>
                    <m:r>
                      <a:rPr lang="en-US" sz="1300" i="1">
                        <a:effectLst/>
                        <a:latin typeface="Cambria Math" panose="02040503050406030204" pitchFamily="18" charset="0"/>
                        <a:ea typeface="Calibri" panose="020F0502020204030204" pitchFamily="34" charset="0"/>
                        <a:cs typeface="Times New Roman" panose="02020603050405020304" pitchFamily="18" charset="0"/>
                      </a:rPr>
                      <m:t> , </m:t>
                    </m:r>
                    <m:r>
                      <a:rPr lang="en-US" sz="1300" i="1">
                        <a:effectLst/>
                        <a:latin typeface="Cambria Math" panose="02040503050406030204" pitchFamily="18" charset="0"/>
                        <a:ea typeface="Calibri" panose="020F0502020204030204" pitchFamily="34" charset="0"/>
                        <a:cs typeface="Times New Roman" panose="02020603050405020304" pitchFamily="18" charset="0"/>
                      </a:rPr>
                      <m:t>𝛽</m:t>
                    </m:r>
                  </m:oMath>
                </a14:m>
                <a:r>
                  <a:rPr lang="en-US" sz="1300">
                    <a:effectLst/>
                    <a:latin typeface="Calibri" panose="020F0502020204030204" pitchFamily="34" charset="0"/>
                    <a:ea typeface="Calibri" panose="020F0502020204030204" pitchFamily="34" charset="0"/>
                    <a:cs typeface="Times New Roman" panose="02020603050405020304" pitchFamily="18" charset="0"/>
                  </a:rPr>
                  <a:t> and R</a:t>
                </a:r>
                <a:r>
                  <a:rPr lang="en-US" sz="1300" baseline="-25000">
                    <a:effectLst/>
                    <a:latin typeface="Calibri" panose="020F0502020204030204" pitchFamily="34" charset="0"/>
                    <a:ea typeface="Calibri" panose="020F0502020204030204" pitchFamily="34" charset="0"/>
                    <a:cs typeface="Times New Roman" panose="02020603050405020304" pitchFamily="18" charset="0"/>
                  </a:rPr>
                  <a:t>0</a:t>
                </a:r>
                <a:r>
                  <a:rPr lang="en-US" sz="1300">
                    <a:effectLst/>
                    <a:latin typeface="Calibri" panose="020F0502020204030204" pitchFamily="34" charset="0"/>
                    <a:ea typeface="Calibri" panose="020F0502020204030204" pitchFamily="34" charset="0"/>
                    <a:cs typeface="Times New Roman" panose="02020603050405020304" pitchFamily="18" charset="0"/>
                  </a:rPr>
                  <a: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3" name="Text Box 52">
                <a:extLst>
                  <a:ext uri="{FF2B5EF4-FFF2-40B4-BE49-F238E27FC236}">
                    <a16:creationId xmlns:a16="http://schemas.microsoft.com/office/drawing/2014/main" id="{06C51250-2C50-E3E8-9076-732325CDA575}"/>
                  </a:ext>
                </a:extLst>
              </p:cNvPr>
              <p:cNvSpPr txBox="1">
                <a:spLocks noRot="1" noChangeAspect="1" noMove="1" noResize="1" noEditPoints="1" noAdjustHandles="1" noChangeArrowheads="1" noChangeShapeType="1" noTextEdit="1"/>
              </p:cNvSpPr>
              <p:nvPr/>
            </p:nvSpPr>
            <p:spPr bwMode="auto">
              <a:xfrm>
                <a:off x="834163" y="6383792"/>
                <a:ext cx="3276600" cy="295275"/>
              </a:xfrm>
              <a:prstGeom prst="rect">
                <a:avLst/>
              </a:prstGeom>
              <a:blipFill>
                <a:blip r:embed="rId3"/>
                <a:stretch>
                  <a:fillRect l="-186" b="-13725"/>
                </a:stretch>
              </a:blipFill>
              <a:ln w="9525">
                <a:solidFill>
                  <a:srgbClr val="FFFFFF"/>
                </a:solidFill>
                <a:miter lim="800000"/>
                <a:headEnd/>
                <a:tailEnd/>
              </a:ln>
            </p:spPr>
            <p:txBody>
              <a:bodyPr/>
              <a:lstStyle/>
              <a:p>
                <a:r>
                  <a:rPr lang="en-US">
                    <a:noFill/>
                  </a:rPr>
                  <a:t> </a:t>
                </a:r>
              </a:p>
            </p:txBody>
          </p:sp>
        </mc:Fallback>
      </mc:AlternateContent>
      <p:sp>
        <p:nvSpPr>
          <p:cNvPr id="4" name="Rectangle 3">
            <a:extLst>
              <a:ext uri="{FF2B5EF4-FFF2-40B4-BE49-F238E27FC236}">
                <a16:creationId xmlns:a16="http://schemas.microsoft.com/office/drawing/2014/main" id="{884484EB-A523-D02B-7455-67E8F713F18B}"/>
              </a:ext>
            </a:extLst>
          </p:cNvPr>
          <p:cNvSpPr/>
          <p:nvPr/>
        </p:nvSpPr>
        <p:spPr>
          <a:xfrm>
            <a:off x="7984671" y="-2"/>
            <a:ext cx="5666015" cy="65532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a:lnSpc>
                <a:spcPct val="200000"/>
              </a:lnSpc>
              <a:spcBef>
                <a:spcPts val="0"/>
              </a:spcBef>
              <a:spcAft>
                <a:spcPts val="0"/>
              </a:spcAft>
            </a:pPr>
            <a:r>
              <a:rPr lang="en-US" sz="1800">
                <a:effectLst/>
                <a:latin typeface="Times New Roman" panose="02020603050405020304" pitchFamily="18" charset="0"/>
                <a:ea typeface="Calibri" panose="020F0502020204030204" pitchFamily="34" charset="0"/>
                <a:cs typeface="Times New Roman" panose="02020603050405020304" pitchFamily="18" charset="0"/>
              </a:rPr>
              <a:t>From Fig. 3, we have a plot for the algae lipid production dynamics model. This plot shows the relationship between "μ", "β", and " R</a:t>
            </a:r>
            <a:r>
              <a:rPr lang="en-US" sz="1800" baseline="-25000">
                <a:effectLst/>
                <a:latin typeface="Times New Roman" panose="02020603050405020304" pitchFamily="18" charset="0"/>
                <a:ea typeface="Calibri" panose="020F0502020204030204" pitchFamily="34" charset="0"/>
                <a:cs typeface="Times New Roman" panose="02020603050405020304" pitchFamily="18" charset="0"/>
              </a:rPr>
              <a:t>0</a:t>
            </a:r>
            <a:r>
              <a:rPr lang="en-US" sz="1800">
                <a:effectLst/>
                <a:latin typeface="Times New Roman" panose="02020603050405020304" pitchFamily="18" charset="0"/>
                <a:ea typeface="Calibri" panose="020F0502020204030204" pitchFamily="34" charset="0"/>
                <a:cs typeface="Times New Roman" panose="02020603050405020304" pitchFamily="18" charset="0"/>
              </a:rPr>
              <a:t>" as we try to visualize their behavior as the values of each of them change. This graphical representation of our algae model tells us that to maximize algae lipid production, the single most important thing to focus on is optimizing the algae's environment for growth (β). This means ensuring they have perfect access to light, carbon dioxide, and other nutrients. While keeping the algae healthy to minimize death (μ) is still important, the gains from making them grow efficiently are far more significant.</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200000"/>
              </a:lnSpc>
              <a:spcBef>
                <a:spcPts val="0"/>
              </a:spcBef>
              <a:spcAft>
                <a:spcPts val="0"/>
              </a:spcAft>
            </a:pPr>
            <a:r>
              <a:rPr lang="en-US" sz="180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3277488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9E75554-75A6-DC28-9C81-C3BAC4A41AA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54466" y="637494"/>
            <a:ext cx="6013677" cy="6072869"/>
          </a:xfrm>
          <a:prstGeom prst="rect">
            <a:avLst/>
          </a:prstGeom>
          <a:noFill/>
          <a:ln>
            <a:noFill/>
          </a:ln>
        </p:spPr>
      </p:pic>
      <p:sp>
        <p:nvSpPr>
          <p:cNvPr id="3" name="Text Box 48">
            <a:extLst>
              <a:ext uri="{FF2B5EF4-FFF2-40B4-BE49-F238E27FC236}">
                <a16:creationId xmlns:a16="http://schemas.microsoft.com/office/drawing/2014/main" id="{C772F547-76A9-36B5-1BE2-8E2591B9E7A5}"/>
              </a:ext>
            </a:extLst>
          </p:cNvPr>
          <p:cNvSpPr txBox="1">
            <a:spLocks noChangeArrowheads="1"/>
          </p:cNvSpPr>
          <p:nvPr/>
        </p:nvSpPr>
        <p:spPr bwMode="auto">
          <a:xfrm>
            <a:off x="1170214" y="6710363"/>
            <a:ext cx="3276600" cy="295275"/>
          </a:xfrm>
          <a:prstGeom prst="rect">
            <a:avLst/>
          </a:prstGeom>
          <a:solidFill>
            <a:srgbClr val="FFFFFF"/>
          </a:solidFill>
          <a:ln w="9525">
            <a:solidFill>
              <a:srgbClr val="FFFFFF"/>
            </a:solidFill>
            <a:miter lim="800000"/>
            <a:headEnd/>
            <a:tailEnd/>
          </a:ln>
        </p:spPr>
        <p:txBody>
          <a:bodyPr rot="0" vert="horz" wrap="square" lIns="91440" tIns="45720" rIns="91440" bIns="45720" anchor="t" anchorCtr="0" upright="1">
            <a:noAutofit/>
          </a:bodyPr>
          <a:lstStyle/>
          <a:p>
            <a:pPr marL="0" marR="0">
              <a:lnSpc>
                <a:spcPct val="107000"/>
              </a:lnSpc>
              <a:spcBef>
                <a:spcPts val="0"/>
              </a:spcBef>
              <a:spcAft>
                <a:spcPts val="800"/>
              </a:spcAft>
            </a:pPr>
            <a:r>
              <a:rPr lang="en-US" sz="1300" dirty="0">
                <a:effectLst/>
                <a:latin typeface="Calibri" panose="020F0502020204030204" pitchFamily="34" charset="0"/>
                <a:ea typeface="Calibri" panose="020F0502020204030204" pitchFamily="34" charset="0"/>
                <a:cs typeface="Times New Roman" panose="02020603050405020304" pitchFamily="18" charset="0"/>
              </a:rPr>
              <a:t>Fig 4: Graph of the Phase plot of E against H</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Rectangle 3">
            <a:extLst>
              <a:ext uri="{FF2B5EF4-FFF2-40B4-BE49-F238E27FC236}">
                <a16:creationId xmlns:a16="http://schemas.microsoft.com/office/drawing/2014/main" id="{6B8E07B1-3BBC-2F03-CC1C-4BD91724D8A1}"/>
              </a:ext>
            </a:extLst>
          </p:cNvPr>
          <p:cNvSpPr/>
          <p:nvPr/>
        </p:nvSpPr>
        <p:spPr>
          <a:xfrm>
            <a:off x="7674429" y="783771"/>
            <a:ext cx="6057900" cy="56170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a:lnSpc>
                <a:spcPct val="200000"/>
              </a:lnSpc>
              <a:spcBef>
                <a:spcPts val="0"/>
              </a:spcBef>
              <a:spcAft>
                <a:spcPts val="0"/>
              </a:spcAft>
            </a:pPr>
            <a:r>
              <a:rPr lang="en-US" sz="1800">
                <a:effectLst/>
                <a:latin typeface="Times New Roman" panose="02020603050405020304" pitchFamily="18" charset="0"/>
                <a:ea typeface="Calibri" panose="020F0502020204030204" pitchFamily="34" charset="0"/>
                <a:cs typeface="Times New Roman" panose="02020603050405020304" pitchFamily="18" charset="0"/>
              </a:rPr>
              <a:t>From Fig. 4, we have a plot for the algae lipid production dynamics model. This plot shows the relationship between harvesting too little, which leaves potential unused resources. Harvesting too much crashes both the natural population and your future harvest.. There is a perfect, sustainable balance to aim for (the equilibrium point), which maximizes long-term yield without destroying the resource.</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3483987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2BEA530-1053-3CAA-63FE-698BBCD1EE4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39453" y="408215"/>
            <a:ext cx="6420576" cy="5942920"/>
          </a:xfrm>
          <a:prstGeom prst="rect">
            <a:avLst/>
          </a:prstGeom>
          <a:noFill/>
          <a:ln>
            <a:noFill/>
          </a:ln>
        </p:spPr>
      </p:pic>
      <p:sp>
        <p:nvSpPr>
          <p:cNvPr id="3" name="Text Box 57">
            <a:extLst>
              <a:ext uri="{FF2B5EF4-FFF2-40B4-BE49-F238E27FC236}">
                <a16:creationId xmlns:a16="http://schemas.microsoft.com/office/drawing/2014/main" id="{84F2611C-13B8-DD8A-8D4D-97BA08B0DD2A}"/>
              </a:ext>
            </a:extLst>
          </p:cNvPr>
          <p:cNvSpPr txBox="1">
            <a:spLocks noChangeArrowheads="1"/>
          </p:cNvSpPr>
          <p:nvPr/>
        </p:nvSpPr>
        <p:spPr bwMode="auto">
          <a:xfrm>
            <a:off x="1039586" y="6564086"/>
            <a:ext cx="3276600" cy="686480"/>
          </a:xfrm>
          <a:prstGeom prst="rect">
            <a:avLst/>
          </a:prstGeom>
          <a:solidFill>
            <a:srgbClr val="FFFFFF"/>
          </a:solidFill>
          <a:ln w="9525">
            <a:solidFill>
              <a:srgbClr val="FFFFFF"/>
            </a:solidFill>
            <a:miter lim="800000"/>
            <a:headEnd/>
            <a:tailEnd/>
          </a:ln>
        </p:spPr>
        <p:txBody>
          <a:bodyPr rot="0" vert="horz" wrap="square" lIns="91440" tIns="45720" rIns="91440" bIns="45720" anchor="t" anchorCtr="0" upright="1">
            <a:noAutofit/>
          </a:bodyPr>
          <a:lstStyle/>
          <a:p>
            <a:pPr marL="0" marR="0">
              <a:lnSpc>
                <a:spcPct val="107000"/>
              </a:lnSpc>
              <a:spcBef>
                <a:spcPts val="0"/>
              </a:spcBef>
              <a:spcAft>
                <a:spcPts val="800"/>
              </a:spcAft>
            </a:pPr>
            <a:r>
              <a:rPr lang="en-US" sz="1300">
                <a:effectLst/>
                <a:latin typeface="Calibri" panose="020F0502020204030204" pitchFamily="34" charset="0"/>
                <a:ea typeface="Calibri" panose="020F0502020204030204" pitchFamily="34" charset="0"/>
                <a:cs typeface="Times New Roman" panose="02020603050405020304" pitchFamily="18" charset="0"/>
              </a:rPr>
              <a:t>Fig 5: Graph of the Phase plot of E against 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Rectangle: Single Corner Rounded 3">
            <a:extLst>
              <a:ext uri="{FF2B5EF4-FFF2-40B4-BE49-F238E27FC236}">
                <a16:creationId xmlns:a16="http://schemas.microsoft.com/office/drawing/2014/main" id="{DA4D5D94-26A1-75AA-B463-949EC47F1A33}"/>
              </a:ext>
            </a:extLst>
          </p:cNvPr>
          <p:cNvSpPr/>
          <p:nvPr/>
        </p:nvSpPr>
        <p:spPr>
          <a:xfrm>
            <a:off x="7886700" y="1061357"/>
            <a:ext cx="5861957" cy="5502729"/>
          </a:xfrm>
          <a:prstGeom prst="round1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a:lnSpc>
                <a:spcPct val="200000"/>
              </a:lnSpc>
              <a:spcBef>
                <a:spcPts val="0"/>
              </a:spcBef>
              <a:spcAft>
                <a:spcPts val="0"/>
              </a:spcAft>
            </a:pPr>
            <a:r>
              <a:rPr lang="en-US" sz="1800">
                <a:effectLst/>
                <a:latin typeface="Times New Roman" panose="02020603050405020304" pitchFamily="18" charset="0"/>
                <a:ea typeface="Calibri" panose="020F0502020204030204" pitchFamily="34" charset="0"/>
                <a:cs typeface="Times New Roman" panose="02020603050405020304" pitchFamily="18" charset="0"/>
              </a:rPr>
              <a:t>From Fig. 5, we have a plot for the algae lipid production dynamics model. This plot shows the relationship between lipids and algae’s population, which leaves potential unused resources. </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7509031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81CD8B7-F4A7-8CA0-1FBA-43B216DA055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71500" y="587827"/>
            <a:ext cx="6612527" cy="5910943"/>
          </a:xfrm>
          <a:prstGeom prst="rect">
            <a:avLst/>
          </a:prstGeom>
          <a:noFill/>
          <a:ln>
            <a:noFill/>
          </a:ln>
        </p:spPr>
      </p:pic>
      <mc:AlternateContent xmlns:mc="http://schemas.openxmlformats.org/markup-compatibility/2006" xmlns:a14="http://schemas.microsoft.com/office/drawing/2010/main">
        <mc:Choice Requires="a14">
          <p:sp>
            <p:nvSpPr>
              <p:cNvPr id="3" name="Text Box 49">
                <a:extLst>
                  <a:ext uri="{FF2B5EF4-FFF2-40B4-BE49-F238E27FC236}">
                    <a16:creationId xmlns:a16="http://schemas.microsoft.com/office/drawing/2014/main" id="{77D47CE6-F392-E6DC-1426-AEC7A762D5FB}"/>
                  </a:ext>
                </a:extLst>
              </p:cNvPr>
              <p:cNvSpPr txBox="1">
                <a:spLocks noChangeArrowheads="1"/>
              </p:cNvSpPr>
              <p:nvPr/>
            </p:nvSpPr>
            <p:spPr bwMode="auto">
              <a:xfrm>
                <a:off x="571500" y="6819220"/>
                <a:ext cx="4819650" cy="371475"/>
              </a:xfrm>
              <a:prstGeom prst="rect">
                <a:avLst/>
              </a:prstGeom>
              <a:solidFill>
                <a:srgbClr val="FFFFFF"/>
              </a:solidFill>
              <a:ln w="9525">
                <a:solidFill>
                  <a:srgbClr val="FFFFFF"/>
                </a:solidFill>
                <a:miter lim="800000"/>
                <a:headEnd/>
                <a:tailEnd/>
              </a:ln>
            </p:spPr>
            <p:txBody>
              <a:bodyPr rot="0" vert="horz" wrap="square" lIns="91440" tIns="45720" rIns="91440" bIns="45720" anchor="t" anchorCtr="0" upright="1">
                <a:noAutofit/>
              </a:bodyPr>
              <a:lstStyle/>
              <a:p>
                <a:pPr marL="0" marR="0">
                  <a:lnSpc>
                    <a:spcPct val="107000"/>
                  </a:lnSpc>
                  <a:spcBef>
                    <a:spcPts val="0"/>
                  </a:spcBef>
                  <a:spcAft>
                    <a:spcPts val="800"/>
                  </a:spcAft>
                </a:pPr>
                <a:r>
                  <a:rPr lang="en-US" sz="1300" dirty="0">
                    <a:effectLst/>
                    <a:latin typeface="Calibri" panose="020F0502020204030204" pitchFamily="34" charset="0"/>
                    <a:ea typeface="Calibri" panose="020F0502020204030204" pitchFamily="34" charset="0"/>
                    <a:cs typeface="Times New Roman" panose="02020603050405020304" pitchFamily="18" charset="0"/>
                  </a:rPr>
                  <a:t>Fig 6: 3D plot showing the relationship between </a:t>
                </a:r>
                <a14:m>
                  <m:oMath xmlns:m="http://schemas.openxmlformats.org/officeDocument/2006/math">
                    <m:sSub>
                      <m:sSubPr>
                        <m:ctrlPr>
                          <a:rPr lang="en-US" sz="11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100" i="1">
                            <a:effectLst/>
                            <a:latin typeface="Cambria Math" panose="02040503050406030204" pitchFamily="18" charset="0"/>
                            <a:ea typeface="Calibri" panose="020F0502020204030204" pitchFamily="34" charset="0"/>
                            <a:cs typeface="Times New Roman" panose="02020603050405020304" pitchFamily="18" charset="0"/>
                          </a:rPr>
                          <m:t>𝛿</m:t>
                        </m:r>
                      </m:e>
                      <m:sub>
                        <m:r>
                          <a:rPr lang="en-US" sz="1100" i="1">
                            <a:effectLst/>
                            <a:latin typeface="Cambria Math" panose="02040503050406030204" pitchFamily="18" charset="0"/>
                            <a:ea typeface="Calibri" panose="020F0502020204030204" pitchFamily="34" charset="0"/>
                            <a:cs typeface="Times New Roman" panose="02020603050405020304" pitchFamily="18" charset="0"/>
                          </a:rPr>
                          <m:t>1</m:t>
                        </m:r>
                      </m:sub>
                    </m:sSub>
                    <m:r>
                      <a:rPr lang="en-US" sz="1100" i="1">
                        <a:effectLst/>
                        <a:latin typeface="Cambria Math" panose="02040503050406030204" pitchFamily="18" charset="0"/>
                        <a:ea typeface="Calibri" panose="020F0502020204030204" pitchFamily="34" charset="0"/>
                        <a:cs typeface="Times New Roman" panose="02020603050405020304" pitchFamily="18" charset="0"/>
                      </a:rPr>
                      <m:t>, </m:t>
                    </m:r>
                    <m:r>
                      <m:rPr>
                        <m:sty m:val="p"/>
                      </m:rPr>
                      <a:rPr lang="en-US" sz="1100">
                        <a:effectLst/>
                        <a:latin typeface="Cambria Math" panose="02040503050406030204" pitchFamily="18" charset="0"/>
                        <a:ea typeface="Calibri" panose="020F0502020204030204" pitchFamily="34" charset="0"/>
                        <a:cs typeface="Calibri" panose="020F0502020204030204" pitchFamily="34" charset="0"/>
                      </a:rPr>
                      <m:t>Λ</m:t>
                    </m:r>
                  </m:oMath>
                </a14:m>
                <a:r>
                  <a:rPr lang="en-US" sz="1100" dirty="0">
                    <a:effectLst/>
                    <a:latin typeface="Calibri" panose="020F0502020204030204" pitchFamily="34" charset="0"/>
                    <a:ea typeface="Times New Roman" panose="02020603050405020304" pitchFamily="18" charset="0"/>
                    <a:cs typeface="Times New Roman" panose="02020603050405020304" pitchFamily="18" charset="0"/>
                  </a:rPr>
                  <a:t> and </a:t>
                </a:r>
                <a14:m>
                  <m:oMath xmlns:m="http://schemas.openxmlformats.org/officeDocument/2006/math">
                    <m:sSub>
                      <m:sSubPr>
                        <m:ctrlPr>
                          <a:rPr lang="en-US" sz="11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100" i="1">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sz="1100" i="1">
                            <a:effectLst/>
                            <a:latin typeface="Cambria Math" panose="02040503050406030204" pitchFamily="18" charset="0"/>
                            <a:ea typeface="Calibri" panose="020F0502020204030204" pitchFamily="34" charset="0"/>
                            <a:cs typeface="Times New Roman" panose="02020603050405020304" pitchFamily="18" charset="0"/>
                          </a:rPr>
                          <m:t>0</m:t>
                        </m:r>
                      </m:sub>
                    </m:sSub>
                  </m:oMath>
                </a14:m>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3" name="Text Box 49">
                <a:extLst>
                  <a:ext uri="{FF2B5EF4-FFF2-40B4-BE49-F238E27FC236}">
                    <a16:creationId xmlns:a16="http://schemas.microsoft.com/office/drawing/2014/main" id="{77D47CE6-F392-E6DC-1426-AEC7A762D5FB}"/>
                  </a:ext>
                </a:extLst>
              </p:cNvPr>
              <p:cNvSpPr txBox="1">
                <a:spLocks noRot="1" noChangeAspect="1" noMove="1" noResize="1" noEditPoints="1" noAdjustHandles="1" noChangeArrowheads="1" noChangeShapeType="1" noTextEdit="1"/>
              </p:cNvSpPr>
              <p:nvPr/>
            </p:nvSpPr>
            <p:spPr bwMode="auto">
              <a:xfrm>
                <a:off x="571500" y="6819220"/>
                <a:ext cx="4819650" cy="371475"/>
              </a:xfrm>
              <a:prstGeom prst="rect">
                <a:avLst/>
              </a:prstGeom>
              <a:blipFill>
                <a:blip r:embed="rId3"/>
                <a:stretch>
                  <a:fillRect l="-126"/>
                </a:stretch>
              </a:blipFill>
              <a:ln w="9525">
                <a:solidFill>
                  <a:srgbClr val="FFFFFF"/>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Rectangle: Single Corner Rounded 3">
                <a:extLst>
                  <a:ext uri="{FF2B5EF4-FFF2-40B4-BE49-F238E27FC236}">
                    <a16:creationId xmlns:a16="http://schemas.microsoft.com/office/drawing/2014/main" id="{C362D1FA-F686-A5E0-17D4-D96177F32148}"/>
                  </a:ext>
                </a:extLst>
              </p:cNvPr>
              <p:cNvSpPr/>
              <p:nvPr/>
            </p:nvSpPr>
            <p:spPr>
              <a:xfrm>
                <a:off x="8621486" y="930729"/>
                <a:ext cx="4588328" cy="5568041"/>
              </a:xfrm>
              <a:prstGeom prst="round1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a:lnSpc>
                    <a:spcPct val="200000"/>
                  </a:lnSpc>
                  <a:spcBef>
                    <a:spcPts val="0"/>
                  </a:spcBef>
                  <a:spcAft>
                    <a:spcPts val="0"/>
                  </a:spcAft>
                </a:pPr>
                <a:r>
                  <a:rPr lang="en-US" sz="1800">
                    <a:effectLst/>
                    <a:latin typeface="Times New Roman" panose="02020603050405020304" pitchFamily="18" charset="0"/>
                    <a:ea typeface="Calibri" panose="020F0502020204030204" pitchFamily="34" charset="0"/>
                    <a:cs typeface="Times New Roman" panose="02020603050405020304" pitchFamily="18" charset="0"/>
                  </a:rPr>
                  <a:t>From Fig. 6, we have a plot visualizing the relationship between </a:t>
                </a:r>
                <a14:m>
                  <m:oMath xmlns:m="http://schemas.openxmlformats.org/officeDocument/2006/math">
                    <m:sSub>
                      <m:sSub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𝛿</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1</m:t>
                        </m:r>
                      </m:sub>
                    </m:sSub>
                    <m:r>
                      <a:rPr lang="en-US" sz="1800" i="1">
                        <a:effectLst/>
                        <a:latin typeface="Cambria Math" panose="02040503050406030204" pitchFamily="18" charset="0"/>
                        <a:ea typeface="Calibri" panose="020F0502020204030204" pitchFamily="34" charset="0"/>
                        <a:cs typeface="Times New Roman" panose="02020603050405020304" pitchFamily="18" charset="0"/>
                      </a:rPr>
                      <m:t>, </m:t>
                    </m:r>
                    <m:r>
                      <m:rPr>
                        <m:sty m:val="p"/>
                      </m:rPr>
                      <a:rPr lang="en-US" sz="1800">
                        <a:effectLst/>
                        <a:latin typeface="Cambria Math" panose="02040503050406030204" pitchFamily="18" charset="0"/>
                        <a:ea typeface="Calibri" panose="020F0502020204030204" pitchFamily="34" charset="0"/>
                        <a:cs typeface="Calibri" panose="020F0502020204030204" pitchFamily="34" charset="0"/>
                      </a:rPr>
                      <m:t>Λ</m:t>
                    </m:r>
                  </m:oMath>
                </a14:m>
                <a:r>
                  <a:rPr lang="en-US" sz="1800">
                    <a:effectLst/>
                    <a:latin typeface="Calibri" panose="020F0502020204030204" pitchFamily="34" charset="0"/>
                    <a:ea typeface="Times New Roman" panose="02020603050405020304" pitchFamily="18" charset="0"/>
                    <a:cs typeface="Times New Roman" panose="02020603050405020304" pitchFamily="18" charset="0"/>
                  </a:rPr>
                  <a:t> and </a:t>
                </a:r>
                <a14:m>
                  <m:oMath xmlns:m="http://schemas.openxmlformats.org/officeDocument/2006/math">
                    <m:sSub>
                      <m:sSub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sz="1800">
                    <a:effectLst/>
                    <a:latin typeface="Times New Roman" panose="02020603050405020304" pitchFamily="18" charset="0"/>
                    <a:ea typeface="Calibri" panose="020F0502020204030204" pitchFamily="34" charset="0"/>
                    <a:cs typeface="Times New Roman" panose="02020603050405020304" pitchFamily="18" charset="0"/>
                  </a:rPr>
                  <a:t> in our algae lipid production dynamics model. This graph is a powerful tool that shows you the best ways to manage your algae farm to ensure it is productive and successful. </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4" name="Rectangle: Single Corner Rounded 3">
                <a:extLst>
                  <a:ext uri="{FF2B5EF4-FFF2-40B4-BE49-F238E27FC236}">
                    <a16:creationId xmlns:a16="http://schemas.microsoft.com/office/drawing/2014/main" id="{C362D1FA-F686-A5E0-17D4-D96177F32148}"/>
                  </a:ext>
                </a:extLst>
              </p:cNvPr>
              <p:cNvSpPr>
                <a:spLocks noRot="1" noChangeAspect="1" noMove="1" noResize="1" noEditPoints="1" noAdjustHandles="1" noChangeArrowheads="1" noChangeShapeType="1" noTextEdit="1"/>
              </p:cNvSpPr>
              <p:nvPr/>
            </p:nvSpPr>
            <p:spPr>
              <a:xfrm>
                <a:off x="8621486" y="930729"/>
                <a:ext cx="4588328" cy="5568041"/>
              </a:xfrm>
              <a:prstGeom prst="round1Rect">
                <a:avLst/>
              </a:prstGeom>
              <a:blipFill>
                <a:blip r:embed="rId4"/>
                <a:stretch>
                  <a:fillRect l="-926"/>
                </a:stretch>
              </a:blipFill>
            </p:spPr>
            <p:txBody>
              <a:bodyPr/>
              <a:lstStyle/>
              <a:p>
                <a:r>
                  <a:rPr lang="en-US">
                    <a:noFill/>
                  </a:rPr>
                  <a:t> </a:t>
                </a:r>
              </a:p>
            </p:txBody>
          </p:sp>
        </mc:Fallback>
      </mc:AlternateContent>
    </p:spTree>
    <p:extLst>
      <p:ext uri="{BB962C8B-B14F-4D97-AF65-F5344CB8AC3E}">
        <p14:creationId xmlns:p14="http://schemas.microsoft.com/office/powerpoint/2010/main" val="41366753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7ED984D-4434-CC41-1193-65E233E7904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75557" y="571500"/>
            <a:ext cx="6515100" cy="5568043"/>
          </a:xfrm>
          <a:prstGeom prst="rect">
            <a:avLst/>
          </a:prstGeom>
          <a:noFill/>
          <a:ln>
            <a:noFill/>
          </a:ln>
        </p:spPr>
      </p:pic>
      <p:sp>
        <p:nvSpPr>
          <p:cNvPr id="3" name="Text Box 615907251">
            <a:extLst>
              <a:ext uri="{FF2B5EF4-FFF2-40B4-BE49-F238E27FC236}">
                <a16:creationId xmlns:a16="http://schemas.microsoft.com/office/drawing/2014/main" id="{BFC32996-746E-6382-0383-231909CEE446}"/>
              </a:ext>
            </a:extLst>
          </p:cNvPr>
          <p:cNvSpPr txBox="1"/>
          <p:nvPr/>
        </p:nvSpPr>
        <p:spPr>
          <a:xfrm>
            <a:off x="533264" y="6302828"/>
            <a:ext cx="4387215" cy="849085"/>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Figure 7: Graph showing Algae Lipid production dynamics </a:t>
            </a:r>
          </a:p>
        </p:txBody>
      </p:sp>
      <p:sp>
        <p:nvSpPr>
          <p:cNvPr id="4" name="Rectangle: Single Corner Rounded 3">
            <a:extLst>
              <a:ext uri="{FF2B5EF4-FFF2-40B4-BE49-F238E27FC236}">
                <a16:creationId xmlns:a16="http://schemas.microsoft.com/office/drawing/2014/main" id="{3EA68259-6A4C-1C4D-A236-9464BFD29D69}"/>
              </a:ext>
            </a:extLst>
          </p:cNvPr>
          <p:cNvSpPr/>
          <p:nvPr/>
        </p:nvSpPr>
        <p:spPr>
          <a:xfrm>
            <a:off x="7739745" y="865414"/>
            <a:ext cx="5029200" cy="4980214"/>
          </a:xfrm>
          <a:prstGeom prst="round1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a:lnSpc>
                <a:spcPct val="200000"/>
              </a:lnSpc>
              <a:spcBef>
                <a:spcPts val="0"/>
              </a:spcBef>
              <a:spcAft>
                <a:spcPts val="0"/>
              </a:spcAft>
            </a:pPr>
            <a:r>
              <a:rPr lang="en-US" sz="1800">
                <a:effectLst/>
                <a:latin typeface="Times New Roman" panose="02020603050405020304" pitchFamily="18" charset="0"/>
                <a:ea typeface="Calibri" panose="020F0502020204030204" pitchFamily="34" charset="0"/>
                <a:cs typeface="Times New Roman" panose="02020603050405020304" pitchFamily="18" charset="0"/>
              </a:rPr>
              <a:t>Figure 4.7, shows us plot that demonstrates a successful algae cultivation system where biomass is first established, then efficiently converted into valuable lipids for biofuel production, with the genetically modified strain providing stable underlying support to the process.</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7191693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Single Corner Rounded 1">
            <a:extLst>
              <a:ext uri="{FF2B5EF4-FFF2-40B4-BE49-F238E27FC236}">
                <a16:creationId xmlns:a16="http://schemas.microsoft.com/office/drawing/2014/main" id="{F1524FE0-884F-1E43-2E6B-58AB87FFF0F9}"/>
              </a:ext>
            </a:extLst>
          </p:cNvPr>
          <p:cNvSpPr/>
          <p:nvPr/>
        </p:nvSpPr>
        <p:spPr>
          <a:xfrm>
            <a:off x="2677887" y="146957"/>
            <a:ext cx="7266214" cy="963386"/>
          </a:xfrm>
          <a:prstGeom prst="round1Rect">
            <a:avLst/>
          </a:prstGeom>
          <a:solidFill>
            <a:srgbClr val="0070C0"/>
          </a:solidFill>
        </p:spPr>
        <p:style>
          <a:lnRef idx="1">
            <a:schemeClr val="accent1"/>
          </a:lnRef>
          <a:fillRef idx="2">
            <a:schemeClr val="accent1"/>
          </a:fillRef>
          <a:effectRef idx="1">
            <a:schemeClr val="accent1"/>
          </a:effectRef>
          <a:fontRef idx="minor">
            <a:schemeClr val="dk1"/>
          </a:fontRef>
        </p:style>
        <p:txBody>
          <a:bodyPr rtlCol="0" anchor="ctr"/>
          <a:lstStyle/>
          <a:p>
            <a:pPr marL="292100" marR="0" algn="ctr">
              <a:lnSpc>
                <a:spcPct val="200000"/>
              </a:lnSpc>
              <a:spcBef>
                <a:spcPts val="0"/>
              </a:spcBef>
              <a:spcAft>
                <a:spcPts val="0"/>
              </a:spcAft>
            </a:pPr>
            <a:r>
              <a:rPr lang="en-US" sz="1800" kern="0" dirty="0">
                <a:ln w="0"/>
                <a:solidFill>
                  <a:schemeClr val="bg2">
                    <a:lumMod val="20000"/>
                    <a:lumOff val="80000"/>
                  </a:schemeClr>
                </a:solidFill>
                <a:effectLst>
                  <a:outerShdw blurRad="38100" dist="25400" dir="5400000" algn="ctr" rotWithShape="0">
                    <a:srgbClr val="6E747A">
                      <a:alpha val="43000"/>
                    </a:srgbClr>
                  </a:outerShdw>
                </a:effectLst>
                <a:latin typeface="Times New Roman" panose="02020603050405020304" pitchFamily="18" charset="0"/>
                <a:ea typeface="Calibri" panose="020F0502020204030204" pitchFamily="34" charset="0"/>
              </a:rPr>
              <a:t>SUMMARY, CONCLUSION, AND RECOMMENDATION</a:t>
            </a:r>
            <a:endParaRPr lang="en-US" sz="1800" kern="0" dirty="0">
              <a:ln w="0"/>
              <a:solidFill>
                <a:schemeClr val="bg2">
                  <a:lumMod val="20000"/>
                  <a:lumOff val="80000"/>
                </a:schemeClr>
              </a:solidFill>
              <a:effectLst>
                <a:outerShdw blurRad="38100" dist="25400" dir="5400000" algn="ctr" rotWithShape="0">
                  <a:srgbClr val="6E747A">
                    <a:alpha val="43000"/>
                  </a:srgbClr>
                </a:outerShdw>
              </a:effectLst>
              <a:latin typeface="Calibri" panose="020F0502020204030204" pitchFamily="34" charset="0"/>
              <a:ea typeface="Calibri" panose="020F0502020204030204" pitchFamily="34" charset="0"/>
            </a:endParaRPr>
          </a:p>
        </p:txBody>
      </p:sp>
      <mc:AlternateContent xmlns:mc="http://schemas.openxmlformats.org/markup-compatibility/2006" xmlns:a14="http://schemas.microsoft.com/office/drawing/2010/main">
        <mc:Choice Requires="a14">
          <p:graphicFrame>
            <p:nvGraphicFramePr>
              <p:cNvPr id="5" name="Diagram 4">
                <a:extLst>
                  <a:ext uri="{FF2B5EF4-FFF2-40B4-BE49-F238E27FC236}">
                    <a16:creationId xmlns:a16="http://schemas.microsoft.com/office/drawing/2014/main" id="{BAD611F7-F079-0A04-3594-D1B6B1B82316}"/>
                  </a:ext>
                </a:extLst>
              </p:cNvPr>
              <p:cNvGraphicFramePr/>
              <p:nvPr>
                <p:extLst>
                  <p:ext uri="{D42A27DB-BD31-4B8C-83A1-F6EECF244321}">
                    <p14:modId xmlns:p14="http://schemas.microsoft.com/office/powerpoint/2010/main" val="2206104896"/>
                  </p:ext>
                </p:extLst>
              </p:nvPr>
            </p:nvGraphicFramePr>
            <p:xfrm>
              <a:off x="-200023" y="1273627"/>
              <a:ext cx="6996791" cy="542108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mc:Choice>
        <mc:Fallback xmlns="">
          <p:graphicFrame>
            <p:nvGraphicFramePr>
              <p:cNvPr id="5" name="Diagram 4">
                <a:extLst>
                  <a:ext uri="{FF2B5EF4-FFF2-40B4-BE49-F238E27FC236}">
                    <a16:creationId xmlns:a16="http://schemas.microsoft.com/office/drawing/2014/main" id="{BAD611F7-F079-0A04-3594-D1B6B1B82316}"/>
                  </a:ext>
                </a:extLst>
              </p:cNvPr>
              <p:cNvGraphicFramePr/>
              <p:nvPr>
                <p:extLst>
                  <p:ext uri="{D42A27DB-BD31-4B8C-83A1-F6EECF244321}">
                    <p14:modId xmlns:p14="http://schemas.microsoft.com/office/powerpoint/2010/main" val="2206104896"/>
                  </p:ext>
                </p:extLst>
              </p:nvPr>
            </p:nvGraphicFramePr>
            <p:xfrm>
              <a:off x="-200023" y="1273627"/>
              <a:ext cx="6996791" cy="542108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mc:Fallback>
      </mc:AlternateContent>
      <p:sp>
        <p:nvSpPr>
          <p:cNvPr id="4" name="Rectangle: Single Corner Rounded 3">
            <a:extLst>
              <a:ext uri="{FF2B5EF4-FFF2-40B4-BE49-F238E27FC236}">
                <a16:creationId xmlns:a16="http://schemas.microsoft.com/office/drawing/2014/main" id="{080C0CD2-3DB2-F38F-7564-FEB329AC8B94}"/>
              </a:ext>
            </a:extLst>
          </p:cNvPr>
          <p:cNvSpPr/>
          <p:nvPr/>
        </p:nvSpPr>
        <p:spPr>
          <a:xfrm>
            <a:off x="7429501" y="1273628"/>
            <a:ext cx="6237514" cy="5894615"/>
          </a:xfrm>
          <a:prstGeom prst="round1Rect">
            <a:avLst/>
          </a:prstGeom>
        </p:spPr>
        <p:style>
          <a:lnRef idx="2">
            <a:schemeClr val="accent6"/>
          </a:lnRef>
          <a:fillRef idx="1">
            <a:schemeClr val="lt1"/>
          </a:fillRef>
          <a:effectRef idx="0">
            <a:schemeClr val="accent6"/>
          </a:effectRef>
          <a:fontRef idx="minor">
            <a:schemeClr val="dk1"/>
          </a:fontRef>
        </p:style>
        <p:txBody>
          <a:bodyPr rtlCol="0" anchor="ctr"/>
          <a:lstStyle/>
          <a:p>
            <a:pPr marL="0" marR="0" algn="just">
              <a:spcBef>
                <a:spcPts val="0"/>
              </a:spcBef>
              <a:spcAft>
                <a:spcPts val="0"/>
              </a:spcAft>
            </a:pPr>
            <a:r>
              <a:rPr lang="en-US" sz="1800" b="1" dirty="0">
                <a:solidFill>
                  <a:schemeClr val="accent5">
                    <a:lumMod val="75000"/>
                  </a:schemeClr>
                </a:solidFill>
                <a:effectLst/>
                <a:latin typeface="Bell MT" panose="02020503060305020303" pitchFamily="18" charset="0"/>
                <a:ea typeface="Times New Roman" panose="02020603050405020304" pitchFamily="18" charset="0"/>
                <a:cs typeface="Times New Roman" panose="02020603050405020304" pitchFamily="18" charset="0"/>
              </a:rPr>
              <a:t>Conclusion</a:t>
            </a:r>
            <a:endParaRPr lang="en-US" sz="1800" dirty="0">
              <a:solidFill>
                <a:schemeClr val="accent5">
                  <a:lumMod val="75000"/>
                </a:schemeClr>
              </a:solidFill>
              <a:effectLst/>
              <a:latin typeface="Bell MT" panose="02020503060305020303" pitchFamily="18" charset="0"/>
              <a:ea typeface="Calibri" panose="020F0502020204030204" pitchFamily="34" charset="0"/>
              <a:cs typeface="Times New Roman" panose="02020603050405020304" pitchFamily="18" charset="0"/>
            </a:endParaRPr>
          </a:p>
          <a:p>
            <a:pPr marL="285750" marR="0" indent="-285750" algn="just">
              <a:spcBef>
                <a:spcPts val="0"/>
              </a:spcBef>
              <a:spcAft>
                <a:spcPts val="0"/>
              </a:spcAft>
              <a:buFont typeface="Wingdings" panose="05000000000000000000" pitchFamily="2" charset="2"/>
              <a:buChar char="§"/>
            </a:pPr>
            <a:r>
              <a:rPr lang="en-US" sz="1800" dirty="0">
                <a:solidFill>
                  <a:srgbClr val="0F1115"/>
                </a:solidFill>
                <a:effectLst/>
                <a:latin typeface="Bell MT" panose="02020503060305020303" pitchFamily="18" charset="0"/>
                <a:ea typeface="Times New Roman" panose="02020603050405020304" pitchFamily="18" charset="0"/>
                <a:cs typeface="Times New Roman" panose="02020603050405020304" pitchFamily="18" charset="0"/>
              </a:rPr>
              <a:t>By developing a robust computational framework that accurately describes the complex dynamics of algae growth, lipid accumulation, and harvesting for SAF production the model provides a powerful tool to understand the non-linear interactions within the production system.</a:t>
            </a:r>
            <a:endParaRPr lang="en-US" sz="1800" dirty="0">
              <a:effectLst/>
              <a:latin typeface="Bell MT" panose="02020503060305020303" pitchFamily="18" charset="0"/>
              <a:ea typeface="Calibri" panose="020F0502020204030204" pitchFamily="34" charset="0"/>
              <a:cs typeface="Times New Roman" panose="02020603050405020304" pitchFamily="18" charset="0"/>
            </a:endParaRPr>
          </a:p>
          <a:p>
            <a:pPr marL="285750" marR="0" indent="-285750" algn="just">
              <a:spcBef>
                <a:spcPts val="0"/>
              </a:spcBef>
              <a:spcAft>
                <a:spcPts val="0"/>
              </a:spcAft>
              <a:buFont typeface="Wingdings" panose="05000000000000000000" pitchFamily="2" charset="2"/>
              <a:buChar char="§"/>
            </a:pPr>
            <a:r>
              <a:rPr lang="en-US" sz="1800" dirty="0">
                <a:solidFill>
                  <a:srgbClr val="0F1115"/>
                </a:solidFill>
                <a:effectLst/>
                <a:latin typeface="Bell MT" panose="02020503060305020303" pitchFamily="18" charset="0"/>
                <a:ea typeface="Times New Roman" panose="02020603050405020304" pitchFamily="18" charset="0"/>
                <a:cs typeface="Times New Roman" panose="02020603050405020304" pitchFamily="18" charset="0"/>
              </a:rPr>
              <a:t>The derivation of the basic reproduction number R₀ is a fundamental outcome, serving as a single, powerful metric to assess the viability and efficiency of any given algae-to-SAF production system. </a:t>
            </a:r>
          </a:p>
          <a:p>
            <a:pPr marL="285750" marR="0" indent="-285750" algn="just">
              <a:spcBef>
                <a:spcPts val="0"/>
              </a:spcBef>
              <a:spcAft>
                <a:spcPts val="0"/>
              </a:spcAft>
              <a:buFont typeface="Wingdings" panose="05000000000000000000" pitchFamily="2" charset="2"/>
              <a:buChar char="§"/>
            </a:pPr>
            <a:r>
              <a:rPr lang="en-US" sz="1800" dirty="0">
                <a:solidFill>
                  <a:srgbClr val="0F1115"/>
                </a:solidFill>
                <a:effectLst/>
                <a:latin typeface="Bell MT" panose="02020503060305020303" pitchFamily="18" charset="0"/>
                <a:ea typeface="Times New Roman" panose="02020603050405020304" pitchFamily="18" charset="0"/>
                <a:cs typeface="Times New Roman" panose="02020603050405020304" pitchFamily="18" charset="0"/>
              </a:rPr>
              <a:t>The research concludes that sustainable, large-scale algae lipid production is theoretically feasible but is acutely sensitive to environmental stressors and mortality factors.</a:t>
            </a:r>
          </a:p>
          <a:p>
            <a:pPr marL="285750" marR="0" indent="-285750" algn="just">
              <a:spcBef>
                <a:spcPts val="0"/>
              </a:spcBef>
              <a:spcAft>
                <a:spcPts val="0"/>
              </a:spcAft>
              <a:buFont typeface="Wingdings" panose="05000000000000000000" pitchFamily="2" charset="2"/>
              <a:buChar char="§"/>
            </a:pPr>
            <a:r>
              <a:rPr lang="en-US" sz="1800" dirty="0">
                <a:solidFill>
                  <a:srgbClr val="0F1115"/>
                </a:solidFill>
                <a:effectLst/>
                <a:latin typeface="Bell MT" panose="02020503060305020303" pitchFamily="18" charset="0"/>
                <a:ea typeface="Times New Roman" panose="02020603050405020304" pitchFamily="18" charset="0"/>
                <a:cs typeface="Times New Roman" panose="02020603050405020304" pitchFamily="18" charset="0"/>
              </a:rPr>
              <a:t>For Nigeria and similar tropical nations, the model highlights that overcoming technical barriers related to maintaining healthy algae cultures in a fluctuating climate is a more significant hurdle than the initial biomass input.</a:t>
            </a:r>
          </a:p>
          <a:p>
            <a:pPr marL="285750" marR="0" indent="-285750" algn="just">
              <a:spcBef>
                <a:spcPts val="0"/>
              </a:spcBef>
              <a:spcAft>
                <a:spcPts val="0"/>
              </a:spcAft>
              <a:buFont typeface="Wingdings" panose="05000000000000000000" pitchFamily="2" charset="2"/>
              <a:buChar char="§"/>
            </a:pPr>
            <a:r>
              <a:rPr lang="en-US" sz="1800" dirty="0">
                <a:solidFill>
                  <a:srgbClr val="0F1115"/>
                </a:solidFill>
                <a:effectLst/>
                <a:latin typeface="Bell MT" panose="02020503060305020303" pitchFamily="18" charset="0"/>
                <a:ea typeface="Times New Roman" panose="02020603050405020304" pitchFamily="18" charset="0"/>
                <a:cs typeface="Times New Roman" panose="02020603050405020304" pitchFamily="18" charset="0"/>
              </a:rPr>
              <a:t>The model establishes a critical foundation for optimizing algae-based biofuel pathways, moving from theoretical potential to practical, scalable strategy design</a:t>
            </a:r>
            <a:r>
              <a:rPr lang="en-US" sz="180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975993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760720" cy="8229600"/>
          </a:xfrm>
          <a:prstGeom prst="rect">
            <a:avLst/>
          </a:prstGeom>
        </p:spPr>
      </p:pic>
      <p:sp>
        <p:nvSpPr>
          <p:cNvPr id="3" name="Text 0"/>
          <p:cNvSpPr/>
          <p:nvPr/>
        </p:nvSpPr>
        <p:spPr>
          <a:xfrm>
            <a:off x="6280190" y="1838325"/>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2C2926"/>
                </a:solidFill>
                <a:latin typeface="Bricolage Grotesque Semi Bold" pitchFamily="34" charset="0"/>
                <a:ea typeface="Bricolage Grotesque Semi Bold" pitchFamily="34" charset="-122"/>
                <a:cs typeface="Bricolage Grotesque Semi Bold" pitchFamily="34" charset="-120"/>
              </a:rPr>
              <a:t>Key Takeaways</a:t>
            </a:r>
            <a:endParaRPr lang="en-US" sz="4450" dirty="0"/>
          </a:p>
        </p:txBody>
      </p:sp>
      <p:sp>
        <p:nvSpPr>
          <p:cNvPr id="4" name="Text 1"/>
          <p:cNvSpPr/>
          <p:nvPr/>
        </p:nvSpPr>
        <p:spPr>
          <a:xfrm>
            <a:off x="6280190" y="2887266"/>
            <a:ext cx="7556421" cy="725805"/>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2C2926"/>
                </a:solidFill>
                <a:latin typeface="Inter" pitchFamily="34" charset="0"/>
                <a:ea typeface="Inter" pitchFamily="34" charset="-122"/>
                <a:cs typeface="Inter" pitchFamily="34" charset="-120"/>
              </a:rPr>
              <a:t>Global Imperative:</a:t>
            </a:r>
            <a:r>
              <a:rPr lang="en-US" sz="1750" dirty="0">
                <a:solidFill>
                  <a:srgbClr val="2C2926"/>
                </a:solidFill>
                <a:latin typeface="Inter" pitchFamily="34" charset="0"/>
                <a:ea typeface="Inter" pitchFamily="34" charset="-122"/>
                <a:cs typeface="Inter" pitchFamily="34" charset="-120"/>
              </a:rPr>
              <a:t> SAF is crucial for decarbonizing aviation, with microalgae offering significant advantages.</a:t>
            </a:r>
            <a:endParaRPr lang="en-US" sz="1750" dirty="0"/>
          </a:p>
        </p:txBody>
      </p:sp>
      <p:sp>
        <p:nvSpPr>
          <p:cNvPr id="5" name="Text 2"/>
          <p:cNvSpPr/>
          <p:nvPr/>
        </p:nvSpPr>
        <p:spPr>
          <a:xfrm>
            <a:off x="6280190" y="3692366"/>
            <a:ext cx="7556421" cy="725805"/>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2C2926"/>
                </a:solidFill>
                <a:latin typeface="Inter" pitchFamily="34" charset="0"/>
                <a:ea typeface="Inter" pitchFamily="34" charset="-122"/>
                <a:cs typeface="Inter" pitchFamily="34" charset="-120"/>
              </a:rPr>
              <a:t>Nigerian Potential:</a:t>
            </a:r>
            <a:r>
              <a:rPr lang="en-US" sz="1750" dirty="0">
                <a:solidFill>
                  <a:srgbClr val="2C2926"/>
                </a:solidFill>
                <a:latin typeface="Inter" pitchFamily="34" charset="0"/>
                <a:ea typeface="Inter" pitchFamily="34" charset="-122"/>
                <a:cs typeface="Inter" pitchFamily="34" charset="-120"/>
              </a:rPr>
              <a:t> Despite current challenges, Nigeria has ideal conditions and resources for microalgae-based SAF.</a:t>
            </a:r>
            <a:endParaRPr lang="en-US" sz="1750" dirty="0"/>
          </a:p>
        </p:txBody>
      </p:sp>
      <p:sp>
        <p:nvSpPr>
          <p:cNvPr id="6" name="Text 3"/>
          <p:cNvSpPr/>
          <p:nvPr/>
        </p:nvSpPr>
        <p:spPr>
          <a:xfrm>
            <a:off x="6280190" y="4497467"/>
            <a:ext cx="7556421" cy="1088708"/>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2C2926"/>
                </a:solidFill>
                <a:latin typeface="Inter" pitchFamily="34" charset="0"/>
                <a:ea typeface="Inter" pitchFamily="34" charset="-122"/>
                <a:cs typeface="Inter" pitchFamily="34" charset="-120"/>
              </a:rPr>
              <a:t>Modeling Innovation:</a:t>
            </a:r>
            <a:r>
              <a:rPr lang="en-US" sz="1750" dirty="0">
                <a:solidFill>
                  <a:srgbClr val="2C2926"/>
                </a:solidFill>
                <a:latin typeface="Inter" pitchFamily="34" charset="0"/>
                <a:ea typeface="Inter" pitchFamily="34" charset="-122"/>
                <a:cs typeface="Inter" pitchFamily="34" charset="-120"/>
              </a:rPr>
              <a:t> This study provides a novel mathematical model and analytical framework to optimize SAF production in tropical environments.</a:t>
            </a:r>
            <a:endParaRPr lang="en-US" sz="1750" dirty="0"/>
          </a:p>
        </p:txBody>
      </p:sp>
      <p:sp>
        <p:nvSpPr>
          <p:cNvPr id="7" name="Text 4"/>
          <p:cNvSpPr/>
          <p:nvPr/>
        </p:nvSpPr>
        <p:spPr>
          <a:xfrm>
            <a:off x="6280190" y="5665470"/>
            <a:ext cx="7556421" cy="725805"/>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2C2926"/>
                </a:solidFill>
                <a:latin typeface="Inter" pitchFamily="34" charset="0"/>
                <a:ea typeface="Inter" pitchFamily="34" charset="-122"/>
                <a:cs typeface="Inter" pitchFamily="34" charset="-120"/>
              </a:rPr>
              <a:t>Future Impact:</a:t>
            </a:r>
            <a:r>
              <a:rPr lang="en-US" sz="1750" dirty="0">
                <a:solidFill>
                  <a:srgbClr val="2C2926"/>
                </a:solidFill>
                <a:latin typeface="Inter" pitchFamily="34" charset="0"/>
                <a:ea typeface="Inter" pitchFamily="34" charset="-122"/>
                <a:cs typeface="Inter" pitchFamily="34" charset="-120"/>
              </a:rPr>
              <a:t> Findings will benefit researchers, policymakers, and industry in advancing sustainable bioenergy solutions.</a:t>
            </a:r>
            <a:endParaRPr lang="en-US" sz="1750" dirty="0"/>
          </a:p>
        </p:txBody>
      </p:sp>
    </p:spTree>
    <p:extLst>
      <p:ext uri="{BB962C8B-B14F-4D97-AF65-F5344CB8AC3E}">
        <p14:creationId xmlns:p14="http://schemas.microsoft.com/office/powerpoint/2010/main" val="20908714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hought Bubble: Cloud 1">
            <a:extLst>
              <a:ext uri="{FF2B5EF4-FFF2-40B4-BE49-F238E27FC236}">
                <a16:creationId xmlns:a16="http://schemas.microsoft.com/office/drawing/2014/main" id="{6B128DB2-B7FE-D001-3D60-8D3A7F8CBEBC}"/>
              </a:ext>
            </a:extLst>
          </p:cNvPr>
          <p:cNvSpPr/>
          <p:nvPr/>
        </p:nvSpPr>
        <p:spPr>
          <a:xfrm rot="1521915">
            <a:off x="2898321" y="1126672"/>
            <a:ext cx="10972800" cy="4229100"/>
          </a:xfrm>
          <a:prstGeom prst="cloudCallout">
            <a:avLst/>
          </a:prstGeom>
          <a:blipFill>
            <a:blip r:embed="rId2"/>
            <a:tile tx="0" ty="0" sx="100000" sy="100000" flip="none" algn="tl"/>
          </a:blipFill>
          <a:ln>
            <a:noFill/>
          </a:ln>
          <a:scene3d>
            <a:camera prst="isometricOffAxis2Right"/>
            <a:lightRig rig="threePt" dir="t"/>
          </a:scene3d>
          <a:sp3d>
            <a:bevelT w="101600" prst="riblet"/>
          </a:sp3d>
        </p:spPr>
        <p:style>
          <a:lnRef idx="0">
            <a:scrgbClr r="0" g="0" b="0"/>
          </a:lnRef>
          <a:fillRef idx="0">
            <a:scrgbClr r="0" g="0" b="0"/>
          </a:fillRef>
          <a:effectRef idx="0">
            <a:scrgbClr r="0" g="0" b="0"/>
          </a:effectRef>
          <a:fontRef idx="minor">
            <a:schemeClr val="lt1"/>
          </a:fontRef>
        </p:style>
        <p:txBody>
          <a:bodyPr rtlCol="0" anchor="ctr"/>
          <a:lstStyle/>
          <a:p>
            <a:pPr algn="ctr"/>
            <a:r>
              <a:rPr lang="en-US" sz="5400" dirty="0">
                <a:solidFill>
                  <a:srgbClr val="FFC000"/>
                </a:solidFill>
                <a:latin typeface="Arial Rounded MT Bold" panose="020F0704030504030204" pitchFamily="34" charset="0"/>
              </a:rPr>
              <a:t>THANK YOU FOR YOUR ATTENTION</a:t>
            </a:r>
          </a:p>
        </p:txBody>
      </p:sp>
      <p:sp>
        <p:nvSpPr>
          <p:cNvPr id="3" name="Rectangle 2">
            <a:extLst>
              <a:ext uri="{FF2B5EF4-FFF2-40B4-BE49-F238E27FC236}">
                <a16:creationId xmlns:a16="http://schemas.microsoft.com/office/drawing/2014/main" id="{03881EAD-13D3-A7DA-9F3E-7368DD8071A8}"/>
              </a:ext>
            </a:extLst>
          </p:cNvPr>
          <p:cNvSpPr/>
          <p:nvPr/>
        </p:nvSpPr>
        <p:spPr>
          <a:xfrm>
            <a:off x="3233057" y="5012872"/>
            <a:ext cx="2628900" cy="1828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4800" dirty="0">
                <a:solidFill>
                  <a:srgbClr val="C00000"/>
                </a:solidFill>
              </a:rPr>
              <a:t>THE END</a:t>
            </a:r>
          </a:p>
        </p:txBody>
      </p:sp>
    </p:spTree>
    <p:extLst>
      <p:ext uri="{BB962C8B-B14F-4D97-AF65-F5344CB8AC3E}">
        <p14:creationId xmlns:p14="http://schemas.microsoft.com/office/powerpoint/2010/main" val="546522433"/>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TM03457464[[fn=Dividend]]</Template>
  <TotalTime>2109</TotalTime>
  <Words>2424</Words>
  <Application>Microsoft Office PowerPoint</Application>
  <PresentationFormat>Custom</PresentationFormat>
  <Paragraphs>205</Paragraphs>
  <Slides>16</Slides>
  <Notes>4</Notes>
  <HiddenSlides>0</HiddenSlides>
  <MMClips>0</MMClips>
  <ScaleCrop>false</ScaleCrop>
  <HeadingPairs>
    <vt:vector size="8" baseType="variant">
      <vt:variant>
        <vt:lpstr>Fonts Used</vt:lpstr>
      </vt:variant>
      <vt:variant>
        <vt:i4>14</vt:i4>
      </vt:variant>
      <vt:variant>
        <vt:lpstr>Theme</vt:lpstr>
      </vt:variant>
      <vt:variant>
        <vt:i4>1</vt:i4>
      </vt:variant>
      <vt:variant>
        <vt:lpstr>Embedded OLE Servers</vt:lpstr>
      </vt:variant>
      <vt:variant>
        <vt:i4>1</vt:i4>
      </vt:variant>
      <vt:variant>
        <vt:lpstr>Slide Titles</vt:lpstr>
      </vt:variant>
      <vt:variant>
        <vt:i4>16</vt:i4>
      </vt:variant>
    </vt:vector>
  </HeadingPairs>
  <TitlesOfParts>
    <vt:vector size="32" baseType="lpstr">
      <vt:lpstr>Lucida Sans Typewriter</vt:lpstr>
      <vt:lpstr>Wingdings 2</vt:lpstr>
      <vt:lpstr>Gill Sans MT</vt:lpstr>
      <vt:lpstr>Calibri</vt:lpstr>
      <vt:lpstr>Bell MT</vt:lpstr>
      <vt:lpstr>Arial Black</vt:lpstr>
      <vt:lpstr>Inter</vt:lpstr>
      <vt:lpstr>Bricolage Grotesque Semi Bold</vt:lpstr>
      <vt:lpstr>Arial Rounded MT Bold</vt:lpstr>
      <vt:lpstr>Arial</vt:lpstr>
      <vt:lpstr>Wingdings</vt:lpstr>
      <vt:lpstr>Times New Roman</vt:lpstr>
      <vt:lpstr>Cambria Math</vt:lpstr>
      <vt:lpstr>Bahnschrift SemiBold</vt:lpstr>
      <vt:lpstr>Dividend</vt:lpstr>
      <vt:lpstr>Equation.3</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LENOVO</dc:creator>
  <cp:lastModifiedBy>Newton Monye</cp:lastModifiedBy>
  <cp:revision>99</cp:revision>
  <dcterms:created xsi:type="dcterms:W3CDTF">2025-07-17T14:02:32Z</dcterms:created>
  <dcterms:modified xsi:type="dcterms:W3CDTF">2026-06-22T13:32:42Z</dcterms:modified>
</cp:coreProperties>
</file>