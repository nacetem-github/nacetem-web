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1"/>
  </p:sldMasterIdLst>
  <p:notesMasterIdLst>
    <p:notesMasterId r:id="rId28"/>
  </p:notesMasterIdLst>
  <p:handoutMasterIdLst>
    <p:handoutMasterId r:id="rId29"/>
  </p:handoutMasterIdLst>
  <p:sldIdLst>
    <p:sldId id="264" r:id="rId2"/>
    <p:sldId id="309" r:id="rId3"/>
    <p:sldId id="404" r:id="rId4"/>
    <p:sldId id="405" r:id="rId5"/>
    <p:sldId id="406" r:id="rId6"/>
    <p:sldId id="408" r:id="rId7"/>
    <p:sldId id="407" r:id="rId8"/>
    <p:sldId id="410" r:id="rId9"/>
    <p:sldId id="411" r:id="rId10"/>
    <p:sldId id="431" r:id="rId11"/>
    <p:sldId id="412" r:id="rId12"/>
    <p:sldId id="413" r:id="rId13"/>
    <p:sldId id="414" r:id="rId14"/>
    <p:sldId id="415" r:id="rId15"/>
    <p:sldId id="417" r:id="rId16"/>
    <p:sldId id="418" r:id="rId17"/>
    <p:sldId id="419" r:id="rId18"/>
    <p:sldId id="420" r:id="rId19"/>
    <p:sldId id="421" r:id="rId20"/>
    <p:sldId id="422" r:id="rId21"/>
    <p:sldId id="423" r:id="rId22"/>
    <p:sldId id="430" r:id="rId23"/>
    <p:sldId id="427" r:id="rId24"/>
    <p:sldId id="429" r:id="rId25"/>
    <p:sldId id="428" r:id="rId26"/>
    <p:sldId id="383"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8" clrIdx="0">
    <p:extLst>
      <p:ext uri="{19B8F6BF-5375-455C-9EA6-DF929625EA0E}">
        <p15:presenceInfo xmlns:p15="http://schemas.microsoft.com/office/powerpoint/2012/main" userId="d012383ee437734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34" autoAdjust="0"/>
    <p:restoredTop sz="94671" autoAdjust="0"/>
  </p:normalViewPr>
  <p:slideViewPr>
    <p:cSldViewPr>
      <p:cViewPr varScale="1">
        <p:scale>
          <a:sx n="78" d="100"/>
          <a:sy n="78" d="100"/>
        </p:scale>
        <p:origin x="1435" y="77"/>
      </p:cViewPr>
      <p:guideLst>
        <p:guide orient="horz" pos="2160"/>
        <p:guide pos="2880"/>
      </p:guideLst>
    </p:cSldViewPr>
  </p:slideViewPr>
  <p:notesTextViewPr>
    <p:cViewPr>
      <p:scale>
        <a:sx n="1" d="1"/>
        <a:sy n="1" d="1"/>
      </p:scale>
      <p:origin x="0" y="0"/>
    </p:cViewPr>
  </p:notesTextViewPr>
  <p:sorterViewPr>
    <p:cViewPr>
      <p:scale>
        <a:sx n="100" d="100"/>
        <a:sy n="100" d="100"/>
      </p:scale>
      <p:origin x="0" y="5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sz="quarter" idx="1"/>
          </p:nvPr>
        </p:nvSpPr>
        <p:spPr>
          <a:xfrm>
            <a:off x="3970939" y="0"/>
            <a:ext cx="3037840" cy="464820"/>
          </a:xfrm>
          <a:prstGeom prst="rect">
            <a:avLst/>
          </a:prstGeom>
        </p:spPr>
        <p:txBody>
          <a:bodyPr vert="horz" lIns="92432" tIns="46216" rIns="92432" bIns="46216" rtlCol="0"/>
          <a:lstStyle>
            <a:lvl1pPr algn="r">
              <a:defRPr sz="1200"/>
            </a:lvl1pPr>
          </a:lstStyle>
          <a:p>
            <a:fld id="{B4438958-17AF-4DB7-9286-359CCE11C3D8}" type="datetime1">
              <a:rPr lang="en-US" smtClean="0"/>
              <a:pPr/>
              <a:t>6/22/2026</a:t>
            </a:fld>
            <a:endParaRPr lang="en-US" dirty="0"/>
          </a:p>
        </p:txBody>
      </p:sp>
      <p:sp>
        <p:nvSpPr>
          <p:cNvPr id="4" name="Footer Placeholder 3"/>
          <p:cNvSpPr>
            <a:spLocks noGrp="1"/>
          </p:cNvSpPr>
          <p:nvPr>
            <p:ph type="ftr" sz="quarter" idx="2"/>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9" y="8829967"/>
            <a:ext cx="3037840" cy="464820"/>
          </a:xfrm>
          <a:prstGeom prst="rect">
            <a:avLst/>
          </a:prstGeom>
        </p:spPr>
        <p:txBody>
          <a:bodyPr vert="horz" lIns="92432" tIns="46216" rIns="92432" bIns="46216" rtlCol="0" anchor="b"/>
          <a:lstStyle>
            <a:lvl1pPr algn="r">
              <a:defRPr sz="1200"/>
            </a:lvl1pPr>
          </a:lstStyle>
          <a:p>
            <a:fld id="{37DD3F75-C114-4AB7-8C3A-4E238D754480}" type="slidenum">
              <a:rPr lang="en-US" smtClean="0"/>
              <a:pPr/>
              <a:t>‹#›</a:t>
            </a:fld>
            <a:endParaRPr lang="en-US" dirty="0"/>
          </a:p>
        </p:txBody>
      </p:sp>
    </p:spTree>
    <p:extLst>
      <p:ext uri="{BB962C8B-B14F-4D97-AF65-F5344CB8AC3E}">
        <p14:creationId xmlns:p14="http://schemas.microsoft.com/office/powerpoint/2010/main" val="5513183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idx="1"/>
          </p:nvPr>
        </p:nvSpPr>
        <p:spPr>
          <a:xfrm>
            <a:off x="3970939" y="0"/>
            <a:ext cx="3037840" cy="464820"/>
          </a:xfrm>
          <a:prstGeom prst="rect">
            <a:avLst/>
          </a:prstGeom>
        </p:spPr>
        <p:txBody>
          <a:bodyPr vert="horz" lIns="92432" tIns="46216" rIns="92432" bIns="46216" rtlCol="0"/>
          <a:lstStyle>
            <a:lvl1pPr algn="r">
              <a:defRPr sz="1200"/>
            </a:lvl1pPr>
          </a:lstStyle>
          <a:p>
            <a:fld id="{A2E0831B-1021-4217-B7C3-10CFE9172EF4}" type="datetime1">
              <a:rPr lang="en-US" smtClean="0"/>
              <a:pPr/>
              <a:t>6/22/2026</a:t>
            </a:fld>
            <a:endParaRPr lang="en-US" dirty="0"/>
          </a:p>
        </p:txBody>
      </p:sp>
      <p:sp>
        <p:nvSpPr>
          <p:cNvPr id="4" name="Slide Image Placeholder 3"/>
          <p:cNvSpPr>
            <a:spLocks noGrp="1" noRot="1" noChangeAspect="1"/>
          </p:cNvSpPr>
          <p:nvPr>
            <p:ph type="sldImg" idx="2"/>
          </p:nvPr>
        </p:nvSpPr>
        <p:spPr>
          <a:xfrm>
            <a:off x="1182688" y="696913"/>
            <a:ext cx="4646612" cy="3486150"/>
          </a:xfrm>
          <a:prstGeom prst="rect">
            <a:avLst/>
          </a:prstGeom>
          <a:noFill/>
          <a:ln w="12700">
            <a:solidFill>
              <a:prstClr val="black"/>
            </a:solidFill>
          </a:ln>
        </p:spPr>
        <p:txBody>
          <a:bodyPr vert="horz" lIns="92432" tIns="46216" rIns="92432" bIns="46216" rtlCol="0" anchor="ctr"/>
          <a:lstStyle/>
          <a:p>
            <a:endParaRPr lang="en-US" dirty="0"/>
          </a:p>
        </p:txBody>
      </p:sp>
      <p:sp>
        <p:nvSpPr>
          <p:cNvPr id="5" name="Notes Placeholder 4"/>
          <p:cNvSpPr>
            <a:spLocks noGrp="1"/>
          </p:cNvSpPr>
          <p:nvPr>
            <p:ph type="body" sz="quarter" idx="3"/>
          </p:nvPr>
        </p:nvSpPr>
        <p:spPr>
          <a:xfrm>
            <a:off x="701041" y="4415790"/>
            <a:ext cx="5608320" cy="4183380"/>
          </a:xfrm>
          <a:prstGeom prst="rect">
            <a:avLst/>
          </a:prstGeom>
        </p:spPr>
        <p:txBody>
          <a:bodyPr vert="horz" lIns="92432" tIns="46216" rIns="92432" bIns="462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9" y="8829967"/>
            <a:ext cx="3037840" cy="464820"/>
          </a:xfrm>
          <a:prstGeom prst="rect">
            <a:avLst/>
          </a:prstGeom>
        </p:spPr>
        <p:txBody>
          <a:bodyPr vert="horz" lIns="92432" tIns="46216" rIns="92432" bIns="46216" rtlCol="0" anchor="b"/>
          <a:lstStyle>
            <a:lvl1pPr algn="r">
              <a:defRPr sz="1200"/>
            </a:lvl1pPr>
          </a:lstStyle>
          <a:p>
            <a:fld id="{B424D693-3628-4055-9377-F1C425D0BDB9}" type="slidenum">
              <a:rPr lang="en-US" smtClean="0"/>
              <a:pPr/>
              <a:t>‹#›</a:t>
            </a:fld>
            <a:endParaRPr lang="en-US" dirty="0"/>
          </a:p>
        </p:txBody>
      </p:sp>
    </p:spTree>
    <p:extLst>
      <p:ext uri="{BB962C8B-B14F-4D97-AF65-F5344CB8AC3E}">
        <p14:creationId xmlns:p14="http://schemas.microsoft.com/office/powerpoint/2010/main" val="12622586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5" name="Rectangle 4"/>
          <p:cNvSpPr/>
          <p:nvPr/>
        </p:nvSpPr>
        <p:spPr>
          <a:xfrm>
            <a:off x="61912" y="1560513"/>
            <a:ext cx="9020175" cy="1527175"/>
          </a:xfrm>
          <a:prstGeom prst="rect">
            <a:avLst/>
          </a:prstGeom>
          <a:solidFill>
            <a:schemeClr val="accent2">
              <a:lumMod val="75000"/>
            </a:schemeClr>
          </a:solidFill>
          <a:ln/>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6" name="Rectangle 5"/>
          <p:cNvSpPr/>
          <p:nvPr/>
        </p:nvSpPr>
        <p:spPr>
          <a:xfrm>
            <a:off x="61913" y="1439863"/>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7" name="Rectangle 6"/>
          <p:cNvSpPr>
            <a:spLocks noChangeArrowheads="1"/>
          </p:cNvSpPr>
          <p:nvPr/>
        </p:nvSpPr>
        <p:spPr bwMode="auto">
          <a:xfrm>
            <a:off x="1187450" y="3141663"/>
            <a:ext cx="6624638" cy="1852612"/>
          </a:xfrm>
          <a:prstGeom prst="rect">
            <a:avLst/>
          </a:prstGeom>
          <a:solidFill>
            <a:srgbClr val="262626"/>
          </a:solidFill>
          <a:ln>
            <a:noFill/>
          </a:ln>
          <a:effectLst>
            <a:outerShdw blurRad="63500" dist="38100" dir="8100000" algn="tr" rotWithShape="0">
              <a:srgbClr val="000000">
                <a:alpha val="39999"/>
              </a:srgbClr>
            </a:outerShdw>
          </a:effectLst>
          <a:extLst>
            <a:ext uri="{91240B29-F687-4f45-9708-019B960494DF}">
              <a14:hiddenLine xmlns:a14="http://schemas.microsoft.com/office/drawing/2010/main" xmlns="" w="19050" cap="sq">
                <a:solidFill>
                  <a:srgbClr val="000000"/>
                </a:solidFill>
                <a:miter lim="800000"/>
                <a:headEnd/>
                <a:tailEnd/>
              </a14:hiddenLine>
            </a:ext>
          </a:extLst>
        </p:spPr>
        <p:txBody>
          <a:bodyPr anchor="ctr"/>
          <a:lstStyle/>
          <a:p>
            <a:pPr algn="ctr" fontAlgn="auto">
              <a:spcBef>
                <a:spcPts val="0"/>
              </a:spcBef>
              <a:spcAft>
                <a:spcPts val="0"/>
              </a:spcAft>
              <a:defRPr/>
            </a:pPr>
            <a:endParaRPr lang="en-US">
              <a:solidFill>
                <a:prstClr val="white"/>
              </a:solidFill>
              <a:latin typeface="+mn-lt"/>
              <a:ea typeface="+mn-ea"/>
            </a:endParaRPr>
          </a:p>
        </p:txBody>
      </p:sp>
      <p:pic>
        <p:nvPicPr>
          <p:cNvPr id="10" name="Picture 18" descr="NAC_LOGO-2.gif"/>
          <p:cNvPicPr>
            <a:picLocks noChangeAspect="1"/>
          </p:cNvPicPr>
          <p:nvPr/>
        </p:nvPicPr>
        <p:blipFill>
          <a:blip r:embed="rId2"/>
          <a:srcRect/>
          <a:stretch>
            <a:fillRect/>
          </a:stretch>
        </p:blipFill>
        <p:spPr bwMode="auto">
          <a:xfrm>
            <a:off x="3022600" y="11113"/>
            <a:ext cx="685800" cy="677862"/>
          </a:xfrm>
          <a:prstGeom prst="rect">
            <a:avLst/>
          </a:prstGeom>
          <a:noFill/>
          <a:ln w="9525">
            <a:noFill/>
            <a:miter lim="800000"/>
            <a:headEnd/>
            <a:tailEnd/>
          </a:ln>
        </p:spPr>
      </p:pic>
      <p:sp>
        <p:nvSpPr>
          <p:cNvPr id="11" name="TextBox 10"/>
          <p:cNvSpPr txBox="1"/>
          <p:nvPr/>
        </p:nvSpPr>
        <p:spPr>
          <a:xfrm>
            <a:off x="3707904" y="-91578"/>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2" name="TextBox 11"/>
          <p:cNvSpPr txBox="1"/>
          <p:nvPr/>
        </p:nvSpPr>
        <p:spPr>
          <a:xfrm>
            <a:off x="1960922" y="628749"/>
            <a:ext cx="5469575"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sp>
        <p:nvSpPr>
          <p:cNvPr id="13" name="TextBox 12"/>
          <p:cNvSpPr txBox="1">
            <a:spLocks noChangeArrowheads="1"/>
          </p:cNvSpPr>
          <p:nvPr/>
        </p:nvSpPr>
        <p:spPr bwMode="auto">
          <a:xfrm>
            <a:off x="7086600" y="6505575"/>
            <a:ext cx="1981200" cy="307975"/>
          </a:xfrm>
          <a:prstGeom prst="rect">
            <a:avLst/>
          </a:prstGeom>
          <a:noFill/>
          <a:ln>
            <a:noFill/>
          </a:ln>
        </p:spPr>
        <p:txBody>
          <a:bodyPr>
            <a:spAutoFit/>
          </a:bodyPr>
          <a:lstStyle/>
          <a:p>
            <a:pPr algn="ctr"/>
            <a:r>
              <a:rPr lang="en-US" sz="1400" i="1" dirty="0">
                <a:solidFill>
                  <a:srgbClr val="000000"/>
                </a:solidFill>
                <a:latin typeface="Tw Cen MT" pitchFamily="34" charset="0"/>
              </a:rPr>
              <a:t>© NACETEM 2025</a:t>
            </a:r>
          </a:p>
        </p:txBody>
      </p:sp>
      <p:sp>
        <p:nvSpPr>
          <p:cNvPr id="14" name="TextBox 24"/>
          <p:cNvSpPr txBox="1">
            <a:spLocks noChangeArrowheads="1"/>
          </p:cNvSpPr>
          <p:nvPr userDrawn="1"/>
        </p:nvSpPr>
        <p:spPr bwMode="auto">
          <a:xfrm>
            <a:off x="755650" y="6500813"/>
            <a:ext cx="5976938" cy="307975"/>
          </a:xfrm>
          <a:prstGeom prst="rect">
            <a:avLst/>
          </a:prstGeom>
          <a:noFill/>
          <a:ln>
            <a:noFill/>
          </a:ln>
        </p:spPr>
        <p:txBody>
          <a:bodyPr>
            <a:spAutoFit/>
          </a:bodyPr>
          <a:lstStyle/>
          <a:p>
            <a:r>
              <a:rPr lang="en-GB" sz="1400" i="1" dirty="0">
                <a:latin typeface="Calibri Light" pitchFamily="34" charset="0"/>
              </a:rPr>
              <a:t>NACETEM…Managing Technology for Sustainable Development</a:t>
            </a: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b="0">
                <a:solidFill>
                  <a:schemeClr val="bg1"/>
                </a:solidFill>
                <a:latin typeface="Calibri Light"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libri" pitchFamily="34" charset="0"/>
              </a:defRPr>
            </a:lvl1pPr>
          </a:lstStyle>
          <a:p>
            <a:r>
              <a:rPr lang="en-US" dirty="0"/>
              <a:t>Click to edit Master title style</a:t>
            </a:r>
          </a:p>
        </p:txBody>
      </p:sp>
      <p:sp>
        <p:nvSpPr>
          <p:cNvPr id="15" name="Slide Number Placeholder 28"/>
          <p:cNvSpPr>
            <a:spLocks noGrp="1"/>
          </p:cNvSpPr>
          <p:nvPr>
            <p:ph type="sldNum" sz="quarter" idx="10"/>
          </p:nvPr>
        </p:nvSpPr>
        <p:spPr/>
        <p:txBody>
          <a:bodyPr/>
          <a:lstStyle>
            <a:lvl1pPr>
              <a:defRPr/>
            </a:lvl1pPr>
          </a:lstStyle>
          <a:p>
            <a:fld id="{CB49EDA5-6D1B-4EF8-B9D1-6F0743E708F5}" type="slidenum">
              <a:rPr lang="en-GB"/>
              <a:pPr/>
              <a:t>‹#›</a:t>
            </a:fld>
            <a:endParaRPr lang="en-GB"/>
          </a:p>
        </p:txBody>
      </p:sp>
    </p:spTree>
    <p:extLst>
      <p:ext uri="{BB962C8B-B14F-4D97-AF65-F5344CB8AC3E}">
        <p14:creationId xmlns:p14="http://schemas.microsoft.com/office/powerpoint/2010/main" val="199074244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Slide Number Placeholder 22"/>
          <p:cNvSpPr>
            <a:spLocks noGrp="1"/>
          </p:cNvSpPr>
          <p:nvPr>
            <p:ph type="sldNum" sz="quarter" idx="10"/>
          </p:nvPr>
        </p:nvSpPr>
        <p:spPr/>
        <p:txBody>
          <a:bodyPr/>
          <a:lstStyle>
            <a:lvl1pPr>
              <a:defRPr/>
            </a:lvl1pPr>
          </a:lstStyle>
          <a:p>
            <a:fld id="{570EC2F4-BA6F-46EE-850D-694B38431047}" type="slidenum">
              <a:rPr lang="en-GB"/>
              <a:pPr/>
              <a:t>‹#›</a:t>
            </a:fld>
            <a:endParaRPr lang="en-GB" dirty="0"/>
          </a:p>
        </p:txBody>
      </p:sp>
    </p:spTree>
    <p:extLst>
      <p:ext uri="{BB962C8B-B14F-4D97-AF65-F5344CB8AC3E}">
        <p14:creationId xmlns:p14="http://schemas.microsoft.com/office/powerpoint/2010/main" val="119331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539552" y="1700808"/>
            <a:ext cx="3979872"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
          </p:nvPr>
        </p:nvSpPr>
        <p:spPr>
          <a:xfrm>
            <a:off x="4788024" y="1700808"/>
            <a:ext cx="3749040"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2"/>
          <p:cNvSpPr>
            <a:spLocks noGrp="1"/>
          </p:cNvSpPr>
          <p:nvPr>
            <p:ph type="sldNum" sz="quarter" idx="10"/>
          </p:nvPr>
        </p:nvSpPr>
        <p:spPr/>
        <p:txBody>
          <a:bodyPr/>
          <a:lstStyle>
            <a:lvl1pPr>
              <a:defRPr/>
            </a:lvl1pPr>
          </a:lstStyle>
          <a:p>
            <a:fld id="{FC1CB4F6-48C5-41DC-AD8A-7C8A1C3756F9}" type="slidenum">
              <a:rPr lang="en-GB"/>
              <a:pPr/>
              <a:t>‹#›</a:t>
            </a:fld>
            <a:endParaRPr lang="en-GB"/>
          </a:p>
        </p:txBody>
      </p:sp>
    </p:spTree>
    <p:extLst>
      <p:ext uri="{BB962C8B-B14F-4D97-AF65-F5344CB8AC3E}">
        <p14:creationId xmlns:p14="http://schemas.microsoft.com/office/powerpoint/2010/main" val="879919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8"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fld id="{DEBFA543-A32D-4F79-A4ED-10059AD0630F}" type="slidenum">
              <a:rPr lang="en-GB"/>
              <a:pPr/>
              <a:t>‹#›</a:t>
            </a:fld>
            <a:endParaRPr lang="en-GB"/>
          </a:p>
        </p:txBody>
      </p:sp>
    </p:spTree>
    <p:extLst>
      <p:ext uri="{BB962C8B-B14F-4D97-AF65-F5344CB8AC3E}">
        <p14:creationId xmlns:p14="http://schemas.microsoft.com/office/powerpoint/2010/main" val="2608907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552" y="2492896"/>
            <a:ext cx="8194104"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p>
        </p:txBody>
      </p:sp>
      <p:sp>
        <p:nvSpPr>
          <p:cNvPr id="3" name="Slide Number Placeholder 22"/>
          <p:cNvSpPr>
            <a:spLocks noGrp="1"/>
          </p:cNvSpPr>
          <p:nvPr>
            <p:ph type="sldNum" sz="quarter" idx="10"/>
          </p:nvPr>
        </p:nvSpPr>
        <p:spPr/>
        <p:txBody>
          <a:bodyPr/>
          <a:lstStyle>
            <a:lvl1pPr>
              <a:defRPr/>
            </a:lvl1pPr>
          </a:lstStyle>
          <a:p>
            <a:fld id="{AAF07390-5331-4807-BD67-FEA8162774E5}" type="slidenum">
              <a:rPr lang="en-GB"/>
              <a:pPr/>
              <a:t>‹#›</a:t>
            </a:fld>
            <a:endParaRPr lang="en-GB"/>
          </a:p>
        </p:txBody>
      </p:sp>
    </p:spTree>
    <p:extLst>
      <p:ext uri="{BB962C8B-B14F-4D97-AF65-F5344CB8AC3E}">
        <p14:creationId xmlns:p14="http://schemas.microsoft.com/office/powerpoint/2010/main" val="399871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3"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fld id="{BDE93C14-AE17-4D24-86F4-FE86C4D87B1C}" type="slidenum">
              <a:rPr lang="en-GB"/>
              <a:pPr/>
              <a:t>‹#›</a:t>
            </a:fld>
            <a:endParaRPr lang="en-GB"/>
          </a:p>
        </p:txBody>
      </p:sp>
    </p:spTree>
    <p:extLst>
      <p:ext uri="{BB962C8B-B14F-4D97-AF65-F5344CB8AC3E}">
        <p14:creationId xmlns:p14="http://schemas.microsoft.com/office/powerpoint/2010/main" val="110440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6E5F19E-E292-4EBF-9EFB-12533E997EDB}" type="slidenum">
              <a:rPr lang="en-GB"/>
              <a:pPr/>
              <a:t>‹#›</a:t>
            </a:fld>
            <a:endParaRPr lang="en-GB"/>
          </a:p>
        </p:txBody>
      </p:sp>
    </p:spTree>
    <p:extLst>
      <p:ext uri="{BB962C8B-B14F-4D97-AF65-F5344CB8AC3E}">
        <p14:creationId xmlns:p14="http://schemas.microsoft.com/office/powerpoint/2010/main" val="1937156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97C165D-DD1A-47B3-9F4B-1A7B065EABA4}" type="slidenum">
              <a:rPr lang="en-GB"/>
              <a:pPr/>
              <a:t>‹#›</a:t>
            </a:fld>
            <a:endParaRPr lang="en-GB"/>
          </a:p>
        </p:txBody>
      </p:sp>
    </p:spTree>
    <p:extLst>
      <p:ext uri="{BB962C8B-B14F-4D97-AF65-F5344CB8AC3E}">
        <p14:creationId xmlns:p14="http://schemas.microsoft.com/office/powerpoint/2010/main" val="26795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7"/>
          <p:cNvSpPr>
            <a:spLocks noGrp="1" noChangeArrowheads="1"/>
          </p:cNvSpPr>
          <p:nvPr>
            <p:ph type="sldNum" sz="quarter" idx="12"/>
          </p:nvPr>
        </p:nvSpPr>
        <p:spPr/>
        <p:txBody>
          <a:bodyPr/>
          <a:lstStyle>
            <a:lvl1pPr>
              <a:defRPr/>
            </a:lvl1pPr>
          </a:lstStyle>
          <a:p>
            <a:fld id="{B3166BE0-4650-4758-8CC1-441A41767186}" type="slidenum">
              <a:rPr lang="en-GB"/>
              <a:pPr/>
              <a:t>‹#›</a:t>
            </a:fld>
            <a:endParaRPr lang="en-GB"/>
          </a:p>
        </p:txBody>
      </p:sp>
    </p:spTree>
    <p:extLst>
      <p:ext uri="{BB962C8B-B14F-4D97-AF65-F5344CB8AC3E}">
        <p14:creationId xmlns:p14="http://schemas.microsoft.com/office/powerpoint/2010/main" val="155014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lstStyle/>
          <a:p>
            <a:pPr lvl="0"/>
            <a:r>
              <a:rPr lang="en-US" noProof="0"/>
              <a:t>Click icon to add table</a:t>
            </a:r>
          </a:p>
        </p:txBody>
      </p:sp>
      <p:sp>
        <p:nvSpPr>
          <p:cNvPr id="4"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Rectangle 7"/>
          <p:cNvSpPr>
            <a:spLocks noGrp="1" noChangeArrowheads="1"/>
          </p:cNvSpPr>
          <p:nvPr>
            <p:ph type="sldNum" sz="quarter" idx="12"/>
          </p:nvPr>
        </p:nvSpPr>
        <p:spPr/>
        <p:txBody>
          <a:bodyPr/>
          <a:lstStyle>
            <a:lvl1pPr>
              <a:defRPr/>
            </a:lvl1pPr>
          </a:lstStyle>
          <a:p>
            <a:fld id="{0C7A436E-455D-4B62-97ED-6266397FEF62}" type="slidenum">
              <a:rPr lang="en-GB"/>
              <a:pPr/>
              <a:t>‹#›</a:t>
            </a:fld>
            <a:endParaRPr lang="en-GB"/>
          </a:p>
        </p:txBody>
      </p:sp>
    </p:spTree>
    <p:extLst>
      <p:ext uri="{BB962C8B-B14F-4D97-AF65-F5344CB8AC3E}">
        <p14:creationId xmlns:p14="http://schemas.microsoft.com/office/powerpoint/2010/main" val="1821093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886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Footer Placeholder 6"/>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8" name="Slide Number Placeholder 7"/>
          <p:cNvSpPr>
            <a:spLocks noGrp="1"/>
          </p:cNvSpPr>
          <p:nvPr>
            <p:ph type="sldNum" sz="quarter" idx="12"/>
          </p:nvPr>
        </p:nvSpPr>
        <p:spPr/>
        <p:txBody>
          <a:bodyPr/>
          <a:lstStyle>
            <a:lvl1pPr>
              <a:defRPr>
                <a:solidFill>
                  <a:srgbClr val="898989"/>
                </a:solidFill>
              </a:defRPr>
            </a:lvl1pPr>
          </a:lstStyle>
          <a:p>
            <a:fld id="{27B98567-4A0B-48CC-A982-45492D08D158}" type="slidenum">
              <a:rPr lang="en-GB"/>
              <a:pPr/>
              <a:t>‹#›</a:t>
            </a:fld>
            <a:endParaRPr lang="en-GB"/>
          </a:p>
        </p:txBody>
      </p:sp>
    </p:spTree>
    <p:extLst>
      <p:ext uri="{BB962C8B-B14F-4D97-AF65-F5344CB8AC3E}">
        <p14:creationId xmlns:p14="http://schemas.microsoft.com/office/powerpoint/2010/main" val="75665953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6" name="Footer Placeholder 5"/>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rgbClr val="898989"/>
                </a:solidFill>
              </a:defRPr>
            </a:lvl1pPr>
          </a:lstStyle>
          <a:p>
            <a:fld id="{BDBB1DCD-4BB2-48AE-B70F-FA3E1C7879AB}" type="slidenum">
              <a:rPr lang="en-GB"/>
              <a:pPr/>
              <a:t>‹#›</a:t>
            </a:fld>
            <a:endParaRPr lang="en-GB"/>
          </a:p>
        </p:txBody>
      </p:sp>
    </p:spTree>
    <p:extLst>
      <p:ext uri="{BB962C8B-B14F-4D97-AF65-F5344CB8AC3E}">
        <p14:creationId xmlns:p14="http://schemas.microsoft.com/office/powerpoint/2010/main" val="24491961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pPr/>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extLst>
      <p:ext uri="{BB962C8B-B14F-4D97-AF65-F5344CB8AC3E}">
        <p14:creationId xmlns:p14="http://schemas.microsoft.com/office/powerpoint/2010/main" val="3457226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1027" name="Title Placeholder 21"/>
          <p:cNvSpPr>
            <a:spLocks noGrp="1"/>
          </p:cNvSpPr>
          <p:nvPr>
            <p:ph type="title"/>
          </p:nvPr>
        </p:nvSpPr>
        <p:spPr bwMode="auto">
          <a:xfrm>
            <a:off x="250825" y="669925"/>
            <a:ext cx="7978775" cy="1006475"/>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8" name="Text Placeholder 12"/>
          <p:cNvSpPr>
            <a:spLocks noGrp="1"/>
          </p:cNvSpPr>
          <p:nvPr>
            <p:ph type="body" idx="1"/>
          </p:nvPr>
        </p:nvSpPr>
        <p:spPr bwMode="auto">
          <a:xfrm>
            <a:off x="250825" y="1676400"/>
            <a:ext cx="8166100" cy="4632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Slide Number Placeholder 22"/>
          <p:cNvSpPr>
            <a:spLocks noGrp="1"/>
          </p:cNvSpPr>
          <p:nvPr>
            <p:ph type="sldNum" sz="quarter" idx="4"/>
          </p:nvPr>
        </p:nvSpPr>
        <p:spPr>
          <a:xfrm>
            <a:off x="146050" y="6324600"/>
            <a:ext cx="457200" cy="457200"/>
          </a:xfrm>
          <a:prstGeom prst="ellipse">
            <a:avLst/>
          </a:prstGeom>
          <a:solidFill>
            <a:schemeClr val="accent2"/>
          </a:solidFill>
        </p:spPr>
        <p:txBody>
          <a:bodyPr vert="horz" wrap="none" lIns="0" tIns="0" rIns="0" bIns="0" numCol="1" anchor="ctr" anchorCtr="1" compatLnSpc="1">
            <a:prstTxWarp prst="textNoShape">
              <a:avLst/>
            </a:prstTxWarp>
            <a:noAutofit/>
          </a:bodyPr>
          <a:lstStyle>
            <a:lvl1pPr algn="ctr">
              <a:defRPr sz="1400">
                <a:solidFill>
                  <a:srgbClr val="FFFFFF"/>
                </a:solidFill>
                <a:latin typeface="Tw Cen MT" pitchFamily="34" charset="0"/>
              </a:defRPr>
            </a:lvl1pPr>
          </a:lstStyle>
          <a:p>
            <a:fld id="{FA2D2DF1-13C5-43BF-BBD9-0DA151975497}" type="slidenum">
              <a:rPr lang="en-GB"/>
              <a:pPr/>
              <a:t>‹#›</a:t>
            </a:fld>
            <a:endParaRPr lang="en-GB"/>
          </a:p>
        </p:txBody>
      </p:sp>
      <p:pic>
        <p:nvPicPr>
          <p:cNvPr id="1030" name="Picture 9" descr="NAC_LOGO-2.gif"/>
          <p:cNvPicPr>
            <a:picLocks noChangeAspect="1"/>
          </p:cNvPicPr>
          <p:nvPr/>
        </p:nvPicPr>
        <p:blipFill>
          <a:blip r:embed="rId15"/>
          <a:srcRect/>
          <a:stretch>
            <a:fillRect/>
          </a:stretch>
        </p:blipFill>
        <p:spPr bwMode="auto">
          <a:xfrm>
            <a:off x="8558213" y="6165850"/>
            <a:ext cx="550862" cy="542925"/>
          </a:xfrm>
          <a:prstGeom prst="rect">
            <a:avLst/>
          </a:prstGeom>
          <a:noFill/>
          <a:ln w="9525">
            <a:noFill/>
            <a:miter lim="800000"/>
            <a:headEnd/>
            <a:tailEnd/>
          </a:ln>
        </p:spPr>
      </p:pic>
      <p:sp>
        <p:nvSpPr>
          <p:cNvPr id="13" name="TextBox 12"/>
          <p:cNvSpPr txBox="1"/>
          <p:nvPr/>
        </p:nvSpPr>
        <p:spPr>
          <a:xfrm>
            <a:off x="6218461" y="-99392"/>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034" name="TextBox 23"/>
          <p:cNvSpPr txBox="1">
            <a:spLocks noChangeArrowheads="1"/>
          </p:cNvSpPr>
          <p:nvPr/>
        </p:nvSpPr>
        <p:spPr bwMode="auto">
          <a:xfrm>
            <a:off x="6751638" y="6562725"/>
            <a:ext cx="1981200" cy="276225"/>
          </a:xfrm>
          <a:prstGeom prst="rect">
            <a:avLst/>
          </a:prstGeom>
          <a:noFill/>
          <a:ln>
            <a:noFill/>
          </a:ln>
        </p:spPr>
        <p:txBody>
          <a:bodyPr>
            <a:spAutoFit/>
          </a:bodyPr>
          <a:lstStyle/>
          <a:p>
            <a:pPr algn="ctr"/>
            <a:r>
              <a:rPr lang="en-US" sz="1200" i="1" dirty="0">
                <a:solidFill>
                  <a:srgbClr val="000000"/>
                </a:solidFill>
                <a:latin typeface="Tw Cen MT" pitchFamily="34" charset="0"/>
              </a:rPr>
              <a:t>© NACETEM 2025</a:t>
            </a:r>
          </a:p>
        </p:txBody>
      </p:sp>
      <p:sp>
        <p:nvSpPr>
          <p:cNvPr id="4" name="Rectangle 3"/>
          <p:cNvSpPr/>
          <p:nvPr userDrawn="1"/>
        </p:nvSpPr>
        <p:spPr>
          <a:xfrm>
            <a:off x="8733061" y="0"/>
            <a:ext cx="41093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15" name="TextBox 14"/>
          <p:cNvSpPr txBox="1"/>
          <p:nvPr/>
        </p:nvSpPr>
        <p:spPr>
          <a:xfrm rot="16200000">
            <a:off x="5923562" y="2809500"/>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just"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cxnSp>
        <p:nvCxnSpPr>
          <p:cNvPr id="6" name="Straight Connector 5"/>
          <p:cNvCxnSpPr/>
          <p:nvPr userDrawn="1"/>
        </p:nvCxnSpPr>
        <p:spPr>
          <a:xfrm flipH="1">
            <a:off x="0" y="620713"/>
            <a:ext cx="8732838"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38" name="TextBox 7"/>
          <p:cNvSpPr txBox="1">
            <a:spLocks noChangeArrowheads="1"/>
          </p:cNvSpPr>
          <p:nvPr userDrawn="1"/>
        </p:nvSpPr>
        <p:spPr bwMode="auto">
          <a:xfrm>
            <a:off x="755650" y="6437313"/>
            <a:ext cx="6337300" cy="338137"/>
          </a:xfrm>
          <a:prstGeom prst="rect">
            <a:avLst/>
          </a:prstGeom>
          <a:noFill/>
          <a:ln>
            <a:noFill/>
          </a:ln>
        </p:spPr>
        <p:txBody>
          <a:bodyPr>
            <a:spAutoFit/>
          </a:bodyPr>
          <a:lstStyle/>
          <a:p>
            <a:r>
              <a:rPr lang="en-GB" sz="1600" i="1">
                <a:latin typeface="Calibri Light" pitchFamily="34" charset="0"/>
              </a:rPr>
              <a:t>NACETEM…Managing Technology for Sustainable Development</a:t>
            </a:r>
          </a:p>
        </p:txBody>
      </p:sp>
    </p:spTree>
    <p:extLst>
      <p:ext uri="{BB962C8B-B14F-4D97-AF65-F5344CB8AC3E}">
        <p14:creationId xmlns:p14="http://schemas.microsoft.com/office/powerpoint/2010/main" val="658528353"/>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Lst>
  <p:hf hdr="0" ftr="0" dt="0"/>
  <p:txStyles>
    <p:titleStyle>
      <a:lvl1pPr algn="l" rtl="0" eaLnBrk="0" fontAlgn="base" hangingPunct="0">
        <a:spcBef>
          <a:spcPct val="0"/>
        </a:spcBef>
        <a:spcAft>
          <a:spcPct val="0"/>
        </a:spcAft>
        <a:defRPr sz="3600" kern="1200">
          <a:solidFill>
            <a:schemeClr val="tx2"/>
          </a:solidFill>
          <a:latin typeface="Calibri" pitchFamily="34" charset="0"/>
          <a:ea typeface="ＭＳ Ｐゴシック" charset="0"/>
          <a:cs typeface="+mj-cs"/>
        </a:defRPr>
      </a:lvl1pPr>
      <a:lvl2pPr algn="l" rtl="0" eaLnBrk="0" fontAlgn="base" hangingPunct="0">
        <a:spcBef>
          <a:spcPct val="0"/>
        </a:spcBef>
        <a:spcAft>
          <a:spcPct val="0"/>
        </a:spcAft>
        <a:defRPr sz="3600">
          <a:solidFill>
            <a:schemeClr val="tx2"/>
          </a:solidFill>
          <a:latin typeface="Calibri" pitchFamily="34" charset="0"/>
          <a:ea typeface="ＭＳ Ｐゴシック" charset="0"/>
        </a:defRPr>
      </a:lvl2pPr>
      <a:lvl3pPr algn="l" rtl="0" eaLnBrk="0" fontAlgn="base" hangingPunct="0">
        <a:spcBef>
          <a:spcPct val="0"/>
        </a:spcBef>
        <a:spcAft>
          <a:spcPct val="0"/>
        </a:spcAft>
        <a:defRPr sz="3600">
          <a:solidFill>
            <a:schemeClr val="tx2"/>
          </a:solidFill>
          <a:latin typeface="Calibri" pitchFamily="34" charset="0"/>
          <a:ea typeface="ＭＳ Ｐゴシック" charset="0"/>
        </a:defRPr>
      </a:lvl3pPr>
      <a:lvl4pPr algn="l" rtl="0" eaLnBrk="0" fontAlgn="base" hangingPunct="0">
        <a:spcBef>
          <a:spcPct val="0"/>
        </a:spcBef>
        <a:spcAft>
          <a:spcPct val="0"/>
        </a:spcAft>
        <a:defRPr sz="3600">
          <a:solidFill>
            <a:schemeClr val="tx2"/>
          </a:solidFill>
          <a:latin typeface="Calibri" pitchFamily="34" charset="0"/>
          <a:ea typeface="ＭＳ Ｐゴシック" charset="0"/>
        </a:defRPr>
      </a:lvl4pPr>
      <a:lvl5pPr algn="l" rtl="0" eaLnBrk="0" fontAlgn="base" hangingPunct="0">
        <a:spcBef>
          <a:spcPct val="0"/>
        </a:spcBef>
        <a:spcAft>
          <a:spcPct val="0"/>
        </a:spcAft>
        <a:defRPr sz="3600">
          <a:solidFill>
            <a:schemeClr val="tx2"/>
          </a:solidFill>
          <a:latin typeface="Calibri" pitchFamily="34" charset="0"/>
          <a:ea typeface="ＭＳ Ｐゴシック" charset="0"/>
        </a:defRPr>
      </a:lvl5pPr>
      <a:lvl6pPr marL="457200" algn="l" rtl="0" eaLnBrk="1" fontAlgn="base" hangingPunct="1">
        <a:spcBef>
          <a:spcPct val="0"/>
        </a:spcBef>
        <a:spcAft>
          <a:spcPct val="0"/>
        </a:spcAft>
        <a:defRPr sz="4000">
          <a:solidFill>
            <a:schemeClr val="tx2"/>
          </a:solidFill>
          <a:latin typeface="Tw Cen MT" pitchFamily="34" charset="0"/>
        </a:defRPr>
      </a:lvl6pPr>
      <a:lvl7pPr marL="914400" algn="l" rtl="0" eaLnBrk="1" fontAlgn="base" hangingPunct="1">
        <a:spcBef>
          <a:spcPct val="0"/>
        </a:spcBef>
        <a:spcAft>
          <a:spcPct val="0"/>
        </a:spcAft>
        <a:defRPr sz="4000">
          <a:solidFill>
            <a:schemeClr val="tx2"/>
          </a:solidFill>
          <a:latin typeface="Tw Cen MT" pitchFamily="34" charset="0"/>
        </a:defRPr>
      </a:lvl7pPr>
      <a:lvl8pPr marL="1371600" algn="l" rtl="0" eaLnBrk="1" fontAlgn="base" hangingPunct="1">
        <a:spcBef>
          <a:spcPct val="0"/>
        </a:spcBef>
        <a:spcAft>
          <a:spcPct val="0"/>
        </a:spcAft>
        <a:defRPr sz="4000">
          <a:solidFill>
            <a:schemeClr val="tx2"/>
          </a:solidFill>
          <a:latin typeface="Tw Cen MT" pitchFamily="34" charset="0"/>
        </a:defRPr>
      </a:lvl8pPr>
      <a:lvl9pPr marL="1828800" algn="l" rtl="0" eaLnBrk="1" fontAlgn="base" hangingPunct="1">
        <a:spcBef>
          <a:spcPct val="0"/>
        </a:spcBef>
        <a:spcAft>
          <a:spcPct val="0"/>
        </a:spcAft>
        <a:defRPr sz="4000">
          <a:solidFill>
            <a:schemeClr val="tx2"/>
          </a:solidFill>
          <a:latin typeface="Tw Cen MT"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ubtitle 2"/>
          <p:cNvSpPr>
            <a:spLocks noGrp="1"/>
          </p:cNvSpPr>
          <p:nvPr>
            <p:ph type="subTitle" idx="1"/>
          </p:nvPr>
        </p:nvSpPr>
        <p:spPr>
          <a:xfrm>
            <a:off x="1219200" y="3200400"/>
            <a:ext cx="6553200" cy="2895600"/>
          </a:xfrm>
        </p:spPr>
        <p:txBody>
          <a:bodyPr/>
          <a:lstStyle/>
          <a:p>
            <a:pPr>
              <a:spcBef>
                <a:spcPts val="0"/>
              </a:spcBef>
              <a:defRPr/>
            </a:pPr>
            <a:endParaRPr lang="en-US" sz="1800" b="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a:solidFill>
                  <a:schemeClr val="accent6">
                    <a:lumMod val="20000"/>
                    <a:lumOff val="80000"/>
                  </a:schemeClr>
                </a:solidFill>
                <a:latin typeface="Aharoni" pitchFamily="2" charset="-79"/>
                <a:ea typeface="+mn-ea"/>
                <a:cs typeface="Aharoni" pitchFamily="2" charset="-79"/>
              </a:rPr>
              <a:t>Engr. Seigha Gumus, </a:t>
            </a:r>
            <a:r>
              <a:rPr lang="en-US" sz="1800" dirty="0" err="1">
                <a:solidFill>
                  <a:schemeClr val="accent6">
                    <a:lumMod val="20000"/>
                    <a:lumOff val="80000"/>
                  </a:schemeClr>
                </a:solidFill>
                <a:latin typeface="Aharoni" pitchFamily="2" charset="-79"/>
                <a:ea typeface="+mn-ea"/>
                <a:cs typeface="Aharoni" pitchFamily="2" charset="-79"/>
              </a:rPr>
              <a:t>FNIMechE</a:t>
            </a:r>
            <a:endParaRPr lang="en-US" sz="1800" i="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a:solidFill>
                  <a:schemeClr val="accent6">
                    <a:lumMod val="20000"/>
                    <a:lumOff val="80000"/>
                  </a:schemeClr>
                </a:solidFill>
                <a:ea typeface="+mn-ea"/>
              </a:rPr>
              <a:t>NACETEM South-South</a:t>
            </a:r>
          </a:p>
          <a:p>
            <a:pPr>
              <a:spcBef>
                <a:spcPts val="0"/>
              </a:spcBef>
              <a:defRPr/>
            </a:pPr>
            <a:endParaRPr lang="en-US" sz="2400" b="1" dirty="0">
              <a:solidFill>
                <a:schemeClr val="accent6">
                  <a:lumMod val="20000"/>
                  <a:lumOff val="80000"/>
                </a:schemeClr>
              </a:solidFill>
              <a:ea typeface="+mn-ea"/>
            </a:endParaRPr>
          </a:p>
          <a:p>
            <a:pPr>
              <a:lnSpc>
                <a:spcPct val="150000"/>
              </a:lnSpc>
              <a:spcBef>
                <a:spcPts val="0"/>
              </a:spcBef>
              <a:defRPr/>
            </a:pPr>
            <a:endParaRPr lang="en-US" sz="2400" b="1" dirty="0">
              <a:solidFill>
                <a:srgbClr val="C00000"/>
              </a:solidFill>
              <a:ea typeface="+mn-ea"/>
            </a:endParaRPr>
          </a:p>
          <a:p>
            <a:pPr>
              <a:lnSpc>
                <a:spcPct val="150000"/>
              </a:lnSpc>
              <a:spcBef>
                <a:spcPts val="0"/>
              </a:spcBef>
              <a:defRPr/>
            </a:pPr>
            <a:r>
              <a:rPr lang="en-US" sz="2400" b="1" dirty="0">
                <a:solidFill>
                  <a:srgbClr val="C00000"/>
                </a:solidFill>
                <a:ea typeface="+mn-ea"/>
              </a:rPr>
              <a:t>NACETEM Researchers’ Seminar Series</a:t>
            </a:r>
          </a:p>
          <a:p>
            <a:pPr>
              <a:spcBef>
                <a:spcPts val="0"/>
              </a:spcBef>
              <a:defRPr/>
            </a:pPr>
            <a:r>
              <a:rPr lang="en-GB" sz="2400" b="1" dirty="0" err="1">
                <a:solidFill>
                  <a:srgbClr val="C00000"/>
                </a:solidFill>
                <a:ea typeface="+mn-ea"/>
              </a:rPr>
              <a:t>Feburary</a:t>
            </a:r>
            <a:r>
              <a:rPr lang="en-GB" sz="2400" b="1" dirty="0">
                <a:solidFill>
                  <a:srgbClr val="C00000"/>
                </a:solidFill>
                <a:ea typeface="+mn-ea"/>
              </a:rPr>
              <a:t>, 2026</a:t>
            </a:r>
          </a:p>
        </p:txBody>
      </p:sp>
      <p:sp>
        <p:nvSpPr>
          <p:cNvPr id="16385" name="Title 1"/>
          <p:cNvSpPr>
            <a:spLocks noGrp="1"/>
          </p:cNvSpPr>
          <p:nvPr>
            <p:ph type="ctrTitle"/>
          </p:nvPr>
        </p:nvSpPr>
        <p:spPr>
          <a:xfrm>
            <a:off x="76200" y="1628800"/>
            <a:ext cx="8991600" cy="1447800"/>
          </a:xfrm>
        </p:spPr>
        <p:txBody>
          <a:bodyPr>
            <a:noAutofit/>
          </a:bodyPr>
          <a:lstStyle/>
          <a:p>
            <a:r>
              <a:rPr lang="en-US" sz="2400" dirty="0">
                <a:latin typeface="Arial Black" panose="020B0A04020102020204" pitchFamily="34" charset="0"/>
              </a:rPr>
              <a:t>Optimization and Prediction of Tensile Strength of an S235JR Mild Steel Weld using RSM (Response Surface Method) and Decision Tree Analysis</a:t>
            </a:r>
            <a:endParaRPr sz="2400" dirty="0"/>
          </a:p>
        </p:txBody>
      </p:sp>
      <p:sp>
        <p:nvSpPr>
          <p:cNvPr id="2" name="Rectangle 1">
            <a:extLst>
              <a:ext uri="{FF2B5EF4-FFF2-40B4-BE49-F238E27FC236}">
                <a16:creationId xmlns:a16="http://schemas.microsoft.com/office/drawing/2014/main" id="{A551BCE0-1999-684D-8275-1496ABE02AB1}"/>
              </a:ext>
            </a:extLst>
          </p:cNvPr>
          <p:cNvSpPr/>
          <p:nvPr/>
        </p:nvSpPr>
        <p:spPr>
          <a:xfrm>
            <a:off x="7308304" y="6453336"/>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FE89B0-4D53-01D1-DFE3-8042D380F16C}"/>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09" name="Rectangle 2"/>
          <p:cNvSpPr>
            <a:spLocks noGrp="1" noChangeArrowheads="1"/>
          </p:cNvSpPr>
          <p:nvPr>
            <p:ph type="title"/>
          </p:nvPr>
        </p:nvSpPr>
        <p:spPr>
          <a:xfrm>
            <a:off x="152400" y="548680"/>
            <a:ext cx="8112125" cy="676275"/>
          </a:xfrm>
        </p:spPr>
        <p:txBody>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Outline</a:t>
            </a:r>
          </a:p>
        </p:txBody>
      </p:sp>
      <p:sp>
        <p:nvSpPr>
          <p:cNvPr id="17410" name="Rectangle 3"/>
          <p:cNvSpPr>
            <a:spLocks noGrp="1" noChangeArrowheads="1"/>
          </p:cNvSpPr>
          <p:nvPr>
            <p:ph idx="4294967295"/>
          </p:nvPr>
        </p:nvSpPr>
        <p:spPr>
          <a:xfrm>
            <a:off x="251520" y="1052736"/>
            <a:ext cx="8112125" cy="4962540"/>
          </a:xfrm>
        </p:spPr>
        <p:txBody>
          <a:bodyPr/>
          <a:lstStyle/>
          <a:p>
            <a:pPr lvl="0" algn="just">
              <a:lnSpc>
                <a:spcPct val="150000"/>
              </a:lnSpc>
            </a:pPr>
            <a:r>
              <a:rPr lang="en-US" sz="2400" dirty="0">
                <a:solidFill>
                  <a:prstClr val="black"/>
                </a:solidFill>
                <a:latin typeface="Arial" panose="020B0604020202020204" pitchFamily="34" charset="0"/>
                <a:cs typeface="Arial" panose="020B0604020202020204" pitchFamily="34" charset="0"/>
              </a:rPr>
              <a:t>Background</a:t>
            </a:r>
          </a:p>
          <a:p>
            <a:pPr lvl="0" algn="just">
              <a:lnSpc>
                <a:spcPct val="150000"/>
              </a:lnSpc>
            </a:pPr>
            <a:r>
              <a:rPr lang="en-US" sz="2400" dirty="0">
                <a:solidFill>
                  <a:prstClr val="black"/>
                </a:solidFill>
                <a:latin typeface="Arial" panose="020B0604020202020204" pitchFamily="34" charset="0"/>
                <a:cs typeface="Arial" panose="020B0604020202020204" pitchFamily="34" charset="0"/>
              </a:rPr>
              <a:t>Research Motivation</a:t>
            </a:r>
          </a:p>
          <a:p>
            <a:pPr lvl="0" algn="just">
              <a:lnSpc>
                <a:spcPct val="150000"/>
              </a:lnSpc>
            </a:pPr>
            <a:r>
              <a:rPr lang="en-GB" sz="2400" dirty="0">
                <a:solidFill>
                  <a:prstClr val="black"/>
                </a:solidFill>
                <a:latin typeface="Arial" panose="020B0604020202020204" pitchFamily="34" charset="0"/>
                <a:cs typeface="Arial" panose="020B0604020202020204" pitchFamily="34" charset="0"/>
              </a:rPr>
              <a:t>Problem Statement</a:t>
            </a:r>
            <a:endParaRPr lang="en-US" sz="2400" dirty="0">
              <a:solidFill>
                <a:prstClr val="black"/>
              </a:solidFill>
              <a:latin typeface="Arial" panose="020B0604020202020204" pitchFamily="34" charset="0"/>
              <a:cs typeface="Arial" panose="020B0604020202020204" pitchFamily="34" charset="0"/>
            </a:endParaRPr>
          </a:p>
          <a:p>
            <a:pPr lvl="0" algn="just">
              <a:lnSpc>
                <a:spcPct val="150000"/>
              </a:lnSpc>
            </a:pPr>
            <a:r>
              <a:rPr lang="en-GB" sz="2400" dirty="0">
                <a:solidFill>
                  <a:prstClr val="black"/>
                </a:solidFill>
                <a:latin typeface="Arial" panose="020B0604020202020204" pitchFamily="34" charset="0"/>
                <a:cs typeface="Arial" panose="020B0604020202020204" pitchFamily="34" charset="0"/>
              </a:rPr>
              <a:t>Objectives</a:t>
            </a:r>
          </a:p>
          <a:p>
            <a:pPr lvl="0" algn="just">
              <a:lnSpc>
                <a:spcPct val="150000"/>
              </a:lnSpc>
            </a:pPr>
            <a:r>
              <a:rPr lang="en-GB" sz="2400" dirty="0">
                <a:solidFill>
                  <a:prstClr val="black"/>
                </a:solidFill>
                <a:latin typeface="Arial" panose="020B0604020202020204" pitchFamily="34" charset="0"/>
                <a:cs typeface="Arial" panose="020B0604020202020204" pitchFamily="34" charset="0"/>
              </a:rPr>
              <a:t>Research Questions</a:t>
            </a:r>
            <a:endParaRPr lang="en-US" sz="2400" dirty="0">
              <a:solidFill>
                <a:prstClr val="black"/>
              </a:solidFill>
              <a:latin typeface="Arial" panose="020B0604020202020204" pitchFamily="34" charset="0"/>
              <a:cs typeface="Arial" panose="020B0604020202020204" pitchFamily="34" charset="0"/>
            </a:endParaRPr>
          </a:p>
          <a:p>
            <a:pPr lvl="0" algn="just">
              <a:lnSpc>
                <a:spcPct val="150000"/>
              </a:lnSpc>
            </a:pPr>
            <a:r>
              <a:rPr lang="en-GB" sz="2400" dirty="0">
                <a:solidFill>
                  <a:prstClr val="black"/>
                </a:solidFill>
                <a:latin typeface="Arial" panose="020B0604020202020204" pitchFamily="34" charset="0"/>
                <a:cs typeface="Arial" panose="020B0604020202020204" pitchFamily="34" charset="0"/>
              </a:rPr>
              <a:t>Materials and methods</a:t>
            </a:r>
          </a:p>
          <a:p>
            <a:pPr lvl="0" algn="just">
              <a:lnSpc>
                <a:spcPct val="150000"/>
              </a:lnSpc>
            </a:pPr>
            <a:r>
              <a:rPr lang="en-GB" sz="2400" dirty="0">
                <a:solidFill>
                  <a:prstClr val="black"/>
                </a:solidFill>
                <a:latin typeface="Arial" panose="020B0604020202020204" pitchFamily="34" charset="0"/>
                <a:cs typeface="Arial" panose="020B0604020202020204" pitchFamily="34" charset="0"/>
              </a:rPr>
              <a:t>Results</a:t>
            </a:r>
          </a:p>
          <a:p>
            <a:pPr lvl="0" algn="just">
              <a:lnSpc>
                <a:spcPct val="150000"/>
              </a:lnSpc>
            </a:pPr>
            <a:r>
              <a:rPr lang="en-GB" sz="2400" dirty="0">
                <a:solidFill>
                  <a:prstClr val="black"/>
                </a:solidFill>
                <a:latin typeface="Arial" panose="020B0604020202020204" pitchFamily="34" charset="0"/>
                <a:cs typeface="Arial" panose="020B0604020202020204" pitchFamily="34" charset="0"/>
              </a:rPr>
              <a:t>Conclusions</a:t>
            </a:r>
            <a:endParaRPr lang="en-US" sz="2400" dirty="0">
              <a:solidFill>
                <a:prstClr val="black"/>
              </a:solidFill>
              <a:latin typeface="Arial" panose="020B0604020202020204" pitchFamily="34" charset="0"/>
              <a:cs typeface="Arial" panose="020B0604020202020204" pitchFamily="34" charset="0"/>
            </a:endParaRPr>
          </a:p>
          <a:p>
            <a:pPr lvl="0">
              <a:lnSpc>
                <a:spcPct val="150000"/>
              </a:lnSpc>
            </a:pPr>
            <a:endParaRPr lang="en-US" sz="2800" dirty="0">
              <a:solidFill>
                <a:prstClr val="black"/>
              </a:solidFill>
              <a:latin typeface="Arial" panose="020B0604020202020204" pitchFamily="34" charset="0"/>
              <a:cs typeface="Arial" panose="020B0604020202020204" pitchFamily="34" charset="0"/>
            </a:endParaRPr>
          </a:p>
          <a:p>
            <a:pPr marL="0" lvl="0" indent="0">
              <a:buNone/>
            </a:pPr>
            <a:endParaRPr lang="en-US" sz="2800" dirty="0">
              <a:solidFill>
                <a:prstClr val="black"/>
              </a:solidFill>
              <a:latin typeface="Arial" panose="020B0604020202020204" pitchFamily="34" charset="0"/>
              <a:cs typeface="Arial" panose="020B0604020202020204" pitchFamily="34" charset="0"/>
            </a:endParaRPr>
          </a:p>
          <a:p>
            <a:pPr marL="0" indent="0" eaLnBrk="1" hangingPunct="1">
              <a:buNone/>
            </a:pPr>
            <a:endParaRPr lang="en-US" dirty="0">
              <a:latin typeface="Arial" panose="020B0604020202020204" pitchFamily="34" charset="0"/>
              <a:ea typeface="ＭＳ Ｐゴシック" pitchFamily="34" charset="-128"/>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B589-81A0-9B1B-047A-8726AAF0965C}"/>
            </a:ext>
          </a:extLst>
        </p:cNvPr>
        <p:cNvGrpSpPr/>
        <p:nvPr/>
      </p:nvGrpSpPr>
      <p:grpSpPr>
        <a:xfrm>
          <a:off x="0" y="0"/>
          <a:ext cx="0" cy="0"/>
          <a:chOff x="0" y="0"/>
          <a:chExt cx="0" cy="0"/>
        </a:xfrm>
      </p:grpSpPr>
      <p:sp>
        <p:nvSpPr>
          <p:cNvPr id="16" name="Slide Number Placeholder 6">
            <a:extLst>
              <a:ext uri="{FF2B5EF4-FFF2-40B4-BE49-F238E27FC236}">
                <a16:creationId xmlns:a16="http://schemas.microsoft.com/office/drawing/2014/main" id="{7D7ABE58-009B-9C03-FF5C-F9AB3B352101}"/>
              </a:ext>
            </a:extLst>
          </p:cNvPr>
          <p:cNvSpPr txBox="1">
            <a:spLocks/>
          </p:cNvSpPr>
          <p:nvPr/>
        </p:nvSpPr>
        <p:spPr>
          <a:xfrm>
            <a:off x="8613648" y="63055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3</a:t>
            </a:fld>
            <a:endParaRPr lang="en-US" dirty="0"/>
          </a:p>
        </p:txBody>
      </p:sp>
      <p:sp>
        <p:nvSpPr>
          <p:cNvPr id="17" name="Rectangle 2">
            <a:extLst>
              <a:ext uri="{FF2B5EF4-FFF2-40B4-BE49-F238E27FC236}">
                <a16:creationId xmlns:a16="http://schemas.microsoft.com/office/drawing/2014/main" id="{16AE627F-4581-2D7E-3F77-0ED3ED4067FE}"/>
              </a:ext>
            </a:extLst>
          </p:cNvPr>
          <p:cNvSpPr>
            <a:spLocks noGrp="1" noChangeArrowheads="1"/>
          </p:cNvSpPr>
          <p:nvPr>
            <p:ph type="title"/>
          </p:nvPr>
        </p:nvSpPr>
        <p:spPr>
          <a:xfrm>
            <a:off x="28963" y="580542"/>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Background</a:t>
            </a:r>
          </a:p>
        </p:txBody>
      </p:sp>
      <p:sp>
        <p:nvSpPr>
          <p:cNvPr id="18" name="Content Placeholder 2">
            <a:extLst>
              <a:ext uri="{FF2B5EF4-FFF2-40B4-BE49-F238E27FC236}">
                <a16:creationId xmlns:a16="http://schemas.microsoft.com/office/drawing/2014/main" id="{FC709E90-E593-5C28-5930-7688BD9E87F6}"/>
              </a:ext>
            </a:extLst>
          </p:cNvPr>
          <p:cNvSpPr txBox="1">
            <a:spLocks/>
          </p:cNvSpPr>
          <p:nvPr/>
        </p:nvSpPr>
        <p:spPr>
          <a:xfrm>
            <a:off x="-88196" y="1313917"/>
            <a:ext cx="8839200" cy="962955"/>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buFont typeface="Wingdings" panose="05000000000000000000" pitchFamily="2" charset="2"/>
              <a:buChar char="Ø"/>
            </a:pPr>
            <a:r>
              <a:rPr lang="en-US" altLang="en-US" sz="2400" dirty="0">
                <a:latin typeface="+mn-lt"/>
                <a:cs typeface="Arial" panose="020B0604020202020204" pitchFamily="34" charset="0"/>
              </a:rPr>
              <a:t>Welding is a manufacturing process widely used in industries ranging from automotive, aerospace, construction, and pipeline manufacturing.</a:t>
            </a:r>
            <a:endParaRPr lang="en-US" sz="2400" dirty="0">
              <a:latin typeface="+mn-lt"/>
            </a:endParaRPr>
          </a:p>
        </p:txBody>
      </p:sp>
      <p:sp>
        <p:nvSpPr>
          <p:cNvPr id="19" name="Content Placeholder 2">
            <a:extLst>
              <a:ext uri="{FF2B5EF4-FFF2-40B4-BE49-F238E27FC236}">
                <a16:creationId xmlns:a16="http://schemas.microsoft.com/office/drawing/2014/main" id="{AF587AB7-E2D3-E6DD-4387-5C97FA853E70}"/>
              </a:ext>
            </a:extLst>
          </p:cNvPr>
          <p:cNvSpPr txBox="1"/>
          <p:nvPr/>
        </p:nvSpPr>
        <p:spPr>
          <a:xfrm>
            <a:off x="-88196" y="2924944"/>
            <a:ext cx="8839200" cy="990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Welding involves the joining of materials, such as metals through the application of heat or pressure to form a cohesive bond </a:t>
            </a:r>
          </a:p>
        </p:txBody>
      </p:sp>
      <p:sp>
        <p:nvSpPr>
          <p:cNvPr id="20" name="Content Placeholder 2">
            <a:extLst>
              <a:ext uri="{FF2B5EF4-FFF2-40B4-BE49-F238E27FC236}">
                <a16:creationId xmlns:a16="http://schemas.microsoft.com/office/drawing/2014/main" id="{DCD3E86B-B980-42E6-66C9-87D6E23A373C}"/>
              </a:ext>
            </a:extLst>
          </p:cNvPr>
          <p:cNvSpPr txBox="1"/>
          <p:nvPr/>
        </p:nvSpPr>
        <p:spPr>
          <a:xfrm>
            <a:off x="-88196" y="4149080"/>
            <a:ext cx="8839200" cy="1143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400" dirty="0"/>
              <a:t>Welding processes inherently introduce residual stresses, which can compromise the integrity and performance of welded structures</a:t>
            </a:r>
          </a:p>
        </p:txBody>
      </p:sp>
      <p:sp>
        <p:nvSpPr>
          <p:cNvPr id="21" name="TextBox 20">
            <a:extLst>
              <a:ext uri="{FF2B5EF4-FFF2-40B4-BE49-F238E27FC236}">
                <a16:creationId xmlns:a16="http://schemas.microsoft.com/office/drawing/2014/main" id="{39A4A7B3-7DAC-A8D8-B065-EE94C8208EF7}"/>
              </a:ext>
            </a:extLst>
          </p:cNvPr>
          <p:cNvSpPr txBox="1"/>
          <p:nvPr/>
        </p:nvSpPr>
        <p:spPr>
          <a:xfrm>
            <a:off x="-74332" y="5478323"/>
            <a:ext cx="8584377" cy="830997"/>
          </a:xfrm>
          <a:prstGeom prst="rect">
            <a:avLst/>
          </a:prstGeom>
          <a:noFill/>
        </p:spPr>
        <p:txBody>
          <a:bodyPr wrap="square">
            <a:spAutoFit/>
          </a:bodyPr>
          <a:lstStyle/>
          <a:p>
            <a:pPr marL="342900" indent="-342900" eaLnBrk="0" fontAlgn="base" hangingPunct="0">
              <a:lnSpc>
                <a:spcPct val="100000"/>
              </a:lnSpc>
              <a:spcBef>
                <a:spcPct val="0"/>
              </a:spcBef>
              <a:spcAft>
                <a:spcPct val="0"/>
              </a:spcAft>
              <a:buFont typeface="Wingdings" panose="05000000000000000000" pitchFamily="2" charset="2"/>
              <a:buChar char="Ø"/>
            </a:pPr>
            <a:r>
              <a:rPr lang="en-US" altLang="en-US" sz="2400" dirty="0">
                <a:cs typeface="Arial" panose="020B0604020202020204" pitchFamily="34" charset="0"/>
              </a:rPr>
              <a:t>This study applies RSM and DT to predict the tensile strength of an S235JR mild steel weld</a:t>
            </a:r>
          </a:p>
        </p:txBody>
      </p:sp>
      <p:sp>
        <p:nvSpPr>
          <p:cNvPr id="22" name="Rectangle 21">
            <a:extLst>
              <a:ext uri="{FF2B5EF4-FFF2-40B4-BE49-F238E27FC236}">
                <a16:creationId xmlns:a16="http://schemas.microsoft.com/office/drawing/2014/main" id="{1808AD54-D271-8E69-6C1A-E03AB96D622A}"/>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27163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44F4B-FBF1-1C64-4907-7616BA547D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4A7C2B-2932-648C-3DC9-CAB1DB69171C}"/>
              </a:ext>
            </a:extLst>
          </p:cNvPr>
          <p:cNvSpPr txBox="1">
            <a:spLocks/>
          </p:cNvSpPr>
          <p:nvPr/>
        </p:nvSpPr>
        <p:spPr>
          <a:xfrm>
            <a:off x="8613648" y="63055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z="2400" smtClean="0">
                <a:latin typeface="Arial" panose="020B0604020202020204" pitchFamily="34" charset="0"/>
                <a:cs typeface="Arial" panose="020B0604020202020204" pitchFamily="34" charset="0"/>
              </a:rPr>
              <a:pPr/>
              <a:t>4</a:t>
            </a:fld>
            <a:endParaRPr lang="en-US" sz="2400"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EA57965D-CCAA-FC43-C2D9-0FB90B61398F}"/>
              </a:ext>
            </a:extLst>
          </p:cNvPr>
          <p:cNvSpPr>
            <a:spLocks noGrp="1" noChangeArrowheads="1"/>
          </p:cNvSpPr>
          <p:nvPr>
            <p:ph type="title"/>
          </p:nvPr>
        </p:nvSpPr>
        <p:spPr>
          <a:xfrm>
            <a:off x="39706" y="659136"/>
            <a:ext cx="8112125" cy="676275"/>
          </a:xfrm>
        </p:spPr>
        <p:txBody>
          <a:bodyPr>
            <a:normAutofit/>
          </a:bodyPr>
          <a:lstStyle/>
          <a:p>
            <a:pPr eaLnBrk="1" hangingPunct="1"/>
            <a:r>
              <a:rPr lang="en-US" sz="2400" b="1" dirty="0">
                <a:solidFill>
                  <a:srgbClr val="002060"/>
                </a:solidFill>
                <a:latin typeface="Arial" panose="020B0604020202020204" pitchFamily="34" charset="0"/>
                <a:ea typeface="ＭＳ Ｐゴシック" pitchFamily="34" charset="-128"/>
                <a:cs typeface="Arial" panose="020B0604020202020204" pitchFamily="34" charset="0"/>
              </a:rPr>
              <a:t>Research Motivation</a:t>
            </a:r>
          </a:p>
        </p:txBody>
      </p:sp>
      <p:sp>
        <p:nvSpPr>
          <p:cNvPr id="6" name="Content Placeholder 2">
            <a:extLst>
              <a:ext uri="{FF2B5EF4-FFF2-40B4-BE49-F238E27FC236}">
                <a16:creationId xmlns:a16="http://schemas.microsoft.com/office/drawing/2014/main" id="{34F9B39F-A604-7FC3-F0D3-8C78C9A735EB}"/>
              </a:ext>
            </a:extLst>
          </p:cNvPr>
          <p:cNvSpPr txBox="1"/>
          <p:nvPr/>
        </p:nvSpPr>
        <p:spPr>
          <a:xfrm>
            <a:off x="35714" y="1348568"/>
            <a:ext cx="8839200" cy="67627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0" fontAlgn="base" hangingPunct="0"/>
            <a:r>
              <a:rPr lang="en-US" sz="2400" dirty="0">
                <a:cs typeface="Arial" panose="020B0604020202020204" pitchFamily="34" charset="0"/>
              </a:rPr>
              <a:t>To address challenges associated with residual stress via computational techniques</a:t>
            </a:r>
            <a:endParaRPr lang="en-GB" sz="2400" dirty="0">
              <a:cs typeface="Arial" panose="020B0604020202020204" pitchFamily="34" charset="0"/>
            </a:endParaRPr>
          </a:p>
        </p:txBody>
      </p:sp>
      <p:sp>
        <p:nvSpPr>
          <p:cNvPr id="7" name="Content Placeholder 2">
            <a:extLst>
              <a:ext uri="{FF2B5EF4-FFF2-40B4-BE49-F238E27FC236}">
                <a16:creationId xmlns:a16="http://schemas.microsoft.com/office/drawing/2014/main" id="{C419450E-8095-6999-2594-23548056DE17}"/>
              </a:ext>
            </a:extLst>
          </p:cNvPr>
          <p:cNvSpPr txBox="1"/>
          <p:nvPr/>
        </p:nvSpPr>
        <p:spPr>
          <a:xfrm>
            <a:off x="0" y="2780928"/>
            <a:ext cx="8839200" cy="9361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0" fontAlgn="base" hangingPunct="0"/>
            <a:r>
              <a:rPr lang="en-US" sz="2400" dirty="0">
                <a:cs typeface="Arial" panose="020B0604020202020204" pitchFamily="34" charset="0"/>
              </a:rPr>
              <a:t>Integrating RSM and Decision Tree approaches which enables researchers to optimize welding processes while accurately predicting residual stress outcomes.</a:t>
            </a:r>
            <a:endParaRPr lang="en-GB" sz="2400" dirty="0">
              <a:cs typeface="Arial" panose="020B0604020202020204" pitchFamily="34" charset="0"/>
            </a:endParaRPr>
          </a:p>
        </p:txBody>
      </p:sp>
      <p:sp>
        <p:nvSpPr>
          <p:cNvPr id="8" name="Content Placeholder 2">
            <a:extLst>
              <a:ext uri="{FF2B5EF4-FFF2-40B4-BE49-F238E27FC236}">
                <a16:creationId xmlns:a16="http://schemas.microsoft.com/office/drawing/2014/main" id="{93EEB4AE-D856-C88D-72C7-5CD6ECDD4119}"/>
              </a:ext>
            </a:extLst>
          </p:cNvPr>
          <p:cNvSpPr txBox="1"/>
          <p:nvPr/>
        </p:nvSpPr>
        <p:spPr>
          <a:xfrm>
            <a:off x="35714" y="4581128"/>
            <a:ext cx="8839200" cy="16561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0" fontAlgn="base" hangingPunct="0"/>
            <a:r>
              <a:rPr lang="en-US" sz="2400" dirty="0">
                <a:cs typeface="Arial" panose="020B0604020202020204" pitchFamily="34" charset="0"/>
              </a:rPr>
              <a:t>Application of this hybrid approach which can significantly enhance welding quality and reliability, thereby offering solutions to long-standing challenges in welding engineering.</a:t>
            </a:r>
            <a:endParaRPr lang="en-GB" sz="2400" dirty="0">
              <a:cs typeface="Arial" panose="020B0604020202020204" pitchFamily="34" charset="0"/>
            </a:endParaRPr>
          </a:p>
        </p:txBody>
      </p:sp>
      <p:sp>
        <p:nvSpPr>
          <p:cNvPr id="9" name="Rectangle 8">
            <a:extLst>
              <a:ext uri="{FF2B5EF4-FFF2-40B4-BE49-F238E27FC236}">
                <a16:creationId xmlns:a16="http://schemas.microsoft.com/office/drawing/2014/main" id="{CFB37AF4-917E-5171-AE36-052FDBAC600B}"/>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0937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0149C-D14B-0DED-282C-56BE5CC1AD0D}"/>
            </a:ext>
          </a:extLst>
        </p:cNvPr>
        <p:cNvGrpSpPr/>
        <p:nvPr/>
      </p:nvGrpSpPr>
      <p:grpSpPr>
        <a:xfrm>
          <a:off x="0" y="0"/>
          <a:ext cx="0" cy="0"/>
          <a:chOff x="0" y="0"/>
          <a:chExt cx="0" cy="0"/>
        </a:xfrm>
      </p:grpSpPr>
      <p:sp>
        <p:nvSpPr>
          <p:cNvPr id="7" name="Slide Number Placeholder 6"/>
          <p:cNvSpPr txBox="1">
            <a:spLocks/>
          </p:cNvSpPr>
          <p:nvPr/>
        </p:nvSpPr>
        <p:spPr>
          <a:xfrm>
            <a:off x="8468362" y="69437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5</a:t>
            </a:fld>
            <a:endParaRPr lang="en-US" dirty="0"/>
          </a:p>
        </p:txBody>
      </p:sp>
      <p:sp>
        <p:nvSpPr>
          <p:cNvPr id="5" name="Content Placeholder 2">
            <a:extLst>
              <a:ext uri="{FF2B5EF4-FFF2-40B4-BE49-F238E27FC236}">
                <a16:creationId xmlns:a16="http://schemas.microsoft.com/office/drawing/2014/main" id="{B2A50B5B-F9A9-5246-5079-0B78D8AD1E58}"/>
              </a:ext>
            </a:extLst>
          </p:cNvPr>
          <p:cNvSpPr txBox="1"/>
          <p:nvPr/>
        </p:nvSpPr>
        <p:spPr>
          <a:xfrm>
            <a:off x="31504" y="1700808"/>
            <a:ext cx="8596745" cy="43204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1200"/>
              </a:spcBef>
              <a:spcAft>
                <a:spcPts val="1200"/>
              </a:spcAft>
              <a:buFont typeface="Wingdings" panose="05000000000000000000" pitchFamily="2" charset="2"/>
              <a:buChar char="Ø"/>
            </a:pPr>
            <a:r>
              <a:rPr lang="en-US" sz="2400" dirty="0">
                <a:cs typeface="Arial" panose="020B0604020202020204" pitchFamily="34" charset="0"/>
              </a:rPr>
              <a:t>During welding processes, residual stresses are inherent and can affect the weld quality. Without precise control over residual stress and weldments, there usually arises a complicated stress and optimization</a:t>
            </a:r>
          </a:p>
          <a:p>
            <a:pPr marL="0" indent="0">
              <a:spcBef>
                <a:spcPts val="1200"/>
              </a:spcBef>
              <a:spcAft>
                <a:spcPts val="1200"/>
              </a:spcAft>
              <a:buNone/>
            </a:pPr>
            <a:endParaRPr lang="en-US" sz="2400" dirty="0">
              <a:cs typeface="Arial" panose="020B0604020202020204" pitchFamily="34" charset="0"/>
            </a:endParaRPr>
          </a:p>
          <a:p>
            <a:pPr>
              <a:spcBef>
                <a:spcPts val="1200"/>
              </a:spcBef>
              <a:spcAft>
                <a:spcPts val="1200"/>
              </a:spcAft>
              <a:buFont typeface="Wingdings" panose="05000000000000000000" pitchFamily="2" charset="2"/>
              <a:buChar char="Ø"/>
            </a:pPr>
            <a:r>
              <a:rPr lang="en-US" sz="2400" dirty="0">
                <a:cs typeface="Arial" panose="020B0604020202020204" pitchFamily="34" charset="0"/>
              </a:rPr>
              <a:t>The traditional experiment and analytical methods often fall short due to inherent limitations when predicting and controlling residual stress</a:t>
            </a:r>
          </a:p>
        </p:txBody>
      </p:sp>
      <p:sp>
        <p:nvSpPr>
          <p:cNvPr id="6" name="Rectangle 2">
            <a:extLst>
              <a:ext uri="{FF2B5EF4-FFF2-40B4-BE49-F238E27FC236}">
                <a16:creationId xmlns:a16="http://schemas.microsoft.com/office/drawing/2014/main" id="{3F8AA254-16B2-BF83-8D31-20B3C4EA8DFB}"/>
              </a:ext>
            </a:extLst>
          </p:cNvPr>
          <p:cNvSpPr>
            <a:spLocks noGrp="1" noChangeArrowheads="1"/>
          </p:cNvSpPr>
          <p:nvPr>
            <p:ph type="title"/>
          </p:nvPr>
        </p:nvSpPr>
        <p:spPr>
          <a:xfrm>
            <a:off x="31867" y="771525"/>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Problem Statement</a:t>
            </a:r>
          </a:p>
        </p:txBody>
      </p:sp>
      <p:sp>
        <p:nvSpPr>
          <p:cNvPr id="2" name="Rectangle 1">
            <a:extLst>
              <a:ext uri="{FF2B5EF4-FFF2-40B4-BE49-F238E27FC236}">
                <a16:creationId xmlns:a16="http://schemas.microsoft.com/office/drawing/2014/main" id="{FFE8AEA6-E57A-835F-B2B4-A1CB5F8C04AD}"/>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2083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4BF92-9CDF-CB77-5D4C-645466E3B0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0B1E6D-8D0E-03C6-977C-C64E7DE4D08C}"/>
              </a:ext>
            </a:extLst>
          </p:cNvPr>
          <p:cNvSpPr txBox="1">
            <a:spLocks/>
          </p:cNvSpPr>
          <p:nvPr/>
        </p:nvSpPr>
        <p:spPr>
          <a:xfrm>
            <a:off x="8478697" y="6871742"/>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6</a:t>
            </a:fld>
            <a:endParaRPr lang="en-US" dirty="0"/>
          </a:p>
        </p:txBody>
      </p:sp>
      <p:sp>
        <p:nvSpPr>
          <p:cNvPr id="5" name="Content Placeholder 2">
            <a:extLst>
              <a:ext uri="{FF2B5EF4-FFF2-40B4-BE49-F238E27FC236}">
                <a16:creationId xmlns:a16="http://schemas.microsoft.com/office/drawing/2014/main" id="{61008885-D8F3-4BD4-02C1-B532EBFF61D6}"/>
              </a:ext>
            </a:extLst>
          </p:cNvPr>
          <p:cNvSpPr txBox="1"/>
          <p:nvPr/>
        </p:nvSpPr>
        <p:spPr>
          <a:xfrm>
            <a:off x="107504" y="1431592"/>
            <a:ext cx="8596745" cy="487772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buFont typeface="Wingdings" panose="05000000000000000000" pitchFamily="2" charset="2"/>
              <a:buChar char="Ø"/>
            </a:pPr>
            <a:r>
              <a:rPr lang="en-US" sz="2400" dirty="0">
                <a:cs typeface="Arial" panose="020B0604020202020204" pitchFamily="34" charset="0"/>
              </a:rPr>
              <a:t>Investigate influence of welding parameters on tensile strength</a:t>
            </a:r>
          </a:p>
          <a:p>
            <a:pPr lvl="0">
              <a:buFont typeface="Wingdings" panose="05000000000000000000" pitchFamily="2" charset="2"/>
              <a:buChar char="Ø"/>
            </a:pPr>
            <a:endParaRPr lang="en-GB" sz="2400" dirty="0">
              <a:cs typeface="Arial" panose="020B0604020202020204" pitchFamily="34" charset="0"/>
            </a:endParaRPr>
          </a:p>
          <a:p>
            <a:pPr lvl="0">
              <a:buFont typeface="Wingdings" panose="05000000000000000000" pitchFamily="2" charset="2"/>
              <a:buChar char="Ø"/>
            </a:pPr>
            <a:r>
              <a:rPr lang="en-US" sz="2400" dirty="0">
                <a:cs typeface="Arial" panose="020B0604020202020204" pitchFamily="34" charset="0"/>
              </a:rPr>
              <a:t>Develop predictive and optimization models for tensile strength</a:t>
            </a:r>
          </a:p>
          <a:p>
            <a:pPr lvl="0">
              <a:buFont typeface="Wingdings" panose="05000000000000000000" pitchFamily="2" charset="2"/>
              <a:buChar char="Ø"/>
            </a:pPr>
            <a:endParaRPr lang="en-GB" sz="2400" dirty="0">
              <a:cs typeface="Arial" panose="020B0604020202020204" pitchFamily="34" charset="0"/>
            </a:endParaRPr>
          </a:p>
          <a:p>
            <a:pPr lvl="0">
              <a:buFont typeface="Wingdings" panose="05000000000000000000" pitchFamily="2" charset="2"/>
              <a:buChar char="Ø"/>
            </a:pPr>
            <a:r>
              <a:rPr lang="en-US" sz="2400" dirty="0">
                <a:cs typeface="Arial" panose="020B0604020202020204" pitchFamily="34" charset="0"/>
              </a:rPr>
              <a:t>Apply RSM and DT to optimize welding parameters for tensile strength</a:t>
            </a:r>
          </a:p>
          <a:p>
            <a:pPr lvl="0">
              <a:buFont typeface="Wingdings" panose="05000000000000000000" pitchFamily="2" charset="2"/>
              <a:buChar char="Ø"/>
            </a:pPr>
            <a:endParaRPr lang="en-GB" sz="2400" dirty="0">
              <a:cs typeface="Arial" panose="020B0604020202020204" pitchFamily="34" charset="0"/>
            </a:endParaRPr>
          </a:p>
          <a:p>
            <a:pPr lvl="0">
              <a:buFont typeface="Wingdings" panose="05000000000000000000" pitchFamily="2" charset="2"/>
              <a:buChar char="Ø"/>
            </a:pPr>
            <a:r>
              <a:rPr lang="en-US" sz="2400" dirty="0">
                <a:cs typeface="Arial" panose="020B0604020202020204" pitchFamily="34" charset="0"/>
              </a:rPr>
              <a:t>Validate predictions by compare the predicted results with the actual result</a:t>
            </a:r>
            <a:endParaRPr lang="en-GB" sz="2400" dirty="0">
              <a:cs typeface="Arial" panose="020B0604020202020204" pitchFamily="34" charset="0"/>
            </a:endParaRPr>
          </a:p>
        </p:txBody>
      </p:sp>
      <p:sp>
        <p:nvSpPr>
          <p:cNvPr id="2" name="Rectangle 2">
            <a:extLst>
              <a:ext uri="{FF2B5EF4-FFF2-40B4-BE49-F238E27FC236}">
                <a16:creationId xmlns:a16="http://schemas.microsoft.com/office/drawing/2014/main" id="{8F722631-7AFF-78E8-DB88-A19F726BD267}"/>
              </a:ext>
            </a:extLst>
          </p:cNvPr>
          <p:cNvSpPr>
            <a:spLocks noGrp="1" noChangeArrowheads="1"/>
          </p:cNvSpPr>
          <p:nvPr>
            <p:ph type="title"/>
          </p:nvPr>
        </p:nvSpPr>
        <p:spPr>
          <a:xfrm>
            <a:off x="107504" y="755317"/>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Objectives</a:t>
            </a:r>
          </a:p>
        </p:txBody>
      </p:sp>
      <p:sp>
        <p:nvSpPr>
          <p:cNvPr id="3" name="Rectangle 2">
            <a:extLst>
              <a:ext uri="{FF2B5EF4-FFF2-40B4-BE49-F238E27FC236}">
                <a16:creationId xmlns:a16="http://schemas.microsoft.com/office/drawing/2014/main" id="{3A48EECB-A5C9-0998-8101-AC330279B74A}"/>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53671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1735-A223-177F-7B23-680B04E82EB6}"/>
            </a:ext>
          </a:extLst>
        </p:cNvPr>
        <p:cNvGrpSpPr/>
        <p:nvPr/>
      </p:nvGrpSpPr>
      <p:grpSpPr>
        <a:xfrm>
          <a:off x="0" y="0"/>
          <a:ext cx="0" cy="0"/>
          <a:chOff x="0" y="0"/>
          <a:chExt cx="0" cy="0"/>
        </a:xfrm>
      </p:grpSpPr>
      <p:sp>
        <p:nvSpPr>
          <p:cNvPr id="6" name="Slide Number Placeholder 5"/>
          <p:cNvSpPr txBox="1">
            <a:spLocks/>
          </p:cNvSpPr>
          <p:nvPr/>
        </p:nvSpPr>
        <p:spPr>
          <a:xfrm>
            <a:off x="8555196" y="6953622"/>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7</a:t>
            </a:fld>
            <a:endParaRPr lang="en-US" dirty="0"/>
          </a:p>
        </p:txBody>
      </p:sp>
      <p:sp>
        <p:nvSpPr>
          <p:cNvPr id="7" name="Content Placeholder 2">
            <a:extLst>
              <a:ext uri="{FF2B5EF4-FFF2-40B4-BE49-F238E27FC236}">
                <a16:creationId xmlns:a16="http://schemas.microsoft.com/office/drawing/2014/main" id="{38517D2B-9FFB-BD0B-E008-51191CCC5B8B}"/>
              </a:ext>
            </a:extLst>
          </p:cNvPr>
          <p:cNvSpPr txBox="1">
            <a:spLocks/>
          </p:cNvSpPr>
          <p:nvPr/>
        </p:nvSpPr>
        <p:spPr>
          <a:xfrm>
            <a:off x="35496" y="3510881"/>
            <a:ext cx="8519700" cy="2438399"/>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buFont typeface="Wingdings" panose="05000000000000000000" pitchFamily="2" charset="2"/>
              <a:buChar char="v"/>
            </a:pPr>
            <a:r>
              <a:rPr lang="en-US" sz="2400" dirty="0">
                <a:latin typeface="+mn-lt"/>
                <a:cs typeface="Arial" panose="020B0604020202020204" pitchFamily="34" charset="0"/>
              </a:rPr>
              <a:t>The Method Outline;</a:t>
            </a:r>
          </a:p>
          <a:p>
            <a:pPr lvl="1"/>
            <a:r>
              <a:rPr lang="en-GB" sz="2200" dirty="0">
                <a:latin typeface="+mn-lt"/>
                <a:cs typeface="Arial" panose="020B0604020202020204" pitchFamily="34" charset="0"/>
              </a:rPr>
              <a:t>Data Collection</a:t>
            </a:r>
          </a:p>
          <a:p>
            <a:pPr lvl="1"/>
            <a:r>
              <a:rPr lang="en-GB" sz="2200" dirty="0">
                <a:latin typeface="+mn-lt"/>
                <a:cs typeface="Arial" panose="020B0604020202020204" pitchFamily="34" charset="0"/>
              </a:rPr>
              <a:t>Model Building </a:t>
            </a:r>
          </a:p>
          <a:p>
            <a:pPr lvl="1"/>
            <a:r>
              <a:rPr lang="en-GB" sz="2200" dirty="0">
                <a:latin typeface="+mn-lt"/>
                <a:cs typeface="Arial" panose="020B0604020202020204" pitchFamily="34" charset="0"/>
              </a:rPr>
              <a:t>Model Analysis</a:t>
            </a:r>
          </a:p>
          <a:p>
            <a:pPr lvl="1"/>
            <a:r>
              <a:rPr lang="en-US" sz="2200" dirty="0">
                <a:latin typeface="+mn-lt"/>
                <a:cs typeface="Arial" panose="020B0604020202020204" pitchFamily="34" charset="0"/>
              </a:rPr>
              <a:t>Analysis of variance (ANOVA) </a:t>
            </a:r>
            <a:endParaRPr lang="en-GB" sz="2200" dirty="0">
              <a:latin typeface="+mn-lt"/>
              <a:cs typeface="Arial" panose="020B0604020202020204" pitchFamily="34" charset="0"/>
            </a:endParaRPr>
          </a:p>
          <a:p>
            <a:pPr lvl="1"/>
            <a:r>
              <a:rPr lang="en-US" sz="2200" dirty="0">
                <a:latin typeface="+mn-lt"/>
                <a:cs typeface="Arial" panose="020B0604020202020204" pitchFamily="34" charset="0"/>
              </a:rPr>
              <a:t>The Decision Tree (DT) Analysis</a:t>
            </a:r>
          </a:p>
        </p:txBody>
      </p:sp>
      <p:sp>
        <p:nvSpPr>
          <p:cNvPr id="8" name="Content Placeholder 2">
            <a:extLst>
              <a:ext uri="{FF2B5EF4-FFF2-40B4-BE49-F238E27FC236}">
                <a16:creationId xmlns:a16="http://schemas.microsoft.com/office/drawing/2014/main" id="{F28000CE-F797-BFFF-54C7-1837024F7444}"/>
              </a:ext>
            </a:extLst>
          </p:cNvPr>
          <p:cNvSpPr txBox="1"/>
          <p:nvPr/>
        </p:nvSpPr>
        <p:spPr>
          <a:xfrm>
            <a:off x="93948" y="1566665"/>
            <a:ext cx="8461248" cy="24383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400" dirty="0">
                <a:cs typeface="Arial" panose="020B0604020202020204" pitchFamily="34" charset="0"/>
              </a:rPr>
              <a:t>Experimental Set-up</a:t>
            </a:r>
          </a:p>
          <a:p>
            <a:pPr lvl="1" algn="just">
              <a:buFont typeface="Arial" panose="020B0604020202020204" pitchFamily="34" charset="0"/>
              <a:buChar char="•"/>
            </a:pPr>
            <a:r>
              <a:rPr lang="en-US" sz="2200" dirty="0">
                <a:cs typeface="Arial" panose="020B0604020202020204" pitchFamily="34" charset="0"/>
              </a:rPr>
              <a:t>Base Material: S235JR Mild Steel</a:t>
            </a:r>
          </a:p>
          <a:p>
            <a:pPr lvl="1" algn="just">
              <a:buFont typeface="Arial" panose="020B0604020202020204" pitchFamily="34" charset="0"/>
              <a:buChar char="•"/>
            </a:pPr>
            <a:r>
              <a:rPr lang="en-US" sz="2200" dirty="0">
                <a:cs typeface="Arial" panose="020B0604020202020204" pitchFamily="34" charset="0"/>
              </a:rPr>
              <a:t>Welding Operation: Tungsten Inert Gas (TIG) Welding</a:t>
            </a:r>
          </a:p>
        </p:txBody>
      </p:sp>
      <p:sp>
        <p:nvSpPr>
          <p:cNvPr id="11" name="Rectangle 2">
            <a:extLst>
              <a:ext uri="{FF2B5EF4-FFF2-40B4-BE49-F238E27FC236}">
                <a16:creationId xmlns:a16="http://schemas.microsoft.com/office/drawing/2014/main" id="{98029335-45C1-D1BD-CB27-6C09BEA7EAC1}"/>
              </a:ext>
            </a:extLst>
          </p:cNvPr>
          <p:cNvSpPr>
            <a:spLocks noGrp="1" noChangeArrowheads="1"/>
          </p:cNvSpPr>
          <p:nvPr>
            <p:ph type="title"/>
          </p:nvPr>
        </p:nvSpPr>
        <p:spPr>
          <a:xfrm>
            <a:off x="93948" y="692696"/>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Materials and Methods</a:t>
            </a:r>
          </a:p>
        </p:txBody>
      </p:sp>
      <p:sp>
        <p:nvSpPr>
          <p:cNvPr id="2" name="Rectangle 1">
            <a:extLst>
              <a:ext uri="{FF2B5EF4-FFF2-40B4-BE49-F238E27FC236}">
                <a16:creationId xmlns:a16="http://schemas.microsoft.com/office/drawing/2014/main" id="{53961B7F-29A5-C9F0-D7B8-4D147D49C47C}"/>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3736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8D25-2C16-0444-F7EA-71276F5A8D44}"/>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9CFD5FA-CFC9-6647-F998-BEA77200CFB6}"/>
              </a:ext>
            </a:extLst>
          </p:cNvPr>
          <p:cNvSpPr txBox="1">
            <a:spLocks/>
          </p:cNvSpPr>
          <p:nvPr/>
        </p:nvSpPr>
        <p:spPr>
          <a:xfrm>
            <a:off x="49832" y="1221595"/>
            <a:ext cx="8527504" cy="1756244"/>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2400" dirty="0">
                <a:latin typeface="+mn-lt"/>
                <a:cs typeface="Arial" panose="020B0604020202020204" pitchFamily="34" charset="0"/>
              </a:rPr>
              <a:t>Data collection focused on four key input parameters: Voltage (V), Current (A), Gas Flow Rate (L/min), and Ambient Temperature (°C), which were varied systematically</a:t>
            </a:r>
            <a:endParaRPr lang="en-GB" sz="2400" dirty="0">
              <a:latin typeface="+mn-lt"/>
              <a:cs typeface="Arial" panose="020B0604020202020204" pitchFamily="34" charset="0"/>
            </a:endParaRPr>
          </a:p>
          <a:p>
            <a:pPr marL="0" indent="0" algn="just">
              <a:buFont typeface="Wingdings 2" pitchFamily="18" charset="2"/>
              <a:buNone/>
            </a:pPr>
            <a:endParaRPr lang="en-GB" sz="2000" dirty="0">
              <a:latin typeface="+mn-lt"/>
            </a:endParaRPr>
          </a:p>
        </p:txBody>
      </p:sp>
      <p:sp>
        <p:nvSpPr>
          <p:cNvPr id="9" name="Rectangle 2">
            <a:extLst>
              <a:ext uri="{FF2B5EF4-FFF2-40B4-BE49-F238E27FC236}">
                <a16:creationId xmlns:a16="http://schemas.microsoft.com/office/drawing/2014/main" id="{5FEE9D6F-4809-02C2-3E66-7C44764C38C1}"/>
              </a:ext>
            </a:extLst>
          </p:cNvPr>
          <p:cNvSpPr>
            <a:spLocks noGrp="1" noChangeArrowheads="1"/>
          </p:cNvSpPr>
          <p:nvPr>
            <p:ph type="title"/>
          </p:nvPr>
        </p:nvSpPr>
        <p:spPr>
          <a:xfrm>
            <a:off x="49832" y="507083"/>
            <a:ext cx="8112125" cy="676275"/>
          </a:xfrm>
        </p:spPr>
        <p:txBody>
          <a:bodyPr>
            <a:normAutofit/>
          </a:bodyPr>
          <a:lstStyle/>
          <a:p>
            <a:pPr eaLnBrk="1" hangingPunct="1"/>
            <a:r>
              <a:rPr lang="en-US" sz="2800" b="1" dirty="0">
                <a:solidFill>
                  <a:srgbClr val="002060"/>
                </a:solidFill>
                <a:latin typeface="Gill Sans MT" panose="020B0502020104020203" pitchFamily="34" charset="0"/>
                <a:ea typeface="ＭＳ Ｐゴシック" pitchFamily="34" charset="-128"/>
                <a:cs typeface="Times New Roman" pitchFamily="18" charset="0"/>
              </a:rPr>
              <a:t>Data Collection</a:t>
            </a:r>
          </a:p>
        </p:txBody>
      </p:sp>
      <p:graphicFrame>
        <p:nvGraphicFramePr>
          <p:cNvPr id="10" name="Table 9">
            <a:extLst>
              <a:ext uri="{FF2B5EF4-FFF2-40B4-BE49-F238E27FC236}">
                <a16:creationId xmlns:a16="http://schemas.microsoft.com/office/drawing/2014/main" id="{398F6954-67ED-60BA-00A5-888FD2A966B6}"/>
              </a:ext>
            </a:extLst>
          </p:cNvPr>
          <p:cNvGraphicFramePr>
            <a:graphicFrameLocks noGrp="1"/>
          </p:cNvGraphicFramePr>
          <p:nvPr>
            <p:extLst>
              <p:ext uri="{D42A27DB-BD31-4B8C-83A1-F6EECF244321}">
                <p14:modId xmlns:p14="http://schemas.microsoft.com/office/powerpoint/2010/main" val="2357540498"/>
              </p:ext>
            </p:extLst>
          </p:nvPr>
        </p:nvGraphicFramePr>
        <p:xfrm>
          <a:off x="323478" y="3548173"/>
          <a:ext cx="7200799" cy="2431518"/>
        </p:xfrm>
        <a:graphic>
          <a:graphicData uri="http://schemas.openxmlformats.org/drawingml/2006/table">
            <a:tbl>
              <a:tblPr firstRow="1" firstCol="1" bandRow="1">
                <a:tableStyleId>{5C22544A-7EE6-4342-B048-85BDC9FD1C3A}</a:tableStyleId>
              </a:tblPr>
              <a:tblGrid>
                <a:gridCol w="4400489">
                  <a:extLst>
                    <a:ext uri="{9D8B030D-6E8A-4147-A177-3AD203B41FA5}">
                      <a16:colId xmlns:a16="http://schemas.microsoft.com/office/drawing/2014/main" val="1327974174"/>
                    </a:ext>
                  </a:extLst>
                </a:gridCol>
                <a:gridCol w="1400155">
                  <a:extLst>
                    <a:ext uri="{9D8B030D-6E8A-4147-A177-3AD203B41FA5}">
                      <a16:colId xmlns:a16="http://schemas.microsoft.com/office/drawing/2014/main" val="2113722780"/>
                    </a:ext>
                  </a:extLst>
                </a:gridCol>
                <a:gridCol w="1400155">
                  <a:extLst>
                    <a:ext uri="{9D8B030D-6E8A-4147-A177-3AD203B41FA5}">
                      <a16:colId xmlns:a16="http://schemas.microsoft.com/office/drawing/2014/main" val="1761252068"/>
                    </a:ext>
                  </a:extLst>
                </a:gridCol>
              </a:tblGrid>
              <a:tr h="405253">
                <a:tc rowSpan="2">
                  <a:txBody>
                    <a:bodyPr/>
                    <a:lstStyle/>
                    <a:p>
                      <a:pPr algn="ctr">
                        <a:lnSpc>
                          <a:spcPct val="115000"/>
                        </a:lnSpc>
                        <a:spcAft>
                          <a:spcPts val="1000"/>
                        </a:spcAft>
                      </a:pPr>
                      <a:r>
                        <a:rPr lang="en-US" sz="2200" dirty="0">
                          <a:effectLst/>
                        </a:rPr>
                        <a:t>Parameters</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15000"/>
                        </a:lnSpc>
                        <a:spcAft>
                          <a:spcPts val="1000"/>
                        </a:spcAft>
                      </a:pPr>
                      <a:r>
                        <a:rPr lang="en-US" sz="2200">
                          <a:effectLst/>
                        </a:rPr>
                        <a:t>Value</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4023763990"/>
                  </a:ext>
                </a:extLst>
              </a:tr>
              <a:tr h="405253">
                <a:tc vMerge="1">
                  <a:txBody>
                    <a:bodyPr/>
                    <a:lstStyle/>
                    <a:p>
                      <a:endParaRPr lang="en-GB"/>
                    </a:p>
                  </a:txBody>
                  <a:tcPr/>
                </a:tc>
                <a:tc>
                  <a:txBody>
                    <a:bodyPr/>
                    <a:lstStyle/>
                    <a:p>
                      <a:pPr algn="ctr">
                        <a:lnSpc>
                          <a:spcPct val="115000"/>
                        </a:lnSpc>
                        <a:spcAft>
                          <a:spcPts val="1000"/>
                        </a:spcAft>
                      </a:pPr>
                      <a:r>
                        <a:rPr lang="en-US" sz="2200">
                          <a:effectLst/>
                        </a:rPr>
                        <a:t>Low</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High</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4642396"/>
                  </a:ext>
                </a:extLst>
              </a:tr>
              <a:tr h="405253">
                <a:tc>
                  <a:txBody>
                    <a:bodyPr/>
                    <a:lstStyle/>
                    <a:p>
                      <a:pPr>
                        <a:lnSpc>
                          <a:spcPct val="115000"/>
                        </a:lnSpc>
                        <a:spcAft>
                          <a:spcPts val="1000"/>
                        </a:spcAft>
                      </a:pPr>
                      <a:r>
                        <a:rPr lang="en-US" sz="2200">
                          <a:effectLst/>
                        </a:rPr>
                        <a:t>Current (A)</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190</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220</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7792449"/>
                  </a:ext>
                </a:extLst>
              </a:tr>
              <a:tr h="405253">
                <a:tc>
                  <a:txBody>
                    <a:bodyPr/>
                    <a:lstStyle/>
                    <a:p>
                      <a:pPr>
                        <a:lnSpc>
                          <a:spcPct val="115000"/>
                        </a:lnSpc>
                        <a:spcAft>
                          <a:spcPts val="1000"/>
                        </a:spcAft>
                      </a:pPr>
                      <a:r>
                        <a:rPr lang="en-US" sz="2200" dirty="0">
                          <a:effectLst/>
                        </a:rPr>
                        <a:t>Voltage (V)</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dirty="0">
                          <a:effectLst/>
                        </a:rPr>
                        <a:t>21</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24</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2293172"/>
                  </a:ext>
                </a:extLst>
              </a:tr>
              <a:tr h="405253">
                <a:tc>
                  <a:txBody>
                    <a:bodyPr/>
                    <a:lstStyle/>
                    <a:p>
                      <a:pPr>
                        <a:lnSpc>
                          <a:spcPct val="115000"/>
                        </a:lnSpc>
                        <a:spcAft>
                          <a:spcPts val="1000"/>
                        </a:spcAft>
                      </a:pPr>
                      <a:r>
                        <a:rPr lang="en-US" sz="2200">
                          <a:effectLst/>
                        </a:rPr>
                        <a:t>Gas flow rate (L/min)</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13</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16</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7843110"/>
                  </a:ext>
                </a:extLst>
              </a:tr>
              <a:tr h="405253">
                <a:tc>
                  <a:txBody>
                    <a:bodyPr/>
                    <a:lstStyle/>
                    <a:p>
                      <a:pPr>
                        <a:lnSpc>
                          <a:spcPct val="115000"/>
                        </a:lnSpc>
                        <a:spcAft>
                          <a:spcPts val="1000"/>
                        </a:spcAft>
                      </a:pPr>
                      <a:r>
                        <a:rPr lang="en-US" sz="2200" dirty="0">
                          <a:effectLst/>
                        </a:rPr>
                        <a:t>Material Temperature (</a:t>
                      </a:r>
                      <a:r>
                        <a:rPr lang="en-US" sz="2200" baseline="30000" dirty="0">
                          <a:effectLst/>
                        </a:rPr>
                        <a:t>0</a:t>
                      </a:r>
                      <a:r>
                        <a:rPr lang="en-US" sz="2200" dirty="0">
                          <a:effectLst/>
                        </a:rPr>
                        <a:t>C)</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a:effectLst/>
                        </a:rPr>
                        <a:t>28</a:t>
                      </a:r>
                      <a:endParaRPr lang="en-GB"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2200" dirty="0">
                          <a:effectLst/>
                        </a:rPr>
                        <a:t>38</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2370891"/>
                  </a:ext>
                </a:extLst>
              </a:tr>
            </a:tbl>
          </a:graphicData>
        </a:graphic>
      </p:graphicFrame>
      <p:sp>
        <p:nvSpPr>
          <p:cNvPr id="11" name="Rectangle 1">
            <a:extLst>
              <a:ext uri="{FF2B5EF4-FFF2-40B4-BE49-F238E27FC236}">
                <a16:creationId xmlns:a16="http://schemas.microsoft.com/office/drawing/2014/main" id="{6C23E1A7-CC8F-8015-F836-5632177FD93C}"/>
              </a:ext>
            </a:extLst>
          </p:cNvPr>
          <p:cNvSpPr>
            <a:spLocks noChangeArrowheads="1"/>
          </p:cNvSpPr>
          <p:nvPr/>
        </p:nvSpPr>
        <p:spPr bwMode="auto">
          <a:xfrm>
            <a:off x="254968" y="3140968"/>
            <a:ext cx="612068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TABLE 1: WELDING PARAMETERS</a:t>
            </a:r>
            <a:endParaRPr kumimoji="0" lang="en-GB"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200" b="0" i="0" u="none" strike="noStrike" cap="none" normalizeH="0" baseline="0" dirty="0">
              <a:ln>
                <a:noFill/>
              </a:ln>
              <a:solidFill>
                <a:schemeClr val="tx1"/>
              </a:solidFill>
              <a:effectLst/>
            </a:endParaRPr>
          </a:p>
        </p:txBody>
      </p:sp>
      <p:sp>
        <p:nvSpPr>
          <p:cNvPr id="2" name="Rectangle 1">
            <a:extLst>
              <a:ext uri="{FF2B5EF4-FFF2-40B4-BE49-F238E27FC236}">
                <a16:creationId xmlns:a16="http://schemas.microsoft.com/office/drawing/2014/main" id="{225AE068-923E-3D66-20C1-8EA20A826F12}"/>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3875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0DA91-D58F-EE59-B67B-54A551BAD87A}"/>
            </a:ext>
          </a:extLst>
        </p:cNvPr>
        <p:cNvGrpSpPr/>
        <p:nvPr/>
      </p:nvGrpSpPr>
      <p:grpSpPr>
        <a:xfrm>
          <a:off x="0" y="0"/>
          <a:ext cx="0" cy="0"/>
          <a:chOff x="0" y="0"/>
          <a:chExt cx="0" cy="0"/>
        </a:xfrm>
      </p:grpSpPr>
      <p:sp>
        <p:nvSpPr>
          <p:cNvPr id="4" name="Slide Number Placeholder 3"/>
          <p:cNvSpPr txBox="1">
            <a:spLocks/>
          </p:cNvSpPr>
          <p:nvPr/>
        </p:nvSpPr>
        <p:spPr>
          <a:xfrm>
            <a:off x="8578152" y="6881614"/>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z="1600" smtClean="0"/>
              <a:pPr/>
              <a:t>9</a:t>
            </a:fld>
            <a:endParaRPr lang="en-US" sz="1600" dirty="0"/>
          </a:p>
        </p:txBody>
      </p:sp>
      <p:sp>
        <p:nvSpPr>
          <p:cNvPr id="5" name="Content Placeholder 2">
            <a:extLst>
              <a:ext uri="{FF2B5EF4-FFF2-40B4-BE49-F238E27FC236}">
                <a16:creationId xmlns:a16="http://schemas.microsoft.com/office/drawing/2014/main" id="{2C286F24-BD1C-962C-215C-4D91495171F2}"/>
              </a:ext>
            </a:extLst>
          </p:cNvPr>
          <p:cNvSpPr txBox="1">
            <a:spLocks/>
          </p:cNvSpPr>
          <p:nvPr/>
        </p:nvSpPr>
        <p:spPr>
          <a:xfrm>
            <a:off x="0" y="1052736"/>
            <a:ext cx="8712971" cy="1800200"/>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2296" indent="0" algn="just">
              <a:buFont typeface="Wingdings 2" pitchFamily="18" charset="2"/>
              <a:buNone/>
            </a:pPr>
            <a:r>
              <a:rPr lang="en-US" sz="2400" dirty="0">
                <a:latin typeface="+mn-lt"/>
                <a:cs typeface="Arial" panose="020B0604020202020204" pitchFamily="34" charset="0"/>
              </a:rPr>
              <a:t>Experimental results were obtained for tensile strength using the universal testing machine so that a second –order polynomial regression model for the tensile strength was </a:t>
            </a:r>
            <a:r>
              <a:rPr lang="en-GB" sz="2400" dirty="0">
                <a:latin typeface="+mn-lt"/>
                <a:cs typeface="Arial" panose="020B0604020202020204" pitchFamily="34" charset="0"/>
              </a:rPr>
              <a:t>developed</a:t>
            </a:r>
            <a:endParaRPr lang="en-GB" sz="2400" dirty="0">
              <a:latin typeface="+mn-lt"/>
            </a:endParaRPr>
          </a:p>
          <a:p>
            <a:pPr marL="0" indent="0" algn="just">
              <a:buFont typeface="Wingdings 2" pitchFamily="18" charset="2"/>
              <a:buNone/>
            </a:pPr>
            <a:endParaRPr lang="en-GB" sz="2400" dirty="0">
              <a:latin typeface="+mn-lt"/>
            </a:endParaRPr>
          </a:p>
        </p:txBody>
      </p:sp>
      <p:sp>
        <p:nvSpPr>
          <p:cNvPr id="6" name="Rectangle 2">
            <a:extLst>
              <a:ext uri="{FF2B5EF4-FFF2-40B4-BE49-F238E27FC236}">
                <a16:creationId xmlns:a16="http://schemas.microsoft.com/office/drawing/2014/main" id="{9C81DDDC-2958-3C29-F215-8061FA2E7CFD}"/>
              </a:ext>
            </a:extLst>
          </p:cNvPr>
          <p:cNvSpPr>
            <a:spLocks noGrp="1" noChangeArrowheads="1"/>
          </p:cNvSpPr>
          <p:nvPr>
            <p:ph type="title"/>
          </p:nvPr>
        </p:nvSpPr>
        <p:spPr>
          <a:xfrm>
            <a:off x="0" y="404664"/>
            <a:ext cx="8112125" cy="676275"/>
          </a:xfrm>
        </p:spPr>
        <p:txBody>
          <a:bodyPr>
            <a:normAutofit/>
          </a:bodyPr>
          <a:lstStyle/>
          <a:p>
            <a:pPr eaLnBrk="1" hangingPunct="1"/>
            <a:r>
              <a:rPr lang="en-US" sz="2400" b="1" dirty="0">
                <a:solidFill>
                  <a:srgbClr val="002060"/>
                </a:solidFill>
                <a:latin typeface="Gill Sans MT" panose="020B0502020104020203" pitchFamily="34" charset="0"/>
                <a:ea typeface="ＭＳ Ｐゴシック" pitchFamily="34" charset="-128"/>
                <a:cs typeface="Times New Roman" pitchFamily="18" charset="0"/>
              </a:rPr>
              <a:t>Model Building</a:t>
            </a:r>
          </a:p>
        </p:txBody>
      </p:sp>
      <p:sp>
        <p:nvSpPr>
          <p:cNvPr id="2" name="Rectangle 2">
            <a:extLst>
              <a:ext uri="{FF2B5EF4-FFF2-40B4-BE49-F238E27FC236}">
                <a16:creationId xmlns:a16="http://schemas.microsoft.com/office/drawing/2014/main" id="{075BE05F-9C96-6E0F-D0A3-0D7D02365DA4}"/>
              </a:ext>
            </a:extLst>
          </p:cNvPr>
          <p:cNvSpPr txBox="1">
            <a:spLocks noChangeArrowheads="1"/>
          </p:cNvSpPr>
          <p:nvPr/>
        </p:nvSpPr>
        <p:spPr>
          <a:xfrm>
            <a:off x="21051" y="2680717"/>
            <a:ext cx="8112125" cy="67627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sz="2400" b="1" dirty="0">
                <a:solidFill>
                  <a:srgbClr val="002060"/>
                </a:solidFill>
                <a:latin typeface="Gill Sans MT" panose="020B0502020104020203" pitchFamily="34" charset="0"/>
                <a:ea typeface="ＭＳ Ｐゴシック" pitchFamily="34" charset="-128"/>
                <a:cs typeface="Times New Roman" pitchFamily="18" charset="0"/>
              </a:rPr>
              <a:t>Model Analysis</a:t>
            </a:r>
          </a:p>
        </p:txBody>
      </p:sp>
      <p:sp>
        <p:nvSpPr>
          <p:cNvPr id="7" name="TextBox 6">
            <a:extLst>
              <a:ext uri="{FF2B5EF4-FFF2-40B4-BE49-F238E27FC236}">
                <a16:creationId xmlns:a16="http://schemas.microsoft.com/office/drawing/2014/main" id="{1D0124B6-A826-86BE-2ACF-07B00BF312EA}"/>
              </a:ext>
            </a:extLst>
          </p:cNvPr>
          <p:cNvSpPr txBox="1"/>
          <p:nvPr/>
        </p:nvSpPr>
        <p:spPr>
          <a:xfrm>
            <a:off x="44570" y="3371508"/>
            <a:ext cx="8568955" cy="1569660"/>
          </a:xfrm>
          <a:prstGeom prst="rect">
            <a:avLst/>
          </a:prstGeom>
          <a:noFill/>
        </p:spPr>
        <p:txBody>
          <a:bodyPr wrap="square">
            <a:spAutoFit/>
          </a:bodyPr>
          <a:lstStyle/>
          <a:p>
            <a:pPr lvl="0" algn="just"/>
            <a:r>
              <a:rPr lang="en-US" sz="2400" dirty="0">
                <a:cs typeface="Arial" panose="020B0604020202020204" pitchFamily="34" charset="0"/>
              </a:rPr>
              <a:t>The RSM and DT were used </a:t>
            </a:r>
            <a:r>
              <a:rPr lang="en-GB" sz="2400" dirty="0">
                <a:cs typeface="Arial" panose="020B0604020202020204" pitchFamily="34" charset="0"/>
              </a:rPr>
              <a:t>to </a:t>
            </a:r>
            <a:r>
              <a:rPr lang="en-US" sz="2400" dirty="0">
                <a:cs typeface="Arial" panose="020B0604020202020204" pitchFamily="34" charset="0"/>
              </a:rPr>
              <a:t>comprehensively assessed the relationship between the welding input parameters and the tensile strength response variables using various statistical and graphical tools.</a:t>
            </a:r>
            <a:endParaRPr lang="en-GB" sz="2400" dirty="0">
              <a:cs typeface="Arial" panose="020B0604020202020204" pitchFamily="34" charset="0"/>
            </a:endParaRPr>
          </a:p>
        </p:txBody>
      </p:sp>
      <p:sp>
        <p:nvSpPr>
          <p:cNvPr id="3" name="Rectangle 2">
            <a:extLst>
              <a:ext uri="{FF2B5EF4-FFF2-40B4-BE49-F238E27FC236}">
                <a16:creationId xmlns:a16="http://schemas.microsoft.com/office/drawing/2014/main" id="{5BAC27F6-2232-2B6A-39D6-E81D5A19A0E8}"/>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46981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331525E-1B24-8439-DF14-99BC0DD407AB}"/>
              </a:ext>
            </a:extLst>
          </p:cNvPr>
          <p:cNvSpPr txBox="1">
            <a:spLocks noChangeArrowheads="1"/>
          </p:cNvSpPr>
          <p:nvPr/>
        </p:nvSpPr>
        <p:spPr>
          <a:xfrm>
            <a:off x="44570" y="736501"/>
            <a:ext cx="8112125" cy="67627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sz="2400" b="1" dirty="0">
                <a:solidFill>
                  <a:srgbClr val="002060"/>
                </a:solidFill>
                <a:latin typeface="Gill Sans MT" panose="020B0502020104020203" pitchFamily="34" charset="0"/>
                <a:ea typeface="ＭＳ Ｐゴシック" pitchFamily="34" charset="-128"/>
                <a:cs typeface="Times New Roman" pitchFamily="18" charset="0"/>
              </a:rPr>
              <a:t>Analysis of  Variance ANOVA</a:t>
            </a:r>
          </a:p>
        </p:txBody>
      </p:sp>
      <p:sp>
        <p:nvSpPr>
          <p:cNvPr id="5" name="TextBox 4">
            <a:extLst>
              <a:ext uri="{FF2B5EF4-FFF2-40B4-BE49-F238E27FC236}">
                <a16:creationId xmlns:a16="http://schemas.microsoft.com/office/drawing/2014/main" id="{77EF73A4-3E8D-95F4-3F58-AF337F6EE4A2}"/>
              </a:ext>
            </a:extLst>
          </p:cNvPr>
          <p:cNvSpPr txBox="1"/>
          <p:nvPr/>
        </p:nvSpPr>
        <p:spPr>
          <a:xfrm>
            <a:off x="21051" y="1333217"/>
            <a:ext cx="8712971" cy="1200329"/>
          </a:xfrm>
          <a:prstGeom prst="rect">
            <a:avLst/>
          </a:prstGeom>
          <a:noFill/>
        </p:spPr>
        <p:txBody>
          <a:bodyPr wrap="square">
            <a:spAutoFit/>
          </a:bodyPr>
          <a:lstStyle/>
          <a:p>
            <a:pPr lvl="0" algn="just"/>
            <a:r>
              <a:rPr lang="en-US" sz="2400" dirty="0">
                <a:cs typeface="Arial" panose="020B0604020202020204" pitchFamily="34" charset="0"/>
              </a:rPr>
              <a:t>ANOVA evaluated the significance of each input factor and their interactions, while the fit statistics provided insights into model precision and reliability and AHP validated the mode.</a:t>
            </a:r>
            <a:endParaRPr lang="en-GB" sz="2400" dirty="0">
              <a:cs typeface="Arial" panose="020B0604020202020204" pitchFamily="34" charset="0"/>
            </a:endParaRPr>
          </a:p>
        </p:txBody>
      </p:sp>
      <p:sp>
        <p:nvSpPr>
          <p:cNvPr id="6" name="Rectangle 2">
            <a:extLst>
              <a:ext uri="{FF2B5EF4-FFF2-40B4-BE49-F238E27FC236}">
                <a16:creationId xmlns:a16="http://schemas.microsoft.com/office/drawing/2014/main" id="{14371368-B63E-DF46-CED0-5BC20EDB3E1E}"/>
              </a:ext>
            </a:extLst>
          </p:cNvPr>
          <p:cNvSpPr txBox="1">
            <a:spLocks noChangeArrowheads="1"/>
          </p:cNvSpPr>
          <p:nvPr/>
        </p:nvSpPr>
        <p:spPr>
          <a:xfrm>
            <a:off x="43989" y="2924944"/>
            <a:ext cx="8112125" cy="67627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sz="2400" b="1" dirty="0">
                <a:solidFill>
                  <a:srgbClr val="002060"/>
                </a:solidFill>
                <a:latin typeface="Gill Sans MT" panose="020B0502020104020203" pitchFamily="34" charset="0"/>
                <a:ea typeface="ＭＳ Ｐゴシック" pitchFamily="34" charset="-128"/>
                <a:cs typeface="Times New Roman" pitchFamily="18" charset="0"/>
              </a:rPr>
              <a:t>Decision Tree(DT)</a:t>
            </a:r>
          </a:p>
        </p:txBody>
      </p:sp>
      <p:sp>
        <p:nvSpPr>
          <p:cNvPr id="7" name="TextBox 6">
            <a:extLst>
              <a:ext uri="{FF2B5EF4-FFF2-40B4-BE49-F238E27FC236}">
                <a16:creationId xmlns:a16="http://schemas.microsoft.com/office/drawing/2014/main" id="{F5831DB2-647F-2D10-F082-DD769E61FC75}"/>
              </a:ext>
            </a:extLst>
          </p:cNvPr>
          <p:cNvSpPr txBox="1"/>
          <p:nvPr/>
        </p:nvSpPr>
        <p:spPr>
          <a:xfrm>
            <a:off x="43989" y="3578240"/>
            <a:ext cx="8560459" cy="2677656"/>
          </a:xfrm>
          <a:prstGeom prst="rect">
            <a:avLst/>
          </a:prstGeom>
          <a:noFill/>
        </p:spPr>
        <p:txBody>
          <a:bodyPr wrap="square">
            <a:spAutoFit/>
          </a:bodyPr>
          <a:lstStyle/>
          <a:p>
            <a:pPr lvl="0" algn="just"/>
            <a:r>
              <a:rPr lang="en-US" sz="2400" dirty="0">
                <a:cs typeface="Arial" panose="020B0604020202020204" pitchFamily="34" charset="0"/>
              </a:rPr>
              <a:t>DT algorithm was evaluated for estimating key response variables based on the input factors. The performance and reliability of the DT model were examined through a series of graphical diagnostics and visualizations, including the decision tree graph (to visualize model structure), predictor importance plot (to identify the most influential variables), and 3D surface plots (to understand factor-response relationships)</a:t>
            </a:r>
            <a:endParaRPr lang="en-GB" sz="2400" dirty="0">
              <a:cs typeface="Arial" panose="020B0604020202020204" pitchFamily="34" charset="0"/>
            </a:endParaRPr>
          </a:p>
        </p:txBody>
      </p:sp>
    </p:spTree>
    <p:extLst>
      <p:ext uri="{BB962C8B-B14F-4D97-AF65-F5344CB8AC3E}">
        <p14:creationId xmlns:p14="http://schemas.microsoft.com/office/powerpoint/2010/main" val="767402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A12D-6550-3F30-CD96-6FAB4D4A910C}"/>
            </a:ext>
          </a:extLst>
        </p:cNvPr>
        <p:cNvGrpSpPr/>
        <p:nvPr/>
      </p:nvGrpSpPr>
      <p:grpSpPr>
        <a:xfrm>
          <a:off x="0" y="0"/>
          <a:ext cx="0" cy="0"/>
          <a:chOff x="0" y="0"/>
          <a:chExt cx="0" cy="0"/>
        </a:xfrm>
      </p:grpSpPr>
      <p:sp>
        <p:nvSpPr>
          <p:cNvPr id="3" name="Content Placeholder 2"/>
          <p:cNvSpPr txBox="1">
            <a:spLocks/>
          </p:cNvSpPr>
          <p:nvPr/>
        </p:nvSpPr>
        <p:spPr>
          <a:xfrm>
            <a:off x="-127280" y="518475"/>
            <a:ext cx="8938646" cy="966309"/>
          </a:xfrm>
          <a:prstGeom prst="rect">
            <a:avLst/>
          </a:prstGeom>
        </p:spPr>
        <p:txBody>
          <a:bodyPr>
            <a:norm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2296" indent="0">
              <a:lnSpc>
                <a:spcPct val="150000"/>
              </a:lnSpc>
              <a:buFont typeface="Wingdings 2" pitchFamily="18" charset="2"/>
              <a:buNone/>
            </a:pPr>
            <a:r>
              <a:rPr lang="en-US" sz="1800" dirty="0">
                <a:latin typeface="+mn-lt"/>
                <a:cs typeface="Arial" panose="020B0604020202020204" pitchFamily="34" charset="0"/>
              </a:rPr>
              <a:t>Twenty (20) experimental runs were carried out using Tungsten Inert Gas (TIG) welding process focusing on Current (A), Voltage (V), Gas flow rate (L/min) and Ambient Temperature (</a:t>
            </a:r>
            <a:r>
              <a:rPr lang="en-US" sz="1800" baseline="30000" dirty="0">
                <a:latin typeface="+mn-lt"/>
                <a:cs typeface="Arial" panose="020B0604020202020204" pitchFamily="34" charset="0"/>
              </a:rPr>
              <a:t>0</a:t>
            </a:r>
            <a:r>
              <a:rPr lang="en-US" sz="1800" dirty="0">
                <a:latin typeface="+mn-lt"/>
                <a:cs typeface="Arial" panose="020B0604020202020204" pitchFamily="34" charset="0"/>
              </a:rPr>
              <a:t>C)</a:t>
            </a:r>
          </a:p>
        </p:txBody>
      </p:sp>
      <p:sp>
        <p:nvSpPr>
          <p:cNvPr id="4" name="Slide Number Placeholder 3"/>
          <p:cNvSpPr txBox="1">
            <a:spLocks/>
          </p:cNvSpPr>
          <p:nvPr/>
        </p:nvSpPr>
        <p:spPr>
          <a:xfrm>
            <a:off x="8613648" y="63055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11</a:t>
            </a:fld>
            <a:endParaRPr lang="en-US" dirty="0"/>
          </a:p>
        </p:txBody>
      </p:sp>
      <p:sp>
        <p:nvSpPr>
          <p:cNvPr id="2" name="Rectangle 2">
            <a:extLst>
              <a:ext uri="{FF2B5EF4-FFF2-40B4-BE49-F238E27FC236}">
                <a16:creationId xmlns:a16="http://schemas.microsoft.com/office/drawing/2014/main" id="{3DE6ACFB-2682-FDE4-464F-63F94D0E5C52}"/>
              </a:ext>
            </a:extLst>
          </p:cNvPr>
          <p:cNvSpPr>
            <a:spLocks noGrp="1" noChangeArrowheads="1"/>
          </p:cNvSpPr>
          <p:nvPr>
            <p:ph type="title"/>
          </p:nvPr>
        </p:nvSpPr>
        <p:spPr>
          <a:xfrm>
            <a:off x="15099" y="-77490"/>
            <a:ext cx="8112125" cy="676275"/>
          </a:xfrm>
        </p:spPr>
        <p:txBody>
          <a:bodyPr>
            <a:normAutofit fontScale="90000"/>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Result</a:t>
            </a:r>
          </a:p>
        </p:txBody>
      </p:sp>
      <p:graphicFrame>
        <p:nvGraphicFramePr>
          <p:cNvPr id="5" name="Table 4">
            <a:extLst>
              <a:ext uri="{FF2B5EF4-FFF2-40B4-BE49-F238E27FC236}">
                <a16:creationId xmlns:a16="http://schemas.microsoft.com/office/drawing/2014/main" id="{1A1025A5-A3C3-B1C9-C724-86721D5B966E}"/>
              </a:ext>
            </a:extLst>
          </p:cNvPr>
          <p:cNvGraphicFramePr>
            <a:graphicFrameLocks noGrp="1"/>
          </p:cNvGraphicFramePr>
          <p:nvPr>
            <p:extLst>
              <p:ext uri="{D42A27DB-BD31-4B8C-83A1-F6EECF244321}">
                <p14:modId xmlns:p14="http://schemas.microsoft.com/office/powerpoint/2010/main" val="2222342200"/>
              </p:ext>
            </p:extLst>
          </p:nvPr>
        </p:nvGraphicFramePr>
        <p:xfrm>
          <a:off x="32561" y="1942232"/>
          <a:ext cx="8407623" cy="4889500"/>
        </p:xfrm>
        <a:graphic>
          <a:graphicData uri="http://schemas.openxmlformats.org/drawingml/2006/table">
            <a:tbl>
              <a:tblPr firstRow="1" firstCol="1" bandRow="1">
                <a:tableStyleId>{5C22544A-7EE6-4342-B048-85BDC9FD1C3A}</a:tableStyleId>
              </a:tblPr>
              <a:tblGrid>
                <a:gridCol w="1201089">
                  <a:extLst>
                    <a:ext uri="{9D8B030D-6E8A-4147-A177-3AD203B41FA5}">
                      <a16:colId xmlns:a16="http://schemas.microsoft.com/office/drawing/2014/main" val="3034734966"/>
                    </a:ext>
                  </a:extLst>
                </a:gridCol>
                <a:gridCol w="1201089">
                  <a:extLst>
                    <a:ext uri="{9D8B030D-6E8A-4147-A177-3AD203B41FA5}">
                      <a16:colId xmlns:a16="http://schemas.microsoft.com/office/drawing/2014/main" val="1949383010"/>
                    </a:ext>
                  </a:extLst>
                </a:gridCol>
                <a:gridCol w="1201089">
                  <a:extLst>
                    <a:ext uri="{9D8B030D-6E8A-4147-A177-3AD203B41FA5}">
                      <a16:colId xmlns:a16="http://schemas.microsoft.com/office/drawing/2014/main" val="1416634057"/>
                    </a:ext>
                  </a:extLst>
                </a:gridCol>
                <a:gridCol w="1201089">
                  <a:extLst>
                    <a:ext uri="{9D8B030D-6E8A-4147-A177-3AD203B41FA5}">
                      <a16:colId xmlns:a16="http://schemas.microsoft.com/office/drawing/2014/main" val="421676687"/>
                    </a:ext>
                  </a:extLst>
                </a:gridCol>
                <a:gridCol w="1201089">
                  <a:extLst>
                    <a:ext uri="{9D8B030D-6E8A-4147-A177-3AD203B41FA5}">
                      <a16:colId xmlns:a16="http://schemas.microsoft.com/office/drawing/2014/main" val="4024087995"/>
                    </a:ext>
                  </a:extLst>
                </a:gridCol>
                <a:gridCol w="1201089">
                  <a:extLst>
                    <a:ext uri="{9D8B030D-6E8A-4147-A177-3AD203B41FA5}">
                      <a16:colId xmlns:a16="http://schemas.microsoft.com/office/drawing/2014/main" val="1846318384"/>
                    </a:ext>
                  </a:extLst>
                </a:gridCol>
                <a:gridCol w="1201089">
                  <a:extLst>
                    <a:ext uri="{9D8B030D-6E8A-4147-A177-3AD203B41FA5}">
                      <a16:colId xmlns:a16="http://schemas.microsoft.com/office/drawing/2014/main" val="2441840118"/>
                    </a:ext>
                  </a:extLst>
                </a:gridCol>
              </a:tblGrid>
              <a:tr h="463423">
                <a:tc>
                  <a:txBody>
                    <a:bodyPr/>
                    <a:lstStyle/>
                    <a:p>
                      <a:pPr algn="ctr">
                        <a:buNone/>
                      </a:pPr>
                      <a:endParaRPr lang="en-US" sz="1200" kern="100" dirty="0">
                        <a:solidFill>
                          <a:schemeClr val="tx1"/>
                        </a:solidFill>
                        <a:effectLst/>
                      </a:endParaRPr>
                    </a:p>
                    <a:p>
                      <a:pPr algn="ctr">
                        <a:buNone/>
                      </a:pPr>
                      <a:r>
                        <a:rPr lang="en-US" sz="1200" kern="100" dirty="0">
                          <a:solidFill>
                            <a:schemeClr val="tx1"/>
                          </a:solidFill>
                          <a:effectLst/>
                        </a:rPr>
                        <a:t>Std</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tc>
                  <a:txBody>
                    <a:bodyPr/>
                    <a:lstStyle/>
                    <a:p>
                      <a:pPr algn="ctr">
                        <a:buNone/>
                      </a:pPr>
                      <a:endParaRPr lang="en-US" sz="1200" kern="100" dirty="0">
                        <a:solidFill>
                          <a:schemeClr val="tx1"/>
                        </a:solidFill>
                        <a:effectLst/>
                      </a:endParaRPr>
                    </a:p>
                    <a:p>
                      <a:pPr algn="ctr">
                        <a:buNone/>
                      </a:pPr>
                      <a:r>
                        <a:rPr lang="en-US" sz="1200" kern="100" dirty="0">
                          <a:solidFill>
                            <a:schemeClr val="tx1"/>
                          </a:solidFill>
                          <a:effectLst/>
                        </a:rPr>
                        <a:t>Run</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tc>
                  <a:txBody>
                    <a:bodyPr/>
                    <a:lstStyle/>
                    <a:p>
                      <a:pPr algn="ctr">
                        <a:buNone/>
                      </a:pPr>
                      <a:r>
                        <a:rPr lang="en-US" sz="1200" kern="100" dirty="0">
                          <a:solidFill>
                            <a:schemeClr val="tx1"/>
                          </a:solidFill>
                          <a:effectLst/>
                        </a:rPr>
                        <a:t>Factor 1</a:t>
                      </a:r>
                    </a:p>
                    <a:p>
                      <a:pPr algn="ctr">
                        <a:buNone/>
                      </a:pPr>
                      <a:r>
                        <a:rPr lang="en-US" sz="1200" kern="100" dirty="0">
                          <a:solidFill>
                            <a:schemeClr val="tx1"/>
                          </a:solidFill>
                          <a:effectLst/>
                        </a:rPr>
                        <a:t>A: Current</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tc>
                  <a:txBody>
                    <a:bodyPr/>
                    <a:lstStyle/>
                    <a:p>
                      <a:pPr algn="ctr">
                        <a:buNone/>
                      </a:pPr>
                      <a:r>
                        <a:rPr lang="en-US" sz="1200" kern="100" dirty="0">
                          <a:solidFill>
                            <a:schemeClr val="tx1"/>
                          </a:solidFill>
                          <a:effectLst/>
                        </a:rPr>
                        <a:t>Factor 2</a:t>
                      </a:r>
                    </a:p>
                    <a:p>
                      <a:pPr algn="ctr">
                        <a:buNone/>
                      </a:pPr>
                      <a:r>
                        <a:rPr lang="en-US" sz="1200" kern="100" dirty="0">
                          <a:solidFill>
                            <a:schemeClr val="tx1"/>
                          </a:solidFill>
                          <a:effectLst/>
                        </a:rPr>
                        <a:t>B: Voltage</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tc>
                  <a:txBody>
                    <a:bodyPr/>
                    <a:lstStyle/>
                    <a:p>
                      <a:pPr algn="ctr">
                        <a:buNone/>
                      </a:pPr>
                      <a:r>
                        <a:rPr lang="en-US" sz="1200" kern="100" dirty="0">
                          <a:solidFill>
                            <a:schemeClr val="tx1"/>
                          </a:solidFill>
                          <a:effectLst/>
                        </a:rPr>
                        <a:t>Factor 3</a:t>
                      </a:r>
                    </a:p>
                    <a:p>
                      <a:pPr algn="ctr">
                        <a:buNone/>
                      </a:pPr>
                      <a:r>
                        <a:rPr lang="en-US" sz="1200" kern="100" dirty="0">
                          <a:solidFill>
                            <a:schemeClr val="tx1"/>
                          </a:solidFill>
                          <a:effectLst/>
                        </a:rPr>
                        <a:t>C: Gas Flow Rate</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tc>
                  <a:txBody>
                    <a:bodyPr/>
                    <a:lstStyle/>
                    <a:p>
                      <a:pPr algn="ctr">
                        <a:buNone/>
                      </a:pPr>
                      <a:r>
                        <a:rPr lang="en-US" sz="1200" kern="100" dirty="0">
                          <a:solidFill>
                            <a:schemeClr val="tx1"/>
                          </a:solidFill>
                          <a:effectLst/>
                        </a:rPr>
                        <a:t>Factor 4</a:t>
                      </a:r>
                    </a:p>
                    <a:p>
                      <a:pPr algn="ctr">
                        <a:buNone/>
                      </a:pPr>
                      <a:r>
                        <a:rPr lang="en-US" sz="1200" kern="100" dirty="0">
                          <a:solidFill>
                            <a:schemeClr val="tx1"/>
                          </a:solidFill>
                          <a:effectLst/>
                        </a:rPr>
                        <a:t>D: Ambient Temp</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tc>
                  <a:txBody>
                    <a:bodyPr/>
                    <a:lstStyle/>
                    <a:p>
                      <a:pPr algn="ctr">
                        <a:buNone/>
                      </a:pPr>
                      <a:r>
                        <a:rPr lang="en-US" sz="1200" kern="100" dirty="0">
                          <a:solidFill>
                            <a:schemeClr val="tx1"/>
                          </a:solidFill>
                          <a:effectLst/>
                        </a:rPr>
                        <a:t>Response 1</a:t>
                      </a:r>
                    </a:p>
                    <a:p>
                      <a:pPr algn="ctr">
                        <a:buNone/>
                      </a:pPr>
                      <a:r>
                        <a:rPr lang="en-US" sz="1200" kern="100" dirty="0">
                          <a:solidFill>
                            <a:schemeClr val="tx1"/>
                          </a:solidFill>
                          <a:effectLst/>
                        </a:rPr>
                        <a:t>Tensile Strength (MPa)</a:t>
                      </a:r>
                      <a:endParaRPr lang="en-GB" sz="1200" kern="100" dirty="0">
                        <a:solidFill>
                          <a:schemeClr val="tx1"/>
                        </a:solidFill>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770211134"/>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30</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516</a:t>
                      </a:r>
                    </a:p>
                  </a:txBody>
                  <a:tcPr marL="9525" marR="9525" marT="9525" marB="9525"/>
                </a:tc>
                <a:extLst>
                  <a:ext uri="{0D108BD9-81ED-4DB2-BD59-A6C34878D82A}">
                    <a16:rowId xmlns:a16="http://schemas.microsoft.com/office/drawing/2014/main" val="1428413783"/>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517</a:t>
                      </a:r>
                    </a:p>
                  </a:txBody>
                  <a:tcPr marL="9525" marR="9525" marT="9525" marB="9525"/>
                </a:tc>
                <a:extLst>
                  <a:ext uri="{0D108BD9-81ED-4DB2-BD59-A6C34878D82A}">
                    <a16:rowId xmlns:a16="http://schemas.microsoft.com/office/drawing/2014/main" val="2549111570"/>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525</a:t>
                      </a:r>
                    </a:p>
                  </a:txBody>
                  <a:tcPr marL="9525" marR="9525" marT="9525" marB="9525"/>
                </a:tc>
                <a:extLst>
                  <a:ext uri="{0D108BD9-81ED-4DB2-BD59-A6C34878D82A}">
                    <a16:rowId xmlns:a16="http://schemas.microsoft.com/office/drawing/2014/main" val="609592741"/>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18</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516</a:t>
                      </a:r>
                    </a:p>
                  </a:txBody>
                  <a:tcPr marL="9525" marR="9525" marT="9525" marB="9525"/>
                </a:tc>
                <a:extLst>
                  <a:ext uri="{0D108BD9-81ED-4DB2-BD59-A6C34878D82A}">
                    <a16:rowId xmlns:a16="http://schemas.microsoft.com/office/drawing/2014/main" val="165880116"/>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200</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521</a:t>
                      </a:r>
                    </a:p>
                  </a:txBody>
                  <a:tcPr marL="9525" marR="9525" marT="9525" marB="9525"/>
                </a:tc>
                <a:extLst>
                  <a:ext uri="{0D108BD9-81ED-4DB2-BD59-A6C34878D82A}">
                    <a16:rowId xmlns:a16="http://schemas.microsoft.com/office/drawing/2014/main" val="1073468814"/>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508</a:t>
                      </a:r>
                    </a:p>
                  </a:txBody>
                  <a:tcPr marL="9525" marR="9525" marT="9525" marB="9525"/>
                </a:tc>
                <a:extLst>
                  <a:ext uri="{0D108BD9-81ED-4DB2-BD59-A6C34878D82A}">
                    <a16:rowId xmlns:a16="http://schemas.microsoft.com/office/drawing/2014/main" val="789186347"/>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480</a:t>
                      </a:r>
                    </a:p>
                  </a:txBody>
                  <a:tcPr marL="9525" marR="9525" marT="9525" marB="9525"/>
                </a:tc>
                <a:extLst>
                  <a:ext uri="{0D108BD9-81ED-4DB2-BD59-A6C34878D82A}">
                    <a16:rowId xmlns:a16="http://schemas.microsoft.com/office/drawing/2014/main" val="15495293"/>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467</a:t>
                      </a:r>
                    </a:p>
                  </a:txBody>
                  <a:tcPr marL="9525" marR="9525" marT="9525" marB="9525"/>
                </a:tc>
                <a:extLst>
                  <a:ext uri="{0D108BD9-81ED-4DB2-BD59-A6C34878D82A}">
                    <a16:rowId xmlns:a16="http://schemas.microsoft.com/office/drawing/2014/main" val="1074813342"/>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28</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565</a:t>
                      </a:r>
                    </a:p>
                  </a:txBody>
                  <a:tcPr marL="9525" marR="9525" marT="9525" marB="9525"/>
                </a:tc>
                <a:extLst>
                  <a:ext uri="{0D108BD9-81ED-4DB2-BD59-A6C34878D82A}">
                    <a16:rowId xmlns:a16="http://schemas.microsoft.com/office/drawing/2014/main" val="1197538887"/>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517</a:t>
                      </a:r>
                    </a:p>
                  </a:txBody>
                  <a:tcPr marL="9525" marR="9525" marT="9525" marB="9525"/>
                </a:tc>
                <a:extLst>
                  <a:ext uri="{0D108BD9-81ED-4DB2-BD59-A6C34878D82A}">
                    <a16:rowId xmlns:a16="http://schemas.microsoft.com/office/drawing/2014/main" val="3881504436"/>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23</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487</a:t>
                      </a:r>
                    </a:p>
                  </a:txBody>
                  <a:tcPr marL="9525" marR="9525" marT="9525" marB="9525"/>
                </a:tc>
                <a:extLst>
                  <a:ext uri="{0D108BD9-81ED-4DB2-BD59-A6C34878D82A}">
                    <a16:rowId xmlns:a16="http://schemas.microsoft.com/office/drawing/2014/main" val="131881429"/>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37</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509</a:t>
                      </a:r>
                    </a:p>
                  </a:txBody>
                  <a:tcPr marL="9525" marR="9525" marT="9525" marB="9525"/>
                </a:tc>
                <a:extLst>
                  <a:ext uri="{0D108BD9-81ED-4DB2-BD59-A6C34878D82A}">
                    <a16:rowId xmlns:a16="http://schemas.microsoft.com/office/drawing/2014/main" val="2333045113"/>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29</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531</a:t>
                      </a:r>
                    </a:p>
                  </a:txBody>
                  <a:tcPr marL="9525" marR="9525" marT="9525" marB="9525"/>
                </a:tc>
                <a:extLst>
                  <a:ext uri="{0D108BD9-81ED-4DB2-BD59-A6C34878D82A}">
                    <a16:rowId xmlns:a16="http://schemas.microsoft.com/office/drawing/2014/main" val="3047895066"/>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488</a:t>
                      </a:r>
                    </a:p>
                  </a:txBody>
                  <a:tcPr marL="9525" marR="9525" marT="9525" marB="9525"/>
                </a:tc>
                <a:extLst>
                  <a:ext uri="{0D108BD9-81ED-4DB2-BD59-A6C34878D82A}">
                    <a16:rowId xmlns:a16="http://schemas.microsoft.com/office/drawing/2014/main" val="2772407893"/>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28</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522</a:t>
                      </a:r>
                    </a:p>
                  </a:txBody>
                  <a:tcPr marL="9525" marR="9525" marT="9525" marB="9525"/>
                </a:tc>
                <a:extLst>
                  <a:ext uri="{0D108BD9-81ED-4DB2-BD59-A6C34878D82A}">
                    <a16:rowId xmlns:a16="http://schemas.microsoft.com/office/drawing/2014/main" val="2653079110"/>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38</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428</a:t>
                      </a:r>
                    </a:p>
                  </a:txBody>
                  <a:tcPr marL="9525" marR="9525" marT="9525" marB="9525"/>
                </a:tc>
                <a:extLst>
                  <a:ext uri="{0D108BD9-81ED-4DB2-BD59-A6C34878D82A}">
                    <a16:rowId xmlns:a16="http://schemas.microsoft.com/office/drawing/2014/main" val="3114168183"/>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502</a:t>
                      </a:r>
                    </a:p>
                  </a:txBody>
                  <a:tcPr marL="9525" marR="9525" marT="9525" marB="9525"/>
                </a:tc>
                <a:extLst>
                  <a:ext uri="{0D108BD9-81ED-4DB2-BD59-A6C34878D82A}">
                    <a16:rowId xmlns:a16="http://schemas.microsoft.com/office/drawing/2014/main" val="2586858660"/>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18</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553</a:t>
                      </a:r>
                    </a:p>
                  </a:txBody>
                  <a:tcPr marL="9525" marR="9525" marT="9525" marB="9525"/>
                </a:tc>
                <a:extLst>
                  <a:ext uri="{0D108BD9-81ED-4DB2-BD59-A6C34878D82A}">
                    <a16:rowId xmlns:a16="http://schemas.microsoft.com/office/drawing/2014/main" val="2822194814"/>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37</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477</a:t>
                      </a:r>
                    </a:p>
                  </a:txBody>
                  <a:tcPr marL="9525" marR="9525" marT="9525" marB="9525"/>
                </a:tc>
                <a:extLst>
                  <a:ext uri="{0D108BD9-81ED-4DB2-BD59-A6C34878D82A}">
                    <a16:rowId xmlns:a16="http://schemas.microsoft.com/office/drawing/2014/main" val="317390124"/>
                  </a:ext>
                </a:extLst>
              </a:tr>
              <a:tr h="183331">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220</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a:t>
                      </a:r>
                    </a:p>
                  </a:txBody>
                  <a:tcPr marL="9525" marR="9525" marT="9525" marB="9525"/>
                </a:tc>
                <a:tc>
                  <a:txBody>
                    <a:bodyPr/>
                    <a:lstStyle/>
                    <a:p>
                      <a:pPr>
                        <a:lnSpc>
                          <a:spcPct val="115000"/>
                        </a:lnSpc>
                        <a:spcAft>
                          <a:spcPts val="800"/>
                        </a:spcAft>
                        <a:buNone/>
                      </a:pPr>
                      <a:r>
                        <a:rPr lang="en-GB"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38</a:t>
                      </a:r>
                    </a:p>
                  </a:txBody>
                  <a:tcPr marL="9525" marR="9525" marT="9525" marB="9525"/>
                </a:tc>
                <a:tc>
                  <a:txBody>
                    <a:bodyPr/>
                    <a:lstStyle/>
                    <a:p>
                      <a:pPr>
                        <a:lnSpc>
                          <a:spcPct val="115000"/>
                        </a:lnSpc>
                        <a:spcAft>
                          <a:spcPts val="800"/>
                        </a:spcAft>
                        <a:buNone/>
                      </a:pPr>
                      <a:r>
                        <a:rPr lang="en-GB"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484</a:t>
                      </a:r>
                    </a:p>
                  </a:txBody>
                  <a:tcPr marL="9525" marR="9525" marT="9525" marB="9525"/>
                </a:tc>
                <a:extLst>
                  <a:ext uri="{0D108BD9-81ED-4DB2-BD59-A6C34878D82A}">
                    <a16:rowId xmlns:a16="http://schemas.microsoft.com/office/drawing/2014/main" val="1608957895"/>
                  </a:ext>
                </a:extLst>
              </a:tr>
            </a:tbl>
          </a:graphicData>
        </a:graphic>
      </p:graphicFrame>
      <p:sp>
        <p:nvSpPr>
          <p:cNvPr id="7" name="TextBox 6">
            <a:extLst>
              <a:ext uri="{FF2B5EF4-FFF2-40B4-BE49-F238E27FC236}">
                <a16:creationId xmlns:a16="http://schemas.microsoft.com/office/drawing/2014/main" id="{1898AAD4-E259-82FE-0E84-D69A20E42189}"/>
              </a:ext>
            </a:extLst>
          </p:cNvPr>
          <p:cNvSpPr txBox="1"/>
          <p:nvPr/>
        </p:nvSpPr>
        <p:spPr>
          <a:xfrm>
            <a:off x="761002" y="1567869"/>
            <a:ext cx="7852646" cy="369332"/>
          </a:xfrm>
          <a:prstGeom prst="rect">
            <a:avLst/>
          </a:prstGeom>
          <a:noFill/>
        </p:spPr>
        <p:txBody>
          <a:bodyPr wrap="square">
            <a:spAutoFit/>
          </a:bodyPr>
          <a:lstStyle/>
          <a:p>
            <a:pPr marL="457200" marR="457200">
              <a:spcBef>
                <a:spcPts val="500"/>
              </a:spcBef>
              <a:spcAft>
                <a:spcPts val="500"/>
              </a:spcAft>
              <a:buNone/>
            </a:pPr>
            <a:r>
              <a:rPr lang="en-US" sz="1800" dirty="0">
                <a:effectLst/>
                <a:latin typeface="Arial" panose="020B0604020202020204" pitchFamily="34" charset="0"/>
                <a:ea typeface="Times New Roman" panose="02020603050405020304" pitchFamily="18" charset="0"/>
                <a:cs typeface="Arial" panose="020B0604020202020204" pitchFamily="34" charset="0"/>
              </a:rPr>
              <a:t>TABLE 2: EXPERIMENTAL RESULTS WITH 20 RUNS</a:t>
            </a:r>
            <a:endParaRPr lang="en-GB" sz="1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74B1D22D-C21E-8293-8C7C-B104FA1BFADB}"/>
              </a:ext>
            </a:extLst>
          </p:cNvPr>
          <p:cNvSpPr txBox="1"/>
          <p:nvPr/>
        </p:nvSpPr>
        <p:spPr>
          <a:xfrm>
            <a:off x="-30264" y="1268760"/>
            <a:ext cx="9085882" cy="369332"/>
          </a:xfrm>
          <a:prstGeom prst="rect">
            <a:avLst/>
          </a:prstGeom>
          <a:noFill/>
        </p:spPr>
        <p:txBody>
          <a:bodyPr wrap="square">
            <a:spAutoFit/>
          </a:bodyPr>
          <a:lstStyle/>
          <a:p>
            <a:pPr lvl="0" eaLnBrk="0" fontAlgn="base" hangingPunct="0">
              <a:spcBef>
                <a:spcPct val="0"/>
              </a:spcBef>
              <a:spcAft>
                <a:spcPct val="0"/>
              </a:spcAft>
            </a:pPr>
            <a:r>
              <a:rPr lang="en-US" altLang="en-US" sz="1800" dirty="0"/>
              <a:t>Results showed that Tensile Strength varies significantly with changes in input parameters.</a:t>
            </a:r>
          </a:p>
        </p:txBody>
      </p:sp>
    </p:spTree>
    <p:extLst>
      <p:ext uri="{BB962C8B-B14F-4D97-AF65-F5344CB8AC3E}">
        <p14:creationId xmlns:p14="http://schemas.microsoft.com/office/powerpoint/2010/main" val="1552817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43743-121E-7086-4E3D-D0C3F9E11158}"/>
            </a:ext>
          </a:extLst>
        </p:cNvPr>
        <p:cNvGrpSpPr/>
        <p:nvPr/>
      </p:nvGrpSpPr>
      <p:grpSpPr>
        <a:xfrm>
          <a:off x="0" y="0"/>
          <a:ext cx="0" cy="0"/>
          <a:chOff x="0" y="0"/>
          <a:chExt cx="0" cy="0"/>
        </a:xfrm>
      </p:grpSpPr>
      <p:sp>
        <p:nvSpPr>
          <p:cNvPr id="2" name="Title 1"/>
          <p:cNvSpPr>
            <a:spLocks noGrp="1"/>
          </p:cNvSpPr>
          <p:nvPr>
            <p:ph type="title"/>
          </p:nvPr>
        </p:nvSpPr>
        <p:spPr>
          <a:xfrm>
            <a:off x="0" y="692696"/>
            <a:ext cx="8719406" cy="688504"/>
          </a:xfrm>
        </p:spPr>
        <p:txBody>
          <a:bodyPr>
            <a:normAutofit/>
          </a:bodyPr>
          <a:lstStyle/>
          <a:p>
            <a:r>
              <a:rPr lang="en-GB" sz="3000" b="1" dirty="0">
                <a:solidFill>
                  <a:schemeClr val="tx1"/>
                </a:solidFill>
                <a:effectLst/>
              </a:rPr>
              <a:t>RSM ANALYSIS</a:t>
            </a:r>
            <a:endParaRPr lang="en-US" sz="3000" b="1" dirty="0">
              <a:solidFill>
                <a:schemeClr val="tx1"/>
              </a:solidFill>
              <a:effectLst/>
            </a:endParaRPr>
          </a:p>
        </p:txBody>
      </p:sp>
      <p:sp>
        <p:nvSpPr>
          <p:cNvPr id="3" name="Content Placeholder 2"/>
          <p:cNvSpPr txBox="1">
            <a:spLocks/>
          </p:cNvSpPr>
          <p:nvPr/>
        </p:nvSpPr>
        <p:spPr>
          <a:xfrm>
            <a:off x="251520" y="1381200"/>
            <a:ext cx="8280920" cy="3992016"/>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lnSpc>
                <a:spcPct val="170000"/>
              </a:lnSpc>
            </a:pPr>
            <a:endParaRPr lang="en-US" sz="2400" dirty="0">
              <a:latin typeface="+mn-lt"/>
              <a:cs typeface="Arial" panose="020B0604020202020204" pitchFamily="34" charset="0"/>
            </a:endParaRPr>
          </a:p>
          <a:p>
            <a:pPr marL="0" indent="0" algn="just">
              <a:buNone/>
            </a:pPr>
            <a:r>
              <a:rPr lang="en-US" sz="2400" dirty="0">
                <a:latin typeface="+mn-lt"/>
                <a:cs typeface="Arial" panose="020B0604020202020204" pitchFamily="34" charset="0"/>
              </a:rPr>
              <a:t>The RSM analysis in this study comprehensively assessed the relationship between the welding input parameters and the response variables using various statistical and graphical tools. the tables below show the fit summary, lack of fit test and analysis of variance.</a:t>
            </a:r>
          </a:p>
        </p:txBody>
      </p:sp>
      <p:sp>
        <p:nvSpPr>
          <p:cNvPr id="5" name="Rectangle 4">
            <a:extLst>
              <a:ext uri="{FF2B5EF4-FFF2-40B4-BE49-F238E27FC236}">
                <a16:creationId xmlns:a16="http://schemas.microsoft.com/office/drawing/2014/main" id="{5D8AA52B-5B40-2E9A-76BA-DB039B523BB7}"/>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6870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EE1B-AC37-B437-07CB-BEE0B0CA35F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5EAF695-ED77-7A93-326C-C319EA2B93F7}"/>
              </a:ext>
            </a:extLst>
          </p:cNvPr>
          <p:cNvSpPr txBox="1"/>
          <p:nvPr/>
        </p:nvSpPr>
        <p:spPr>
          <a:xfrm>
            <a:off x="1452" y="616729"/>
            <a:ext cx="7272808" cy="451598"/>
          </a:xfrm>
          <a:prstGeom prst="rect">
            <a:avLst/>
          </a:prstGeom>
          <a:noFill/>
        </p:spPr>
        <p:txBody>
          <a:bodyPr wrap="square">
            <a:spAutoFit/>
          </a:bodyPr>
          <a:lstStyle/>
          <a:p>
            <a:pPr algn="just">
              <a:lnSpc>
                <a:spcPct val="115000"/>
              </a:lnSpc>
              <a:spcAft>
                <a:spcPts val="1000"/>
              </a:spcAft>
            </a:pPr>
            <a:r>
              <a:rPr lang="en-US" sz="2200" dirty="0">
                <a:effectLst/>
                <a:ea typeface="Calibri" panose="020F0502020204030204" pitchFamily="34" charset="0"/>
                <a:cs typeface="Times New Roman" panose="02020603050405020304" pitchFamily="18" charset="0"/>
              </a:rPr>
              <a:t>TABLE 3: Fit Summary for </a:t>
            </a:r>
            <a:r>
              <a:rPr lang="en-US" sz="2200" b="1" dirty="0">
                <a:ea typeface="Calibri" panose="020F0502020204030204" pitchFamily="34" charset="0"/>
                <a:cs typeface="Times New Roman" panose="02020603050405020304" pitchFamily="18" charset="0"/>
              </a:rPr>
              <a:t>Tensile strength</a:t>
            </a:r>
            <a:endParaRPr lang="en-GB" sz="2200" dirty="0">
              <a:effectLs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D1F75B0E-4E10-18F2-316D-A21AF31B6550}"/>
              </a:ext>
            </a:extLst>
          </p:cNvPr>
          <p:cNvGraphicFramePr>
            <a:graphicFrameLocks noGrp="1"/>
          </p:cNvGraphicFramePr>
          <p:nvPr>
            <p:extLst>
              <p:ext uri="{D42A27DB-BD31-4B8C-83A1-F6EECF244321}">
                <p14:modId xmlns:p14="http://schemas.microsoft.com/office/powerpoint/2010/main" val="2360476452"/>
              </p:ext>
            </p:extLst>
          </p:nvPr>
        </p:nvGraphicFramePr>
        <p:xfrm>
          <a:off x="1" y="1068327"/>
          <a:ext cx="8676456" cy="3699738"/>
        </p:xfrm>
        <a:graphic>
          <a:graphicData uri="http://schemas.openxmlformats.org/drawingml/2006/table">
            <a:tbl>
              <a:tblPr firstRow="1" firstCol="1" bandRow="1">
                <a:tableStyleId>{5C22544A-7EE6-4342-B048-85BDC9FD1C3A}</a:tableStyleId>
              </a:tblPr>
              <a:tblGrid>
                <a:gridCol w="1493488">
                  <a:extLst>
                    <a:ext uri="{9D8B030D-6E8A-4147-A177-3AD203B41FA5}">
                      <a16:colId xmlns:a16="http://schemas.microsoft.com/office/drawing/2014/main" val="2371762641"/>
                    </a:ext>
                  </a:extLst>
                </a:gridCol>
                <a:gridCol w="1398664">
                  <a:extLst>
                    <a:ext uri="{9D8B030D-6E8A-4147-A177-3AD203B41FA5}">
                      <a16:colId xmlns:a16="http://schemas.microsoft.com/office/drawing/2014/main" val="605938277"/>
                    </a:ext>
                  </a:extLst>
                </a:gridCol>
                <a:gridCol w="1446076">
                  <a:extLst>
                    <a:ext uri="{9D8B030D-6E8A-4147-A177-3AD203B41FA5}">
                      <a16:colId xmlns:a16="http://schemas.microsoft.com/office/drawing/2014/main" val="1087194965"/>
                    </a:ext>
                  </a:extLst>
                </a:gridCol>
                <a:gridCol w="1446076">
                  <a:extLst>
                    <a:ext uri="{9D8B030D-6E8A-4147-A177-3AD203B41FA5}">
                      <a16:colId xmlns:a16="http://schemas.microsoft.com/office/drawing/2014/main" val="1184623386"/>
                    </a:ext>
                  </a:extLst>
                </a:gridCol>
                <a:gridCol w="1446076">
                  <a:extLst>
                    <a:ext uri="{9D8B030D-6E8A-4147-A177-3AD203B41FA5}">
                      <a16:colId xmlns:a16="http://schemas.microsoft.com/office/drawing/2014/main" val="383678283"/>
                    </a:ext>
                  </a:extLst>
                </a:gridCol>
                <a:gridCol w="1446076">
                  <a:extLst>
                    <a:ext uri="{9D8B030D-6E8A-4147-A177-3AD203B41FA5}">
                      <a16:colId xmlns:a16="http://schemas.microsoft.com/office/drawing/2014/main" val="3729963847"/>
                    </a:ext>
                  </a:extLst>
                </a:gridCol>
              </a:tblGrid>
              <a:tr h="1123233">
                <a:tc>
                  <a:txBody>
                    <a:bodyPr/>
                    <a:lstStyle/>
                    <a:p>
                      <a:pPr algn="just">
                        <a:lnSpc>
                          <a:spcPct val="115000"/>
                        </a:lnSpc>
                        <a:spcAft>
                          <a:spcPts val="1000"/>
                        </a:spcAft>
                      </a:pPr>
                      <a:r>
                        <a:rPr lang="en-US" sz="2200">
                          <a:effectLst/>
                        </a:rPr>
                        <a:t>Source</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Model p-value</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Lack of Fit p-value</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Adjusted R²</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Predicted R²</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7097712"/>
                  </a:ext>
                </a:extLst>
              </a:tr>
              <a:tr h="740845">
                <a:tc>
                  <a:txBody>
                    <a:bodyPr/>
                    <a:lstStyle/>
                    <a:p>
                      <a:pPr algn="just">
                        <a:lnSpc>
                          <a:spcPct val="115000"/>
                        </a:lnSpc>
                        <a:spcAft>
                          <a:spcPts val="1000"/>
                        </a:spcAft>
                      </a:pPr>
                      <a:r>
                        <a:rPr lang="en-US" sz="2200">
                          <a:effectLst/>
                        </a:rPr>
                        <a:t>Design Model</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&lt; 0.0001</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0.0568</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0.9495</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0.7967</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12417649"/>
                  </a:ext>
                </a:extLst>
              </a:tr>
              <a:tr h="358457">
                <a:tc>
                  <a:txBody>
                    <a:bodyPr/>
                    <a:lstStyle/>
                    <a:p>
                      <a:pPr algn="just">
                        <a:lnSpc>
                          <a:spcPct val="115000"/>
                        </a:lnSpc>
                        <a:spcAft>
                          <a:spcPts val="1000"/>
                        </a:spcAft>
                      </a:pPr>
                      <a:r>
                        <a:rPr lang="en-US" sz="2200">
                          <a:effectLst/>
                        </a:rPr>
                        <a:t>Linear</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&lt; 0.0001</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0.0225</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0.8604</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0.7782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2116979"/>
                  </a:ext>
                </a:extLst>
              </a:tr>
              <a:tr h="358457">
                <a:tc>
                  <a:txBody>
                    <a:bodyPr/>
                    <a:lstStyle/>
                    <a:p>
                      <a:pPr algn="just">
                        <a:lnSpc>
                          <a:spcPct val="115000"/>
                        </a:lnSpc>
                        <a:spcAft>
                          <a:spcPts val="1000"/>
                        </a:spcAft>
                      </a:pPr>
                      <a:r>
                        <a:rPr lang="en-US" sz="2200">
                          <a:effectLst/>
                        </a:rPr>
                        <a:t>2FI</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0.4866</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0.0202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0.8596</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0.3472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1521857"/>
                  </a:ext>
                </a:extLst>
              </a:tr>
              <a:tr h="740845">
                <a:tc>
                  <a:txBody>
                    <a:bodyPr/>
                    <a:lstStyle/>
                    <a:p>
                      <a:pPr algn="just">
                        <a:lnSpc>
                          <a:spcPct val="115000"/>
                        </a:lnSpc>
                        <a:spcAft>
                          <a:spcPts val="1000"/>
                        </a:spcAft>
                      </a:pPr>
                      <a:r>
                        <a:rPr lang="en-US" sz="2200" dirty="0">
                          <a:effectLst/>
                        </a:rPr>
                        <a:t>Quadratic</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&lt; 0.0001</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0.8732</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0.9980</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a:effectLst/>
                        </a:rPr>
                        <a:t>0.9528</a:t>
                      </a:r>
                      <a:endParaRPr lang="en-GB" sz="22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Suggested</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1318380"/>
                  </a:ext>
                </a:extLst>
              </a:tr>
              <a:tr h="358457">
                <a:tc>
                  <a:txBody>
                    <a:bodyPr/>
                    <a:lstStyle/>
                    <a:p>
                      <a:pPr algn="just">
                        <a:lnSpc>
                          <a:spcPct val="115000"/>
                        </a:lnSpc>
                        <a:spcAft>
                          <a:spcPts val="1000"/>
                        </a:spcAft>
                      </a:pPr>
                      <a:r>
                        <a:rPr lang="en-US" sz="2200" dirty="0">
                          <a:effectLst/>
                        </a:rPr>
                        <a:t>Cubic</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0.8732</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0.9963</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2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200" dirty="0">
                          <a:effectLst/>
                        </a:rPr>
                        <a:t>Aliased</a:t>
                      </a:r>
                      <a:endParaRPr lang="en-GB" sz="2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1839192"/>
                  </a:ext>
                </a:extLst>
              </a:tr>
            </a:tbl>
          </a:graphicData>
        </a:graphic>
      </p:graphicFrame>
      <p:sp>
        <p:nvSpPr>
          <p:cNvPr id="2" name="Rectangle 1">
            <a:extLst>
              <a:ext uri="{FF2B5EF4-FFF2-40B4-BE49-F238E27FC236}">
                <a16:creationId xmlns:a16="http://schemas.microsoft.com/office/drawing/2014/main" id="{44F00A1C-38C9-053A-9A93-7B9911C6ED62}"/>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40278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E4B1-7A9D-242B-5456-736A3CFBE4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6C9F10-0833-1A0A-EFF9-1F02BEFD72A1}"/>
              </a:ext>
            </a:extLst>
          </p:cNvPr>
          <p:cNvSpPr txBox="1">
            <a:spLocks/>
          </p:cNvSpPr>
          <p:nvPr/>
        </p:nvSpPr>
        <p:spPr>
          <a:xfrm>
            <a:off x="8287808" y="6752372"/>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14</a:t>
            </a:fld>
            <a:endParaRPr lang="en-US" dirty="0"/>
          </a:p>
        </p:txBody>
      </p:sp>
      <p:graphicFrame>
        <p:nvGraphicFramePr>
          <p:cNvPr id="15" name="Content Placeholder 1">
            <a:extLst>
              <a:ext uri="{FF2B5EF4-FFF2-40B4-BE49-F238E27FC236}">
                <a16:creationId xmlns:a16="http://schemas.microsoft.com/office/drawing/2014/main" id="{34603B94-5D08-6247-E725-2B0E47D2871A}"/>
              </a:ext>
            </a:extLst>
          </p:cNvPr>
          <p:cNvGraphicFramePr>
            <a:graphicFrameLocks/>
          </p:cNvGraphicFramePr>
          <p:nvPr>
            <p:extLst>
              <p:ext uri="{D42A27DB-BD31-4B8C-83A1-F6EECF244321}">
                <p14:modId xmlns:p14="http://schemas.microsoft.com/office/powerpoint/2010/main" val="2554086275"/>
              </p:ext>
            </p:extLst>
          </p:nvPr>
        </p:nvGraphicFramePr>
        <p:xfrm>
          <a:off x="53208" y="1199105"/>
          <a:ext cx="8603000" cy="2356843"/>
        </p:xfrm>
        <a:graphic>
          <a:graphicData uri="http://schemas.openxmlformats.org/drawingml/2006/table">
            <a:tbl>
              <a:tblPr firstRow="1" firstCol="1" bandRow="1">
                <a:tableStyleId>{5C22544A-7EE6-4342-B048-85BDC9FD1C3A}</a:tableStyleId>
              </a:tblPr>
              <a:tblGrid>
                <a:gridCol w="1398861">
                  <a:extLst>
                    <a:ext uri="{9D8B030D-6E8A-4147-A177-3AD203B41FA5}">
                      <a16:colId xmlns:a16="http://schemas.microsoft.com/office/drawing/2014/main" val="853246960"/>
                    </a:ext>
                  </a:extLst>
                </a:gridCol>
                <a:gridCol w="1398861">
                  <a:extLst>
                    <a:ext uri="{9D8B030D-6E8A-4147-A177-3AD203B41FA5}">
                      <a16:colId xmlns:a16="http://schemas.microsoft.com/office/drawing/2014/main" val="3361840691"/>
                    </a:ext>
                  </a:extLst>
                </a:gridCol>
                <a:gridCol w="889278">
                  <a:extLst>
                    <a:ext uri="{9D8B030D-6E8A-4147-A177-3AD203B41FA5}">
                      <a16:colId xmlns:a16="http://schemas.microsoft.com/office/drawing/2014/main" val="1151660735"/>
                    </a:ext>
                  </a:extLst>
                </a:gridCol>
                <a:gridCol w="1229000">
                  <a:extLst>
                    <a:ext uri="{9D8B030D-6E8A-4147-A177-3AD203B41FA5}">
                      <a16:colId xmlns:a16="http://schemas.microsoft.com/office/drawing/2014/main" val="831003338"/>
                    </a:ext>
                  </a:extLst>
                </a:gridCol>
                <a:gridCol w="1229000">
                  <a:extLst>
                    <a:ext uri="{9D8B030D-6E8A-4147-A177-3AD203B41FA5}">
                      <a16:colId xmlns:a16="http://schemas.microsoft.com/office/drawing/2014/main" val="4022844241"/>
                    </a:ext>
                  </a:extLst>
                </a:gridCol>
                <a:gridCol w="1229000">
                  <a:extLst>
                    <a:ext uri="{9D8B030D-6E8A-4147-A177-3AD203B41FA5}">
                      <a16:colId xmlns:a16="http://schemas.microsoft.com/office/drawing/2014/main" val="3535147481"/>
                    </a:ext>
                  </a:extLst>
                </a:gridCol>
                <a:gridCol w="1229000">
                  <a:extLst>
                    <a:ext uri="{9D8B030D-6E8A-4147-A177-3AD203B41FA5}">
                      <a16:colId xmlns:a16="http://schemas.microsoft.com/office/drawing/2014/main" val="2861039618"/>
                    </a:ext>
                  </a:extLst>
                </a:gridCol>
              </a:tblGrid>
              <a:tr h="688538">
                <a:tc>
                  <a:txBody>
                    <a:bodyPr/>
                    <a:lstStyle/>
                    <a:p>
                      <a:pPr algn="just">
                        <a:lnSpc>
                          <a:spcPct val="115000"/>
                        </a:lnSpc>
                        <a:spcAft>
                          <a:spcPts val="1000"/>
                        </a:spcAft>
                      </a:pPr>
                      <a:r>
                        <a:rPr lang="en-US" sz="2000" dirty="0">
                          <a:effectLst/>
                        </a:rPr>
                        <a:t>Source</a:t>
                      </a:r>
                      <a:endParaRPr lang="en-GB"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Sum of Squares</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dirty="0" err="1">
                          <a:effectLst/>
                        </a:rPr>
                        <a:t>df</a:t>
                      </a:r>
                      <a:endParaRPr lang="en-GB"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Mean Square</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F-value</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2000">
                          <a:effectLst/>
                        </a:rPr>
                        <a:t>p-value</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3103926"/>
                  </a:ext>
                </a:extLst>
              </a:tr>
              <a:tr h="333661">
                <a:tc>
                  <a:txBody>
                    <a:bodyPr/>
                    <a:lstStyle/>
                    <a:p>
                      <a:pPr algn="just">
                        <a:lnSpc>
                          <a:spcPct val="115000"/>
                        </a:lnSpc>
                        <a:spcAft>
                          <a:spcPts val="1000"/>
                        </a:spcAft>
                      </a:pPr>
                      <a:r>
                        <a:rPr lang="en-US" sz="2000">
                          <a:effectLst/>
                        </a:rPr>
                        <a:t>Linear</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2918.42</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13</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224.49</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GB" sz="1200" dirty="0"/>
                        <a:t>52.82</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GB" sz="1200" dirty="0"/>
                        <a:t>0.0187</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4315973"/>
                  </a:ext>
                </a:extLst>
              </a:tr>
              <a:tr h="333661">
                <a:tc>
                  <a:txBody>
                    <a:bodyPr/>
                    <a:lstStyle/>
                    <a:p>
                      <a:pPr algn="just">
                        <a:lnSpc>
                          <a:spcPct val="115000"/>
                        </a:lnSpc>
                        <a:spcAft>
                          <a:spcPts val="1000"/>
                        </a:spcAft>
                      </a:pPr>
                      <a:r>
                        <a:rPr lang="en-US" sz="2000">
                          <a:effectLst/>
                        </a:rPr>
                        <a:t>2FI</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1609.65</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7</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229.95</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GB" sz="1200" dirty="0"/>
                        <a:t>54.11</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GB" sz="1200" dirty="0"/>
                        <a:t>0.0183</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endParaRPr lang="en-GB" sz="20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9561515"/>
                  </a:ext>
                </a:extLst>
              </a:tr>
              <a:tr h="333661">
                <a:tc>
                  <a:txBody>
                    <a:bodyPr/>
                    <a:lstStyle/>
                    <a:p>
                      <a:pPr algn="just">
                        <a:lnSpc>
                          <a:spcPct val="115000"/>
                        </a:lnSpc>
                        <a:spcAft>
                          <a:spcPts val="1000"/>
                        </a:spcAft>
                      </a:pPr>
                      <a:r>
                        <a:rPr lang="en-US" sz="2000" dirty="0">
                          <a:effectLst/>
                        </a:rPr>
                        <a:t>Quadratic</a:t>
                      </a:r>
                      <a:endParaRPr lang="en-GB"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10.31</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dirty="0">
                          <a:effectLst/>
                          <a:latin typeface="Aptos" panose="020B0004020202020204" pitchFamily="34" charset="0"/>
                          <a:ea typeface="Times New Roman" panose="02020603050405020304" pitchFamily="18" charset="0"/>
                        </a:rPr>
                        <a:t>3</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3.44</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GB" sz="1200" dirty="0"/>
                        <a:t>0.8088</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GB" sz="1200" dirty="0"/>
                        <a:t>0.5941</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gn="just">
                        <a:lnSpc>
                          <a:spcPct val="115000"/>
                        </a:lnSpc>
                        <a:spcAft>
                          <a:spcPts val="1000"/>
                        </a:spcAft>
                      </a:pPr>
                      <a:r>
                        <a:rPr lang="en-US" sz="2000">
                          <a:effectLst/>
                        </a:rPr>
                        <a:t>Suggested</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9632411"/>
                  </a:ext>
                </a:extLst>
              </a:tr>
              <a:tr h="333661">
                <a:tc>
                  <a:txBody>
                    <a:bodyPr/>
                    <a:lstStyle/>
                    <a:p>
                      <a:pPr algn="just">
                        <a:lnSpc>
                          <a:spcPct val="115000"/>
                        </a:lnSpc>
                        <a:spcAft>
                          <a:spcPts val="1000"/>
                        </a:spcAft>
                      </a:pPr>
                      <a:r>
                        <a:rPr lang="en-US" sz="2000">
                          <a:effectLst/>
                        </a:rPr>
                        <a:t>Cubic</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0.0000</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0</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endParaRPr lang="en-GB" sz="1200" kern="100">
                        <a:effectLst/>
                        <a:latin typeface="Aptos" panose="020B0004020202020204" pitchFamily="34" charset="0"/>
                      </a:endParaRPr>
                    </a:p>
                  </a:txBody>
                  <a:tcPr marL="9525" marR="9525" marT="9525" marB="9525" anchor="ctr"/>
                </a:tc>
                <a:tc>
                  <a:txBody>
                    <a:bodyPr/>
                    <a:lstStyle/>
                    <a:p>
                      <a:pPr>
                        <a:lnSpc>
                          <a:spcPct val="115000"/>
                        </a:lnSpc>
                        <a:buNone/>
                      </a:pPr>
                      <a:endParaRPr lang="en-GB" sz="1200" kern="100">
                        <a:effectLst/>
                        <a:latin typeface="Aptos" panose="020B0004020202020204" pitchFamily="34" charset="0"/>
                      </a:endParaRPr>
                    </a:p>
                  </a:txBody>
                  <a:tcPr marL="9525" marR="9525" marT="9525" marB="9525" anchor="ctr"/>
                </a:tc>
                <a:tc>
                  <a:txBody>
                    <a:bodyPr/>
                    <a:lstStyle/>
                    <a:p>
                      <a:pPr>
                        <a:lnSpc>
                          <a:spcPct val="115000"/>
                        </a:lnSpc>
                        <a:buNone/>
                      </a:pP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gn="just">
                        <a:lnSpc>
                          <a:spcPct val="115000"/>
                        </a:lnSpc>
                        <a:spcAft>
                          <a:spcPts val="1000"/>
                        </a:spcAft>
                      </a:pPr>
                      <a:r>
                        <a:rPr lang="en-US" sz="2000">
                          <a:effectLst/>
                        </a:rPr>
                        <a:t>Aliased</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0829431"/>
                  </a:ext>
                </a:extLst>
              </a:tr>
              <a:tr h="333661">
                <a:tc>
                  <a:txBody>
                    <a:bodyPr/>
                    <a:lstStyle/>
                    <a:p>
                      <a:pPr algn="just">
                        <a:lnSpc>
                          <a:spcPct val="115000"/>
                        </a:lnSpc>
                        <a:spcAft>
                          <a:spcPts val="1000"/>
                        </a:spcAft>
                      </a:pPr>
                      <a:r>
                        <a:rPr lang="en-US" sz="2000">
                          <a:effectLst/>
                        </a:rPr>
                        <a:t>Pure Error</a:t>
                      </a:r>
                      <a:endParaRPr lang="en-GB"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8.50</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2</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r>
                        <a:rPr lang="en-US" sz="1200" kern="100">
                          <a:effectLst/>
                          <a:latin typeface="Aptos" panose="020B0004020202020204" pitchFamily="34" charset="0"/>
                          <a:ea typeface="Times New Roman" panose="02020603050405020304" pitchFamily="18" charset="0"/>
                        </a:rPr>
                        <a:t>4.25</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a:lnSpc>
                          <a:spcPct val="115000"/>
                        </a:lnSpc>
                        <a:buNone/>
                      </a:pPr>
                      <a:endParaRPr lang="en-GB" sz="1200" kern="100">
                        <a:effectLst/>
                        <a:latin typeface="Aptos" panose="020B0004020202020204" pitchFamily="34" charset="0"/>
                      </a:endParaRPr>
                    </a:p>
                  </a:txBody>
                  <a:tcPr marL="9525" marR="9525" marT="9525" marB="9525" anchor="ctr"/>
                </a:tc>
                <a:tc>
                  <a:txBody>
                    <a:bodyPr/>
                    <a:lstStyle/>
                    <a:p>
                      <a:pPr>
                        <a:lnSpc>
                          <a:spcPct val="115000"/>
                        </a:lnSpc>
                        <a:buNone/>
                      </a:pP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tc>
                  <a:txBody>
                    <a:bodyPr/>
                    <a:lstStyle/>
                    <a:p>
                      <a:endParaRPr lang="en-GB" sz="2000" dirty="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958250"/>
                  </a:ext>
                </a:extLst>
              </a:tr>
            </a:tbl>
          </a:graphicData>
        </a:graphic>
      </p:graphicFrame>
      <p:sp>
        <p:nvSpPr>
          <p:cNvPr id="16" name="TextBox 15">
            <a:extLst>
              <a:ext uri="{FF2B5EF4-FFF2-40B4-BE49-F238E27FC236}">
                <a16:creationId xmlns:a16="http://schemas.microsoft.com/office/drawing/2014/main" id="{94626C5E-11B4-FEBB-254C-73738229B84B}"/>
              </a:ext>
            </a:extLst>
          </p:cNvPr>
          <p:cNvSpPr txBox="1"/>
          <p:nvPr/>
        </p:nvSpPr>
        <p:spPr>
          <a:xfrm>
            <a:off x="-24787" y="669027"/>
            <a:ext cx="7056784" cy="451598"/>
          </a:xfrm>
          <a:prstGeom prst="rect">
            <a:avLst/>
          </a:prstGeom>
          <a:noFill/>
        </p:spPr>
        <p:txBody>
          <a:bodyPr wrap="square">
            <a:spAutoFit/>
          </a:bodyPr>
          <a:lstStyle/>
          <a:p>
            <a:pPr algn="just">
              <a:lnSpc>
                <a:spcPct val="115000"/>
              </a:lnSpc>
              <a:spcAft>
                <a:spcPts val="1000"/>
              </a:spcAft>
            </a:pPr>
            <a:r>
              <a:rPr lang="en-US" sz="2200" dirty="0">
                <a:effectLst/>
                <a:ea typeface="Calibri" panose="020F0502020204030204" pitchFamily="34" charset="0"/>
                <a:cs typeface="Times New Roman" panose="02020603050405020304" pitchFamily="18" charset="0"/>
              </a:rPr>
              <a:t>TABLE 4: Lack of Fit Tests for</a:t>
            </a:r>
            <a:r>
              <a:rPr lang="en-US" sz="2200" b="1" dirty="0">
                <a:ea typeface="Calibri" panose="020F0502020204030204" pitchFamily="34" charset="0"/>
                <a:cs typeface="Times New Roman" panose="02020603050405020304" pitchFamily="18" charset="0"/>
              </a:rPr>
              <a:t> Tensile strength</a:t>
            </a:r>
            <a:endParaRPr lang="en-GB" sz="2200" dirty="0">
              <a:effectLst/>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3C3C3DAD-73DA-DAC0-3E00-907CA14065E1}"/>
              </a:ext>
            </a:extLst>
          </p:cNvPr>
          <p:cNvSpPr txBox="1"/>
          <p:nvPr/>
        </p:nvSpPr>
        <p:spPr>
          <a:xfrm>
            <a:off x="53208" y="3712908"/>
            <a:ext cx="8603000" cy="2554545"/>
          </a:xfrm>
          <a:prstGeom prst="rect">
            <a:avLst/>
          </a:prstGeom>
          <a:noFill/>
        </p:spPr>
        <p:txBody>
          <a:bodyPr wrap="square">
            <a:spAutoFit/>
          </a:bodyPr>
          <a:lstStyle/>
          <a:p>
            <a:r>
              <a:rPr lang="en-US" sz="2000" dirty="0"/>
              <a:t>Table 4 presents the lack of fit test results for the tensile strength model, providing critical insight into the adequacy of the different model forms. The quadratic model exhibits the most desirable statistical performance, with a very low sum of squares (10.31), low mean square (3.44), and a non-significant p-value of 0.5941, indicating that the model's deviation from the actual data is not statistically significant—making it a good fit for the observed data and the suggested model for further analysis. Overall, the quadratic model provides the best fit with minimal lack of fit, justifying its use in modeling tensile strength</a:t>
            </a:r>
            <a:endParaRPr lang="en-GB" sz="2000" dirty="0"/>
          </a:p>
        </p:txBody>
      </p:sp>
      <p:sp>
        <p:nvSpPr>
          <p:cNvPr id="2" name="Rectangle 1">
            <a:extLst>
              <a:ext uri="{FF2B5EF4-FFF2-40B4-BE49-F238E27FC236}">
                <a16:creationId xmlns:a16="http://schemas.microsoft.com/office/drawing/2014/main" id="{5BCB8FDF-D7B9-7E38-67F0-4547835F7046}"/>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74884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C06B4-9D2F-F611-D8AE-110F3D4A0717}"/>
            </a:ext>
          </a:extLst>
        </p:cNvPr>
        <p:cNvGrpSpPr/>
        <p:nvPr/>
      </p:nvGrpSpPr>
      <p:grpSpPr>
        <a:xfrm>
          <a:off x="0" y="0"/>
          <a:ext cx="0" cy="0"/>
          <a:chOff x="0" y="0"/>
          <a:chExt cx="0" cy="0"/>
        </a:xfrm>
      </p:grpSpPr>
      <p:sp>
        <p:nvSpPr>
          <p:cNvPr id="4" name="Slide Number Placeholder 3"/>
          <p:cNvSpPr txBox="1">
            <a:spLocks/>
          </p:cNvSpPr>
          <p:nvPr/>
        </p:nvSpPr>
        <p:spPr>
          <a:xfrm>
            <a:off x="8613648" y="63055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15</a:t>
            </a:fld>
            <a:endParaRPr lang="en-US" dirty="0"/>
          </a:p>
        </p:txBody>
      </p:sp>
      <p:sp>
        <p:nvSpPr>
          <p:cNvPr id="8" name="TextBox 7">
            <a:extLst>
              <a:ext uri="{FF2B5EF4-FFF2-40B4-BE49-F238E27FC236}">
                <a16:creationId xmlns:a16="http://schemas.microsoft.com/office/drawing/2014/main" id="{DB63627F-BF35-4035-F613-9168F57E31AA}"/>
              </a:ext>
            </a:extLst>
          </p:cNvPr>
          <p:cNvSpPr txBox="1"/>
          <p:nvPr/>
        </p:nvSpPr>
        <p:spPr>
          <a:xfrm>
            <a:off x="145" y="323171"/>
            <a:ext cx="4572000" cy="369525"/>
          </a:xfrm>
          <a:prstGeom prst="rect">
            <a:avLst/>
          </a:prstGeom>
          <a:noFill/>
        </p:spPr>
        <p:txBody>
          <a:bodyPr wrap="square">
            <a:spAutoFit/>
          </a:bodyPr>
          <a:lstStyle/>
          <a:p>
            <a:pPr algn="just">
              <a:lnSpc>
                <a:spcPct val="107000"/>
              </a:lnSpc>
              <a:spcAft>
                <a:spcPts val="800"/>
              </a:spcAft>
            </a:pPr>
            <a:r>
              <a:rPr lang="en-US" sz="1800" kern="100" dirty="0">
                <a:effectLst/>
                <a:latin typeface="Times New Roman" panose="02020603050405020304" pitchFamily="18" charset="0"/>
                <a:ea typeface="Times New Roman" panose="02020603050405020304" pitchFamily="18" charset="0"/>
              </a:rPr>
              <a:t>TABLE 5: ANOVA for</a:t>
            </a:r>
            <a:r>
              <a:rPr lang="en-GB" dirty="0"/>
              <a:t> Tensile Strength</a:t>
            </a:r>
            <a:endParaRPr lang="en-GB" sz="1800" kern="100" dirty="0">
              <a:effectLst/>
              <a:latin typeface="Times New Roman" panose="02020603050405020304" pitchFamily="18" charset="0"/>
              <a:ea typeface="Times New Roman" panose="02020603050405020304" pitchFamily="18" charset="0"/>
            </a:endParaRPr>
          </a:p>
        </p:txBody>
      </p:sp>
      <p:graphicFrame>
        <p:nvGraphicFramePr>
          <p:cNvPr id="11" name="Table 10">
            <a:extLst>
              <a:ext uri="{FF2B5EF4-FFF2-40B4-BE49-F238E27FC236}">
                <a16:creationId xmlns:a16="http://schemas.microsoft.com/office/drawing/2014/main" id="{6F3A604A-B81F-0983-A56A-99DD7CE420FB}"/>
              </a:ext>
            </a:extLst>
          </p:cNvPr>
          <p:cNvGraphicFramePr>
            <a:graphicFrameLocks noGrp="1"/>
          </p:cNvGraphicFramePr>
          <p:nvPr>
            <p:extLst>
              <p:ext uri="{D42A27DB-BD31-4B8C-83A1-F6EECF244321}">
                <p14:modId xmlns:p14="http://schemas.microsoft.com/office/powerpoint/2010/main" val="4247558452"/>
              </p:ext>
            </p:extLst>
          </p:nvPr>
        </p:nvGraphicFramePr>
        <p:xfrm>
          <a:off x="73152" y="778182"/>
          <a:ext cx="8484371" cy="6082703"/>
        </p:xfrm>
        <a:graphic>
          <a:graphicData uri="http://schemas.openxmlformats.org/drawingml/2006/table">
            <a:tbl>
              <a:tblPr firstRow="1" firstCol="1" bandRow="1">
                <a:tableStyleId>{5C22544A-7EE6-4342-B048-85BDC9FD1C3A}</a:tableStyleId>
              </a:tblPr>
              <a:tblGrid>
                <a:gridCol w="1612731">
                  <a:extLst>
                    <a:ext uri="{9D8B030D-6E8A-4147-A177-3AD203B41FA5}">
                      <a16:colId xmlns:a16="http://schemas.microsoft.com/office/drawing/2014/main" val="702396682"/>
                    </a:ext>
                  </a:extLst>
                </a:gridCol>
                <a:gridCol w="1332256">
                  <a:extLst>
                    <a:ext uri="{9D8B030D-6E8A-4147-A177-3AD203B41FA5}">
                      <a16:colId xmlns:a16="http://schemas.microsoft.com/office/drawing/2014/main" val="674126248"/>
                    </a:ext>
                  </a:extLst>
                </a:gridCol>
                <a:gridCol w="691172">
                  <a:extLst>
                    <a:ext uri="{9D8B030D-6E8A-4147-A177-3AD203B41FA5}">
                      <a16:colId xmlns:a16="http://schemas.microsoft.com/office/drawing/2014/main" val="527532543"/>
                    </a:ext>
                  </a:extLst>
                </a:gridCol>
                <a:gridCol w="1212053">
                  <a:extLst>
                    <a:ext uri="{9D8B030D-6E8A-4147-A177-3AD203B41FA5}">
                      <a16:colId xmlns:a16="http://schemas.microsoft.com/office/drawing/2014/main" val="2213118578"/>
                    </a:ext>
                  </a:extLst>
                </a:gridCol>
                <a:gridCol w="1212053">
                  <a:extLst>
                    <a:ext uri="{9D8B030D-6E8A-4147-A177-3AD203B41FA5}">
                      <a16:colId xmlns:a16="http://schemas.microsoft.com/office/drawing/2014/main" val="1567877874"/>
                    </a:ext>
                  </a:extLst>
                </a:gridCol>
                <a:gridCol w="1212053">
                  <a:extLst>
                    <a:ext uri="{9D8B030D-6E8A-4147-A177-3AD203B41FA5}">
                      <a16:colId xmlns:a16="http://schemas.microsoft.com/office/drawing/2014/main" val="585973107"/>
                    </a:ext>
                  </a:extLst>
                </a:gridCol>
                <a:gridCol w="1212053">
                  <a:extLst>
                    <a:ext uri="{9D8B030D-6E8A-4147-A177-3AD203B41FA5}">
                      <a16:colId xmlns:a16="http://schemas.microsoft.com/office/drawing/2014/main" val="3077453016"/>
                    </a:ext>
                  </a:extLst>
                </a:gridCol>
              </a:tblGrid>
              <a:tr h="513680">
                <a:tc>
                  <a:txBody>
                    <a:bodyPr/>
                    <a:lstStyle/>
                    <a:p>
                      <a:pPr algn="just">
                        <a:lnSpc>
                          <a:spcPct val="115000"/>
                        </a:lnSpc>
                        <a:spcAft>
                          <a:spcPts val="1000"/>
                        </a:spcAft>
                      </a:pPr>
                      <a:r>
                        <a:rPr lang="en-US" sz="1600">
                          <a:effectLst/>
                        </a:rPr>
                        <a:t>Source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Sum of Squares</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df</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Mean Square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F-value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p-value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3044357"/>
                  </a:ext>
                </a:extLst>
              </a:tr>
              <a:tr h="248896">
                <a:tc>
                  <a:txBody>
                    <a:bodyPr/>
                    <a:lstStyle/>
                    <a:p>
                      <a:pPr algn="just">
                        <a:lnSpc>
                          <a:spcPct val="115000"/>
                        </a:lnSpc>
                        <a:spcAft>
                          <a:spcPts val="1000"/>
                        </a:spcAft>
                      </a:pPr>
                      <a:r>
                        <a:rPr lang="en-US" sz="1600">
                          <a:effectLst/>
                        </a:rPr>
                        <a:t>Model</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9.251E-07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691.58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significant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564127"/>
                  </a:ext>
                </a:extLst>
              </a:tr>
              <a:tr h="248896">
                <a:tc>
                  <a:txBody>
                    <a:bodyPr/>
                    <a:lstStyle/>
                    <a:p>
                      <a:pPr algn="just">
                        <a:lnSpc>
                          <a:spcPct val="115000"/>
                        </a:lnSpc>
                        <a:spcAft>
                          <a:spcPts val="1000"/>
                        </a:spcAft>
                      </a:pPr>
                      <a:r>
                        <a:rPr lang="en-US" sz="1600">
                          <a:effectLst/>
                        </a:rPr>
                        <a:t>A-Current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3.191E-07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3.191E-07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238.54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8732890"/>
                  </a:ext>
                </a:extLst>
              </a:tr>
              <a:tr h="248896">
                <a:tc>
                  <a:txBody>
                    <a:bodyPr/>
                    <a:lstStyle/>
                    <a:p>
                      <a:pPr algn="just">
                        <a:lnSpc>
                          <a:spcPct val="115000"/>
                        </a:lnSpc>
                        <a:spcAft>
                          <a:spcPts val="1000"/>
                        </a:spcAft>
                      </a:pPr>
                      <a:r>
                        <a:rPr lang="en-US" sz="1600">
                          <a:effectLst/>
                        </a:rPr>
                        <a:t>B-Voltage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8.393E-09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8.393E-09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6.27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0.0542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9556366"/>
                  </a:ext>
                </a:extLst>
              </a:tr>
              <a:tr h="513680">
                <a:tc>
                  <a:txBody>
                    <a:bodyPr/>
                    <a:lstStyle/>
                    <a:p>
                      <a:pPr algn="just">
                        <a:lnSpc>
                          <a:spcPct val="115000"/>
                        </a:lnSpc>
                        <a:spcAft>
                          <a:spcPts val="1000"/>
                        </a:spcAft>
                      </a:pPr>
                      <a:r>
                        <a:rPr lang="en-US" sz="1600">
                          <a:effectLst/>
                        </a:rPr>
                        <a:t>C-Gas Flow Rate</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3.620E-07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3.620E-07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270.64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18102879"/>
                  </a:ext>
                </a:extLst>
              </a:tr>
              <a:tr h="248896">
                <a:tc>
                  <a:txBody>
                    <a:bodyPr/>
                    <a:lstStyle/>
                    <a:p>
                      <a:pPr algn="just">
                        <a:lnSpc>
                          <a:spcPct val="115000"/>
                        </a:lnSpc>
                        <a:spcAft>
                          <a:spcPts val="1000"/>
                        </a:spcAft>
                      </a:pPr>
                      <a:r>
                        <a:rPr lang="en-US" sz="1600">
                          <a:effectLst/>
                        </a:rPr>
                        <a:t>D-M. Temp</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1.516E-08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1.516E-08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11.33</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0.0200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7289070"/>
                  </a:ext>
                </a:extLst>
              </a:tr>
              <a:tr h="248896">
                <a:tc>
                  <a:txBody>
                    <a:bodyPr/>
                    <a:lstStyle/>
                    <a:p>
                      <a:pPr algn="just">
                        <a:lnSpc>
                          <a:spcPct val="115000"/>
                        </a:lnSpc>
                        <a:spcAft>
                          <a:spcPts val="1000"/>
                        </a:spcAft>
                      </a:pPr>
                      <a:r>
                        <a:rPr lang="en-US" sz="1600">
                          <a:effectLst/>
                        </a:rPr>
                        <a:t>AB</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8.056E-08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8.056E-08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60.22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0.0006</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408326"/>
                  </a:ext>
                </a:extLst>
              </a:tr>
              <a:tr h="248896">
                <a:tc>
                  <a:txBody>
                    <a:bodyPr/>
                    <a:lstStyle/>
                    <a:p>
                      <a:pPr algn="just">
                        <a:lnSpc>
                          <a:spcPct val="115000"/>
                        </a:lnSpc>
                        <a:spcAft>
                          <a:spcPts val="1000"/>
                        </a:spcAft>
                      </a:pPr>
                      <a:r>
                        <a:rPr lang="en-US" sz="1600">
                          <a:effectLst/>
                        </a:rPr>
                        <a:t>AC</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3.381E-08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3.381E-08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25.27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0.0040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5681459"/>
                  </a:ext>
                </a:extLst>
              </a:tr>
              <a:tr h="248896">
                <a:tc>
                  <a:txBody>
                    <a:bodyPr/>
                    <a:lstStyle/>
                    <a:p>
                      <a:pPr algn="just">
                        <a:lnSpc>
                          <a:spcPct val="115000"/>
                        </a:lnSpc>
                        <a:spcAft>
                          <a:spcPts val="1000"/>
                        </a:spcAft>
                      </a:pPr>
                      <a:r>
                        <a:rPr lang="en-US" sz="1600">
                          <a:effectLst/>
                        </a:rPr>
                        <a:t>AD</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3.948E-08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3.948E-08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29.51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0.0029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7156796"/>
                  </a:ext>
                </a:extLst>
              </a:tr>
              <a:tr h="248896">
                <a:tc>
                  <a:txBody>
                    <a:bodyPr/>
                    <a:lstStyle/>
                    <a:p>
                      <a:pPr algn="just">
                        <a:lnSpc>
                          <a:spcPct val="115000"/>
                        </a:lnSpc>
                        <a:spcAft>
                          <a:spcPts val="1000"/>
                        </a:spcAft>
                      </a:pPr>
                      <a:r>
                        <a:rPr lang="en-US" sz="1600">
                          <a:effectLst/>
                        </a:rPr>
                        <a:t>BC</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1.077E-07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1.077E-07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80.49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0.0003</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0684905"/>
                  </a:ext>
                </a:extLst>
              </a:tr>
              <a:tr h="248896">
                <a:tc>
                  <a:txBody>
                    <a:bodyPr/>
                    <a:lstStyle/>
                    <a:p>
                      <a:pPr algn="just">
                        <a:lnSpc>
                          <a:spcPct val="115000"/>
                        </a:lnSpc>
                        <a:spcAft>
                          <a:spcPts val="1000"/>
                        </a:spcAft>
                      </a:pPr>
                      <a:r>
                        <a:rPr lang="en-US" sz="1600">
                          <a:effectLst/>
                        </a:rPr>
                        <a:t>BD</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1.488E-07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1.488E-07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111.24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7283961"/>
                  </a:ext>
                </a:extLst>
              </a:tr>
              <a:tr h="248896">
                <a:tc>
                  <a:txBody>
                    <a:bodyPr/>
                    <a:lstStyle/>
                    <a:p>
                      <a:pPr algn="just">
                        <a:lnSpc>
                          <a:spcPct val="115000"/>
                        </a:lnSpc>
                        <a:spcAft>
                          <a:spcPts val="1000"/>
                        </a:spcAft>
                      </a:pPr>
                      <a:r>
                        <a:rPr lang="en-US" sz="1600">
                          <a:effectLst/>
                        </a:rPr>
                        <a:t>CD</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3.095E-08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3.095E-08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23.14</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0.0048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21848529"/>
                  </a:ext>
                </a:extLst>
              </a:tr>
              <a:tr h="248896">
                <a:tc>
                  <a:txBody>
                    <a:bodyPr/>
                    <a:lstStyle/>
                    <a:p>
                      <a:pPr algn="just">
                        <a:lnSpc>
                          <a:spcPct val="115000"/>
                        </a:lnSpc>
                        <a:spcAft>
                          <a:spcPts val="1000"/>
                        </a:spcAft>
                      </a:pPr>
                      <a:r>
                        <a:rPr lang="en-US" sz="1600">
                          <a:effectLst/>
                        </a:rPr>
                        <a:t>A²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7.338E-08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7.338E-08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54.85</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8903789"/>
                  </a:ext>
                </a:extLst>
              </a:tr>
              <a:tr h="248896">
                <a:tc>
                  <a:txBody>
                    <a:bodyPr/>
                    <a:lstStyle/>
                    <a:p>
                      <a:pPr algn="just">
                        <a:lnSpc>
                          <a:spcPct val="115000"/>
                        </a:lnSpc>
                        <a:spcAft>
                          <a:spcPts val="1000"/>
                        </a:spcAft>
                      </a:pPr>
                      <a:r>
                        <a:rPr lang="en-US" sz="1600">
                          <a:effectLst/>
                        </a:rPr>
                        <a:t>B²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2.170E-07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2.170E-07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162.21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8010376"/>
                  </a:ext>
                </a:extLst>
              </a:tr>
              <a:tr h="248896">
                <a:tc>
                  <a:txBody>
                    <a:bodyPr/>
                    <a:lstStyle/>
                    <a:p>
                      <a:pPr algn="just">
                        <a:lnSpc>
                          <a:spcPct val="115000"/>
                        </a:lnSpc>
                        <a:spcAft>
                          <a:spcPts val="1000"/>
                        </a:spcAft>
                      </a:pPr>
                      <a:r>
                        <a:rPr lang="en-US" sz="1600">
                          <a:effectLst/>
                        </a:rPr>
                        <a:t>C²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5.566E-07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5.566E-07</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416.06</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&lt; 0.0001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7979915"/>
                  </a:ext>
                </a:extLst>
              </a:tr>
              <a:tr h="248896">
                <a:tc>
                  <a:txBody>
                    <a:bodyPr/>
                    <a:lstStyle/>
                    <a:p>
                      <a:pPr algn="just">
                        <a:lnSpc>
                          <a:spcPct val="115000"/>
                        </a:lnSpc>
                        <a:spcAft>
                          <a:spcPts val="1000"/>
                        </a:spcAft>
                      </a:pPr>
                      <a:r>
                        <a:rPr lang="en-US" sz="1600">
                          <a:effectLst/>
                        </a:rPr>
                        <a:t>D²</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4.506E-08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4.506E-08</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33.69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0.0021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8258837"/>
                  </a:ext>
                </a:extLst>
              </a:tr>
              <a:tr h="248896">
                <a:tc>
                  <a:txBody>
                    <a:bodyPr/>
                    <a:lstStyle/>
                    <a:p>
                      <a:pPr algn="just">
                        <a:lnSpc>
                          <a:spcPct val="115000"/>
                        </a:lnSpc>
                        <a:spcAft>
                          <a:spcPts val="1000"/>
                        </a:spcAft>
                      </a:pPr>
                      <a:r>
                        <a:rPr lang="en-US" sz="1600">
                          <a:effectLst/>
                        </a:rPr>
                        <a:t>Residual</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6.688E-09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1.338E-09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27887"/>
                  </a:ext>
                </a:extLst>
              </a:tr>
              <a:tr h="513680">
                <a:tc>
                  <a:txBody>
                    <a:bodyPr/>
                    <a:lstStyle/>
                    <a:p>
                      <a:pPr algn="just">
                        <a:lnSpc>
                          <a:spcPct val="115000"/>
                        </a:lnSpc>
                        <a:spcAft>
                          <a:spcPts val="1000"/>
                        </a:spcAft>
                      </a:pPr>
                      <a:r>
                        <a:rPr lang="en-US" sz="1600">
                          <a:effectLst/>
                        </a:rPr>
                        <a:t>Lack of Fit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1.688E-09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3</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5.628E-10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0.2251</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0.8732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not significant</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6179961"/>
                  </a:ext>
                </a:extLst>
              </a:tr>
              <a:tr h="248896">
                <a:tc>
                  <a:txBody>
                    <a:bodyPr/>
                    <a:lstStyle/>
                    <a:p>
                      <a:pPr algn="just">
                        <a:lnSpc>
                          <a:spcPct val="115000"/>
                        </a:lnSpc>
                        <a:spcAft>
                          <a:spcPts val="1000"/>
                        </a:spcAft>
                      </a:pPr>
                      <a:r>
                        <a:rPr lang="en-US" sz="1600">
                          <a:effectLst/>
                        </a:rPr>
                        <a:t>Pure Error</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5.000E-09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2.500E-09</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7359285"/>
                  </a:ext>
                </a:extLst>
              </a:tr>
              <a:tr h="248896">
                <a:tc>
                  <a:txBody>
                    <a:bodyPr/>
                    <a:lstStyle/>
                    <a:p>
                      <a:pPr algn="just">
                        <a:lnSpc>
                          <a:spcPct val="115000"/>
                        </a:lnSpc>
                        <a:spcAft>
                          <a:spcPts val="1000"/>
                        </a:spcAft>
                      </a:pPr>
                      <a:r>
                        <a:rPr lang="en-US" sz="1600" dirty="0">
                          <a:effectLst/>
                        </a:rPr>
                        <a:t>Cor Total</a:t>
                      </a:r>
                      <a:endParaRPr lang="en-GB"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a:effectLst/>
                        </a:rPr>
                        <a:t>0.0000</a:t>
                      </a:r>
                      <a:endParaRPr lang="en-GB"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600" dirty="0">
                          <a:effectLst/>
                        </a:rPr>
                        <a:t>19</a:t>
                      </a:r>
                      <a:endParaRPr lang="en-GB"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GB" sz="1600" dirty="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a:solidFill>
                          <a:srgbClr val="000000"/>
                        </a:solidFill>
                        <a:effectLst/>
                        <a:latin typeface="Calibri" panose="020F0502020204030204" pitchFamily="34" charset="0"/>
                        <a:cs typeface="Times New Roman" panose="02020603050405020304" pitchFamily="18" charset="0"/>
                      </a:endParaRPr>
                    </a:p>
                  </a:txBody>
                  <a:tcPr marL="68580" marR="68580" marT="0" marB="0"/>
                </a:tc>
                <a:tc>
                  <a:txBody>
                    <a:bodyPr/>
                    <a:lstStyle/>
                    <a:p>
                      <a:endParaRPr lang="en-GB" sz="1600" dirty="0">
                        <a:solidFill>
                          <a:srgbClr val="000000"/>
                        </a:solidFill>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9954848"/>
                  </a:ext>
                </a:extLst>
              </a:tr>
            </a:tbl>
          </a:graphicData>
        </a:graphic>
      </p:graphicFrame>
    </p:spTree>
    <p:extLst>
      <p:ext uri="{BB962C8B-B14F-4D97-AF65-F5344CB8AC3E}">
        <p14:creationId xmlns:p14="http://schemas.microsoft.com/office/powerpoint/2010/main" val="674374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B75C4-E5A1-3297-CD2E-5BEDDECC20B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FDA2B9-C47C-C5B8-1C7A-DF4CF7B147AF}"/>
              </a:ext>
            </a:extLst>
          </p:cNvPr>
          <p:cNvSpPr txBox="1"/>
          <p:nvPr/>
        </p:nvSpPr>
        <p:spPr>
          <a:xfrm>
            <a:off x="10380" y="764704"/>
            <a:ext cx="8424936" cy="5391412"/>
          </a:xfrm>
          <a:prstGeom prst="rect">
            <a:avLst/>
          </a:prstGeom>
          <a:noFill/>
        </p:spPr>
        <p:txBody>
          <a:bodyPr wrap="square">
            <a:spAutoFit/>
          </a:bodyPr>
          <a:lstStyle/>
          <a:p>
            <a:pPr marL="82296" indent="0" algn="just">
              <a:lnSpc>
                <a:spcPct val="107000"/>
              </a:lnSpc>
              <a:spcAft>
                <a:spcPts val="800"/>
              </a:spcAft>
              <a:buNone/>
            </a:pPr>
            <a:r>
              <a:rPr lang="en-US" sz="2400" kern="100" dirty="0">
                <a:effectLst/>
                <a:ea typeface="Times New Roman" panose="02020603050405020304" pitchFamily="18" charset="0"/>
                <a:cs typeface="Arial" panose="020B0604020202020204" pitchFamily="34" charset="0"/>
              </a:rPr>
              <a:t>The ANOVA shows:</a:t>
            </a:r>
          </a:p>
          <a:p>
            <a:pPr lvl="1" algn="just" eaLnBrk="0" fontAlgn="base" hangingPunct="0">
              <a:spcBef>
                <a:spcPct val="0"/>
              </a:spcBef>
              <a:spcAft>
                <a:spcPct val="0"/>
              </a:spcAft>
              <a:buFontTx/>
              <a:buChar char="•"/>
            </a:pPr>
            <a:r>
              <a:rPr lang="en-US" sz="2400" dirty="0">
                <a:cs typeface="Arial" panose="020B0604020202020204" pitchFamily="34" charset="0"/>
              </a:rPr>
              <a:t>Results for the tensile strength response, confirming the   	statistical significance of the developed quadratic 	model. </a:t>
            </a:r>
            <a:endParaRPr lang="en-US" altLang="en-US" sz="2400" kern="100" dirty="0">
              <a:cs typeface="Arial" panose="020B0604020202020204" pitchFamily="34" charset="0"/>
            </a:endParaRPr>
          </a:p>
          <a:p>
            <a:pPr lvl="1" algn="just" eaLnBrk="0" fontAlgn="base" hangingPunct="0">
              <a:spcBef>
                <a:spcPct val="0"/>
              </a:spcBef>
              <a:spcAft>
                <a:spcPct val="0"/>
              </a:spcAft>
              <a:buFontTx/>
              <a:buChar char="•"/>
            </a:pPr>
            <a:r>
              <a:rPr lang="en-US" altLang="en-US" sz="2400" dirty="0">
                <a:cs typeface="Arial" panose="020B0604020202020204" pitchFamily="34" charset="0"/>
              </a:rPr>
              <a:t>Voltage and Current are the </a:t>
            </a:r>
            <a:r>
              <a:rPr lang="en-US" altLang="en-US" sz="2400" b="1" dirty="0">
                <a:cs typeface="Arial" panose="020B0604020202020204" pitchFamily="34" charset="0"/>
              </a:rPr>
              <a:t>most influential factors</a:t>
            </a:r>
            <a:r>
              <a:rPr lang="en-US" altLang="en-US" sz="2400" dirty="0">
                <a:cs typeface="Arial" panose="020B0604020202020204" pitchFamily="34" charset="0"/>
              </a:rPr>
              <a:t>.</a:t>
            </a:r>
          </a:p>
          <a:p>
            <a:pPr lvl="1" algn="just" eaLnBrk="0" fontAlgn="base" hangingPunct="0">
              <a:spcBef>
                <a:spcPct val="0"/>
              </a:spcBef>
              <a:spcAft>
                <a:spcPct val="0"/>
              </a:spcAft>
              <a:buFontTx/>
              <a:buChar char="•"/>
            </a:pPr>
            <a:endParaRPr lang="en-US" altLang="en-US" sz="2400" dirty="0">
              <a:cs typeface="Arial" panose="020B0604020202020204" pitchFamily="34" charset="0"/>
            </a:endParaRPr>
          </a:p>
          <a:p>
            <a:pPr lvl="1" algn="just" eaLnBrk="0" fontAlgn="base" hangingPunct="0">
              <a:spcBef>
                <a:spcPct val="0"/>
              </a:spcBef>
              <a:spcAft>
                <a:spcPct val="0"/>
              </a:spcAft>
              <a:buFontTx/>
              <a:buChar char="•"/>
            </a:pPr>
            <a:r>
              <a:rPr lang="en-US" altLang="en-US" sz="2400" dirty="0">
                <a:cs typeface="Arial" panose="020B0604020202020204" pitchFamily="34" charset="0"/>
              </a:rPr>
              <a:t>Significant </a:t>
            </a:r>
            <a:r>
              <a:rPr lang="en-US" altLang="en-US" sz="2400" b="1" dirty="0">
                <a:cs typeface="Arial" panose="020B0604020202020204" pitchFamily="34" charset="0"/>
              </a:rPr>
              <a:t>main effects and interactions</a:t>
            </a:r>
            <a:r>
              <a:rPr lang="en-US" altLang="en-US" sz="2400" dirty="0">
                <a:cs typeface="Arial" panose="020B0604020202020204" pitchFamily="34" charset="0"/>
              </a:rPr>
              <a:t> observed (p &lt; 	0.0001, high F-values).</a:t>
            </a:r>
          </a:p>
          <a:p>
            <a:pPr lvl="1" algn="just" eaLnBrk="0" fontAlgn="base" hangingPunct="0">
              <a:spcBef>
                <a:spcPct val="0"/>
              </a:spcBef>
              <a:spcAft>
                <a:spcPct val="0"/>
              </a:spcAft>
            </a:pPr>
            <a:endParaRPr lang="en-US" altLang="en-US" sz="2400" dirty="0">
              <a:cs typeface="Arial" panose="020B0604020202020204" pitchFamily="34" charset="0"/>
            </a:endParaRPr>
          </a:p>
          <a:p>
            <a:pPr lvl="1" algn="just" eaLnBrk="0" fontAlgn="base" hangingPunct="0">
              <a:spcBef>
                <a:spcPct val="0"/>
              </a:spcBef>
              <a:spcAft>
                <a:spcPct val="0"/>
              </a:spcAft>
              <a:buFontTx/>
              <a:buChar char="•"/>
            </a:pPr>
            <a:r>
              <a:rPr lang="en-US" altLang="en-US" sz="2400" dirty="0">
                <a:cs typeface="Arial" panose="020B0604020202020204" pitchFamily="34" charset="0"/>
              </a:rPr>
              <a:t>Models show </a:t>
            </a:r>
            <a:r>
              <a:rPr lang="en-US" altLang="en-US" sz="2400" b="1" dirty="0">
                <a:cs typeface="Arial" panose="020B0604020202020204" pitchFamily="34" charset="0"/>
              </a:rPr>
              <a:t>excellent fit</a:t>
            </a:r>
            <a:r>
              <a:rPr lang="en-US" altLang="en-US" sz="2400" dirty="0">
                <a:cs typeface="Arial" panose="020B0604020202020204" pitchFamily="34" charset="0"/>
              </a:rPr>
              <a:t> (R² &gt; 0.99).</a:t>
            </a:r>
          </a:p>
          <a:p>
            <a:pPr lvl="1" algn="just" eaLnBrk="0" fontAlgn="base" hangingPunct="0">
              <a:spcBef>
                <a:spcPct val="0"/>
              </a:spcBef>
              <a:spcAft>
                <a:spcPct val="0"/>
              </a:spcAft>
            </a:pPr>
            <a:endParaRPr lang="en-US" altLang="en-US" sz="2400" dirty="0">
              <a:cs typeface="Arial" panose="020B0604020202020204" pitchFamily="34" charset="0"/>
            </a:endParaRPr>
          </a:p>
          <a:p>
            <a:pPr lvl="1" algn="just" eaLnBrk="0" fontAlgn="base" hangingPunct="0">
              <a:spcBef>
                <a:spcPct val="0"/>
              </a:spcBef>
              <a:spcAft>
                <a:spcPct val="0"/>
              </a:spcAft>
              <a:buFontTx/>
              <a:buChar char="•"/>
            </a:pPr>
            <a:r>
              <a:rPr lang="en-US" sz="2400" dirty="0">
                <a:cs typeface="Arial" panose="020B0604020202020204" pitchFamily="34" charset="0"/>
              </a:rPr>
              <a:t>This strong statistical performance justifies the use of the 	quadratic model for predicting and optimizing tensile 	strength in mild steel weldments.</a:t>
            </a:r>
            <a:endParaRPr lang="en-US" altLang="en-US" sz="2400" dirty="0">
              <a:cs typeface="Arial" panose="020B0604020202020204" pitchFamily="34" charset="0"/>
            </a:endParaRPr>
          </a:p>
          <a:p>
            <a:pPr marL="82296" indent="0">
              <a:buNone/>
            </a:pPr>
            <a:endParaRPr lang="en-US" sz="2400" dirty="0">
              <a:cs typeface="Arial" panose="020B0604020202020204" pitchFamily="34" charset="0"/>
            </a:endParaRPr>
          </a:p>
        </p:txBody>
      </p:sp>
      <p:sp>
        <p:nvSpPr>
          <p:cNvPr id="4" name="Rectangle 3">
            <a:extLst>
              <a:ext uri="{FF2B5EF4-FFF2-40B4-BE49-F238E27FC236}">
                <a16:creationId xmlns:a16="http://schemas.microsoft.com/office/drawing/2014/main" id="{E5CE2ACD-D266-80F9-6A29-7947BBE020F0}"/>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34087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412C8-DBB1-8934-D107-B4152A0702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71EB04-7A81-0E5F-58CC-842DBCBF151A}"/>
              </a:ext>
            </a:extLst>
          </p:cNvPr>
          <p:cNvSpPr txBox="1">
            <a:spLocks/>
          </p:cNvSpPr>
          <p:nvPr/>
        </p:nvSpPr>
        <p:spPr>
          <a:xfrm>
            <a:off x="38356" y="4437112"/>
            <a:ext cx="8443192" cy="1584176"/>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2296" indent="0" algn="just">
              <a:buFont typeface="Wingdings 2" pitchFamily="18" charset="2"/>
              <a:buNone/>
            </a:pPr>
            <a:r>
              <a:rPr lang="en-US" sz="2200" dirty="0">
                <a:latin typeface="+mn-lt"/>
                <a:cs typeface="Arial" panose="020B0604020202020204" pitchFamily="34" charset="0"/>
              </a:rPr>
              <a:t>The model is a comprehensive representation of the factors influencing tensile strength in welding, and it Captures main effects, interaction effects (e.g., </a:t>
            </a:r>
            <a:r>
              <a:rPr lang="en-US" sz="2200" i="1" dirty="0">
                <a:latin typeface="+mn-lt"/>
                <a:cs typeface="Arial" panose="020B0604020202020204" pitchFamily="34" charset="0"/>
              </a:rPr>
              <a:t>A·B, B·C</a:t>
            </a:r>
            <a:r>
              <a:rPr lang="en-US" sz="2200" dirty="0">
                <a:latin typeface="+mn-lt"/>
                <a:cs typeface="Arial" panose="020B0604020202020204" pitchFamily="34" charset="0"/>
              </a:rPr>
              <a:t>), and quadratic terms (e.g., </a:t>
            </a:r>
            <a:r>
              <a:rPr lang="en-US" sz="2200" i="1" dirty="0">
                <a:latin typeface="+mn-lt"/>
                <a:cs typeface="Arial" panose="020B0604020202020204" pitchFamily="34" charset="0"/>
              </a:rPr>
              <a:t>A², B²</a:t>
            </a:r>
            <a:r>
              <a:rPr lang="en-US" sz="2200" dirty="0">
                <a:latin typeface="+mn-lt"/>
                <a:cs typeface="Arial" panose="020B0604020202020204" pitchFamily="34" charset="0"/>
              </a:rPr>
              <a:t>).</a:t>
            </a:r>
          </a:p>
        </p:txBody>
      </p:sp>
      <p:sp>
        <p:nvSpPr>
          <p:cNvPr id="5" name="Title 1">
            <a:extLst>
              <a:ext uri="{FF2B5EF4-FFF2-40B4-BE49-F238E27FC236}">
                <a16:creationId xmlns:a16="http://schemas.microsoft.com/office/drawing/2014/main" id="{51FF4F00-43DC-26E6-B003-17A32C52C8E2}"/>
              </a:ext>
            </a:extLst>
          </p:cNvPr>
          <p:cNvSpPr>
            <a:spLocks noGrp="1"/>
          </p:cNvSpPr>
          <p:nvPr>
            <p:ph type="title"/>
          </p:nvPr>
        </p:nvSpPr>
        <p:spPr>
          <a:xfrm>
            <a:off x="179512" y="-99392"/>
            <a:ext cx="8719406" cy="688504"/>
          </a:xfrm>
        </p:spPr>
        <p:txBody>
          <a:bodyPr>
            <a:normAutofit/>
          </a:bodyPr>
          <a:lstStyle/>
          <a:p>
            <a:r>
              <a:rPr lang="en-GB" sz="3000" b="1" dirty="0">
                <a:solidFill>
                  <a:schemeClr val="tx1"/>
                </a:solidFill>
                <a:effectLst/>
              </a:rPr>
              <a:t>The Model</a:t>
            </a:r>
            <a:endParaRPr lang="en-US" sz="3000" b="1" dirty="0">
              <a:solidFill>
                <a:schemeClr val="tx1"/>
              </a:solidFill>
              <a:effectLst/>
            </a:endParaRPr>
          </a:p>
        </p:txBody>
      </p:sp>
      <p:sp>
        <p:nvSpPr>
          <p:cNvPr id="7" name="TextBox 6">
            <a:extLst>
              <a:ext uri="{FF2B5EF4-FFF2-40B4-BE49-F238E27FC236}">
                <a16:creationId xmlns:a16="http://schemas.microsoft.com/office/drawing/2014/main" id="{5258CCE3-4517-39B7-E2F8-96212701D8BD}"/>
              </a:ext>
            </a:extLst>
          </p:cNvPr>
          <p:cNvSpPr txBox="1"/>
          <p:nvPr/>
        </p:nvSpPr>
        <p:spPr>
          <a:xfrm>
            <a:off x="5764" y="620688"/>
            <a:ext cx="8719406" cy="1107996"/>
          </a:xfrm>
          <a:prstGeom prst="rect">
            <a:avLst/>
          </a:prstGeom>
          <a:noFill/>
        </p:spPr>
        <p:txBody>
          <a:bodyPr wrap="square">
            <a:spAutoFit/>
          </a:bodyPr>
          <a:lstStyle/>
          <a:p>
            <a:pPr algn="just"/>
            <a:r>
              <a:rPr lang="en-US" sz="2200" dirty="0">
                <a:cs typeface="Arial" panose="020B0604020202020204" pitchFamily="34" charset="0"/>
              </a:rPr>
              <a:t>The equation below represents the quadratic regression model for predicting Tensile Strength based on Current (A), Voltage (B), Gas Flow Rate (C), and Ambient Temperature (D).</a:t>
            </a:r>
          </a:p>
        </p:txBody>
      </p:sp>
      <p:sp>
        <p:nvSpPr>
          <p:cNvPr id="6" name="TextBox 5">
            <a:extLst>
              <a:ext uri="{FF2B5EF4-FFF2-40B4-BE49-F238E27FC236}">
                <a16:creationId xmlns:a16="http://schemas.microsoft.com/office/drawing/2014/main" id="{F751FFD8-E08C-A621-6A2B-2275B66950AA}"/>
              </a:ext>
            </a:extLst>
          </p:cNvPr>
          <p:cNvSpPr txBox="1"/>
          <p:nvPr/>
        </p:nvSpPr>
        <p:spPr>
          <a:xfrm>
            <a:off x="38356" y="2229832"/>
            <a:ext cx="8574664" cy="1631216"/>
          </a:xfrm>
          <a:prstGeom prst="rect">
            <a:avLst/>
          </a:prstGeom>
          <a:noFill/>
        </p:spPr>
        <p:txBody>
          <a:bodyPr wrap="square">
            <a:spAutoFit/>
          </a:bodyPr>
          <a:lstStyle/>
          <a:p>
            <a:pPr algn="just"/>
            <a:r>
              <a:rPr lang="en-US" sz="2000" b="0" u="none" cap="none" dirty="0">
                <a:solidFill>
                  <a:schemeClr val="tx1"/>
                </a:solidFill>
                <a:latin typeface="Arial" panose="020B0604020202020204" pitchFamily="34" charset="0"/>
                <a:cs typeface="Arial" panose="020B0604020202020204" pitchFamily="34" charset="0"/>
              </a:rPr>
              <a:t>𝑇𝑒𝑛𝑠𝑖𝑙𝑒 𝑆𝑡𝑟𝑒𝑛𝑔𝑡ℎ = 81.59620 − 54.52318 ⋅ 𝐴 + 523.17603 ⋅ 𝐵 − 273.71894 ⋅ 𝐶 +140.13279 ⋅ 𝐷 + 0.248164 ⋅ (𝐴 ⋅ 𝐵) + 0.376066 ⋅ (𝐴 ⋅ 𝐶) − 0.439288 ⋅ (𝐴 ⋅ 𝐷) + 18.34720 ⋅ (𝐵 ⋅ 𝐶) − 4.90639 ⋅ (𝐵 ⋅ 𝐷) − 2.72272 ⋅ (𝐶 ⋅ 𝐷) + 0.138175 ⋅ 𝐴</a:t>
            </a:r>
            <a:r>
              <a:rPr lang="en-US" sz="2000" b="0" u="none" cap="none" baseline="30000" dirty="0">
                <a:solidFill>
                  <a:schemeClr val="tx1"/>
                </a:solidFill>
                <a:latin typeface="Arial" panose="020B0604020202020204" pitchFamily="34" charset="0"/>
                <a:cs typeface="Arial" panose="020B0604020202020204" pitchFamily="34" charset="0"/>
              </a:rPr>
              <a:t>2</a:t>
            </a:r>
            <a:r>
              <a:rPr lang="en-US" sz="2000" b="0" u="none" cap="none" dirty="0">
                <a:solidFill>
                  <a:schemeClr val="tx1"/>
                </a:solidFill>
                <a:latin typeface="Arial" panose="020B0604020202020204" pitchFamily="34" charset="0"/>
                <a:cs typeface="Arial" panose="020B0604020202020204" pitchFamily="34" charset="0"/>
              </a:rPr>
              <a:t> − 15.26499 ⋅ 𝐵</a:t>
            </a:r>
            <a:r>
              <a:rPr lang="en-US" sz="2000" b="0" u="none" cap="none" baseline="30000" dirty="0">
                <a:solidFill>
                  <a:schemeClr val="tx1"/>
                </a:solidFill>
                <a:latin typeface="Arial" panose="020B0604020202020204" pitchFamily="34" charset="0"/>
                <a:cs typeface="Arial" panose="020B0604020202020204" pitchFamily="34" charset="0"/>
              </a:rPr>
              <a:t>2</a:t>
            </a:r>
            <a:r>
              <a:rPr lang="en-US" sz="2000" b="0" u="none" cap="none" dirty="0">
                <a:solidFill>
                  <a:schemeClr val="tx1"/>
                </a:solidFill>
                <a:latin typeface="Arial" panose="020B0604020202020204" pitchFamily="34" charset="0"/>
                <a:cs typeface="Arial" panose="020B0604020202020204" pitchFamily="34" charset="0"/>
              </a:rPr>
              <a:t> − 4.38190 ⋅ 𝐶</a:t>
            </a:r>
            <a:r>
              <a:rPr lang="en-US" sz="2000" b="0" u="none" cap="none" baseline="30000" dirty="0">
                <a:solidFill>
                  <a:schemeClr val="tx1"/>
                </a:solidFill>
                <a:latin typeface="Arial" panose="020B0604020202020204" pitchFamily="34" charset="0"/>
                <a:cs typeface="Arial" panose="020B0604020202020204" pitchFamily="34" charset="0"/>
              </a:rPr>
              <a:t>2</a:t>
            </a:r>
            <a:r>
              <a:rPr lang="en-US" sz="2000" b="0" u="none" cap="none" dirty="0">
                <a:solidFill>
                  <a:schemeClr val="tx1"/>
                </a:solidFill>
                <a:latin typeface="Arial" panose="020B0604020202020204" pitchFamily="34" charset="0"/>
                <a:cs typeface="Arial" panose="020B0604020202020204" pitchFamily="34" charset="0"/>
              </a:rPr>
              <a:t> + 1.55510 ⋅ 𝐷</a:t>
            </a:r>
            <a:r>
              <a:rPr lang="en-US" sz="2000" b="0" u="none" cap="none" baseline="30000" dirty="0">
                <a:solidFill>
                  <a:schemeClr val="tx1"/>
                </a:solidFill>
                <a:latin typeface="Arial" panose="020B0604020202020204" pitchFamily="34" charset="0"/>
                <a:cs typeface="Arial" panose="020B0604020202020204" pitchFamily="34" charset="0"/>
              </a:rPr>
              <a:t>2…………………………………….</a:t>
            </a:r>
            <a:r>
              <a:rPr lang="en-US" sz="2000" b="0" i="1" u="none" cap="none" dirty="0">
                <a:solidFill>
                  <a:schemeClr val="tx1"/>
                </a:solidFill>
                <a:latin typeface="Arial" panose="020B0604020202020204" pitchFamily="34" charset="0"/>
                <a:cs typeface="Arial" panose="020B0604020202020204" pitchFamily="34" charset="0"/>
              </a:rPr>
              <a:t>eqn. 1</a:t>
            </a:r>
          </a:p>
        </p:txBody>
      </p:sp>
      <p:sp>
        <p:nvSpPr>
          <p:cNvPr id="2" name="Rectangle 1">
            <a:extLst>
              <a:ext uri="{FF2B5EF4-FFF2-40B4-BE49-F238E27FC236}">
                <a16:creationId xmlns:a16="http://schemas.microsoft.com/office/drawing/2014/main" id="{536C0051-C44B-B4BE-563A-C70A3A7B21FC}"/>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04935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E21C-E4EE-6723-2F1D-8761DB8273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D0BC32-3DD0-F6EA-EDDF-58B38CCFC993}"/>
              </a:ext>
            </a:extLst>
          </p:cNvPr>
          <p:cNvSpPr txBox="1">
            <a:spLocks/>
          </p:cNvSpPr>
          <p:nvPr/>
        </p:nvSpPr>
        <p:spPr>
          <a:xfrm>
            <a:off x="8705746" y="6399081"/>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18</a:t>
            </a:fld>
            <a:endParaRPr lang="en-US" dirty="0"/>
          </a:p>
        </p:txBody>
      </p:sp>
      <p:sp>
        <p:nvSpPr>
          <p:cNvPr id="7" name="Title 1">
            <a:extLst>
              <a:ext uri="{FF2B5EF4-FFF2-40B4-BE49-F238E27FC236}">
                <a16:creationId xmlns:a16="http://schemas.microsoft.com/office/drawing/2014/main" id="{6D804066-4936-E1C8-249E-BB069B69CED5}"/>
              </a:ext>
            </a:extLst>
          </p:cNvPr>
          <p:cNvSpPr>
            <a:spLocks noGrp="1"/>
          </p:cNvSpPr>
          <p:nvPr>
            <p:ph type="title"/>
          </p:nvPr>
        </p:nvSpPr>
        <p:spPr>
          <a:xfrm>
            <a:off x="-13660" y="0"/>
            <a:ext cx="8719406" cy="688504"/>
          </a:xfrm>
        </p:spPr>
        <p:txBody>
          <a:bodyPr>
            <a:normAutofit/>
          </a:bodyPr>
          <a:lstStyle/>
          <a:p>
            <a:pPr algn="just">
              <a:lnSpc>
                <a:spcPct val="107000"/>
              </a:lnSpc>
              <a:spcAft>
                <a:spcPts val="800"/>
              </a:spcAft>
            </a:pPr>
            <a:r>
              <a:rPr lang="en-US" sz="3200" b="1" kern="100" dirty="0">
                <a:solidFill>
                  <a:schemeClr val="tx1"/>
                </a:solidFill>
                <a:effectLst/>
                <a:latin typeface="Times New Roman" panose="02020603050405020304" pitchFamily="18" charset="0"/>
                <a:ea typeface="Times New Roman" panose="02020603050405020304" pitchFamily="18" charset="0"/>
              </a:rPr>
              <a:t>AHA Analysis</a:t>
            </a:r>
            <a:endParaRPr lang="en-GB" sz="3200" kern="100" dirty="0">
              <a:solidFill>
                <a:schemeClr val="tx1"/>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32E62083-1B12-A664-F89A-7D67CA5EEE74}"/>
              </a:ext>
            </a:extLst>
          </p:cNvPr>
          <p:cNvSpPr txBox="1"/>
          <p:nvPr/>
        </p:nvSpPr>
        <p:spPr>
          <a:xfrm>
            <a:off x="0" y="759724"/>
            <a:ext cx="8705746" cy="1938992"/>
          </a:xfrm>
          <a:prstGeom prst="rect">
            <a:avLst/>
          </a:prstGeom>
          <a:noFill/>
        </p:spPr>
        <p:txBody>
          <a:bodyPr wrap="square">
            <a:spAutoFit/>
          </a:bodyPr>
          <a:lstStyle/>
          <a:p>
            <a:pPr algn="just"/>
            <a:r>
              <a:rPr lang="en-US" sz="2400" dirty="0">
                <a:cs typeface="Arial" panose="020B0604020202020204" pitchFamily="34" charset="0"/>
              </a:rPr>
              <a:t>The decision tree model for predicting tensile strength, revealing a clear, interpretable structure that highlights the influence of key input variables. the root node splits based on ambient temperature (x4), demonstrating its dominant role in determining tensile strength outcomes.</a:t>
            </a:r>
          </a:p>
        </p:txBody>
      </p:sp>
      <p:pic>
        <p:nvPicPr>
          <p:cNvPr id="2" name="Picture 1">
            <a:extLst>
              <a:ext uri="{FF2B5EF4-FFF2-40B4-BE49-F238E27FC236}">
                <a16:creationId xmlns:a16="http://schemas.microsoft.com/office/drawing/2014/main" id="{80CAAD40-A74A-B1F6-EC13-4B93FE921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2420888"/>
            <a:ext cx="6674771" cy="3957508"/>
          </a:xfrm>
          <a:prstGeom prst="rect">
            <a:avLst/>
          </a:prstGeom>
        </p:spPr>
      </p:pic>
      <p:sp>
        <p:nvSpPr>
          <p:cNvPr id="3" name="Rectangle 2">
            <a:extLst>
              <a:ext uri="{FF2B5EF4-FFF2-40B4-BE49-F238E27FC236}">
                <a16:creationId xmlns:a16="http://schemas.microsoft.com/office/drawing/2014/main" id="{04F2727C-B6DF-D5BD-CB66-7FBB51F82BE0}"/>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43595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C8806-233E-36C0-260D-325B668266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016D70-0187-E7A7-0437-C85909E6B2DC}"/>
              </a:ext>
            </a:extLst>
          </p:cNvPr>
          <p:cNvSpPr txBox="1">
            <a:spLocks/>
          </p:cNvSpPr>
          <p:nvPr/>
        </p:nvSpPr>
        <p:spPr>
          <a:xfrm>
            <a:off x="8613648" y="63055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19</a:t>
            </a:fld>
            <a:endParaRPr lang="en-US" dirty="0"/>
          </a:p>
        </p:txBody>
      </p:sp>
      <p:sp>
        <p:nvSpPr>
          <p:cNvPr id="9" name="TextBox 8">
            <a:extLst>
              <a:ext uri="{FF2B5EF4-FFF2-40B4-BE49-F238E27FC236}">
                <a16:creationId xmlns:a16="http://schemas.microsoft.com/office/drawing/2014/main" id="{90F31D9E-B3A4-2247-A42F-9D8A4B9F8611}"/>
              </a:ext>
            </a:extLst>
          </p:cNvPr>
          <p:cNvSpPr txBox="1"/>
          <p:nvPr/>
        </p:nvSpPr>
        <p:spPr>
          <a:xfrm>
            <a:off x="0" y="628458"/>
            <a:ext cx="9483280" cy="496996"/>
          </a:xfrm>
          <a:prstGeom prst="rect">
            <a:avLst/>
          </a:prstGeom>
          <a:noFill/>
        </p:spPr>
        <p:txBody>
          <a:bodyPr wrap="square">
            <a:spAutoFit/>
          </a:bodyPr>
          <a:lstStyle/>
          <a:p>
            <a:pPr>
              <a:lnSpc>
                <a:spcPct val="150000"/>
              </a:lnSpc>
            </a:pPr>
            <a:r>
              <a:rPr lang="en-GB" sz="2000" dirty="0">
                <a:latin typeface="Arial" panose="020B0604020202020204" pitchFamily="34" charset="0"/>
                <a:cs typeface="Arial" panose="020B0604020202020204" pitchFamily="34" charset="0"/>
              </a:rPr>
              <a:t>Table 6: </a:t>
            </a:r>
            <a:r>
              <a:rPr lang="en-GB" dirty="0"/>
              <a:t>Predicted result of RSM vs Decision Tree to Experimental Results for Tensile Strength</a:t>
            </a:r>
            <a:endParaRPr lang="en-GB" sz="2000"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619E7BC9-7FA8-BAE0-F04A-2908B820FA2A}"/>
              </a:ext>
            </a:extLst>
          </p:cNvPr>
          <p:cNvGraphicFramePr>
            <a:graphicFrameLocks noGrp="1"/>
          </p:cNvGraphicFramePr>
          <p:nvPr>
            <p:extLst>
              <p:ext uri="{D42A27DB-BD31-4B8C-83A1-F6EECF244321}">
                <p14:modId xmlns:p14="http://schemas.microsoft.com/office/powerpoint/2010/main" val="4039519146"/>
              </p:ext>
            </p:extLst>
          </p:nvPr>
        </p:nvGraphicFramePr>
        <p:xfrm>
          <a:off x="11932" y="1255805"/>
          <a:ext cx="8733160" cy="5620397"/>
        </p:xfrm>
        <a:graphic>
          <a:graphicData uri="http://schemas.openxmlformats.org/drawingml/2006/table">
            <a:tbl>
              <a:tblPr firstRow="1" firstCol="1" bandRow="1">
                <a:tableStyleId>{5C22544A-7EE6-4342-B048-85BDC9FD1C3A}</a:tableStyleId>
              </a:tblPr>
              <a:tblGrid>
                <a:gridCol w="1091645">
                  <a:extLst>
                    <a:ext uri="{9D8B030D-6E8A-4147-A177-3AD203B41FA5}">
                      <a16:colId xmlns:a16="http://schemas.microsoft.com/office/drawing/2014/main" val="3656298793"/>
                    </a:ext>
                  </a:extLst>
                </a:gridCol>
                <a:gridCol w="1091645">
                  <a:extLst>
                    <a:ext uri="{9D8B030D-6E8A-4147-A177-3AD203B41FA5}">
                      <a16:colId xmlns:a16="http://schemas.microsoft.com/office/drawing/2014/main" val="599848572"/>
                    </a:ext>
                  </a:extLst>
                </a:gridCol>
                <a:gridCol w="1091645">
                  <a:extLst>
                    <a:ext uri="{9D8B030D-6E8A-4147-A177-3AD203B41FA5}">
                      <a16:colId xmlns:a16="http://schemas.microsoft.com/office/drawing/2014/main" val="2340540550"/>
                    </a:ext>
                  </a:extLst>
                </a:gridCol>
                <a:gridCol w="1091645">
                  <a:extLst>
                    <a:ext uri="{9D8B030D-6E8A-4147-A177-3AD203B41FA5}">
                      <a16:colId xmlns:a16="http://schemas.microsoft.com/office/drawing/2014/main" val="2305991601"/>
                    </a:ext>
                  </a:extLst>
                </a:gridCol>
                <a:gridCol w="1091645">
                  <a:extLst>
                    <a:ext uri="{9D8B030D-6E8A-4147-A177-3AD203B41FA5}">
                      <a16:colId xmlns:a16="http://schemas.microsoft.com/office/drawing/2014/main" val="1449049059"/>
                    </a:ext>
                  </a:extLst>
                </a:gridCol>
                <a:gridCol w="1091645">
                  <a:extLst>
                    <a:ext uri="{9D8B030D-6E8A-4147-A177-3AD203B41FA5}">
                      <a16:colId xmlns:a16="http://schemas.microsoft.com/office/drawing/2014/main" val="897324181"/>
                    </a:ext>
                  </a:extLst>
                </a:gridCol>
                <a:gridCol w="1091645">
                  <a:extLst>
                    <a:ext uri="{9D8B030D-6E8A-4147-A177-3AD203B41FA5}">
                      <a16:colId xmlns:a16="http://schemas.microsoft.com/office/drawing/2014/main" val="42694778"/>
                    </a:ext>
                  </a:extLst>
                </a:gridCol>
                <a:gridCol w="1091645">
                  <a:extLst>
                    <a:ext uri="{9D8B030D-6E8A-4147-A177-3AD203B41FA5}">
                      <a16:colId xmlns:a16="http://schemas.microsoft.com/office/drawing/2014/main" val="2663307854"/>
                    </a:ext>
                  </a:extLst>
                </a:gridCol>
              </a:tblGrid>
              <a:tr h="758517">
                <a:tc>
                  <a:txBody>
                    <a:bodyPr/>
                    <a:lstStyle/>
                    <a:p>
                      <a:pPr>
                        <a:lnSpc>
                          <a:spcPct val="115000"/>
                        </a:lnSpc>
                        <a:spcAft>
                          <a:spcPts val="800"/>
                        </a:spcAft>
                        <a:buNone/>
                      </a:pPr>
                      <a:r>
                        <a:rPr lang="en-GB" sz="1200" kern="100">
                          <a:effectLst/>
                        </a:rPr>
                        <a:t>S/N</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dirty="0">
                          <a:effectLst/>
                        </a:rPr>
                        <a:t>Current (A)</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Voltage (V)</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Gas Flow Rate (L/min)</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Ambient Temp. (°C)</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EXP (MPa)</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RSM (MPa)</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Decision Tree (MPa)</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3680929"/>
                  </a:ext>
                </a:extLst>
              </a:tr>
              <a:tr h="243094">
                <a:tc>
                  <a:txBody>
                    <a:bodyPr/>
                    <a:lstStyle/>
                    <a:p>
                      <a:pPr>
                        <a:lnSpc>
                          <a:spcPct val="115000"/>
                        </a:lnSpc>
                        <a:spcAft>
                          <a:spcPts val="800"/>
                        </a:spcAft>
                        <a:buNone/>
                      </a:pPr>
                      <a:r>
                        <a:rPr lang="en-GB" sz="1200" kern="100">
                          <a:effectLst/>
                        </a:rPr>
                        <a:t>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190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516.00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516.61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023324"/>
                  </a:ext>
                </a:extLst>
              </a:tr>
              <a:tr h="243094">
                <a:tc>
                  <a:txBody>
                    <a:bodyPr/>
                    <a:lstStyle/>
                    <a:p>
                      <a:pPr>
                        <a:lnSpc>
                          <a:spcPct val="115000"/>
                        </a:lnSpc>
                        <a:spcAft>
                          <a:spcPts val="800"/>
                        </a:spcAft>
                        <a:buNone/>
                      </a:pPr>
                      <a:r>
                        <a:rPr lang="en-GB" sz="1200" kern="100">
                          <a:effectLst/>
                        </a:rPr>
                        <a:t>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516.61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5674590"/>
                  </a:ext>
                </a:extLst>
              </a:tr>
              <a:tr h="243094">
                <a:tc>
                  <a:txBody>
                    <a:bodyPr/>
                    <a:lstStyle/>
                    <a:p>
                      <a:pPr>
                        <a:lnSpc>
                          <a:spcPct val="115000"/>
                        </a:lnSpc>
                        <a:spcAft>
                          <a:spcPts val="800"/>
                        </a:spcAft>
                        <a:buNone/>
                      </a:pPr>
                      <a:r>
                        <a:rPr lang="en-GB" sz="1200" kern="100">
                          <a:effectLst/>
                        </a:rPr>
                        <a:t>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29</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525.00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521.87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2761211"/>
                  </a:ext>
                </a:extLst>
              </a:tr>
              <a:tr h="243094">
                <a:tc>
                  <a:txBody>
                    <a:bodyPr/>
                    <a:lstStyle/>
                    <a:p>
                      <a:pPr>
                        <a:lnSpc>
                          <a:spcPct val="115000"/>
                        </a:lnSpc>
                        <a:spcAft>
                          <a:spcPts val="800"/>
                        </a:spcAft>
                        <a:buNone/>
                      </a:pPr>
                      <a:r>
                        <a:rPr lang="en-GB" sz="1200" kern="100">
                          <a:effectLst/>
                        </a:rPr>
                        <a:t>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516.00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517.69</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8465555"/>
                  </a:ext>
                </a:extLst>
              </a:tr>
              <a:tr h="243094">
                <a:tc>
                  <a:txBody>
                    <a:bodyPr/>
                    <a:lstStyle/>
                    <a:p>
                      <a:pPr>
                        <a:lnSpc>
                          <a:spcPct val="115000"/>
                        </a:lnSpc>
                        <a:spcAft>
                          <a:spcPts val="800"/>
                        </a:spcAft>
                        <a:buNone/>
                      </a:pPr>
                      <a:r>
                        <a:rPr lang="en-GB" sz="1200" kern="100">
                          <a:effectLst/>
                        </a:rPr>
                        <a:t>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190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521.00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521.87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9741092"/>
                  </a:ext>
                </a:extLst>
              </a:tr>
              <a:tr h="243094">
                <a:tc>
                  <a:txBody>
                    <a:bodyPr/>
                    <a:lstStyle/>
                    <a:p>
                      <a:pPr>
                        <a:lnSpc>
                          <a:spcPct val="115000"/>
                        </a:lnSpc>
                        <a:spcAft>
                          <a:spcPts val="800"/>
                        </a:spcAft>
                        <a:buNone/>
                      </a:pPr>
                      <a:r>
                        <a:rPr lang="en-GB" sz="1200" kern="100">
                          <a:effectLst/>
                        </a:rPr>
                        <a:t>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28</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508.00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506.37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28211"/>
                  </a:ext>
                </a:extLst>
              </a:tr>
              <a:tr h="243094">
                <a:tc>
                  <a:txBody>
                    <a:bodyPr/>
                    <a:lstStyle/>
                    <a:p>
                      <a:pPr>
                        <a:lnSpc>
                          <a:spcPct val="115000"/>
                        </a:lnSpc>
                        <a:spcAft>
                          <a:spcPts val="800"/>
                        </a:spcAft>
                        <a:buNone/>
                      </a:pPr>
                      <a:r>
                        <a:rPr lang="en-GB" sz="1200" kern="100">
                          <a:effectLst/>
                        </a:rPr>
                        <a:t>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480.00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480.71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495.33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5681885"/>
                  </a:ext>
                </a:extLst>
              </a:tr>
              <a:tr h="243094">
                <a:tc>
                  <a:txBody>
                    <a:bodyPr/>
                    <a:lstStyle/>
                    <a:p>
                      <a:pPr>
                        <a:lnSpc>
                          <a:spcPct val="115000"/>
                        </a:lnSpc>
                        <a:spcAft>
                          <a:spcPts val="800"/>
                        </a:spcAft>
                        <a:buNone/>
                      </a:pPr>
                      <a:r>
                        <a:rPr lang="en-GB" sz="1200" kern="100">
                          <a:effectLst/>
                        </a:rPr>
                        <a:t>8</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467.00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467.27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466.75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299629"/>
                  </a:ext>
                </a:extLst>
              </a:tr>
              <a:tr h="243094">
                <a:tc>
                  <a:txBody>
                    <a:bodyPr/>
                    <a:lstStyle/>
                    <a:p>
                      <a:pPr>
                        <a:lnSpc>
                          <a:spcPct val="115000"/>
                        </a:lnSpc>
                        <a:spcAft>
                          <a:spcPts val="800"/>
                        </a:spcAft>
                        <a:buNone/>
                      </a:pPr>
                      <a:r>
                        <a:rPr lang="en-GB" sz="1200" kern="100">
                          <a:effectLst/>
                        </a:rPr>
                        <a:t>9</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190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565.00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565.18</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549.66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7749738"/>
                  </a:ext>
                </a:extLst>
              </a:tr>
              <a:tr h="243094">
                <a:tc>
                  <a:txBody>
                    <a:bodyPr/>
                    <a:lstStyle/>
                    <a:p>
                      <a:pPr>
                        <a:lnSpc>
                          <a:spcPct val="115000"/>
                        </a:lnSpc>
                        <a:spcAft>
                          <a:spcPts val="800"/>
                        </a:spcAft>
                        <a:buNone/>
                      </a:pPr>
                      <a:r>
                        <a:rPr lang="en-GB" sz="1200" kern="100">
                          <a:effectLst/>
                        </a:rPr>
                        <a:t>10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495.33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3442480"/>
                  </a:ext>
                </a:extLst>
              </a:tr>
              <a:tr h="243094">
                <a:tc>
                  <a:txBody>
                    <a:bodyPr/>
                    <a:lstStyle/>
                    <a:p>
                      <a:pPr>
                        <a:lnSpc>
                          <a:spcPct val="115000"/>
                        </a:lnSpc>
                        <a:spcAft>
                          <a:spcPts val="800"/>
                        </a:spcAft>
                        <a:buNone/>
                      </a:pPr>
                      <a:r>
                        <a:rPr lang="en-GB" sz="1200" kern="100">
                          <a:effectLst/>
                        </a:rPr>
                        <a:t>11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487.00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487.75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495.33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8335648"/>
                  </a:ext>
                </a:extLst>
              </a:tr>
              <a:tr h="243094">
                <a:tc>
                  <a:txBody>
                    <a:bodyPr/>
                    <a:lstStyle/>
                    <a:p>
                      <a:pPr>
                        <a:lnSpc>
                          <a:spcPct val="115000"/>
                        </a:lnSpc>
                        <a:spcAft>
                          <a:spcPts val="800"/>
                        </a:spcAft>
                        <a:buNone/>
                      </a:pPr>
                      <a:r>
                        <a:rPr lang="en-GB" sz="1200" kern="100">
                          <a:effectLst/>
                        </a:rPr>
                        <a:t>12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38</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509.00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509.24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495.33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3442306"/>
                  </a:ext>
                </a:extLst>
              </a:tr>
              <a:tr h="243094">
                <a:tc>
                  <a:txBody>
                    <a:bodyPr/>
                    <a:lstStyle/>
                    <a:p>
                      <a:pPr>
                        <a:lnSpc>
                          <a:spcPct val="115000"/>
                        </a:lnSpc>
                        <a:spcAft>
                          <a:spcPts val="800"/>
                        </a:spcAft>
                        <a:buNone/>
                      </a:pPr>
                      <a:r>
                        <a:rPr lang="en-GB" sz="1200" kern="100">
                          <a:effectLst/>
                        </a:rPr>
                        <a:t>13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190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29</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531.00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530.87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549.66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6063803"/>
                  </a:ext>
                </a:extLst>
              </a:tr>
              <a:tr h="243094">
                <a:tc>
                  <a:txBody>
                    <a:bodyPr/>
                    <a:lstStyle/>
                    <a:p>
                      <a:pPr>
                        <a:lnSpc>
                          <a:spcPct val="115000"/>
                        </a:lnSpc>
                        <a:spcAft>
                          <a:spcPts val="800"/>
                        </a:spcAft>
                        <a:buNone/>
                      </a:pPr>
                      <a:r>
                        <a:rPr lang="en-GB" sz="1200" kern="100">
                          <a:effectLst/>
                        </a:rPr>
                        <a:t>14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488.00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488.04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466.75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548094"/>
                  </a:ext>
                </a:extLst>
              </a:tr>
              <a:tr h="243094">
                <a:tc>
                  <a:txBody>
                    <a:bodyPr/>
                    <a:lstStyle/>
                    <a:p>
                      <a:pPr>
                        <a:lnSpc>
                          <a:spcPct val="115000"/>
                        </a:lnSpc>
                        <a:spcAft>
                          <a:spcPts val="800"/>
                        </a:spcAft>
                        <a:buNone/>
                      </a:pPr>
                      <a:r>
                        <a:rPr lang="en-GB" sz="1200" kern="100">
                          <a:effectLst/>
                        </a:rPr>
                        <a:t>15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522.00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521.86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517.85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6168382"/>
                  </a:ext>
                </a:extLst>
              </a:tr>
              <a:tr h="243094">
                <a:tc>
                  <a:txBody>
                    <a:bodyPr/>
                    <a:lstStyle/>
                    <a:p>
                      <a:pPr>
                        <a:lnSpc>
                          <a:spcPct val="115000"/>
                        </a:lnSpc>
                        <a:spcAft>
                          <a:spcPts val="800"/>
                        </a:spcAft>
                        <a:buNone/>
                      </a:pPr>
                      <a:r>
                        <a:rPr lang="en-GB" sz="1200" kern="100">
                          <a:effectLst/>
                        </a:rPr>
                        <a:t>16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428.00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427.59</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466.75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0920646"/>
                  </a:ext>
                </a:extLst>
              </a:tr>
              <a:tr h="243094">
                <a:tc>
                  <a:txBody>
                    <a:bodyPr/>
                    <a:lstStyle/>
                    <a:p>
                      <a:pPr>
                        <a:lnSpc>
                          <a:spcPct val="115000"/>
                        </a:lnSpc>
                        <a:spcAft>
                          <a:spcPts val="800"/>
                        </a:spcAft>
                        <a:buNone/>
                      </a:pPr>
                      <a:r>
                        <a:rPr lang="en-GB" sz="1200" kern="100">
                          <a:effectLst/>
                        </a:rPr>
                        <a:t>17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190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32</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502.00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502.05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495.33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3345179"/>
                  </a:ext>
                </a:extLst>
              </a:tr>
              <a:tr h="243094">
                <a:tc>
                  <a:txBody>
                    <a:bodyPr/>
                    <a:lstStyle/>
                    <a:p>
                      <a:pPr>
                        <a:lnSpc>
                          <a:spcPct val="115000"/>
                        </a:lnSpc>
                        <a:spcAft>
                          <a:spcPts val="800"/>
                        </a:spcAft>
                        <a:buNone/>
                      </a:pPr>
                      <a:r>
                        <a:rPr lang="en-GB" sz="1200" kern="100">
                          <a:effectLst/>
                        </a:rPr>
                        <a:t>18</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15</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28</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553.00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552.97</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549.66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1377021"/>
                  </a:ext>
                </a:extLst>
              </a:tr>
              <a:tr h="243094">
                <a:tc>
                  <a:txBody>
                    <a:bodyPr/>
                    <a:lstStyle/>
                    <a:p>
                      <a:pPr>
                        <a:lnSpc>
                          <a:spcPct val="115000"/>
                        </a:lnSpc>
                        <a:spcAft>
                          <a:spcPts val="800"/>
                        </a:spcAft>
                        <a:buNone/>
                      </a:pPr>
                      <a:r>
                        <a:rPr lang="en-GB" sz="1200" kern="100">
                          <a:effectLst/>
                        </a:rPr>
                        <a:t>19</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210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477.00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476.61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495.33</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6309661"/>
                  </a:ext>
                </a:extLst>
              </a:tr>
              <a:tr h="243094">
                <a:tc>
                  <a:txBody>
                    <a:bodyPr/>
                    <a:lstStyle/>
                    <a:p>
                      <a:pPr>
                        <a:lnSpc>
                          <a:spcPct val="115000"/>
                        </a:lnSpc>
                        <a:spcAft>
                          <a:spcPts val="800"/>
                        </a:spcAft>
                        <a:buNone/>
                      </a:pPr>
                      <a:r>
                        <a:rPr lang="en-GB" sz="1200" kern="100" dirty="0">
                          <a:effectLst/>
                        </a:rPr>
                        <a:t>20</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220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24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14</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36</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484.00</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a:effectLst/>
                        </a:rPr>
                        <a:t>484.01</a:t>
                      </a:r>
                      <a:endParaRPr lang="en-GB"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200" kern="100" dirty="0">
                          <a:effectLst/>
                        </a:rPr>
                        <a:t>466.75</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646258"/>
                  </a:ext>
                </a:extLst>
              </a:tr>
            </a:tbl>
          </a:graphicData>
        </a:graphic>
      </p:graphicFrame>
    </p:spTree>
    <p:extLst>
      <p:ext uri="{BB962C8B-B14F-4D97-AF65-F5344CB8AC3E}">
        <p14:creationId xmlns:p14="http://schemas.microsoft.com/office/powerpoint/2010/main" val="1271623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2339E-E460-E07F-4027-70D76A0F8D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A76457-117B-8C6A-4BCE-BBCAE4218A42}"/>
              </a:ext>
            </a:extLst>
          </p:cNvPr>
          <p:cNvSpPr txBox="1">
            <a:spLocks/>
          </p:cNvSpPr>
          <p:nvPr/>
        </p:nvSpPr>
        <p:spPr>
          <a:xfrm>
            <a:off x="8494748" y="6737598"/>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20</a:t>
            </a:fld>
            <a:endParaRPr lang="en-US" dirty="0"/>
          </a:p>
        </p:txBody>
      </p:sp>
      <p:sp>
        <p:nvSpPr>
          <p:cNvPr id="9" name="TextBox 8">
            <a:extLst>
              <a:ext uri="{FF2B5EF4-FFF2-40B4-BE49-F238E27FC236}">
                <a16:creationId xmlns:a16="http://schemas.microsoft.com/office/drawing/2014/main" id="{035CA242-C7D3-028E-161C-A8E4CC763595}"/>
              </a:ext>
            </a:extLst>
          </p:cNvPr>
          <p:cNvSpPr txBox="1"/>
          <p:nvPr/>
        </p:nvSpPr>
        <p:spPr>
          <a:xfrm>
            <a:off x="107504" y="1052736"/>
            <a:ext cx="8691192" cy="3356816"/>
          </a:xfrm>
          <a:prstGeom prst="rect">
            <a:avLst/>
          </a:prstGeom>
          <a:noFill/>
        </p:spPr>
        <p:txBody>
          <a:bodyPr wrap="square">
            <a:spAutoFit/>
          </a:bodyPr>
          <a:lstStyle/>
          <a:p>
            <a:pPr>
              <a:lnSpc>
                <a:spcPct val="150000"/>
              </a:lnSpc>
            </a:pPr>
            <a:r>
              <a:rPr lang="en-US" sz="2400" dirty="0">
                <a:cs typeface="Arial" panose="020B0604020202020204" pitchFamily="34" charset="0"/>
              </a:rPr>
              <a:t>Table 6 shows the Predicted result of RSM vs Decision Tree to Experimental Results for Tensile Strength, compares the performance of Response Surface Methodology (RSM) and a Decision Tree model in predicting tensile strength against experimental (EXP) results under varying input conditions such as Current, Voltage, Gas Flow Rate, and Ambient Temperature.</a:t>
            </a:r>
            <a:endParaRPr lang="en-GB" sz="2400" dirty="0">
              <a:cs typeface="Arial" panose="020B0604020202020204" pitchFamily="34" charset="0"/>
            </a:endParaRPr>
          </a:p>
        </p:txBody>
      </p:sp>
      <p:sp>
        <p:nvSpPr>
          <p:cNvPr id="2" name="Rectangle 1">
            <a:extLst>
              <a:ext uri="{FF2B5EF4-FFF2-40B4-BE49-F238E27FC236}">
                <a16:creationId xmlns:a16="http://schemas.microsoft.com/office/drawing/2014/main" id="{B7508E04-42F3-6B00-E8FE-BD059856C2A7}"/>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51871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8813-0470-B239-F9F0-C6ABEA5C88C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CEF300B-52DE-343D-F725-49D2C09F498A}"/>
              </a:ext>
            </a:extLst>
          </p:cNvPr>
          <p:cNvPicPr>
            <a:picLocks noChangeAspect="1"/>
          </p:cNvPicPr>
          <p:nvPr/>
        </p:nvPicPr>
        <p:blipFill>
          <a:blip r:embed="rId2">
            <a:extLst>
              <a:ext uri="{28A0092B-C50C-407E-A947-70E740481C1C}">
                <a14:useLocalDpi xmlns:a14="http://schemas.microsoft.com/office/drawing/2010/main" val="0"/>
              </a:ext>
            </a:extLst>
          </a:blip>
          <a:srcRect r="3572"/>
          <a:stretch>
            <a:fillRect/>
          </a:stretch>
        </p:blipFill>
        <p:spPr>
          <a:xfrm>
            <a:off x="107504" y="870959"/>
            <a:ext cx="8475494" cy="5942417"/>
          </a:xfrm>
          <a:prstGeom prst="rect">
            <a:avLst/>
          </a:prstGeom>
        </p:spPr>
      </p:pic>
    </p:spTree>
    <p:extLst>
      <p:ext uri="{BB962C8B-B14F-4D97-AF65-F5344CB8AC3E}">
        <p14:creationId xmlns:p14="http://schemas.microsoft.com/office/powerpoint/2010/main" val="3608690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D58A-AFA1-BBEE-CE5F-07635C0901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5F282E-2DFE-7A3A-F33D-B81B3A10E2C5}"/>
              </a:ext>
            </a:extLst>
          </p:cNvPr>
          <p:cNvSpPr txBox="1">
            <a:spLocks/>
          </p:cNvSpPr>
          <p:nvPr/>
        </p:nvSpPr>
        <p:spPr>
          <a:xfrm>
            <a:off x="8593976" y="5729486"/>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z="2000" smtClean="0"/>
              <a:pPr/>
              <a:t>22</a:t>
            </a:fld>
            <a:endParaRPr lang="en-US" sz="2000" dirty="0"/>
          </a:p>
        </p:txBody>
      </p:sp>
      <p:sp>
        <p:nvSpPr>
          <p:cNvPr id="5" name="TextBox 4">
            <a:extLst>
              <a:ext uri="{FF2B5EF4-FFF2-40B4-BE49-F238E27FC236}">
                <a16:creationId xmlns:a16="http://schemas.microsoft.com/office/drawing/2014/main" id="{0B1E6F2D-F5D6-9B30-084A-C40B28D4F43D}"/>
              </a:ext>
            </a:extLst>
          </p:cNvPr>
          <p:cNvSpPr txBox="1"/>
          <p:nvPr/>
        </p:nvSpPr>
        <p:spPr>
          <a:xfrm>
            <a:off x="197768" y="692696"/>
            <a:ext cx="8396208" cy="4154984"/>
          </a:xfrm>
          <a:prstGeom prst="rect">
            <a:avLst/>
          </a:prstGeom>
          <a:noFill/>
        </p:spPr>
        <p:txBody>
          <a:bodyPr wrap="square">
            <a:spAutoFit/>
          </a:bodyPr>
          <a:lstStyle/>
          <a:p>
            <a:pPr lvl="0" eaLnBrk="0" fontAlgn="base" hangingPunct="0">
              <a:spcBef>
                <a:spcPct val="0"/>
              </a:spcBef>
              <a:spcAft>
                <a:spcPct val="0"/>
              </a:spcAft>
            </a:pPr>
            <a:r>
              <a:rPr lang="en-US" sz="2200" dirty="0">
                <a:cs typeface="Arial" panose="020B0604020202020204" pitchFamily="34" charset="0"/>
              </a:rPr>
              <a:t>Figure 2 shows The Time Series Plot of EXP, RSM, and Decision Tree for Tensile Strength. it compares the experimental (EXP), Response Surface Methodology (RSM), and Decision Tree (DT) predictions over a series of data points indexed from 1 to 20.</a:t>
            </a:r>
          </a:p>
          <a:p>
            <a:pPr lvl="0" eaLnBrk="0" fontAlgn="base" hangingPunct="0">
              <a:spcBef>
                <a:spcPct val="0"/>
              </a:spcBef>
              <a:spcAft>
                <a:spcPct val="0"/>
              </a:spcAft>
            </a:pPr>
            <a:endParaRPr lang="en-US" altLang="en-US" sz="2200" dirty="0">
              <a:cs typeface="Arial" panose="020B0604020202020204" pitchFamily="34" charset="0"/>
            </a:endParaRPr>
          </a:p>
          <a:p>
            <a:pPr lvl="0" eaLnBrk="0" fontAlgn="base" hangingPunct="0">
              <a:spcBef>
                <a:spcPct val="0"/>
              </a:spcBef>
              <a:spcAft>
                <a:spcPct val="0"/>
              </a:spcAft>
              <a:buFontTx/>
              <a:buChar char="•"/>
            </a:pPr>
            <a:r>
              <a:rPr lang="en-US" altLang="en-US" sz="2200" dirty="0">
                <a:cs typeface="Arial" panose="020B0604020202020204" pitchFamily="34" charset="0"/>
              </a:rPr>
              <a:t>Experimental data shows pronounced fluctuations with distinct peaks and troughs.</a:t>
            </a:r>
          </a:p>
          <a:p>
            <a:pPr lvl="0" eaLnBrk="0" fontAlgn="base" hangingPunct="0">
              <a:spcBef>
                <a:spcPct val="0"/>
              </a:spcBef>
              <a:spcAft>
                <a:spcPct val="0"/>
              </a:spcAft>
              <a:buFontTx/>
              <a:buChar char="•"/>
            </a:pPr>
            <a:r>
              <a:rPr lang="en-US" altLang="en-US" sz="2200" dirty="0">
                <a:cs typeface="Arial" panose="020B0604020202020204" pitchFamily="34" charset="0"/>
              </a:rPr>
              <a:t>RSM predictions closely match experimental values, accurately capturing sharp variations and trends.</a:t>
            </a:r>
          </a:p>
          <a:p>
            <a:pPr lvl="0" eaLnBrk="0" fontAlgn="base" hangingPunct="0">
              <a:spcBef>
                <a:spcPct val="0"/>
              </a:spcBef>
              <a:spcAft>
                <a:spcPct val="0"/>
              </a:spcAft>
              <a:buFontTx/>
              <a:buChar char="•"/>
            </a:pPr>
            <a:endParaRPr lang="en-US" altLang="en-US" sz="2200" dirty="0">
              <a:cs typeface="Arial" panose="020B0604020202020204" pitchFamily="34" charset="0"/>
            </a:endParaRPr>
          </a:p>
          <a:p>
            <a:pPr lvl="0" eaLnBrk="0" fontAlgn="base" hangingPunct="0">
              <a:spcBef>
                <a:spcPct val="0"/>
              </a:spcBef>
              <a:spcAft>
                <a:spcPct val="0"/>
              </a:spcAft>
              <a:buFontTx/>
              <a:buChar char="•"/>
            </a:pPr>
            <a:r>
              <a:rPr lang="en-US" altLang="en-US" sz="2200" dirty="0">
                <a:cs typeface="Arial" panose="020B0604020202020204" pitchFamily="34" charset="0"/>
              </a:rPr>
              <a:t>Decision Tree predictions are smoother, showing reduced sensitivity to rapid changes. </a:t>
            </a:r>
          </a:p>
        </p:txBody>
      </p:sp>
      <p:sp>
        <p:nvSpPr>
          <p:cNvPr id="7" name="TextBox 6">
            <a:extLst>
              <a:ext uri="{FF2B5EF4-FFF2-40B4-BE49-F238E27FC236}">
                <a16:creationId xmlns:a16="http://schemas.microsoft.com/office/drawing/2014/main" id="{04D18C80-04B4-9B76-2716-16813F4AE72E}"/>
              </a:ext>
            </a:extLst>
          </p:cNvPr>
          <p:cNvSpPr txBox="1"/>
          <p:nvPr/>
        </p:nvSpPr>
        <p:spPr>
          <a:xfrm>
            <a:off x="216024" y="5157192"/>
            <a:ext cx="8377952" cy="1107996"/>
          </a:xfrm>
          <a:prstGeom prst="rect">
            <a:avLst/>
          </a:prstGeom>
          <a:noFill/>
        </p:spPr>
        <p:txBody>
          <a:bodyPr wrap="square">
            <a:spAutoFit/>
          </a:bodyPr>
          <a:lstStyle/>
          <a:p>
            <a:r>
              <a:rPr lang="en-US" sz="2200" dirty="0">
                <a:cs typeface="Arial" panose="020B0604020202020204" pitchFamily="34" charset="0"/>
              </a:rPr>
              <a:t>Overall, RSM demonstrates higher accuracy, while DT offers a simpler but more generalized approximation</a:t>
            </a:r>
            <a:endParaRPr lang="en-US" sz="2200" dirty="0">
              <a:solidFill>
                <a:srgbClr val="000000"/>
              </a:solidFill>
              <a:ea typeface="Open Sans"/>
              <a:cs typeface="Arial" panose="020B0604020202020204" pitchFamily="34" charset="0"/>
            </a:endParaRPr>
          </a:p>
          <a:p>
            <a:endParaRPr lang="en-GB" sz="2200" dirty="0">
              <a:cs typeface="Arial" panose="020B0604020202020204" pitchFamily="34" charset="0"/>
            </a:endParaRPr>
          </a:p>
        </p:txBody>
      </p:sp>
      <p:sp>
        <p:nvSpPr>
          <p:cNvPr id="2" name="Rectangle 1">
            <a:extLst>
              <a:ext uri="{FF2B5EF4-FFF2-40B4-BE49-F238E27FC236}">
                <a16:creationId xmlns:a16="http://schemas.microsoft.com/office/drawing/2014/main" id="{2C7FE496-52DF-5878-F736-1F5411989F8B}"/>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01938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A0349-3350-31FB-0EA9-8C0CA5D95941}"/>
            </a:ext>
          </a:extLst>
        </p:cNvPr>
        <p:cNvGrpSpPr/>
        <p:nvPr/>
      </p:nvGrpSpPr>
      <p:grpSpPr>
        <a:xfrm>
          <a:off x="0" y="0"/>
          <a:ext cx="0" cy="0"/>
          <a:chOff x="0" y="0"/>
          <a:chExt cx="0" cy="0"/>
        </a:xfrm>
      </p:grpSpPr>
      <p:sp>
        <p:nvSpPr>
          <p:cNvPr id="17410" name="Rectangle 3">
            <a:extLst>
              <a:ext uri="{FF2B5EF4-FFF2-40B4-BE49-F238E27FC236}">
                <a16:creationId xmlns:a16="http://schemas.microsoft.com/office/drawing/2014/main" id="{7091C72D-0BC8-CD6C-18CA-BB3417A4D94C}"/>
              </a:ext>
            </a:extLst>
          </p:cNvPr>
          <p:cNvSpPr>
            <a:spLocks noGrp="1" noChangeArrowheads="1"/>
          </p:cNvSpPr>
          <p:nvPr>
            <p:ph idx="4294967295"/>
          </p:nvPr>
        </p:nvSpPr>
        <p:spPr>
          <a:xfrm>
            <a:off x="304800" y="129540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
        <p:nvSpPr>
          <p:cNvPr id="4" name="Slide Number Placeholder 3">
            <a:extLst>
              <a:ext uri="{FF2B5EF4-FFF2-40B4-BE49-F238E27FC236}">
                <a16:creationId xmlns:a16="http://schemas.microsoft.com/office/drawing/2014/main" id="{6AB653D6-4513-F3E2-5EE0-24691C197782}"/>
              </a:ext>
            </a:extLst>
          </p:cNvPr>
          <p:cNvSpPr txBox="1">
            <a:spLocks/>
          </p:cNvSpPr>
          <p:nvPr/>
        </p:nvSpPr>
        <p:spPr>
          <a:xfrm>
            <a:off x="8613648" y="630555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23</a:t>
            </a:fld>
            <a:endParaRPr lang="en-US" dirty="0"/>
          </a:p>
        </p:txBody>
      </p:sp>
      <p:sp>
        <p:nvSpPr>
          <p:cNvPr id="2" name="TextBox 1">
            <a:extLst>
              <a:ext uri="{FF2B5EF4-FFF2-40B4-BE49-F238E27FC236}">
                <a16:creationId xmlns:a16="http://schemas.microsoft.com/office/drawing/2014/main" id="{853BDE13-11B6-F6F3-F1BD-B97BE70714EE}"/>
              </a:ext>
            </a:extLst>
          </p:cNvPr>
          <p:cNvSpPr txBox="1"/>
          <p:nvPr/>
        </p:nvSpPr>
        <p:spPr>
          <a:xfrm>
            <a:off x="0" y="737329"/>
            <a:ext cx="8748464" cy="2554545"/>
          </a:xfrm>
          <a:prstGeom prst="rect">
            <a:avLst/>
          </a:prstGeom>
          <a:noFill/>
        </p:spPr>
        <p:txBody>
          <a:bodyPr wrap="square">
            <a:spAutoFit/>
          </a:bodyPr>
          <a:lstStyle/>
          <a:p>
            <a:pPr algn="ctr" eaLnBrk="0" fontAlgn="base" hangingPunct="0">
              <a:spcBef>
                <a:spcPct val="0"/>
              </a:spcBef>
              <a:spcAft>
                <a:spcPct val="0"/>
              </a:spcAft>
            </a:pPr>
            <a:r>
              <a:rPr lang="en-US" altLang="en-US" sz="2000" dirty="0"/>
              <a:t>Figures 3 and 4 include a fitted line equation to quantify model accuracy.</a:t>
            </a:r>
          </a:p>
          <a:p>
            <a:pPr lvl="0" eaLnBrk="0" fontAlgn="base" hangingPunct="0">
              <a:spcBef>
                <a:spcPct val="0"/>
              </a:spcBef>
              <a:spcAft>
                <a:spcPct val="0"/>
              </a:spcAft>
              <a:buFontTx/>
              <a:buChar char="•"/>
            </a:pPr>
            <a:r>
              <a:rPr lang="en-US" altLang="en-US" sz="2000" dirty="0"/>
              <a:t> Figure 3 (line plot of EXP vs. RSM): Shows a strong linear correlation between experimental values and RSM predictions. While,</a:t>
            </a:r>
          </a:p>
          <a:p>
            <a:pPr lvl="0" eaLnBrk="0" fontAlgn="base" hangingPunct="0">
              <a:spcBef>
                <a:spcPct val="0"/>
              </a:spcBef>
              <a:spcAft>
                <a:spcPct val="0"/>
              </a:spcAft>
              <a:buFontTx/>
              <a:buChar char="•"/>
            </a:pPr>
            <a:r>
              <a:rPr lang="en-US" altLang="en-US" sz="2000" dirty="0"/>
              <a:t>Figure 4 (Line plot of EXP vs. Decision Tree): Displays the relationship between experimental values and DT predictions.</a:t>
            </a:r>
          </a:p>
          <a:p>
            <a:pPr lvl="0" eaLnBrk="0" fontAlgn="base" hangingPunct="0">
              <a:spcBef>
                <a:spcPct val="0"/>
              </a:spcBef>
              <a:spcAft>
                <a:spcPct val="0"/>
              </a:spcAft>
            </a:pPr>
            <a:endParaRPr lang="en-US" altLang="en-US" sz="2000" dirty="0"/>
          </a:p>
          <a:p>
            <a:pPr lvl="0" eaLnBrk="0" fontAlgn="base" hangingPunct="0">
              <a:spcBef>
                <a:spcPct val="0"/>
              </a:spcBef>
              <a:spcAft>
                <a:spcPct val="0"/>
              </a:spcAft>
              <a:buFontTx/>
              <a:buChar char="•"/>
            </a:pPr>
            <a:r>
              <a:rPr lang="en-US" altLang="en-US" sz="2000" dirty="0"/>
              <a:t>RSM generally aligns more closely with EXP, while DT shows greater deviations in some regions.</a:t>
            </a:r>
          </a:p>
        </p:txBody>
      </p:sp>
      <p:pic>
        <p:nvPicPr>
          <p:cNvPr id="3" name="Picture 2">
            <a:extLst>
              <a:ext uri="{FF2B5EF4-FFF2-40B4-BE49-F238E27FC236}">
                <a16:creationId xmlns:a16="http://schemas.microsoft.com/office/drawing/2014/main" id="{61F8BDDE-09F5-18A4-3E80-2170F446DB0D}"/>
              </a:ext>
            </a:extLst>
          </p:cNvPr>
          <p:cNvPicPr>
            <a:picLocks noChangeAspect="1"/>
          </p:cNvPicPr>
          <p:nvPr/>
        </p:nvPicPr>
        <p:blipFill>
          <a:blip r:embed="rId2"/>
          <a:srcRect r="6131"/>
          <a:stretch>
            <a:fillRect/>
          </a:stretch>
        </p:blipFill>
        <p:spPr>
          <a:xfrm>
            <a:off x="138259" y="3429000"/>
            <a:ext cx="8445206" cy="3399406"/>
          </a:xfrm>
          <a:prstGeom prst="rect">
            <a:avLst/>
          </a:prstGeom>
        </p:spPr>
      </p:pic>
    </p:spTree>
    <p:extLst>
      <p:ext uri="{BB962C8B-B14F-4D97-AF65-F5344CB8AC3E}">
        <p14:creationId xmlns:p14="http://schemas.microsoft.com/office/powerpoint/2010/main" val="2093902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B87C6-CC61-329C-2C7B-FD39B733ADBC}"/>
            </a:ext>
          </a:extLst>
        </p:cNvPr>
        <p:cNvGrpSpPr/>
        <p:nvPr/>
      </p:nvGrpSpPr>
      <p:grpSpPr>
        <a:xfrm>
          <a:off x="0" y="0"/>
          <a:ext cx="0" cy="0"/>
          <a:chOff x="0" y="0"/>
          <a:chExt cx="0" cy="0"/>
        </a:xfrm>
      </p:grpSpPr>
      <p:sp>
        <p:nvSpPr>
          <p:cNvPr id="17410" name="Rectangle 3">
            <a:extLst>
              <a:ext uri="{FF2B5EF4-FFF2-40B4-BE49-F238E27FC236}">
                <a16:creationId xmlns:a16="http://schemas.microsoft.com/office/drawing/2014/main" id="{591E6D9F-005B-C8AA-F662-1ADC3A79D381}"/>
              </a:ext>
            </a:extLst>
          </p:cNvPr>
          <p:cNvSpPr>
            <a:spLocks noGrp="1" noChangeArrowheads="1"/>
          </p:cNvSpPr>
          <p:nvPr>
            <p:ph idx="4294967295"/>
          </p:nvPr>
        </p:nvSpPr>
        <p:spPr>
          <a:xfrm>
            <a:off x="304800" y="129540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
        <p:nvSpPr>
          <p:cNvPr id="3" name="Content Placeholder 2"/>
          <p:cNvSpPr txBox="1">
            <a:spLocks/>
          </p:cNvSpPr>
          <p:nvPr/>
        </p:nvSpPr>
        <p:spPr>
          <a:xfrm>
            <a:off x="-15171" y="732217"/>
            <a:ext cx="8994648" cy="8849949"/>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2296" indent="0">
              <a:spcBef>
                <a:spcPts val="0"/>
              </a:spcBef>
              <a:spcAft>
                <a:spcPts val="2400"/>
              </a:spcAft>
              <a:buFont typeface="Wingdings 2" pitchFamily="18" charset="2"/>
              <a:buNone/>
            </a:pPr>
            <a:r>
              <a:rPr lang="en-US" sz="3100" b="1" dirty="0"/>
              <a:t>CONCLUSION</a:t>
            </a:r>
          </a:p>
          <a:p>
            <a:pPr marL="82296" indent="0" algn="ctr">
              <a:spcBef>
                <a:spcPts val="0"/>
              </a:spcBef>
              <a:spcAft>
                <a:spcPts val="2400"/>
              </a:spcAft>
              <a:buFont typeface="Wingdings 2" pitchFamily="18" charset="2"/>
              <a:buNone/>
            </a:pPr>
            <a:endParaRPr lang="en-US" sz="3100" b="1" dirty="0"/>
          </a:p>
          <a:p>
            <a:pPr marL="82296" indent="0" algn="ctr">
              <a:spcBef>
                <a:spcPts val="0"/>
              </a:spcBef>
              <a:spcAft>
                <a:spcPts val="2400"/>
              </a:spcAft>
              <a:buFont typeface="Wingdings 2" pitchFamily="18" charset="2"/>
              <a:buNone/>
            </a:pPr>
            <a:endParaRPr lang="en-US" sz="3100" b="1" dirty="0"/>
          </a:p>
        </p:txBody>
      </p:sp>
      <p:sp>
        <p:nvSpPr>
          <p:cNvPr id="7" name="Slide Number Placeholder 6"/>
          <p:cNvSpPr txBox="1">
            <a:spLocks/>
          </p:cNvSpPr>
          <p:nvPr/>
        </p:nvSpPr>
        <p:spPr>
          <a:xfrm>
            <a:off x="8375612" y="6972498"/>
            <a:ext cx="457200" cy="6285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24</a:t>
            </a:fld>
            <a:endParaRPr lang="en-US" dirty="0"/>
          </a:p>
        </p:txBody>
      </p:sp>
      <p:sp>
        <p:nvSpPr>
          <p:cNvPr id="5" name="Rectangle 4"/>
          <p:cNvSpPr/>
          <p:nvPr/>
        </p:nvSpPr>
        <p:spPr>
          <a:xfrm>
            <a:off x="76386" y="1295400"/>
            <a:ext cx="8568952" cy="2308324"/>
          </a:xfrm>
          <a:prstGeom prst="rect">
            <a:avLst/>
          </a:prstGeom>
        </p:spPr>
        <p:txBody>
          <a:bodyPr wrap="square">
            <a:spAutoFit/>
          </a:bodyPr>
          <a:lstStyle/>
          <a:p>
            <a:pPr algn="just"/>
            <a:r>
              <a:rPr lang="en-US" sz="2400" dirty="0">
                <a:cs typeface="Arial" panose="020B0604020202020204" pitchFamily="34" charset="0"/>
              </a:rPr>
              <a:t>In conclusion, this study highlights the complementary strengths of RSM and Decision Tree models in analyzing and optimizing material responses.</a:t>
            </a:r>
          </a:p>
          <a:p>
            <a:pPr algn="just"/>
            <a:r>
              <a:rPr lang="en-US" sz="2400" dirty="0">
                <a:cs typeface="Arial" panose="020B0604020202020204" pitchFamily="34" charset="0"/>
              </a:rPr>
              <a:t>The findings emphasize the importance of selecting the appropriate modeling approach based on the specific requirements of the analysis. </a:t>
            </a:r>
          </a:p>
        </p:txBody>
      </p:sp>
      <p:sp>
        <p:nvSpPr>
          <p:cNvPr id="2" name="Rectangle 1">
            <a:extLst>
              <a:ext uri="{FF2B5EF4-FFF2-40B4-BE49-F238E27FC236}">
                <a16:creationId xmlns:a16="http://schemas.microsoft.com/office/drawing/2014/main" id="{73CB7600-D87F-907C-D613-5F573D533056}"/>
              </a:ext>
            </a:extLst>
          </p:cNvPr>
          <p:cNvSpPr/>
          <p:nvPr/>
        </p:nvSpPr>
        <p:spPr>
          <a:xfrm>
            <a:off x="6604149" y="6597352"/>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11172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1BCC9-4567-A240-95A5-3CA6B62925FC}"/>
            </a:ext>
          </a:extLst>
        </p:cNvPr>
        <p:cNvGrpSpPr/>
        <p:nvPr/>
      </p:nvGrpSpPr>
      <p:grpSpPr>
        <a:xfrm>
          <a:off x="0" y="0"/>
          <a:ext cx="0" cy="0"/>
          <a:chOff x="0" y="0"/>
          <a:chExt cx="0" cy="0"/>
        </a:xfrm>
      </p:grpSpPr>
      <p:sp>
        <p:nvSpPr>
          <p:cNvPr id="17410" name="Rectangle 3">
            <a:extLst>
              <a:ext uri="{FF2B5EF4-FFF2-40B4-BE49-F238E27FC236}">
                <a16:creationId xmlns:a16="http://schemas.microsoft.com/office/drawing/2014/main" id="{6E08A866-A9CD-62C0-2B71-28879DE6BA95}"/>
              </a:ext>
            </a:extLst>
          </p:cNvPr>
          <p:cNvSpPr>
            <a:spLocks noGrp="1" noChangeArrowheads="1"/>
          </p:cNvSpPr>
          <p:nvPr>
            <p:ph idx="4294967295"/>
          </p:nvPr>
        </p:nvSpPr>
        <p:spPr>
          <a:xfrm>
            <a:off x="100664" y="1295400"/>
            <a:ext cx="8316261"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
        <p:nvSpPr>
          <p:cNvPr id="3" name="Content Placeholder 2">
            <a:extLst>
              <a:ext uri="{FF2B5EF4-FFF2-40B4-BE49-F238E27FC236}">
                <a16:creationId xmlns:a16="http://schemas.microsoft.com/office/drawing/2014/main" id="{125417FB-2050-E874-93B3-05AE202F56C3}"/>
              </a:ext>
            </a:extLst>
          </p:cNvPr>
          <p:cNvSpPr txBox="1">
            <a:spLocks/>
          </p:cNvSpPr>
          <p:nvPr/>
        </p:nvSpPr>
        <p:spPr>
          <a:xfrm>
            <a:off x="57472" y="671140"/>
            <a:ext cx="8994648" cy="6705600"/>
          </a:xfrm>
          <a:prstGeom prst="rect">
            <a:avLst/>
          </a:prstGeom>
        </p:spPr>
        <p:txBody>
          <a:bodyPr>
            <a:noAutofit/>
          </a:bodyPr>
          <a:lst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2296" indent="0">
              <a:spcBef>
                <a:spcPts val="0"/>
              </a:spcBef>
              <a:spcAft>
                <a:spcPts val="2400"/>
              </a:spcAft>
              <a:buFont typeface="Wingdings 2" pitchFamily="18" charset="2"/>
              <a:buNone/>
            </a:pPr>
            <a:r>
              <a:rPr lang="en-US" sz="3100" b="1" dirty="0"/>
              <a:t>Recommendation</a:t>
            </a:r>
          </a:p>
          <a:p>
            <a:pPr marL="82296" indent="0" algn="ctr">
              <a:spcBef>
                <a:spcPts val="0"/>
              </a:spcBef>
              <a:spcAft>
                <a:spcPts val="2400"/>
              </a:spcAft>
              <a:buFont typeface="Wingdings 2" pitchFamily="18" charset="2"/>
              <a:buNone/>
            </a:pPr>
            <a:endParaRPr lang="en-US" sz="3100" b="1" dirty="0"/>
          </a:p>
          <a:p>
            <a:pPr marL="82296" indent="0" algn="ctr">
              <a:spcBef>
                <a:spcPts val="0"/>
              </a:spcBef>
              <a:spcAft>
                <a:spcPts val="2400"/>
              </a:spcAft>
              <a:buFont typeface="Wingdings 2" pitchFamily="18" charset="2"/>
              <a:buNone/>
            </a:pPr>
            <a:endParaRPr lang="en-US" sz="3100" b="1" dirty="0"/>
          </a:p>
        </p:txBody>
      </p:sp>
      <p:sp>
        <p:nvSpPr>
          <p:cNvPr id="7" name="Slide Number Placeholder 6">
            <a:extLst>
              <a:ext uri="{FF2B5EF4-FFF2-40B4-BE49-F238E27FC236}">
                <a16:creationId xmlns:a16="http://schemas.microsoft.com/office/drawing/2014/main" id="{2CB790B7-D465-605A-8C05-EF1EF0C477A8}"/>
              </a:ext>
            </a:extLst>
          </p:cNvPr>
          <p:cNvSpPr txBox="1">
            <a:spLocks/>
          </p:cNvSpPr>
          <p:nvPr/>
        </p:nvSpPr>
        <p:spPr>
          <a:xfrm>
            <a:off x="8594920" y="6900490"/>
            <a:ext cx="4572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C3B027-99D8-4500-AA7E-8D849F3A1F09}" type="slidenum">
              <a:rPr lang="en-US" smtClean="0"/>
              <a:pPr/>
              <a:t>25</a:t>
            </a:fld>
            <a:endParaRPr lang="en-US" dirty="0"/>
          </a:p>
        </p:txBody>
      </p:sp>
      <p:sp>
        <p:nvSpPr>
          <p:cNvPr id="4" name="TextBox 3">
            <a:extLst>
              <a:ext uri="{FF2B5EF4-FFF2-40B4-BE49-F238E27FC236}">
                <a16:creationId xmlns:a16="http://schemas.microsoft.com/office/drawing/2014/main" id="{DDB13CA5-17B1-6596-47D1-F6DC14B35718}"/>
              </a:ext>
            </a:extLst>
          </p:cNvPr>
          <p:cNvSpPr txBox="1"/>
          <p:nvPr/>
        </p:nvSpPr>
        <p:spPr>
          <a:xfrm>
            <a:off x="54424" y="1270352"/>
            <a:ext cx="8994648" cy="461665"/>
          </a:xfrm>
          <a:prstGeom prst="rect">
            <a:avLst/>
          </a:prstGeom>
          <a:noFill/>
        </p:spPr>
        <p:txBody>
          <a:bodyPr wrap="square">
            <a:spAutoFit/>
          </a:bodyPr>
          <a:lstStyle/>
          <a:p>
            <a:pPr marL="361950" indent="-361950" algn="just">
              <a:spcAft>
                <a:spcPts val="600"/>
              </a:spcAft>
              <a:buFont typeface="Wingdings" panose="05000000000000000000" pitchFamily="2" charset="2"/>
              <a:buChar char="q"/>
            </a:pPr>
            <a:endParaRPr lang="en-GB" sz="2400" dirty="0">
              <a:effectLst/>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E9BF73BB-73E0-41A4-5291-42F8FABF38B0}"/>
              </a:ext>
            </a:extLst>
          </p:cNvPr>
          <p:cNvSpPr/>
          <p:nvPr/>
        </p:nvSpPr>
        <p:spPr>
          <a:xfrm>
            <a:off x="103712" y="1501184"/>
            <a:ext cx="8568952" cy="3046988"/>
          </a:xfrm>
          <a:prstGeom prst="rect">
            <a:avLst/>
          </a:prstGeom>
        </p:spPr>
        <p:txBody>
          <a:bodyPr wrap="square">
            <a:spAutoFit/>
          </a:bodyPr>
          <a:lstStyle/>
          <a:p>
            <a:r>
              <a:rPr lang="en-US" sz="2400" dirty="0">
                <a:cs typeface="Arial" panose="020B0604020202020204" pitchFamily="34" charset="0"/>
              </a:rPr>
              <a:t>Future work could explore hybrid models that combine the strengths of both approaches, leveraging RSM's precision for detailed predictions and the Decision Tree's interpretability for broader insights. </a:t>
            </a:r>
          </a:p>
          <a:p>
            <a:endParaRPr lang="en-US" sz="2400" dirty="0">
              <a:cs typeface="Arial" panose="020B0604020202020204" pitchFamily="34" charset="0"/>
            </a:endParaRPr>
          </a:p>
          <a:p>
            <a:r>
              <a:rPr lang="en-US" sz="2400" dirty="0">
                <a:cs typeface="Arial" panose="020B0604020202020204" pitchFamily="34" charset="0"/>
              </a:rPr>
              <a:t>Such an integrated strategy could enhance the robustness and applicability of predictive models in materials science and related fields.</a:t>
            </a:r>
            <a:endParaRPr lang="en-GB" sz="2400" dirty="0">
              <a:cs typeface="Arial" panose="020B0604020202020204" pitchFamily="34" charset="0"/>
            </a:endParaRPr>
          </a:p>
        </p:txBody>
      </p:sp>
      <p:sp>
        <p:nvSpPr>
          <p:cNvPr id="2" name="Rectangle 1">
            <a:extLst>
              <a:ext uri="{FF2B5EF4-FFF2-40B4-BE49-F238E27FC236}">
                <a16:creationId xmlns:a16="http://schemas.microsoft.com/office/drawing/2014/main" id="{66FA27F4-F106-2784-8B35-E1A049AAC5E4}"/>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83702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4294967295"/>
          </p:nvPr>
        </p:nvSpPr>
        <p:spPr>
          <a:xfrm>
            <a:off x="304800" y="129540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pic>
        <p:nvPicPr>
          <p:cNvPr id="5" name="Content Placeholder 4">
            <a:extLst>
              <a:ext uri="{FF2B5EF4-FFF2-40B4-BE49-F238E27FC236}">
                <a16:creationId xmlns:a16="http://schemas.microsoft.com/office/drawing/2014/main" id="{BBABB753-00FB-5ACD-3228-393E79C7AB95}"/>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505200" y="1371600"/>
            <a:ext cx="5181600" cy="3962400"/>
          </a:xfrm>
          <a:prstGeom prst="rect">
            <a:avLst/>
          </a:prstGeom>
        </p:spPr>
      </p:pic>
      <p:sp>
        <p:nvSpPr>
          <p:cNvPr id="6" name="TextBox 5">
            <a:extLst>
              <a:ext uri="{FF2B5EF4-FFF2-40B4-BE49-F238E27FC236}">
                <a16:creationId xmlns:a16="http://schemas.microsoft.com/office/drawing/2014/main" id="{3309B08A-50E5-A0FD-4488-922291314E99}"/>
              </a:ext>
            </a:extLst>
          </p:cNvPr>
          <p:cNvSpPr txBox="1"/>
          <p:nvPr/>
        </p:nvSpPr>
        <p:spPr>
          <a:xfrm>
            <a:off x="3810000" y="2767280"/>
            <a:ext cx="4343400" cy="707886"/>
          </a:xfrm>
          <a:prstGeom prst="rect">
            <a:avLst/>
          </a:prstGeom>
          <a:noFill/>
        </p:spPr>
        <p:txBody>
          <a:bodyPr wrap="square" rtlCol="0">
            <a:spAutoFit/>
          </a:bodyPr>
          <a:lstStyle/>
          <a:p>
            <a:pPr algn="ctr"/>
            <a:r>
              <a:rPr lang="en-US" sz="4000" b="1" dirty="0">
                <a:solidFill>
                  <a:srgbClr val="002060"/>
                </a:solidFill>
                <a:latin typeface="Ink Free" panose="03080402000500000000" pitchFamily="66" charset="0"/>
              </a:rPr>
              <a:t>Thank you.  </a:t>
            </a:r>
          </a:p>
        </p:txBody>
      </p:sp>
      <p:sp>
        <p:nvSpPr>
          <p:cNvPr id="2" name="Rectangle 1">
            <a:extLst>
              <a:ext uri="{FF2B5EF4-FFF2-40B4-BE49-F238E27FC236}">
                <a16:creationId xmlns:a16="http://schemas.microsoft.com/office/drawing/2014/main" id="{03811B16-E681-7A53-40B6-9002B95D75EE}"/>
              </a:ext>
            </a:extLst>
          </p:cNvPr>
          <p:cNvSpPr/>
          <p:nvPr/>
        </p:nvSpPr>
        <p:spPr>
          <a:xfrm>
            <a:off x="6604149" y="6569968"/>
            <a:ext cx="1759496" cy="2880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264635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nctm_new">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15613</TotalTime>
  <Words>2065</Words>
  <Application>Microsoft Office PowerPoint</Application>
  <PresentationFormat>On-screen Show (4:3)</PresentationFormat>
  <Paragraphs>640</Paragraphs>
  <Slides>26</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26</vt:i4>
      </vt:variant>
    </vt:vector>
  </HeadingPairs>
  <TitlesOfParts>
    <vt:vector size="41" baseType="lpstr">
      <vt:lpstr>ＭＳ Ｐゴシック</vt:lpstr>
      <vt:lpstr>Aharoni</vt:lpstr>
      <vt:lpstr>Aptos</vt:lpstr>
      <vt:lpstr>Arial</vt:lpstr>
      <vt:lpstr>Arial Black</vt:lpstr>
      <vt:lpstr>Calibri</vt:lpstr>
      <vt:lpstr>Calibri Light</vt:lpstr>
      <vt:lpstr>Gill Sans MT</vt:lpstr>
      <vt:lpstr>Ink Free</vt:lpstr>
      <vt:lpstr>Open Sans</vt:lpstr>
      <vt:lpstr>Times New Roman</vt:lpstr>
      <vt:lpstr>Tw Cen MT</vt:lpstr>
      <vt:lpstr>Wingdings</vt:lpstr>
      <vt:lpstr>Wingdings 2</vt:lpstr>
      <vt:lpstr>1_nctm_new</vt:lpstr>
      <vt:lpstr>Optimization and Prediction of Tensile Strength of an S235JR Mild Steel Weld using RSM (Response Surface Method) and Decision Tree Analysis</vt:lpstr>
      <vt:lpstr>Outline</vt:lpstr>
      <vt:lpstr>Background</vt:lpstr>
      <vt:lpstr>Research Motivation</vt:lpstr>
      <vt:lpstr>Problem Statement</vt:lpstr>
      <vt:lpstr>Objectives</vt:lpstr>
      <vt:lpstr>Materials and Methods</vt:lpstr>
      <vt:lpstr>Data Collection</vt:lpstr>
      <vt:lpstr>Model Building</vt:lpstr>
      <vt:lpstr>PowerPoint Presentation</vt:lpstr>
      <vt:lpstr>Result</vt:lpstr>
      <vt:lpstr>RSM ANALYSIS</vt:lpstr>
      <vt:lpstr>PowerPoint Presentation</vt:lpstr>
      <vt:lpstr>PowerPoint Presentation</vt:lpstr>
      <vt:lpstr>PowerPoint Presentation</vt:lpstr>
      <vt:lpstr>PowerPoint Presentation</vt:lpstr>
      <vt:lpstr>The Model</vt:lpstr>
      <vt:lpstr>AHA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INFORMATION AND COMMUNICATION TECHNOLOGY (ICT) IN PAINT INDUSTRY PRODUCT MARKETING IN SOUTH WESTERN NIGERIA  BY   OLOMU, MICHAEL OLUWASEUN TP12/13/H/2469</dc:title>
  <dc:creator>us</dc:creator>
  <cp:lastModifiedBy>Newton Monye</cp:lastModifiedBy>
  <cp:revision>2721</cp:revision>
  <cp:lastPrinted>2021-07-13T09:53:54Z</cp:lastPrinted>
  <dcterms:created xsi:type="dcterms:W3CDTF">2014-01-15T07:11:14Z</dcterms:created>
  <dcterms:modified xsi:type="dcterms:W3CDTF">2026-06-22T13:40:31Z</dcterms:modified>
</cp:coreProperties>
</file>